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3" r:id="rId1"/>
  </p:sldMasterIdLst>
  <p:sldIdLst>
    <p:sldId id="256" r:id="rId2"/>
    <p:sldId id="273" r:id="rId3"/>
    <p:sldId id="257" r:id="rId4"/>
    <p:sldId id="259" r:id="rId5"/>
    <p:sldId id="402" r:id="rId6"/>
    <p:sldId id="260" r:id="rId7"/>
    <p:sldId id="403" r:id="rId8"/>
    <p:sldId id="404" r:id="rId9"/>
    <p:sldId id="262" r:id="rId10"/>
    <p:sldId id="263" r:id="rId11"/>
    <p:sldId id="264" r:id="rId12"/>
    <p:sldId id="400" r:id="rId13"/>
    <p:sldId id="405" r:id="rId14"/>
    <p:sldId id="261" r:id="rId15"/>
    <p:sldId id="40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42"/>
    <p:restoredTop sz="95982"/>
  </p:normalViewPr>
  <p:slideViewPr>
    <p:cSldViewPr snapToGrid="0" snapToObjects="1">
      <p:cViewPr varScale="1">
        <p:scale>
          <a:sx n="49" d="100"/>
          <a:sy n="49" d="100"/>
        </p:scale>
        <p:origin x="69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22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7859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34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1341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9542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35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4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6141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4623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2626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63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80827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53056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03099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0245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77025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1337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865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1BE6F-0F88-3247-9D66-EAF52E87CB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/>
              <a:t>线性回归</a:t>
            </a:r>
            <a:br>
              <a:rPr kumimoji="1" lang="en-US" altLang="zh-CN"/>
            </a:br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5395BE-56B3-4841-A976-584926369D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周秀瑜</a:t>
            </a:r>
            <a:endParaRPr kumimoji="1"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3408039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8FCBF-C37F-F043-AD51-9A9DB27EC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上课前的要求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081949-87A0-2648-93F7-F549E91A7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请在机房或者带电脑上课</a:t>
            </a:r>
            <a:endParaRPr kumimoji="1" lang="en-US" altLang="zh-CN"/>
          </a:p>
          <a:p>
            <a:r>
              <a:rPr kumimoji="1" lang="zh-CN" altLang="en-US"/>
              <a:t>电脑上要安装：</a:t>
            </a:r>
            <a:endParaRPr kumimoji="1" lang="en-US" altLang="zh-CN"/>
          </a:p>
          <a:p>
            <a:pPr lvl="1"/>
            <a:r>
              <a:rPr kumimoji="1" lang="en-US" altLang="zh-CN"/>
              <a:t>Python3.6</a:t>
            </a:r>
            <a:r>
              <a:rPr kumimoji="1" lang="zh-CN" altLang="en-US"/>
              <a:t>或者以上，</a:t>
            </a:r>
            <a:r>
              <a:rPr kumimoji="1" lang="en-US" altLang="zh-CN"/>
              <a:t> </a:t>
            </a:r>
            <a:r>
              <a:rPr kumimoji="1" lang="zh-CN" altLang="en-US"/>
              <a:t>要安装</a:t>
            </a:r>
            <a:r>
              <a:rPr kumimoji="1" lang="en-US" altLang="zh-CN"/>
              <a:t>Anaconda</a:t>
            </a:r>
            <a:r>
              <a:rPr kumimoji="1" lang="zh-CN" altLang="en-US"/>
              <a:t>或者</a:t>
            </a:r>
            <a:r>
              <a:rPr kumimoji="1" lang="en-US" altLang="zh-CN"/>
              <a:t>Python</a:t>
            </a:r>
            <a:r>
              <a:rPr kumimoji="1" lang="zh-CN" altLang="en-US"/>
              <a:t>，课堂上会指导大家安装：</a:t>
            </a:r>
            <a:endParaRPr kumimoji="1" lang="en-US" altLang="zh-CN"/>
          </a:p>
          <a:p>
            <a:pPr lvl="2"/>
            <a:r>
              <a:rPr kumimoji="1" lang="en-US" altLang="zh-CN"/>
              <a:t>numpy</a:t>
            </a:r>
          </a:p>
          <a:p>
            <a:pPr lvl="2"/>
            <a:r>
              <a:rPr kumimoji="1" lang="en-US" altLang="zh-CN"/>
              <a:t>sklearn</a:t>
            </a:r>
          </a:p>
          <a:p>
            <a:pPr lvl="1"/>
            <a:r>
              <a:rPr kumimoji="1" lang="en-US" altLang="zh-CN"/>
              <a:t>PyCharm</a:t>
            </a:r>
            <a:r>
              <a:rPr kumimoji="1" lang="zh-CN" altLang="en-US"/>
              <a:t>社区版</a:t>
            </a:r>
            <a:endParaRPr kumimoji="1" lang="en-US" altLang="zh-CN"/>
          </a:p>
          <a:p>
            <a:pPr lvl="1"/>
            <a:r>
              <a:rPr kumimoji="1" lang="zh-CN" altLang="en-US"/>
              <a:t>要有一定的</a:t>
            </a:r>
            <a:r>
              <a:rPr kumimoji="1" lang="en-US" altLang="zh-CN"/>
              <a:t>Python</a:t>
            </a:r>
            <a:r>
              <a:rPr kumimoji="1" lang="zh-CN" altLang="en-US"/>
              <a:t>编程知识，能看懂</a:t>
            </a:r>
            <a:r>
              <a:rPr kumimoji="1" lang="en-US" altLang="zh-CN"/>
              <a:t>Python</a:t>
            </a:r>
            <a:r>
              <a:rPr kumimoji="1" lang="zh-CN" altLang="en-US"/>
              <a:t>语法</a:t>
            </a:r>
            <a:endParaRPr kumimoji="1" lang="en-US" altLang="zh-CN"/>
          </a:p>
        </p:txBody>
      </p:sp>
    </p:spTree>
    <p:extLst>
      <p:ext uri="{BB962C8B-B14F-4D97-AF65-F5344CB8AC3E}">
        <p14:creationId xmlns:p14="http://schemas.microsoft.com/office/powerpoint/2010/main" val="276540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DFBBE-F49D-2F41-A290-971FEEB4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4</a:t>
            </a:r>
            <a:r>
              <a:rPr kumimoji="1" lang="zh-CN" altLang="en-US"/>
              <a:t> 线性回归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AD3273-4D1F-5A4C-8557-0741EA019E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2729" y="2602030"/>
                <a:ext cx="8946541" cy="2951835"/>
              </a:xfrm>
            </p:spPr>
            <p:txBody>
              <a:bodyPr>
                <a:normAutofit/>
              </a:bodyPr>
              <a:lstStyle/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zh-CN" altLang="en-US" sz="1800">
                    <a:latin typeface="+mn-ea"/>
                    <a:ea typeface="+mn-ea"/>
                  </a:rPr>
                  <a:t>什么是回归算法：</a:t>
                </a:r>
                <a:endParaRPr lang="en-US" altLang="zh-CN" sz="1800">
                  <a:latin typeface="+mn-ea"/>
                  <a:ea typeface="+mn-ea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zh-CN" sz="1800">
                  <a:latin typeface="+mn-ea"/>
                  <a:ea typeface="+mn-ea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l"/>
                </a:pPr>
                <a:r>
                  <a:rPr lang="zh-CN" altLang="en-US" sz="1800">
                    <a:latin typeface="+mn-ea"/>
                    <a:ea typeface="+mn-ea"/>
                  </a:rPr>
                  <a:t>回归算法是一种有监督的算法（即需要提供有标注的样本）</a:t>
                </a:r>
                <a:endParaRPr lang="en-US" altLang="zh-CN" sz="1800">
                  <a:latin typeface="+mn-ea"/>
                  <a:ea typeface="+mn-ea"/>
                </a:endParaRP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l"/>
                </a:pPr>
                <a:r>
                  <a:rPr lang="zh-CN" altLang="zh-CN" sz="1800">
                    <a:latin typeface="+mn-ea"/>
                    <a:ea typeface="+mn-ea"/>
                  </a:rPr>
                  <a:t>回归算法是一种比较常用的机器学习算法，用来建立“解释”变量(自变量X)和观 测值(因变量Y)之间的关系;从机器学习的角度来讲，用于构建一个算法模型(函数)来做属性(X)与标签(Y)之间的映射关系，在算法的学习过程中，试图寻找一个 函数</a:t>
                </a:r>
                <a:br>
                  <a:rPr lang="en-US" altLang="zh-CN" sz="1800">
                    <a:latin typeface="+mn-ea"/>
                    <a:ea typeface="+mn-ea"/>
                  </a:rPr>
                </a:br>
                <a:r>
                  <a:rPr lang="en-US" altLang="zh-CN" sz="1800">
                    <a:latin typeface="+mn-ea"/>
                    <a:ea typeface="+mn-ea"/>
                  </a:rPr>
                  <a:t>                                    </a:t>
                </a:r>
                <a14:m>
                  <m:oMath xmlns:m="http://schemas.openxmlformats.org/officeDocument/2006/math">
                    <m:r>
                      <a:rPr lang="en-US" altLang="zh-CN" sz="1800" b="0" i="1"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  <a:ea typeface="+mn-ea"/>
                      </a:rPr>
                      <m:t>: </m:t>
                    </m:r>
                    <m:sSup>
                      <m:sSupPr>
                        <m:ctrlPr>
                          <a:rPr lang="en-US" altLang="zh-CN" sz="1800" b="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1800" b="0" i="1">
                            <a:latin typeface="Cambria Math" panose="02040503050406030204" pitchFamily="18" charset="0"/>
                            <a:ea typeface="+mn-ea"/>
                          </a:rPr>
                          <m:t>𝑅</m:t>
                        </m:r>
                      </m:e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  <a:ea typeface="+mn-ea"/>
                          </a:rPr>
                          <m:t>𝑑</m:t>
                        </m:r>
                      </m:sup>
                    </m:sSup>
                    <m:r>
                      <a:rPr lang="en-US" altLang="zh-CN" sz="1800" b="0" i="1">
                        <a:latin typeface="Cambria Math" panose="02040503050406030204" pitchFamily="18" charset="0"/>
                        <a:ea typeface="+mn-ea"/>
                      </a:rPr>
                      <m:t>⟶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  <a:ea typeface="+mn-ea"/>
                      </a:rPr>
                      <m:t>𝑅</m:t>
                    </m:r>
                  </m:oMath>
                </a14:m>
                <a:br>
                  <a:rPr lang="en-US" altLang="zh-CN" sz="1800">
                    <a:latin typeface="+mn-ea"/>
                    <a:ea typeface="+mn-ea"/>
                  </a:rPr>
                </a:br>
                <a:r>
                  <a:rPr lang="zh-CN" altLang="zh-CN" sz="1800">
                    <a:latin typeface="+mn-ea"/>
                    <a:ea typeface="+mn-ea"/>
                  </a:rPr>
                  <a:t>使得参数之间的关系拟合性最好。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l"/>
                </a:pPr>
                <a:r>
                  <a:rPr lang="zh-CN" altLang="zh-CN" sz="1800">
                    <a:latin typeface="+mn-ea"/>
                    <a:ea typeface="+mn-ea"/>
                  </a:rPr>
                  <a:t>回归算法中算法(函数)的最终结果是一个</a:t>
                </a:r>
                <a:r>
                  <a:rPr lang="zh-CN" altLang="zh-CN" sz="1800" b="1">
                    <a:latin typeface="+mn-ea"/>
                    <a:ea typeface="+mn-ea"/>
                  </a:rPr>
                  <a:t>连续</a:t>
                </a:r>
                <a:r>
                  <a:rPr lang="zh-CN" altLang="zh-CN" sz="1800">
                    <a:latin typeface="+mn-ea"/>
                    <a:ea typeface="+mn-ea"/>
                  </a:rPr>
                  <a:t>的数据值，输入值(属性值)是一个d 维度的属性/数值向量</a:t>
                </a:r>
                <a:endParaRPr kumimoji="1" lang="zh-CN" altLang="en-US" sz="180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AD3273-4D1F-5A4C-8557-0741EA019E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2729" y="2602030"/>
                <a:ext cx="8946541" cy="2951835"/>
              </a:xfrm>
              <a:blipFill>
                <a:blip r:embed="rId2"/>
                <a:stretch>
                  <a:fillRect l="-567" t="-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page7image59727584">
            <a:extLst>
              <a:ext uri="{FF2B5EF4-FFF2-40B4-BE49-F238E27FC236}">
                <a16:creationId xmlns:a16="http://schemas.microsoft.com/office/drawing/2014/main" id="{9FE61D71-D610-BA47-A8E2-3368EE6D7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190500"/>
            <a:ext cx="165100" cy="16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647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9C256-F86F-7047-9D8D-C3244436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949318" cy="1400530"/>
          </a:xfrm>
        </p:spPr>
        <p:txBody>
          <a:bodyPr>
            <a:normAutofit/>
          </a:bodyPr>
          <a:lstStyle/>
          <a:p>
            <a:pPr>
              <a:tabLst>
                <a:tab pos="9105900" algn="l"/>
              </a:tabLst>
            </a:pPr>
            <a:r>
              <a:rPr kumimoji="1" lang="zh-CN" altLang="en-US"/>
              <a:t>一元线性回归的一个示例</a:t>
            </a:r>
            <a:r>
              <a:rPr kumimoji="1" lang="en-US" altLang="zh-CN"/>
              <a:t>——</a:t>
            </a:r>
            <a:r>
              <a:rPr kumimoji="1" lang="zh-CN" altLang="en-US"/>
              <a:t>最小二乘法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077F14-92D3-5041-8D79-2F8EB2306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03" y="1356880"/>
            <a:ext cx="7518980" cy="336104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035EEF5-E1D9-FD45-8F3F-13CBDF17E12F}"/>
              </a:ext>
            </a:extLst>
          </p:cNvPr>
          <p:cNvGraphicFramePr>
            <a:graphicFrameLocks noGrp="1"/>
          </p:cNvGraphicFramePr>
          <p:nvPr/>
        </p:nvGraphicFramePr>
        <p:xfrm>
          <a:off x="8490856" y="2397129"/>
          <a:ext cx="34324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134">
                  <a:extLst>
                    <a:ext uri="{9D8B030D-6E8A-4147-A177-3AD203B41FA5}">
                      <a16:colId xmlns:a16="http://schemas.microsoft.com/office/drawing/2014/main" val="1996481293"/>
                    </a:ext>
                  </a:extLst>
                </a:gridCol>
                <a:gridCol w="1144134">
                  <a:extLst>
                    <a:ext uri="{9D8B030D-6E8A-4147-A177-3AD203B41FA5}">
                      <a16:colId xmlns:a16="http://schemas.microsoft.com/office/drawing/2014/main" val="1739625013"/>
                    </a:ext>
                  </a:extLst>
                </a:gridCol>
                <a:gridCol w="1144134">
                  <a:extLst>
                    <a:ext uri="{9D8B030D-6E8A-4147-A177-3AD203B41FA5}">
                      <a16:colId xmlns:a16="http://schemas.microsoft.com/office/drawing/2014/main" val="4255721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y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y’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419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x</a:t>
                      </a:r>
                      <a:r>
                        <a:rPr lang="en-US" altLang="zh-CN" baseline="-25000"/>
                        <a:t>1</a:t>
                      </a:r>
                      <a:endParaRPr lang="zh-CN" altLang="en-US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y</a:t>
                      </a:r>
                      <a:r>
                        <a:rPr lang="en-US" altLang="zh-CN" baseline="-25000"/>
                        <a:t>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ax</a:t>
                      </a:r>
                      <a:r>
                        <a:rPr lang="en-US" altLang="zh-CN" baseline="-25000"/>
                        <a:t>1</a:t>
                      </a:r>
                      <a:r>
                        <a:rPr lang="en-US" altLang="zh-CN"/>
                        <a:t>+b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8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x</a:t>
                      </a:r>
                      <a:r>
                        <a:rPr lang="en-US" altLang="zh-CN" baseline="-25000"/>
                        <a:t>2</a:t>
                      </a:r>
                      <a:endParaRPr lang="zh-CN" altLang="en-US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y</a:t>
                      </a:r>
                      <a:r>
                        <a:rPr lang="en-US" altLang="zh-CN" baseline="-25000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ax</a:t>
                      </a:r>
                      <a:r>
                        <a:rPr lang="en-US" altLang="zh-CN" baseline="-25000"/>
                        <a:t>2</a:t>
                      </a:r>
                      <a:r>
                        <a:rPr lang="en-US" altLang="zh-CN"/>
                        <a:t>+b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087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934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x</a:t>
                      </a:r>
                      <a:r>
                        <a:rPr lang="en-US" altLang="zh-CN" baseline="-25000"/>
                        <a:t>n</a:t>
                      </a:r>
                      <a:endParaRPr lang="zh-CN" altLang="en-US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y</a:t>
                      </a:r>
                      <a:r>
                        <a:rPr lang="en-US" altLang="zh-CN" baseline="-25000"/>
                        <a:t>n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ax</a:t>
                      </a:r>
                      <a:r>
                        <a:rPr lang="en-US" altLang="zh-CN" baseline="-25000"/>
                        <a:t>n</a:t>
                      </a:r>
                      <a:r>
                        <a:rPr lang="en-US" altLang="zh-CN"/>
                        <a:t>+b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7326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3EE3DEE-AF66-E74F-91EE-1F80D21F7B1C}"/>
                  </a:ext>
                </a:extLst>
              </p:cNvPr>
              <p:cNvSpPr txBox="1"/>
              <p:nvPr/>
            </p:nvSpPr>
            <p:spPr>
              <a:xfrm>
                <a:off x="646111" y="5556716"/>
                <a:ext cx="3217676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CN" b="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b="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3EE3DEE-AF66-E74F-91EE-1F80D21F7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11" y="5556716"/>
                <a:ext cx="3217676" cy="848566"/>
              </a:xfrm>
              <a:prstGeom prst="rect">
                <a:avLst/>
              </a:prstGeom>
              <a:blipFill>
                <a:blip r:embed="rId3"/>
                <a:stretch>
                  <a:fillRect t="-100000" b="-155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>
            <a:extLst>
              <a:ext uri="{FF2B5EF4-FFF2-40B4-BE49-F238E27FC236}">
                <a16:creationId xmlns:a16="http://schemas.microsoft.com/office/drawing/2014/main" id="{EFD25C06-7679-664D-8AAA-EEE1210EA43D}"/>
              </a:ext>
            </a:extLst>
          </p:cNvPr>
          <p:cNvCxnSpPr>
            <a:cxnSpLocks/>
          </p:cNvCxnSpPr>
          <p:nvPr/>
        </p:nvCxnSpPr>
        <p:spPr>
          <a:xfrm rot="5400000">
            <a:off x="5649611" y="1064229"/>
            <a:ext cx="1305387" cy="780950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96A912F-930C-5842-A016-C6F5E13B4C61}"/>
                  </a:ext>
                </a:extLst>
              </p:cNvPr>
              <p:cNvSpPr txBox="1"/>
              <p:nvPr/>
            </p:nvSpPr>
            <p:spPr>
              <a:xfrm>
                <a:off x="4524639" y="5071718"/>
                <a:ext cx="6961393" cy="1740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b="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zh-CN" b="0" i="1">
                                    <a:latin typeface="Cambria Math" panose="02040503050406030204" pitchFamily="18" charset="0"/>
                                  </a:rPr>
                                  <m:t>=0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CN">
                                    <a:solidFill>
                                      <a:schemeClr val="tx1"/>
                                    </a:solidFill>
                                    <a:sym typeface="Wingdings" pitchFamily="2" charset="2"/>
                                  </a:rPr>
                                  <m:t></m:t>
                                </m:r>
                                <m:r>
                                  <a:rPr kumimoji="1" lang="en-US" altLang="zh-CN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 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b="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kumimoji="1" lang="en-US" altLang="zh-CN" b="0" i="1">
                                    <a:latin typeface="Cambria Math" panose="02040503050406030204" pitchFamily="18" charset="0"/>
                                  </a:rPr>
                                  <m:t>=0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CN">
                                    <a:sym typeface="Wingdings" pitchFamily="2" charset="2"/>
                                  </a:rPr>
                                  <m:t>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CN" b="0" i="0">
                                    <a:sym typeface="Wingdings" pitchFamily="2" charset="2"/>
                                  </a:rPr>
                                  <m:t> 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𝑛𝑏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96A912F-930C-5842-A016-C6F5E13B4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639" y="5071718"/>
                <a:ext cx="6961393" cy="1740413"/>
              </a:xfrm>
              <a:prstGeom prst="rect">
                <a:avLst/>
              </a:prstGeom>
              <a:blipFill>
                <a:blip r:embed="rId4"/>
                <a:stretch>
                  <a:fillRect t="-45652" b="-72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B0B04D27-4707-BB4A-9880-240AFD1D61C1}"/>
              </a:ext>
            </a:extLst>
          </p:cNvPr>
          <p:cNvSpPr txBox="1"/>
          <p:nvPr/>
        </p:nvSpPr>
        <p:spPr>
          <a:xfrm>
            <a:off x="389503" y="50717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rgbClr val="FFFF00"/>
                </a:solidFill>
              </a:rPr>
              <a:t>损失函数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8CA079E7-2A14-864E-A5DF-B4EC557770AA}"/>
              </a:ext>
            </a:extLst>
          </p:cNvPr>
          <p:cNvCxnSpPr>
            <a:stCxn id="3" idx="2"/>
          </p:cNvCxnSpPr>
          <p:nvPr/>
        </p:nvCxnSpPr>
        <p:spPr>
          <a:xfrm>
            <a:off x="943501" y="5441050"/>
            <a:ext cx="86809" cy="40595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29E09FD-C02C-D348-BBE6-555FCA74AE06}"/>
              </a:ext>
            </a:extLst>
          </p:cNvPr>
          <p:cNvSpPr txBox="1"/>
          <p:nvPr/>
        </p:nvSpPr>
        <p:spPr>
          <a:xfrm>
            <a:off x="2532219" y="64121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rgbClr val="FFFF00"/>
                </a:solidFill>
              </a:rPr>
              <a:t>目标函数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1B3BD678-14F3-2F43-BFAC-8926EF71E900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2833352" y="6156101"/>
            <a:ext cx="252865" cy="25606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右箭头 3">
            <a:extLst>
              <a:ext uri="{FF2B5EF4-FFF2-40B4-BE49-F238E27FC236}">
                <a16:creationId xmlns:a16="http://schemas.microsoft.com/office/drawing/2014/main" id="{7E075970-8881-4D45-A5E1-81044A181D82}"/>
              </a:ext>
            </a:extLst>
          </p:cNvPr>
          <p:cNvSpPr/>
          <p:nvPr/>
        </p:nvSpPr>
        <p:spPr>
          <a:xfrm>
            <a:off x="3950596" y="5750142"/>
            <a:ext cx="380380" cy="405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801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FEC12-DF8D-0340-A0BE-F1FB8984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手工计算</a:t>
            </a:r>
            <a:r>
              <a:rPr kumimoji="1" lang="en-US" altLang="zh-CN"/>
              <a:t>a</a:t>
            </a:r>
            <a:r>
              <a:rPr kumimoji="1" lang="zh-CN" altLang="en-US"/>
              <a:t>、</a:t>
            </a:r>
            <a:r>
              <a:rPr kumimoji="1" lang="en-US" altLang="zh-CN"/>
              <a:t>b</a:t>
            </a:r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C8E932-63BF-C44E-8CCD-88CECCE25824}"/>
                  </a:ext>
                </a:extLst>
              </p:cNvPr>
              <p:cNvSpPr txBox="1"/>
              <p:nvPr/>
            </p:nvSpPr>
            <p:spPr>
              <a:xfrm>
                <a:off x="1187133" y="4900136"/>
                <a:ext cx="3083986" cy="1644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 </m:t>
                            </m:r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nary>
                              <m:naryPr>
                                <m:chr m:val="∑"/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nary>
                              <m:naryPr>
                                <m:chr m:val="∑"/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mr>
                        <m:mr>
                          <m:e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nary>
                              <m:naryPr>
                                <m:chr m:val="∑"/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𝑛𝑏</m:t>
                            </m:r>
                            <m:r>
                              <a:rPr kumimoji="1"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C8E932-63BF-C44E-8CCD-88CECCE25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33" y="4900136"/>
                <a:ext cx="3083986" cy="1644617"/>
              </a:xfrm>
              <a:prstGeom prst="rect">
                <a:avLst/>
              </a:prstGeom>
              <a:blipFill>
                <a:blip r:embed="rId2"/>
                <a:stretch>
                  <a:fillRect l="-17623" t="-51538" b="-7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37E0D51-B53D-EB46-AE17-3AF559740275}"/>
                  </a:ext>
                </a:extLst>
              </p:cNvPr>
              <p:cNvSpPr txBox="1"/>
              <p:nvPr/>
            </p:nvSpPr>
            <p:spPr>
              <a:xfrm>
                <a:off x="5071148" y="5391274"/>
                <a:ext cx="264155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  <a:sym typeface="Wingdings" pitchFamily="2" charset="2"/>
                        </a:rPr>
                        <m:t>16225 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+315 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=890 </m:t>
                      </m:r>
                    </m:oMath>
                  </m:oMathPara>
                </a14:m>
                <a:endParaRPr kumimoji="1" lang="en-US" altLang="zh-CN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315 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+8      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=18.4</m:t>
                      </m:r>
                    </m:oMath>
                  </m:oMathPara>
                </a14:m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37E0D51-B53D-EB46-AE17-3AF559740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148" y="5391274"/>
                <a:ext cx="2641557" cy="646331"/>
              </a:xfrm>
              <a:prstGeom prst="rect">
                <a:avLst/>
              </a:prstGeom>
              <a:blipFill>
                <a:blip r:embed="rId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右箭头 6">
            <a:extLst>
              <a:ext uri="{FF2B5EF4-FFF2-40B4-BE49-F238E27FC236}">
                <a16:creationId xmlns:a16="http://schemas.microsoft.com/office/drawing/2014/main" id="{9DBCB94D-CA45-1144-82B7-4EEE9899FDFF}"/>
              </a:ext>
            </a:extLst>
          </p:cNvPr>
          <p:cNvSpPr/>
          <p:nvPr/>
        </p:nvSpPr>
        <p:spPr>
          <a:xfrm>
            <a:off x="4387254" y="5450355"/>
            <a:ext cx="504745" cy="4510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33802A48-B0C6-8549-A156-4A5FD020A9EB}"/>
              </a:ext>
            </a:extLst>
          </p:cNvPr>
          <p:cNvSpPr/>
          <p:nvPr/>
        </p:nvSpPr>
        <p:spPr>
          <a:xfrm>
            <a:off x="7719703" y="5543397"/>
            <a:ext cx="504745" cy="4510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D5DCFF-94A8-4B4E-BABD-04C0C880EC57}"/>
                  </a:ext>
                </a:extLst>
              </p:cNvPr>
              <p:cNvSpPr txBox="1"/>
              <p:nvPr/>
            </p:nvSpPr>
            <p:spPr>
              <a:xfrm>
                <a:off x="8653509" y="5255121"/>
                <a:ext cx="14117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=0.0433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zh-CN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=0.5949</m:t>
                      </m:r>
                    </m:oMath>
                  </m:oMathPara>
                </a14:m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D5DCFF-94A8-4B4E-BABD-04C0C880E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509" y="5255121"/>
                <a:ext cx="141179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33F51B9-A72D-B744-BBFC-9A9877568CAE}"/>
                  </a:ext>
                </a:extLst>
              </p:cNvPr>
              <p:cNvSpPr txBox="1"/>
              <p:nvPr/>
            </p:nvSpPr>
            <p:spPr>
              <a:xfrm>
                <a:off x="8653509" y="5901452"/>
                <a:ext cx="25448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=0.0433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+0.5949</m:t>
                      </m:r>
                    </m:oMath>
                  </m:oMathPara>
                </a14:m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33F51B9-A72D-B744-BBFC-9A9877568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509" y="5901452"/>
                <a:ext cx="2544864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9DA2A5DE-5521-B847-8F26-8C04A842F49D}"/>
              </a:ext>
            </a:extLst>
          </p:cNvPr>
          <p:cNvSpPr txBox="1"/>
          <p:nvPr/>
        </p:nvSpPr>
        <p:spPr>
          <a:xfrm>
            <a:off x="8653509" y="496036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最终结果：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A627C5-AD46-2344-9A01-CC2C397873E6}"/>
              </a:ext>
            </a:extLst>
          </p:cNvPr>
          <p:cNvSpPr txBox="1"/>
          <p:nvPr/>
        </p:nvSpPr>
        <p:spPr>
          <a:xfrm>
            <a:off x="4271119" y="6342474"/>
            <a:ext cx="588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rgbClr val="FFFF00"/>
                </a:solidFill>
              </a:rPr>
              <a:t>友情提示：</a:t>
            </a:r>
            <a:r>
              <a:rPr kumimoji="1" lang="en-US" altLang="zh-CN">
                <a:solidFill>
                  <a:srgbClr val="FFFF00"/>
                </a:solidFill>
              </a:rPr>
              <a:t>numpy.linalg.solve()</a:t>
            </a:r>
            <a:r>
              <a:rPr kumimoji="1" lang="zh-CN" altLang="en-US">
                <a:solidFill>
                  <a:srgbClr val="FFFF00"/>
                </a:solidFill>
              </a:rPr>
              <a:t>函数可以用来解方程组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386C1F-5D1E-3F45-BBD6-59647C822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676129"/>
              </p:ext>
            </p:extLst>
          </p:nvPr>
        </p:nvGraphicFramePr>
        <p:xfrm>
          <a:off x="1658161" y="1308152"/>
          <a:ext cx="8496300" cy="322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6003">
                  <a:extLst>
                    <a:ext uri="{9D8B030D-6E8A-4147-A177-3AD203B41FA5}">
                      <a16:colId xmlns:a16="http://schemas.microsoft.com/office/drawing/2014/main" val="3434503944"/>
                    </a:ext>
                  </a:extLst>
                </a:gridCol>
                <a:gridCol w="1142146">
                  <a:extLst>
                    <a:ext uri="{9D8B030D-6E8A-4147-A177-3AD203B41FA5}">
                      <a16:colId xmlns:a16="http://schemas.microsoft.com/office/drawing/2014/main" val="2508699787"/>
                    </a:ext>
                  </a:extLst>
                </a:gridCol>
                <a:gridCol w="980342">
                  <a:extLst>
                    <a:ext uri="{9D8B030D-6E8A-4147-A177-3AD203B41FA5}">
                      <a16:colId xmlns:a16="http://schemas.microsoft.com/office/drawing/2014/main" val="3677427680"/>
                    </a:ext>
                  </a:extLst>
                </a:gridCol>
                <a:gridCol w="1361058">
                  <a:extLst>
                    <a:ext uri="{9D8B030D-6E8A-4147-A177-3AD203B41FA5}">
                      <a16:colId xmlns:a16="http://schemas.microsoft.com/office/drawing/2014/main" val="1436445564"/>
                    </a:ext>
                  </a:extLst>
                </a:gridCol>
                <a:gridCol w="902953">
                  <a:extLst>
                    <a:ext uri="{9D8B030D-6E8A-4147-A177-3AD203B41FA5}">
                      <a16:colId xmlns:a16="http://schemas.microsoft.com/office/drawing/2014/main" val="383854721"/>
                    </a:ext>
                  </a:extLst>
                </a:gridCol>
                <a:gridCol w="1051387">
                  <a:extLst>
                    <a:ext uri="{9D8B030D-6E8A-4147-A177-3AD203B41FA5}">
                      <a16:colId xmlns:a16="http://schemas.microsoft.com/office/drawing/2014/main" val="2878269964"/>
                    </a:ext>
                  </a:extLst>
                </a:gridCol>
                <a:gridCol w="850265">
                  <a:extLst>
                    <a:ext uri="{9D8B030D-6E8A-4147-A177-3AD203B41FA5}">
                      <a16:colId xmlns:a16="http://schemas.microsoft.com/office/drawing/2014/main" val="3644255342"/>
                    </a:ext>
                  </a:extLst>
                </a:gridCol>
                <a:gridCol w="1142146">
                  <a:extLst>
                    <a:ext uri="{9D8B030D-6E8A-4147-A177-3AD203B41FA5}">
                      <a16:colId xmlns:a16="http://schemas.microsoft.com/office/drawing/2014/main" val="2253761572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　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x^2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xy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y'=ax+b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y-y'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(y-y')^2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988259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1.03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-0.23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0.05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058737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225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1.24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-0.24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0.06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277631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1.8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400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36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1.46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0.34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0.11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355037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4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900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60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1.89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0.11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0.01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378707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50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3.2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2500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160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2.76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0.44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0.19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96809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6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60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3600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180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3.19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-0.19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0.04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635893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60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3.1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3600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186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3.19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-0.09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0.01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427650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70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3.5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4900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245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3.63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-0.13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0.02 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060519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800" u="none" strike="noStrike">
                          <a:effectLst/>
                        </a:rPr>
                        <a:t>合计：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b="1" u="none" strike="noStrike">
                          <a:effectLst/>
                        </a:rPr>
                        <a:t>315.00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b="1" u="none" strike="noStrike">
                          <a:effectLst/>
                        </a:rPr>
                        <a:t>18.40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b="1" u="none" strike="noStrike">
                          <a:effectLst/>
                        </a:rPr>
                        <a:t>16225.00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b="1" u="none" strike="noStrike">
                          <a:effectLst/>
                        </a:rPr>
                        <a:t>890.00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1" u="none" strike="noStrike">
                          <a:effectLst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1" u="none" strike="noStrike">
                          <a:effectLst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b="1" u="none" strike="noStrike">
                          <a:effectLst/>
                        </a:rPr>
                        <a:t>0.49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64423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800" u="none" strike="noStrike">
                          <a:effectLst/>
                        </a:rPr>
                        <a:t>标准差：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1" u="none" strike="noStrike">
                          <a:effectLst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1" u="none" strike="noStrike">
                          <a:effectLst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1" u="none" strike="noStrike">
                          <a:effectLst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1" u="none" strike="noStrike">
                          <a:effectLst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1" u="none" strike="noStrike">
                          <a:effectLst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1" u="none" strike="noStrike">
                          <a:effectLst/>
                        </a:rPr>
                        <a:t>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b="1" u="none" strike="noStrike" dirty="0">
                          <a:effectLst/>
                        </a:rPr>
                        <a:t>0.25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96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311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A7550-096C-FF4D-BFEE-2A1E8AB30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多元线性回归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A86D40-E3F2-BA4D-9FB0-2A84FF443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67" y="1418534"/>
            <a:ext cx="9404724" cy="42610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C2CFD9-718D-C644-8C38-26C044B5DB05}"/>
              </a:ext>
            </a:extLst>
          </p:cNvPr>
          <p:cNvSpPr txBox="1"/>
          <p:nvPr/>
        </p:nvSpPr>
        <p:spPr>
          <a:xfrm>
            <a:off x="1084163" y="6035950"/>
            <a:ext cx="846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Python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sklearn</a:t>
            </a:r>
            <a:r>
              <a:rPr kumimoji="1" lang="zh-CN" altLang="en-US" dirty="0"/>
              <a:t>库对线性回归的实现：</a:t>
            </a:r>
            <a:r>
              <a:rPr lang="en-US" altLang="zh-CN" dirty="0" err="1">
                <a:solidFill>
                  <a:srgbClr val="FFFF00"/>
                </a:solidFill>
              </a:rPr>
              <a:t>sklearn.linear_model.LinearRegression</a:t>
            </a:r>
            <a:endParaRPr kumimoji="1" lang="zh-CN" alt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E322406-39BD-FD42-8416-11FBE008B39D}"/>
                  </a:ext>
                </a:extLst>
              </p:cNvPr>
              <p:cNvSpPr/>
              <p:nvPr/>
            </p:nvSpPr>
            <p:spPr>
              <a:xfrm>
                <a:off x="1229193" y="1499016"/>
                <a:ext cx="4866807" cy="71952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kumimoji="1"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E322406-39BD-FD42-8416-11FBE008B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193" y="1499016"/>
                <a:ext cx="4866807" cy="7195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319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210CD-030C-FB4D-8970-65F02B00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手工计算</a:t>
            </a:r>
            <a:r>
              <a:rPr kumimoji="1" lang="en-US" altLang="zh-CN"/>
              <a:t>a</a:t>
            </a:r>
            <a:r>
              <a:rPr kumimoji="1" lang="zh-CN" altLang="en-US"/>
              <a:t>、</a:t>
            </a:r>
            <a:r>
              <a:rPr kumimoji="1" lang="en-US" altLang="zh-CN"/>
              <a:t>b</a:t>
            </a:r>
            <a:r>
              <a:rPr kumimoji="1" lang="zh-CN" altLang="en-US"/>
              <a:t>、</a:t>
            </a:r>
            <a:r>
              <a:rPr kumimoji="1" lang="en-US" altLang="zh-CN"/>
              <a:t>c</a:t>
            </a:r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AAB0543-AE6C-E948-9EA7-F40A996FEB98}"/>
                  </a:ext>
                </a:extLst>
              </p:cNvPr>
              <p:cNvSpPr txBox="1"/>
              <p:nvPr/>
            </p:nvSpPr>
            <p:spPr>
              <a:xfrm>
                <a:off x="555154" y="1920195"/>
                <a:ext cx="3986796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CN" b="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b="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b>
                                    <m:sSubPr>
                                      <m:ctrlPr>
                                        <a:rPr kumimoji="1" lang="en-US" altLang="zh-CN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CN" b="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b="0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AAB0543-AE6C-E948-9EA7-F40A996FE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54" y="1920195"/>
                <a:ext cx="3986796" cy="848566"/>
              </a:xfrm>
              <a:prstGeom prst="rect">
                <a:avLst/>
              </a:prstGeom>
              <a:blipFill>
                <a:blip r:embed="rId2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EE3D6B4-A3DA-3340-BA78-82AEAD6D4475}"/>
                  </a:ext>
                </a:extLst>
              </p:cNvPr>
              <p:cNvSpPr txBox="1"/>
              <p:nvPr/>
            </p:nvSpPr>
            <p:spPr>
              <a:xfrm>
                <a:off x="555154" y="3005851"/>
                <a:ext cx="8160439" cy="2536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kumimoji="1"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num>
                                      <m:den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den>
                                    </m:f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b="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b="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b="0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b="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b="0" i="1">
                                                    <a:latin typeface="Cambria Math" panose="02040503050406030204" pitchFamily="18" charset="0"/>
                                                  </a:rPr>
                                                  <m:t>𝑧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kumimoji="1" lang="en-US" altLang="zh-CN" b="0" i="1">
                                        <a:latin typeface="Cambria Math" panose="02040503050406030204" pitchFamily="18" charset="0"/>
                                      </a:rPr>
                                      <m:t>=0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1" lang="en-US" altLang="zh-CN">
                                        <a:solidFill>
                                          <a:schemeClr val="tx1"/>
                                        </a:solidFill>
                                        <a:sym typeface="Wingdings" pitchFamily="2" charset="2"/>
                                      </a:rPr>
                                      <m:t></m:t>
                                    </m:r>
                                    <m: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 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kumimoji="1" lang="en-US" altLang="zh-CN" b="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US" altLang="zh-CN" b="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kumimoji="1" lang="en-US" altLang="zh-CN" b="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  <m:e>
                                    <m:f>
                                      <m:f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num>
                                      <m:den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kumimoji="1"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den>
                                    </m:f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𝑧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=0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1" lang="en-US" altLang="zh-CN">
                                        <a:sym typeface="Wingdings" pitchFamily="2" charset="2"/>
                                      </a:rPr>
                                      <m:t></m:t>
                                    </m:r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 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kumimoji="1" lang="en-US" altLang="zh-CN" b="0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solidFill>
                                                  <a:srgbClr val="FFFF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eqAr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kumimoji="1" lang="en-US" altLang="zh-CN" b="0" i="1">
                                    <a:latin typeface="Cambria Math" panose="02040503050406030204" pitchFamily="18" charset="0"/>
                                  </a:rPr>
                                  <m:t>=0 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CN">
                                    <a:sym typeface="Wingdings" pitchFamily="2" charset="2"/>
                                  </a:rPr>
                                  <m:t>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CN" b="0" i="0">
                                    <a:sym typeface="Wingdings" pitchFamily="2" charset="2"/>
                                  </a:rPr>
                                  <m:t> 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𝑛𝑐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EE3D6B4-A3DA-3340-BA78-82AEAD6D4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54" y="3005851"/>
                <a:ext cx="8160439" cy="2536528"/>
              </a:xfrm>
              <a:prstGeom prst="rect">
                <a:avLst/>
              </a:prstGeom>
              <a:blipFill>
                <a:blip r:embed="rId3"/>
                <a:stretch>
                  <a:fillRect l="-778" t="-32000" b="-49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右箭头 5">
            <a:extLst>
              <a:ext uri="{FF2B5EF4-FFF2-40B4-BE49-F238E27FC236}">
                <a16:creationId xmlns:a16="http://schemas.microsoft.com/office/drawing/2014/main" id="{B61F157B-CB33-304B-A05C-0AD6745544A2}"/>
              </a:ext>
            </a:extLst>
          </p:cNvPr>
          <p:cNvSpPr/>
          <p:nvPr/>
        </p:nvSpPr>
        <p:spPr>
          <a:xfrm flipV="1">
            <a:off x="78129" y="4062256"/>
            <a:ext cx="477025" cy="4237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464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210CD-030C-FB4D-8970-65F02B00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手工计算</a:t>
            </a:r>
            <a:r>
              <a:rPr kumimoji="1" lang="en-US" altLang="zh-CN" dirty="0"/>
              <a:t>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 (z=</a:t>
            </a:r>
            <a:r>
              <a:rPr kumimoji="1" lang="en-US" altLang="zh-CN" dirty="0" err="1"/>
              <a:t>ax+by+c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F50951-DA43-974E-8CE4-9CB2837A965E}"/>
                  </a:ext>
                </a:extLst>
              </p:cNvPr>
              <p:cNvSpPr txBox="1"/>
              <p:nvPr/>
            </p:nvSpPr>
            <p:spPr>
              <a:xfrm>
                <a:off x="1321635" y="5553338"/>
                <a:ext cx="420557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600">
                    <a:latin typeface="Cambria Math" panose="02040503050406030204" pitchFamily="18" charset="0"/>
                  </a:rPr>
                  <a:t>求解得：</a:t>
                </a:r>
                <a:endParaRPr kumimoji="1" lang="en-US" altLang="zh-CN" sz="160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1600" i="1">
                          <a:latin typeface="Cambria Math" panose="02040503050406030204" pitchFamily="18" charset="0"/>
                        </a:rPr>
                        <m:t>=0.0105,  </m:t>
                      </m:r>
                      <m:r>
                        <a:rPr kumimoji="1" lang="en-US" altLang="zh-CN" sz="16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1600" i="1">
                          <a:latin typeface="Cambria Math" panose="02040503050406030204" pitchFamily="18" charset="0"/>
                        </a:rPr>
                        <m:t>=0.4135,  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=1.9081</m:t>
                      </m:r>
                    </m:oMath>
                  </m:oMathPara>
                </a14:m>
                <a:endParaRPr kumimoji="1" lang="zh-CN" altLang="en-US" sz="160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F50951-DA43-974E-8CE4-9CB2837A9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635" y="5553338"/>
                <a:ext cx="4205575" cy="584775"/>
              </a:xfrm>
              <a:prstGeom prst="rect">
                <a:avLst/>
              </a:prstGeom>
              <a:blipFill>
                <a:blip r:embed="rId2"/>
                <a:stretch>
                  <a:fillRect l="-602" t="-6383" b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3AC4982-6B5D-D44D-8FCA-74D350DBBC6B}"/>
                  </a:ext>
                </a:extLst>
              </p:cNvPr>
              <p:cNvSpPr txBox="1"/>
              <p:nvPr/>
            </p:nvSpPr>
            <p:spPr>
              <a:xfrm>
                <a:off x="1321635" y="4353009"/>
                <a:ext cx="2915991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600">
                    <a:latin typeface="Cambria Math" panose="02040503050406030204" pitchFamily="18" charset="0"/>
                  </a:rPr>
                  <a:t>列三元一次方程组：</a:t>
                </a:r>
                <a:endParaRPr kumimoji="1" lang="en-US" altLang="zh-CN" sz="16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12100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+470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+230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=934</m:t>
                      </m:r>
                    </m:oMath>
                  </m:oMathPara>
                </a14:m>
                <a:endParaRPr kumimoji="1" lang="en-US" altLang="zh-CN" sz="16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470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+20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=36.7</m:t>
                      </m:r>
                    </m:oMath>
                  </m:oMathPara>
                </a14:m>
                <a:endParaRPr kumimoji="1" lang="en-US" altLang="zh-CN" sz="16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230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kumimoji="1" lang="en-US" altLang="zh-CN" sz="1600" b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3AC4982-6B5D-D44D-8FCA-74D350DBB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635" y="4353009"/>
                <a:ext cx="2915991" cy="1077218"/>
              </a:xfrm>
              <a:prstGeom prst="rect">
                <a:avLst/>
              </a:prstGeom>
              <a:blipFill>
                <a:blip r:embed="rId3"/>
                <a:stretch>
                  <a:fillRect l="-866" t="-3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C55F7A57-29BD-2C4F-B873-1B521E566091}"/>
              </a:ext>
            </a:extLst>
          </p:cNvPr>
          <p:cNvSpPr txBox="1"/>
          <p:nvPr/>
        </p:nvSpPr>
        <p:spPr>
          <a:xfrm>
            <a:off x="4271119" y="6342474"/>
            <a:ext cx="5248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>
                <a:solidFill>
                  <a:srgbClr val="FFFF00"/>
                </a:solidFill>
              </a:rPr>
              <a:t>再次提示：</a:t>
            </a:r>
            <a:r>
              <a:rPr kumimoji="1" lang="en-US" altLang="zh-CN" sz="1600">
                <a:solidFill>
                  <a:srgbClr val="FFFF00"/>
                </a:solidFill>
              </a:rPr>
              <a:t>numpy.linalg.solve()</a:t>
            </a:r>
            <a:r>
              <a:rPr kumimoji="1" lang="zh-CN" altLang="en-US" sz="1600">
                <a:solidFill>
                  <a:srgbClr val="FFFF00"/>
                </a:solidFill>
              </a:rPr>
              <a:t>函数可以用来解方程组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999FC25-186A-7548-818E-2F7EBB7EA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22445"/>
              </p:ext>
            </p:extLst>
          </p:nvPr>
        </p:nvGraphicFramePr>
        <p:xfrm>
          <a:off x="768183" y="1479884"/>
          <a:ext cx="9675228" cy="25763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6732">
                  <a:extLst>
                    <a:ext uri="{9D8B030D-6E8A-4147-A177-3AD203B41FA5}">
                      <a16:colId xmlns:a16="http://schemas.microsoft.com/office/drawing/2014/main" val="1102098349"/>
                    </a:ext>
                  </a:extLst>
                </a:gridCol>
                <a:gridCol w="693274">
                  <a:extLst>
                    <a:ext uri="{9D8B030D-6E8A-4147-A177-3AD203B41FA5}">
                      <a16:colId xmlns:a16="http://schemas.microsoft.com/office/drawing/2014/main" val="4182924200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269351371"/>
                    </a:ext>
                  </a:extLst>
                </a:gridCol>
                <a:gridCol w="733926">
                  <a:extLst>
                    <a:ext uri="{9D8B030D-6E8A-4147-A177-3AD203B41FA5}">
                      <a16:colId xmlns:a16="http://schemas.microsoft.com/office/drawing/2014/main" val="420793532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50538502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2801358938"/>
                    </a:ext>
                  </a:extLst>
                </a:gridCol>
                <a:gridCol w="806116">
                  <a:extLst>
                    <a:ext uri="{9D8B030D-6E8A-4147-A177-3AD203B41FA5}">
                      <a16:colId xmlns:a16="http://schemas.microsoft.com/office/drawing/2014/main" val="1693280840"/>
                    </a:ext>
                  </a:extLst>
                </a:gridCol>
                <a:gridCol w="589548">
                  <a:extLst>
                    <a:ext uri="{9D8B030D-6E8A-4147-A177-3AD203B41FA5}">
                      <a16:colId xmlns:a16="http://schemas.microsoft.com/office/drawing/2014/main" val="692664141"/>
                    </a:ext>
                  </a:extLst>
                </a:gridCol>
                <a:gridCol w="649705">
                  <a:extLst>
                    <a:ext uri="{9D8B030D-6E8A-4147-A177-3AD203B41FA5}">
                      <a16:colId xmlns:a16="http://schemas.microsoft.com/office/drawing/2014/main" val="2685246864"/>
                    </a:ext>
                  </a:extLst>
                </a:gridCol>
                <a:gridCol w="1359568">
                  <a:extLst>
                    <a:ext uri="{9D8B030D-6E8A-4147-A177-3AD203B41FA5}">
                      <a16:colId xmlns:a16="http://schemas.microsoft.com/office/drawing/2014/main" val="4107396512"/>
                    </a:ext>
                  </a:extLst>
                </a:gridCol>
                <a:gridCol w="709863">
                  <a:extLst>
                    <a:ext uri="{9D8B030D-6E8A-4147-A177-3AD203B41FA5}">
                      <a16:colId xmlns:a16="http://schemas.microsoft.com/office/drawing/2014/main" val="3003331073"/>
                    </a:ext>
                  </a:extLst>
                </a:gridCol>
                <a:gridCol w="854243">
                  <a:extLst>
                    <a:ext uri="{9D8B030D-6E8A-4147-A177-3AD203B41FA5}">
                      <a16:colId xmlns:a16="http://schemas.microsoft.com/office/drawing/2014/main" val="4271026569"/>
                    </a:ext>
                  </a:extLst>
                </a:gridCol>
              </a:tblGrid>
              <a:tr h="37297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　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x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x^2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y^2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</a:rPr>
                        <a:t>xy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</a:rPr>
                        <a:t>xz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</a:rPr>
                        <a:t>yz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z'=ax+by+c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z-z'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(z-z')^2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extLst>
                  <a:ext uri="{0D108BD9-81ED-4DB2-BD59-A6C34878D82A}">
                    <a16:rowId xmlns:a16="http://schemas.microsoft.com/office/drawing/2014/main" val="3166924459"/>
                  </a:ext>
                </a:extLst>
              </a:tr>
              <a:tr h="27393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2.43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-1.63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2.65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extLst>
                  <a:ext uri="{0D108BD9-81ED-4DB2-BD59-A6C34878D82A}">
                    <a16:rowId xmlns:a16="http://schemas.microsoft.com/office/drawing/2014/main" val="3354276130"/>
                  </a:ext>
                </a:extLst>
              </a:tr>
              <a:tr h="27393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1.8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400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1.8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2.53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-0.73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0.54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extLst>
                  <a:ext uri="{0D108BD9-81ED-4DB2-BD59-A6C34878D82A}">
                    <a16:rowId xmlns:a16="http://schemas.microsoft.com/office/drawing/2014/main" val="4181212716"/>
                  </a:ext>
                </a:extLst>
              </a:tr>
              <a:tr h="27393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2.2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900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66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2.2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2.64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-0.44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0.19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extLst>
                  <a:ext uri="{0D108BD9-81ED-4DB2-BD59-A6C34878D82A}">
                    <a16:rowId xmlns:a16="http://schemas.microsoft.com/office/drawing/2014/main" val="2430738413"/>
                  </a:ext>
                </a:extLst>
              </a:tr>
              <a:tr h="27393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2.5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900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60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75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3.05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-0.55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0.30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extLst>
                  <a:ext uri="{0D108BD9-81ED-4DB2-BD59-A6C34878D82A}">
                    <a16:rowId xmlns:a16="http://schemas.microsoft.com/office/drawing/2014/main" val="1036740107"/>
                  </a:ext>
                </a:extLst>
              </a:tr>
              <a:tr h="27393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70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5.5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4900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385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16.5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3.88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1.62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2.61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extLst>
                  <a:ext uri="{0D108BD9-81ED-4DB2-BD59-A6C34878D82A}">
                    <a16:rowId xmlns:a16="http://schemas.microsoft.com/office/drawing/2014/main" val="1625621989"/>
                  </a:ext>
                </a:extLst>
              </a:tr>
              <a:tr h="27393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70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5.2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4900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140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364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10.4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3.47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1.73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2.99 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extLst>
                  <a:ext uri="{0D108BD9-81ED-4DB2-BD59-A6C34878D82A}">
                    <a16:rowId xmlns:a16="http://schemas.microsoft.com/office/drawing/2014/main" val="2030743974"/>
                  </a:ext>
                </a:extLst>
              </a:tr>
              <a:tr h="27393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600" u="none" strike="noStrike">
                          <a:effectLst/>
                        </a:rPr>
                        <a:t>合计：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 dirty="0">
                          <a:effectLst/>
                        </a:rPr>
                        <a:t>230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>
                          <a:effectLst/>
                        </a:rPr>
                        <a:t>10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>
                          <a:effectLst/>
                        </a:rPr>
                        <a:t>18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>
                          <a:effectLst/>
                        </a:rPr>
                        <a:t>12100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>
                          <a:effectLst/>
                        </a:rPr>
                        <a:t>20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>
                          <a:effectLst/>
                        </a:rPr>
                        <a:t>470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>
                          <a:effectLst/>
                        </a:rPr>
                        <a:t>934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>
                          <a:effectLst/>
                        </a:rPr>
                        <a:t>36.7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>
                          <a:effectLst/>
                        </a:rPr>
                        <a:t>9.28 </a:t>
                      </a:r>
                      <a:endParaRPr lang="en-US" altLang="zh-CN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extLst>
                  <a:ext uri="{0D108BD9-81ED-4DB2-BD59-A6C34878D82A}">
                    <a16:rowId xmlns:a16="http://schemas.microsoft.com/office/drawing/2014/main" val="3500927974"/>
                  </a:ext>
                </a:extLst>
              </a:tr>
              <a:tr h="285849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600" u="none" strike="noStrike">
                          <a:effectLst/>
                        </a:rPr>
                        <a:t>均方差：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u="none" strike="noStrike">
                          <a:effectLst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1" u="none" strike="noStrike" dirty="0">
                          <a:effectLst/>
                        </a:rPr>
                        <a:t>1.24 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33" marR="6833" marT="6833" marB="0" anchor="ctr"/>
                </a:tc>
                <a:extLst>
                  <a:ext uri="{0D108BD9-81ED-4DB2-BD59-A6C34878D82A}">
                    <a16:rowId xmlns:a16="http://schemas.microsoft.com/office/drawing/2014/main" val="489048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378AB6-31B5-D748-AE58-FBD7B71FEC59}"/>
                  </a:ext>
                </a:extLst>
              </p:cNvPr>
              <p:cNvSpPr txBox="1"/>
              <p:nvPr/>
            </p:nvSpPr>
            <p:spPr>
              <a:xfrm>
                <a:off x="6096000" y="5553338"/>
                <a:ext cx="33348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600">
                    <a:latin typeface="Cambria Math" panose="02040503050406030204" pitchFamily="18" charset="0"/>
                  </a:rPr>
                  <a:t>最终结果：</a:t>
                </a:r>
                <a:endParaRPr kumimoji="1" lang="en-US" altLang="zh-CN" sz="160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16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6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kumimoji="1" lang="en-US" altLang="zh-CN" sz="1600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600" i="1">
                          <a:latin typeface="Cambria Math" panose="02040503050406030204" pitchFamily="18" charset="0"/>
                        </a:rPr>
                        <m:t>0.0105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1600" i="1">
                          <a:latin typeface="Cambria Math" panose="02040503050406030204" pitchFamily="18" charset="0"/>
                        </a:rPr>
                        <m:t>+0.4135</m:t>
                      </m:r>
                      <m:r>
                        <a:rPr kumimoji="1" lang="en-US" altLang="zh-CN" sz="1600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1600" i="1">
                          <a:latin typeface="Cambria Math" panose="02040503050406030204" pitchFamily="18" charset="0"/>
                        </a:rPr>
                        <m:t>+1.9081</m:t>
                      </m:r>
                    </m:oMath>
                  </m:oMathPara>
                </a14:m>
                <a:endParaRPr kumimoji="1" lang="zh-CN" altLang="en-US" sz="160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A378AB6-31B5-D748-AE58-FBD7B71FE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553338"/>
                <a:ext cx="3334824" cy="584775"/>
              </a:xfrm>
              <a:prstGeom prst="rect">
                <a:avLst/>
              </a:prstGeom>
              <a:blipFill>
                <a:blip r:embed="rId4"/>
                <a:stretch>
                  <a:fillRect l="-1141" t="-6383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015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1562E-CA18-3540-BDAA-A7D8045E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Ridge Regression</a:t>
            </a:r>
            <a:r>
              <a:rPr kumimoji="1" lang="zh-CN" altLang="en-US"/>
              <a:t>（岭回归）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3FDDF-1B62-3440-BC07-97B0A55F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169" y="1853248"/>
            <a:ext cx="8946541" cy="445075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在损失函数中增加参数的平方和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Python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sklearn</a:t>
            </a:r>
            <a:r>
              <a:rPr kumimoji="1" lang="zh-CN" altLang="en-US" dirty="0"/>
              <a:t>库对</a:t>
            </a:r>
            <a:r>
              <a:rPr kumimoji="1" lang="en-US" altLang="zh-CN" dirty="0"/>
              <a:t>Ridge</a:t>
            </a:r>
            <a:r>
              <a:rPr kumimoji="1" lang="zh-CN" altLang="en-US" dirty="0"/>
              <a:t>回归的实现：</a:t>
            </a:r>
            <a:r>
              <a:rPr lang="en-US" altLang="zh-CN" dirty="0" err="1">
                <a:solidFill>
                  <a:srgbClr val="FFFF00"/>
                </a:solidFill>
              </a:rPr>
              <a:t>sklearn.linear_model.Ridge</a:t>
            </a:r>
            <a:endParaRPr kumimoji="1" lang="zh-CN" altLang="en-US" dirty="0">
              <a:solidFill>
                <a:srgbClr val="FFFF00"/>
              </a:solidFill>
            </a:endParaRPr>
          </a:p>
          <a:p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0A9CD-BB11-084B-AB93-894A8EC7DE2F}"/>
                  </a:ext>
                </a:extLst>
              </p:cNvPr>
              <p:cNvSpPr txBox="1"/>
              <p:nvPr/>
            </p:nvSpPr>
            <p:spPr>
              <a:xfrm>
                <a:off x="450169" y="2387950"/>
                <a:ext cx="3320011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0A9CD-BB11-084B-AB93-894A8EC7D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69" y="2387950"/>
                <a:ext cx="3320011" cy="848566"/>
              </a:xfrm>
              <a:prstGeom prst="rect">
                <a:avLst/>
              </a:prstGeom>
              <a:blipFill>
                <a:blip r:embed="rId2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右箭头 4">
            <a:extLst>
              <a:ext uri="{FF2B5EF4-FFF2-40B4-BE49-F238E27FC236}">
                <a16:creationId xmlns:a16="http://schemas.microsoft.com/office/drawing/2014/main" id="{429C0C22-BB89-5746-92EE-A171A3310684}"/>
              </a:ext>
            </a:extLst>
          </p:cNvPr>
          <p:cNvSpPr/>
          <p:nvPr/>
        </p:nvSpPr>
        <p:spPr>
          <a:xfrm>
            <a:off x="4075682" y="2621534"/>
            <a:ext cx="674560" cy="3813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CDEB84-8810-D748-B007-FA035883A307}"/>
                  </a:ext>
                </a:extLst>
              </p:cNvPr>
              <p:cNvSpPr txBox="1"/>
              <p:nvPr/>
            </p:nvSpPr>
            <p:spPr>
              <a:xfrm>
                <a:off x="4809878" y="2387950"/>
                <a:ext cx="5432640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CDEB84-8810-D748-B007-FA035883A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878" y="2387950"/>
                <a:ext cx="5432640" cy="848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2B61F11-59E7-F840-AD9A-8AE232CD2A69}"/>
              </a:ext>
            </a:extLst>
          </p:cNvPr>
          <p:cNvCxnSpPr>
            <a:cxnSpLocks/>
          </p:cNvCxnSpPr>
          <p:nvPr/>
        </p:nvCxnSpPr>
        <p:spPr>
          <a:xfrm flipH="1">
            <a:off x="9081590" y="2003305"/>
            <a:ext cx="374756" cy="5696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B9F7FF0-1D06-2D45-9E55-90B742B3F097}"/>
              </a:ext>
            </a:extLst>
          </p:cNvPr>
          <p:cNvSpPr txBox="1"/>
          <p:nvPr/>
        </p:nvSpPr>
        <p:spPr>
          <a:xfrm>
            <a:off x="9125512" y="1514666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L2</a:t>
            </a:r>
            <a:r>
              <a:rPr kumimoji="1" lang="zh-CN" altLang="en-US" dirty="0"/>
              <a:t>正则项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84D3C5E-2839-3C4C-9AC2-998AE820FD20}"/>
                  </a:ext>
                </a:extLst>
              </p:cNvPr>
              <p:cNvSpPr txBox="1"/>
              <p:nvPr/>
            </p:nvSpPr>
            <p:spPr>
              <a:xfrm>
                <a:off x="1761807" y="3636599"/>
                <a:ext cx="8352799" cy="1740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b="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zh-CN" b="0" i="1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kumimoji="1"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kumimoji="1"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kumimoji="1" lang="en-US" altLang="zh-CN" b="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 +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b="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kumimoji="1"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kumimoji="1" lang="en-US" altLang="zh-CN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kumimoji="1"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kumimoji="1" lang="en-US" altLang="zh-CN" b="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kumimoji="1" lang="en-US" altLang="zh-CN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kumimoji="1" lang="en-US" altLang="zh-CN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b="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84D3C5E-2839-3C4C-9AC2-998AE820F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807" y="3636599"/>
                <a:ext cx="8352799" cy="17404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右箭头 10">
            <a:extLst>
              <a:ext uri="{FF2B5EF4-FFF2-40B4-BE49-F238E27FC236}">
                <a16:creationId xmlns:a16="http://schemas.microsoft.com/office/drawing/2014/main" id="{32072F92-69C7-6648-9BCA-04A96E17DEC6}"/>
              </a:ext>
            </a:extLst>
          </p:cNvPr>
          <p:cNvSpPr/>
          <p:nvPr/>
        </p:nvSpPr>
        <p:spPr>
          <a:xfrm rot="7744949">
            <a:off x="5105201" y="3167735"/>
            <a:ext cx="674560" cy="3813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B9F7FF0-1D06-2D45-9E55-90B742B3F097}"/>
                  </a:ext>
                </a:extLst>
              </p:cNvPr>
              <p:cNvSpPr txBox="1"/>
              <p:nvPr/>
            </p:nvSpPr>
            <p:spPr>
              <a:xfrm>
                <a:off x="10370093" y="2867184"/>
                <a:ext cx="16553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Ln</a:t>
                </a:r>
                <a:r>
                  <a:rPr kumimoji="1" lang="zh-CN" altLang="en-US" dirty="0"/>
                  <a:t>正则项：</a:t>
                </a:r>
                <a:endParaRPr kumimoji="1"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|+</m:t>
                          </m:r>
                          <m:sSup>
                            <m:s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B9F7FF0-1D06-2D45-9E55-90B742B3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0093" y="2867184"/>
                <a:ext cx="1655390" cy="646331"/>
              </a:xfrm>
              <a:prstGeom prst="rect">
                <a:avLst/>
              </a:prstGeom>
              <a:blipFill>
                <a:blip r:embed="rId5"/>
                <a:stretch>
                  <a:fillRect l="-2941" t="-6604" b="-9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29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1562E-CA18-3540-BDAA-A7D8045E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Lasso Regression</a:t>
            </a:r>
            <a:r>
              <a:rPr kumimoji="1" lang="zh-CN" altLang="en-US"/>
              <a:t>（拉索回归）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3FDDF-1B62-3440-BC07-97B0A55F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975095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kumimoji="1" lang="zh-CN" altLang="en-US"/>
              <a:t>在损失函数中增加参数的绝对值和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0A9CD-BB11-084B-AB93-894A8EC7DE2F}"/>
                  </a:ext>
                </a:extLst>
              </p:cNvPr>
              <p:cNvSpPr txBox="1"/>
              <p:nvPr/>
            </p:nvSpPr>
            <p:spPr>
              <a:xfrm>
                <a:off x="2414950" y="2803400"/>
                <a:ext cx="3217676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0A9CD-BB11-084B-AB93-894A8EC7D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950" y="2803400"/>
                <a:ext cx="3217676" cy="848566"/>
              </a:xfrm>
              <a:prstGeom prst="rect">
                <a:avLst/>
              </a:prstGeom>
              <a:blipFill>
                <a:blip r:embed="rId2"/>
                <a:stretch>
                  <a:fillRect t="-98529" b="-15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右箭头 4">
            <a:extLst>
              <a:ext uri="{FF2B5EF4-FFF2-40B4-BE49-F238E27FC236}">
                <a16:creationId xmlns:a16="http://schemas.microsoft.com/office/drawing/2014/main" id="{429C0C22-BB89-5746-92EE-A171A3310684}"/>
              </a:ext>
            </a:extLst>
          </p:cNvPr>
          <p:cNvSpPr/>
          <p:nvPr/>
        </p:nvSpPr>
        <p:spPr>
          <a:xfrm rot="5400000">
            <a:off x="3829110" y="3927426"/>
            <a:ext cx="674560" cy="64457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CDEB84-8810-D748-B007-FA035883A307}"/>
                  </a:ext>
                </a:extLst>
              </p:cNvPr>
              <p:cNvSpPr txBox="1"/>
              <p:nvPr/>
            </p:nvSpPr>
            <p:spPr>
              <a:xfrm>
                <a:off x="2130136" y="5029202"/>
                <a:ext cx="5432640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(|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|+|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CDEB84-8810-D748-B007-FA035883A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136" y="5029202"/>
                <a:ext cx="5432640" cy="848566"/>
              </a:xfrm>
              <a:prstGeom prst="rect">
                <a:avLst/>
              </a:prstGeom>
              <a:blipFill>
                <a:blip r:embed="rId3"/>
                <a:stretch>
                  <a:fillRect t="-101493" b="-153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2B61F11-59E7-F840-AD9A-8AE232CD2A69}"/>
              </a:ext>
            </a:extLst>
          </p:cNvPr>
          <p:cNvCxnSpPr>
            <a:cxnSpLocks/>
          </p:cNvCxnSpPr>
          <p:nvPr/>
        </p:nvCxnSpPr>
        <p:spPr>
          <a:xfrm flipH="1">
            <a:off x="6445770" y="4586995"/>
            <a:ext cx="374756" cy="5696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B9F7FF0-1D06-2D45-9E55-90B742B3F097}"/>
              </a:ext>
            </a:extLst>
          </p:cNvPr>
          <p:cNvSpPr txBox="1"/>
          <p:nvPr/>
        </p:nvSpPr>
        <p:spPr>
          <a:xfrm>
            <a:off x="6445770" y="4155918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L1</a:t>
            </a:r>
            <a:r>
              <a:rPr kumimoji="1" lang="zh-CN" altLang="en-US"/>
              <a:t>正则项</a:t>
            </a:r>
            <a:endParaRPr kumimoji="1" lang="en-US" altLang="zh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F428E-25E7-3443-93F5-35191A8F9990}"/>
              </a:ext>
            </a:extLst>
          </p:cNvPr>
          <p:cNvSpPr txBox="1"/>
          <p:nvPr/>
        </p:nvSpPr>
        <p:spPr>
          <a:xfrm>
            <a:off x="1103312" y="6035950"/>
            <a:ext cx="762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dirty="0"/>
              <a:t>Python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sklearn</a:t>
            </a:r>
            <a:r>
              <a:rPr kumimoji="1" lang="zh-CN" altLang="en-US" dirty="0"/>
              <a:t>库对</a:t>
            </a:r>
            <a:r>
              <a:rPr kumimoji="1" lang="en-US" altLang="zh-CN" dirty="0"/>
              <a:t>Lasso</a:t>
            </a:r>
            <a:r>
              <a:rPr kumimoji="1" lang="zh-CN" altLang="en-US" dirty="0"/>
              <a:t>回归的实现：</a:t>
            </a:r>
            <a:r>
              <a:rPr lang="en-US" altLang="zh-CN" dirty="0" err="1">
                <a:solidFill>
                  <a:srgbClr val="FFFF00"/>
                </a:solidFill>
              </a:rPr>
              <a:t>sklearn.linear_model.Lasso</a:t>
            </a:r>
            <a:endParaRPr kumimoji="1" lang="zh-CN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83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1562E-CA18-3540-BDAA-A7D8045E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Elastic Net</a:t>
            </a:r>
            <a:r>
              <a:rPr kumimoji="1" lang="zh-CN" altLang="en-US"/>
              <a:t>（弹性网络）</a:t>
            </a:r>
            <a:r>
              <a:rPr kumimoji="1" lang="zh-CN" altLang="en-US">
                <a:solidFill>
                  <a:srgbClr val="FFFF00"/>
                </a:solidFill>
              </a:rPr>
              <a:t>*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3FDDF-1B62-3440-BC07-97B0A55F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975095"/>
          </a:xfrm>
        </p:spPr>
        <p:txBody>
          <a:bodyPr/>
          <a:lstStyle/>
          <a:p>
            <a:r>
              <a:rPr kumimoji="1" lang="zh-CN" altLang="en-US"/>
              <a:t>综合</a:t>
            </a:r>
            <a:r>
              <a:rPr kumimoji="1" lang="en-US" altLang="zh-CN"/>
              <a:t>L1</a:t>
            </a:r>
            <a:r>
              <a:rPr kumimoji="1" lang="zh-CN" altLang="en-US"/>
              <a:t>正则和</a:t>
            </a:r>
            <a:r>
              <a:rPr kumimoji="1" lang="en-US" altLang="zh-CN"/>
              <a:t>L2</a:t>
            </a:r>
            <a:r>
              <a:rPr kumimoji="1" lang="zh-CN" altLang="en-US"/>
              <a:t>正则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0A9CD-BB11-084B-AB93-894A8EC7DE2F}"/>
                  </a:ext>
                </a:extLst>
              </p:cNvPr>
              <p:cNvSpPr txBox="1"/>
              <p:nvPr/>
            </p:nvSpPr>
            <p:spPr>
              <a:xfrm>
                <a:off x="2414950" y="2803400"/>
                <a:ext cx="3218445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0A9CD-BB11-084B-AB93-894A8EC7D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950" y="2803400"/>
                <a:ext cx="3218445" cy="848566"/>
              </a:xfrm>
              <a:prstGeom prst="rect">
                <a:avLst/>
              </a:prstGeom>
              <a:blipFill>
                <a:blip r:embed="rId2"/>
                <a:stretch>
                  <a:fillRect t="-98529" b="-15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右箭头 4">
            <a:extLst>
              <a:ext uri="{FF2B5EF4-FFF2-40B4-BE49-F238E27FC236}">
                <a16:creationId xmlns:a16="http://schemas.microsoft.com/office/drawing/2014/main" id="{429C0C22-BB89-5746-92EE-A171A3310684}"/>
              </a:ext>
            </a:extLst>
          </p:cNvPr>
          <p:cNvSpPr/>
          <p:nvPr/>
        </p:nvSpPr>
        <p:spPr>
          <a:xfrm rot="5400000">
            <a:off x="3829110" y="3927426"/>
            <a:ext cx="674560" cy="64457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CDEB84-8810-D748-B007-FA035883A307}"/>
                  </a:ext>
                </a:extLst>
              </p:cNvPr>
              <p:cNvSpPr txBox="1"/>
              <p:nvPr/>
            </p:nvSpPr>
            <p:spPr>
              <a:xfrm>
                <a:off x="1410083" y="5004753"/>
                <a:ext cx="8332998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CDEB84-8810-D748-B007-FA035883A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083" y="5004753"/>
                <a:ext cx="8332998" cy="848566"/>
              </a:xfrm>
              <a:prstGeom prst="rect">
                <a:avLst/>
              </a:prstGeom>
              <a:blipFill>
                <a:blip r:embed="rId3"/>
                <a:stretch>
                  <a:fillRect t="-98529" b="-15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198F69B-3283-9843-BBA3-2E2ED93E225B}"/>
              </a:ext>
            </a:extLst>
          </p:cNvPr>
          <p:cNvSpPr txBox="1"/>
          <p:nvPr/>
        </p:nvSpPr>
        <p:spPr>
          <a:xfrm>
            <a:off x="7224507" y="510550"/>
            <a:ext cx="328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rgbClr val="FFFF00"/>
                </a:solidFill>
              </a:rPr>
              <a:t>*表示课后阅读，不作考试要求</a:t>
            </a:r>
          </a:p>
        </p:txBody>
      </p:sp>
    </p:spTree>
    <p:extLst>
      <p:ext uri="{BB962C8B-B14F-4D97-AF65-F5344CB8AC3E}">
        <p14:creationId xmlns:p14="http://schemas.microsoft.com/office/powerpoint/2010/main" val="2916459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1562E-CA18-3540-BDAA-A7D8045E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Polynomial</a:t>
            </a:r>
            <a:r>
              <a:rPr kumimoji="1" lang="zh-CN" altLang="en-US"/>
              <a:t> </a:t>
            </a:r>
            <a:r>
              <a:rPr kumimoji="1" lang="en-US" altLang="zh-CN"/>
              <a:t>Regression</a:t>
            </a:r>
            <a:r>
              <a:rPr kumimoji="1" lang="zh-CN" altLang="en-US"/>
              <a:t>（多项式回归）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83FDDF-1B62-3440-BC07-97B0A55FF7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293" y="1549513"/>
                <a:ext cx="8946541" cy="16631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zh-CN" altLang="en-US"/>
                  <a:t>一元</a:t>
                </a:r>
                <a:r>
                  <a:rPr kumimoji="1" lang="en-US" altLang="zh-CN"/>
                  <a:t>m</a:t>
                </a:r>
                <a:r>
                  <a:rPr kumimoji="1" lang="zh-CN" altLang="en-US"/>
                  <a:t>次多项式回归目标函数和损失函数：</a:t>
                </a:r>
                <a:endParaRPr kumimoji="1" lang="en-US" altLang="zh-CN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kumimoji="1" lang="en-US" altLang="zh-CN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 −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83FDDF-1B62-3440-BC07-97B0A55FF7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293" y="1549513"/>
                <a:ext cx="8946541" cy="1663129"/>
              </a:xfrm>
              <a:blipFill>
                <a:blip r:embed="rId2"/>
                <a:stretch>
                  <a:fillRect l="-567" t="-21212" b="-81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右箭头 4">
            <a:extLst>
              <a:ext uri="{FF2B5EF4-FFF2-40B4-BE49-F238E27FC236}">
                <a16:creationId xmlns:a16="http://schemas.microsoft.com/office/drawing/2014/main" id="{429C0C22-BB89-5746-92EE-A171A3310684}"/>
              </a:ext>
            </a:extLst>
          </p:cNvPr>
          <p:cNvSpPr/>
          <p:nvPr/>
        </p:nvSpPr>
        <p:spPr>
          <a:xfrm rot="5400000">
            <a:off x="3985520" y="3369564"/>
            <a:ext cx="674560" cy="64457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CDEB84-8810-D748-B007-FA035883A307}"/>
                  </a:ext>
                </a:extLst>
              </p:cNvPr>
              <p:cNvSpPr txBox="1"/>
              <p:nvPr/>
            </p:nvSpPr>
            <p:spPr>
              <a:xfrm>
                <a:off x="1929501" y="4171063"/>
                <a:ext cx="8332998" cy="1667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en-US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kumimoji="1" lang="zh-CN" altLang="en-US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en-US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bSup>
                            <m:sSubSupPr>
                              <m:ctrlPr>
                                <a:rPr kumimoji="1" lang="en-US" altLang="zh-CN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kumimoji="1" lang="en-US" altLang="zh-CN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  <m:r>
                        <a:rPr kumimoji="1" lang="en-US" altLang="zh-CN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kumimoji="1" lang="en-US" altLang="zh-CN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kumimoji="1" lang="en-US" altLang="zh-CN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CDEB84-8810-D748-B007-FA035883A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501" y="4171063"/>
                <a:ext cx="8332998" cy="1667380"/>
              </a:xfrm>
              <a:prstGeom prst="rect">
                <a:avLst/>
              </a:prstGeom>
              <a:blipFill>
                <a:blip r:embed="rId3"/>
                <a:stretch>
                  <a:fillRect l="-1674" t="-50376" b="-75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63D18D5-921F-B044-B215-6D7684CDFD06}"/>
                  </a:ext>
                </a:extLst>
              </p:cNvPr>
              <p:cNvSpPr txBox="1"/>
              <p:nvPr/>
            </p:nvSpPr>
            <p:spPr>
              <a:xfrm>
                <a:off x="2093495" y="6100011"/>
                <a:ext cx="61832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/>
                  <a:t>利用上述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kumimoji="1" lang="zh-CN" altLang="en-US"/>
                  <a:t>个方程就可以求解出所有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=0, 1, …, </m:t>
                    </m:r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63D18D5-921F-B044-B215-6D7684CDF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495" y="6100011"/>
                <a:ext cx="6183231" cy="369332"/>
              </a:xfrm>
              <a:prstGeom prst="rect">
                <a:avLst/>
              </a:prstGeom>
              <a:blipFill>
                <a:blip r:embed="rId4"/>
                <a:stretch>
                  <a:fillRect l="-820" t="-10345" b="-24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210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1562E-CA18-3540-BDAA-A7D8045E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Polynomial</a:t>
            </a:r>
            <a:r>
              <a:rPr kumimoji="1" lang="zh-CN" altLang="en-US"/>
              <a:t> </a:t>
            </a:r>
            <a:r>
              <a:rPr kumimoji="1" lang="en-US" altLang="zh-CN"/>
              <a:t>Regression</a:t>
            </a:r>
            <a:r>
              <a:rPr kumimoji="1" lang="zh-CN" altLang="en-US"/>
              <a:t>（多项式回归）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83FDDF-1B62-3440-BC07-97B0A55FF7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293" y="1549513"/>
                <a:ext cx="8946541" cy="16631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zh-CN" altLang="en-US" dirty="0"/>
                  <a:t>二元二次多项式回归目标函数和损失函数：</a:t>
                </a:r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𝑐𝑥𝑦</m:t>
                      </m:r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 −</m:t>
                              </m:r>
                              <m:sSub>
                                <m:sSub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83FDDF-1B62-3440-BC07-97B0A55FF7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293" y="1549513"/>
                <a:ext cx="8946541" cy="1663129"/>
              </a:xfrm>
              <a:blipFill>
                <a:blip r:embed="rId2"/>
                <a:stretch>
                  <a:fillRect l="-567" t="-21212" b="-81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63D18D5-921F-B044-B215-6D7684CDFD06}"/>
                  </a:ext>
                </a:extLst>
              </p:cNvPr>
              <p:cNvSpPr txBox="1"/>
              <p:nvPr/>
            </p:nvSpPr>
            <p:spPr>
              <a:xfrm>
                <a:off x="1828800" y="3429000"/>
                <a:ext cx="8231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/>
                  <a:t>列出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𝐿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对每一个参数</m:t>
                    </m:r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zh-CN" altLang="en-US" b="0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、</m:t>
                    </m:r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/>
                  <a:t>的偏导就可以求解出所有参数的值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63D18D5-921F-B044-B215-6D7684CDF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429000"/>
                <a:ext cx="8231099" cy="369332"/>
              </a:xfrm>
              <a:prstGeom prst="rect">
                <a:avLst/>
              </a:prstGeom>
              <a:blipFill>
                <a:blip r:embed="rId3"/>
                <a:stretch>
                  <a:fillRect l="-617" t="-10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281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ECE9C-FDF7-4E47-A300-97AE5C32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过拟合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807230-FE02-9F42-AD27-872764302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143" y="1853248"/>
            <a:ext cx="9148997" cy="477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23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1CA34-750B-A34E-BA4F-FBAF3E37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小结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8168FCF-D519-8A43-BBAC-7815B62B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/>
          <a:lstStyle/>
          <a:p>
            <a:r>
              <a:rPr kumimoji="1" lang="zh-CN" altLang="en-US" dirty="0"/>
              <a:t>线性回归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一元线性回归、目标函数、损失函数、线性方程组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多元线性回归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多项式回归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Ridge</a:t>
            </a:r>
            <a:r>
              <a:rPr kumimoji="1" lang="zh-CN" altLang="en-US" dirty="0"/>
              <a:t>回归和</a:t>
            </a:r>
            <a:r>
              <a:rPr kumimoji="1" lang="en-US" altLang="zh-CN" dirty="0"/>
              <a:t>L2</a:t>
            </a:r>
            <a:r>
              <a:rPr kumimoji="1" lang="zh-CN" altLang="en-US" dirty="0"/>
              <a:t>正则项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Lasso</a:t>
            </a:r>
            <a:r>
              <a:rPr kumimoji="1" lang="zh-CN" altLang="en-US" dirty="0"/>
              <a:t>回归和</a:t>
            </a:r>
            <a:r>
              <a:rPr kumimoji="1" lang="en-US" altLang="zh-CN" dirty="0"/>
              <a:t>L1</a:t>
            </a:r>
            <a:r>
              <a:rPr kumimoji="1" lang="zh-CN" altLang="en-US" dirty="0"/>
              <a:t>正则项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5960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{FC086287-CA33-0740-9F3D-39FED926EA1B}tf10001062</Template>
  <TotalTime>7664</TotalTime>
  <Words>977</Words>
  <Application>Microsoft Office PowerPoint</Application>
  <PresentationFormat>宽屏</PresentationFormat>
  <Paragraphs>304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Cambria Math</vt:lpstr>
      <vt:lpstr>Century Gothic</vt:lpstr>
      <vt:lpstr>Wingdings</vt:lpstr>
      <vt:lpstr>Wingdings 3</vt:lpstr>
      <vt:lpstr>离子</vt:lpstr>
      <vt:lpstr>线性回归 </vt:lpstr>
      <vt:lpstr>上课前的要求</vt:lpstr>
      <vt:lpstr>4 线性回归</vt:lpstr>
      <vt:lpstr>一元线性回归的一个示例——最小二乘法</vt:lpstr>
      <vt:lpstr>手工计算a、b</vt:lpstr>
      <vt:lpstr>多元线性回归</vt:lpstr>
      <vt:lpstr>手工计算a、b、c</vt:lpstr>
      <vt:lpstr>手工计算a、b、c (z=ax+by+c)</vt:lpstr>
      <vt:lpstr>Ridge Regression（岭回归）</vt:lpstr>
      <vt:lpstr>Lasso Regression（拉索回归）</vt:lpstr>
      <vt:lpstr>Elastic Net（弹性网络）*</vt:lpstr>
      <vt:lpstr>Polynomial Regression（多项式回归）</vt:lpstr>
      <vt:lpstr>Polynomial Regression（多项式回归）</vt:lpstr>
      <vt:lpstr>过拟合</vt:lpstr>
      <vt:lpstr>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机器学习短期培训</dc:title>
  <dc:creator>Microsoft Office User</dc:creator>
  <cp:lastModifiedBy>昕哲 方</cp:lastModifiedBy>
  <cp:revision>372</cp:revision>
  <dcterms:created xsi:type="dcterms:W3CDTF">2021-10-17T12:45:19Z</dcterms:created>
  <dcterms:modified xsi:type="dcterms:W3CDTF">2025-04-03T03:32:27Z</dcterms:modified>
</cp:coreProperties>
</file>