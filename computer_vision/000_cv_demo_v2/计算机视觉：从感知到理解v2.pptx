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9144000" cy="16256000"/>
  <p:embeddedFontLst>
    <p:embeddedFont>
      <p:font typeface="Liter" panose="02010600030101010101" charset="0"/>
      <p:regular r:id="rId21"/>
    </p:embeddedFont>
    <p:embeddedFont>
      <p:font typeface="Quattrocento Sans" panose="02010600030101010101" charset="0"/>
      <p:regular r:id="rId2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86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ltralytics.com/task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794000"/>
            <a:ext cx="50800" cy="355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794000"/>
            <a:ext cx="889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4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计算机视觉</a:t>
            </a:r>
            <a:endParaRPr lang="en-US" sz="2800" dirty="0"/>
          </a:p>
          <a:p>
            <a:pPr>
              <a:lnSpc>
                <a:spcPct val="130000"/>
              </a:lnSpc>
            </a:pPr>
            <a:r>
              <a:rPr lang="en-US" sz="480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从感知到理解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" y="5080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基本框架与发展历程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5842000"/>
            <a:ext cx="1524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43000" y="609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2026.4.25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1016000"/>
            <a:ext cx="1524000" cy="1524000"/>
          </a:xfrm>
          <a:prstGeom prst="rect">
            <a:avLst/>
          </a:prstGeom>
          <a:solidFill>
            <a:srgbClr val="2563EB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0" y="1778000"/>
            <a:ext cx="762000" cy="762000"/>
          </a:xfrm>
          <a:prstGeom prst="rect">
            <a:avLst/>
          </a:prstGeom>
          <a:solidFill>
            <a:srgbClr val="F59E0B">
              <a:alpha val="7000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635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目录</a:t>
            </a:r>
            <a:endParaRPr lang="en-US" sz="28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3048000"/>
            <a:ext cx="635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51000" y="355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什么是计算机视觉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1000" y="419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让机器学会"看"的科学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953000"/>
            <a:ext cx="6350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62000" y="5207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5207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计算机视觉的基本框架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51000" y="584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从像素到语义的流水线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6604000"/>
            <a:ext cx="6350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2000" y="6858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6858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发展历程与技术演进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51000" y="749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六十年从积木世界到实时感知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255000"/>
            <a:ext cx="6350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128000" y="355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17000" y="355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Ultralytics YOLO 实践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17000" y="419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一个框架，五种任务，无限应用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970000" y="6350000"/>
            <a:ext cx="1524000" cy="2286000"/>
          </a:xfrm>
          <a:prstGeom prst="rect">
            <a:avLst/>
          </a:prstGeom>
          <a:solidFill>
            <a:srgbClr val="1A4D4E">
              <a:alpha val="6275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762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762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什么是计算机视觉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让机器学会"看"的科学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335000" y="1270000"/>
            <a:ext cx="2032000" cy="2032000"/>
          </a:xfrm>
          <a:prstGeom prst="rect">
            <a:avLst/>
          </a:prstGeom>
          <a:solidFill>
            <a:srgbClr val="2563EB">
              <a:alpha val="6000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计算机视觉的定义与核心目标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12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498600"/>
            <a:ext cx="660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计算机视觉</a:t>
            </a:r>
            <a:r>
              <a:rPr lang="en-US" sz="18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是一门让计算机从图像或视频中</a:t>
            </a:r>
            <a:r>
              <a:rPr lang="en-US" sz="18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自动提取、分析和理解</a:t>
            </a:r>
            <a:r>
              <a:rPr lang="en-US" sz="18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有用信息的学科。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核心目标：三个 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75000"/>
            <a:ext cx="228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9250" y="3429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31750"/>
                </a:moveTo>
                <a:cubicBezTo>
                  <a:pt x="205581" y="31750"/>
                  <a:pt x="141387" y="68263"/>
                  <a:pt x="94655" y="111720"/>
                </a:cubicBezTo>
                <a:cubicBezTo>
                  <a:pt x="48220" y="154880"/>
                  <a:pt x="17165" y="206375"/>
                  <a:pt x="2381" y="241796"/>
                </a:cubicBezTo>
                <a:cubicBezTo>
                  <a:pt x="-893" y="249634"/>
                  <a:pt x="-893" y="258366"/>
                  <a:pt x="2381" y="266204"/>
                </a:cubicBezTo>
                <a:cubicBezTo>
                  <a:pt x="17165" y="301625"/>
                  <a:pt x="48220" y="353219"/>
                  <a:pt x="94655" y="396280"/>
                </a:cubicBezTo>
                <a:cubicBezTo>
                  <a:pt x="141387" y="439638"/>
                  <a:pt x="205581" y="476250"/>
                  <a:pt x="285750" y="476250"/>
                </a:cubicBezTo>
                <a:cubicBezTo>
                  <a:pt x="365919" y="476250"/>
                  <a:pt x="430113" y="439737"/>
                  <a:pt x="476845" y="396280"/>
                </a:cubicBezTo>
                <a:cubicBezTo>
                  <a:pt x="523280" y="353120"/>
                  <a:pt x="554335" y="301625"/>
                  <a:pt x="569119" y="266204"/>
                </a:cubicBezTo>
                <a:cubicBezTo>
                  <a:pt x="572393" y="258366"/>
                  <a:pt x="572393" y="249634"/>
                  <a:pt x="569119" y="241796"/>
                </a:cubicBezTo>
                <a:cubicBezTo>
                  <a:pt x="554335" y="206375"/>
                  <a:pt x="523280" y="154781"/>
                  <a:pt x="476845" y="111720"/>
                </a:cubicBezTo>
                <a:cubicBezTo>
                  <a:pt x="430113" y="68362"/>
                  <a:pt x="365919" y="31750"/>
                  <a:pt x="285750" y="31750"/>
                </a:cubicBezTo>
                <a:close/>
                <a:moveTo>
                  <a:pt x="142875" y="254000"/>
                </a:moveTo>
                <a:cubicBezTo>
                  <a:pt x="142875" y="175145"/>
                  <a:pt x="206895" y="111125"/>
                  <a:pt x="285750" y="111125"/>
                </a:cubicBezTo>
                <a:cubicBezTo>
                  <a:pt x="364605" y="111125"/>
                  <a:pt x="428625" y="175145"/>
                  <a:pt x="428625" y="254000"/>
                </a:cubicBezTo>
                <a:cubicBezTo>
                  <a:pt x="428625" y="332855"/>
                  <a:pt x="364605" y="396875"/>
                  <a:pt x="285750" y="396875"/>
                </a:cubicBezTo>
                <a:cubicBezTo>
                  <a:pt x="206895" y="396875"/>
                  <a:pt x="142875" y="332855"/>
                  <a:pt x="142875" y="254000"/>
                </a:cubicBezTo>
                <a:close/>
                <a:moveTo>
                  <a:pt x="285750" y="190500"/>
                </a:moveTo>
                <a:cubicBezTo>
                  <a:pt x="285750" y="225524"/>
                  <a:pt x="257274" y="254000"/>
                  <a:pt x="222250" y="254000"/>
                </a:cubicBezTo>
                <a:cubicBezTo>
                  <a:pt x="210840" y="254000"/>
                  <a:pt x="200124" y="251023"/>
                  <a:pt x="190798" y="245666"/>
                </a:cubicBezTo>
                <a:cubicBezTo>
                  <a:pt x="189805" y="256480"/>
                  <a:pt x="190698" y="267593"/>
                  <a:pt x="193675" y="278606"/>
                </a:cubicBezTo>
                <a:cubicBezTo>
                  <a:pt x="207268" y="329406"/>
                  <a:pt x="259556" y="359569"/>
                  <a:pt x="310356" y="345976"/>
                </a:cubicBezTo>
                <a:cubicBezTo>
                  <a:pt x="361156" y="332383"/>
                  <a:pt x="391319" y="280095"/>
                  <a:pt x="377726" y="229295"/>
                </a:cubicBezTo>
                <a:cubicBezTo>
                  <a:pt x="365621" y="183952"/>
                  <a:pt x="322659" y="155079"/>
                  <a:pt x="277416" y="159048"/>
                </a:cubicBezTo>
                <a:cubicBezTo>
                  <a:pt x="282674" y="168275"/>
                  <a:pt x="285750" y="178991"/>
                  <a:pt x="285750" y="1905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" y="40640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4508500"/>
            <a:ext cx="20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识别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知道图像中有什么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02000" y="3175000"/>
            <a:ext cx="228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4500" y="3429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0" y="187127"/>
                </a:moveTo>
                <a:cubicBezTo>
                  <a:pt x="0" y="83741"/>
                  <a:pt x="85328" y="0"/>
                  <a:pt x="190500" y="0"/>
                </a:cubicBezTo>
                <a:cubicBezTo>
                  <a:pt x="295672" y="0"/>
                  <a:pt x="381000" y="83741"/>
                  <a:pt x="381000" y="187127"/>
                </a:cubicBezTo>
                <a:cubicBezTo>
                  <a:pt x="381000" y="305495"/>
                  <a:pt x="261739" y="447377"/>
                  <a:pt x="211931" y="501452"/>
                </a:cubicBezTo>
                <a:cubicBezTo>
                  <a:pt x="200223" y="514152"/>
                  <a:pt x="180677" y="514152"/>
                  <a:pt x="168970" y="501452"/>
                </a:cubicBezTo>
                <a:cubicBezTo>
                  <a:pt x="119162" y="447377"/>
                  <a:pt x="-99" y="305495"/>
                  <a:pt x="-99" y="187127"/>
                </a:cubicBezTo>
                <a:close/>
                <a:moveTo>
                  <a:pt x="190500" y="254000"/>
                </a:moveTo>
                <a:cubicBezTo>
                  <a:pt x="225547" y="254000"/>
                  <a:pt x="254000" y="225547"/>
                  <a:pt x="254000" y="190500"/>
                </a:cubicBezTo>
                <a:cubicBezTo>
                  <a:pt x="254000" y="155453"/>
                  <a:pt x="225547" y="127000"/>
                  <a:pt x="190500" y="127000"/>
                </a:cubicBezTo>
                <a:cubicBezTo>
                  <a:pt x="155453" y="127000"/>
                  <a:pt x="127000" y="155453"/>
                  <a:pt x="127000" y="190500"/>
                </a:cubicBezTo>
                <a:cubicBezTo>
                  <a:pt x="127000" y="225547"/>
                  <a:pt x="155453" y="254000"/>
                  <a:pt x="190500" y="2540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40640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4508500"/>
            <a:ext cx="20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定位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确定目标在哪里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42000" y="3175000"/>
            <a:ext cx="228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31000" y="342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548" y="-2480"/>
                </a:moveTo>
                <a:cubicBezTo>
                  <a:pt x="242193" y="-13791"/>
                  <a:pt x="266402" y="-13791"/>
                  <a:pt x="286048" y="-2480"/>
                </a:cubicBezTo>
                <a:lnTo>
                  <a:pt x="460573" y="98227"/>
                </a:lnTo>
                <a:cubicBezTo>
                  <a:pt x="480219" y="109538"/>
                  <a:pt x="492323" y="130572"/>
                  <a:pt x="492323" y="153194"/>
                </a:cubicBezTo>
                <a:lnTo>
                  <a:pt x="492323" y="354608"/>
                </a:lnTo>
                <a:cubicBezTo>
                  <a:pt x="492323" y="377329"/>
                  <a:pt x="480219" y="398264"/>
                  <a:pt x="460573" y="409575"/>
                </a:cubicBezTo>
                <a:lnTo>
                  <a:pt x="286048" y="510480"/>
                </a:lnTo>
                <a:cubicBezTo>
                  <a:pt x="266402" y="521791"/>
                  <a:pt x="242193" y="521791"/>
                  <a:pt x="222548" y="510480"/>
                </a:cubicBezTo>
                <a:lnTo>
                  <a:pt x="48121" y="409773"/>
                </a:lnTo>
                <a:cubicBezTo>
                  <a:pt x="28476" y="398463"/>
                  <a:pt x="16371" y="377428"/>
                  <a:pt x="16371" y="354806"/>
                </a:cubicBezTo>
                <a:lnTo>
                  <a:pt x="16371" y="153392"/>
                </a:lnTo>
                <a:cubicBezTo>
                  <a:pt x="16371" y="130671"/>
                  <a:pt x="28476" y="109736"/>
                  <a:pt x="48121" y="98425"/>
                </a:cubicBezTo>
                <a:lnTo>
                  <a:pt x="222548" y="-2480"/>
                </a:lnTo>
                <a:close/>
                <a:moveTo>
                  <a:pt x="428724" y="354707"/>
                </a:moveTo>
                <a:lnTo>
                  <a:pt x="428724" y="189905"/>
                </a:lnTo>
                <a:lnTo>
                  <a:pt x="286048" y="272256"/>
                </a:lnTo>
                <a:lnTo>
                  <a:pt x="286048" y="437059"/>
                </a:lnTo>
                <a:lnTo>
                  <a:pt x="428724" y="354707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69000" y="40640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Reconstruction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69000" y="4508500"/>
            <a:ext cx="20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重建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从2D恢复3D结构</a:t>
            </a:r>
            <a:endParaRPr lang="en-US" sz="1600" dirty="0"/>
          </a:p>
        </p:txBody>
      </p:sp>
      <p:pic>
        <p:nvPicPr>
          <p:cNvPr id="19" name="Image 0" descr="https://kimi-img.moonshot.cn/pub/slides/okc/yrlw5cdgjkvqy/mnt/agents/output/cv-course/images/cv_perception.png"/>
          <p:cNvPicPr>
            <a:picLocks noChangeAspect="1"/>
          </p:cNvPicPr>
          <p:nvPr/>
        </p:nvPicPr>
        <p:blipFill>
          <a:blip r:embed="rId3"/>
          <a:srcRect t="5288" b="5288"/>
          <a:stretch/>
        </p:blipFill>
        <p:spPr>
          <a:xfrm>
            <a:off x="8890000" y="1397000"/>
            <a:ext cx="6604000" cy="3937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62000" y="5588000"/>
            <a:ext cx="736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此外，</a:t>
            </a:r>
            <a:r>
              <a:rPr lang="en-US" sz="18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Recovery</a:t>
            </a:r>
            <a:r>
              <a:rPr lang="en-US" sz="18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（恢复）也是视觉系统的重要能力：从单张或多张图像中恢复场景的深度、运动、光照等物理属性。三个R共同构成计算机视觉的理论基石。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计算机视觉的应用领域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3556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574800" y="1600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自动驾驶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74800" y="20066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环境感知、障碍物检测、车道线识别、决策规划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397000"/>
            <a:ext cx="3556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65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5400" y="38100"/>
                </a:moveTo>
                <a:cubicBezTo>
                  <a:pt x="25400" y="17066"/>
                  <a:pt x="42466" y="0"/>
                  <a:pt x="63500" y="0"/>
                </a:cubicBezTo>
                <a:lnTo>
                  <a:pt x="101600" y="0"/>
                </a:lnTo>
                <a:cubicBezTo>
                  <a:pt x="115649" y="0"/>
                  <a:pt x="127000" y="11351"/>
                  <a:pt x="127000" y="25400"/>
                </a:cubicBezTo>
                <a:cubicBezTo>
                  <a:pt x="127000" y="39449"/>
                  <a:pt x="115649" y="50800"/>
                  <a:pt x="101600" y="50800"/>
                </a:cubicBezTo>
                <a:lnTo>
                  <a:pt x="76200" y="50800"/>
                </a:lnTo>
                <a:lnTo>
                  <a:pt x="76200" y="152400"/>
                </a:lnTo>
                <a:cubicBezTo>
                  <a:pt x="76200" y="194469"/>
                  <a:pt x="110331" y="228600"/>
                  <a:pt x="152400" y="228600"/>
                </a:cubicBezTo>
                <a:cubicBezTo>
                  <a:pt x="194469" y="228600"/>
                  <a:pt x="228600" y="194469"/>
                  <a:pt x="228600" y="152400"/>
                </a:cubicBezTo>
                <a:lnTo>
                  <a:pt x="228600" y="50800"/>
                </a:lnTo>
                <a:lnTo>
                  <a:pt x="203200" y="50800"/>
                </a:lnTo>
                <a:cubicBezTo>
                  <a:pt x="189151" y="50800"/>
                  <a:pt x="177800" y="39449"/>
                  <a:pt x="177800" y="25400"/>
                </a:cubicBezTo>
                <a:cubicBezTo>
                  <a:pt x="177800" y="11351"/>
                  <a:pt x="189151" y="0"/>
                  <a:pt x="203200" y="0"/>
                </a:cubicBezTo>
                <a:lnTo>
                  <a:pt x="241300" y="0"/>
                </a:lnTo>
                <a:cubicBezTo>
                  <a:pt x="262334" y="0"/>
                  <a:pt x="279400" y="17066"/>
                  <a:pt x="279400" y="38100"/>
                </a:cubicBezTo>
                <a:lnTo>
                  <a:pt x="279400" y="152400"/>
                </a:lnTo>
                <a:cubicBezTo>
                  <a:pt x="279400" y="213836"/>
                  <a:pt x="235744" y="265113"/>
                  <a:pt x="177800" y="276860"/>
                </a:cubicBezTo>
                <a:lnTo>
                  <a:pt x="177800" y="292100"/>
                </a:lnTo>
                <a:cubicBezTo>
                  <a:pt x="177800" y="341233"/>
                  <a:pt x="217567" y="381000"/>
                  <a:pt x="266700" y="381000"/>
                </a:cubicBezTo>
                <a:cubicBezTo>
                  <a:pt x="315833" y="381000"/>
                  <a:pt x="355600" y="341233"/>
                  <a:pt x="355600" y="292100"/>
                </a:cubicBezTo>
                <a:lnTo>
                  <a:pt x="355600" y="224234"/>
                </a:lnTo>
                <a:cubicBezTo>
                  <a:pt x="325993" y="213757"/>
                  <a:pt x="304800" y="185579"/>
                  <a:pt x="304800" y="152400"/>
                </a:cubicBezTo>
                <a:cubicBezTo>
                  <a:pt x="304800" y="110331"/>
                  <a:pt x="338931" y="76200"/>
                  <a:pt x="381000" y="76200"/>
                </a:cubicBezTo>
                <a:cubicBezTo>
                  <a:pt x="423069" y="76200"/>
                  <a:pt x="457200" y="110331"/>
                  <a:pt x="457200" y="152400"/>
                </a:cubicBezTo>
                <a:cubicBezTo>
                  <a:pt x="457200" y="185579"/>
                  <a:pt x="436007" y="213836"/>
                  <a:pt x="406400" y="224234"/>
                </a:cubicBezTo>
                <a:lnTo>
                  <a:pt x="406400" y="292100"/>
                </a:lnTo>
                <a:cubicBezTo>
                  <a:pt x="406400" y="369253"/>
                  <a:pt x="343853" y="431800"/>
                  <a:pt x="266700" y="431800"/>
                </a:cubicBezTo>
                <a:cubicBezTo>
                  <a:pt x="189548" y="431800"/>
                  <a:pt x="127000" y="369253"/>
                  <a:pt x="127000" y="292100"/>
                </a:cubicBezTo>
                <a:lnTo>
                  <a:pt x="127000" y="276860"/>
                </a:lnTo>
                <a:cubicBezTo>
                  <a:pt x="69056" y="265113"/>
                  <a:pt x="25400" y="213836"/>
                  <a:pt x="25400" y="152400"/>
                </a:cubicBezTo>
                <a:lnTo>
                  <a:pt x="25400" y="38100"/>
                </a:lnTo>
                <a:close/>
                <a:moveTo>
                  <a:pt x="381000" y="177800"/>
                </a:moveTo>
                <a:cubicBezTo>
                  <a:pt x="395019" y="177800"/>
                  <a:pt x="406400" y="166419"/>
                  <a:pt x="406400" y="152400"/>
                </a:cubicBezTo>
                <a:cubicBezTo>
                  <a:pt x="406400" y="138381"/>
                  <a:pt x="395019" y="127000"/>
                  <a:pt x="381000" y="127000"/>
                </a:cubicBezTo>
                <a:cubicBezTo>
                  <a:pt x="366981" y="127000"/>
                  <a:pt x="355600" y="138381"/>
                  <a:pt x="355600" y="152400"/>
                </a:cubicBezTo>
                <a:cubicBezTo>
                  <a:pt x="355600" y="166419"/>
                  <a:pt x="366981" y="177800"/>
                  <a:pt x="381000" y="17780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384800" y="1600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医疗影像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84800" y="20066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病灶检测、器官分割、病理分析、辅助诊断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397000"/>
            <a:ext cx="3556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60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11351" y="25400"/>
                  <a:pt x="0" y="36751"/>
                  <a:pt x="0" y="508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120809"/>
                </a:lnTo>
                <a:cubicBezTo>
                  <a:pt x="406400" y="106363"/>
                  <a:pt x="391001" y="97234"/>
                  <a:pt x="378301" y="104061"/>
                </a:cubicBezTo>
                <a:lnTo>
                  <a:pt x="254000" y="170974"/>
                </a:lnTo>
                <a:lnTo>
                  <a:pt x="254000" y="120809"/>
                </a:lnTo>
                <a:cubicBezTo>
                  <a:pt x="254000" y="106363"/>
                  <a:pt x="238601" y="97234"/>
                  <a:pt x="225901" y="104061"/>
                </a:cubicBezTo>
                <a:lnTo>
                  <a:pt x="101600" y="170974"/>
                </a:lnTo>
                <a:lnTo>
                  <a:pt x="101600" y="50800"/>
                </a:lnTo>
                <a:cubicBezTo>
                  <a:pt x="101600" y="36751"/>
                  <a:pt x="90249" y="25400"/>
                  <a:pt x="76200" y="25400"/>
                </a:cubicBezTo>
                <a:lnTo>
                  <a:pt x="25400" y="2540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194800" y="1600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工业质检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94800" y="20066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缺陷检测、尺寸测量、装配验证、表面分析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192000" y="1397000"/>
            <a:ext cx="330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420600" y="165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50800"/>
                </a:moveTo>
                <a:cubicBezTo>
                  <a:pt x="48181" y="50800"/>
                  <a:pt x="25400" y="73581"/>
                  <a:pt x="25400" y="101600"/>
                </a:cubicBezTo>
                <a:lnTo>
                  <a:pt x="25400" y="304800"/>
                </a:lnTo>
                <a:cubicBezTo>
                  <a:pt x="25400" y="332819"/>
                  <a:pt x="48181" y="355600"/>
                  <a:pt x="76200" y="355600"/>
                </a:cubicBezTo>
                <a:lnTo>
                  <a:pt x="279400" y="355600"/>
                </a:lnTo>
                <a:cubicBezTo>
                  <a:pt x="307419" y="355600"/>
                  <a:pt x="330200" y="332819"/>
                  <a:pt x="330200" y="304800"/>
                </a:cubicBezTo>
                <a:lnTo>
                  <a:pt x="330200" y="101600"/>
                </a:lnTo>
                <a:cubicBezTo>
                  <a:pt x="330200" y="73581"/>
                  <a:pt x="307419" y="50800"/>
                  <a:pt x="279400" y="50800"/>
                </a:cubicBezTo>
                <a:lnTo>
                  <a:pt x="76200" y="50800"/>
                </a:lnTo>
                <a:close/>
                <a:moveTo>
                  <a:pt x="368300" y="266700"/>
                </a:moveTo>
                <a:lnTo>
                  <a:pt x="426641" y="313373"/>
                </a:lnTo>
                <a:cubicBezTo>
                  <a:pt x="429974" y="316071"/>
                  <a:pt x="434102" y="317500"/>
                  <a:pt x="438388" y="317500"/>
                </a:cubicBezTo>
                <a:cubicBezTo>
                  <a:pt x="448786" y="317500"/>
                  <a:pt x="457200" y="309086"/>
                  <a:pt x="457200" y="298688"/>
                </a:cubicBezTo>
                <a:lnTo>
                  <a:pt x="457200" y="107712"/>
                </a:lnTo>
                <a:cubicBezTo>
                  <a:pt x="457200" y="97314"/>
                  <a:pt x="448786" y="88900"/>
                  <a:pt x="438388" y="88900"/>
                </a:cubicBezTo>
                <a:cubicBezTo>
                  <a:pt x="434102" y="88900"/>
                  <a:pt x="429974" y="90329"/>
                  <a:pt x="426641" y="93028"/>
                </a:cubicBezTo>
                <a:lnTo>
                  <a:pt x="368300" y="139700"/>
                </a:lnTo>
                <a:lnTo>
                  <a:pt x="368300" y="26670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3004800" y="16002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安防监控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04800" y="2006600"/>
            <a:ext cx="228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人脸识别、行为分析、异常检测、人群计数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175000"/>
            <a:ext cx="3556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000" y="342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4368" y="57388"/>
                </a:moveTo>
                <a:cubicBezTo>
                  <a:pt x="29845" y="38418"/>
                  <a:pt x="47228" y="25400"/>
                  <a:pt x="66993" y="25400"/>
                </a:cubicBezTo>
                <a:lnTo>
                  <a:pt x="340042" y="25400"/>
                </a:lnTo>
                <a:cubicBezTo>
                  <a:pt x="359807" y="25400"/>
                  <a:pt x="377190" y="38418"/>
                  <a:pt x="382746" y="57388"/>
                </a:cubicBezTo>
                <a:lnTo>
                  <a:pt x="401320" y="121047"/>
                </a:lnTo>
                <a:cubicBezTo>
                  <a:pt x="411480" y="155734"/>
                  <a:pt x="385366" y="190500"/>
                  <a:pt x="349250" y="190500"/>
                </a:cubicBezTo>
                <a:cubicBezTo>
                  <a:pt x="328374" y="190500"/>
                  <a:pt x="310039" y="178673"/>
                  <a:pt x="300990" y="161052"/>
                </a:cubicBezTo>
                <a:cubicBezTo>
                  <a:pt x="291783" y="178435"/>
                  <a:pt x="273526" y="190500"/>
                  <a:pt x="252254" y="190500"/>
                </a:cubicBezTo>
                <a:cubicBezTo>
                  <a:pt x="231140" y="190500"/>
                  <a:pt x="212804" y="178594"/>
                  <a:pt x="203597" y="161131"/>
                </a:cubicBezTo>
                <a:cubicBezTo>
                  <a:pt x="194389" y="178594"/>
                  <a:pt x="176054" y="190500"/>
                  <a:pt x="154940" y="190500"/>
                </a:cubicBezTo>
                <a:cubicBezTo>
                  <a:pt x="133667" y="190500"/>
                  <a:pt x="115411" y="178514"/>
                  <a:pt x="106204" y="161052"/>
                </a:cubicBezTo>
                <a:cubicBezTo>
                  <a:pt x="97155" y="178594"/>
                  <a:pt x="78819" y="190500"/>
                  <a:pt x="57944" y="190500"/>
                </a:cubicBezTo>
                <a:cubicBezTo>
                  <a:pt x="21749" y="190500"/>
                  <a:pt x="-4286" y="155813"/>
                  <a:pt x="5874" y="121047"/>
                </a:cubicBezTo>
                <a:lnTo>
                  <a:pt x="24368" y="57388"/>
                </a:lnTo>
                <a:close/>
                <a:moveTo>
                  <a:pt x="76518" y="279400"/>
                </a:moveTo>
                <a:lnTo>
                  <a:pt x="330518" y="279400"/>
                </a:lnTo>
                <a:lnTo>
                  <a:pt x="330518" y="226695"/>
                </a:lnTo>
                <a:cubicBezTo>
                  <a:pt x="336550" y="227965"/>
                  <a:pt x="342821" y="228600"/>
                  <a:pt x="349171" y="228600"/>
                </a:cubicBezTo>
                <a:cubicBezTo>
                  <a:pt x="360521" y="228600"/>
                  <a:pt x="371396" y="226536"/>
                  <a:pt x="381317" y="222885"/>
                </a:cubicBezTo>
                <a:lnTo>
                  <a:pt x="381317" y="342900"/>
                </a:lnTo>
                <a:cubicBezTo>
                  <a:pt x="381317" y="363934"/>
                  <a:pt x="364252" y="381000"/>
                  <a:pt x="343218" y="381000"/>
                </a:cubicBezTo>
                <a:lnTo>
                  <a:pt x="63817" y="381000"/>
                </a:lnTo>
                <a:cubicBezTo>
                  <a:pt x="42783" y="381000"/>
                  <a:pt x="25717" y="363934"/>
                  <a:pt x="25717" y="342900"/>
                </a:cubicBezTo>
                <a:lnTo>
                  <a:pt x="25717" y="222885"/>
                </a:lnTo>
                <a:cubicBezTo>
                  <a:pt x="35639" y="226536"/>
                  <a:pt x="46434" y="228600"/>
                  <a:pt x="57864" y="228600"/>
                </a:cubicBezTo>
                <a:cubicBezTo>
                  <a:pt x="64294" y="228600"/>
                  <a:pt x="70485" y="227965"/>
                  <a:pt x="76517" y="226695"/>
                </a:cubicBezTo>
                <a:lnTo>
                  <a:pt x="76517" y="27940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574800" y="3378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智能零售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74800" y="37846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智能结算、库存管理、客流分析、货架监控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0" y="3175000"/>
            <a:ext cx="3556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6000" y="342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5400"/>
                </a:moveTo>
                <a:cubicBezTo>
                  <a:pt x="406400" y="111204"/>
                  <a:pt x="345599" y="182801"/>
                  <a:pt x="264795" y="199549"/>
                </a:cubicBezTo>
                <a:cubicBezTo>
                  <a:pt x="258524" y="153432"/>
                  <a:pt x="237808" y="111919"/>
                  <a:pt x="207248" y="79772"/>
                </a:cubicBezTo>
                <a:cubicBezTo>
                  <a:pt x="239078" y="31750"/>
                  <a:pt x="293608" y="0"/>
                  <a:pt x="355600" y="0"/>
                </a:cubicBezTo>
                <a:lnTo>
                  <a:pt x="381000" y="0"/>
                </a:lnTo>
                <a:cubicBezTo>
                  <a:pt x="395049" y="0"/>
                  <a:pt x="406400" y="11351"/>
                  <a:pt x="406400" y="25400"/>
                </a:cubicBezTo>
                <a:close/>
                <a:moveTo>
                  <a:pt x="0" y="76200"/>
                </a:moveTo>
                <a:cubicBezTo>
                  <a:pt x="0" y="62151"/>
                  <a:pt x="11351" y="50800"/>
                  <a:pt x="25400" y="50800"/>
                </a:cubicBezTo>
                <a:lnTo>
                  <a:pt x="50800" y="50800"/>
                </a:lnTo>
                <a:cubicBezTo>
                  <a:pt x="148987" y="50800"/>
                  <a:pt x="228600" y="130413"/>
                  <a:pt x="228600" y="228600"/>
                </a:cubicBezTo>
                <a:lnTo>
                  <a:pt x="228600" y="381000"/>
                </a:lnTo>
                <a:cubicBezTo>
                  <a:pt x="228600" y="395049"/>
                  <a:pt x="217249" y="406400"/>
                  <a:pt x="203200" y="406400"/>
                </a:cubicBezTo>
                <a:cubicBezTo>
                  <a:pt x="189151" y="406400"/>
                  <a:pt x="177800" y="395049"/>
                  <a:pt x="177800" y="381000"/>
                </a:cubicBezTo>
                <a:lnTo>
                  <a:pt x="177800" y="254000"/>
                </a:lnTo>
                <a:cubicBezTo>
                  <a:pt x="79613" y="254000"/>
                  <a:pt x="0" y="174387"/>
                  <a:pt x="0" y="7620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384800" y="3378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智慧农业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84800" y="37846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作物监测、病虫害识别、产量预测、精准灌溉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3175000"/>
            <a:ext cx="3556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85200" y="3429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9194800" y="3378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机器人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94800" y="37846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视觉导航、物体抓取、SLAM建图、人机协作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192000" y="3175000"/>
            <a:ext cx="330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446000" y="342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7956" y="5556"/>
                </a:moveTo>
                <a:cubicBezTo>
                  <a:pt x="165418" y="-1905"/>
                  <a:pt x="177483" y="-1905"/>
                  <a:pt x="184864" y="5556"/>
                </a:cubicBezTo>
                <a:lnTo>
                  <a:pt x="255826" y="76518"/>
                </a:lnTo>
                <a:lnTo>
                  <a:pt x="299482" y="32861"/>
                </a:lnTo>
                <a:cubicBezTo>
                  <a:pt x="309404" y="22939"/>
                  <a:pt x="325517" y="22939"/>
                  <a:pt x="335439" y="32861"/>
                </a:cubicBezTo>
                <a:lnTo>
                  <a:pt x="373539" y="70961"/>
                </a:lnTo>
                <a:cubicBezTo>
                  <a:pt x="383461" y="80883"/>
                  <a:pt x="383461" y="96996"/>
                  <a:pt x="373539" y="106918"/>
                </a:cubicBezTo>
                <a:lnTo>
                  <a:pt x="329883" y="150574"/>
                </a:lnTo>
                <a:lnTo>
                  <a:pt x="400844" y="221536"/>
                </a:lnTo>
                <a:cubicBezTo>
                  <a:pt x="408305" y="228997"/>
                  <a:pt x="408305" y="241062"/>
                  <a:pt x="400844" y="248444"/>
                </a:cubicBezTo>
                <a:lnTo>
                  <a:pt x="324644" y="324644"/>
                </a:lnTo>
                <a:cubicBezTo>
                  <a:pt x="317183" y="332105"/>
                  <a:pt x="305118" y="332105"/>
                  <a:pt x="297736" y="324644"/>
                </a:cubicBezTo>
                <a:lnTo>
                  <a:pt x="226774" y="253683"/>
                </a:lnTo>
                <a:lnTo>
                  <a:pt x="214471" y="265986"/>
                </a:lnTo>
                <a:cubicBezTo>
                  <a:pt x="223520" y="285512"/>
                  <a:pt x="228600" y="307261"/>
                  <a:pt x="228600" y="330200"/>
                </a:cubicBezTo>
                <a:cubicBezTo>
                  <a:pt x="228600" y="355362"/>
                  <a:pt x="222488" y="379016"/>
                  <a:pt x="211773" y="399891"/>
                </a:cubicBezTo>
                <a:cubicBezTo>
                  <a:pt x="208042" y="407035"/>
                  <a:pt x="198517" y="408067"/>
                  <a:pt x="192881" y="402352"/>
                </a:cubicBezTo>
                <a:lnTo>
                  <a:pt x="116443" y="325914"/>
                </a:lnTo>
                <a:lnTo>
                  <a:pt x="68818" y="373539"/>
                </a:lnTo>
                <a:cubicBezTo>
                  <a:pt x="58896" y="383461"/>
                  <a:pt x="42783" y="383461"/>
                  <a:pt x="32861" y="373539"/>
                </a:cubicBezTo>
                <a:cubicBezTo>
                  <a:pt x="22939" y="363617"/>
                  <a:pt x="22939" y="347504"/>
                  <a:pt x="32861" y="337582"/>
                </a:cubicBezTo>
                <a:lnTo>
                  <a:pt x="80486" y="289957"/>
                </a:lnTo>
                <a:lnTo>
                  <a:pt x="4048" y="213519"/>
                </a:lnTo>
                <a:cubicBezTo>
                  <a:pt x="-1667" y="207804"/>
                  <a:pt x="-635" y="198279"/>
                  <a:pt x="6509" y="194628"/>
                </a:cubicBezTo>
                <a:cubicBezTo>
                  <a:pt x="27384" y="183833"/>
                  <a:pt x="51118" y="177800"/>
                  <a:pt x="76200" y="177800"/>
                </a:cubicBezTo>
                <a:cubicBezTo>
                  <a:pt x="99139" y="177800"/>
                  <a:pt x="120888" y="182880"/>
                  <a:pt x="140414" y="191929"/>
                </a:cubicBezTo>
                <a:lnTo>
                  <a:pt x="152718" y="179626"/>
                </a:lnTo>
                <a:lnTo>
                  <a:pt x="81756" y="108744"/>
                </a:lnTo>
                <a:cubicBezTo>
                  <a:pt x="74295" y="101283"/>
                  <a:pt x="74295" y="89218"/>
                  <a:pt x="81756" y="81836"/>
                </a:cubicBezTo>
                <a:lnTo>
                  <a:pt x="157956" y="5556"/>
                </a:lnTo>
                <a:close/>
                <a:moveTo>
                  <a:pt x="171450" y="45958"/>
                </a:moveTo>
                <a:lnTo>
                  <a:pt x="122158" y="95250"/>
                </a:lnTo>
                <a:lnTo>
                  <a:pt x="179626" y="152718"/>
                </a:lnTo>
                <a:lnTo>
                  <a:pt x="228918" y="103426"/>
                </a:lnTo>
                <a:lnTo>
                  <a:pt x="171450" y="45958"/>
                </a:lnTo>
                <a:close/>
                <a:moveTo>
                  <a:pt x="311150" y="284242"/>
                </a:moveTo>
                <a:lnTo>
                  <a:pt x="360442" y="234950"/>
                </a:lnTo>
                <a:lnTo>
                  <a:pt x="302974" y="177483"/>
                </a:lnTo>
                <a:lnTo>
                  <a:pt x="253683" y="226774"/>
                </a:lnTo>
                <a:lnTo>
                  <a:pt x="311150" y="284242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13004800" y="33782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遥感与测绘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004800" y="3784600"/>
            <a:ext cx="228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地物分类、变化检测、目标提取、三维重建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5080000"/>
            <a:ext cx="14732000" cy="1524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0150" y="5461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0" y="5283200"/>
            <a:ext cx="13335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核心洞察</a:t>
            </a: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：所有应用共享同一套底层视觉技术栈（检测、分割、分类、特征提取），差异仅在于场景数据与部署环境。理解基础框架，即可迁移到任意垂直领域。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762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762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基本框架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从像素到语义的流水线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0" y="5715000"/>
            <a:ext cx="2794000" cy="2794000"/>
          </a:xfrm>
          <a:prstGeom prst="rect">
            <a:avLst/>
          </a:prstGeom>
          <a:solidFill>
            <a:srgbClr val="2563EB">
              <a:alpha val="3000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经典计算机视觉流水线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2032000" cy="889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图像获取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94000" y="1968500"/>
            <a:ext cx="381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175000" y="1524000"/>
            <a:ext cx="2032000" cy="889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175000" y="15240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预处理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07000" y="1968500"/>
            <a:ext cx="381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588000" y="1524000"/>
            <a:ext cx="2032000" cy="889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588000" y="15240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特征提取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0" y="1968500"/>
            <a:ext cx="381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8001000" y="1524000"/>
            <a:ext cx="2032000" cy="889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15240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特征表示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33000" y="1968500"/>
            <a:ext cx="381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414000" y="1524000"/>
            <a:ext cx="2540000" cy="889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0" y="1524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分类/检测/分割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Classifier/Detector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954000" y="1968500"/>
            <a:ext cx="381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3335000" y="1524000"/>
            <a:ext cx="2159000" cy="889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0" y="1524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后处理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Post-processing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279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各环节技术细节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302000"/>
            <a:ext cx="469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5200" y="34290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预处理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去噪（高斯滤波、中值滤波）、对比度增强、灰度化、归一化、几何校正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0" y="3302000"/>
            <a:ext cx="469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18200" y="34290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特征提取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SIFT（尺度不变特征）、HOG（方向梯度直方图）、LBP（局部二值模式）、边缘检测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3302000"/>
            <a:ext cx="4826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71200" y="3429000"/>
            <a:ext cx="444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分类器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SVM（支持向量机）、Adaboost、决策树、KNN、模板匹配、词袋模型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5207000"/>
            <a:ext cx="14732000" cy="127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6800" y="556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1574800" y="53340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关键局限</a:t>
            </a:r>
            <a:r>
              <a:rPr lang="en-US" sz="18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：每个环节都需要</a:t>
            </a:r>
            <a:r>
              <a:rPr lang="en-US" sz="18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人工设计算法</a:t>
            </a:r>
            <a:r>
              <a:rPr lang="en-US" sz="18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，特征提取环节尤其依赖领域专家经验。面对光照变化、遮挡、视角变化时</a:t>
            </a:r>
            <a:r>
              <a:rPr lang="en-US" sz="18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鲁棒性差</a:t>
            </a:r>
            <a:r>
              <a:rPr lang="en-US" sz="18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，且难以扩展到新类别或新场景。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深度学习驱动的端到端框架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778000" cy="762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77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图像/视频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0000" y="1905000"/>
            <a:ext cx="508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048000" y="1524000"/>
            <a:ext cx="2286000" cy="762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048000" y="1524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Backbone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ResNet / EfficientNet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0" y="1905000"/>
            <a:ext cx="508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842000" y="1524000"/>
            <a:ext cx="2286000" cy="762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842000" y="1524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Neck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FPN / PANet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1905000"/>
            <a:ext cx="508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8636000" y="1524000"/>
            <a:ext cx="2540000" cy="762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1524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检测 / 分割 / 分类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176000" y="1905000"/>
            <a:ext cx="508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1684000" y="1524000"/>
            <a:ext cx="1778000" cy="762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1684000" y="1524000"/>
            <a:ext cx="177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框 / 掩膜 / 类别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417162"/>
              </p:ext>
            </p:extLst>
          </p:nvPr>
        </p:nvGraphicFramePr>
        <p:xfrm>
          <a:off x="762000" y="2794000"/>
          <a:ext cx="14732000" cy="3556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568">
                <a:tc>
                  <a:txBody>
                    <a:bodyPr/>
                    <a:lstStyle/>
                    <a:p>
                      <a:pPr algn="l"/>
                      <a:r>
                        <a:rPr lang="zh-CN" altLang="en-US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组件</a:t>
                      </a:r>
                      <a:endParaRPr lang="en-US" dirty="0"/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i="0" kern="1200" dirty="0">
                          <a:solidFill>
                            <a:srgbClr val="FFFFFF"/>
                          </a:solidFill>
                          <a:effectLst/>
                          <a:latin typeface="QuattrocentoSans"/>
                          <a:ea typeface="+mn-ea"/>
                          <a:cs typeface="+mn-cs"/>
                        </a:rPr>
                        <a:t>功能说明</a:t>
                      </a:r>
                      <a:endParaRPr lang="en-US" sz="1800" b="0" i="0" kern="1200" dirty="0">
                        <a:solidFill>
                          <a:srgbClr val="FFFFFF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i="0" kern="1200" dirty="0">
                          <a:solidFill>
                            <a:srgbClr val="FFFFFF"/>
                          </a:solidFill>
                          <a:effectLst/>
                          <a:latin typeface="QuattrocentoSans" pitchFamily="34" charset="0"/>
                          <a:ea typeface="+mn-ea"/>
                          <a:cs typeface="+mn-cs"/>
                        </a:rPr>
                        <a:t>代表网络</a:t>
                      </a:r>
                      <a:endParaRPr lang="en-US" sz="1800" b="0" i="0" kern="1200" dirty="0">
                        <a:solidFill>
                          <a:srgbClr val="FFFFFF"/>
                        </a:solidFill>
                        <a:effectLst/>
                        <a:latin typeface="QuattrocentoSans" charset="0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Backbone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特征提取骨干网络，从输入图像中提取多尺度特征图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ResNet, EfficientNet, DarkNet, MobileNet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Neck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特征融合颈部网络，融合不同尺度的特征以增强表达能力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FPN, PANet, BiFPN, NAS-FPN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任务特定检测头，根据任务类型输出预测结果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YOLO Head, RPN, Mask Head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Decoder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输出解码器，将网络预测转换为可读的框、掩膜或类别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NMS,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阈值过滤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62000" y="6731000"/>
            <a:ext cx="14732000" cy="1016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7"/>
          <p:cNvSpPr/>
          <p:nvPr/>
        </p:nvSpPr>
        <p:spPr>
          <a:xfrm>
            <a:off x="1066800" y="6832600"/>
            <a:ext cx="14097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核心变化</a:t>
            </a: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：传统流水线中"特征提取"与"分类"是分离的手工设计模块；深度学习框架将二者统一为</a:t>
            </a: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端到端可训练的神经网络</a:t>
            </a: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，特征自动学习而非人工定义，显著提升了泛化能力与开发效率。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五大核心任务类型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28448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28448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879600" y="167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/>
            </a:pathLst>
          </a:cu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438400"/>
            <a:ext cx="243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目标检测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2794000"/>
            <a:ext cx="2438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" y="3200400"/>
            <a:ext cx="2438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识别图像中的物体并用边界框精确定位，输出类别+坐标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60800" y="1397000"/>
            <a:ext cx="28448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0800" y="1397000"/>
            <a:ext cx="28448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940300" y="16764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8100" y="142161"/>
                </a:moveTo>
                <a:cubicBezTo>
                  <a:pt x="15359" y="129064"/>
                  <a:pt x="0" y="104418"/>
                  <a:pt x="0" y="76200"/>
                </a:cubicBezTo>
                <a:cubicBezTo>
                  <a:pt x="0" y="34171"/>
                  <a:pt x="34171" y="0"/>
                  <a:pt x="76200" y="0"/>
                </a:cubicBezTo>
                <a:cubicBezTo>
                  <a:pt x="104418" y="0"/>
                  <a:pt x="129064" y="15359"/>
                  <a:pt x="142161" y="38100"/>
                </a:cubicBezTo>
                <a:lnTo>
                  <a:pt x="543520" y="38100"/>
                </a:lnTo>
                <a:cubicBezTo>
                  <a:pt x="556736" y="15359"/>
                  <a:pt x="581263" y="0"/>
                  <a:pt x="609481" y="0"/>
                </a:cubicBezTo>
                <a:cubicBezTo>
                  <a:pt x="651510" y="0"/>
                  <a:pt x="685681" y="34171"/>
                  <a:pt x="685681" y="76200"/>
                </a:cubicBezTo>
                <a:cubicBezTo>
                  <a:pt x="685681" y="104418"/>
                  <a:pt x="670322" y="129064"/>
                  <a:pt x="647581" y="142161"/>
                </a:cubicBezTo>
                <a:lnTo>
                  <a:pt x="647581" y="467320"/>
                </a:lnTo>
                <a:cubicBezTo>
                  <a:pt x="670322" y="480536"/>
                  <a:pt x="685681" y="505063"/>
                  <a:pt x="685681" y="533281"/>
                </a:cubicBezTo>
                <a:cubicBezTo>
                  <a:pt x="685681" y="575310"/>
                  <a:pt x="651510" y="609481"/>
                  <a:pt x="609481" y="609481"/>
                </a:cubicBezTo>
                <a:cubicBezTo>
                  <a:pt x="581263" y="609481"/>
                  <a:pt x="556617" y="594122"/>
                  <a:pt x="543520" y="571381"/>
                </a:cubicBezTo>
                <a:lnTo>
                  <a:pt x="142161" y="571381"/>
                </a:lnTo>
                <a:cubicBezTo>
                  <a:pt x="128945" y="594122"/>
                  <a:pt x="104418" y="609481"/>
                  <a:pt x="76200" y="609481"/>
                </a:cubicBezTo>
                <a:cubicBezTo>
                  <a:pt x="34171" y="609481"/>
                  <a:pt x="0" y="575310"/>
                  <a:pt x="0" y="533281"/>
                </a:cubicBezTo>
                <a:cubicBezTo>
                  <a:pt x="0" y="505063"/>
                  <a:pt x="15359" y="480417"/>
                  <a:pt x="38100" y="467320"/>
                </a:cubicBezTo>
                <a:lnTo>
                  <a:pt x="38100" y="142161"/>
                </a:lnTo>
                <a:close/>
                <a:moveTo>
                  <a:pt x="571500" y="142161"/>
                </a:moveTo>
                <a:cubicBezTo>
                  <a:pt x="559951" y="135493"/>
                  <a:pt x="550307" y="125849"/>
                  <a:pt x="543639" y="114300"/>
                </a:cubicBezTo>
                <a:lnTo>
                  <a:pt x="142161" y="114300"/>
                </a:lnTo>
                <a:cubicBezTo>
                  <a:pt x="135493" y="125849"/>
                  <a:pt x="125849" y="135493"/>
                  <a:pt x="114300" y="142161"/>
                </a:cubicBezTo>
                <a:lnTo>
                  <a:pt x="114300" y="467320"/>
                </a:lnTo>
                <a:cubicBezTo>
                  <a:pt x="125849" y="473988"/>
                  <a:pt x="135493" y="483632"/>
                  <a:pt x="142161" y="495181"/>
                </a:cubicBezTo>
                <a:lnTo>
                  <a:pt x="543520" y="495181"/>
                </a:lnTo>
                <a:cubicBezTo>
                  <a:pt x="550188" y="483632"/>
                  <a:pt x="559832" y="473988"/>
                  <a:pt x="571381" y="467320"/>
                </a:cubicBezTo>
                <a:lnTo>
                  <a:pt x="571381" y="142161"/>
                </a:lnTo>
                <a:close/>
                <a:moveTo>
                  <a:pt x="171450" y="209550"/>
                </a:moveTo>
                <a:cubicBezTo>
                  <a:pt x="171450" y="188476"/>
                  <a:pt x="188476" y="171450"/>
                  <a:pt x="209550" y="171450"/>
                </a:cubicBezTo>
                <a:lnTo>
                  <a:pt x="342900" y="171450"/>
                </a:lnTo>
                <a:cubicBezTo>
                  <a:pt x="363974" y="171450"/>
                  <a:pt x="381000" y="188476"/>
                  <a:pt x="381000" y="209550"/>
                </a:cubicBezTo>
                <a:lnTo>
                  <a:pt x="381000" y="285750"/>
                </a:lnTo>
                <a:cubicBezTo>
                  <a:pt x="381000" y="306824"/>
                  <a:pt x="363974" y="323850"/>
                  <a:pt x="342900" y="323850"/>
                </a:cubicBezTo>
                <a:lnTo>
                  <a:pt x="209550" y="323850"/>
                </a:lnTo>
                <a:cubicBezTo>
                  <a:pt x="188476" y="323850"/>
                  <a:pt x="171450" y="306824"/>
                  <a:pt x="171450" y="285750"/>
                </a:cubicBezTo>
                <a:lnTo>
                  <a:pt x="171450" y="209550"/>
                </a:lnTo>
                <a:close/>
                <a:moveTo>
                  <a:pt x="304800" y="381000"/>
                </a:moveTo>
                <a:lnTo>
                  <a:pt x="342900" y="381000"/>
                </a:lnTo>
                <a:cubicBezTo>
                  <a:pt x="395526" y="381000"/>
                  <a:pt x="438150" y="338376"/>
                  <a:pt x="438150" y="285750"/>
                </a:cubicBezTo>
                <a:lnTo>
                  <a:pt x="476250" y="285750"/>
                </a:lnTo>
                <a:cubicBezTo>
                  <a:pt x="497324" y="285750"/>
                  <a:pt x="514350" y="302776"/>
                  <a:pt x="514350" y="323850"/>
                </a:cubicBezTo>
                <a:lnTo>
                  <a:pt x="514350" y="400050"/>
                </a:lnTo>
                <a:cubicBezTo>
                  <a:pt x="514350" y="421124"/>
                  <a:pt x="497324" y="438150"/>
                  <a:pt x="476250" y="438150"/>
                </a:cubicBezTo>
                <a:lnTo>
                  <a:pt x="342900" y="438150"/>
                </a:lnTo>
                <a:cubicBezTo>
                  <a:pt x="321826" y="438150"/>
                  <a:pt x="304800" y="421124"/>
                  <a:pt x="304800" y="400050"/>
                </a:cubicBezTo>
                <a:lnTo>
                  <a:pt x="304800" y="38100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064000" y="2438400"/>
            <a:ext cx="243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图像分割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4000" y="2794000"/>
            <a:ext cx="2438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64000" y="3200400"/>
            <a:ext cx="2438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像素级精确划分物体区域，输出与物体形状一致的掩膜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59600" y="1397000"/>
            <a:ext cx="28448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59600" y="1397000"/>
            <a:ext cx="28448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8039100" y="16764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77679" y="46553"/>
                </a:moveTo>
                <a:lnTo>
                  <a:pt x="654129" y="225504"/>
                </a:lnTo>
                <a:cubicBezTo>
                  <a:pt x="687110" y="258961"/>
                  <a:pt x="687110" y="312539"/>
                  <a:pt x="654129" y="345996"/>
                </a:cubicBezTo>
                <a:lnTo>
                  <a:pt x="467916" y="534472"/>
                </a:lnTo>
                <a:cubicBezTo>
                  <a:pt x="456843" y="545663"/>
                  <a:pt x="438745" y="545782"/>
                  <a:pt x="427553" y="534710"/>
                </a:cubicBezTo>
                <a:cubicBezTo>
                  <a:pt x="416362" y="523637"/>
                  <a:pt x="416243" y="505539"/>
                  <a:pt x="427315" y="494348"/>
                </a:cubicBezTo>
                <a:lnTo>
                  <a:pt x="613529" y="305753"/>
                </a:lnTo>
                <a:cubicBezTo>
                  <a:pt x="624483" y="294680"/>
                  <a:pt x="624483" y="276701"/>
                  <a:pt x="613529" y="265628"/>
                </a:cubicBezTo>
                <a:lnTo>
                  <a:pt x="436959" y="86797"/>
                </a:lnTo>
                <a:cubicBezTo>
                  <a:pt x="425887" y="75605"/>
                  <a:pt x="426006" y="57507"/>
                  <a:pt x="437197" y="46434"/>
                </a:cubicBezTo>
                <a:cubicBezTo>
                  <a:pt x="448389" y="35362"/>
                  <a:pt x="466487" y="35481"/>
                  <a:pt x="477560" y="46673"/>
                </a:cubicBezTo>
                <a:close/>
                <a:moveTo>
                  <a:pt x="38219" y="273248"/>
                </a:moveTo>
                <a:lnTo>
                  <a:pt x="38219" y="114300"/>
                </a:lnTo>
                <a:cubicBezTo>
                  <a:pt x="38219" y="72271"/>
                  <a:pt x="72390" y="38100"/>
                  <a:pt x="114419" y="38100"/>
                </a:cubicBezTo>
                <a:lnTo>
                  <a:pt x="273368" y="38100"/>
                </a:lnTo>
                <a:cubicBezTo>
                  <a:pt x="293608" y="38100"/>
                  <a:pt x="313015" y="46077"/>
                  <a:pt x="327303" y="60365"/>
                </a:cubicBezTo>
                <a:lnTo>
                  <a:pt x="498753" y="231815"/>
                </a:lnTo>
                <a:cubicBezTo>
                  <a:pt x="528518" y="261580"/>
                  <a:pt x="528518" y="309801"/>
                  <a:pt x="498753" y="339566"/>
                </a:cubicBezTo>
                <a:lnTo>
                  <a:pt x="339804" y="498515"/>
                </a:lnTo>
                <a:cubicBezTo>
                  <a:pt x="310039" y="528280"/>
                  <a:pt x="261818" y="528280"/>
                  <a:pt x="232053" y="498515"/>
                </a:cubicBezTo>
                <a:lnTo>
                  <a:pt x="60603" y="327065"/>
                </a:lnTo>
                <a:cubicBezTo>
                  <a:pt x="46315" y="312777"/>
                  <a:pt x="38338" y="293370"/>
                  <a:pt x="38338" y="273129"/>
                </a:cubicBezTo>
                <a:close/>
                <a:moveTo>
                  <a:pt x="209669" y="171450"/>
                </a:moveTo>
                <a:cubicBezTo>
                  <a:pt x="209669" y="150422"/>
                  <a:pt x="192597" y="133350"/>
                  <a:pt x="171569" y="133350"/>
                </a:cubicBezTo>
                <a:cubicBezTo>
                  <a:pt x="150541" y="133350"/>
                  <a:pt x="133469" y="150422"/>
                  <a:pt x="133469" y="171450"/>
                </a:cubicBezTo>
                <a:cubicBezTo>
                  <a:pt x="133469" y="192478"/>
                  <a:pt x="150541" y="209550"/>
                  <a:pt x="171569" y="209550"/>
                </a:cubicBezTo>
                <a:cubicBezTo>
                  <a:pt x="192597" y="209550"/>
                  <a:pt x="209669" y="192478"/>
                  <a:pt x="209669" y="17145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162800" y="2438400"/>
            <a:ext cx="243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图像分类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62800" y="2794000"/>
            <a:ext cx="2438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62800" y="3200400"/>
            <a:ext cx="2438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判断整张图像所属类别，输出概率最高的一个或多个标签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8400" y="1397000"/>
            <a:ext cx="28448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1397000"/>
            <a:ext cx="28448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52200" y="16764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228600" y="95250"/>
                </a:moveTo>
                <a:cubicBezTo>
                  <a:pt x="265399" y="95250"/>
                  <a:pt x="295275" y="65374"/>
                  <a:pt x="295275" y="28575"/>
                </a:cubicBezTo>
                <a:cubicBezTo>
                  <a:pt x="295275" y="-8224"/>
                  <a:pt x="265399" y="-38100"/>
                  <a:pt x="228600" y="-38100"/>
                </a:cubicBezTo>
                <a:cubicBezTo>
                  <a:pt x="191801" y="-38100"/>
                  <a:pt x="161925" y="-8224"/>
                  <a:pt x="161925" y="28575"/>
                </a:cubicBezTo>
                <a:cubicBezTo>
                  <a:pt x="161925" y="65374"/>
                  <a:pt x="191801" y="95250"/>
                  <a:pt x="228600" y="95250"/>
                </a:cubicBezTo>
                <a:close/>
                <a:moveTo>
                  <a:pt x="125492" y="271343"/>
                </a:moveTo>
                <a:lnTo>
                  <a:pt x="152400" y="244435"/>
                </a:lnTo>
                <a:lnTo>
                  <a:pt x="152400" y="326946"/>
                </a:lnTo>
                <a:cubicBezTo>
                  <a:pt x="152400" y="360283"/>
                  <a:pt x="166926" y="392073"/>
                  <a:pt x="192286" y="413742"/>
                </a:cubicBezTo>
                <a:lnTo>
                  <a:pt x="277297" y="486608"/>
                </a:lnTo>
                <a:cubicBezTo>
                  <a:pt x="284321" y="492681"/>
                  <a:pt x="288965" y="501015"/>
                  <a:pt x="290274" y="510183"/>
                </a:cubicBezTo>
                <a:lnTo>
                  <a:pt x="305276" y="615077"/>
                </a:lnTo>
                <a:cubicBezTo>
                  <a:pt x="308253" y="635913"/>
                  <a:pt x="327541" y="650438"/>
                  <a:pt x="348377" y="647462"/>
                </a:cubicBezTo>
                <a:cubicBezTo>
                  <a:pt x="369213" y="644485"/>
                  <a:pt x="383738" y="625197"/>
                  <a:pt x="380762" y="604361"/>
                </a:cubicBezTo>
                <a:lnTo>
                  <a:pt x="365760" y="499467"/>
                </a:lnTo>
                <a:cubicBezTo>
                  <a:pt x="361831" y="471964"/>
                  <a:pt x="348020" y="446961"/>
                  <a:pt x="326946" y="428863"/>
                </a:cubicBezTo>
                <a:lnTo>
                  <a:pt x="285869" y="393621"/>
                </a:lnTo>
                <a:lnTo>
                  <a:pt x="285869" y="256461"/>
                </a:lnTo>
                <a:lnTo>
                  <a:pt x="290393" y="262057"/>
                </a:lnTo>
                <a:cubicBezTo>
                  <a:pt x="312063" y="289203"/>
                  <a:pt x="344924" y="304919"/>
                  <a:pt x="379690" y="304919"/>
                </a:cubicBezTo>
                <a:lnTo>
                  <a:pt x="419219" y="304919"/>
                </a:lnTo>
                <a:cubicBezTo>
                  <a:pt x="440293" y="304919"/>
                  <a:pt x="457319" y="287893"/>
                  <a:pt x="457319" y="266819"/>
                </a:cubicBezTo>
                <a:cubicBezTo>
                  <a:pt x="457319" y="245745"/>
                  <a:pt x="440293" y="228719"/>
                  <a:pt x="419219" y="228719"/>
                </a:cubicBezTo>
                <a:lnTo>
                  <a:pt x="379690" y="228719"/>
                </a:lnTo>
                <a:cubicBezTo>
                  <a:pt x="368141" y="228719"/>
                  <a:pt x="357188" y="223480"/>
                  <a:pt x="349925" y="214432"/>
                </a:cubicBezTo>
                <a:lnTo>
                  <a:pt x="328613" y="187762"/>
                </a:lnTo>
                <a:cubicBezTo>
                  <a:pt x="301228" y="153472"/>
                  <a:pt x="259675" y="133469"/>
                  <a:pt x="215741" y="133469"/>
                </a:cubicBezTo>
                <a:cubicBezTo>
                  <a:pt x="177403" y="133469"/>
                  <a:pt x="140613" y="148709"/>
                  <a:pt x="113586" y="175855"/>
                </a:cubicBezTo>
                <a:lnTo>
                  <a:pt x="71557" y="217408"/>
                </a:lnTo>
                <a:cubicBezTo>
                  <a:pt x="50125" y="238839"/>
                  <a:pt x="38100" y="267891"/>
                  <a:pt x="38100" y="298252"/>
                </a:cubicBezTo>
                <a:lnTo>
                  <a:pt x="38100" y="342900"/>
                </a:lnTo>
                <a:cubicBezTo>
                  <a:pt x="38100" y="363974"/>
                  <a:pt x="55126" y="381000"/>
                  <a:pt x="76200" y="381000"/>
                </a:cubicBezTo>
                <a:cubicBezTo>
                  <a:pt x="97274" y="381000"/>
                  <a:pt x="114300" y="363974"/>
                  <a:pt x="114300" y="342900"/>
                </a:cubicBezTo>
                <a:lnTo>
                  <a:pt x="114300" y="298252"/>
                </a:lnTo>
                <a:cubicBezTo>
                  <a:pt x="114300" y="288131"/>
                  <a:pt x="118348" y="278487"/>
                  <a:pt x="125492" y="271343"/>
                </a:cubicBezTo>
                <a:close/>
                <a:moveTo>
                  <a:pt x="140256" y="484942"/>
                </a:moveTo>
                <a:cubicBezTo>
                  <a:pt x="138470" y="491133"/>
                  <a:pt x="135136" y="496848"/>
                  <a:pt x="130612" y="501372"/>
                </a:cubicBezTo>
                <a:lnTo>
                  <a:pt x="49292" y="582692"/>
                </a:lnTo>
                <a:cubicBezTo>
                  <a:pt x="34409" y="597575"/>
                  <a:pt x="34409" y="621744"/>
                  <a:pt x="49292" y="636627"/>
                </a:cubicBezTo>
                <a:cubicBezTo>
                  <a:pt x="64175" y="651510"/>
                  <a:pt x="88344" y="651510"/>
                  <a:pt x="103227" y="636627"/>
                </a:cubicBezTo>
                <a:lnTo>
                  <a:pt x="184547" y="555307"/>
                </a:lnTo>
                <a:cubicBezTo>
                  <a:pt x="198239" y="541615"/>
                  <a:pt x="208240" y="524589"/>
                  <a:pt x="213598" y="505897"/>
                </a:cubicBezTo>
                <a:lnTo>
                  <a:pt x="216218" y="496848"/>
                </a:lnTo>
                <a:lnTo>
                  <a:pt x="161449" y="449937"/>
                </a:lnTo>
                <a:cubicBezTo>
                  <a:pt x="158472" y="447318"/>
                  <a:pt x="155496" y="444698"/>
                  <a:pt x="152638" y="441841"/>
                </a:cubicBezTo>
                <a:lnTo>
                  <a:pt x="140256" y="484942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10261600" y="2438400"/>
            <a:ext cx="243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姿态估计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61600" y="2794000"/>
            <a:ext cx="2438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Estimation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61600" y="3200400"/>
            <a:ext cx="2438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检测人体或物体关键点（如关节），输出关键点坐标与连接关系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157200" y="1397000"/>
            <a:ext cx="23368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57200" y="1397000"/>
            <a:ext cx="23368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14020800" y="167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71619" y="228600"/>
                </a:moveTo>
                <a:lnTo>
                  <a:pt x="581025" y="228600"/>
                </a:lnTo>
                <a:cubicBezTo>
                  <a:pt x="596860" y="228600"/>
                  <a:pt x="609600" y="215860"/>
                  <a:pt x="609600" y="200025"/>
                </a:cubicBezTo>
                <a:lnTo>
                  <a:pt x="609600" y="28575"/>
                </a:lnTo>
                <a:cubicBezTo>
                  <a:pt x="609600" y="17026"/>
                  <a:pt x="602694" y="6548"/>
                  <a:pt x="591979" y="2143"/>
                </a:cubicBezTo>
                <a:cubicBezTo>
                  <a:pt x="581263" y="-2262"/>
                  <a:pt x="569000" y="238"/>
                  <a:pt x="560784" y="8334"/>
                </a:cubicBezTo>
                <a:lnTo>
                  <a:pt x="499229" y="70009"/>
                </a:lnTo>
                <a:cubicBezTo>
                  <a:pt x="446484" y="26313"/>
                  <a:pt x="378619" y="0"/>
                  <a:pt x="304800" y="0"/>
                </a:cubicBezTo>
                <a:cubicBezTo>
                  <a:pt x="151209" y="0"/>
                  <a:pt x="24170" y="113586"/>
                  <a:pt x="3096" y="261342"/>
                </a:cubicBezTo>
                <a:cubicBezTo>
                  <a:pt x="119" y="282178"/>
                  <a:pt x="14526" y="301466"/>
                  <a:pt x="35362" y="304443"/>
                </a:cubicBezTo>
                <a:cubicBezTo>
                  <a:pt x="56198" y="307419"/>
                  <a:pt x="75486" y="292894"/>
                  <a:pt x="78462" y="272177"/>
                </a:cubicBezTo>
                <a:cubicBezTo>
                  <a:pt x="94298" y="161330"/>
                  <a:pt x="189667" y="76200"/>
                  <a:pt x="304800" y="76200"/>
                </a:cubicBezTo>
                <a:cubicBezTo>
                  <a:pt x="357664" y="76200"/>
                  <a:pt x="406241" y="94059"/>
                  <a:pt x="444937" y="124182"/>
                </a:cubicBezTo>
                <a:lnTo>
                  <a:pt x="389334" y="179784"/>
                </a:lnTo>
                <a:cubicBezTo>
                  <a:pt x="381119" y="188000"/>
                  <a:pt x="378738" y="200263"/>
                  <a:pt x="383143" y="210979"/>
                </a:cubicBezTo>
                <a:cubicBezTo>
                  <a:pt x="387548" y="221694"/>
                  <a:pt x="398026" y="228600"/>
                  <a:pt x="409575" y="228600"/>
                </a:cubicBezTo>
                <a:lnTo>
                  <a:pt x="571619" y="228600"/>
                </a:lnTo>
                <a:close/>
                <a:moveTo>
                  <a:pt x="606623" y="348258"/>
                </a:moveTo>
                <a:cubicBezTo>
                  <a:pt x="609600" y="327422"/>
                  <a:pt x="595074" y="308134"/>
                  <a:pt x="574357" y="305157"/>
                </a:cubicBezTo>
                <a:cubicBezTo>
                  <a:pt x="553641" y="302181"/>
                  <a:pt x="534233" y="316706"/>
                  <a:pt x="531257" y="337423"/>
                </a:cubicBezTo>
                <a:cubicBezTo>
                  <a:pt x="515422" y="448151"/>
                  <a:pt x="420053" y="533281"/>
                  <a:pt x="304919" y="533281"/>
                </a:cubicBezTo>
                <a:cubicBezTo>
                  <a:pt x="252055" y="533281"/>
                  <a:pt x="203478" y="515422"/>
                  <a:pt x="164783" y="485299"/>
                </a:cubicBezTo>
                <a:lnTo>
                  <a:pt x="220266" y="429816"/>
                </a:lnTo>
                <a:cubicBezTo>
                  <a:pt x="228481" y="421600"/>
                  <a:pt x="230862" y="409337"/>
                  <a:pt x="226457" y="398621"/>
                </a:cubicBezTo>
                <a:cubicBezTo>
                  <a:pt x="222052" y="387906"/>
                  <a:pt x="211574" y="381000"/>
                  <a:pt x="200025" y="381000"/>
                </a:cubicBezTo>
                <a:lnTo>
                  <a:pt x="28575" y="381000"/>
                </a:lnTo>
                <a:cubicBezTo>
                  <a:pt x="12740" y="381000"/>
                  <a:pt x="0" y="393740"/>
                  <a:pt x="0" y="409575"/>
                </a:cubicBezTo>
                <a:lnTo>
                  <a:pt x="0" y="581025"/>
                </a:lnTo>
                <a:cubicBezTo>
                  <a:pt x="0" y="592574"/>
                  <a:pt x="6906" y="603052"/>
                  <a:pt x="17621" y="607457"/>
                </a:cubicBezTo>
                <a:cubicBezTo>
                  <a:pt x="28337" y="611862"/>
                  <a:pt x="40600" y="609362"/>
                  <a:pt x="48816" y="601266"/>
                </a:cubicBezTo>
                <a:lnTo>
                  <a:pt x="110490" y="539591"/>
                </a:lnTo>
                <a:cubicBezTo>
                  <a:pt x="163116" y="583287"/>
                  <a:pt x="230981" y="609600"/>
                  <a:pt x="304800" y="609600"/>
                </a:cubicBezTo>
                <a:cubicBezTo>
                  <a:pt x="458391" y="609600"/>
                  <a:pt x="585430" y="496014"/>
                  <a:pt x="606504" y="348258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13360400" y="2438400"/>
            <a:ext cx="1930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定向检测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360400" y="2794000"/>
            <a:ext cx="1930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360400" y="3200400"/>
            <a:ext cx="1930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检测旋转目标，输出带角度信息的边界框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5080000"/>
            <a:ext cx="14732000" cy="1016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1066800" y="5181600"/>
            <a:ext cx="14097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Ultralytics YOLO</a:t>
            </a: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将这五种任务统一在同一架构下：共享 Backbone + Neck，通过更换不同的 Head 即可切换任务类型，无需重新设计整个网络。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来源: </a:t>
            </a:r>
            <a:r>
              <a:rPr lang="en-US" sz="1200" u="sng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Ultralytics Tasks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762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762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发展历程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六十年从积木世界到实时感知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065000" y="1524000"/>
            <a:ext cx="3429000" cy="3429000"/>
          </a:xfrm>
          <a:prstGeom prst="rect">
            <a:avLst/>
          </a:prstGeom>
          <a:solidFill>
            <a:srgbClr val="2563EB">
              <a:alpha val="3000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早期探索：1960s—1990s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24000" y="1651000"/>
            <a:ext cx="0" cy="55880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422400" y="1778000"/>
            <a:ext cx="203200" cy="20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1651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1960s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2159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Larry Roberts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提出三维物体机器感知（积木世界）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 启动 </a:t>
            </a: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Summer Vision Project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（1966）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22400" y="3302000"/>
            <a:ext cx="203200" cy="20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905000" y="3175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1970s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05000" y="3683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David Marr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建立视觉计算理论，提出分层处理框架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1982年 Marr 发表《Vision》奠定学科基础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22400" y="4826000"/>
            <a:ext cx="203200" cy="20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905000" y="4699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1980s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05000" y="5207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Fukushima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发明 Neocognitron（CNN 雏形）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Canny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提出边缘检测算法（1986）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22400" y="6350000"/>
            <a:ext cx="203200" cy="20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905000" y="6223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1990s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05000" y="6731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SIFT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特征（Lowe, 1999）、Eigenfaces 人脸识别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分类器、Viola-Jones 人脸检测（2001）</a:t>
            </a:r>
            <a:endParaRPr lang="en-US" sz="1600" dirty="0"/>
          </a:p>
        </p:txBody>
      </p:sp>
      <p:pic>
        <p:nvPicPr>
          <p:cNvPr id="17" name="Image 0" descr="https://kimi-img.moonshot.cn/pub/slides/okc/yrlw5cdgjkvqy/mnt/agents/output/cv-course/images/5_A_1960s_Children_s_Book_about_Computers.png"/>
          <p:cNvPicPr>
            <a:picLocks noChangeAspect="1"/>
          </p:cNvPicPr>
          <p:nvPr/>
        </p:nvPicPr>
        <p:blipFill>
          <a:blip r:embed="rId3"/>
          <a:srcRect t="5621" b="5621"/>
          <a:stretch/>
        </p:blipFill>
        <p:spPr>
          <a:xfrm>
            <a:off x="8890000" y="1397000"/>
            <a:ext cx="6604000" cy="3937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890000" y="5588000"/>
            <a:ext cx="6604000" cy="165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94800" y="5740400"/>
            <a:ext cx="604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时代特征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：以</a:t>
            </a: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手工设计特征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和</a:t>
            </a: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统计学习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为主。研究者需要深入理解图像的数学属性，算法在受控环境中表现良好，但泛化能力有限。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深度学习革命：2012—2020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3556000" cy="1397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355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AlexNet 赢得 ImageNet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误差率降至 15.3%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397000"/>
            <a:ext cx="2540000" cy="1397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39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9685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VGGNet / GoogLeNet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GANs 诞生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6000" y="1397000"/>
            <a:ext cx="2540000" cy="1397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66000" y="139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6000" y="19685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ResNet 残差连接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解决梯度消失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0" y="1397000"/>
            <a:ext cx="2540000" cy="1397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0" y="139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0" y="19685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YOLOv1 发布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实时检测先驱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954000" y="1397000"/>
            <a:ext cx="2540000" cy="1397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0" y="139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54000" y="19685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Mask R-CNN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检测+分割统一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304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关键架构演进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713779"/>
              </p:ext>
            </p:extLst>
          </p:nvPr>
        </p:nvGraphicFramePr>
        <p:xfrm>
          <a:off x="762000" y="3556000"/>
          <a:ext cx="14732000" cy="25400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年份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网络</a:t>
                      </a:r>
                      <a:endParaRPr lang="en-US" sz="1600" b="0" i="0" kern="1200" dirty="0">
                        <a:solidFill>
                          <a:srgbClr val="FFFFFF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核心创新</a:t>
                      </a:r>
                      <a:endParaRPr lang="en-US" sz="1600" b="0" i="0" kern="1200" dirty="0">
                        <a:solidFill>
                          <a:srgbClr val="FFFFFF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影响</a:t>
                      </a:r>
                      <a:endParaRPr lang="en-US" sz="1600" b="0" i="0" kern="1200" dirty="0">
                        <a:solidFill>
                          <a:srgbClr val="FFFFFF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 err="1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AlexNet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dirty="0" err="1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ReLU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 + Dropout + GPU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训练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>
                          <a:solidFill>
                            <a:srgbClr val="334155"/>
                          </a:solidFill>
                          <a:effectLst/>
                          <a:latin typeface="QuattrocentoSans"/>
                          <a:ea typeface="+mn-ea"/>
                          <a:cs typeface="+mn-cs"/>
                        </a:rPr>
                        <a:t>引爆深度学习浪潮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VGG / Inception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小卷积核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(3x3) /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多尺度并行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网络深度与宽度探索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 err="1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ResNet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残差连接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Skip Connection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可训练超深网络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(1000+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层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)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Mask R-CNN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dirty="0" err="1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RoIAlign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 +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并行掩膜分支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检测与分割任务统一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62000" y="6477000"/>
            <a:ext cx="14732000" cy="1016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19"/>
          <p:cNvSpPr/>
          <p:nvPr/>
        </p:nvSpPr>
        <p:spPr>
          <a:xfrm>
            <a:off x="1066800" y="6578600"/>
            <a:ext cx="14097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核心转变</a:t>
            </a: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：GPU算力 + 大数据（ImageNet）+ 端到端训练，三者结合使手工特征时代彻底终结。CNN成为视觉任务的标准范式。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YOLO进化史：从v1到v26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14732000" cy="127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2032000"/>
            <a:ext cx="14224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270000" y="1930400"/>
            <a:ext cx="203200" cy="20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97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9000" y="22606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YOLOv1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56000" y="1930400"/>
            <a:ext cx="203200" cy="20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302000" y="1397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2017-18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75000" y="22606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v2/v3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42000" y="1930400"/>
            <a:ext cx="203200" cy="20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588000" y="1397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61000" y="22606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v4 / v5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1930400"/>
            <a:ext cx="203200" cy="20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874000" y="1397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47000" y="22606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v8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414000" y="1930400"/>
            <a:ext cx="203200" cy="20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0" y="1397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33000" y="22606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v11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0" y="1930400"/>
            <a:ext cx="203200" cy="20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2446000" y="1397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2026.1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19000" y="22606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v26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601674"/>
              </p:ext>
            </p:extLst>
          </p:nvPr>
        </p:nvGraphicFramePr>
        <p:xfrm>
          <a:off x="762000" y="3048000"/>
          <a:ext cx="14732000" cy="3556000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版本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时间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核心创新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意义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YOLOv1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单次回归：网格划分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+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同时预测框与类别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实时检测开山之作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v2/v3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2017-18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Anchor Boxes /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多尺度预测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/ DarkNet-53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精度与速度平衡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v4/v5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CSP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连接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/ Mosaic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增强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/ </a:t>
                      </a:r>
                      <a:r>
                        <a:rPr lang="en-US" altLang="zh-CN" sz="1600" b="0" i="0" dirty="0" err="1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PyTorch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生态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工程化部署成熟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Anchor-Free /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解耦头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/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多任务统一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一个模型五种任务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v11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小目标感知标签分配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/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效率优化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密集场景精度提升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v26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3415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2026.1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去除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NMS+DFL / </a:t>
                      </a:r>
                      <a:r>
                        <a:rPr lang="en-US" altLang="zh-CN" sz="1600" b="0" i="0" dirty="0" err="1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MuSGD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优化器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/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端到端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CPU</a:t>
                      </a:r>
                      <a:r>
                        <a:rPr lang="zh-CN" altLang="en-US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速度提升</a:t>
                      </a:r>
                      <a:r>
                        <a:rPr lang="en-US" altLang="zh-CN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43%</a:t>
                      </a:r>
                      <a:endParaRPr lang="en-US" dirty="0"/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62000" y="6985000"/>
            <a:ext cx="14732000" cy="762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3"/>
          <p:cNvSpPr/>
          <p:nvPr/>
        </p:nvSpPr>
        <p:spPr>
          <a:xfrm>
            <a:off x="1066800" y="7086600"/>
            <a:ext cx="1409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 已成为工业界最广泛部署的实时检测框架，其核心哲学始终未变：</a:t>
            </a: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速度快、精度高、易使用</a:t>
            </a: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2020s新趋势：大模型与多模态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625600" y="16764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视觉大模型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195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：分割一切模型，零样本泛化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DINOv2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：自监督视觉特征学习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CLIP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：图文对齐的跨模态表示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基于海量无标注数据预训练，具备强零样本能力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397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397000"/>
            <a:ext cx="4699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5940425" y="16764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28588"/>
                </a:moveTo>
                <a:cubicBezTo>
                  <a:pt x="342900" y="215384"/>
                  <a:pt x="266105" y="285750"/>
                  <a:pt x="171450" y="285750"/>
                </a:cubicBezTo>
                <a:cubicBezTo>
                  <a:pt x="147608" y="285750"/>
                  <a:pt x="124926" y="281285"/>
                  <a:pt x="104299" y="273248"/>
                </a:cubicBezTo>
                <a:lnTo>
                  <a:pt x="31433" y="311825"/>
                </a:lnTo>
                <a:cubicBezTo>
                  <a:pt x="23128" y="316200"/>
                  <a:pt x="12948" y="314682"/>
                  <a:pt x="6251" y="308074"/>
                </a:cubicBezTo>
                <a:cubicBezTo>
                  <a:pt x="-446" y="301466"/>
                  <a:pt x="-1965" y="291197"/>
                  <a:pt x="2500" y="282893"/>
                </a:cubicBezTo>
                <a:lnTo>
                  <a:pt x="34290" y="222885"/>
                </a:lnTo>
                <a:cubicBezTo>
                  <a:pt x="12769" y="196632"/>
                  <a:pt x="0" y="163949"/>
                  <a:pt x="0" y="128588"/>
                </a:cubicBezTo>
                <a:cubicBezTo>
                  <a:pt x="0" y="41791"/>
                  <a:pt x="76795" y="-28575"/>
                  <a:pt x="171450" y="-28575"/>
                </a:cubicBezTo>
                <a:cubicBezTo>
                  <a:pt x="266105" y="-28575"/>
                  <a:pt x="342900" y="41791"/>
                  <a:pt x="342900" y="128588"/>
                </a:cubicBezTo>
                <a:close/>
                <a:moveTo>
                  <a:pt x="342900" y="457200"/>
                </a:moveTo>
                <a:cubicBezTo>
                  <a:pt x="258872" y="457200"/>
                  <a:pt x="188952" y="401747"/>
                  <a:pt x="174308" y="328613"/>
                </a:cubicBezTo>
                <a:cubicBezTo>
                  <a:pt x="281464" y="327273"/>
                  <a:pt x="374600" y="251014"/>
                  <a:pt x="384870" y="147608"/>
                </a:cubicBezTo>
                <a:cubicBezTo>
                  <a:pt x="459254" y="164753"/>
                  <a:pt x="514350" y="226457"/>
                  <a:pt x="514350" y="300038"/>
                </a:cubicBezTo>
                <a:cubicBezTo>
                  <a:pt x="514350" y="335399"/>
                  <a:pt x="501581" y="368082"/>
                  <a:pt x="480060" y="394335"/>
                </a:cubicBezTo>
                <a:lnTo>
                  <a:pt x="511850" y="454342"/>
                </a:lnTo>
                <a:cubicBezTo>
                  <a:pt x="516225" y="462647"/>
                  <a:pt x="514707" y="472827"/>
                  <a:pt x="508099" y="479524"/>
                </a:cubicBezTo>
                <a:cubicBezTo>
                  <a:pt x="501491" y="486221"/>
                  <a:pt x="491222" y="487740"/>
                  <a:pt x="482917" y="483275"/>
                </a:cubicBezTo>
                <a:lnTo>
                  <a:pt x="410051" y="444698"/>
                </a:lnTo>
                <a:cubicBezTo>
                  <a:pt x="389424" y="452735"/>
                  <a:pt x="366742" y="457200"/>
                  <a:pt x="342900" y="45720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578600" y="16764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多模态融合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9000" y="2286000"/>
            <a:ext cx="4191000" cy="195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GPT-4V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：视觉-语言联合推理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BLIP-2 / LLaVA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：开源多模态对话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实现图文互理解、视觉问答、图像描述生成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打破单一模态局限，向通用感知迈进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1397000"/>
            <a:ext cx="4826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00" y="1397000"/>
            <a:ext cx="482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220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1531600" y="1676400"/>
            <a:ext cx="368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神经渲染与3D生成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22000" y="2286000"/>
            <a:ext cx="4318000" cy="195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NeRF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：神经辐射场，从2D到3D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Gaussian Splatting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：实时3D渲染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重新定义三维重建与视图合成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推动数字孪生、AR/VR内容创作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82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工程落地的关键约束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334000"/>
            <a:ext cx="4699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000" y="5435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效率优化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量化、剪枝、蒸馏、神经架构搜索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5334000"/>
            <a:ext cx="4699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9000" y="5435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边缘部署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低功耗芯片、端侧推理、模型轻量化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5334000"/>
            <a:ext cx="4826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22000" y="5435600"/>
            <a:ext cx="4318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伦理安全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隐私保护、算法偏见、可解释性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762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889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Ultralytics YOLO 实践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一个框架，五种任务，无限应用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335000" y="1270000"/>
            <a:ext cx="2032000" cy="2032000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Ultralytics YOLO 任务全景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126221"/>
              </p:ext>
            </p:extLst>
          </p:nvPr>
        </p:nvGraphicFramePr>
        <p:xfrm>
          <a:off x="762000" y="1397000"/>
          <a:ext cx="14732000" cy="4572001"/>
        </p:xfrm>
        <a:graphic>
          <a:graphicData uri="http://schemas.openxmlformats.org/drawingml/2006/table">
            <a:tbl>
              <a:tblPr/>
              <a:tblGrid>
                <a:gridCol w="206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15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任务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输出形式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描述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i="0" dirty="0">
                          <a:solidFill>
                            <a:srgbClr val="FFFFFF"/>
                          </a:solidFill>
                          <a:effectLst/>
                          <a:latin typeface="QuattrocentoSans"/>
                        </a:rPr>
                        <a:t>典型应用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7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Detection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kern="1200" dirty="0">
                          <a:solidFill>
                            <a:srgbClr val="334155"/>
                          </a:solidFill>
                          <a:effectLst/>
                          <a:latin typeface="QuattrocentoSans"/>
                          <a:ea typeface="+mn-ea"/>
                          <a:cs typeface="+mn-cs"/>
                        </a:rPr>
                        <a:t>边界框 </a:t>
                      </a:r>
                      <a:r>
                        <a:rPr lang="en-US" altLang="zh-CN" sz="1600" b="0" i="0" kern="1200" dirty="0">
                          <a:solidFill>
                            <a:srgbClr val="334155"/>
                          </a:solidFill>
                          <a:effectLst/>
                          <a:latin typeface="QuattrocentoSans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1600" b="0" i="0" kern="1200" dirty="0">
                          <a:solidFill>
                            <a:srgbClr val="334155"/>
                          </a:solidFill>
                          <a:effectLst/>
                          <a:latin typeface="QuattrocentoSans"/>
                          <a:ea typeface="+mn-ea"/>
                          <a:cs typeface="+mn-cs"/>
                        </a:rPr>
                        <a:t>类别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识别物体并用矩形框定位，输出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(</a:t>
                      </a:r>
                      <a:r>
                        <a:rPr lang="en-US" altLang="zh-CN" sz="1600" b="0" i="0" dirty="0" err="1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x,y,w,h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)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与置信度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安防、自动驾驶、工业质检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57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Segmentation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像素级掩膜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精确划分物体像素区域，输出与物体形状一致的掩膜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医疗影像、遥感、自动驾驶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57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Classification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类别概率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判断整张图像所属类别，输出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Top-K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概率分布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电商、内容审核、搜索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57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17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个关键点坐标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检测人体关节关键点（鼻、眼、肩、肘、腕、髋、膝、踝）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健身、体育分析、人机交互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57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OBB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带角度边界框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检测旋转目标，输出 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(</a:t>
                      </a:r>
                      <a:r>
                        <a:rPr lang="en-US" altLang="zh-CN" sz="1600" b="0" i="0" dirty="0" err="1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x,y,w,h,θ</a:t>
                      </a:r>
                      <a:r>
                        <a:rPr lang="en-US" altLang="zh-CN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) </a:t>
                      </a:r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五参数框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dirty="0">
                          <a:solidFill>
                            <a:srgbClr val="334155"/>
                          </a:solidFill>
                          <a:effectLst/>
                          <a:latin typeface="QuattrocentoSans"/>
                        </a:rPr>
                        <a:t>卫星影像、文档分析、工业</a:t>
                      </a:r>
                      <a:endParaRPr lang="en-US" sz="1600" b="0" i="0" kern="1200" dirty="0">
                        <a:solidFill>
                          <a:srgbClr val="334155"/>
                        </a:solidFill>
                        <a:effectLst/>
                        <a:latin typeface="QuattrocentoSans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350000"/>
            <a:ext cx="14732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6477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 API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66800" y="6858000"/>
            <a:ext cx="14097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ultralytics </a:t>
            </a:r>
            <a:r>
              <a:rPr lang="en-US" sz="16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YOLO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= YOLO(</a:t>
            </a: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‘yolo26n.pt’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</a:t>
            </a: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</a:t>
            </a:r>
            <a:r>
              <a:rPr lang="en-US" altLang="zh-CN" sz="1600" dirty="0" err="1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切换</a:t>
            </a:r>
            <a:r>
              <a:rPr lang="zh-CN" alt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不同后缀的</a:t>
            </a:r>
            <a:r>
              <a:rPr lang="en-US" altLang="zh-CN" sz="1600" dirty="0" err="1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模型</a:t>
            </a:r>
            <a:r>
              <a:rPr lang="zh-CN" alt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</a:t>
            </a:r>
            <a:r>
              <a:rPr lang="en-US" altLang="zh-CN" sz="1600" dirty="0" err="1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即可更换任务：detect</a:t>
            </a:r>
            <a:r>
              <a:rPr lang="en-US" altLang="zh-CN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segment, classify, pose, </a:t>
            </a:r>
            <a:r>
              <a:rPr lang="en-US" altLang="zh-CN" sz="1600" dirty="0" err="1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obb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= model.predict(source=</a:t>
            </a: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'image.jpg'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实验Demo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 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1999" y="1905000"/>
            <a:ext cx="8015178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5200" y="20574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057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4800" y="1905000"/>
            <a:ext cx="63411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选择任务类型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：Detection / Segmentation / Classification / Pose / OBB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1999" y="2794000"/>
            <a:ext cx="8015177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200" y="29464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2946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74800" y="2794000"/>
            <a:ext cx="63411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选择输入源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：本地上传 / 实时摄像头 / 预置开源数据样本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683000"/>
            <a:ext cx="8015176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5200" y="38354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3835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74800" y="3683000"/>
            <a:ext cx="63411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实时推理</a:t>
            </a:r>
            <a:r>
              <a:rPr lang="en-US" sz="16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：前端调用模型，可视化输出结果与性能指标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953000"/>
            <a:ext cx="14732000" cy="1016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5054600"/>
            <a:ext cx="14097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演示地址</a:t>
            </a: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：课程配套交互式 Demo 已部署至线上环境，支持五种视觉任务的实时体验。访问方式与操作指引详见课程资源页。</a:t>
            </a:r>
            <a:endParaRPr lang="en-US" sz="1600" dirty="0"/>
          </a:p>
        </p:txBody>
      </p:sp>
      <p:pic>
        <p:nvPicPr>
          <p:cNvPr id="19" name="Image 0" descr="https://kimi-img.moonshot.cn/pub/slides/okc/yrlw5cdgjkvqy/mnt/agents/output/cv-course/images/4_GitHub_Tinny_Robot_Live_Object_Detection.png"/>
          <p:cNvPicPr>
            <a:picLocks noChangeAspect="1"/>
          </p:cNvPicPr>
          <p:nvPr/>
        </p:nvPicPr>
        <p:blipFill>
          <a:blip r:embed="rId3"/>
          <a:srcRect t="709" b="709"/>
          <a:stretch/>
        </p:blipFill>
        <p:spPr>
          <a:xfrm>
            <a:off x="762000" y="6350000"/>
            <a:ext cx="6858000" cy="1905000"/>
          </a:xfrm>
          <a:prstGeom prst="rect">
            <a:avLst/>
          </a:prstGeom>
        </p:spPr>
      </p:pic>
      <p:pic>
        <p:nvPicPr>
          <p:cNvPr id="20" name="Image 1" descr="https://kimi-img.moonshot.cn/pub/slides/okc/yrlw5cdgjkvqy/mnt/agents/output/cv-course/images/3_Importance_of_Bounding_Box_Annotation.png"/>
          <p:cNvPicPr>
            <a:picLocks noChangeAspect="1"/>
          </p:cNvPicPr>
          <p:nvPr/>
        </p:nvPicPr>
        <p:blipFill>
          <a:blip r:embed="rId4"/>
          <a:srcRect t="27500" b="27500"/>
          <a:stretch/>
        </p:blipFill>
        <p:spPr>
          <a:xfrm>
            <a:off x="7874000" y="6350000"/>
            <a:ext cx="7620000" cy="19050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540000"/>
            <a:ext cx="762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探索视觉的边界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4064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计算机视觉的本质，是让机器从像素中重建对世界的理解。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 Larry Roberts 的积木世界到 YOLO26 的毫秒级感知，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六十年进化从未停歇。下一步，由你定义。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6096000"/>
            <a:ext cx="1524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635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2026.4.25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335000" y="1270000"/>
            <a:ext cx="2032000" cy="2032000"/>
          </a:xfrm>
          <a:prstGeom prst="rect">
            <a:avLst/>
          </a:prstGeom>
          <a:solidFill>
            <a:srgbClr val="2563EB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700000" y="2032000"/>
            <a:ext cx="1016000" cy="1016000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1123</Words>
  <Application>Microsoft Office PowerPoint</Application>
  <PresentationFormat>自定义</PresentationFormat>
  <Paragraphs>316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Arial</vt:lpstr>
      <vt:lpstr>Liter</vt:lpstr>
      <vt:lpstr>Quattrocento Sans</vt:lpstr>
      <vt:lpstr>QuattrocentoSans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计算机视觉：从感知到理解</dc:title>
  <dc:subject>计算机视觉：从感知到理解</dc:subject>
  <dc:creator>Kimi</dc:creator>
  <cp:lastModifiedBy>c x</cp:lastModifiedBy>
  <cp:revision>3</cp:revision>
  <dcterms:created xsi:type="dcterms:W3CDTF">2026-04-25T17:00:10Z</dcterms:created>
  <dcterms:modified xsi:type="dcterms:W3CDTF">2026-04-25T17:24:48Z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计算机视觉：从感知到理解","ContentProducer":"001191110108MACG2KBH8F10000","ProduceID":"19dc58ce-ff02-8833-8000-00007133acc1","ReservedCode1":"","ContentPropagator":"001191110108MACG2KBH8F20000","PropagateID":"19dc58ce-ff02-8833-8000-00007133acc1","ReservedCode2":""}</vt:lpwstr>
  </property>
</Properties>
</file>