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418" r:id="rId3"/>
    <p:sldId id="419" r:id="rId5"/>
    <p:sldId id="430" r:id="rId6"/>
    <p:sldId id="420" r:id="rId7"/>
    <p:sldId id="421" r:id="rId8"/>
    <p:sldId id="422" r:id="rId9"/>
    <p:sldId id="423" r:id="rId10"/>
    <p:sldId id="424" r:id="rId11"/>
    <p:sldId id="425" r:id="rId12"/>
    <p:sldId id="426" r:id="rId13"/>
    <p:sldId id="427" r:id="rId14"/>
    <p:sldId id="428" r:id="rId15"/>
    <p:sldId id="42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BC587FA-B598-1D4D-A21D-B821C9D68D9B}">
          <p14:sldIdLst>
            <p14:sldId id="418"/>
          </p14:sldIdLst>
        </p14:section>
        <p14:section name="14.1Hough直线检测" id="{4EC1357A-FC0F-5643-9143-29B7F706EDC6}">
          <p14:sldIdLst>
            <p14:sldId id="419"/>
            <p14:sldId id="430"/>
            <p14:sldId id="420"/>
            <p14:sldId id="421"/>
            <p14:sldId id="422"/>
          </p14:sldIdLst>
        </p14:section>
        <p14:section name="14.2Hough圆检测——标准方法" id="{93BC0731-E968-C641-8799-63C9486F13B5}">
          <p14:sldIdLst>
            <p14:sldId id="423"/>
            <p14:sldId id="424"/>
            <p14:sldId id="425"/>
            <p14:sldId id="426"/>
            <p14:sldId id="427"/>
          </p14:sldIdLst>
        </p14:section>
        <p14:section name="14.3Hough圆检测——梯度法" id="{2310ADB1-16FD-C043-9103-C61C1AC13978}">
          <p14:sldIdLst>
            <p14:sldId id="428"/>
            <p14:sldId id="42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3"/>
  </p:normalViewPr>
  <p:slideViewPr>
    <p:cSldViewPr snapToGrid="0">
      <p:cViewPr>
        <p:scale>
          <a:sx n="144" d="100"/>
          <a:sy n="144" d="100"/>
        </p:scale>
        <p:origin x="4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https://docs.opencv.ac.cn/4.11.0/d9/db0/tutorial_hough_lines.html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4EBE0-BAB5-664E-9EB2-236D922AE1A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6425A-39B3-BD4A-B449-A6918810A07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39" y="1"/>
            <a:ext cx="12179199" cy="6853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557" y="6344"/>
            <a:ext cx="12176281" cy="6851656"/>
            <a:chOff x="3047" y="0"/>
            <a:chExt cx="1218755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" y="0"/>
              <a:ext cx="12187428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3106" y="134638"/>
            <a:ext cx="2927293" cy="935372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95" spc="295" dirty="0"/>
              <a:t>第</a:t>
            </a:r>
            <a:r>
              <a:rPr sz="5995" spc="415" dirty="0"/>
              <a:t>14</a:t>
            </a:r>
            <a:r>
              <a:rPr sz="5995" spc="909" dirty="0"/>
              <a:t>章</a:t>
            </a:r>
            <a:endParaRPr sz="5995" dirty="0"/>
          </a:p>
        </p:txBody>
      </p:sp>
      <p:sp>
        <p:nvSpPr>
          <p:cNvPr id="8" name="object 8"/>
          <p:cNvSpPr txBox="1"/>
          <p:nvPr/>
        </p:nvSpPr>
        <p:spPr>
          <a:xfrm>
            <a:off x="3545408" y="132542"/>
            <a:ext cx="3588872" cy="93956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995" spc="943" dirty="0">
                <a:latin typeface="PMingLiU"/>
                <a:cs typeface="PMingLiU"/>
              </a:rPr>
              <a:t>霍夫变换</a:t>
            </a:r>
            <a:endParaRPr sz="5995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8180" y="1845310"/>
            <a:ext cx="6784975" cy="2225040"/>
          </a:xfrm>
          <a:prstGeom prst="rect">
            <a:avLst/>
          </a:prstGeom>
        </p:spPr>
        <p:txBody>
          <a:bodyPr vert="horz" wrap="square" lIns="0" tIns="255667" rIns="0" bIns="0" rtlCol="0">
            <a:spAutoFit/>
          </a:bodyPr>
          <a:lstStyle/>
          <a:p>
            <a:pPr marL="1169670" lvl="1" indent="-1156970">
              <a:spcBef>
                <a:spcPts val="2010"/>
              </a:spcBef>
              <a:buAutoNum type="arabicPeriod"/>
              <a:tabLst>
                <a:tab pos="1169670" algn="l"/>
              </a:tabLst>
            </a:pPr>
            <a:r>
              <a:rPr sz="3195" dirty="0">
                <a:latin typeface="PMingLiU"/>
                <a:cs typeface="PMingLiU"/>
              </a:rPr>
              <a:t>Hough</a:t>
            </a:r>
            <a:r>
              <a:rPr sz="3195" spc="-15" dirty="0">
                <a:latin typeface="PMingLiU"/>
                <a:cs typeface="PMingLiU"/>
              </a:rPr>
              <a:t>直线检测</a:t>
            </a:r>
            <a:endParaRPr sz="3195">
              <a:latin typeface="PMingLiU"/>
              <a:cs typeface="PMingLiU"/>
            </a:endParaRPr>
          </a:p>
          <a:p>
            <a:pPr marL="1233170" lvl="1" indent="-1220470">
              <a:spcBef>
                <a:spcPts val="1920"/>
              </a:spcBef>
              <a:buAutoNum type="arabicPeriod"/>
              <a:tabLst>
                <a:tab pos="1233170" algn="l"/>
              </a:tabLst>
            </a:pPr>
            <a:r>
              <a:rPr sz="3195" dirty="0">
                <a:latin typeface="PMingLiU"/>
                <a:cs typeface="PMingLiU"/>
              </a:rPr>
              <a:t>Hough</a:t>
            </a:r>
            <a:r>
              <a:rPr sz="3195" spc="-10" dirty="0">
                <a:latin typeface="PMingLiU"/>
                <a:cs typeface="PMingLiU"/>
              </a:rPr>
              <a:t>圆检测——标准方法</a:t>
            </a:r>
            <a:endParaRPr sz="3195">
              <a:latin typeface="PMingLiU"/>
              <a:cs typeface="PMingLiU"/>
            </a:endParaRPr>
          </a:p>
          <a:p>
            <a:pPr marL="1225550" lvl="1" indent="-1212850">
              <a:spcBef>
                <a:spcPts val="1920"/>
              </a:spcBef>
              <a:buAutoNum type="arabicPeriod"/>
              <a:tabLst>
                <a:tab pos="1225550" algn="l"/>
              </a:tabLst>
            </a:pPr>
            <a:r>
              <a:rPr sz="3195" dirty="0">
                <a:latin typeface="PMingLiU"/>
                <a:cs typeface="PMingLiU"/>
              </a:rPr>
              <a:t>Hough</a:t>
            </a:r>
            <a:r>
              <a:rPr sz="3195" spc="-5" dirty="0">
                <a:latin typeface="PMingLiU"/>
                <a:cs typeface="PMingLiU"/>
              </a:rPr>
              <a:t>圆检测——梯度法</a:t>
            </a:r>
            <a:endParaRPr sz="3195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9863" y="5580699"/>
            <a:ext cx="6294642" cy="756854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R="5080" algn="r">
              <a:spcBef>
                <a:spcPts val="100"/>
              </a:spcBef>
            </a:pPr>
            <a:r>
              <a:rPr sz="2400" spc="310" dirty="0">
                <a:solidFill>
                  <a:srgbClr val="00AF50"/>
                </a:solidFill>
                <a:latin typeface="PMingLiU"/>
                <a:cs typeface="PMingLiU"/>
              </a:rPr>
              <a:t>看上去是几何问题，实际上是函数问题。</a:t>
            </a:r>
            <a:endParaRPr sz="2400">
              <a:latin typeface="PMingLiU"/>
              <a:cs typeface="PMingLiU"/>
            </a:endParaRPr>
          </a:p>
          <a:p>
            <a:pPr marR="92075" algn="r">
              <a:spcBef>
                <a:spcPts val="5"/>
              </a:spcBef>
            </a:pPr>
            <a:r>
              <a:rPr sz="2400" spc="185" dirty="0">
                <a:solidFill>
                  <a:srgbClr val="00AF50"/>
                </a:solidFill>
                <a:latin typeface="PMingLiU"/>
                <a:cs typeface="PMingLiU"/>
              </a:rPr>
              <a:t>——《嫌疑人</a:t>
            </a:r>
            <a:r>
              <a:rPr sz="2400" spc="-10" dirty="0">
                <a:solidFill>
                  <a:srgbClr val="00AF50"/>
                </a:solidFill>
                <a:latin typeface="PMingLiU"/>
                <a:cs typeface="PMingLiU"/>
              </a:rPr>
              <a:t>X</a:t>
            </a:r>
            <a:r>
              <a:rPr sz="2400" spc="200" dirty="0">
                <a:solidFill>
                  <a:srgbClr val="00AF50"/>
                </a:solidFill>
                <a:latin typeface="PMingLiU"/>
                <a:cs typeface="PMingLiU"/>
              </a:rPr>
              <a:t>的献身》</a:t>
            </a:r>
            <a:endParaRPr sz="24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714" y="298151"/>
            <a:ext cx="4674402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5885" algn="l"/>
              </a:tabLst>
            </a:pPr>
            <a:r>
              <a:rPr lang="en-GB" sz="2795" spc="114"/>
              <a:t>14.1</a:t>
            </a:r>
            <a:r>
              <a:rPr lang="en-GB" sz="2795"/>
              <a:t>	Hough</a:t>
            </a:r>
            <a:r>
              <a:rPr lang="zh-CN" altLang="en-US" sz="2795" spc="-40"/>
              <a:t>直线检测</a:t>
            </a:r>
            <a:endParaRPr lang="zh-CN" altLang="en-US" sz="2795" dirty="0"/>
          </a:p>
        </p:txBody>
      </p:sp>
      <p:pic>
        <p:nvPicPr>
          <p:cNvPr id="1026" name="Picture 2" descr="高中数学：三角函数公式汇总及推导-CSDN博客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76"/>
          <a:stretch>
            <a:fillRect/>
          </a:stretch>
        </p:blipFill>
        <p:spPr bwMode="auto">
          <a:xfrm>
            <a:off x="1971940" y="1235676"/>
            <a:ext cx="8248120" cy="481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714" y="298151"/>
            <a:ext cx="4674402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5885" algn="l"/>
              </a:tabLst>
            </a:pPr>
            <a:r>
              <a:rPr sz="2795" spc="114" dirty="0"/>
              <a:t>14.1</a:t>
            </a:r>
            <a:r>
              <a:rPr sz="2795" dirty="0"/>
              <a:t>	Hough</a:t>
            </a:r>
            <a:r>
              <a:rPr sz="2795" spc="-40" dirty="0"/>
              <a:t>直线检测</a:t>
            </a:r>
            <a:endParaRPr sz="2795" dirty="0"/>
          </a:p>
        </p:txBody>
      </p:sp>
      <p:grpSp>
        <p:nvGrpSpPr>
          <p:cNvPr id="3" name="object 3"/>
          <p:cNvGrpSpPr/>
          <p:nvPr/>
        </p:nvGrpSpPr>
        <p:grpSpPr>
          <a:xfrm>
            <a:off x="1351610" y="1706822"/>
            <a:ext cx="7299550" cy="5038505"/>
            <a:chOff x="1347216" y="1708403"/>
            <a:chExt cx="7306309" cy="504317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75460" y="1708403"/>
              <a:ext cx="2912364" cy="24658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7216" y="4174234"/>
              <a:ext cx="3471672" cy="25770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0112" y="3025139"/>
              <a:ext cx="2423160" cy="5867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6163" y="3681983"/>
              <a:ext cx="1074420" cy="5791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0112" y="4386071"/>
              <a:ext cx="1684019" cy="2590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7260" y="5463539"/>
              <a:ext cx="1554480" cy="10363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6416" y="1038483"/>
            <a:ext cx="9933632" cy="173829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Hough</a:t>
            </a:r>
            <a:r>
              <a:rPr sz="1800" spc="-15" dirty="0">
                <a:latin typeface="宋体"/>
                <a:cs typeface="宋体"/>
              </a:rPr>
              <a:t>直线检测把直角坐标系中的直线检测转换成极坐标系中的点检测。</a:t>
            </a:r>
            <a:endParaRPr sz="1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 dirty="0">
              <a:latin typeface="宋体"/>
              <a:cs typeface="宋体"/>
            </a:endParaRPr>
          </a:p>
          <a:p>
            <a:pPr>
              <a:spcBef>
                <a:spcPts val="240"/>
              </a:spcBef>
            </a:pPr>
            <a:endParaRPr sz="1800" dirty="0">
              <a:latin typeface="宋体"/>
              <a:cs typeface="宋体"/>
            </a:endParaRPr>
          </a:p>
          <a:p>
            <a:pPr marL="4093210" marR="5080" algn="just"/>
            <a:r>
              <a:rPr sz="1800" spc="30" dirty="0">
                <a:latin typeface="宋体"/>
                <a:cs typeface="宋体"/>
              </a:rPr>
              <a:t>任意给一个定点 </a:t>
            </a:r>
            <a:r>
              <a:rPr sz="1800" spc="10" dirty="0">
                <a:latin typeface="Cambria Math"/>
                <a:cs typeface="Cambria Math"/>
              </a:rPr>
              <a:t>𝐴(𝑥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𝑦</a:t>
            </a:r>
            <a:r>
              <a:rPr lang="zh-CN" altLang="en-US" sz="1800" spc="-520" dirty="0">
                <a:latin typeface="Cambria Math"/>
                <a:cs typeface="Cambria Math"/>
              </a:rPr>
              <a:t> </a:t>
            </a:r>
            <a:r>
              <a:rPr lang="en-US" altLang="zh-CN" sz="1800" spc="-520" dirty="0">
                <a:latin typeface="Cambria Math"/>
                <a:cs typeface="Cambria Math"/>
              </a:rPr>
              <a:t>)</a:t>
            </a:r>
            <a:r>
              <a:rPr lang="zh-CN" altLang="en-US" sz="1800" spc="-520" dirty="0">
                <a:latin typeface="Cambria Math"/>
                <a:cs typeface="Cambria Math"/>
              </a:rPr>
              <a:t>  </a:t>
            </a:r>
            <a:r>
              <a:rPr sz="1800" spc="30" dirty="0" err="1">
                <a:latin typeface="宋体"/>
                <a:cs typeface="宋体"/>
              </a:rPr>
              <a:t>过该点有无穷多条直线，随着</a:t>
            </a:r>
            <a:r>
              <a:rPr sz="1800" spc="-20" dirty="0" err="1">
                <a:latin typeface="宋体"/>
                <a:cs typeface="宋体"/>
              </a:rPr>
              <a:t>直线的变化，根据原点到这些直线的距离</a:t>
            </a:r>
            <a:r>
              <a:rPr sz="1800" spc="-20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ρ</a:t>
            </a:r>
            <a:r>
              <a:rPr sz="1800" spc="-140" dirty="0">
                <a:latin typeface="宋体"/>
                <a:cs typeface="宋体"/>
              </a:rPr>
              <a:t> 和其与 </a:t>
            </a:r>
            <a:r>
              <a:rPr sz="1800" spc="5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宋体"/>
                <a:cs typeface="宋体"/>
              </a:rPr>
              <a:t>轴的</a:t>
            </a:r>
            <a:r>
              <a:rPr sz="1800" spc="195" dirty="0">
                <a:latin typeface="宋体"/>
                <a:cs typeface="宋体"/>
              </a:rPr>
              <a:t>夹角</a:t>
            </a:r>
            <a:r>
              <a:rPr sz="1800" dirty="0">
                <a:latin typeface="宋体"/>
                <a:cs typeface="宋体"/>
              </a:rPr>
              <a:t>θ</a:t>
            </a:r>
            <a:r>
              <a:rPr sz="1800" spc="-55" dirty="0">
                <a:latin typeface="宋体"/>
                <a:cs typeface="宋体"/>
              </a:rPr>
              <a:t> ，可以得到一条曲线。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7116" y="4825214"/>
            <a:ext cx="5735724" cy="57350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在直角坐标系中，如果多个点都在同一条直线上，那么它们在极坐标系中都有一个共同的交点。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55070" y="5432188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</a:t>
            </a:r>
            <a:r>
              <a:rPr kumimoji="1" lang="en-US" altLang="zh-CN" dirty="0"/>
              <a:t>x=1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y=2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555070" y="5791498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</a:t>
            </a:r>
            <a:r>
              <a:rPr kumimoji="1" lang="en-US" altLang="zh-CN" dirty="0"/>
              <a:t>x=0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y=1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555070" y="6160830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</a:t>
            </a:r>
            <a:r>
              <a:rPr kumimoji="1" lang="en-US" altLang="zh-CN" dirty="0"/>
              <a:t>x=-1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y=0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713" y="298151"/>
            <a:ext cx="5270765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5885" algn="l"/>
              </a:tabLst>
            </a:pPr>
            <a:r>
              <a:rPr sz="2795" spc="114" dirty="0"/>
              <a:t>14.1</a:t>
            </a:r>
            <a:r>
              <a:rPr sz="2795" dirty="0"/>
              <a:t>	Hough</a:t>
            </a:r>
            <a:r>
              <a:rPr sz="2795" spc="-40" dirty="0"/>
              <a:t>直线检测</a:t>
            </a:r>
            <a:endParaRPr sz="2795" dirty="0"/>
          </a:p>
        </p:txBody>
      </p:sp>
      <p:sp>
        <p:nvSpPr>
          <p:cNvPr id="3" name="object 3"/>
          <p:cNvSpPr/>
          <p:nvPr/>
        </p:nvSpPr>
        <p:spPr>
          <a:xfrm>
            <a:off x="6193953" y="3115219"/>
            <a:ext cx="3326224" cy="1584128"/>
          </a:xfrm>
          <a:custGeom>
            <a:avLst/>
            <a:gdLst/>
            <a:ahLst/>
            <a:cxnLst/>
            <a:rect l="l" t="t" r="r" b="b"/>
            <a:pathLst>
              <a:path w="3329304" h="1585595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2090"/>
                </a:lnTo>
                <a:lnTo>
                  <a:pt x="49784" y="21209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  <a:path w="3329304" h="1585595">
                <a:moveTo>
                  <a:pt x="1261999" y="0"/>
                </a:moveTo>
                <a:lnTo>
                  <a:pt x="1212215" y="0"/>
                </a:lnTo>
                <a:lnTo>
                  <a:pt x="1212215" y="8890"/>
                </a:lnTo>
                <a:lnTo>
                  <a:pt x="1243584" y="8890"/>
                </a:lnTo>
                <a:lnTo>
                  <a:pt x="1243584" y="204470"/>
                </a:lnTo>
                <a:lnTo>
                  <a:pt x="1212215" y="204470"/>
                </a:lnTo>
                <a:lnTo>
                  <a:pt x="1212215" y="212090"/>
                </a:lnTo>
                <a:lnTo>
                  <a:pt x="1261999" y="212090"/>
                </a:lnTo>
                <a:lnTo>
                  <a:pt x="1261999" y="204470"/>
                </a:lnTo>
                <a:lnTo>
                  <a:pt x="1261999" y="8890"/>
                </a:lnTo>
                <a:lnTo>
                  <a:pt x="1261999" y="0"/>
                </a:lnTo>
                <a:close/>
              </a:path>
              <a:path w="3329304" h="1585595">
                <a:moveTo>
                  <a:pt x="2916555" y="1382014"/>
                </a:moveTo>
                <a:lnTo>
                  <a:pt x="2913634" y="1373378"/>
                </a:lnTo>
                <a:lnTo>
                  <a:pt x="2898267" y="1378915"/>
                </a:lnTo>
                <a:lnTo>
                  <a:pt x="2884779" y="1386928"/>
                </a:lnTo>
                <a:lnTo>
                  <a:pt x="2855874" y="1425473"/>
                </a:lnTo>
                <a:lnTo>
                  <a:pt x="2846133" y="1478153"/>
                </a:lnTo>
                <a:lnTo>
                  <a:pt x="2846070" y="1479296"/>
                </a:lnTo>
                <a:lnTo>
                  <a:pt x="2847048" y="1496822"/>
                </a:lnTo>
                <a:lnTo>
                  <a:pt x="2863469" y="1548130"/>
                </a:lnTo>
                <a:lnTo>
                  <a:pt x="2898203" y="1579562"/>
                </a:lnTo>
                <a:lnTo>
                  <a:pt x="2913634" y="1585087"/>
                </a:lnTo>
                <a:lnTo>
                  <a:pt x="2916301" y="1576578"/>
                </a:lnTo>
                <a:lnTo>
                  <a:pt x="2904198" y="1571180"/>
                </a:lnTo>
                <a:lnTo>
                  <a:pt x="2893784" y="1563712"/>
                </a:lnTo>
                <a:lnTo>
                  <a:pt x="2872435" y="1529029"/>
                </a:lnTo>
                <a:lnTo>
                  <a:pt x="2865412" y="1479296"/>
                </a:lnTo>
                <a:lnTo>
                  <a:pt x="2865374" y="1478153"/>
                </a:lnTo>
                <a:lnTo>
                  <a:pt x="2866148" y="1460106"/>
                </a:lnTo>
                <a:lnTo>
                  <a:pt x="2877947" y="1415542"/>
                </a:lnTo>
                <a:lnTo>
                  <a:pt x="2904350" y="1387335"/>
                </a:lnTo>
                <a:lnTo>
                  <a:pt x="2916555" y="1382014"/>
                </a:lnTo>
                <a:close/>
              </a:path>
              <a:path w="3329304" h="1585595">
                <a:moveTo>
                  <a:pt x="3329051" y="1479296"/>
                </a:moveTo>
                <a:lnTo>
                  <a:pt x="3327958" y="1460106"/>
                </a:lnTo>
                <a:lnTo>
                  <a:pt x="3327946" y="1459865"/>
                </a:lnTo>
                <a:lnTo>
                  <a:pt x="3324669" y="1441932"/>
                </a:lnTo>
                <a:lnTo>
                  <a:pt x="3301822" y="1397444"/>
                </a:lnTo>
                <a:lnTo>
                  <a:pt x="3261487" y="1373378"/>
                </a:lnTo>
                <a:lnTo>
                  <a:pt x="3258439" y="1382014"/>
                </a:lnTo>
                <a:lnTo>
                  <a:pt x="3270694" y="1387335"/>
                </a:lnTo>
                <a:lnTo>
                  <a:pt x="3281235" y="1394688"/>
                </a:lnTo>
                <a:lnTo>
                  <a:pt x="3302647" y="1428813"/>
                </a:lnTo>
                <a:lnTo>
                  <a:pt x="3309620" y="1478153"/>
                </a:lnTo>
                <a:lnTo>
                  <a:pt x="3308845" y="1496822"/>
                </a:lnTo>
                <a:lnTo>
                  <a:pt x="3297174" y="1542542"/>
                </a:lnTo>
                <a:lnTo>
                  <a:pt x="3270859" y="1571180"/>
                </a:lnTo>
                <a:lnTo>
                  <a:pt x="3258820" y="1576578"/>
                </a:lnTo>
                <a:lnTo>
                  <a:pt x="3261487" y="1585087"/>
                </a:lnTo>
                <a:lnTo>
                  <a:pt x="3301873" y="1561084"/>
                </a:lnTo>
                <a:lnTo>
                  <a:pt x="3324669" y="1516722"/>
                </a:lnTo>
                <a:lnTo>
                  <a:pt x="3327946" y="1498752"/>
                </a:lnTo>
                <a:lnTo>
                  <a:pt x="3329051" y="1479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5471231" y="1415451"/>
            <a:ext cx="5642465" cy="385025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20" dirty="0">
                <a:latin typeface="宋体"/>
                <a:cs typeface="宋体"/>
              </a:rPr>
              <a:t>操作步骤：</a:t>
            </a:r>
            <a:endParaRPr sz="1800">
              <a:latin typeface="宋体"/>
              <a:cs typeface="宋体"/>
            </a:endParaRPr>
          </a:p>
          <a:p>
            <a:pPr marL="354965" indent="-342900">
              <a:spcBef>
                <a:spcPts val="2055"/>
              </a:spcBef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读取灰度图图 </a:t>
            </a:r>
            <a:r>
              <a:rPr sz="1800" dirty="0">
                <a:latin typeface="Cambria Math"/>
                <a:cs typeface="Cambria Math"/>
              </a:rPr>
              <a:t>𝐼</a:t>
            </a:r>
            <a:r>
              <a:rPr sz="1800" spc="80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，其边缘记作 </a:t>
            </a:r>
            <a:r>
              <a:rPr sz="1800" spc="60" dirty="0">
                <a:latin typeface="Cambria Math"/>
                <a:cs typeface="Cambria Math"/>
              </a:rPr>
              <a:t>𝐸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54965" marR="123190" indent="-342900"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设置长度分辨率 </a:t>
            </a:r>
            <a:r>
              <a:rPr sz="1800" dirty="0">
                <a:latin typeface="Cambria Math"/>
                <a:cs typeface="Cambria Math"/>
              </a:rPr>
              <a:t>𝑑𝑟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宋体"/>
                <a:cs typeface="宋体"/>
              </a:rPr>
              <a:t>和角度分辨率 </a:t>
            </a:r>
            <a:r>
              <a:rPr sz="1800" dirty="0">
                <a:latin typeface="Cambria Math"/>
                <a:cs typeface="Cambria Math"/>
              </a:rPr>
              <a:t>𝑑𝑡</a:t>
            </a:r>
            <a:r>
              <a:rPr sz="1800" spc="-10" dirty="0">
                <a:latin typeface="宋体"/>
                <a:cs typeface="宋体"/>
              </a:rPr>
              <a:t>，以及认为有</a:t>
            </a:r>
            <a:r>
              <a:rPr sz="1800" dirty="0">
                <a:latin typeface="宋体"/>
                <a:cs typeface="宋体"/>
              </a:rPr>
              <a:t>直线存在时的点数阈值 </a:t>
            </a:r>
            <a:r>
              <a:rPr sz="1800" spc="-10" dirty="0">
                <a:latin typeface="Cambria Math"/>
                <a:cs typeface="Cambria Math"/>
              </a:rPr>
              <a:t>𝑡ℎ𝑟𝑒𝑠ℎ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53695" marR="26035" indent="-341630">
              <a:lnSpc>
                <a:spcPct val="98000"/>
              </a:lnSpc>
              <a:spcBef>
                <a:spcPts val="145"/>
              </a:spcBef>
              <a:buAutoNum type="arabicPeriod"/>
              <a:tabLst>
                <a:tab pos="354965" algn="l"/>
                <a:tab pos="777875" algn="l"/>
              </a:tabLst>
            </a:pPr>
            <a:r>
              <a:rPr sz="1800" spc="-10" dirty="0">
                <a:latin typeface="宋体"/>
                <a:cs typeface="宋体"/>
              </a:rPr>
              <a:t>指定转换后的极坐标空间坐标轴的取值范围，分别</a:t>
            </a:r>
            <a:r>
              <a:rPr sz="1800" spc="-50" dirty="0">
                <a:latin typeface="宋体"/>
                <a:cs typeface="宋体"/>
              </a:rPr>
              <a:t>记	为</a:t>
            </a:r>
            <a:r>
              <a:rPr sz="1800" dirty="0">
                <a:latin typeface="宋体"/>
                <a:cs typeface="宋体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𝑟𝑚𝑖𝑛,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𝑟𝑚𝑎𝑥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[𝑡𝑚𝑖𝑛,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𝑡𝑚𝑎𝑥]</a:t>
            </a:r>
            <a:r>
              <a:rPr sz="1800" dirty="0">
                <a:latin typeface="微软雅黑"/>
                <a:cs typeface="微软雅黑"/>
              </a:rPr>
              <a:t>，</a:t>
            </a:r>
            <a:r>
              <a:rPr sz="1800" dirty="0">
                <a:latin typeface="宋体"/>
                <a:cs typeface="宋体"/>
              </a:rPr>
              <a:t>将转换后的二维</a:t>
            </a:r>
            <a:r>
              <a:rPr sz="1800" spc="-50" dirty="0">
                <a:latin typeface="宋体"/>
                <a:cs typeface="宋体"/>
              </a:rPr>
              <a:t>空	</a:t>
            </a:r>
            <a:r>
              <a:rPr sz="1800" dirty="0">
                <a:latin typeface="宋体"/>
                <a:cs typeface="宋体"/>
              </a:rPr>
              <a:t>间划分为多个 </a:t>
            </a:r>
            <a:r>
              <a:rPr sz="1800" spc="-10" dirty="0">
                <a:latin typeface="Cambria Math"/>
                <a:cs typeface="Cambria Math"/>
              </a:rPr>
              <a:t>𝑏𝑖𝑛</a:t>
            </a:r>
            <a:r>
              <a:rPr sz="1800" spc="-10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设置计数器 </a:t>
            </a:r>
            <a:r>
              <a:rPr sz="1800" dirty="0">
                <a:latin typeface="Cambria Math"/>
                <a:cs typeface="Cambria Math"/>
              </a:rPr>
              <a:t>𝑁(𝑟,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spc="-340" dirty="0">
                <a:latin typeface="Cambria Math"/>
                <a:cs typeface="Cambria Math"/>
              </a:rPr>
              <a:t>𝜃ሻ</a:t>
            </a:r>
            <a:r>
              <a:rPr sz="1800" spc="-340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用于计</a:t>
            </a:r>
            <a:r>
              <a:rPr sz="1800" spc="-50" dirty="0">
                <a:latin typeface="宋体"/>
                <a:cs typeface="宋体"/>
              </a:rPr>
              <a:t>数	</a:t>
            </a:r>
            <a:r>
              <a:rPr sz="1800" dirty="0">
                <a:latin typeface="宋体"/>
                <a:cs typeface="宋体"/>
              </a:rPr>
              <a:t>落入</a:t>
            </a:r>
            <a:r>
              <a:rPr sz="1800" spc="10" dirty="0">
                <a:latin typeface="宋体"/>
                <a:cs typeface="宋体"/>
              </a:rPr>
              <a:t> </a:t>
            </a:r>
            <a:r>
              <a:rPr sz="1800" dirty="0">
                <a:latin typeface="Cambria Math"/>
                <a:cs typeface="Cambria Math"/>
              </a:rPr>
              <a:t>𝑏𝑖𝑛</a:t>
            </a:r>
            <a:r>
              <a:rPr sz="1800" dirty="0">
                <a:latin typeface="宋体"/>
                <a:cs typeface="宋体"/>
              </a:rPr>
              <a:t>中的像素点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54965" marR="5080" indent="-342900">
              <a:buAutoNum type="arabicPeriod"/>
              <a:tabLst>
                <a:tab pos="354965" algn="l"/>
                <a:tab pos="4184650" algn="l"/>
              </a:tabLst>
            </a:pPr>
            <a:r>
              <a:rPr sz="1800" dirty="0">
                <a:latin typeface="宋体"/>
                <a:cs typeface="宋体"/>
              </a:rPr>
              <a:t>对边缘图像 </a:t>
            </a:r>
            <a:r>
              <a:rPr sz="1800" dirty="0">
                <a:latin typeface="Cambria Math"/>
                <a:cs typeface="Cambria Math"/>
              </a:rPr>
              <a:t>𝐸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dirty="0">
                <a:latin typeface="宋体"/>
                <a:cs typeface="宋体"/>
              </a:rPr>
              <a:t>的每个边缘点，其坐标记为 </a:t>
            </a:r>
            <a:r>
              <a:rPr sz="1800" dirty="0">
                <a:latin typeface="Cambria Math"/>
                <a:cs typeface="Cambria Math"/>
              </a:rPr>
              <a:t>(𝑥,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370" dirty="0">
                <a:latin typeface="Cambria Math"/>
                <a:cs typeface="Cambria Math"/>
              </a:rPr>
              <a:t>𝑦ሻ</a:t>
            </a:r>
            <a:r>
              <a:rPr sz="1800" spc="-370" dirty="0">
                <a:latin typeface="宋体"/>
                <a:cs typeface="宋体"/>
              </a:rPr>
              <a:t>，</a:t>
            </a:r>
            <a:r>
              <a:rPr sz="1800" spc="-10" dirty="0">
                <a:latin typeface="宋体"/>
                <a:cs typeface="宋体"/>
              </a:rPr>
              <a:t>计</a:t>
            </a:r>
            <a:r>
              <a:rPr sz="1800" dirty="0">
                <a:latin typeface="宋体"/>
                <a:cs typeface="宋体"/>
              </a:rPr>
              <a:t>算</a:t>
            </a:r>
            <a:r>
              <a:rPr sz="1800" spc="-25" dirty="0">
                <a:latin typeface="宋体"/>
                <a:cs typeface="宋体"/>
              </a:rPr>
              <a:t>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 𝑥𝑐𝑜𝑠𝜃 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𝑦𝑠𝑖𝑛𝜃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宋体"/>
                <a:cs typeface="宋体"/>
              </a:rPr>
              <a:t>对应的曲线在极坐标空间</a:t>
            </a:r>
            <a:r>
              <a:rPr sz="1800" spc="-50" dirty="0">
                <a:latin typeface="宋体"/>
                <a:cs typeface="宋体"/>
              </a:rPr>
              <a:t>所</a:t>
            </a:r>
            <a:r>
              <a:rPr sz="1800" dirty="0">
                <a:latin typeface="宋体"/>
                <a:cs typeface="宋体"/>
              </a:rPr>
              <a:t>经过的点，所经过的点对应</a:t>
            </a:r>
            <a:r>
              <a:rPr sz="1800" spc="400" dirty="0">
                <a:latin typeface="宋体"/>
                <a:cs typeface="宋体"/>
              </a:rPr>
              <a:t>的</a:t>
            </a:r>
            <a:r>
              <a:rPr sz="1800" dirty="0">
                <a:latin typeface="Cambria Math"/>
                <a:cs typeface="Cambria Math"/>
              </a:rPr>
              <a:t>𝑁</a:t>
            </a:r>
            <a:r>
              <a:rPr sz="1800" spc="4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𝑟,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宋体"/>
                <a:cs typeface="宋体"/>
              </a:rPr>
              <a:t>加 </a:t>
            </a:r>
            <a:r>
              <a:rPr sz="1800" spc="-15" dirty="0">
                <a:latin typeface="Cambria Math"/>
                <a:cs typeface="Cambria Math"/>
              </a:rPr>
              <a:t>1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54965" marR="69850" indent="-342900"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如果某个 </a:t>
            </a:r>
            <a:r>
              <a:rPr sz="1800" dirty="0">
                <a:latin typeface="Cambria Math"/>
                <a:cs typeface="Cambria Math"/>
              </a:rPr>
              <a:t>𝑏𝑖𝑛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宋体"/>
                <a:cs typeface="宋体"/>
              </a:rPr>
              <a:t>的点数超过阈值 </a:t>
            </a:r>
            <a:r>
              <a:rPr sz="1800" dirty="0">
                <a:latin typeface="Cambria Math"/>
                <a:cs typeface="Cambria Math"/>
              </a:rPr>
              <a:t>𝑡ℎ𝑟𝑒𝑠</a:t>
            </a:r>
            <a:r>
              <a:rPr sz="1800" spc="250" dirty="0">
                <a:latin typeface="Cambria Math"/>
                <a:cs typeface="Cambria Math"/>
              </a:rPr>
              <a:t>ℎ </a:t>
            </a:r>
            <a:r>
              <a:rPr sz="1800" spc="-10" dirty="0">
                <a:latin typeface="宋体"/>
                <a:cs typeface="宋体"/>
              </a:rPr>
              <a:t>，则认为存</a:t>
            </a:r>
            <a:r>
              <a:rPr sz="1800" dirty="0">
                <a:latin typeface="宋体"/>
                <a:cs typeface="宋体"/>
              </a:rPr>
              <a:t>在对应的直线，取出 </a:t>
            </a:r>
            <a:r>
              <a:rPr sz="1800" dirty="0">
                <a:latin typeface="Cambria Math"/>
                <a:cs typeface="Cambria Math"/>
              </a:rPr>
              <a:t>(𝑟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340" dirty="0">
                <a:latin typeface="Cambria Math"/>
                <a:cs typeface="Cambria Math"/>
              </a:rPr>
              <a:t>𝜃ሻ</a:t>
            </a:r>
            <a:r>
              <a:rPr sz="1800" spc="-50" dirty="0">
                <a:latin typeface="宋体"/>
                <a:cs typeface="宋体"/>
              </a:rPr>
              <a:t>，求出对应的直线方程。</a:t>
            </a:r>
            <a:endParaRPr sz="18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80097" y="1565222"/>
            <a:ext cx="3806475" cy="4839299"/>
            <a:chOff x="975360" y="1566671"/>
            <a:chExt cx="3810000" cy="4843780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5360" y="1566671"/>
              <a:ext cx="3810000" cy="1905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180" y="3672839"/>
              <a:ext cx="3686555" cy="27371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1648" y="3493329"/>
            <a:ext cx="2509736" cy="2034561"/>
          </a:xfrm>
          <a:custGeom>
            <a:avLst/>
            <a:gdLst/>
            <a:ahLst/>
            <a:cxnLst/>
            <a:rect l="l" t="t" r="r" b="b"/>
            <a:pathLst>
              <a:path w="2512060" h="2036445">
                <a:moveTo>
                  <a:pt x="7733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0200"/>
                </a:lnTo>
                <a:lnTo>
                  <a:pt x="77330" y="330200"/>
                </a:lnTo>
                <a:lnTo>
                  <a:pt x="77330" y="317500"/>
                </a:lnTo>
                <a:lnTo>
                  <a:pt x="28778" y="317500"/>
                </a:lnTo>
                <a:lnTo>
                  <a:pt x="28778" y="12700"/>
                </a:lnTo>
                <a:lnTo>
                  <a:pt x="77330" y="12700"/>
                </a:lnTo>
                <a:lnTo>
                  <a:pt x="77330" y="0"/>
                </a:lnTo>
                <a:close/>
              </a:path>
              <a:path w="2512060" h="2036445">
                <a:moveTo>
                  <a:pt x="1869147" y="1720596"/>
                </a:moveTo>
                <a:lnTo>
                  <a:pt x="1864448" y="1707261"/>
                </a:lnTo>
                <a:lnTo>
                  <a:pt x="1840585" y="1715884"/>
                </a:lnTo>
                <a:lnTo>
                  <a:pt x="1819656" y="1728381"/>
                </a:lnTo>
                <a:lnTo>
                  <a:pt x="1786597" y="1764919"/>
                </a:lnTo>
                <a:lnTo>
                  <a:pt x="1766303" y="1813814"/>
                </a:lnTo>
                <a:lnTo>
                  <a:pt x="1759635" y="1870075"/>
                </a:lnTo>
                <a:lnTo>
                  <a:pt x="1759546" y="1871853"/>
                </a:lnTo>
                <a:lnTo>
                  <a:pt x="1761236" y="1902053"/>
                </a:lnTo>
                <a:lnTo>
                  <a:pt x="1774761" y="1955482"/>
                </a:lnTo>
                <a:lnTo>
                  <a:pt x="1801596" y="1998840"/>
                </a:lnTo>
                <a:lnTo>
                  <a:pt x="1840509" y="2027605"/>
                </a:lnTo>
                <a:lnTo>
                  <a:pt x="1864448" y="2036191"/>
                </a:lnTo>
                <a:lnTo>
                  <a:pt x="1868512" y="2022856"/>
                </a:lnTo>
                <a:lnTo>
                  <a:pt x="1849793" y="2014550"/>
                </a:lnTo>
                <a:lnTo>
                  <a:pt x="1833651" y="2002980"/>
                </a:lnTo>
                <a:lnTo>
                  <a:pt x="1809076" y="1970151"/>
                </a:lnTo>
                <a:lnTo>
                  <a:pt x="1794383" y="1925447"/>
                </a:lnTo>
                <a:lnTo>
                  <a:pt x="1789582" y="1871853"/>
                </a:lnTo>
                <a:lnTo>
                  <a:pt x="1789518" y="1870075"/>
                </a:lnTo>
                <a:lnTo>
                  <a:pt x="1790725" y="1842058"/>
                </a:lnTo>
                <a:lnTo>
                  <a:pt x="1800491" y="1793392"/>
                </a:lnTo>
                <a:lnTo>
                  <a:pt x="1820113" y="1754962"/>
                </a:lnTo>
                <a:lnTo>
                  <a:pt x="1850161" y="1728863"/>
                </a:lnTo>
                <a:lnTo>
                  <a:pt x="1869147" y="1720596"/>
                </a:lnTo>
                <a:close/>
              </a:path>
              <a:path w="2512060" h="2036445">
                <a:moveTo>
                  <a:pt x="1959444" y="0"/>
                </a:moveTo>
                <a:lnTo>
                  <a:pt x="1882101" y="0"/>
                </a:lnTo>
                <a:lnTo>
                  <a:pt x="1882101" y="12700"/>
                </a:lnTo>
                <a:lnTo>
                  <a:pt x="1930615" y="12700"/>
                </a:lnTo>
                <a:lnTo>
                  <a:pt x="1930615" y="317500"/>
                </a:lnTo>
                <a:lnTo>
                  <a:pt x="1882101" y="317500"/>
                </a:lnTo>
                <a:lnTo>
                  <a:pt x="1882101" y="330200"/>
                </a:lnTo>
                <a:lnTo>
                  <a:pt x="1959444" y="330200"/>
                </a:lnTo>
                <a:lnTo>
                  <a:pt x="1959444" y="317500"/>
                </a:lnTo>
                <a:lnTo>
                  <a:pt x="1959444" y="12700"/>
                </a:lnTo>
                <a:lnTo>
                  <a:pt x="1959444" y="0"/>
                </a:lnTo>
                <a:close/>
              </a:path>
              <a:path w="2512060" h="2036445">
                <a:moveTo>
                  <a:pt x="2512022" y="1871853"/>
                </a:moveTo>
                <a:lnTo>
                  <a:pt x="2510320" y="1842058"/>
                </a:lnTo>
                <a:lnTo>
                  <a:pt x="2510307" y="1841690"/>
                </a:lnTo>
                <a:lnTo>
                  <a:pt x="2505189" y="1813814"/>
                </a:lnTo>
                <a:lnTo>
                  <a:pt x="2484844" y="1764919"/>
                </a:lnTo>
                <a:lnTo>
                  <a:pt x="2451887" y="1728381"/>
                </a:lnTo>
                <a:lnTo>
                  <a:pt x="2407120" y="1707261"/>
                </a:lnTo>
                <a:lnTo>
                  <a:pt x="2402421" y="1720596"/>
                </a:lnTo>
                <a:lnTo>
                  <a:pt x="2421471" y="1728863"/>
                </a:lnTo>
                <a:lnTo>
                  <a:pt x="2437854" y="1740319"/>
                </a:lnTo>
                <a:lnTo>
                  <a:pt x="2462619" y="1772793"/>
                </a:lnTo>
                <a:lnTo>
                  <a:pt x="2477185" y="1816481"/>
                </a:lnTo>
                <a:lnTo>
                  <a:pt x="2482050" y="1870075"/>
                </a:lnTo>
                <a:lnTo>
                  <a:pt x="2480805" y="1899107"/>
                </a:lnTo>
                <a:lnTo>
                  <a:pt x="2471001" y="1949132"/>
                </a:lnTo>
                <a:lnTo>
                  <a:pt x="2451468" y="1988185"/>
                </a:lnTo>
                <a:lnTo>
                  <a:pt x="2421661" y="2014550"/>
                </a:lnTo>
                <a:lnTo>
                  <a:pt x="2402929" y="2022856"/>
                </a:lnTo>
                <a:lnTo>
                  <a:pt x="2407120" y="2036191"/>
                </a:lnTo>
                <a:lnTo>
                  <a:pt x="2451951" y="2015147"/>
                </a:lnTo>
                <a:lnTo>
                  <a:pt x="2484971" y="1978660"/>
                </a:lnTo>
                <a:lnTo>
                  <a:pt x="2505252" y="1929930"/>
                </a:lnTo>
                <a:lnTo>
                  <a:pt x="2510320" y="1902053"/>
                </a:lnTo>
                <a:lnTo>
                  <a:pt x="2512022" y="1871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502715" y="155964"/>
            <a:ext cx="11149801" cy="6309472"/>
          </a:xfrm>
          <a:prstGeom prst="rect">
            <a:avLst/>
          </a:prstGeom>
        </p:spPr>
        <p:txBody>
          <a:bodyPr vert="horz" wrap="square" lIns="0" tIns="149721" rIns="0" bIns="0" rtlCol="0">
            <a:spAutoFit/>
          </a:bodyPr>
          <a:lstStyle/>
          <a:p>
            <a:pPr marL="12700" lvl="1">
              <a:spcBef>
                <a:spcPts val="95"/>
              </a:spcBef>
              <a:tabLst>
                <a:tab pos="1365885" algn="l"/>
              </a:tabLst>
            </a:pPr>
            <a:r>
              <a:rPr sz="2795" spc="114" dirty="0">
                <a:latin typeface="+mj-lt"/>
                <a:ea typeface="+mj-ea"/>
                <a:cs typeface="+mj-cs"/>
              </a:rPr>
              <a:t>Hough直线检测</a:t>
            </a:r>
            <a:endParaRPr sz="2795" spc="114" dirty="0">
              <a:latin typeface="+mj-lt"/>
              <a:ea typeface="+mj-ea"/>
              <a:cs typeface="+mj-cs"/>
            </a:endParaRPr>
          </a:p>
          <a:p>
            <a:pPr marL="306705">
              <a:spcBef>
                <a:spcPts val="1080"/>
              </a:spcBef>
            </a:pPr>
            <a:r>
              <a:rPr sz="2795" spc="-40" dirty="0">
                <a:latin typeface="宋体"/>
                <a:cs typeface="宋体"/>
              </a:rPr>
              <a:t>操作步骤：</a:t>
            </a:r>
            <a:endParaRPr sz="2795" dirty="0">
              <a:latin typeface="宋体"/>
              <a:cs typeface="宋体"/>
            </a:endParaRPr>
          </a:p>
          <a:p>
            <a:pPr marL="660400" lvl="2" indent="-354965">
              <a:spcBef>
                <a:spcPts val="3175"/>
              </a:spcBef>
              <a:buSzPct val="96000"/>
              <a:buAutoNum type="arabicPeriod"/>
              <a:tabLst>
                <a:tab pos="660400" algn="l"/>
                <a:tab pos="3293745" algn="l"/>
              </a:tabLst>
            </a:pPr>
            <a:r>
              <a:rPr sz="2795" spc="-35" dirty="0">
                <a:latin typeface="宋体"/>
                <a:cs typeface="宋体"/>
              </a:rPr>
              <a:t>读取灰度图</a:t>
            </a:r>
            <a:r>
              <a:rPr sz="2795" dirty="0">
                <a:latin typeface="宋体"/>
                <a:cs typeface="宋体"/>
              </a:rPr>
              <a:t>图</a:t>
            </a:r>
            <a:r>
              <a:rPr sz="2795" spc="20" dirty="0">
                <a:latin typeface="宋体"/>
                <a:cs typeface="宋体"/>
              </a:rPr>
              <a:t> </a:t>
            </a:r>
            <a:r>
              <a:rPr sz="2795" spc="-50" dirty="0">
                <a:latin typeface="Cambria Math"/>
                <a:cs typeface="Cambria Math"/>
              </a:rPr>
              <a:t>𝐼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spc="-35" dirty="0">
                <a:latin typeface="宋体"/>
                <a:cs typeface="宋体"/>
              </a:rPr>
              <a:t>，其边缘记</a:t>
            </a:r>
            <a:r>
              <a:rPr sz="2795" dirty="0">
                <a:latin typeface="宋体"/>
                <a:cs typeface="宋体"/>
              </a:rPr>
              <a:t>作</a:t>
            </a:r>
            <a:r>
              <a:rPr sz="2795" spc="20" dirty="0">
                <a:latin typeface="宋体"/>
                <a:cs typeface="宋体"/>
              </a:rPr>
              <a:t> </a:t>
            </a:r>
            <a:r>
              <a:rPr sz="2795" spc="90" dirty="0">
                <a:latin typeface="Cambria Math"/>
                <a:cs typeface="Cambria Math"/>
              </a:rPr>
              <a:t>𝐸</a:t>
            </a:r>
            <a:r>
              <a:rPr sz="2795" spc="-50" dirty="0">
                <a:latin typeface="宋体"/>
                <a:cs typeface="宋体"/>
              </a:rPr>
              <a:t>。</a:t>
            </a:r>
            <a:endParaRPr sz="2795" dirty="0">
              <a:latin typeface="宋体"/>
              <a:cs typeface="宋体"/>
            </a:endParaRPr>
          </a:p>
          <a:p>
            <a:pPr marL="648970" marR="687070" lvl="2" indent="-344170">
              <a:buSzPct val="96000"/>
              <a:buAutoNum type="arabicPeriod"/>
              <a:tabLst>
                <a:tab pos="648970" algn="l"/>
                <a:tab pos="660400" algn="l"/>
                <a:tab pos="3888105" algn="l"/>
              </a:tabLst>
            </a:pPr>
            <a:r>
              <a:rPr sz="2795" dirty="0">
                <a:latin typeface="宋体"/>
                <a:cs typeface="宋体"/>
              </a:rPr>
              <a:t>	</a:t>
            </a:r>
            <a:r>
              <a:rPr sz="2795" spc="-35" dirty="0">
                <a:latin typeface="宋体"/>
                <a:cs typeface="宋体"/>
              </a:rPr>
              <a:t>设置长度分辨</a:t>
            </a:r>
            <a:r>
              <a:rPr sz="2795" dirty="0">
                <a:latin typeface="宋体"/>
                <a:cs typeface="宋体"/>
              </a:rPr>
              <a:t>率</a:t>
            </a:r>
            <a:r>
              <a:rPr sz="2795" spc="35" dirty="0">
                <a:latin typeface="宋体"/>
                <a:cs typeface="宋体"/>
              </a:rPr>
              <a:t> </a:t>
            </a:r>
            <a:r>
              <a:rPr sz="2795" spc="-25" dirty="0">
                <a:latin typeface="Cambria Math"/>
                <a:cs typeface="Cambria Math"/>
              </a:rPr>
              <a:t>𝑑𝑟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spc="-35" dirty="0">
                <a:latin typeface="宋体"/>
                <a:cs typeface="宋体"/>
              </a:rPr>
              <a:t>和角度分辨</a:t>
            </a:r>
            <a:r>
              <a:rPr sz="2795" dirty="0">
                <a:latin typeface="宋体"/>
                <a:cs typeface="宋体"/>
              </a:rPr>
              <a:t>率 </a:t>
            </a:r>
            <a:r>
              <a:rPr sz="2795" dirty="0">
                <a:latin typeface="Cambria Math"/>
                <a:cs typeface="Cambria Math"/>
              </a:rPr>
              <a:t>𝑑𝑡</a:t>
            </a:r>
            <a:r>
              <a:rPr sz="2795" dirty="0">
                <a:latin typeface="宋体"/>
                <a:cs typeface="宋体"/>
              </a:rPr>
              <a:t>，</a:t>
            </a:r>
            <a:r>
              <a:rPr sz="2795" spc="-35" dirty="0">
                <a:latin typeface="宋体"/>
                <a:cs typeface="宋体"/>
              </a:rPr>
              <a:t>以及认为有直线存在</a:t>
            </a:r>
            <a:r>
              <a:rPr sz="2795" spc="-50" dirty="0">
                <a:latin typeface="宋体"/>
                <a:cs typeface="宋体"/>
              </a:rPr>
              <a:t>时</a:t>
            </a:r>
            <a:r>
              <a:rPr sz="2795" spc="-35" dirty="0">
                <a:latin typeface="宋体"/>
                <a:cs typeface="宋体"/>
              </a:rPr>
              <a:t>的点数阈</a:t>
            </a:r>
            <a:r>
              <a:rPr sz="2795" dirty="0">
                <a:latin typeface="宋体"/>
                <a:cs typeface="宋体"/>
              </a:rPr>
              <a:t>值</a:t>
            </a:r>
            <a:r>
              <a:rPr sz="2795" spc="35" dirty="0">
                <a:latin typeface="宋体"/>
                <a:cs typeface="宋体"/>
              </a:rPr>
              <a:t> </a:t>
            </a:r>
            <a:r>
              <a:rPr sz="2795" dirty="0">
                <a:latin typeface="Cambria Math"/>
                <a:cs typeface="Cambria Math"/>
              </a:rPr>
              <a:t>𝑡ℎ𝑟𝑒𝑠ℎ</a:t>
            </a:r>
            <a:r>
              <a:rPr sz="2795" spc="-50" dirty="0">
                <a:latin typeface="宋体"/>
                <a:cs typeface="宋体"/>
              </a:rPr>
              <a:t>。</a:t>
            </a:r>
            <a:endParaRPr sz="2795" dirty="0">
              <a:latin typeface="宋体"/>
              <a:cs typeface="宋体"/>
            </a:endParaRPr>
          </a:p>
          <a:p>
            <a:pPr marL="660400" lvl="2" indent="-354965">
              <a:lnSpc>
                <a:spcPts val="3265"/>
              </a:lnSpc>
              <a:spcBef>
                <a:spcPts val="185"/>
              </a:spcBef>
              <a:buSzPct val="96000"/>
              <a:buAutoNum type="arabicPeriod"/>
              <a:tabLst>
                <a:tab pos="660400" algn="l"/>
              </a:tabLst>
            </a:pPr>
            <a:r>
              <a:rPr sz="2795" spc="-40" dirty="0">
                <a:latin typeface="宋体"/>
                <a:cs typeface="宋体"/>
              </a:rPr>
              <a:t>指定转换后的极坐标空间坐标轴的取值范围，分别记为</a:t>
            </a:r>
            <a:endParaRPr sz="2795" dirty="0">
              <a:latin typeface="宋体"/>
              <a:cs typeface="宋体"/>
            </a:endParaRPr>
          </a:p>
          <a:p>
            <a:pPr marL="774065">
              <a:lnSpc>
                <a:spcPts val="3265"/>
              </a:lnSpc>
              <a:tabLst>
                <a:tab pos="2686685" algn="l"/>
              </a:tabLst>
            </a:pPr>
            <a:r>
              <a:rPr sz="2795" spc="-10" dirty="0">
                <a:latin typeface="Cambria Math"/>
                <a:cs typeface="Cambria Math"/>
              </a:rPr>
              <a:t>𝑟𝑚𝑖𝑛</a:t>
            </a:r>
            <a:r>
              <a:rPr sz="2795" spc="-65" dirty="0">
                <a:latin typeface="Cambria Math"/>
                <a:cs typeface="Cambria Math"/>
              </a:rPr>
              <a:t>, </a:t>
            </a:r>
            <a:r>
              <a:rPr sz="2795" spc="-20" dirty="0">
                <a:latin typeface="Cambria Math"/>
                <a:cs typeface="Cambria Math"/>
              </a:rPr>
              <a:t>𝑟𝑚𝑎𝑥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spc="-30" dirty="0">
                <a:latin typeface="Cambria Math"/>
                <a:cs typeface="Cambria Math"/>
              </a:rPr>
              <a:t>, [</a:t>
            </a:r>
            <a:r>
              <a:rPr sz="2795" spc="-10" dirty="0">
                <a:latin typeface="Cambria Math"/>
                <a:cs typeface="Cambria Math"/>
              </a:rPr>
              <a:t>𝑡𝑚𝑖𝑛</a:t>
            </a:r>
            <a:r>
              <a:rPr sz="2795" spc="-35" dirty="0">
                <a:latin typeface="Cambria Math"/>
                <a:cs typeface="Cambria Math"/>
              </a:rPr>
              <a:t>, </a:t>
            </a:r>
            <a:r>
              <a:rPr sz="2795" spc="-10" dirty="0">
                <a:latin typeface="Cambria Math"/>
                <a:cs typeface="Cambria Math"/>
              </a:rPr>
              <a:t>𝑡𝑚𝑎𝑥]</a:t>
            </a:r>
            <a:r>
              <a:rPr sz="2795" spc="-10" dirty="0">
                <a:latin typeface="微软雅黑"/>
                <a:cs typeface="微软雅黑"/>
              </a:rPr>
              <a:t>，</a:t>
            </a:r>
            <a:r>
              <a:rPr sz="2795" spc="-40" dirty="0">
                <a:latin typeface="宋体"/>
                <a:cs typeface="宋体"/>
              </a:rPr>
              <a:t>将转换后的二维空间划分为多个</a:t>
            </a:r>
            <a:endParaRPr sz="2795" dirty="0">
              <a:latin typeface="宋体"/>
              <a:cs typeface="宋体"/>
            </a:endParaRPr>
          </a:p>
          <a:p>
            <a:pPr marL="648970"/>
            <a:r>
              <a:rPr sz="2795" spc="-20" dirty="0">
                <a:latin typeface="Cambria Math"/>
                <a:cs typeface="Cambria Math"/>
              </a:rPr>
              <a:t>𝑏𝑖𝑛</a:t>
            </a:r>
            <a:r>
              <a:rPr sz="2795" spc="-20" dirty="0">
                <a:latin typeface="宋体"/>
                <a:cs typeface="宋体"/>
              </a:rPr>
              <a:t>，设置计数器 </a:t>
            </a:r>
            <a:r>
              <a:rPr sz="2795" dirty="0">
                <a:latin typeface="Cambria Math"/>
                <a:cs typeface="Cambria Math"/>
              </a:rPr>
              <a:t>𝑁(𝑟</a:t>
            </a:r>
            <a:r>
              <a:rPr sz="2795" spc="-65" dirty="0">
                <a:latin typeface="Cambria Math"/>
                <a:cs typeface="Cambria Math"/>
              </a:rPr>
              <a:t>, </a:t>
            </a:r>
            <a:r>
              <a:rPr sz="2795" spc="-545" dirty="0">
                <a:latin typeface="Cambria Math"/>
                <a:cs typeface="Cambria Math"/>
              </a:rPr>
              <a:t>𝜃</a:t>
            </a:r>
            <a:r>
              <a:rPr lang="en-US" altLang="zh-CN" sz="2795" spc="-545" dirty="0">
                <a:latin typeface="Cambria Math"/>
                <a:cs typeface="Cambria Math"/>
              </a:rPr>
              <a:t>)</a:t>
            </a:r>
            <a:r>
              <a:rPr sz="2795" spc="-90" dirty="0">
                <a:latin typeface="宋体"/>
                <a:cs typeface="宋体"/>
              </a:rPr>
              <a:t>，用于计数落入 </a:t>
            </a:r>
            <a:r>
              <a:rPr sz="2795" dirty="0">
                <a:latin typeface="Cambria Math"/>
                <a:cs typeface="Cambria Math"/>
              </a:rPr>
              <a:t>𝑏𝑖𝑛</a:t>
            </a:r>
            <a:r>
              <a:rPr sz="2795" spc="-45" dirty="0">
                <a:latin typeface="宋体"/>
                <a:cs typeface="宋体"/>
              </a:rPr>
              <a:t>中的像素点。</a:t>
            </a:r>
            <a:endParaRPr sz="2795" dirty="0">
              <a:latin typeface="宋体"/>
              <a:cs typeface="宋体"/>
            </a:endParaRPr>
          </a:p>
          <a:p>
            <a:pPr marL="660400" lvl="2" indent="-354965">
              <a:buSzPct val="96000"/>
              <a:buAutoNum type="arabicPeriod" startAt="4"/>
              <a:tabLst>
                <a:tab pos="660400" algn="l"/>
                <a:tab pos="3028950" algn="l"/>
              </a:tabLst>
            </a:pPr>
            <a:r>
              <a:rPr sz="2795" spc="-35" dirty="0">
                <a:latin typeface="宋体"/>
                <a:cs typeface="宋体"/>
              </a:rPr>
              <a:t>对边缘图</a:t>
            </a:r>
            <a:r>
              <a:rPr sz="2795" dirty="0">
                <a:latin typeface="宋体"/>
                <a:cs typeface="宋体"/>
              </a:rPr>
              <a:t>像</a:t>
            </a:r>
            <a:r>
              <a:rPr sz="2795" spc="5" dirty="0">
                <a:latin typeface="宋体"/>
                <a:cs typeface="宋体"/>
              </a:rPr>
              <a:t> </a:t>
            </a:r>
            <a:r>
              <a:rPr sz="2795" spc="-50" dirty="0">
                <a:latin typeface="Cambria Math"/>
                <a:cs typeface="Cambria Math"/>
              </a:rPr>
              <a:t>𝐸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spc="-35" dirty="0">
                <a:latin typeface="宋体"/>
                <a:cs typeface="宋体"/>
              </a:rPr>
              <a:t>的每个边缘点，其坐标记</a:t>
            </a:r>
            <a:r>
              <a:rPr sz="2795" dirty="0">
                <a:latin typeface="宋体"/>
                <a:cs typeface="宋体"/>
              </a:rPr>
              <a:t>为</a:t>
            </a:r>
            <a:r>
              <a:rPr sz="2795" spc="85" dirty="0">
                <a:latin typeface="宋体"/>
                <a:cs typeface="宋体"/>
              </a:rPr>
              <a:t> </a:t>
            </a:r>
            <a:r>
              <a:rPr sz="2795" dirty="0">
                <a:latin typeface="Cambria Math"/>
                <a:cs typeface="Cambria Math"/>
              </a:rPr>
              <a:t>(𝑥,</a:t>
            </a:r>
            <a:r>
              <a:rPr sz="2795" spc="-140" dirty="0">
                <a:latin typeface="Cambria Math"/>
                <a:cs typeface="Cambria Math"/>
              </a:rPr>
              <a:t> </a:t>
            </a:r>
            <a:r>
              <a:rPr sz="2795" spc="-550" dirty="0">
                <a:latin typeface="Cambria Math"/>
                <a:cs typeface="Cambria Math"/>
              </a:rPr>
              <a:t>𝑦</a:t>
            </a:r>
            <a:r>
              <a:rPr lang="en-US" altLang="zh-CN" sz="2795" spc="-550" dirty="0">
                <a:latin typeface="Cambria Math"/>
                <a:cs typeface="Cambria Math"/>
              </a:rPr>
              <a:t>)</a:t>
            </a:r>
            <a:r>
              <a:rPr sz="2795" spc="-550" dirty="0">
                <a:latin typeface="宋体"/>
                <a:cs typeface="宋体"/>
              </a:rPr>
              <a:t>，</a:t>
            </a:r>
            <a:r>
              <a:rPr sz="2795" spc="-35" dirty="0">
                <a:latin typeface="宋体"/>
                <a:cs typeface="宋体"/>
              </a:rPr>
              <a:t>计</a:t>
            </a:r>
            <a:r>
              <a:rPr sz="2795" dirty="0">
                <a:latin typeface="宋体"/>
                <a:cs typeface="宋体"/>
              </a:rPr>
              <a:t>算</a:t>
            </a:r>
            <a:r>
              <a:rPr sz="2795" spc="30" dirty="0">
                <a:latin typeface="宋体"/>
                <a:cs typeface="宋体"/>
              </a:rPr>
              <a:t> </a:t>
            </a:r>
            <a:r>
              <a:rPr sz="2795" dirty="0">
                <a:latin typeface="Cambria Math"/>
                <a:cs typeface="Cambria Math"/>
              </a:rPr>
              <a:t>𝑟</a:t>
            </a:r>
            <a:r>
              <a:rPr sz="2795" spc="254" dirty="0">
                <a:latin typeface="Cambria Math"/>
                <a:cs typeface="Cambria Math"/>
              </a:rPr>
              <a:t> </a:t>
            </a:r>
            <a:r>
              <a:rPr sz="2795" spc="-50" dirty="0">
                <a:latin typeface="Cambria Math"/>
                <a:cs typeface="Cambria Math"/>
              </a:rPr>
              <a:t>=</a:t>
            </a:r>
            <a:endParaRPr sz="2795" dirty="0">
              <a:latin typeface="Cambria Math"/>
              <a:cs typeface="Cambria Math"/>
            </a:endParaRPr>
          </a:p>
          <a:p>
            <a:pPr marL="648970" marR="629285">
              <a:tabLst>
                <a:tab pos="2562860" algn="l"/>
                <a:tab pos="3053080" algn="l"/>
                <a:tab pos="3409950" algn="l"/>
              </a:tabLst>
            </a:pPr>
            <a:r>
              <a:rPr sz="2795" dirty="0">
                <a:latin typeface="Cambria Math"/>
                <a:cs typeface="Cambria Math"/>
              </a:rPr>
              <a:t>𝑥𝑐𝑜𝑠𝜃</a:t>
            </a:r>
            <a:r>
              <a:rPr sz="2795" spc="60" dirty="0">
                <a:latin typeface="Cambria Math"/>
                <a:cs typeface="Cambria Math"/>
              </a:rPr>
              <a:t> </a:t>
            </a:r>
            <a:r>
              <a:rPr sz="2795" dirty="0">
                <a:latin typeface="Cambria Math"/>
                <a:cs typeface="Cambria Math"/>
              </a:rPr>
              <a:t>+ </a:t>
            </a:r>
            <a:r>
              <a:rPr sz="2795" spc="-20" dirty="0">
                <a:latin typeface="Cambria Math"/>
                <a:cs typeface="Cambria Math"/>
              </a:rPr>
              <a:t>𝑦𝑠𝑖𝑛𝜃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spc="-35" dirty="0">
                <a:latin typeface="宋体"/>
                <a:cs typeface="宋体"/>
              </a:rPr>
              <a:t>对应的曲线在极坐标空间所经过的点</a:t>
            </a:r>
            <a:r>
              <a:rPr sz="2795" spc="-25" dirty="0">
                <a:latin typeface="宋体"/>
                <a:cs typeface="宋体"/>
              </a:rPr>
              <a:t>，</a:t>
            </a:r>
            <a:r>
              <a:rPr sz="2795" spc="-35" dirty="0">
                <a:latin typeface="宋体"/>
                <a:cs typeface="宋体"/>
              </a:rPr>
              <a:t>所经</a:t>
            </a:r>
            <a:r>
              <a:rPr sz="2795" spc="-25" dirty="0">
                <a:latin typeface="宋体"/>
                <a:cs typeface="宋体"/>
              </a:rPr>
              <a:t>过</a:t>
            </a:r>
            <a:r>
              <a:rPr sz="2795" spc="-50" dirty="0">
                <a:latin typeface="宋体"/>
                <a:cs typeface="宋体"/>
              </a:rPr>
              <a:t>的</a:t>
            </a:r>
            <a:r>
              <a:rPr sz="2795" spc="-35" dirty="0">
                <a:latin typeface="宋体"/>
                <a:cs typeface="宋体"/>
              </a:rPr>
              <a:t>点对应</a:t>
            </a:r>
            <a:r>
              <a:rPr sz="2795" spc="569" dirty="0">
                <a:latin typeface="宋体"/>
                <a:cs typeface="宋体"/>
              </a:rPr>
              <a:t>的</a:t>
            </a:r>
            <a:r>
              <a:rPr sz="2795" spc="-50" dirty="0">
                <a:latin typeface="Cambria Math"/>
                <a:cs typeface="Cambria Math"/>
              </a:rPr>
              <a:t>𝑁</a:t>
            </a:r>
            <a:r>
              <a:rPr sz="2795" dirty="0">
                <a:latin typeface="Cambria Math"/>
                <a:cs typeface="Cambria Math"/>
              </a:rPr>
              <a:t>	𝑟,</a:t>
            </a:r>
            <a:r>
              <a:rPr sz="2795" spc="-110" dirty="0">
                <a:latin typeface="Cambria Math"/>
                <a:cs typeface="Cambria Math"/>
              </a:rPr>
              <a:t> </a:t>
            </a:r>
            <a:r>
              <a:rPr sz="2795" spc="-50" dirty="0">
                <a:latin typeface="Cambria Math"/>
                <a:cs typeface="Cambria Math"/>
              </a:rPr>
              <a:t>𝜃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dirty="0">
                <a:latin typeface="宋体"/>
                <a:cs typeface="宋体"/>
              </a:rPr>
              <a:t>加</a:t>
            </a:r>
            <a:r>
              <a:rPr sz="2795" spc="-20" dirty="0">
                <a:latin typeface="宋体"/>
                <a:cs typeface="宋体"/>
              </a:rPr>
              <a:t> </a:t>
            </a:r>
            <a:r>
              <a:rPr sz="2795" spc="-30" dirty="0">
                <a:latin typeface="Cambria Math"/>
                <a:cs typeface="Cambria Math"/>
              </a:rPr>
              <a:t>1</a:t>
            </a:r>
            <a:r>
              <a:rPr sz="2795" spc="-50" dirty="0">
                <a:latin typeface="宋体"/>
                <a:cs typeface="宋体"/>
              </a:rPr>
              <a:t>。</a:t>
            </a:r>
            <a:endParaRPr sz="2795" dirty="0">
              <a:latin typeface="宋体"/>
              <a:cs typeface="宋体"/>
            </a:endParaRPr>
          </a:p>
          <a:p>
            <a:pPr marL="648970" marR="5080" lvl="2" indent="-344170">
              <a:spcBef>
                <a:spcPts val="5"/>
              </a:spcBef>
              <a:buSzPct val="96000"/>
              <a:buAutoNum type="arabicPeriod" startAt="5"/>
              <a:tabLst>
                <a:tab pos="648970" algn="l"/>
                <a:tab pos="660400" algn="l"/>
                <a:tab pos="2967990" algn="l"/>
                <a:tab pos="6875780" algn="l"/>
              </a:tabLst>
            </a:pPr>
            <a:r>
              <a:rPr sz="2795" dirty="0">
                <a:latin typeface="宋体"/>
                <a:cs typeface="宋体"/>
              </a:rPr>
              <a:t>	</a:t>
            </a:r>
            <a:r>
              <a:rPr sz="2795" spc="-35" dirty="0">
                <a:latin typeface="宋体"/>
                <a:cs typeface="宋体"/>
              </a:rPr>
              <a:t>如果某</a:t>
            </a:r>
            <a:r>
              <a:rPr sz="2795" dirty="0">
                <a:latin typeface="宋体"/>
                <a:cs typeface="宋体"/>
              </a:rPr>
              <a:t>个</a:t>
            </a:r>
            <a:r>
              <a:rPr sz="2795" spc="65" dirty="0">
                <a:latin typeface="宋体"/>
                <a:cs typeface="宋体"/>
              </a:rPr>
              <a:t> </a:t>
            </a:r>
            <a:r>
              <a:rPr sz="2795" spc="-25" dirty="0">
                <a:latin typeface="Cambria Math"/>
                <a:cs typeface="Cambria Math"/>
              </a:rPr>
              <a:t>𝑏𝑖𝑛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spc="-35" dirty="0">
                <a:latin typeface="宋体"/>
                <a:cs typeface="宋体"/>
              </a:rPr>
              <a:t>的点</a:t>
            </a:r>
            <a:r>
              <a:rPr sz="2795" spc="-30" dirty="0">
                <a:latin typeface="宋体"/>
                <a:cs typeface="宋体"/>
              </a:rPr>
              <a:t>数</a:t>
            </a:r>
            <a:r>
              <a:rPr sz="2795" spc="-35" dirty="0">
                <a:latin typeface="宋体"/>
                <a:cs typeface="宋体"/>
              </a:rPr>
              <a:t>超过阈</a:t>
            </a:r>
            <a:r>
              <a:rPr sz="2795" dirty="0">
                <a:latin typeface="宋体"/>
                <a:cs typeface="宋体"/>
              </a:rPr>
              <a:t>值</a:t>
            </a:r>
            <a:r>
              <a:rPr sz="2795" spc="90" dirty="0">
                <a:latin typeface="宋体"/>
                <a:cs typeface="宋体"/>
              </a:rPr>
              <a:t> </a:t>
            </a:r>
            <a:r>
              <a:rPr sz="2795" spc="-10" dirty="0">
                <a:latin typeface="Cambria Math"/>
                <a:cs typeface="Cambria Math"/>
              </a:rPr>
              <a:t>𝑡ℎ𝑟𝑒𝑠ℎ</a:t>
            </a:r>
            <a:r>
              <a:rPr sz="2795" dirty="0">
                <a:latin typeface="Cambria Math"/>
                <a:cs typeface="Cambria Math"/>
              </a:rPr>
              <a:t>	</a:t>
            </a:r>
            <a:r>
              <a:rPr sz="2795" spc="-35" dirty="0">
                <a:latin typeface="宋体"/>
                <a:cs typeface="宋体"/>
              </a:rPr>
              <a:t>，则</a:t>
            </a:r>
            <a:r>
              <a:rPr sz="2795" spc="-30" dirty="0">
                <a:latin typeface="宋体"/>
                <a:cs typeface="宋体"/>
              </a:rPr>
              <a:t>认</a:t>
            </a:r>
            <a:r>
              <a:rPr sz="2795" spc="-35" dirty="0">
                <a:latin typeface="宋体"/>
                <a:cs typeface="宋体"/>
              </a:rPr>
              <a:t>为存在</a:t>
            </a:r>
            <a:r>
              <a:rPr sz="2795" spc="-30" dirty="0">
                <a:latin typeface="宋体"/>
                <a:cs typeface="宋体"/>
              </a:rPr>
              <a:t>对</a:t>
            </a:r>
            <a:r>
              <a:rPr sz="2795" spc="-35" dirty="0">
                <a:latin typeface="宋体"/>
                <a:cs typeface="宋体"/>
              </a:rPr>
              <a:t>应的直</a:t>
            </a:r>
            <a:r>
              <a:rPr sz="2795" spc="-30" dirty="0">
                <a:latin typeface="宋体"/>
                <a:cs typeface="宋体"/>
              </a:rPr>
              <a:t>线</a:t>
            </a:r>
            <a:r>
              <a:rPr sz="2795" spc="-50" dirty="0">
                <a:latin typeface="宋体"/>
                <a:cs typeface="宋体"/>
              </a:rPr>
              <a:t>，</a:t>
            </a:r>
            <a:r>
              <a:rPr sz="2795" spc="-35" dirty="0">
                <a:latin typeface="宋体"/>
                <a:cs typeface="宋体"/>
              </a:rPr>
              <a:t>取</a:t>
            </a:r>
            <a:r>
              <a:rPr sz="2795" dirty="0">
                <a:latin typeface="宋体"/>
                <a:cs typeface="宋体"/>
              </a:rPr>
              <a:t>出</a:t>
            </a:r>
            <a:r>
              <a:rPr sz="2795" spc="65" dirty="0">
                <a:latin typeface="宋体"/>
                <a:cs typeface="宋体"/>
              </a:rPr>
              <a:t> </a:t>
            </a:r>
            <a:r>
              <a:rPr sz="2795" dirty="0">
                <a:latin typeface="Cambria Math"/>
                <a:cs typeface="Cambria Math"/>
              </a:rPr>
              <a:t>(𝑟,</a:t>
            </a:r>
            <a:r>
              <a:rPr sz="2795" spc="-125" dirty="0">
                <a:latin typeface="Cambria Math"/>
                <a:cs typeface="Cambria Math"/>
              </a:rPr>
              <a:t> </a:t>
            </a:r>
            <a:r>
              <a:rPr sz="2795" spc="-545" dirty="0">
                <a:latin typeface="Cambria Math"/>
                <a:cs typeface="Cambria Math"/>
              </a:rPr>
              <a:t>𝜃</a:t>
            </a:r>
            <a:r>
              <a:rPr lang="en-US" altLang="zh-CN" sz="2795" spc="-545" dirty="0">
                <a:latin typeface="Cambria Math"/>
                <a:cs typeface="Cambria Math"/>
              </a:rPr>
              <a:t>)</a:t>
            </a:r>
            <a:r>
              <a:rPr sz="2795" spc="-545" dirty="0">
                <a:latin typeface="宋体"/>
                <a:cs typeface="宋体"/>
              </a:rPr>
              <a:t>，</a:t>
            </a:r>
            <a:r>
              <a:rPr sz="2795" spc="-35" dirty="0">
                <a:latin typeface="宋体"/>
                <a:cs typeface="宋体"/>
              </a:rPr>
              <a:t>求出对应的直线方程</a:t>
            </a:r>
            <a:r>
              <a:rPr sz="2795" spc="-50" dirty="0">
                <a:latin typeface="宋体"/>
                <a:cs typeface="宋体"/>
              </a:rPr>
              <a:t>。</a:t>
            </a:r>
            <a:endParaRPr sz="2795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713" y="298151"/>
            <a:ext cx="4739137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5885" algn="l"/>
              </a:tabLst>
            </a:pPr>
            <a:r>
              <a:rPr sz="2795" spc="114" dirty="0"/>
              <a:t>14.1</a:t>
            </a:r>
            <a:r>
              <a:rPr sz="2795" dirty="0"/>
              <a:t>	Hough</a:t>
            </a:r>
            <a:r>
              <a:rPr sz="2795" spc="-40" dirty="0"/>
              <a:t>直线检测</a:t>
            </a:r>
            <a:endParaRPr sz="2795" dirty="0"/>
          </a:p>
        </p:txBody>
      </p:sp>
      <p:grpSp>
        <p:nvGrpSpPr>
          <p:cNvPr id="3" name="object 3"/>
          <p:cNvGrpSpPr/>
          <p:nvPr/>
        </p:nvGrpSpPr>
        <p:grpSpPr>
          <a:xfrm>
            <a:off x="980097" y="1565222"/>
            <a:ext cx="8539828" cy="4816460"/>
            <a:chOff x="975360" y="1566671"/>
            <a:chExt cx="8547735" cy="482092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1872" y="1566671"/>
              <a:ext cx="3810000" cy="190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360" y="3648455"/>
              <a:ext cx="3448812" cy="27386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94044" y="3118103"/>
              <a:ext cx="3329304" cy="1585595"/>
            </a:xfrm>
            <a:custGeom>
              <a:avLst/>
              <a:gdLst/>
              <a:ahLst/>
              <a:cxnLst/>
              <a:rect l="l" t="t" r="r" b="b"/>
              <a:pathLst>
                <a:path w="3329304" h="1585595">
                  <a:moveTo>
                    <a:pt x="49784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04470"/>
                  </a:lnTo>
                  <a:lnTo>
                    <a:pt x="0" y="212090"/>
                  </a:lnTo>
                  <a:lnTo>
                    <a:pt x="49784" y="212090"/>
                  </a:lnTo>
                  <a:lnTo>
                    <a:pt x="49784" y="204470"/>
                  </a:lnTo>
                  <a:lnTo>
                    <a:pt x="18542" y="204470"/>
                  </a:lnTo>
                  <a:lnTo>
                    <a:pt x="18542" y="8890"/>
                  </a:lnTo>
                  <a:lnTo>
                    <a:pt x="49784" y="8890"/>
                  </a:lnTo>
                  <a:lnTo>
                    <a:pt x="49784" y="0"/>
                  </a:lnTo>
                  <a:close/>
                </a:path>
                <a:path w="3329304" h="1585595">
                  <a:moveTo>
                    <a:pt x="1261999" y="0"/>
                  </a:moveTo>
                  <a:lnTo>
                    <a:pt x="1212215" y="0"/>
                  </a:lnTo>
                  <a:lnTo>
                    <a:pt x="1212215" y="8890"/>
                  </a:lnTo>
                  <a:lnTo>
                    <a:pt x="1243584" y="8890"/>
                  </a:lnTo>
                  <a:lnTo>
                    <a:pt x="1243584" y="204470"/>
                  </a:lnTo>
                  <a:lnTo>
                    <a:pt x="1212215" y="204470"/>
                  </a:lnTo>
                  <a:lnTo>
                    <a:pt x="1212215" y="212090"/>
                  </a:lnTo>
                  <a:lnTo>
                    <a:pt x="1261999" y="212090"/>
                  </a:lnTo>
                  <a:lnTo>
                    <a:pt x="1261999" y="204470"/>
                  </a:lnTo>
                  <a:lnTo>
                    <a:pt x="1261999" y="8890"/>
                  </a:lnTo>
                  <a:lnTo>
                    <a:pt x="1261999" y="0"/>
                  </a:lnTo>
                  <a:close/>
                </a:path>
                <a:path w="3329304" h="1585595">
                  <a:moveTo>
                    <a:pt x="2916555" y="1382014"/>
                  </a:moveTo>
                  <a:lnTo>
                    <a:pt x="2913634" y="1373378"/>
                  </a:lnTo>
                  <a:lnTo>
                    <a:pt x="2898267" y="1378915"/>
                  </a:lnTo>
                  <a:lnTo>
                    <a:pt x="2884779" y="1386928"/>
                  </a:lnTo>
                  <a:lnTo>
                    <a:pt x="2855874" y="1425473"/>
                  </a:lnTo>
                  <a:lnTo>
                    <a:pt x="2846133" y="1478153"/>
                  </a:lnTo>
                  <a:lnTo>
                    <a:pt x="2846070" y="1479296"/>
                  </a:lnTo>
                  <a:lnTo>
                    <a:pt x="2847048" y="1496822"/>
                  </a:lnTo>
                  <a:lnTo>
                    <a:pt x="2863469" y="1548130"/>
                  </a:lnTo>
                  <a:lnTo>
                    <a:pt x="2898203" y="1579562"/>
                  </a:lnTo>
                  <a:lnTo>
                    <a:pt x="2913634" y="1585087"/>
                  </a:lnTo>
                  <a:lnTo>
                    <a:pt x="2916301" y="1576578"/>
                  </a:lnTo>
                  <a:lnTo>
                    <a:pt x="2904198" y="1571180"/>
                  </a:lnTo>
                  <a:lnTo>
                    <a:pt x="2893784" y="1563712"/>
                  </a:lnTo>
                  <a:lnTo>
                    <a:pt x="2872435" y="1529029"/>
                  </a:lnTo>
                  <a:lnTo>
                    <a:pt x="2865412" y="1479296"/>
                  </a:lnTo>
                  <a:lnTo>
                    <a:pt x="2865374" y="1478153"/>
                  </a:lnTo>
                  <a:lnTo>
                    <a:pt x="2866148" y="1460106"/>
                  </a:lnTo>
                  <a:lnTo>
                    <a:pt x="2877947" y="1415542"/>
                  </a:lnTo>
                  <a:lnTo>
                    <a:pt x="2904350" y="1387335"/>
                  </a:lnTo>
                  <a:lnTo>
                    <a:pt x="2916555" y="1382014"/>
                  </a:lnTo>
                  <a:close/>
                </a:path>
                <a:path w="3329304" h="1585595">
                  <a:moveTo>
                    <a:pt x="3329051" y="1479296"/>
                  </a:moveTo>
                  <a:lnTo>
                    <a:pt x="3327958" y="1460106"/>
                  </a:lnTo>
                  <a:lnTo>
                    <a:pt x="3327946" y="1459865"/>
                  </a:lnTo>
                  <a:lnTo>
                    <a:pt x="3324669" y="1441932"/>
                  </a:lnTo>
                  <a:lnTo>
                    <a:pt x="3301822" y="1397444"/>
                  </a:lnTo>
                  <a:lnTo>
                    <a:pt x="3261487" y="1373378"/>
                  </a:lnTo>
                  <a:lnTo>
                    <a:pt x="3258439" y="1382014"/>
                  </a:lnTo>
                  <a:lnTo>
                    <a:pt x="3270694" y="1387335"/>
                  </a:lnTo>
                  <a:lnTo>
                    <a:pt x="3281235" y="1394688"/>
                  </a:lnTo>
                  <a:lnTo>
                    <a:pt x="3302647" y="1428813"/>
                  </a:lnTo>
                  <a:lnTo>
                    <a:pt x="3309620" y="1478153"/>
                  </a:lnTo>
                  <a:lnTo>
                    <a:pt x="3308845" y="1496822"/>
                  </a:lnTo>
                  <a:lnTo>
                    <a:pt x="3297174" y="1542542"/>
                  </a:lnTo>
                  <a:lnTo>
                    <a:pt x="3270859" y="1571180"/>
                  </a:lnTo>
                  <a:lnTo>
                    <a:pt x="3258820" y="1576578"/>
                  </a:lnTo>
                  <a:lnTo>
                    <a:pt x="3261487" y="1585087"/>
                  </a:lnTo>
                  <a:lnTo>
                    <a:pt x="3301873" y="1561084"/>
                  </a:lnTo>
                  <a:lnTo>
                    <a:pt x="3324669" y="1516722"/>
                  </a:lnTo>
                  <a:lnTo>
                    <a:pt x="3327946" y="1498752"/>
                  </a:lnTo>
                  <a:lnTo>
                    <a:pt x="3329051" y="1479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71231" y="1415451"/>
            <a:ext cx="5642465" cy="385025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20" dirty="0">
                <a:latin typeface="宋体"/>
                <a:cs typeface="宋体"/>
              </a:rPr>
              <a:t>操作步骤：</a:t>
            </a:r>
            <a:endParaRPr sz="1800" dirty="0">
              <a:latin typeface="宋体"/>
              <a:cs typeface="宋体"/>
            </a:endParaRPr>
          </a:p>
          <a:p>
            <a:pPr marL="354965" indent="-342900">
              <a:spcBef>
                <a:spcPts val="2055"/>
              </a:spcBef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读取灰度图图 </a:t>
            </a:r>
            <a:r>
              <a:rPr sz="1800" dirty="0">
                <a:latin typeface="Cambria Math"/>
                <a:cs typeface="Cambria Math"/>
              </a:rPr>
              <a:t>𝐼</a:t>
            </a:r>
            <a:r>
              <a:rPr sz="1800" spc="80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，其边缘记作 </a:t>
            </a:r>
            <a:r>
              <a:rPr sz="1800" spc="60" dirty="0">
                <a:latin typeface="Cambria Math"/>
                <a:cs typeface="Cambria Math"/>
              </a:rPr>
              <a:t>𝐸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 dirty="0">
              <a:latin typeface="宋体"/>
              <a:cs typeface="宋体"/>
            </a:endParaRPr>
          </a:p>
          <a:p>
            <a:pPr marL="354965" marR="123190" indent="-342900"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设置长度分辨率 </a:t>
            </a:r>
            <a:r>
              <a:rPr sz="1800" dirty="0">
                <a:latin typeface="Cambria Math"/>
                <a:cs typeface="Cambria Math"/>
              </a:rPr>
              <a:t>𝑑𝑟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宋体"/>
                <a:cs typeface="宋体"/>
              </a:rPr>
              <a:t>和角度分辨率 </a:t>
            </a:r>
            <a:r>
              <a:rPr sz="1800" dirty="0">
                <a:latin typeface="Cambria Math"/>
                <a:cs typeface="Cambria Math"/>
              </a:rPr>
              <a:t>𝑑𝑡</a:t>
            </a:r>
            <a:r>
              <a:rPr sz="1800" spc="-10" dirty="0">
                <a:latin typeface="宋体"/>
                <a:cs typeface="宋体"/>
              </a:rPr>
              <a:t>，以及认为有</a:t>
            </a:r>
            <a:r>
              <a:rPr sz="1800" dirty="0">
                <a:latin typeface="宋体"/>
                <a:cs typeface="宋体"/>
              </a:rPr>
              <a:t>直线存在时的点数阈值 </a:t>
            </a:r>
            <a:r>
              <a:rPr sz="1800" spc="-10" dirty="0">
                <a:latin typeface="Cambria Math"/>
                <a:cs typeface="Cambria Math"/>
              </a:rPr>
              <a:t>𝑡ℎ𝑟𝑒𝑠ℎ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 dirty="0">
              <a:latin typeface="宋体"/>
              <a:cs typeface="宋体"/>
            </a:endParaRPr>
          </a:p>
          <a:p>
            <a:pPr marL="353695" marR="26035" indent="-341630">
              <a:lnSpc>
                <a:spcPct val="98000"/>
              </a:lnSpc>
              <a:spcBef>
                <a:spcPts val="145"/>
              </a:spcBef>
              <a:buAutoNum type="arabicPeriod"/>
              <a:tabLst>
                <a:tab pos="354965" algn="l"/>
                <a:tab pos="777875" algn="l"/>
              </a:tabLst>
            </a:pPr>
            <a:r>
              <a:rPr sz="1800" spc="-10" dirty="0">
                <a:latin typeface="宋体"/>
                <a:cs typeface="宋体"/>
              </a:rPr>
              <a:t>指定转换后的极坐标空间坐标轴的取值范围，分别</a:t>
            </a:r>
            <a:r>
              <a:rPr sz="1800" spc="-50" dirty="0">
                <a:latin typeface="宋体"/>
                <a:cs typeface="宋体"/>
              </a:rPr>
              <a:t>记	为</a:t>
            </a:r>
            <a:r>
              <a:rPr sz="1800" dirty="0">
                <a:latin typeface="宋体"/>
                <a:cs typeface="宋体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𝑟𝑚𝑖𝑛,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𝑟𝑚𝑎𝑥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[𝑡𝑚𝑖𝑛,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𝑡𝑚𝑎𝑥]</a:t>
            </a:r>
            <a:r>
              <a:rPr sz="1800" dirty="0">
                <a:latin typeface="微软雅黑"/>
                <a:cs typeface="微软雅黑"/>
              </a:rPr>
              <a:t>，</a:t>
            </a:r>
            <a:r>
              <a:rPr sz="1800" dirty="0">
                <a:latin typeface="宋体"/>
                <a:cs typeface="宋体"/>
              </a:rPr>
              <a:t>将转换后的二维</a:t>
            </a:r>
            <a:r>
              <a:rPr sz="1800" spc="-50" dirty="0">
                <a:latin typeface="宋体"/>
                <a:cs typeface="宋体"/>
              </a:rPr>
              <a:t>空	</a:t>
            </a:r>
            <a:r>
              <a:rPr sz="1800" dirty="0">
                <a:latin typeface="宋体"/>
                <a:cs typeface="宋体"/>
              </a:rPr>
              <a:t>间划分为多个 </a:t>
            </a:r>
            <a:r>
              <a:rPr sz="1800" spc="-10" dirty="0">
                <a:latin typeface="Cambria Math"/>
                <a:cs typeface="Cambria Math"/>
              </a:rPr>
              <a:t>𝑏𝑖𝑛</a:t>
            </a:r>
            <a:r>
              <a:rPr sz="1800" spc="-10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设置计数器 </a:t>
            </a:r>
            <a:r>
              <a:rPr sz="1800" dirty="0">
                <a:latin typeface="Cambria Math"/>
                <a:cs typeface="Cambria Math"/>
              </a:rPr>
              <a:t>𝑁(𝑟,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spc="-340" dirty="0">
                <a:latin typeface="Cambria Math"/>
                <a:cs typeface="Cambria Math"/>
              </a:rPr>
              <a:t>𝜃</a:t>
            </a:r>
            <a:r>
              <a:rPr lang="en-US" altLang="zh-CN" sz="1800" spc="-340" dirty="0">
                <a:latin typeface="Cambria Math"/>
                <a:cs typeface="Cambria Math"/>
              </a:rPr>
              <a:t>)</a:t>
            </a:r>
            <a:r>
              <a:rPr sz="1800" spc="-340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用于计</a:t>
            </a:r>
            <a:r>
              <a:rPr sz="1800" spc="-50" dirty="0">
                <a:latin typeface="宋体"/>
                <a:cs typeface="宋体"/>
              </a:rPr>
              <a:t>数	</a:t>
            </a:r>
            <a:r>
              <a:rPr sz="1800" dirty="0">
                <a:latin typeface="宋体"/>
                <a:cs typeface="宋体"/>
              </a:rPr>
              <a:t>落入</a:t>
            </a:r>
            <a:r>
              <a:rPr sz="1800" spc="10" dirty="0">
                <a:latin typeface="宋体"/>
                <a:cs typeface="宋体"/>
              </a:rPr>
              <a:t> </a:t>
            </a:r>
            <a:r>
              <a:rPr sz="1800" dirty="0">
                <a:latin typeface="Cambria Math"/>
                <a:cs typeface="Cambria Math"/>
              </a:rPr>
              <a:t>𝑏𝑖𝑛</a:t>
            </a:r>
            <a:r>
              <a:rPr sz="1800" dirty="0">
                <a:latin typeface="宋体"/>
                <a:cs typeface="宋体"/>
              </a:rPr>
              <a:t>中的像素点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 dirty="0">
              <a:latin typeface="宋体"/>
              <a:cs typeface="宋体"/>
            </a:endParaRPr>
          </a:p>
          <a:p>
            <a:pPr marL="354965" marR="5080" indent="-342900">
              <a:buAutoNum type="arabicPeriod"/>
              <a:tabLst>
                <a:tab pos="354965" algn="l"/>
                <a:tab pos="4184650" algn="l"/>
              </a:tabLst>
            </a:pPr>
            <a:r>
              <a:rPr sz="1800" dirty="0">
                <a:latin typeface="宋体"/>
                <a:cs typeface="宋体"/>
              </a:rPr>
              <a:t>对边缘图像 </a:t>
            </a:r>
            <a:r>
              <a:rPr sz="1800" dirty="0">
                <a:latin typeface="Cambria Math"/>
                <a:cs typeface="Cambria Math"/>
              </a:rPr>
              <a:t>𝐸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dirty="0">
                <a:latin typeface="宋体"/>
                <a:cs typeface="宋体"/>
              </a:rPr>
              <a:t>的每个边缘点，其坐标记为 </a:t>
            </a:r>
            <a:r>
              <a:rPr sz="1800" dirty="0">
                <a:latin typeface="Cambria Math"/>
                <a:cs typeface="Cambria Math"/>
              </a:rPr>
              <a:t>(𝑥,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370" dirty="0">
                <a:latin typeface="Cambria Math"/>
                <a:cs typeface="Cambria Math"/>
              </a:rPr>
              <a:t>𝑦</a:t>
            </a:r>
            <a:r>
              <a:rPr lang="en-US" altLang="zh-CN" sz="1800" spc="-370" dirty="0">
                <a:latin typeface="Cambria Math"/>
                <a:cs typeface="Cambria Math"/>
              </a:rPr>
              <a:t>)</a:t>
            </a:r>
            <a:r>
              <a:rPr sz="1800" spc="-370" dirty="0">
                <a:latin typeface="宋体"/>
                <a:cs typeface="宋体"/>
              </a:rPr>
              <a:t>，</a:t>
            </a:r>
            <a:r>
              <a:rPr sz="1800" spc="-10" dirty="0">
                <a:latin typeface="宋体"/>
                <a:cs typeface="宋体"/>
              </a:rPr>
              <a:t>计</a:t>
            </a:r>
            <a:r>
              <a:rPr sz="1800" dirty="0">
                <a:latin typeface="宋体"/>
                <a:cs typeface="宋体"/>
              </a:rPr>
              <a:t>算</a:t>
            </a:r>
            <a:r>
              <a:rPr sz="1800" spc="-25" dirty="0">
                <a:latin typeface="宋体"/>
                <a:cs typeface="宋体"/>
              </a:rPr>
              <a:t>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 𝑥𝑐𝑜𝑠𝜃 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𝑦𝑠𝑖𝑛𝜃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宋体"/>
                <a:cs typeface="宋体"/>
              </a:rPr>
              <a:t>对应的曲线在极坐标空间</a:t>
            </a:r>
            <a:r>
              <a:rPr sz="1800" spc="-50" dirty="0">
                <a:latin typeface="宋体"/>
                <a:cs typeface="宋体"/>
              </a:rPr>
              <a:t>所</a:t>
            </a:r>
            <a:r>
              <a:rPr sz="1800" dirty="0">
                <a:latin typeface="宋体"/>
                <a:cs typeface="宋体"/>
              </a:rPr>
              <a:t>经过的点，所经过的点对应</a:t>
            </a:r>
            <a:r>
              <a:rPr sz="1800" spc="400" dirty="0">
                <a:latin typeface="宋体"/>
                <a:cs typeface="宋体"/>
              </a:rPr>
              <a:t>的</a:t>
            </a:r>
            <a:r>
              <a:rPr sz="1800" dirty="0">
                <a:latin typeface="Cambria Math"/>
                <a:cs typeface="Cambria Math"/>
              </a:rPr>
              <a:t>𝑁</a:t>
            </a:r>
            <a:r>
              <a:rPr sz="1800" spc="4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𝑟,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宋体"/>
                <a:cs typeface="宋体"/>
              </a:rPr>
              <a:t>加 </a:t>
            </a:r>
            <a:r>
              <a:rPr sz="1800" spc="-15" dirty="0">
                <a:latin typeface="Cambria Math"/>
                <a:cs typeface="Cambria Math"/>
              </a:rPr>
              <a:t>1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 dirty="0">
              <a:latin typeface="宋体"/>
              <a:cs typeface="宋体"/>
            </a:endParaRPr>
          </a:p>
          <a:p>
            <a:pPr marL="354965" marR="69850" indent="-342900"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如果某个 </a:t>
            </a:r>
            <a:r>
              <a:rPr sz="1800" dirty="0">
                <a:latin typeface="Cambria Math"/>
                <a:cs typeface="Cambria Math"/>
              </a:rPr>
              <a:t>𝑏𝑖𝑛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宋体"/>
                <a:cs typeface="宋体"/>
              </a:rPr>
              <a:t>的点数超过阈值 </a:t>
            </a:r>
            <a:r>
              <a:rPr sz="1800" dirty="0">
                <a:latin typeface="Cambria Math"/>
                <a:cs typeface="Cambria Math"/>
              </a:rPr>
              <a:t>𝑡ℎ𝑟𝑒𝑠</a:t>
            </a:r>
            <a:r>
              <a:rPr sz="1800" spc="250" dirty="0">
                <a:latin typeface="Cambria Math"/>
                <a:cs typeface="Cambria Math"/>
              </a:rPr>
              <a:t>ℎ </a:t>
            </a:r>
            <a:r>
              <a:rPr sz="1800" spc="-10" dirty="0">
                <a:latin typeface="宋体"/>
                <a:cs typeface="宋体"/>
              </a:rPr>
              <a:t>，则认为存</a:t>
            </a:r>
            <a:r>
              <a:rPr sz="1800" dirty="0">
                <a:latin typeface="宋体"/>
                <a:cs typeface="宋体"/>
              </a:rPr>
              <a:t>在对应的直线，取出 </a:t>
            </a:r>
            <a:r>
              <a:rPr sz="1800" dirty="0">
                <a:latin typeface="Cambria Math"/>
                <a:cs typeface="Cambria Math"/>
              </a:rPr>
              <a:t>(𝑟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340" dirty="0">
                <a:latin typeface="Cambria Math"/>
                <a:cs typeface="Cambria Math"/>
              </a:rPr>
              <a:t>𝜃</a:t>
            </a:r>
            <a:r>
              <a:rPr lang="en-US" altLang="zh-CN" sz="1800" spc="-340" dirty="0">
                <a:latin typeface="Cambria Math"/>
                <a:cs typeface="Cambria Math"/>
              </a:rPr>
              <a:t>)</a:t>
            </a:r>
            <a:r>
              <a:rPr sz="1800" spc="-50" dirty="0">
                <a:latin typeface="宋体"/>
                <a:cs typeface="宋体"/>
              </a:rPr>
              <a:t>，求出对应的直线方程。</a:t>
            </a:r>
            <a:endParaRPr sz="1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784" y="298151"/>
            <a:ext cx="8521359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5095" algn="l"/>
              </a:tabLst>
            </a:pPr>
            <a:r>
              <a:rPr sz="2795" spc="220" dirty="0"/>
              <a:t>14.2</a:t>
            </a:r>
            <a:r>
              <a:rPr sz="2795" dirty="0"/>
              <a:t>	Hough</a:t>
            </a:r>
            <a:r>
              <a:rPr sz="2795" spc="-25" dirty="0"/>
              <a:t>圆检测——标准方法——回顾</a:t>
            </a:r>
            <a:endParaRPr sz="2795" dirty="0"/>
          </a:p>
        </p:txBody>
      </p:sp>
      <p:grpSp>
        <p:nvGrpSpPr>
          <p:cNvPr id="3" name="object 3"/>
          <p:cNvGrpSpPr/>
          <p:nvPr/>
        </p:nvGrpSpPr>
        <p:grpSpPr>
          <a:xfrm>
            <a:off x="1351610" y="1706822"/>
            <a:ext cx="7299550" cy="5038505"/>
            <a:chOff x="1347216" y="1708403"/>
            <a:chExt cx="7306309" cy="504317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75460" y="1708403"/>
              <a:ext cx="2912364" cy="24658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7216" y="4174234"/>
              <a:ext cx="3471672" cy="25770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0112" y="3025139"/>
              <a:ext cx="2423160" cy="5867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6163" y="3681983"/>
              <a:ext cx="1074420" cy="5791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0112" y="4386071"/>
              <a:ext cx="1684019" cy="2590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7260" y="5463539"/>
              <a:ext cx="1554480" cy="10363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6416" y="1038483"/>
            <a:ext cx="9933632" cy="173829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Hough</a:t>
            </a:r>
            <a:r>
              <a:rPr sz="1800" spc="-15" dirty="0">
                <a:latin typeface="宋体"/>
                <a:cs typeface="宋体"/>
              </a:rPr>
              <a:t>直线检测把直角坐标系中的直线检测转换成极坐标系中的点检测。</a:t>
            </a:r>
            <a:endParaRPr sz="1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 dirty="0">
              <a:latin typeface="宋体"/>
              <a:cs typeface="宋体"/>
            </a:endParaRPr>
          </a:p>
          <a:p>
            <a:pPr>
              <a:spcBef>
                <a:spcPts val="240"/>
              </a:spcBef>
            </a:pPr>
            <a:endParaRPr sz="1800" dirty="0">
              <a:latin typeface="宋体"/>
              <a:cs typeface="宋体"/>
            </a:endParaRPr>
          </a:p>
          <a:p>
            <a:pPr marL="4093210" marR="5080" algn="just"/>
            <a:r>
              <a:rPr sz="1800" spc="30" dirty="0">
                <a:latin typeface="宋体"/>
                <a:cs typeface="宋体"/>
              </a:rPr>
              <a:t>任意给一个定点 </a:t>
            </a:r>
            <a:r>
              <a:rPr sz="1800" spc="10" dirty="0">
                <a:latin typeface="Cambria Math"/>
                <a:cs typeface="Cambria Math"/>
              </a:rPr>
              <a:t>𝐴(𝑥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𝑦</a:t>
            </a:r>
            <a:r>
              <a:rPr lang="en-US" altLang="zh-CN" sz="1800" spc="-520" dirty="0">
                <a:latin typeface="Cambria Math"/>
                <a:cs typeface="Cambria Math"/>
              </a:rPr>
              <a:t>)</a:t>
            </a:r>
            <a:r>
              <a:rPr lang="zh-CN" altLang="en-US" sz="1800" spc="-520" dirty="0">
                <a:latin typeface="Cambria Math"/>
                <a:cs typeface="Cambria Math"/>
              </a:rPr>
              <a:t>  </a:t>
            </a:r>
            <a:r>
              <a:rPr sz="1800" spc="30" dirty="0" err="1">
                <a:latin typeface="宋体"/>
                <a:cs typeface="宋体"/>
              </a:rPr>
              <a:t>过该点有无穷多条直线，随着</a:t>
            </a:r>
            <a:r>
              <a:rPr sz="1800" spc="-20" dirty="0" err="1">
                <a:latin typeface="宋体"/>
                <a:cs typeface="宋体"/>
              </a:rPr>
              <a:t>直线的变化，根据原点到这些直线的距离</a:t>
            </a:r>
            <a:r>
              <a:rPr sz="1800" spc="-20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ρ</a:t>
            </a:r>
            <a:r>
              <a:rPr sz="1800" spc="-140" dirty="0">
                <a:latin typeface="宋体"/>
                <a:cs typeface="宋体"/>
              </a:rPr>
              <a:t> 和其与 </a:t>
            </a:r>
            <a:r>
              <a:rPr sz="1800" spc="5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宋体"/>
                <a:cs typeface="宋体"/>
              </a:rPr>
              <a:t>轴的</a:t>
            </a:r>
            <a:r>
              <a:rPr sz="1800" spc="195" dirty="0">
                <a:latin typeface="宋体"/>
                <a:cs typeface="宋体"/>
              </a:rPr>
              <a:t>夹角</a:t>
            </a:r>
            <a:r>
              <a:rPr sz="1800" dirty="0">
                <a:latin typeface="宋体"/>
                <a:cs typeface="宋体"/>
              </a:rPr>
              <a:t>θ</a:t>
            </a:r>
            <a:r>
              <a:rPr sz="1800" spc="-55" dirty="0">
                <a:latin typeface="宋体"/>
                <a:cs typeface="宋体"/>
              </a:rPr>
              <a:t> ，可以得到一条曲线。</a:t>
            </a:r>
            <a:endParaRPr sz="1800" dirty="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7116" y="4825214"/>
            <a:ext cx="5735724" cy="57350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在直角坐标系中，如果多个点都在同一条直线上，那么它们在极坐标系中都有一个共同的交点。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785" y="298151"/>
            <a:ext cx="6852048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5095" algn="l"/>
              </a:tabLst>
            </a:pPr>
            <a:r>
              <a:rPr sz="2795" spc="220" dirty="0"/>
              <a:t>14.2</a:t>
            </a:r>
            <a:r>
              <a:rPr sz="2795" dirty="0"/>
              <a:t>	Hough</a:t>
            </a:r>
            <a:r>
              <a:rPr sz="2795" spc="-25" dirty="0"/>
              <a:t>圆检测——标准方法</a:t>
            </a:r>
            <a:endParaRPr sz="2795" dirty="0"/>
          </a:p>
        </p:txBody>
      </p:sp>
      <p:grpSp>
        <p:nvGrpSpPr>
          <p:cNvPr id="3" name="object 3"/>
          <p:cNvGrpSpPr/>
          <p:nvPr/>
        </p:nvGrpSpPr>
        <p:grpSpPr>
          <a:xfrm>
            <a:off x="1826657" y="1444937"/>
            <a:ext cx="7170131" cy="4505598"/>
            <a:chOff x="1822704" y="1446275"/>
            <a:chExt cx="7176770" cy="450977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822704" y="1446275"/>
              <a:ext cx="2903220" cy="22570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1427" y="2116835"/>
              <a:ext cx="2907792" cy="915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5456" y="4479036"/>
              <a:ext cx="1507236" cy="14767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51675" y="1402052"/>
            <a:ext cx="5735724" cy="57350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Hough圆检测和Hough</a:t>
            </a:r>
            <a:r>
              <a:rPr sz="1800" spc="-5" dirty="0">
                <a:latin typeface="宋体"/>
                <a:cs typeface="宋体"/>
              </a:rPr>
              <a:t>直线检测思想类似，它是把直角坐标系中的一个圆映射成另一个坐标系中的一个点。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1674" y="3189064"/>
            <a:ext cx="5837865" cy="84820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我们可以建🖂</a:t>
            </a:r>
            <a:r>
              <a:rPr sz="1800" spc="-25" dirty="0">
                <a:latin typeface="宋体"/>
                <a:cs typeface="宋体"/>
              </a:rPr>
              <a:t>这样一个三维空间：对于原直角坐标系中的</a:t>
            </a:r>
            <a:r>
              <a:rPr sz="1800" spc="-5" dirty="0">
                <a:latin typeface="宋体"/>
                <a:cs typeface="宋体"/>
              </a:rPr>
              <a:t>每一个圆，可以对应</a:t>
            </a:r>
            <a:r>
              <a:rPr sz="1800" dirty="0">
                <a:latin typeface="Cambria Math"/>
                <a:cs typeface="Cambria Math"/>
              </a:rPr>
              <a:t>(𝑎</a:t>
            </a:r>
            <a:r>
              <a:rPr sz="1800" spc="-50" dirty="0">
                <a:latin typeface="Cambria Math"/>
                <a:cs typeface="Cambria Math"/>
              </a:rPr>
              <a:t>,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800" spc="-50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𝑟ሻ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宋体"/>
                <a:cs typeface="宋体"/>
              </a:rPr>
              <a:t>这样一个点，这个点即为新的</a:t>
            </a:r>
            <a:r>
              <a:rPr sz="1800" spc="-20" dirty="0">
                <a:latin typeface="宋体"/>
                <a:cs typeface="宋体"/>
              </a:rPr>
              <a:t>三维空间中的点。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3258" y="6280785"/>
            <a:ext cx="1488966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圆半径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40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785" y="298151"/>
            <a:ext cx="7298615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5095" algn="l"/>
              </a:tabLst>
            </a:pPr>
            <a:r>
              <a:rPr sz="2795" spc="220" dirty="0"/>
              <a:t>14.2</a:t>
            </a:r>
            <a:r>
              <a:rPr sz="2795" dirty="0"/>
              <a:t>	Hough</a:t>
            </a:r>
            <a:r>
              <a:rPr sz="2795" spc="-25" dirty="0"/>
              <a:t>圆检测——标准方法</a:t>
            </a:r>
            <a:endParaRPr sz="2795" dirty="0"/>
          </a:p>
        </p:txBody>
      </p:sp>
      <p:grpSp>
        <p:nvGrpSpPr>
          <p:cNvPr id="3" name="object 3"/>
          <p:cNvGrpSpPr/>
          <p:nvPr/>
        </p:nvGrpSpPr>
        <p:grpSpPr>
          <a:xfrm>
            <a:off x="1826658" y="1444938"/>
            <a:ext cx="9282090" cy="4699094"/>
            <a:chOff x="1822704" y="1446275"/>
            <a:chExt cx="9290685" cy="470344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822704" y="1446275"/>
              <a:ext cx="2903220" cy="22570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1427" y="2116835"/>
              <a:ext cx="2907792" cy="915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8840" y="4162043"/>
              <a:ext cx="2029967" cy="19872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8904" y="4302252"/>
              <a:ext cx="5404104" cy="181813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551675" y="1402052"/>
            <a:ext cx="5735724" cy="57350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Hough圆检测和Hough</a:t>
            </a:r>
            <a:r>
              <a:rPr sz="1800" spc="-5" dirty="0">
                <a:latin typeface="宋体"/>
                <a:cs typeface="宋体"/>
              </a:rPr>
              <a:t>直线检测思想类似，它是把直角坐标系中的一个圆转换成另一个坐标系中的一个点。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1674" y="3189064"/>
            <a:ext cx="5735090" cy="84820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1800" spc="35" dirty="0">
                <a:latin typeface="宋体"/>
                <a:cs typeface="宋体"/>
              </a:rPr>
              <a:t>我们可以建🖂这样一个三维空间：对于原直角坐标系中</a:t>
            </a:r>
            <a:r>
              <a:rPr sz="1800" spc="-1214" dirty="0">
                <a:latin typeface="宋体"/>
                <a:cs typeface="宋体"/>
              </a:rPr>
              <a:t>的</a:t>
            </a:r>
            <a:r>
              <a:rPr sz="1800" dirty="0">
                <a:latin typeface="宋体"/>
                <a:cs typeface="宋体"/>
              </a:rPr>
              <a:t>每一个圆，可以确定 </a:t>
            </a:r>
            <a:r>
              <a:rPr sz="1800" spc="10" dirty="0">
                <a:latin typeface="Cambria Math"/>
                <a:cs typeface="Cambria Math"/>
              </a:rPr>
              <a:t>(𝑎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5" dirty="0">
                <a:latin typeface="Cambria Math"/>
                <a:cs typeface="Cambria Math"/>
              </a:rPr>
              <a:t>𝑏</a:t>
            </a:r>
            <a:r>
              <a:rPr sz="1800" spc="-40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𝑟ሻ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宋体"/>
                <a:cs typeface="宋体"/>
              </a:rPr>
              <a:t>这样一个点，这个点即为新</a:t>
            </a:r>
            <a:r>
              <a:rPr sz="1800" spc="-5" dirty="0">
                <a:latin typeface="宋体"/>
                <a:cs typeface="宋体"/>
              </a:rPr>
              <a:t>的三维空间中的点。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0704" y="6317632"/>
            <a:ext cx="1489601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圆半径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40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3749" y="6148015"/>
            <a:ext cx="126057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39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7739" y="6148015"/>
            <a:ext cx="126057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40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41859" y="6152888"/>
            <a:ext cx="126057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41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16076" y="1460924"/>
            <a:ext cx="1167319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操作步骤：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6076" y="1995355"/>
            <a:ext cx="7111131" cy="112227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354965" indent="-342900"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求原图像 </a:t>
            </a:r>
            <a:r>
              <a:rPr sz="1800" dirty="0">
                <a:latin typeface="Cambria Math"/>
                <a:cs typeface="Cambria Math"/>
              </a:rPr>
              <a:t>𝐼</a:t>
            </a:r>
            <a:r>
              <a:rPr sz="1800" spc="80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的边缘图 </a:t>
            </a:r>
            <a:r>
              <a:rPr sz="1800" spc="60" dirty="0">
                <a:latin typeface="Cambria Math"/>
                <a:cs typeface="Cambria Math"/>
              </a:rPr>
              <a:t>𝐸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54965" indent="-342900">
              <a:buAutoNum type="arabicPeriod"/>
              <a:tabLst>
                <a:tab pos="354965" algn="l"/>
              </a:tabLst>
            </a:pPr>
            <a:r>
              <a:rPr sz="1800" spc="-5" dirty="0">
                <a:latin typeface="宋体"/>
                <a:cs typeface="宋体"/>
              </a:rPr>
              <a:t>最小半径 </a:t>
            </a:r>
            <a:r>
              <a:rPr sz="1800" dirty="0">
                <a:latin typeface="Cambria Math"/>
                <a:cs typeface="Cambria Math"/>
              </a:rPr>
              <a:t>𝑟𝑚𝑖𝑛</a:t>
            </a:r>
            <a:r>
              <a:rPr sz="1800" spc="30" dirty="0">
                <a:latin typeface="Cambria Math"/>
                <a:cs typeface="Cambria Math"/>
              </a:rPr>
              <a:t> </a:t>
            </a:r>
            <a:r>
              <a:rPr sz="1800" dirty="0">
                <a:latin typeface="微软雅黑"/>
                <a:cs typeface="微软雅黑"/>
              </a:rPr>
              <a:t>，</a:t>
            </a:r>
            <a:r>
              <a:rPr sz="1800" spc="-5" dirty="0">
                <a:latin typeface="宋体"/>
                <a:cs typeface="宋体"/>
              </a:rPr>
              <a:t>最大半径 </a:t>
            </a:r>
            <a:r>
              <a:rPr sz="1800" dirty="0">
                <a:latin typeface="Cambria Math"/>
                <a:cs typeface="Cambria Math"/>
              </a:rPr>
              <a:t>𝑟𝑚𝑎𝑥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宋体"/>
                <a:cs typeface="宋体"/>
              </a:rPr>
              <a:t>，半径分辨率 </a:t>
            </a:r>
            <a:r>
              <a:rPr sz="1800" dirty="0">
                <a:latin typeface="Cambria Math"/>
                <a:cs typeface="Cambria Math"/>
              </a:rPr>
              <a:t>𝑑𝑟</a:t>
            </a:r>
            <a:r>
              <a:rPr sz="1800" spc="60" dirty="0">
                <a:latin typeface="Cambria Math"/>
                <a:cs typeface="Cambria Math"/>
              </a:rPr>
              <a:t>  </a:t>
            </a:r>
            <a:r>
              <a:rPr sz="1800" spc="-10" dirty="0">
                <a:latin typeface="宋体"/>
                <a:cs typeface="宋体"/>
              </a:rPr>
              <a:t>等超参数。</a:t>
            </a:r>
            <a:endParaRPr sz="1800">
              <a:latin typeface="宋体"/>
              <a:cs typeface="宋体"/>
            </a:endParaRPr>
          </a:p>
          <a:p>
            <a:pPr marL="354965" indent="-342900">
              <a:buAutoNum type="arabicPeriod"/>
              <a:tabLst>
                <a:tab pos="354965" algn="l"/>
              </a:tabLst>
            </a:pPr>
            <a:r>
              <a:rPr sz="1800" dirty="0">
                <a:latin typeface="宋体"/>
                <a:cs typeface="宋体"/>
              </a:rPr>
              <a:t>根据转换后空间的圆心分辨率等信息，设置计数器 </a:t>
            </a:r>
            <a:r>
              <a:rPr sz="1800" dirty="0">
                <a:latin typeface="Cambria Math"/>
                <a:cs typeface="Cambria Math"/>
              </a:rPr>
              <a:t>𝑁(𝑎</a:t>
            </a:r>
            <a:r>
              <a:rPr sz="1800" spc="-40" dirty="0">
                <a:latin typeface="Cambria Math"/>
                <a:cs typeface="Cambria Math"/>
              </a:rPr>
              <a:t>,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800" spc="-40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𝑟ሻ</a:t>
            </a:r>
            <a:r>
              <a:rPr sz="1800" spc="70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54965" indent="-342900">
              <a:buAutoNum type="arabicPeriod"/>
              <a:tabLst>
                <a:tab pos="354965" algn="l"/>
              </a:tabLst>
            </a:pPr>
            <a:r>
              <a:rPr sz="1800" dirty="0">
                <a:latin typeface="宋体"/>
                <a:cs typeface="宋体"/>
              </a:rPr>
              <a:t>对 </a:t>
            </a:r>
            <a:r>
              <a:rPr sz="1800" dirty="0">
                <a:latin typeface="Cambria Math"/>
                <a:cs typeface="Cambria Math"/>
              </a:rPr>
              <a:t>𝐸</a:t>
            </a:r>
            <a:r>
              <a:rPr sz="1800" spc="90" dirty="0">
                <a:latin typeface="Cambria Math"/>
                <a:cs typeface="Cambria Math"/>
              </a:rPr>
              <a:t>  </a:t>
            </a:r>
            <a:r>
              <a:rPr sz="1800" spc="-5" dirty="0">
                <a:latin typeface="宋体"/>
                <a:cs typeface="宋体"/>
              </a:rPr>
              <a:t>的每个白色边缘像素点，其坐标记为 </a:t>
            </a:r>
            <a:r>
              <a:rPr sz="1800" dirty="0">
                <a:latin typeface="Cambria Math"/>
                <a:cs typeface="Cambria Math"/>
              </a:rPr>
              <a:t>(𝑥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345" dirty="0">
                <a:latin typeface="Cambria Math"/>
                <a:cs typeface="Cambria Math"/>
              </a:rPr>
              <a:t>𝑦ሻ</a:t>
            </a:r>
            <a:r>
              <a:rPr sz="1800" spc="-60" dirty="0">
                <a:latin typeface="宋体"/>
                <a:cs typeface="宋体"/>
              </a:rPr>
              <a:t>，对于某个指定的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4860" y="3161911"/>
            <a:ext cx="685166" cy="211894"/>
          </a:xfrm>
          <a:custGeom>
            <a:avLst/>
            <a:gdLst/>
            <a:ahLst/>
            <a:cxnLst/>
            <a:rect l="l" t="t" r="r" b="b"/>
            <a:pathLst>
              <a:path w="685800" h="212089">
                <a:moveTo>
                  <a:pt x="618109" y="0"/>
                </a:moveTo>
                <a:lnTo>
                  <a:pt x="615188" y="8509"/>
                </a:lnTo>
                <a:lnTo>
                  <a:pt x="627401" y="13819"/>
                </a:lnTo>
                <a:lnTo>
                  <a:pt x="637936" y="21177"/>
                </a:lnTo>
                <a:lnTo>
                  <a:pt x="659350" y="55322"/>
                </a:lnTo>
                <a:lnTo>
                  <a:pt x="666369" y="104775"/>
                </a:lnTo>
                <a:lnTo>
                  <a:pt x="665583" y="123444"/>
                </a:lnTo>
                <a:lnTo>
                  <a:pt x="653796" y="169163"/>
                </a:lnTo>
                <a:lnTo>
                  <a:pt x="627542" y="197738"/>
                </a:lnTo>
                <a:lnTo>
                  <a:pt x="615442" y="203073"/>
                </a:lnTo>
                <a:lnTo>
                  <a:pt x="618109" y="211709"/>
                </a:lnTo>
                <a:lnTo>
                  <a:pt x="658631" y="187652"/>
                </a:lnTo>
                <a:lnTo>
                  <a:pt x="681307" y="143271"/>
                </a:lnTo>
                <a:lnTo>
                  <a:pt x="685673" y="105918"/>
                </a:lnTo>
                <a:lnTo>
                  <a:pt x="684591" y="86703"/>
                </a:lnTo>
                <a:lnTo>
                  <a:pt x="668147" y="37084"/>
                </a:lnTo>
                <a:lnTo>
                  <a:pt x="633464" y="5526"/>
                </a:lnTo>
                <a:lnTo>
                  <a:pt x="618109" y="0"/>
                </a:lnTo>
                <a:close/>
              </a:path>
              <a:path w="685800" h="212089">
                <a:moveTo>
                  <a:pt x="67564" y="0"/>
                </a:moveTo>
                <a:lnTo>
                  <a:pt x="27219" y="24056"/>
                </a:lnTo>
                <a:lnTo>
                  <a:pt x="4381" y="68500"/>
                </a:lnTo>
                <a:lnTo>
                  <a:pt x="0" y="105918"/>
                </a:lnTo>
                <a:lnTo>
                  <a:pt x="986" y="123444"/>
                </a:lnTo>
                <a:lnTo>
                  <a:pt x="1093" y="125350"/>
                </a:lnTo>
                <a:lnTo>
                  <a:pt x="17399" y="174625"/>
                </a:lnTo>
                <a:lnTo>
                  <a:pt x="52153" y="206182"/>
                </a:lnTo>
                <a:lnTo>
                  <a:pt x="67564" y="211709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7512262" y="3008130"/>
            <a:ext cx="404121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300" dirty="0">
                <a:latin typeface="Cambria Math"/>
                <a:cs typeface="Cambria Math"/>
              </a:rPr>
              <a:t>2</a:t>
            </a:r>
            <a:r>
              <a:rPr sz="1300" spc="215" dirty="0">
                <a:latin typeface="Cambria Math"/>
                <a:cs typeface="Cambria Math"/>
              </a:rPr>
              <a:t> </a:t>
            </a:r>
            <a:r>
              <a:rPr sz="2700" spc="-75" baseline="-20000" dirty="0">
                <a:latin typeface="Cambria Math"/>
                <a:cs typeface="Cambria Math"/>
              </a:rPr>
              <a:t>+</a:t>
            </a:r>
            <a:endParaRPr sz="2700" baseline="-20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7216" y="3161911"/>
            <a:ext cx="683897" cy="211894"/>
          </a:xfrm>
          <a:custGeom>
            <a:avLst/>
            <a:gdLst/>
            <a:ahLst/>
            <a:cxnLst/>
            <a:rect l="l" t="t" r="r" b="b"/>
            <a:pathLst>
              <a:path w="684529" h="212089">
                <a:moveTo>
                  <a:pt x="616585" y="0"/>
                </a:moveTo>
                <a:lnTo>
                  <a:pt x="613664" y="8509"/>
                </a:lnTo>
                <a:lnTo>
                  <a:pt x="625877" y="13819"/>
                </a:lnTo>
                <a:lnTo>
                  <a:pt x="636412" y="21177"/>
                </a:lnTo>
                <a:lnTo>
                  <a:pt x="657826" y="55322"/>
                </a:lnTo>
                <a:lnTo>
                  <a:pt x="664845" y="104775"/>
                </a:lnTo>
                <a:lnTo>
                  <a:pt x="664059" y="123444"/>
                </a:lnTo>
                <a:lnTo>
                  <a:pt x="652272" y="169163"/>
                </a:lnTo>
                <a:lnTo>
                  <a:pt x="626018" y="197738"/>
                </a:lnTo>
                <a:lnTo>
                  <a:pt x="613918" y="203073"/>
                </a:lnTo>
                <a:lnTo>
                  <a:pt x="616585" y="211709"/>
                </a:lnTo>
                <a:lnTo>
                  <a:pt x="657107" y="187652"/>
                </a:lnTo>
                <a:lnTo>
                  <a:pt x="679783" y="143271"/>
                </a:lnTo>
                <a:lnTo>
                  <a:pt x="684149" y="105918"/>
                </a:lnTo>
                <a:lnTo>
                  <a:pt x="683067" y="86703"/>
                </a:lnTo>
                <a:lnTo>
                  <a:pt x="666623" y="37084"/>
                </a:lnTo>
                <a:lnTo>
                  <a:pt x="631940" y="5526"/>
                </a:lnTo>
                <a:lnTo>
                  <a:pt x="616585" y="0"/>
                </a:lnTo>
                <a:close/>
              </a:path>
              <a:path w="684529" h="212089">
                <a:moveTo>
                  <a:pt x="67564" y="0"/>
                </a:moveTo>
                <a:lnTo>
                  <a:pt x="27219" y="24056"/>
                </a:lnTo>
                <a:lnTo>
                  <a:pt x="4381" y="68500"/>
                </a:lnTo>
                <a:lnTo>
                  <a:pt x="0" y="105918"/>
                </a:lnTo>
                <a:lnTo>
                  <a:pt x="986" y="123444"/>
                </a:lnTo>
                <a:lnTo>
                  <a:pt x="1093" y="125350"/>
                </a:lnTo>
                <a:lnTo>
                  <a:pt x="17399" y="174625"/>
                </a:lnTo>
                <a:lnTo>
                  <a:pt x="52153" y="206182"/>
                </a:lnTo>
                <a:lnTo>
                  <a:pt x="67564" y="211709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4733282" y="3091872"/>
            <a:ext cx="6964581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2185670" algn="l"/>
                <a:tab pos="3288665" algn="l"/>
              </a:tabLst>
            </a:pPr>
            <a:r>
              <a:rPr sz="1800" dirty="0">
                <a:latin typeface="宋体"/>
                <a:cs typeface="宋体"/>
              </a:rPr>
              <a:t>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0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，根据公</a:t>
            </a:r>
            <a:r>
              <a:rPr sz="1800" spc="-50" dirty="0">
                <a:latin typeface="宋体"/>
                <a:cs typeface="宋体"/>
              </a:rPr>
              <a:t>式</a:t>
            </a:r>
            <a:r>
              <a:rPr sz="1800" dirty="0">
                <a:latin typeface="宋体"/>
                <a:cs typeface="宋体"/>
              </a:rPr>
              <a:t>	</a:t>
            </a:r>
            <a:r>
              <a:rPr sz="1800" dirty="0">
                <a:latin typeface="Cambria Math"/>
                <a:cs typeface="Cambria Math"/>
              </a:rPr>
              <a:t>𝑎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	𝑏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 𝑦</a:t>
            </a:r>
            <a:r>
              <a:rPr sz="1800" spc="400" dirty="0">
                <a:latin typeface="Cambria Math"/>
                <a:cs typeface="Cambria Math"/>
              </a:rPr>
              <a:t> </a:t>
            </a:r>
            <a:r>
              <a:rPr sz="1950" baseline="28000" dirty="0">
                <a:latin typeface="Cambria Math"/>
                <a:cs typeface="Cambria Math"/>
              </a:rPr>
              <a:t>2</a:t>
            </a:r>
            <a:r>
              <a:rPr sz="1950" spc="427" baseline="280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60" dirty="0">
                <a:latin typeface="Cambria Math"/>
                <a:cs typeface="Cambria Math"/>
              </a:rPr>
              <a:t>𝑟</a:t>
            </a:r>
            <a:r>
              <a:rPr sz="1950" spc="89" baseline="28000" dirty="0">
                <a:latin typeface="Cambria Math"/>
                <a:cs typeface="Cambria Math"/>
              </a:rPr>
              <a:t>2</a:t>
            </a:r>
            <a:r>
              <a:rPr sz="1800" spc="60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得到点</a:t>
            </a:r>
            <a:r>
              <a:rPr sz="1800" spc="5" dirty="0">
                <a:latin typeface="宋体"/>
                <a:cs typeface="宋体"/>
              </a:rPr>
              <a:t> </a:t>
            </a:r>
            <a:r>
              <a:rPr sz="1800" dirty="0">
                <a:latin typeface="Cambria Math"/>
                <a:cs typeface="Cambria Math"/>
              </a:rPr>
              <a:t>(𝑎,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20" dirty="0">
                <a:latin typeface="Cambria Math"/>
                <a:cs typeface="Cambria Math"/>
              </a:rPr>
              <a:t>𝑏ሻ</a:t>
            </a:r>
            <a:r>
              <a:rPr sz="1800" spc="60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形成</a:t>
            </a:r>
            <a:r>
              <a:rPr sz="1800" spc="-50" dirty="0">
                <a:latin typeface="宋体"/>
                <a:cs typeface="宋体"/>
              </a:rPr>
              <a:t>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6076" y="3365938"/>
            <a:ext cx="7210099" cy="84820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354965"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轨迹（实际上是一个圆）。 把轨迹经过的计数器</a:t>
            </a:r>
            <a:r>
              <a:rPr sz="1800" dirty="0">
                <a:latin typeface="Cambria Math"/>
                <a:cs typeface="Cambria Math"/>
              </a:rPr>
              <a:t>𝑁(𝑎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800" spc="-40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𝑟ሻ</a:t>
            </a:r>
            <a:r>
              <a:rPr sz="1800" spc="60" dirty="0">
                <a:latin typeface="Cambria Math"/>
                <a:cs typeface="Cambria Math"/>
              </a:rPr>
              <a:t>  </a:t>
            </a:r>
            <a:r>
              <a:rPr sz="1800" spc="5" dirty="0">
                <a:latin typeface="宋体"/>
                <a:cs typeface="宋体"/>
              </a:rPr>
              <a:t>加 </a:t>
            </a:r>
            <a:r>
              <a:rPr sz="1800" dirty="0">
                <a:latin typeface="Cambria Math"/>
                <a:cs typeface="Cambria Math"/>
              </a:rPr>
              <a:t>1</a:t>
            </a:r>
            <a:r>
              <a:rPr sz="1800" spc="60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12700"/>
            <a:r>
              <a:rPr sz="1800" dirty="0">
                <a:latin typeface="宋体"/>
                <a:cs typeface="宋体"/>
              </a:rPr>
              <a:t>5</a:t>
            </a:r>
            <a:r>
              <a:rPr sz="1800" spc="-10" dirty="0">
                <a:latin typeface="宋体"/>
                <a:cs typeface="宋体"/>
              </a:rPr>
              <a:t>. 如果某个计数器的点数超过阈值 </a:t>
            </a:r>
            <a:r>
              <a:rPr sz="1800" dirty="0">
                <a:latin typeface="Cambria Math"/>
                <a:cs typeface="Cambria Math"/>
              </a:rPr>
              <a:t>𝑡ℎ𝑟𝑒𝑠</a:t>
            </a:r>
            <a:r>
              <a:rPr sz="1800" spc="55" dirty="0">
                <a:latin typeface="Cambria Math"/>
                <a:cs typeface="Cambria Math"/>
              </a:rPr>
              <a:t>ℎ  </a:t>
            </a:r>
            <a:r>
              <a:rPr sz="1800" spc="-15" dirty="0">
                <a:latin typeface="宋体"/>
                <a:cs typeface="宋体"/>
              </a:rPr>
              <a:t>，则认为存在对应的圆，取</a:t>
            </a:r>
            <a:endParaRPr sz="1800">
              <a:latin typeface="宋体"/>
              <a:cs typeface="宋体"/>
            </a:endParaRPr>
          </a:p>
          <a:p>
            <a:pPr marL="354965"/>
            <a:r>
              <a:rPr sz="1800" spc="15" dirty="0">
                <a:latin typeface="宋体"/>
                <a:cs typeface="宋体"/>
              </a:rPr>
              <a:t>出 </a:t>
            </a:r>
            <a:r>
              <a:rPr sz="1800" dirty="0">
                <a:latin typeface="Cambria Math"/>
                <a:cs typeface="Cambria Math"/>
              </a:rPr>
              <a:t>(𝑎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dirty="0">
                <a:latin typeface="Cambria Math"/>
                <a:cs typeface="Cambria Math"/>
              </a:rPr>
              <a:t>𝑏</a:t>
            </a:r>
            <a:r>
              <a:rPr sz="1800" spc="-35" dirty="0">
                <a:latin typeface="Cambria Math"/>
                <a:cs typeface="Cambria Math"/>
              </a:rPr>
              <a:t>, </a:t>
            </a:r>
            <a:r>
              <a:rPr sz="1800" spc="-350" dirty="0">
                <a:latin typeface="Cambria Math"/>
                <a:cs typeface="Cambria Math"/>
              </a:rPr>
              <a:t>𝑟ሻ</a:t>
            </a:r>
            <a:r>
              <a:rPr sz="1800" spc="-50" dirty="0">
                <a:latin typeface="宋体"/>
                <a:cs typeface="宋体"/>
              </a:rPr>
              <a:t>，求出对应的圆方程。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73785" y="293606"/>
            <a:ext cx="7683370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5095" algn="l"/>
              </a:tabLst>
            </a:pPr>
            <a:r>
              <a:rPr sz="2795" spc="220" dirty="0"/>
              <a:t>14.2</a:t>
            </a:r>
            <a:r>
              <a:rPr sz="2795" dirty="0"/>
              <a:t>	Hough</a:t>
            </a:r>
            <a:r>
              <a:rPr sz="2795" spc="-35" dirty="0"/>
              <a:t>圆检测——标准方法——操作步骤</a:t>
            </a:r>
            <a:endParaRPr sz="2795"/>
          </a:p>
        </p:txBody>
      </p:sp>
      <p:grpSp>
        <p:nvGrpSpPr>
          <p:cNvPr id="10" name="object 10"/>
          <p:cNvGrpSpPr/>
          <p:nvPr/>
        </p:nvGrpSpPr>
        <p:grpSpPr>
          <a:xfrm>
            <a:off x="1347041" y="975979"/>
            <a:ext cx="9758534" cy="5068957"/>
            <a:chOff x="1342644" y="976883"/>
            <a:chExt cx="9767570" cy="5073650"/>
          </a:xfrm>
        </p:grpSpPr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203691" y="976883"/>
              <a:ext cx="2906268" cy="9159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2644" y="1594103"/>
              <a:ext cx="2028444" cy="19872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856" y="4232148"/>
              <a:ext cx="1856232" cy="181813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714366" y="3750519"/>
            <a:ext cx="1488966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圆半径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40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2883" y="6120304"/>
            <a:ext cx="126057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半径 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40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04" y="0"/>
            <a:ext cx="12196582" cy="6851656"/>
            <a:chOff x="-12255" y="0"/>
            <a:chExt cx="12207875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17564" y="4219955"/>
              <a:ext cx="4483608" cy="16824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0615" y="1597151"/>
              <a:ext cx="3810000" cy="2857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3785" y="298151"/>
            <a:ext cx="7426206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5095" algn="l"/>
              </a:tabLst>
            </a:pPr>
            <a:r>
              <a:rPr sz="2795" spc="220" dirty="0"/>
              <a:t>14.2</a:t>
            </a:r>
            <a:r>
              <a:rPr sz="2795" dirty="0"/>
              <a:t>	Hough</a:t>
            </a:r>
            <a:r>
              <a:rPr sz="2795" spc="-25" dirty="0"/>
              <a:t>圆检测——标准方法</a:t>
            </a:r>
            <a:endParaRPr sz="2795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566744"/>
            <a:ext cx="4837269" cy="19763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97914" y="4636913"/>
            <a:ext cx="3432172" cy="602058"/>
          </a:xfrm>
          <a:prstGeom prst="rect">
            <a:avLst/>
          </a:prstGeom>
        </p:spPr>
        <p:txBody>
          <a:bodyPr vert="horz" wrap="square" lIns="0" tIns="26645" rIns="0" bIns="0" rtlCol="0">
            <a:spAutoFit/>
          </a:bodyPr>
          <a:lstStyle/>
          <a:p>
            <a:pPr algn="ctr">
              <a:spcBef>
                <a:spcPts val="210"/>
              </a:spcBef>
            </a:pPr>
            <a:r>
              <a:rPr sz="1800" spc="-10" dirty="0">
                <a:latin typeface="宋体"/>
                <a:cs typeface="宋体"/>
              </a:rPr>
              <a:t>原图：图中月亮半径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90" dirty="0">
                <a:latin typeface="Cambria Math"/>
                <a:cs typeface="Cambria Math"/>
              </a:rPr>
              <a:t> = </a:t>
            </a:r>
            <a:r>
              <a:rPr sz="1800" spc="-10" dirty="0">
                <a:latin typeface="Cambria Math"/>
                <a:cs typeface="Cambria Math"/>
              </a:rPr>
              <a:t>17</a:t>
            </a:r>
            <a:r>
              <a:rPr sz="1800" spc="-10" dirty="0">
                <a:latin typeface="宋体"/>
                <a:cs typeface="宋体"/>
              </a:rPr>
              <a:t>（上</a:t>
            </a:r>
            <a:r>
              <a:rPr sz="1800" spc="-60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  <a:p>
            <a:pPr algn="ctr">
              <a:spcBef>
                <a:spcPts val="115"/>
              </a:spcBef>
            </a:pPr>
            <a:r>
              <a:rPr sz="1800" dirty="0">
                <a:latin typeface="宋体"/>
                <a:cs typeface="宋体"/>
              </a:rPr>
              <a:t>OpenCV函数检测结果（下</a:t>
            </a:r>
            <a:r>
              <a:rPr sz="1800" spc="-50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84635" y="3574484"/>
            <a:ext cx="2747006" cy="30007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计数器计数值（当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8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17</a:t>
            </a:r>
            <a:r>
              <a:rPr sz="1800" spc="-25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33114" y="5943380"/>
            <a:ext cx="139570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最终检测效果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830" y="298151"/>
            <a:ext cx="9591048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1920" algn="l"/>
              </a:tabLst>
            </a:pPr>
            <a:r>
              <a:rPr sz="2795" spc="210" dirty="0"/>
              <a:t>14.3</a:t>
            </a:r>
            <a:r>
              <a:rPr sz="2795" dirty="0"/>
              <a:t>	Hough</a:t>
            </a:r>
            <a:r>
              <a:rPr sz="2795" spc="-30" dirty="0"/>
              <a:t>圆检测——梯度法——操作步骤</a:t>
            </a:r>
            <a:endParaRPr sz="2795" dirty="0"/>
          </a:p>
        </p:txBody>
      </p:sp>
      <p:sp>
        <p:nvSpPr>
          <p:cNvPr id="3" name="object 3"/>
          <p:cNvSpPr txBox="1"/>
          <p:nvPr/>
        </p:nvSpPr>
        <p:spPr>
          <a:xfrm>
            <a:off x="1832493" y="1083272"/>
            <a:ext cx="9591049" cy="4432641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Hough</a:t>
            </a:r>
            <a:r>
              <a:rPr sz="1800" spc="-15" dirty="0">
                <a:latin typeface="宋体"/>
                <a:cs typeface="宋体"/>
              </a:rPr>
              <a:t>梯度法是先利用边缘点的梯度值找出圆心，再去找半径。</a:t>
            </a:r>
            <a:endParaRPr sz="1800">
              <a:latin typeface="宋体"/>
              <a:cs typeface="宋体"/>
            </a:endParaRPr>
          </a:p>
          <a:p>
            <a:pPr marL="38100">
              <a:spcBef>
                <a:spcPts val="5"/>
              </a:spcBef>
            </a:pPr>
            <a:r>
              <a:rPr sz="1800" spc="-5" dirty="0">
                <a:latin typeface="宋体"/>
                <a:cs typeface="宋体"/>
              </a:rPr>
              <a:t>圆的边缘的梯度方向将通过圆心。</a:t>
            </a:r>
            <a:endParaRPr sz="1800">
              <a:latin typeface="宋体"/>
              <a:cs typeface="宋体"/>
            </a:endParaRPr>
          </a:p>
          <a:p>
            <a:pPr>
              <a:spcBef>
                <a:spcPts val="1945"/>
              </a:spcBef>
            </a:pPr>
            <a:endParaRPr sz="1800">
              <a:latin typeface="宋体"/>
              <a:cs typeface="宋体"/>
            </a:endParaRPr>
          </a:p>
          <a:p>
            <a:pPr marL="2774950"/>
            <a:r>
              <a:rPr sz="1800" spc="-10" dirty="0">
                <a:latin typeface="宋体"/>
                <a:cs typeface="宋体"/>
              </a:rPr>
              <a:t>操作步骤：</a:t>
            </a:r>
            <a:endParaRPr sz="1800">
              <a:latin typeface="宋体"/>
              <a:cs typeface="宋体"/>
            </a:endParaRPr>
          </a:p>
          <a:p>
            <a:pPr marL="3116580" indent="-341630">
              <a:spcBef>
                <a:spcPts val="2050"/>
              </a:spcBef>
              <a:buAutoNum type="arabicPeriod"/>
              <a:tabLst>
                <a:tab pos="3115945" algn="l"/>
              </a:tabLst>
            </a:pPr>
            <a:r>
              <a:rPr sz="1800" spc="-10" dirty="0">
                <a:latin typeface="宋体"/>
                <a:cs typeface="宋体"/>
              </a:rPr>
              <a:t>求原图像 </a:t>
            </a:r>
            <a:r>
              <a:rPr sz="1800" dirty="0">
                <a:latin typeface="Cambria Math"/>
                <a:cs typeface="Cambria Math"/>
              </a:rPr>
              <a:t>𝐼</a:t>
            </a:r>
            <a:r>
              <a:rPr sz="1800" spc="85" dirty="0">
                <a:latin typeface="Cambria Math"/>
                <a:cs typeface="Cambria Math"/>
              </a:rPr>
              <a:t>  </a:t>
            </a:r>
            <a:r>
              <a:rPr sz="1800" spc="-10" dirty="0">
                <a:latin typeface="宋体"/>
                <a:cs typeface="宋体"/>
              </a:rPr>
              <a:t>的边缘图 </a:t>
            </a:r>
            <a:r>
              <a:rPr sz="1800" spc="70" dirty="0">
                <a:latin typeface="Cambria Math"/>
                <a:cs typeface="Cambria Math"/>
              </a:rPr>
              <a:t>𝐸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117850" indent="-342900">
              <a:lnSpc>
                <a:spcPts val="2140"/>
              </a:lnSpc>
              <a:spcBef>
                <a:spcPts val="5"/>
              </a:spcBef>
              <a:buAutoNum type="arabicPeriod"/>
              <a:tabLst>
                <a:tab pos="3117215" algn="l"/>
              </a:tabLst>
            </a:pPr>
            <a:r>
              <a:rPr sz="1800" spc="-5" dirty="0">
                <a:latin typeface="宋体"/>
                <a:cs typeface="宋体"/>
              </a:rPr>
              <a:t>设置圆心最小半径 </a:t>
            </a:r>
            <a:r>
              <a:rPr sz="1800" dirty="0">
                <a:latin typeface="Cambria Math"/>
                <a:cs typeface="Cambria Math"/>
              </a:rPr>
              <a:t>𝑟𝑚𝑖𝑛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微软雅黑"/>
                <a:cs typeface="微软雅黑"/>
              </a:rPr>
              <a:t>，</a:t>
            </a:r>
            <a:r>
              <a:rPr sz="1800" spc="-5" dirty="0">
                <a:latin typeface="宋体"/>
                <a:cs typeface="宋体"/>
              </a:rPr>
              <a:t>最大半径 </a:t>
            </a:r>
            <a:r>
              <a:rPr sz="1800" dirty="0">
                <a:latin typeface="Cambria Math"/>
                <a:cs typeface="Cambria Math"/>
              </a:rPr>
              <a:t>𝑟𝑚𝑎𝑥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宋体"/>
                <a:cs typeface="宋体"/>
              </a:rPr>
              <a:t>等超参数。</a:t>
            </a:r>
            <a:endParaRPr sz="1800">
              <a:latin typeface="宋体"/>
              <a:cs typeface="宋体"/>
            </a:endParaRPr>
          </a:p>
          <a:p>
            <a:pPr marL="3117850" indent="-342900">
              <a:lnSpc>
                <a:spcPts val="2140"/>
              </a:lnSpc>
              <a:buAutoNum type="arabicPeriod"/>
              <a:tabLst>
                <a:tab pos="3117215" algn="l"/>
              </a:tabLst>
            </a:pPr>
            <a:r>
              <a:rPr sz="1800" dirty="0">
                <a:latin typeface="宋体"/>
                <a:cs typeface="宋体"/>
              </a:rPr>
              <a:t>计算图片 </a:t>
            </a:r>
            <a:r>
              <a:rPr sz="1800" dirty="0">
                <a:latin typeface="Cambria Math"/>
                <a:cs typeface="Cambria Math"/>
              </a:rPr>
              <a:t>𝐼</a:t>
            </a:r>
            <a:r>
              <a:rPr sz="1800" spc="85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的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800" spc="85" dirty="0">
                <a:latin typeface="Cambria Math"/>
                <a:cs typeface="Cambria Math"/>
              </a:rPr>
              <a:t>  </a:t>
            </a:r>
            <a:r>
              <a:rPr sz="1800" spc="5" dirty="0">
                <a:latin typeface="宋体"/>
                <a:cs typeface="宋体"/>
              </a:rPr>
              <a:t>和 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800" spc="70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方向的梯度 </a:t>
            </a:r>
            <a:r>
              <a:rPr sz="1800" dirty="0">
                <a:latin typeface="Cambria Math"/>
                <a:cs typeface="Cambria Math"/>
              </a:rPr>
              <a:t>𝐼</a:t>
            </a:r>
            <a:r>
              <a:rPr sz="1950" baseline="-15000" dirty="0">
                <a:latin typeface="Cambria Math"/>
                <a:cs typeface="Cambria Math"/>
              </a:rPr>
              <a:t>𝑥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55" dirty="0">
                <a:latin typeface="Cambria Math"/>
                <a:cs typeface="Cambria Math"/>
              </a:rPr>
              <a:t>𝐼</a:t>
            </a:r>
            <a:r>
              <a:rPr sz="1950" spc="82" baseline="-15000" dirty="0">
                <a:latin typeface="Cambria Math"/>
                <a:cs typeface="Cambria Math"/>
              </a:rPr>
              <a:t>𝑦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117850" indent="-342900">
              <a:lnSpc>
                <a:spcPts val="2150"/>
              </a:lnSpc>
              <a:spcBef>
                <a:spcPts val="205"/>
              </a:spcBef>
              <a:buAutoNum type="arabicPeriod"/>
              <a:tabLst>
                <a:tab pos="3117215" algn="l"/>
                <a:tab pos="5425440" algn="l"/>
              </a:tabLst>
            </a:pPr>
            <a:r>
              <a:rPr sz="1800" dirty="0">
                <a:latin typeface="宋体"/>
                <a:cs typeface="宋体"/>
              </a:rPr>
              <a:t>设置计数器</a:t>
            </a:r>
            <a:r>
              <a:rPr sz="1800" spc="45" dirty="0">
                <a:latin typeface="宋体"/>
                <a:cs typeface="宋体"/>
              </a:rPr>
              <a:t> </a:t>
            </a:r>
            <a:r>
              <a:rPr sz="1800" dirty="0">
                <a:latin typeface="Cambria Math"/>
                <a:cs typeface="Cambria Math"/>
              </a:rPr>
              <a:t>𝑁(𝑎,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spc="-545" dirty="0">
                <a:latin typeface="Cambria Math"/>
                <a:cs typeface="Cambria Math"/>
              </a:rPr>
              <a:t>𝑏ሻ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117850" indent="-342900">
              <a:lnSpc>
                <a:spcPts val="2150"/>
              </a:lnSpc>
              <a:buAutoNum type="arabicPeriod"/>
              <a:tabLst>
                <a:tab pos="3117215" algn="l"/>
              </a:tabLst>
            </a:pPr>
            <a:r>
              <a:rPr sz="1800" dirty="0">
                <a:latin typeface="宋体"/>
                <a:cs typeface="宋体"/>
              </a:rPr>
              <a:t>对边缘图像 </a:t>
            </a:r>
            <a:r>
              <a:rPr sz="1800" dirty="0">
                <a:latin typeface="Cambria Math"/>
                <a:cs typeface="Cambria Math"/>
              </a:rPr>
              <a:t>𝐸</a:t>
            </a:r>
            <a:r>
              <a:rPr sz="1800" spc="100" dirty="0">
                <a:latin typeface="Cambria Math"/>
                <a:cs typeface="Cambria Math"/>
              </a:rPr>
              <a:t>  </a:t>
            </a:r>
            <a:r>
              <a:rPr sz="1800" dirty="0">
                <a:latin typeface="宋体"/>
                <a:cs typeface="宋体"/>
              </a:rPr>
              <a:t>中任意一点 </a:t>
            </a:r>
            <a:r>
              <a:rPr sz="1800" dirty="0">
                <a:latin typeface="Cambria Math"/>
                <a:cs typeface="Cambria Math"/>
              </a:rPr>
              <a:t>𝑝</a:t>
            </a:r>
            <a:r>
              <a:rPr sz="1800" dirty="0">
                <a:latin typeface="宋体"/>
                <a:cs typeface="宋体"/>
              </a:rPr>
              <a:t>，其梯度为 </a:t>
            </a:r>
            <a:r>
              <a:rPr sz="1800" dirty="0">
                <a:latin typeface="Cambria Math"/>
                <a:cs typeface="Cambria Math"/>
              </a:rPr>
              <a:t>(𝑝</a:t>
            </a:r>
            <a:r>
              <a:rPr sz="1950" baseline="-15000" dirty="0">
                <a:latin typeface="Cambria Math"/>
                <a:cs typeface="Cambria Math"/>
              </a:rPr>
              <a:t>𝑥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235" dirty="0">
                <a:latin typeface="Cambria Math"/>
                <a:cs typeface="Cambria Math"/>
              </a:rPr>
              <a:t>𝑝</a:t>
            </a:r>
            <a:r>
              <a:rPr sz="1950" spc="-352" baseline="-15000" dirty="0">
                <a:latin typeface="Cambria Math"/>
                <a:cs typeface="Cambria Math"/>
              </a:rPr>
              <a:t>𝑦</a:t>
            </a:r>
            <a:r>
              <a:rPr sz="1800" spc="-235" dirty="0">
                <a:latin typeface="Cambria Math"/>
                <a:cs typeface="Cambria Math"/>
              </a:rPr>
              <a:t>ሻ</a:t>
            </a:r>
            <a:r>
              <a:rPr sz="1800" spc="-55" dirty="0">
                <a:latin typeface="宋体"/>
                <a:cs typeface="宋体"/>
              </a:rPr>
              <a:t>，由点 </a:t>
            </a:r>
            <a:r>
              <a:rPr sz="1800" dirty="0">
                <a:latin typeface="Cambria Math"/>
                <a:cs typeface="Cambria Math"/>
              </a:rPr>
              <a:t>𝑝</a:t>
            </a:r>
            <a:r>
              <a:rPr sz="1800" spc="70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宋体"/>
                <a:cs typeface="宋体"/>
              </a:rPr>
              <a:t>及该</a:t>
            </a:r>
            <a:endParaRPr sz="1800">
              <a:latin typeface="宋体"/>
              <a:cs typeface="宋体"/>
            </a:endParaRPr>
          </a:p>
          <a:p>
            <a:pPr marL="3117850">
              <a:spcBef>
                <a:spcPts val="190"/>
              </a:spcBef>
            </a:pPr>
            <a:r>
              <a:rPr sz="1800" dirty="0">
                <a:latin typeface="宋体"/>
                <a:cs typeface="宋体"/>
              </a:rPr>
              <a:t>点处的梯度方向决定了一个条直线 </a:t>
            </a:r>
            <a:r>
              <a:rPr sz="1800" spc="-10" dirty="0">
                <a:latin typeface="Cambria Math"/>
                <a:cs typeface="Cambria Math"/>
              </a:rPr>
              <a:t>𝑙𝑖𝑛𝑒</a:t>
            </a:r>
            <a:r>
              <a:rPr sz="1800" spc="-15" dirty="0">
                <a:latin typeface="宋体"/>
                <a:cs typeface="宋体"/>
              </a:rPr>
              <a:t>，把直线经过的计数器</a:t>
            </a:r>
            <a:endParaRPr sz="1800">
              <a:latin typeface="宋体"/>
              <a:cs typeface="宋体"/>
            </a:endParaRPr>
          </a:p>
          <a:p>
            <a:pPr marL="3117850">
              <a:spcBef>
                <a:spcPts val="5"/>
              </a:spcBef>
            </a:pPr>
            <a:r>
              <a:rPr sz="1800" dirty="0">
                <a:latin typeface="Cambria Math"/>
                <a:cs typeface="Cambria Math"/>
              </a:rPr>
              <a:t>𝑁(𝑎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𝑏ሻ</a:t>
            </a:r>
            <a:r>
              <a:rPr sz="1800" spc="70" dirty="0">
                <a:latin typeface="Cambria Math"/>
                <a:cs typeface="Cambria Math"/>
              </a:rPr>
              <a:t>  </a:t>
            </a:r>
            <a:r>
              <a:rPr sz="1800" spc="15" dirty="0">
                <a:latin typeface="宋体"/>
                <a:cs typeface="宋体"/>
              </a:rPr>
              <a:t>加 </a:t>
            </a:r>
            <a:r>
              <a:rPr sz="1800" spc="-15" dirty="0">
                <a:latin typeface="Cambria Math"/>
                <a:cs typeface="Cambria Math"/>
              </a:rPr>
              <a:t>1</a:t>
            </a:r>
            <a:r>
              <a:rPr sz="1800" spc="-5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3117850" marR="185420" indent="-342900">
              <a:buAutoNum type="arabicPeriod" startAt="6"/>
              <a:tabLst>
                <a:tab pos="3117215" algn="l"/>
              </a:tabLst>
            </a:pPr>
            <a:r>
              <a:rPr sz="1800" spc="-5" dirty="0">
                <a:latin typeface="宋体"/>
                <a:cs typeface="宋体"/>
              </a:rPr>
              <a:t>如果某个计数器的点数超过阈值 </a:t>
            </a:r>
            <a:r>
              <a:rPr sz="1800" dirty="0">
                <a:latin typeface="Cambria Math"/>
                <a:cs typeface="Cambria Math"/>
              </a:rPr>
              <a:t>𝑡ℎ𝑟𝑒𝑠ℎ1</a:t>
            </a:r>
            <a:r>
              <a:rPr sz="1800" spc="44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宋体"/>
                <a:cs typeface="宋体"/>
              </a:rPr>
              <a:t>，则认为存在圆，取</a:t>
            </a:r>
            <a:r>
              <a:rPr sz="1800" spc="5" dirty="0">
                <a:latin typeface="宋体"/>
                <a:cs typeface="宋体"/>
              </a:rPr>
              <a:t>出 </a:t>
            </a:r>
            <a:r>
              <a:rPr sz="1800" dirty="0">
                <a:latin typeface="Cambria Math"/>
                <a:cs typeface="Cambria Math"/>
              </a:rPr>
              <a:t>(𝑎</a:t>
            </a:r>
            <a:r>
              <a:rPr sz="1800" spc="-45" dirty="0">
                <a:latin typeface="Cambria Math"/>
                <a:cs typeface="Cambria Math"/>
              </a:rPr>
              <a:t>, </a:t>
            </a:r>
            <a:r>
              <a:rPr sz="1800" spc="-520" dirty="0">
                <a:latin typeface="Cambria Math"/>
                <a:cs typeface="Cambria Math"/>
              </a:rPr>
              <a:t>𝑏ሻ</a:t>
            </a:r>
            <a:r>
              <a:rPr sz="1800" spc="65" dirty="0">
                <a:latin typeface="Cambria Math"/>
                <a:cs typeface="Cambria Math"/>
              </a:rPr>
              <a:t>  </a:t>
            </a:r>
            <a:r>
              <a:rPr sz="1800" spc="-5" dirty="0">
                <a:latin typeface="宋体"/>
                <a:cs typeface="宋体"/>
              </a:rPr>
              <a:t>即为圆心，下一步不断变换半径，如果超过某个阈值</a:t>
            </a:r>
            <a:endParaRPr sz="1800">
              <a:latin typeface="宋体"/>
              <a:cs typeface="宋体"/>
            </a:endParaRPr>
          </a:p>
          <a:p>
            <a:pPr marL="3117850"/>
            <a:r>
              <a:rPr sz="1800" spc="-10" dirty="0">
                <a:latin typeface="Cambria Math"/>
                <a:cs typeface="Cambria Math"/>
              </a:rPr>
              <a:t>𝑡ℎ𝑟𝑒𝑠ℎ2</a:t>
            </a:r>
            <a:r>
              <a:rPr sz="1800" spc="-15" dirty="0">
                <a:latin typeface="宋体"/>
                <a:cs typeface="宋体"/>
              </a:rPr>
              <a:t>，则认为为一个圆，求出对应的圆方程。</a:t>
            </a:r>
            <a:endParaRPr sz="1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9457" y="1939779"/>
            <a:ext cx="1903238" cy="3948584"/>
            <a:chOff x="1775460" y="1941575"/>
            <a:chExt cx="1905000" cy="395224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75460" y="1941575"/>
              <a:ext cx="1905000" cy="19156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460" y="3992879"/>
              <a:ext cx="1905000" cy="19004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830" y="298151"/>
            <a:ext cx="7349594" cy="442611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1920" algn="l"/>
              </a:tabLst>
            </a:pPr>
            <a:r>
              <a:rPr sz="2795" spc="210" dirty="0"/>
              <a:t>14.3</a:t>
            </a:r>
            <a:r>
              <a:rPr sz="2795" dirty="0"/>
              <a:t>	Hough</a:t>
            </a:r>
            <a:r>
              <a:rPr sz="2795" spc="-20" dirty="0"/>
              <a:t>圆检测——梯度法</a:t>
            </a:r>
            <a:endParaRPr sz="2795" dirty="0"/>
          </a:p>
        </p:txBody>
      </p:sp>
      <p:grpSp>
        <p:nvGrpSpPr>
          <p:cNvPr id="3" name="object 3"/>
          <p:cNvGrpSpPr/>
          <p:nvPr/>
        </p:nvGrpSpPr>
        <p:grpSpPr>
          <a:xfrm>
            <a:off x="1446008" y="1434279"/>
            <a:ext cx="9028960" cy="4140177"/>
            <a:chOff x="1441703" y="1435607"/>
            <a:chExt cx="9037320" cy="414401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64791" y="4139183"/>
              <a:ext cx="3840479" cy="14401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1703" y="1435607"/>
              <a:ext cx="4172712" cy="17114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6124" y="1450847"/>
              <a:ext cx="4152900" cy="1696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256" y="4139183"/>
              <a:ext cx="3840479" cy="14401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80796" y="3190587"/>
            <a:ext cx="2538285" cy="56018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algn="ctr">
              <a:lnSpc>
                <a:spcPts val="2105"/>
              </a:lnSpc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标准法——计数器计数值</a:t>
            </a:r>
            <a:endParaRPr sz="1800">
              <a:latin typeface="宋体"/>
              <a:cs typeface="宋体"/>
            </a:endParaRPr>
          </a:p>
          <a:p>
            <a:pPr marL="1905" algn="ctr">
              <a:lnSpc>
                <a:spcPts val="2105"/>
              </a:lnSpc>
            </a:pPr>
            <a:r>
              <a:rPr sz="1800" spc="-10" dirty="0">
                <a:latin typeface="宋体"/>
                <a:cs typeface="宋体"/>
              </a:rPr>
              <a:t>（当</a:t>
            </a:r>
            <a:r>
              <a:rPr sz="1800" dirty="0">
                <a:latin typeface="Cambria Math"/>
                <a:cs typeface="Cambria Math"/>
              </a:rPr>
              <a:t>𝑟</a:t>
            </a:r>
            <a:r>
              <a:rPr sz="1800" spc="75" dirty="0">
                <a:latin typeface="Cambria Math"/>
                <a:cs typeface="Cambria Math"/>
              </a:rPr>
              <a:t> = </a:t>
            </a:r>
            <a:r>
              <a:rPr sz="1800" spc="-25" dirty="0">
                <a:latin typeface="Cambria Math"/>
                <a:cs typeface="Cambria Math"/>
              </a:rPr>
              <a:t>17</a:t>
            </a:r>
            <a:r>
              <a:rPr sz="1800" spc="-25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6424" y="5683017"/>
            <a:ext cx="1624096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标准法检测效果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3414" y="3190587"/>
            <a:ext cx="2537650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梯度法——计数器计数值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84587" y="5683017"/>
            <a:ext cx="1625999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梯度法检测结果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2817</Words>
  <Application>WPS 演示</Application>
  <PresentationFormat>宽屏</PresentationFormat>
  <Paragraphs>145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PMingLiU</vt:lpstr>
      <vt:lpstr>宋体-繁</vt:lpstr>
      <vt:lpstr>宋体</vt:lpstr>
      <vt:lpstr>汉仪书宋二KW</vt:lpstr>
      <vt:lpstr>Cambria Math</vt:lpstr>
      <vt:lpstr>微软雅黑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Calibri</vt:lpstr>
      <vt:lpstr>Helvetica Neue</vt:lpstr>
      <vt:lpstr>Kingsoft Math</vt:lpstr>
      <vt:lpstr>Office 主题​​</vt:lpstr>
      <vt:lpstr>第14章</vt:lpstr>
      <vt:lpstr>14.1	Hough直线检测</vt:lpstr>
      <vt:lpstr>14.1	Hough直线检测</vt:lpstr>
      <vt:lpstr>14.1	Hough直线检测</vt:lpstr>
      <vt:lpstr>PowerPoint 演示文稿</vt:lpstr>
      <vt:lpstr>14.1	Hough直线检测</vt:lpstr>
      <vt:lpstr>14.2	Hough圆检测——标准方法——回顾</vt:lpstr>
      <vt:lpstr>14.2	Hough圆检测——标准方法</vt:lpstr>
      <vt:lpstr>14.2	Hough圆检测——标准方法</vt:lpstr>
      <vt:lpstr>14.2	Hough圆检测——标准方法——操作步骤</vt:lpstr>
      <vt:lpstr>14.2	Hough圆检测——标准方法</vt:lpstr>
      <vt:lpstr>14.3	Hough圆检测——梯度法——操作步骤</vt:lpstr>
      <vt:lpstr>14.3	Hough圆检测——梯度法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a1198</dc:creator>
  <cp:lastModifiedBy>沉默家</cp:lastModifiedBy>
  <cp:revision>10</cp:revision>
  <dcterms:created xsi:type="dcterms:W3CDTF">2025-11-18T10:33:17Z</dcterms:created>
  <dcterms:modified xsi:type="dcterms:W3CDTF">2025-11-18T10:33:17Z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5BC25DE117193DBA6D4B1C6975B229A0_42</vt:lpwstr>
  </property>
  <property fmtid="{D5CDD505-2E9C-101B-9397-08002B2CF9AE}" pid="3" name="KSOProductBuildVer">
    <vt:lpwstr>2052-6.7.1.8828</vt:lpwstr>
  </property>
</Properties>
</file>