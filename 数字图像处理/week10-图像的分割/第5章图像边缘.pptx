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7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4" r:id="rId16"/>
    <p:sldId id="345" r:id="rId17"/>
    <p:sldId id="346" r:id="rId18"/>
    <p:sldId id="341" r:id="rId19"/>
    <p:sldId id="342" r:id="rId20"/>
    <p:sldId id="34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F69F259-D518-C148-8221-B5382AB6AFB9}">
          <p14:sldIdLst>
            <p14:sldId id="327"/>
            <p14:sldId id="328"/>
          </p14:sldIdLst>
        </p14:section>
        <p14:section name="5.1  Prewitt算子&#13;" id="{EDC38459-04B0-BD48-B8D9-0FBA1A7CDF22}">
          <p14:sldIdLst>
            <p14:sldId id="329"/>
            <p14:sldId id="330"/>
            <p14:sldId id="331"/>
            <p14:sldId id="332"/>
          </p14:sldIdLst>
        </p14:section>
        <p14:section name="5.2 Sobel-Feldman、Scharr算子" id="{2E9195E6-DE7D-634F-A86F-5D738541AF75}">
          <p14:sldIdLst>
            <p14:sldId id="333"/>
            <p14:sldId id="334"/>
          </p14:sldIdLst>
        </p14:section>
        <p14:section name="5.3Laplacian、LoG算子" id="{4BA2576F-7A1E-9B41-984B-AE8E5ED3CF64}">
          <p14:sldIdLst>
            <p14:sldId id="335"/>
            <p14:sldId id="336"/>
            <p14:sldId id="337"/>
            <p14:sldId id="338"/>
          </p14:sldIdLst>
        </p14:section>
        <p14:section name="5.4Canny算法" id="{74FB92B0-28ED-254E-8FB4-F7BB5F512B8B}">
          <p14:sldIdLst>
            <p14:sldId id="339"/>
            <p14:sldId id="340"/>
            <p14:sldId id="344"/>
            <p14:sldId id="345"/>
            <p14:sldId id="346"/>
          </p14:sldIdLst>
        </p14:section>
        <p14:section name="5.5Canny编程实现" id="{34721A80-E388-6E47-A684-34A1DB9CE722}">
          <p14:sldIdLst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3"/>
    <p:restoredTop sz="94643"/>
  </p:normalViewPr>
  <p:slideViewPr>
    <p:cSldViewPr snapToGrid="0">
      <p:cViewPr>
        <p:scale>
          <a:sx n="80" d="100"/>
          <a:sy n="80" d="100"/>
        </p:scale>
        <p:origin x="-14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270AA-BFE7-9EC3-22F0-7F16C786D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2ADEA7-2ED1-A0CD-C5A8-E4960E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6D986-1874-257B-9828-E53D5811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44511-4E90-0A37-22CB-54235EA2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ECBBC-2658-AA2B-A2AB-1C24C608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681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A2759-E672-6827-78DE-EFC2C67C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B1E8C-E2B5-46D3-4CDD-3EDFC0AD5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ACA62F-6C5F-5549-D7F9-58FA1BC6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28E8ED-353D-004A-2153-C893CD4D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8EA9B-9202-2600-EE92-BEBB7B1B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02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9988E-DF7A-02C7-EE8E-888B5858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FBBB97-3CED-36DA-FEE4-CCEEE069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68576-FCCF-972E-FA4D-AD500A23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AC730-34F9-0584-0D12-BB2C7F08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6F31F9-C58A-E394-2692-F1F23251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70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B22F3-BE8D-E6F5-5D19-B15BBC6F1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5C55D-A19B-ABD0-4465-01978733D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0D75C7-8BF6-750B-247C-E695753AD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3070AB-6C5A-9462-4979-9CEF35A3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EC71F9-9C9A-5406-938E-16CA0AA0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FF1168-B272-A508-2C28-87E9AA9C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994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D86B3-EEB8-65E6-BF57-9DB3AAD2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F9B47C-066B-0DF2-E12B-2FFA48088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7C7BE-AEF0-AA85-BEEC-2B35269D5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D8BB15-626C-AA91-4F52-E323D5E41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377857-F9C5-3E61-3EAB-3AE2F810F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9BE98D-98D8-BDA4-41AE-6CACC960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C9C63A-5017-E207-9DB6-C8E0D64B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044F47-CBF9-51E4-6BB9-AFCD97CF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390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08CA8-7870-A44E-4820-3401CE7A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1D4DC1-5579-3A91-E08A-943C11DB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25D651-A6DB-40FE-B97D-415B628D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944490-4641-4466-C856-6CC0FE60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57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6C649C-6B59-526B-6DB1-F747BE10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F7CFA6-E178-C853-959F-ADEEEC83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795D2-05C4-5627-5E0D-424BE0F6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484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651F9-873C-6D0A-C6BA-C24BDD4F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CF45B1-CE73-5216-A75D-866F1ED65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DF87BD-6CB8-521A-43B5-A28D8A43C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949B93-78BE-7B90-76AE-DBB94ECC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31CD1-5714-D09A-CFC9-D5887DE0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1F4AC8-7CCA-843C-6301-B44DCB8D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429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AD765-BA0E-AC1A-D254-5000438F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D5A761-E3A9-130E-E91F-AE97A8552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F6D82E-450A-D436-BD2F-348902296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30B864-28BB-3F26-EB40-DAD539636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6F6D56-1717-07A2-B2C0-0287B9D7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4C91A-EED7-E701-D2A8-1B290A81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870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53C2E-430B-97FC-D7FA-C212F63D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81136A-E8DE-2DE7-BC33-2C18B50B7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4D041-C45C-7189-2195-D404DF37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8F919-7542-6C36-96B5-35B01AB7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EFC12-050E-63CD-A376-819C8FE3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32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7946D5-D1C2-3161-0E37-ECBA126FE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F113A7-E985-CBD3-3A1F-0DF8E2E66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52715-B0C4-F67A-921B-41A1BA11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4CAD7D-93D7-6287-E8D0-C47F8E9F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A764E6-B48A-8AD0-B131-49133AB8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105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7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87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74E659-BD47-2E22-E8B8-FE3309F0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B8938B-2F57-8E0D-B889-E7F239798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D26A1-E814-33B9-D139-A61D99EBB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845EB-19E3-BB4D-B8F1-C4A305940F21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90601-B89F-0374-9010-86EFE5689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0B755-D5FD-ABB6-1C67-A3C165F7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3B80D-4015-0E40-9AC4-19C139A5F4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45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nblogs.com/kensporger/p/11628050.html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84" y="0"/>
            <a:ext cx="12176281" cy="6851656"/>
            <a:chOff x="3047" y="0"/>
            <a:chExt cx="12187555" cy="6858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7" y="132542"/>
            <a:ext cx="6463395" cy="939565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  <a:tabLst>
                <a:tab pos="2886015" algn="l"/>
              </a:tabLst>
            </a:pPr>
            <a:r>
              <a:rPr sz="5995" spc="295" dirty="0"/>
              <a:t>第</a:t>
            </a:r>
            <a:r>
              <a:rPr sz="5995" spc="505" dirty="0"/>
              <a:t>5</a:t>
            </a:r>
            <a:r>
              <a:rPr sz="5995" spc="909" dirty="0"/>
              <a:t>章</a:t>
            </a:r>
            <a:r>
              <a:rPr sz="5995" dirty="0"/>
              <a:t>	</a:t>
            </a:r>
            <a:r>
              <a:rPr sz="5995" spc="964" dirty="0"/>
              <a:t>图像边</a:t>
            </a:r>
            <a:r>
              <a:rPr sz="5995" spc="914" dirty="0"/>
              <a:t>缘</a:t>
            </a:r>
            <a:endParaRPr sz="5995"/>
          </a:p>
        </p:txBody>
      </p:sp>
      <p:sp>
        <p:nvSpPr>
          <p:cNvPr id="8" name="object 8"/>
          <p:cNvSpPr txBox="1"/>
          <p:nvPr/>
        </p:nvSpPr>
        <p:spPr>
          <a:xfrm>
            <a:off x="1948211" y="1727840"/>
            <a:ext cx="6034532" cy="3680227"/>
          </a:xfrm>
          <a:prstGeom prst="rect">
            <a:avLst/>
          </a:prstGeom>
        </p:spPr>
        <p:txBody>
          <a:bodyPr vert="horz" wrap="square" lIns="0" tIns="255667" rIns="0" bIns="0" rtlCol="0">
            <a:spAutoFit/>
          </a:bodyPr>
          <a:lstStyle/>
          <a:p>
            <a:pPr marL="957353" lvl="1" indent="-944664">
              <a:spcBef>
                <a:spcPts val="2012"/>
              </a:spcBef>
              <a:buAutoNum type="arabicPeriod"/>
              <a:tabLst>
                <a:tab pos="957353" algn="l"/>
              </a:tabLst>
            </a:pPr>
            <a:r>
              <a:rPr sz="3197" spc="270" dirty="0">
                <a:latin typeface="PMingLiU"/>
                <a:cs typeface="PMingLiU"/>
              </a:rPr>
              <a:t>Prewitt</a:t>
            </a:r>
            <a:r>
              <a:rPr sz="3197" spc="-10" dirty="0">
                <a:latin typeface="PMingLiU"/>
                <a:cs typeface="PMingLiU"/>
              </a:rPr>
              <a:t>、</a:t>
            </a:r>
            <a:r>
              <a:rPr sz="3197" spc="180" dirty="0">
                <a:latin typeface="PMingLiU"/>
                <a:cs typeface="PMingLiU"/>
              </a:rPr>
              <a:t>Roberts</a:t>
            </a:r>
            <a:r>
              <a:rPr sz="3197" spc="-25" dirty="0">
                <a:latin typeface="PMingLiU"/>
                <a:cs typeface="PMingLiU"/>
              </a:rPr>
              <a:t>算子</a:t>
            </a:r>
            <a:endParaRPr sz="3197">
              <a:latin typeface="PMingLiU"/>
              <a:cs typeface="PMingLiU"/>
            </a:endParaRPr>
          </a:p>
          <a:p>
            <a:pPr marL="1020795" lvl="1" indent="-1008107">
              <a:spcBef>
                <a:spcPts val="1918"/>
              </a:spcBef>
              <a:buAutoNum type="arabicPeriod"/>
              <a:tabLst>
                <a:tab pos="1020795" algn="l"/>
              </a:tabLst>
            </a:pPr>
            <a:r>
              <a:rPr sz="3197" spc="210" dirty="0">
                <a:latin typeface="PMingLiU"/>
                <a:cs typeface="PMingLiU"/>
              </a:rPr>
              <a:t>Sobel-</a:t>
            </a:r>
            <a:r>
              <a:rPr sz="3197" spc="225" dirty="0">
                <a:latin typeface="PMingLiU"/>
                <a:cs typeface="PMingLiU"/>
              </a:rPr>
              <a:t>Feldman</a:t>
            </a:r>
            <a:r>
              <a:rPr sz="3197" dirty="0">
                <a:latin typeface="PMingLiU"/>
                <a:cs typeface="PMingLiU"/>
              </a:rPr>
              <a:t>、</a:t>
            </a:r>
            <a:r>
              <a:rPr sz="3197" spc="85" dirty="0">
                <a:latin typeface="PMingLiU"/>
                <a:cs typeface="PMingLiU"/>
              </a:rPr>
              <a:t>Scharr</a:t>
            </a:r>
            <a:r>
              <a:rPr sz="3197" spc="-30" dirty="0">
                <a:latin typeface="PMingLiU"/>
                <a:cs typeface="PMingLiU"/>
              </a:rPr>
              <a:t>算子</a:t>
            </a:r>
            <a:endParaRPr sz="3197">
              <a:latin typeface="PMingLiU"/>
              <a:cs typeface="PMingLiU"/>
            </a:endParaRPr>
          </a:p>
          <a:p>
            <a:pPr marL="1013817" lvl="1" indent="-1001128">
              <a:spcBef>
                <a:spcPts val="1918"/>
              </a:spcBef>
              <a:buAutoNum type="arabicPeriod"/>
              <a:tabLst>
                <a:tab pos="1013817" algn="l"/>
              </a:tabLst>
            </a:pPr>
            <a:r>
              <a:rPr sz="3197" spc="100" dirty="0">
                <a:latin typeface="PMingLiU"/>
                <a:cs typeface="PMingLiU"/>
              </a:rPr>
              <a:t>Laplacian</a:t>
            </a:r>
            <a:r>
              <a:rPr sz="3197" spc="-10" dirty="0">
                <a:latin typeface="PMingLiU"/>
                <a:cs typeface="PMingLiU"/>
              </a:rPr>
              <a:t>、</a:t>
            </a:r>
            <a:r>
              <a:rPr sz="3197" spc="-45" dirty="0">
                <a:latin typeface="PMingLiU"/>
                <a:cs typeface="PMingLiU"/>
              </a:rPr>
              <a:t>LoG</a:t>
            </a:r>
            <a:r>
              <a:rPr sz="3197" spc="-25" dirty="0">
                <a:latin typeface="PMingLiU"/>
                <a:cs typeface="PMingLiU"/>
              </a:rPr>
              <a:t>算子</a:t>
            </a:r>
            <a:endParaRPr sz="3197">
              <a:latin typeface="PMingLiU"/>
              <a:cs typeface="PMingLiU"/>
            </a:endParaRPr>
          </a:p>
          <a:p>
            <a:pPr marL="1039194" lvl="1" indent="-1026505">
              <a:spcBef>
                <a:spcPts val="1918"/>
              </a:spcBef>
              <a:buAutoNum type="arabicPeriod"/>
              <a:tabLst>
                <a:tab pos="1039194" algn="l"/>
              </a:tabLst>
            </a:pPr>
            <a:r>
              <a:rPr sz="3197" spc="-100" dirty="0">
                <a:latin typeface="PMingLiU"/>
                <a:cs typeface="PMingLiU"/>
              </a:rPr>
              <a:t>Canny</a:t>
            </a:r>
            <a:r>
              <a:rPr sz="3197" spc="-20" dirty="0">
                <a:latin typeface="PMingLiU"/>
                <a:cs typeface="PMingLiU"/>
              </a:rPr>
              <a:t>边缘检测</a:t>
            </a:r>
            <a:endParaRPr sz="3197">
              <a:latin typeface="PMingLiU"/>
              <a:cs typeface="PMingLiU"/>
            </a:endParaRPr>
          </a:p>
          <a:p>
            <a:pPr marL="600169" lvl="1" indent="-587481">
              <a:spcBef>
                <a:spcPts val="1923"/>
              </a:spcBef>
              <a:buFont typeface="PMingLiU"/>
              <a:buAutoNum type="arabicPeriod"/>
              <a:tabLst>
                <a:tab pos="600169" algn="l"/>
                <a:tab pos="1207952" algn="l"/>
              </a:tabLst>
            </a:pPr>
            <a:r>
              <a:rPr sz="3197" spc="-50" dirty="0">
                <a:latin typeface="SimSun"/>
                <a:cs typeface="SimSun"/>
              </a:rPr>
              <a:t>*</a:t>
            </a:r>
            <a:r>
              <a:rPr sz="3197" dirty="0">
                <a:latin typeface="SimSun"/>
                <a:cs typeface="SimSun"/>
              </a:rPr>
              <a:t>	</a:t>
            </a:r>
            <a:r>
              <a:rPr sz="3197" spc="-105" dirty="0">
                <a:latin typeface="PMingLiU"/>
                <a:cs typeface="PMingLiU"/>
              </a:rPr>
              <a:t>Canny</a:t>
            </a:r>
            <a:r>
              <a:rPr sz="3197" spc="-15" dirty="0">
                <a:latin typeface="PMingLiU"/>
                <a:cs typeface="PMingLiU"/>
              </a:rPr>
              <a:t>编程实现</a:t>
            </a:r>
            <a:endParaRPr sz="3197">
              <a:latin typeface="PMingLiU"/>
              <a:cs typeface="PMingLiU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88BF5E-4A9F-D58B-32AF-38FEBC6363EC}"/>
              </a:ext>
            </a:extLst>
          </p:cNvPr>
          <p:cNvSpPr txBox="1"/>
          <p:nvPr/>
        </p:nvSpPr>
        <p:spPr>
          <a:xfrm>
            <a:off x="1956202" y="-2814734"/>
            <a:ext cx="184560" cy="368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798"/>
          </a:p>
        </p:txBody>
      </p:sp>
    </p:spTree>
    <p:extLst>
      <p:ext uri="{BB962C8B-B14F-4D97-AF65-F5344CB8AC3E}">
        <p14:creationId xmlns:p14="http://schemas.microsoft.com/office/powerpoint/2010/main" val="1022976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682630"/>
            <a:ext cx="10505872" cy="688653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23418" algn="l"/>
              </a:tabLst>
            </a:pPr>
            <a:r>
              <a:rPr spc="365" dirty="0"/>
              <a:t>4.4</a:t>
            </a:r>
            <a:r>
              <a:rPr dirty="0"/>
              <a:t>	</a:t>
            </a:r>
            <a:r>
              <a:rPr spc="-40" dirty="0"/>
              <a:t>高斯模糊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0253" y="1406873"/>
            <a:ext cx="9915234" cy="4764438"/>
            <a:chOff x="1255775" y="1408175"/>
            <a:chExt cx="9924415" cy="476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652" y="1679447"/>
              <a:ext cx="4820411" cy="17053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775" y="1408175"/>
              <a:ext cx="3360420" cy="3086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5775" y="5207508"/>
              <a:ext cx="3584448" cy="9692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90720" y="6606620"/>
            <a:ext cx="3833121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1199" spc="-10" dirty="0">
                <a:latin typeface="Arial"/>
                <a:cs typeface="Arial"/>
              </a:rPr>
              <a:t>[1]https:/</a:t>
            </a:r>
            <a:r>
              <a:rPr sz="1199" spc="-10" dirty="0">
                <a:latin typeface="Arial"/>
                <a:cs typeface="Arial"/>
                <a:hlinkClick r:id="rId5"/>
              </a:rPr>
              <a:t>/www.cnblogs.com/kensporger/p/11628050.html</a:t>
            </a:r>
            <a:endParaRPr sz="119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77998" y="3653962"/>
            <a:ext cx="1053125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1798" dirty="0">
                <a:latin typeface="SimSun"/>
                <a:cs typeface="SimSun"/>
              </a:rPr>
              <a:t>高斯核</a:t>
            </a:r>
            <a:r>
              <a:rPr sz="1798" spc="-25" dirty="0">
                <a:latin typeface="SimSun"/>
                <a:cs typeface="SimSun"/>
              </a:rPr>
              <a:t>[1]</a:t>
            </a:r>
            <a:endParaRPr sz="1798">
              <a:latin typeface="SimSun"/>
              <a:cs typeface="SimSun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E4402B-708F-49B8-A227-6F39009DBDB0}"/>
              </a:ext>
            </a:extLst>
          </p:cNvPr>
          <p:cNvSpPr txBox="1"/>
          <p:nvPr/>
        </p:nvSpPr>
        <p:spPr>
          <a:xfrm>
            <a:off x="6617616" y="4666268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卷积核的特点：</a:t>
            </a:r>
            <a:endParaRPr kumimoji="1" lang="en-US" altLang="zh-CN" dirty="0"/>
          </a:p>
          <a:p>
            <a:r>
              <a:rPr kumimoji="1" lang="en-US" altLang="zh-CN" dirty="0"/>
              <a:t>1.</a:t>
            </a:r>
            <a:r>
              <a:rPr kumimoji="1" lang="zh-CN" altLang="en-US" dirty="0"/>
              <a:t>权重都是正数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所有权重之和是唯一的</a:t>
            </a:r>
          </a:p>
        </p:txBody>
      </p:sp>
    </p:spTree>
    <p:extLst>
      <p:ext uri="{BB962C8B-B14F-4D97-AF65-F5344CB8AC3E}">
        <p14:creationId xmlns:p14="http://schemas.microsoft.com/office/powerpoint/2010/main" val="250343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592" y="293606"/>
            <a:ext cx="4650803" cy="44305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105" dirty="0">
                <a:latin typeface="PMingLiU"/>
                <a:cs typeface="PMingLiU"/>
              </a:rPr>
              <a:t>5.1</a:t>
            </a:r>
            <a:r>
              <a:rPr lang="zh-CN" altLang="en-US" sz="2797" spc="105" dirty="0">
                <a:latin typeface="PMingLiU"/>
                <a:cs typeface="PMingLiU"/>
              </a:rPr>
              <a:t>  </a:t>
            </a:r>
            <a:r>
              <a:rPr lang="en" altLang="zh-CN" sz="2800" spc="270" dirty="0"/>
              <a:t>Pre</a:t>
            </a:r>
            <a:r>
              <a:rPr lang="en-US" altLang="zh-CN" sz="2800" spc="270" dirty="0"/>
              <a:t>w</a:t>
            </a:r>
            <a:r>
              <a:rPr lang="en" altLang="zh-CN" sz="2800" spc="270" dirty="0" err="1"/>
              <a:t>itt</a:t>
            </a:r>
            <a:r>
              <a:rPr lang="zh-CN" altLang="en-US" sz="2800" spc="-45" dirty="0"/>
              <a:t>算子</a:t>
            </a:r>
            <a:endParaRPr sz="2797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1971" y="1426666"/>
            <a:ext cx="9262424" cy="3232967"/>
            <a:chOff x="1607819" y="1427987"/>
            <a:chExt cx="9271000" cy="32359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1427987"/>
              <a:ext cx="1447800" cy="15087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60" y="1427987"/>
              <a:ext cx="1844039" cy="2903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5439" y="3147059"/>
              <a:ext cx="1440180" cy="15163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7551" y="1458467"/>
              <a:ext cx="2270759" cy="24460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4531" y="1427987"/>
              <a:ext cx="1821180" cy="2880360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562524B5-5483-9790-EEFE-1DDDC5EB327C}"/>
              </a:ext>
            </a:extLst>
          </p:cNvPr>
          <p:cNvSpPr txBox="1"/>
          <p:nvPr/>
        </p:nvSpPr>
        <p:spPr>
          <a:xfrm>
            <a:off x="1157836" y="896999"/>
            <a:ext cx="5498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算子</a:t>
            </a:r>
            <a:r>
              <a:rPr kumimoji="1" lang="en-US" altLang="zh-CN" dirty="0"/>
              <a:t>=</a:t>
            </a:r>
            <a:r>
              <a:rPr kumimoji="1" lang="zh-CN" altLang="en-US" dirty="0"/>
              <a:t>卷积核</a:t>
            </a:r>
            <a:r>
              <a:rPr kumimoji="1" lang="en-US" altLang="zh-CN" dirty="0"/>
              <a:t>=</a:t>
            </a:r>
            <a:r>
              <a:rPr kumimoji="1" lang="zh-CN" altLang="en-US" dirty="0"/>
              <a:t>滤波器，通常在边缘检测中称为算子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42A30-9CB7-3DD9-983A-87392F312212}"/>
              </a:ext>
            </a:extLst>
          </p:cNvPr>
          <p:cNvSpPr txBox="1"/>
          <p:nvPr/>
        </p:nvSpPr>
        <p:spPr>
          <a:xfrm>
            <a:off x="931492" y="5178751"/>
            <a:ext cx="2435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特点：</a:t>
            </a:r>
            <a:endParaRPr kumimoji="1" lang="en-US" altLang="zh-CN" dirty="0"/>
          </a:p>
          <a:p>
            <a:r>
              <a:rPr kumimoji="1" lang="en-US" altLang="zh-CN" dirty="0"/>
              <a:t>1.</a:t>
            </a:r>
            <a:r>
              <a:rPr kumimoji="1" lang="zh-CN" altLang="en-US" dirty="0"/>
              <a:t>权重包含正数和负数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权重之和为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7E9F2B-1721-1C6B-E57A-D209B6639690}"/>
              </a:ext>
            </a:extLst>
          </p:cNvPr>
          <p:cNvSpPr txBox="1"/>
          <p:nvPr/>
        </p:nvSpPr>
        <p:spPr>
          <a:xfrm>
            <a:off x="3700329" y="5341121"/>
            <a:ext cx="60195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表现：</a:t>
            </a:r>
            <a:endParaRPr kumimoji="1" lang="en-US" altLang="zh-CN" dirty="0"/>
          </a:p>
          <a:p>
            <a:r>
              <a:rPr kumimoji="1" lang="en-US" altLang="zh-CN" dirty="0"/>
              <a:t>1.</a:t>
            </a:r>
            <a:r>
              <a:rPr kumimoji="1" lang="zh-CN" altLang="en-US" dirty="0"/>
              <a:t>像素值均匀的地方，计算后为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，该部位一般为物体内部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像素值变化的地方，一般是物体的边缘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C2FA91-8F09-387E-DDDB-5718376841B2}"/>
              </a:ext>
            </a:extLst>
          </p:cNvPr>
          <p:cNvSpPr txBox="1"/>
          <p:nvPr/>
        </p:nvSpPr>
        <p:spPr>
          <a:xfrm>
            <a:off x="115937" y="2020573"/>
            <a:ext cx="1202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检测</a:t>
            </a:r>
            <a:r>
              <a:rPr kumimoji="1" lang="en-US" altLang="zh-CN" dirty="0"/>
              <a:t>y</a:t>
            </a:r>
            <a:r>
              <a:rPr kumimoji="1" lang="zh-CN" altLang="en-US" dirty="0"/>
              <a:t>方向的梯度</a:t>
            </a:r>
          </a:p>
        </p:txBody>
      </p:sp>
    </p:spTree>
    <p:extLst>
      <p:ext uri="{BB962C8B-B14F-4D97-AF65-F5344CB8AC3E}">
        <p14:creationId xmlns:p14="http://schemas.microsoft.com/office/powerpoint/2010/main" val="161129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41" y="887670"/>
            <a:ext cx="9782642" cy="24452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0927" y="3249968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25" dirty="0">
                <a:latin typeface="SimSun"/>
                <a:cs typeface="SimSun"/>
              </a:rPr>
              <a:t>原图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9128" y="3292601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5" dirty="0">
                <a:latin typeface="SimSun"/>
                <a:cs typeface="SimSun"/>
              </a:rPr>
              <a:t>水平方向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8279" y="3321783"/>
            <a:ext cx="1244717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5" dirty="0">
                <a:latin typeface="SimSun"/>
                <a:cs typeface="SimSun"/>
              </a:rPr>
              <a:t>竖直方向</a:t>
            </a:r>
            <a:endParaRPr sz="2398">
              <a:latin typeface="SimSun"/>
              <a:cs typeface="SimSu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041" y="3948076"/>
            <a:ext cx="7337362" cy="24452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24177" y="3281563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5" dirty="0">
                <a:latin typeface="SimSun"/>
                <a:cs typeface="SimSun"/>
              </a:rPr>
              <a:t>合成梯度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6925" y="6346562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25" dirty="0">
                <a:latin typeface="SimSun"/>
                <a:cs typeface="SimSun"/>
              </a:rPr>
              <a:t>原图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7840" y="6346562"/>
            <a:ext cx="786672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锐化</a:t>
            </a:r>
            <a:r>
              <a:rPr sz="2398" spc="-50" dirty="0">
                <a:latin typeface="SimSun"/>
                <a:cs typeface="SimSun"/>
              </a:rPr>
              <a:t>1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15230" y="6348084"/>
            <a:ext cx="786672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锐化</a:t>
            </a:r>
            <a:r>
              <a:rPr sz="2398" spc="-50" dirty="0">
                <a:latin typeface="SimSun"/>
                <a:cs typeface="SimSun"/>
              </a:rPr>
              <a:t>2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C849B60C-479E-3C89-C22C-6527A2B2649A}"/>
              </a:ext>
            </a:extLst>
          </p:cNvPr>
          <p:cNvSpPr txBox="1"/>
          <p:nvPr/>
        </p:nvSpPr>
        <p:spPr>
          <a:xfrm>
            <a:off x="595592" y="293606"/>
            <a:ext cx="5776928" cy="44305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105" dirty="0">
                <a:latin typeface="PMingLiU"/>
                <a:cs typeface="PMingLiU"/>
              </a:rPr>
              <a:t>5.1</a:t>
            </a:r>
            <a:r>
              <a:rPr lang="zh-CN" altLang="en-US" sz="2797" spc="105" dirty="0">
                <a:latin typeface="PMingLiU"/>
                <a:cs typeface="PMingLiU"/>
              </a:rPr>
              <a:t>  </a:t>
            </a:r>
            <a:r>
              <a:rPr lang="en" altLang="zh-CN" sz="2800" spc="270" dirty="0"/>
              <a:t>Pre</a:t>
            </a:r>
            <a:r>
              <a:rPr lang="en-US" altLang="zh-CN" sz="2800" spc="270" dirty="0"/>
              <a:t>w</a:t>
            </a:r>
            <a:r>
              <a:rPr lang="en" altLang="zh-CN" sz="2800" spc="270" dirty="0" err="1"/>
              <a:t>itt</a:t>
            </a:r>
            <a:r>
              <a:rPr lang="zh-CN" altLang="en-US" sz="2800" spc="-45" dirty="0"/>
              <a:t>算子</a:t>
            </a:r>
            <a:endParaRPr sz="2797" dirty="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64672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592" y="293606"/>
            <a:ext cx="3816152" cy="44305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105" dirty="0">
                <a:latin typeface="PMingLiU"/>
                <a:cs typeface="PMingLiU"/>
              </a:rPr>
              <a:t>5.1</a:t>
            </a:r>
            <a:r>
              <a:rPr lang="zh-CN" altLang="en-US" sz="2797" spc="105" dirty="0">
                <a:latin typeface="PMingLiU"/>
                <a:cs typeface="PMingLiU"/>
              </a:rPr>
              <a:t>  </a:t>
            </a:r>
            <a:r>
              <a:rPr lang="en" altLang="zh-CN" sz="2800" spc="170" dirty="0"/>
              <a:t>Roberts</a:t>
            </a:r>
            <a:r>
              <a:rPr lang="zh-CN" altLang="en-US" sz="2800" spc="-45" dirty="0"/>
              <a:t>算子</a:t>
            </a:r>
            <a:endParaRPr sz="2797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84565" y="1345969"/>
            <a:ext cx="3902906" cy="2880868"/>
            <a:chOff x="1580388" y="1347215"/>
            <a:chExt cx="3906520" cy="28835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20" y="1347215"/>
              <a:ext cx="1821179" cy="28803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0388" y="1458467"/>
              <a:ext cx="990600" cy="10515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5732" y="3186683"/>
              <a:ext cx="967740" cy="1043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377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592" y="293606"/>
            <a:ext cx="2957302" cy="44305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105" dirty="0">
                <a:latin typeface="PMingLiU"/>
                <a:cs typeface="PMingLiU"/>
              </a:rPr>
              <a:t>5.1</a:t>
            </a:r>
            <a:r>
              <a:rPr lang="zh-CN" altLang="en-US" sz="2797" spc="105" dirty="0">
                <a:latin typeface="PMingLiU"/>
                <a:cs typeface="PMingLiU"/>
              </a:rPr>
              <a:t>  </a:t>
            </a:r>
            <a:r>
              <a:rPr lang="en" altLang="zh-CN" sz="2800" spc="170" dirty="0"/>
              <a:t>Roberts</a:t>
            </a:r>
            <a:r>
              <a:rPr lang="zh-CN" altLang="en-US" sz="2800" spc="-45" dirty="0"/>
              <a:t>算子</a:t>
            </a:r>
            <a:endParaRPr sz="2797" dirty="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9457" y="2002205"/>
            <a:ext cx="8631564" cy="2877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18481" y="5283489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25" dirty="0">
                <a:latin typeface="SimSun"/>
                <a:cs typeface="SimSun"/>
              </a:rPr>
              <a:t>原图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6899" y="5283489"/>
            <a:ext cx="1700860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0" dirty="0">
                <a:latin typeface="SimSun"/>
                <a:cs typeface="SimSun"/>
              </a:rPr>
              <a:t>Premitt</a:t>
            </a:r>
            <a:r>
              <a:rPr sz="2398" spc="-25" dirty="0">
                <a:latin typeface="SimSun"/>
                <a:cs typeface="SimSun"/>
              </a:rPr>
              <a:t>梯度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3582" y="5283489"/>
            <a:ext cx="1700860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Roberts</a:t>
            </a:r>
            <a:r>
              <a:rPr sz="2398" spc="-25" dirty="0">
                <a:latin typeface="SimSun"/>
                <a:cs typeface="SimSun"/>
              </a:rPr>
              <a:t>梯度</a:t>
            </a:r>
            <a:endParaRPr sz="23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7895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664" y="297926"/>
            <a:ext cx="9322054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1847" algn="l"/>
              </a:tabLst>
            </a:pPr>
            <a:r>
              <a:rPr sz="2800" spc="254" dirty="0"/>
              <a:t>5.2</a:t>
            </a:r>
            <a:r>
              <a:rPr lang="zh-CN" altLang="en-US" sz="2800" spc="254" dirty="0"/>
              <a:t> </a:t>
            </a:r>
            <a:r>
              <a:rPr sz="2800" spc="190" dirty="0" err="1"/>
              <a:t>Sobel-</a:t>
            </a:r>
            <a:r>
              <a:rPr sz="2800" spc="204" dirty="0" err="1"/>
              <a:t>Feldman</a:t>
            </a:r>
            <a:r>
              <a:rPr sz="2800" dirty="0" err="1"/>
              <a:t>、</a:t>
            </a:r>
            <a:r>
              <a:rPr sz="2800" spc="65" dirty="0" err="1"/>
              <a:t>Scharr</a:t>
            </a:r>
            <a:r>
              <a:rPr sz="2800" spc="-45" dirty="0" err="1"/>
              <a:t>算子</a:t>
            </a:r>
            <a:endParaRPr sz="2800" spc="-4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1556" y="2229071"/>
            <a:ext cx="1416009" cy="15073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0951" y="2238207"/>
            <a:ext cx="1385556" cy="1484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0951" y="4150580"/>
            <a:ext cx="1385556" cy="146930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46451" y="1153654"/>
          <a:ext cx="5602498" cy="4969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63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7C5F9F"/>
                      </a:solidFill>
                      <a:prstDash val="solid"/>
                    </a:lnR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815"/>
                        </a:spcBef>
                      </a:pPr>
                      <a:r>
                        <a:rPr sz="2400" spc="-10" dirty="0">
                          <a:latin typeface="SimSun"/>
                          <a:cs typeface="SimSun"/>
                        </a:rPr>
                        <a:t>Sobel</a:t>
                      </a:r>
                      <a:endParaRPr sz="2400">
                        <a:latin typeface="SimSun"/>
                        <a:cs typeface="SimSun"/>
                      </a:endParaRPr>
                    </a:p>
                  </a:txBody>
                  <a:tcPr marL="0" marR="0" marT="230292" marB="0">
                    <a:lnL w="57150">
                      <a:solidFill>
                        <a:srgbClr val="7C5F9F"/>
                      </a:solidFill>
                      <a:prstDash val="solid"/>
                    </a:lnL>
                    <a:lnR w="57150">
                      <a:solidFill>
                        <a:srgbClr val="7C5F9F"/>
                      </a:solidFill>
                      <a:prstDash val="solid"/>
                    </a:lnR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120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2400" spc="-10" dirty="0">
                          <a:latin typeface="SimSun"/>
                          <a:cs typeface="SimSun"/>
                        </a:rPr>
                        <a:t>Scharr</a:t>
                      </a:r>
                      <a:endParaRPr sz="2400">
                        <a:latin typeface="SimSun"/>
                        <a:cs typeface="SimSun"/>
                      </a:endParaRPr>
                    </a:p>
                  </a:txBody>
                  <a:tcPr marL="0" marR="0" marT="218872" marB="0">
                    <a:lnL w="57150">
                      <a:solidFill>
                        <a:srgbClr val="7C5F9F"/>
                      </a:solidFill>
                      <a:prstDash val="solid"/>
                    </a:lnL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83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Cambria Math"/>
                          <a:cs typeface="Cambria Math"/>
                        </a:rPr>
                        <a:t>𝐺</a:t>
                      </a:r>
                      <a:r>
                        <a:rPr sz="3500" spc="-37" baseline="-15366" dirty="0">
                          <a:latin typeface="Cambria Math"/>
                          <a:cs typeface="Cambria Math"/>
                        </a:rPr>
                        <a:t>𝑥</a:t>
                      </a:r>
                      <a:endParaRPr sz="3500" baseline="-15366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57150">
                      <a:solidFill>
                        <a:srgbClr val="7C5F9F"/>
                      </a:solidFill>
                      <a:prstDash val="solid"/>
                    </a:lnR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C5F9F"/>
                      </a:solidFill>
                      <a:prstDash val="solid"/>
                    </a:lnL>
                    <a:lnR w="57150">
                      <a:solidFill>
                        <a:srgbClr val="7C5F9F"/>
                      </a:solidFill>
                      <a:prstDash val="solid"/>
                    </a:lnR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C5F9F"/>
                      </a:solidFill>
                      <a:prstDash val="solid"/>
                    </a:lnL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Cambria Math"/>
                          <a:cs typeface="Cambria Math"/>
                        </a:rPr>
                        <a:t>𝐺</a:t>
                      </a:r>
                      <a:r>
                        <a:rPr sz="3500" spc="-37" baseline="-15366" dirty="0">
                          <a:latin typeface="Cambria Math"/>
                          <a:cs typeface="Cambria Math"/>
                        </a:rPr>
                        <a:t>𝑦</a:t>
                      </a:r>
                      <a:endParaRPr sz="3500" baseline="-15366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57150">
                      <a:solidFill>
                        <a:srgbClr val="7C5F9F"/>
                      </a:solidFill>
                      <a:prstDash val="solid"/>
                    </a:lnR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C5F9F"/>
                      </a:solidFill>
                      <a:prstDash val="solid"/>
                    </a:lnL>
                    <a:lnR w="57150">
                      <a:solidFill>
                        <a:srgbClr val="7C5F9F"/>
                      </a:solidFill>
                      <a:prstDash val="solid"/>
                    </a:lnR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7C5F9F"/>
                      </a:solidFill>
                      <a:prstDash val="solid"/>
                    </a:lnL>
                    <a:lnT w="57150">
                      <a:solidFill>
                        <a:srgbClr val="7C5F9F"/>
                      </a:solidFill>
                      <a:prstDash val="solid"/>
                    </a:lnT>
                    <a:lnB w="57150">
                      <a:solidFill>
                        <a:srgbClr val="7C5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85711" y="6606620"/>
            <a:ext cx="421503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1199" spc="-10" dirty="0">
                <a:latin typeface="Arial"/>
                <a:cs typeface="Arial"/>
              </a:rPr>
              <a:t>[1]https://blog.csdn.net/qingzhuyuxian/article/details/84024667</a:t>
            </a:r>
            <a:endParaRPr sz="1199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98598" y="2314336"/>
            <a:ext cx="2277795" cy="24452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37871" y="4829148"/>
            <a:ext cx="299886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  <a:tabLst>
                <a:tab pos="925631" algn="l"/>
              </a:tabLst>
            </a:pPr>
            <a:r>
              <a:rPr sz="2398" spc="-10" dirty="0">
                <a:latin typeface="SimSun"/>
                <a:cs typeface="SimSun"/>
              </a:rPr>
              <a:t>Sobel</a:t>
            </a:r>
            <a:r>
              <a:rPr sz="2398" dirty="0">
                <a:latin typeface="SimSun"/>
                <a:cs typeface="SimSun"/>
              </a:rPr>
              <a:t>	水平方向 </a:t>
            </a:r>
            <a:r>
              <a:rPr sz="2398" dirty="0">
                <a:latin typeface="Cambria Math"/>
                <a:cs typeface="Cambria Math"/>
              </a:rPr>
              <a:t>5 × </a:t>
            </a:r>
            <a:r>
              <a:rPr sz="2398" spc="-50" dirty="0">
                <a:latin typeface="Cambria Math"/>
                <a:cs typeface="Cambria Math"/>
              </a:rPr>
              <a:t>5</a:t>
            </a:r>
            <a:endParaRPr sz="2398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01557" y="4135355"/>
            <a:ext cx="1400782" cy="148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2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662" y="297927"/>
            <a:ext cx="6776817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1847" algn="l"/>
              </a:tabLst>
            </a:pPr>
            <a:r>
              <a:rPr sz="2800" spc="254" dirty="0"/>
              <a:t>5.2</a:t>
            </a:r>
            <a:r>
              <a:rPr lang="zh-CN" altLang="en-US" sz="2800" spc="254" dirty="0"/>
              <a:t> </a:t>
            </a:r>
            <a:r>
              <a:rPr sz="2800" spc="190" dirty="0"/>
              <a:t>Sobel-</a:t>
            </a:r>
            <a:r>
              <a:rPr sz="2800" spc="204" dirty="0" err="1"/>
              <a:t>Feldman</a:t>
            </a:r>
            <a:r>
              <a:rPr sz="2800" spc="-45" dirty="0" err="1"/>
              <a:t>算子</a:t>
            </a:r>
            <a:endParaRPr sz="2800" spc="-45" dirty="0"/>
          </a:p>
        </p:txBody>
      </p:sp>
      <p:grpSp>
        <p:nvGrpSpPr>
          <p:cNvPr id="3" name="object 3"/>
          <p:cNvGrpSpPr/>
          <p:nvPr/>
        </p:nvGrpSpPr>
        <p:grpSpPr>
          <a:xfrm>
            <a:off x="3964374" y="1187620"/>
            <a:ext cx="3907347" cy="1525762"/>
            <a:chOff x="3962400" y="1188719"/>
            <a:chExt cx="3910965" cy="1527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0" y="1188719"/>
              <a:ext cx="1417320" cy="15087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5664" y="1207007"/>
              <a:ext cx="1417319" cy="15087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530435" y="1549235"/>
            <a:ext cx="483422" cy="51324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38066">
              <a:spcBef>
                <a:spcPts val="105"/>
              </a:spcBef>
            </a:pPr>
            <a:r>
              <a:rPr sz="3197" spc="-25" dirty="0">
                <a:latin typeface="Cambria Math"/>
                <a:cs typeface="Cambria Math"/>
              </a:rPr>
              <a:t>𝐺</a:t>
            </a:r>
            <a:r>
              <a:rPr sz="3522" spc="-37" baseline="-15366" dirty="0">
                <a:latin typeface="Cambria Math"/>
                <a:cs typeface="Cambria Math"/>
              </a:rPr>
              <a:t>𝑥</a:t>
            </a:r>
            <a:endParaRPr sz="3522" baseline="-15366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5461" y="1654294"/>
            <a:ext cx="496111" cy="51324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38066">
              <a:spcBef>
                <a:spcPts val="105"/>
              </a:spcBef>
            </a:pPr>
            <a:r>
              <a:rPr sz="3197" spc="-25" dirty="0">
                <a:latin typeface="Cambria Math"/>
                <a:cs typeface="Cambria Math"/>
              </a:rPr>
              <a:t>𝐺</a:t>
            </a:r>
            <a:r>
              <a:rPr sz="3522" spc="-37" baseline="-15366" dirty="0">
                <a:latin typeface="Cambria Math"/>
                <a:cs typeface="Cambria Math"/>
              </a:rPr>
              <a:t>𝑦</a:t>
            </a:r>
            <a:endParaRPr sz="3522" baseline="-15366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3122" y="1255628"/>
            <a:ext cx="786672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0" dirty="0">
                <a:latin typeface="SimSun"/>
                <a:cs typeface="SimSun"/>
              </a:rPr>
              <a:t>Sobel</a:t>
            </a:r>
            <a:endParaRPr sz="2398">
              <a:latin typeface="SimSun"/>
              <a:cs typeface="SimSu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4201" y="2857901"/>
            <a:ext cx="9581660" cy="35963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88673" y="1644777"/>
            <a:ext cx="3172697" cy="51324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38066">
              <a:spcBef>
                <a:spcPts val="105"/>
              </a:spcBef>
            </a:pPr>
            <a:r>
              <a:rPr sz="3197" dirty="0">
                <a:latin typeface="Cambria Math"/>
                <a:cs typeface="Cambria Math"/>
              </a:rPr>
              <a:t>|𝐺</a:t>
            </a:r>
            <a:r>
              <a:rPr sz="3522" baseline="-15366" dirty="0">
                <a:latin typeface="Cambria Math"/>
                <a:cs typeface="Cambria Math"/>
              </a:rPr>
              <a:t>𝑥</a:t>
            </a:r>
            <a:r>
              <a:rPr sz="3522" spc="532" baseline="-15366" dirty="0">
                <a:latin typeface="Cambria Math"/>
                <a:cs typeface="Cambria Math"/>
              </a:rPr>
              <a:t> </a:t>
            </a:r>
            <a:r>
              <a:rPr sz="3197" dirty="0">
                <a:latin typeface="Cambria Math"/>
                <a:cs typeface="Cambria Math"/>
              </a:rPr>
              <a:t>∗</a:t>
            </a:r>
            <a:r>
              <a:rPr sz="3197" spc="5" dirty="0">
                <a:latin typeface="Cambria Math"/>
                <a:cs typeface="Cambria Math"/>
              </a:rPr>
              <a:t> </a:t>
            </a:r>
            <a:r>
              <a:rPr sz="3197" dirty="0">
                <a:latin typeface="Cambria Math"/>
                <a:cs typeface="Cambria Math"/>
              </a:rPr>
              <a:t>𝑓|</a:t>
            </a:r>
            <a:r>
              <a:rPr sz="3197" spc="-15" dirty="0">
                <a:latin typeface="Cambria Math"/>
                <a:cs typeface="Cambria Math"/>
              </a:rPr>
              <a:t> </a:t>
            </a:r>
            <a:r>
              <a:rPr sz="3197" dirty="0">
                <a:latin typeface="Cambria Math"/>
                <a:cs typeface="Cambria Math"/>
              </a:rPr>
              <a:t>+</a:t>
            </a:r>
            <a:r>
              <a:rPr sz="3197" spc="-15" dirty="0">
                <a:latin typeface="Cambria Math"/>
                <a:cs typeface="Cambria Math"/>
              </a:rPr>
              <a:t> </a:t>
            </a:r>
            <a:r>
              <a:rPr sz="3197" dirty="0">
                <a:latin typeface="Cambria Math"/>
                <a:cs typeface="Cambria Math"/>
              </a:rPr>
              <a:t>|𝐺</a:t>
            </a:r>
            <a:r>
              <a:rPr sz="3522" baseline="-15366" dirty="0">
                <a:latin typeface="Cambria Math"/>
                <a:cs typeface="Cambria Math"/>
              </a:rPr>
              <a:t>𝑦</a:t>
            </a:r>
            <a:r>
              <a:rPr sz="3522" spc="532" baseline="-15366" dirty="0">
                <a:latin typeface="Cambria Math"/>
                <a:cs typeface="Cambria Math"/>
              </a:rPr>
              <a:t> </a:t>
            </a:r>
            <a:r>
              <a:rPr sz="3197" dirty="0">
                <a:latin typeface="Cambria Math"/>
                <a:cs typeface="Cambria Math"/>
              </a:rPr>
              <a:t>∗</a:t>
            </a:r>
            <a:r>
              <a:rPr sz="3197" spc="-15" dirty="0">
                <a:latin typeface="Cambria Math"/>
                <a:cs typeface="Cambria Math"/>
              </a:rPr>
              <a:t> </a:t>
            </a:r>
            <a:r>
              <a:rPr sz="3197" spc="-25" dirty="0">
                <a:latin typeface="Cambria Math"/>
                <a:cs typeface="Cambria Math"/>
              </a:rPr>
              <a:t>𝑓|</a:t>
            </a:r>
            <a:endParaRPr sz="3197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58317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708" y="297926"/>
            <a:ext cx="6971735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298675" algn="l"/>
              </a:tabLst>
            </a:pPr>
            <a:r>
              <a:rPr sz="2800" spc="235" dirty="0"/>
              <a:t>5.3</a:t>
            </a:r>
            <a:r>
              <a:rPr sz="2800" dirty="0"/>
              <a:t>	</a:t>
            </a:r>
            <a:r>
              <a:rPr sz="2800" spc="90" dirty="0"/>
              <a:t>Laplacian</a:t>
            </a:r>
            <a:r>
              <a:rPr sz="2800" dirty="0"/>
              <a:t>、</a:t>
            </a:r>
            <a:r>
              <a:rPr sz="2800" spc="-40" dirty="0"/>
              <a:t>LoG</a:t>
            </a:r>
            <a:r>
              <a:rPr sz="2800" spc="-45" dirty="0"/>
              <a:t>算子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8493" y="1592629"/>
            <a:ext cx="7185356" cy="3597119"/>
            <a:chOff x="2385060" y="1594103"/>
            <a:chExt cx="7192009" cy="3600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060" y="1594103"/>
              <a:ext cx="7191756" cy="35996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70120" y="1594103"/>
              <a:ext cx="2402205" cy="3600450"/>
            </a:xfrm>
            <a:custGeom>
              <a:avLst/>
              <a:gdLst/>
              <a:ahLst/>
              <a:cxnLst/>
              <a:rect l="l" t="t" r="r" b="b"/>
              <a:pathLst>
                <a:path w="2402204" h="3600450">
                  <a:moveTo>
                    <a:pt x="2401824" y="0"/>
                  </a:moveTo>
                  <a:lnTo>
                    <a:pt x="2401824" y="3599942"/>
                  </a:lnTo>
                </a:path>
                <a:path w="2402204" h="3600450">
                  <a:moveTo>
                    <a:pt x="0" y="0"/>
                  </a:moveTo>
                  <a:lnTo>
                    <a:pt x="0" y="3599942"/>
                  </a:lnTo>
                </a:path>
              </a:pathLst>
            </a:custGeom>
            <a:ln w="914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12974" y="5384893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25" dirty="0">
                <a:latin typeface="SimSun"/>
                <a:cs typeface="SimSun"/>
              </a:rPr>
              <a:t>原图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8608" y="5384893"/>
            <a:ext cx="200537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Laplacian</a:t>
            </a:r>
            <a:r>
              <a:rPr sz="2398" spc="-25" dirty="0">
                <a:latin typeface="SimSun"/>
                <a:cs typeface="SimSun"/>
              </a:rPr>
              <a:t>算子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1895" y="5384893"/>
            <a:ext cx="1091824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LoG</a:t>
            </a:r>
            <a:r>
              <a:rPr sz="2398" spc="-25" dirty="0">
                <a:latin typeface="SimSun"/>
                <a:cs typeface="SimSun"/>
              </a:rPr>
              <a:t>算子</a:t>
            </a:r>
            <a:endParaRPr sz="23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85011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708" y="297926"/>
            <a:ext cx="5849946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298675" algn="l"/>
              </a:tabLst>
            </a:pPr>
            <a:r>
              <a:rPr sz="2800" spc="235" dirty="0"/>
              <a:t>5.3</a:t>
            </a:r>
            <a:r>
              <a:rPr sz="2800" dirty="0"/>
              <a:t>	</a:t>
            </a:r>
            <a:r>
              <a:rPr sz="2800" spc="90" dirty="0"/>
              <a:t>Laplacian</a:t>
            </a:r>
            <a:r>
              <a:rPr sz="2800" dirty="0"/>
              <a:t>、</a:t>
            </a:r>
            <a:r>
              <a:rPr sz="2800" spc="-40" dirty="0"/>
              <a:t>LoG</a:t>
            </a:r>
            <a:r>
              <a:rPr sz="2800" spc="-45" dirty="0"/>
              <a:t>算子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62" y="6316718"/>
            <a:ext cx="1083322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>
              <a:spcBef>
                <a:spcPts val="100"/>
              </a:spcBef>
            </a:pPr>
            <a:r>
              <a:rPr sz="1199" spc="-10" dirty="0">
                <a:latin typeface="Arial"/>
                <a:cs typeface="Arial"/>
              </a:rPr>
              <a:t>[1]https://blog.csdn.net/a361251388leaning/article/details/50288479?utm_medium=distribute.pc_relevant.none-task-blog-BlogCommendFromMachineLearnPai2- 6.control&amp;depth_1-utm_source=distribute.pc_relevant.none-task-blog-BlogCommendFromMachineLearnPai2-6.control</a:t>
            </a:r>
            <a:endParaRPr sz="1199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8769" y="1374899"/>
            <a:ext cx="6769816" cy="3550807"/>
            <a:chOff x="1324355" y="1376171"/>
            <a:chExt cx="6776084" cy="35540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355" y="1417319"/>
              <a:ext cx="1386840" cy="14935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1463" y="1424939"/>
              <a:ext cx="1402080" cy="14782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5" y="3421379"/>
              <a:ext cx="1379220" cy="14706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1463" y="3421379"/>
              <a:ext cx="1417319" cy="15087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0155" y="1376171"/>
              <a:ext cx="2279904" cy="242316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6091" y="5238725"/>
            <a:ext cx="200537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Laplacian</a:t>
            </a:r>
            <a:r>
              <a:rPr sz="2398" spc="-25" dirty="0">
                <a:latin typeface="SimSun"/>
                <a:cs typeface="SimSun"/>
              </a:rPr>
              <a:t>算子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3621" y="3956400"/>
            <a:ext cx="1547967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0" dirty="0">
                <a:latin typeface="SimSun"/>
                <a:cs typeface="SimSun"/>
              </a:rPr>
              <a:t>LoG算子</a:t>
            </a:r>
            <a:r>
              <a:rPr sz="2398" spc="-25" dirty="0">
                <a:latin typeface="SimSun"/>
                <a:cs typeface="SimSun"/>
              </a:rPr>
              <a:t>[1]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3621" y="4687801"/>
            <a:ext cx="3222816" cy="11222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  <a:tabLst>
                <a:tab pos="1534683" algn="l"/>
                <a:tab pos="1991470" algn="l"/>
              </a:tabLst>
            </a:pPr>
            <a:r>
              <a:rPr sz="2398" spc="-10" dirty="0">
                <a:latin typeface="SimSun"/>
                <a:cs typeface="SimSun"/>
              </a:rPr>
              <a:t>Laplacian</a:t>
            </a:r>
            <a:r>
              <a:rPr sz="2398" dirty="0">
                <a:latin typeface="SimSun"/>
                <a:cs typeface="SimSun"/>
              </a:rPr>
              <a:t>	</a:t>
            </a:r>
            <a:r>
              <a:rPr sz="2398" spc="-25" dirty="0">
                <a:latin typeface="SimSun"/>
                <a:cs typeface="SimSun"/>
              </a:rPr>
              <a:t>of</a:t>
            </a:r>
            <a:r>
              <a:rPr sz="2398" dirty="0">
                <a:latin typeface="SimSun"/>
                <a:cs typeface="SimSun"/>
              </a:rPr>
              <a:t>	</a:t>
            </a:r>
            <a:r>
              <a:rPr sz="2398" spc="-10" dirty="0">
                <a:latin typeface="SimSun"/>
                <a:cs typeface="SimSun"/>
              </a:rPr>
              <a:t>Gaussian</a:t>
            </a:r>
            <a:endParaRPr sz="2398">
              <a:latin typeface="SimSun"/>
              <a:cs typeface="SimSun"/>
            </a:endParaRPr>
          </a:p>
          <a:p>
            <a:pPr marL="468843" indent="-456154">
              <a:buAutoNum type="arabicPeriod"/>
              <a:tabLst>
                <a:tab pos="468843" algn="l"/>
              </a:tabLst>
            </a:pPr>
            <a:r>
              <a:rPr sz="2398" spc="-10" dirty="0">
                <a:latin typeface="SimSun"/>
                <a:cs typeface="SimSun"/>
              </a:rPr>
              <a:t>高斯模糊图像</a:t>
            </a:r>
            <a:endParaRPr sz="2398">
              <a:latin typeface="SimSun"/>
              <a:cs typeface="SimSun"/>
            </a:endParaRPr>
          </a:p>
          <a:p>
            <a:pPr marL="468208" indent="-455520">
              <a:buAutoNum type="arabicPeriod"/>
              <a:tabLst>
                <a:tab pos="468208" algn="l"/>
              </a:tabLst>
            </a:pPr>
            <a:r>
              <a:rPr sz="2398" spc="-10" dirty="0">
                <a:latin typeface="SimSun"/>
                <a:cs typeface="SimSun"/>
              </a:rPr>
              <a:t>Laplacian</a:t>
            </a:r>
            <a:r>
              <a:rPr sz="2398" spc="-15" dirty="0">
                <a:latin typeface="SimSun"/>
                <a:cs typeface="SimSun"/>
              </a:rPr>
              <a:t>二阶梯度</a:t>
            </a:r>
            <a:endParaRPr sz="23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413663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708" y="297926"/>
            <a:ext cx="5981921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298675" algn="l"/>
              </a:tabLst>
            </a:pPr>
            <a:r>
              <a:rPr sz="2800" spc="235" dirty="0"/>
              <a:t>5.3</a:t>
            </a:r>
            <a:r>
              <a:rPr sz="2800" dirty="0"/>
              <a:t>	</a:t>
            </a:r>
            <a:r>
              <a:rPr sz="2800" spc="90" dirty="0"/>
              <a:t>Laplacian</a:t>
            </a:r>
            <a:r>
              <a:rPr sz="2800" dirty="0"/>
              <a:t>、</a:t>
            </a:r>
            <a:r>
              <a:rPr sz="2800" spc="-40" dirty="0"/>
              <a:t>LoG</a:t>
            </a:r>
            <a:r>
              <a:rPr sz="2800" spc="-45" dirty="0"/>
              <a:t>算子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62" y="6316718"/>
            <a:ext cx="1083322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>
              <a:spcBef>
                <a:spcPts val="100"/>
              </a:spcBef>
            </a:pPr>
            <a:r>
              <a:rPr sz="1199" spc="-10" dirty="0">
                <a:latin typeface="Arial"/>
                <a:cs typeface="Arial"/>
              </a:rPr>
              <a:t>[1]https://blog.csdn.net/a361251388leaning/article/details/50288479?utm_medium=distribute.pc_relevant.none-task-blog-BlogCommendFromMachineLearnPai2- 6.control&amp;depth_1-utm_source=distribute.pc_relevant.none-task-blog-BlogCommendFromMachineLearnPai2-6.control</a:t>
            </a:r>
            <a:endParaRPr sz="1199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8769" y="1374899"/>
            <a:ext cx="10580733" cy="3550807"/>
            <a:chOff x="1324355" y="1376171"/>
            <a:chExt cx="10590530" cy="35540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355" y="1417319"/>
              <a:ext cx="1386840" cy="14935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1463" y="1424939"/>
              <a:ext cx="1402080" cy="14782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5" y="3421379"/>
              <a:ext cx="1379220" cy="14706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1463" y="3421379"/>
              <a:ext cx="1417319" cy="15087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0155" y="1376171"/>
              <a:ext cx="2279904" cy="2423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20684" y="1376171"/>
              <a:ext cx="3393948" cy="319735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176091" y="5238725"/>
            <a:ext cx="200537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Laplacian</a:t>
            </a:r>
            <a:r>
              <a:rPr sz="2398" spc="-25" dirty="0">
                <a:latin typeface="SimSun"/>
                <a:cs typeface="SimSun"/>
              </a:rPr>
              <a:t>算子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3621" y="3956400"/>
            <a:ext cx="1547967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10" dirty="0">
                <a:latin typeface="SimSun"/>
                <a:cs typeface="SimSun"/>
              </a:rPr>
              <a:t>LoG算子</a:t>
            </a:r>
            <a:r>
              <a:rPr sz="2398" spc="-25" dirty="0">
                <a:latin typeface="SimSun"/>
                <a:cs typeface="SimSun"/>
              </a:rPr>
              <a:t>[1]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3621" y="4687801"/>
            <a:ext cx="3222816" cy="11222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  <a:tabLst>
                <a:tab pos="1534683" algn="l"/>
                <a:tab pos="1991470" algn="l"/>
              </a:tabLst>
            </a:pPr>
            <a:r>
              <a:rPr sz="2398" spc="-10" dirty="0">
                <a:latin typeface="SimSun"/>
                <a:cs typeface="SimSun"/>
              </a:rPr>
              <a:t>Laplacian</a:t>
            </a:r>
            <a:r>
              <a:rPr sz="2398" dirty="0">
                <a:latin typeface="SimSun"/>
                <a:cs typeface="SimSun"/>
              </a:rPr>
              <a:t>	</a:t>
            </a:r>
            <a:r>
              <a:rPr sz="2398" spc="-25" dirty="0">
                <a:latin typeface="SimSun"/>
                <a:cs typeface="SimSun"/>
              </a:rPr>
              <a:t>of</a:t>
            </a:r>
            <a:r>
              <a:rPr sz="2398" dirty="0">
                <a:latin typeface="SimSun"/>
                <a:cs typeface="SimSun"/>
              </a:rPr>
              <a:t>	</a:t>
            </a:r>
            <a:r>
              <a:rPr sz="2398" spc="-10" dirty="0">
                <a:latin typeface="SimSun"/>
                <a:cs typeface="SimSun"/>
              </a:rPr>
              <a:t>Gaussian</a:t>
            </a:r>
            <a:endParaRPr sz="2398">
              <a:latin typeface="SimSun"/>
              <a:cs typeface="SimSun"/>
            </a:endParaRPr>
          </a:p>
          <a:p>
            <a:pPr marL="468843" indent="-456154">
              <a:buAutoNum type="arabicPeriod"/>
              <a:tabLst>
                <a:tab pos="468843" algn="l"/>
              </a:tabLst>
            </a:pPr>
            <a:r>
              <a:rPr sz="2398" spc="-10" dirty="0">
                <a:latin typeface="SimSun"/>
                <a:cs typeface="SimSun"/>
              </a:rPr>
              <a:t>高斯模糊图像</a:t>
            </a:r>
            <a:endParaRPr sz="2398">
              <a:latin typeface="SimSun"/>
              <a:cs typeface="SimSun"/>
            </a:endParaRPr>
          </a:p>
          <a:p>
            <a:pPr marL="468208" indent="-455520">
              <a:buAutoNum type="arabicPeriod"/>
              <a:tabLst>
                <a:tab pos="468208" algn="l"/>
              </a:tabLst>
            </a:pPr>
            <a:r>
              <a:rPr sz="2398" spc="-10" dirty="0">
                <a:latin typeface="SimSun"/>
                <a:cs typeface="SimSun"/>
              </a:rPr>
              <a:t>Laplacian</a:t>
            </a:r>
            <a:r>
              <a:rPr sz="2398" spc="-15" dirty="0">
                <a:latin typeface="SimSun"/>
                <a:cs typeface="SimSun"/>
              </a:rPr>
              <a:t>二阶梯度</a:t>
            </a:r>
            <a:endParaRPr sz="23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98946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708" y="298151"/>
            <a:ext cx="5397459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298675" algn="l"/>
              </a:tabLst>
            </a:pPr>
            <a:r>
              <a:rPr spc="235" dirty="0">
                <a:latin typeface="+mj-lt"/>
              </a:rPr>
              <a:t>5.3</a:t>
            </a:r>
            <a:r>
              <a:rPr dirty="0">
                <a:latin typeface="+mj-lt"/>
              </a:rPr>
              <a:t>	</a:t>
            </a:r>
            <a:r>
              <a:rPr spc="90" dirty="0">
                <a:latin typeface="+mj-lt"/>
              </a:rPr>
              <a:t>Laplacian</a:t>
            </a:r>
            <a:r>
              <a:rPr dirty="0">
                <a:latin typeface="+mj-lt"/>
              </a:rPr>
              <a:t>、</a:t>
            </a:r>
            <a:r>
              <a:rPr spc="-40" dirty="0">
                <a:latin typeface="+mj-lt"/>
              </a:rPr>
              <a:t>LoG</a:t>
            </a:r>
            <a:r>
              <a:rPr spc="-45" dirty="0">
                <a:latin typeface="+mj-lt"/>
              </a:rPr>
              <a:t>算子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4291" y="1033838"/>
            <a:ext cx="9659566" cy="5498454"/>
            <a:chOff x="1089660" y="1034795"/>
            <a:chExt cx="9668510" cy="5503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1336" y="3602735"/>
              <a:ext cx="3116579" cy="2935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4760" y="1034795"/>
              <a:ext cx="2930652" cy="26639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9660" y="1498091"/>
              <a:ext cx="4396740" cy="10820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2332" y="2872739"/>
              <a:ext cx="4312920" cy="1182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9660" y="4413504"/>
              <a:ext cx="5561075" cy="1129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4307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573" y="297926"/>
            <a:ext cx="4416780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8192" algn="l"/>
              </a:tabLst>
            </a:pPr>
            <a:r>
              <a:rPr sz="2800" spc="290" dirty="0"/>
              <a:t>5.4</a:t>
            </a:r>
            <a:r>
              <a:rPr sz="2800" dirty="0"/>
              <a:t>	</a:t>
            </a:r>
            <a:r>
              <a:rPr sz="2800" spc="-90" dirty="0"/>
              <a:t>Canny</a:t>
            </a:r>
            <a:r>
              <a:rPr sz="2800" spc="-45" dirty="0"/>
              <a:t>算法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19975" y="1472344"/>
            <a:ext cx="7186626" cy="3597119"/>
            <a:chOff x="2316479" y="1473707"/>
            <a:chExt cx="7193280" cy="3600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6479" y="1473707"/>
              <a:ext cx="7193280" cy="35996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23176" y="1473707"/>
              <a:ext cx="0" cy="3600450"/>
            </a:xfrm>
            <a:custGeom>
              <a:avLst/>
              <a:gdLst/>
              <a:ahLst/>
              <a:cxnLst/>
              <a:rect l="l" t="t" r="r" b="b"/>
              <a:pathLst>
                <a:path h="3600450">
                  <a:moveTo>
                    <a:pt x="0" y="0"/>
                  </a:moveTo>
                  <a:lnTo>
                    <a:pt x="0" y="3599941"/>
                  </a:lnTo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12974" y="5384893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spc="-25" dirty="0">
                <a:latin typeface="SimSun"/>
                <a:cs typeface="SimSun"/>
              </a:rPr>
              <a:t>原图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6270" y="5384893"/>
            <a:ext cx="185311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OpenCV-</a:t>
            </a:r>
            <a:r>
              <a:rPr sz="2398" spc="-10" dirty="0">
                <a:latin typeface="SimSun"/>
                <a:cs typeface="SimSun"/>
              </a:rPr>
              <a:t>Canny</a:t>
            </a:r>
            <a:endParaRPr sz="2398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2518" y="5395551"/>
            <a:ext cx="200537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sz="2398" dirty="0">
                <a:latin typeface="SimSun"/>
                <a:cs typeface="SimSun"/>
              </a:rPr>
              <a:t>普通Canny</a:t>
            </a:r>
            <a:r>
              <a:rPr sz="2398" spc="-25" dirty="0">
                <a:latin typeface="SimSun"/>
                <a:cs typeface="SimSun"/>
              </a:rPr>
              <a:t>复现</a:t>
            </a:r>
            <a:endParaRPr sz="23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50697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573" y="297926"/>
            <a:ext cx="4577035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8192" algn="l"/>
              </a:tabLst>
            </a:pPr>
            <a:r>
              <a:rPr sz="2800" spc="290" dirty="0"/>
              <a:t>5.4</a:t>
            </a:r>
            <a:r>
              <a:rPr sz="2800" dirty="0"/>
              <a:t>	</a:t>
            </a:r>
            <a:r>
              <a:rPr sz="2800" spc="-90" dirty="0"/>
              <a:t>Canny</a:t>
            </a:r>
            <a:r>
              <a:rPr sz="2800" spc="-45" dirty="0"/>
              <a:t>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62" y="6512828"/>
            <a:ext cx="7675771" cy="28949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</a:pPr>
            <a:r>
              <a:rPr lang="en" sz="1798" spc="-10" dirty="0">
                <a:latin typeface="Arial"/>
                <a:cs typeface="Arial"/>
              </a:rPr>
              <a:t>https://</a:t>
            </a:r>
            <a:r>
              <a:rPr lang="en" sz="1798" spc="-10" dirty="0" err="1">
                <a:latin typeface="Arial"/>
                <a:cs typeface="Arial"/>
              </a:rPr>
              <a:t>www.cse.iitd.ernet.in</a:t>
            </a:r>
            <a:r>
              <a:rPr lang="en" sz="1798" spc="-10" dirty="0">
                <a:latin typeface="Arial"/>
                <a:cs typeface="Arial"/>
              </a:rPr>
              <a:t>/~</a:t>
            </a:r>
            <a:r>
              <a:rPr lang="en" sz="1798" spc="-10" dirty="0" err="1">
                <a:latin typeface="Arial"/>
                <a:cs typeface="Arial"/>
              </a:rPr>
              <a:t>pkalra</a:t>
            </a:r>
            <a:r>
              <a:rPr lang="en" sz="1798" spc="-10" dirty="0">
                <a:latin typeface="Arial"/>
                <a:cs typeface="Arial"/>
              </a:rPr>
              <a:t>/col783-2017/</a:t>
            </a:r>
            <a:r>
              <a:rPr lang="en" sz="1798" spc="-10" dirty="0" err="1">
                <a:latin typeface="Arial"/>
                <a:cs typeface="Arial"/>
              </a:rPr>
              <a:t>canny.pdf</a:t>
            </a:r>
            <a:endParaRPr sz="1798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475" y="1111870"/>
            <a:ext cx="10524270" cy="1853754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354646" indent="-341957">
              <a:spcBef>
                <a:spcPts val="105"/>
              </a:spcBef>
              <a:buAutoNum type="arabicPeriod"/>
              <a:tabLst>
                <a:tab pos="354646" algn="l"/>
              </a:tabLst>
            </a:pPr>
            <a:r>
              <a:rPr sz="1998" spc="-5" dirty="0">
                <a:latin typeface="SimSun"/>
                <a:cs typeface="SimSun"/>
              </a:rPr>
              <a:t>平滑：模糊削弱噪声。</a:t>
            </a:r>
            <a:endParaRPr sz="1998" dirty="0">
              <a:latin typeface="SimSun"/>
              <a:cs typeface="SimSun"/>
            </a:endParaRPr>
          </a:p>
          <a:p>
            <a:pPr marL="354646" indent="-341957">
              <a:buAutoNum type="arabicPeriod"/>
              <a:tabLst>
                <a:tab pos="354646" algn="l"/>
              </a:tabLst>
            </a:pPr>
            <a:r>
              <a:rPr sz="1998" spc="-10" dirty="0">
                <a:latin typeface="SimSun"/>
                <a:cs typeface="SimSun"/>
              </a:rPr>
              <a:t>计算梯度：梯度包括大小和方向，由x</a:t>
            </a:r>
            <a:r>
              <a:rPr sz="1998" dirty="0">
                <a:latin typeface="SimSun"/>
                <a:cs typeface="SimSun"/>
              </a:rPr>
              <a:t>和</a:t>
            </a:r>
            <a:r>
              <a:rPr sz="1998" spc="-10" dirty="0">
                <a:latin typeface="SimSun"/>
                <a:cs typeface="SimSun"/>
              </a:rPr>
              <a:t>y</a:t>
            </a:r>
            <a:r>
              <a:rPr sz="1998" spc="-20" dirty="0">
                <a:latin typeface="SimSun"/>
                <a:cs typeface="SimSun"/>
              </a:rPr>
              <a:t>方向合成。</a:t>
            </a:r>
            <a:endParaRPr sz="1998" dirty="0">
              <a:latin typeface="SimSun"/>
              <a:cs typeface="SimSun"/>
            </a:endParaRPr>
          </a:p>
          <a:p>
            <a:pPr marL="354646" indent="-341957">
              <a:buAutoNum type="arabicPeriod"/>
              <a:tabLst>
                <a:tab pos="354646" algn="l"/>
              </a:tabLst>
            </a:pPr>
            <a:r>
              <a:rPr sz="1998" spc="-20" dirty="0">
                <a:latin typeface="SimSun"/>
                <a:cs typeface="SimSun"/>
              </a:rPr>
              <a:t>细化边缘：利用非极大值抑制，只有局部最大值保留为边缘。</a:t>
            </a:r>
            <a:endParaRPr sz="1998" dirty="0">
              <a:latin typeface="SimSun"/>
              <a:cs typeface="SimSun"/>
            </a:endParaRPr>
          </a:p>
          <a:p>
            <a:pPr marL="354011" marR="5075" indent="-341957">
              <a:buAutoNum type="arabicPeriod"/>
              <a:tabLst>
                <a:tab pos="355280" algn="l"/>
              </a:tabLst>
            </a:pPr>
            <a:r>
              <a:rPr sz="1998" spc="-15" dirty="0">
                <a:latin typeface="SimSun"/>
                <a:cs typeface="SimSun"/>
              </a:rPr>
              <a:t>双阈值抑制：根据大小两个阈值，高于大阈值的为确定的边缘</a:t>
            </a:r>
            <a:r>
              <a:rPr sz="1998" dirty="0">
                <a:latin typeface="SimSun"/>
                <a:cs typeface="SimSun"/>
              </a:rPr>
              <a:t>（</a:t>
            </a:r>
            <a:r>
              <a:rPr sz="1998" spc="-10" dirty="0">
                <a:latin typeface="SimSun"/>
                <a:cs typeface="SimSun"/>
              </a:rPr>
              <a:t>强边缘）</a:t>
            </a:r>
            <a:r>
              <a:rPr sz="1998" spc="-20" dirty="0">
                <a:latin typeface="SimSun"/>
                <a:cs typeface="SimSun"/>
              </a:rPr>
              <a:t>；低于小阈值的不	</a:t>
            </a:r>
            <a:r>
              <a:rPr sz="1998" spc="-10" dirty="0">
                <a:latin typeface="SimSun"/>
                <a:cs typeface="SimSun"/>
              </a:rPr>
              <a:t>是边缘；处于两者之间的像素点</a:t>
            </a:r>
            <a:r>
              <a:rPr sz="1998" dirty="0">
                <a:latin typeface="SimSun"/>
                <a:cs typeface="SimSun"/>
              </a:rPr>
              <a:t>（</a:t>
            </a:r>
            <a:r>
              <a:rPr sz="1998" spc="-10" dirty="0">
                <a:latin typeface="SimSun"/>
                <a:cs typeface="SimSun"/>
              </a:rPr>
              <a:t>弱边缘</a:t>
            </a:r>
            <a:r>
              <a:rPr sz="1998" dirty="0">
                <a:latin typeface="SimSun"/>
                <a:cs typeface="SimSun"/>
              </a:rPr>
              <a:t>）</a:t>
            </a:r>
            <a:r>
              <a:rPr sz="1998" spc="-25" dirty="0">
                <a:latin typeface="SimSun"/>
                <a:cs typeface="SimSun"/>
              </a:rPr>
              <a:t>下一步确定。</a:t>
            </a:r>
            <a:endParaRPr sz="1998" dirty="0">
              <a:latin typeface="SimSun"/>
              <a:cs typeface="SimSun"/>
            </a:endParaRPr>
          </a:p>
          <a:p>
            <a:pPr marL="354646" indent="-341957">
              <a:buAutoNum type="arabicPeriod"/>
              <a:tabLst>
                <a:tab pos="354646" algn="l"/>
              </a:tabLst>
            </a:pPr>
            <a:r>
              <a:rPr sz="1998" spc="-20" dirty="0">
                <a:latin typeface="SimSun"/>
                <a:cs typeface="SimSun"/>
              </a:rPr>
              <a:t>边缘追踪：对于弱边缘，如果和强边缘相连，则也为边缘，否则不是边缘。</a:t>
            </a:r>
            <a:endParaRPr sz="1998" dirty="0">
              <a:latin typeface="SimSun"/>
              <a:cs typeface="SimSu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27788" y="3304020"/>
            <a:ext cx="6707010" cy="2518618"/>
            <a:chOff x="1123188" y="3307079"/>
            <a:chExt cx="6713220" cy="2520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188" y="3307079"/>
              <a:ext cx="6713219" cy="25206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80559" y="3307079"/>
              <a:ext cx="1681480" cy="2520315"/>
            </a:xfrm>
            <a:custGeom>
              <a:avLst/>
              <a:gdLst/>
              <a:ahLst/>
              <a:cxnLst/>
              <a:rect l="l" t="t" r="r" b="b"/>
              <a:pathLst>
                <a:path w="1681479" h="2520315">
                  <a:moveTo>
                    <a:pt x="0" y="0"/>
                  </a:moveTo>
                  <a:lnTo>
                    <a:pt x="0" y="2519997"/>
                  </a:lnTo>
                </a:path>
                <a:path w="1681479" h="2520315">
                  <a:moveTo>
                    <a:pt x="1680972" y="0"/>
                  </a:moveTo>
                  <a:lnTo>
                    <a:pt x="1680972" y="2519997"/>
                  </a:lnTo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3B5AB94-E45B-77B4-00F2-B8B9D0E41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568" y="650517"/>
            <a:ext cx="3263899" cy="92270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37D5CD-8E87-988A-1972-C4DA9A78F1BC}"/>
              </a:ext>
            </a:extLst>
          </p:cNvPr>
          <p:cNvSpPr txBox="1"/>
          <p:nvPr/>
        </p:nvSpPr>
        <p:spPr>
          <a:xfrm>
            <a:off x="1752600" y="58220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82F9F3-2A23-AFD0-D623-0C0452D935EA}"/>
              </a:ext>
            </a:extLst>
          </p:cNvPr>
          <p:cNvSpPr txBox="1"/>
          <p:nvPr/>
        </p:nvSpPr>
        <p:spPr>
          <a:xfrm>
            <a:off x="3479800" y="58220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C7B59A-8803-E7B0-8834-C788697230B8}"/>
              </a:ext>
            </a:extLst>
          </p:cNvPr>
          <p:cNvSpPr txBox="1"/>
          <p:nvPr/>
        </p:nvSpPr>
        <p:spPr>
          <a:xfrm>
            <a:off x="5106865" y="58220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24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7876-8432-ABE0-6B19-A2F74B8C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922C12-032F-8B82-95BC-203A330992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573" y="297926"/>
            <a:ext cx="4577035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8192" algn="l"/>
              </a:tabLst>
            </a:pPr>
            <a:r>
              <a:rPr sz="2800" spc="290" dirty="0"/>
              <a:t>5.4</a:t>
            </a:r>
            <a:r>
              <a:rPr sz="2800" dirty="0"/>
              <a:t>	</a:t>
            </a:r>
            <a:r>
              <a:rPr sz="2800" spc="-90" dirty="0"/>
              <a:t>Canny</a:t>
            </a:r>
            <a:r>
              <a:rPr sz="2800" spc="-45" dirty="0"/>
              <a:t>算法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64D023-F5F6-133A-F93B-B7BF903FA0F9}"/>
              </a:ext>
            </a:extLst>
          </p:cNvPr>
          <p:cNvSpPr txBox="1"/>
          <p:nvPr/>
        </p:nvSpPr>
        <p:spPr>
          <a:xfrm>
            <a:off x="1086475" y="1111870"/>
            <a:ext cx="10524270" cy="32091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689">
              <a:spcBef>
                <a:spcPts val="105"/>
              </a:spcBef>
              <a:tabLst>
                <a:tab pos="354646" algn="l"/>
              </a:tabLst>
            </a:pPr>
            <a:r>
              <a:rPr sz="1998" spc="-20" dirty="0" err="1">
                <a:latin typeface="SimSun"/>
                <a:cs typeface="SimSun"/>
              </a:rPr>
              <a:t>非极大值抑制</a:t>
            </a:r>
            <a:r>
              <a:rPr lang="zh-CN" altLang="en-US" sz="1998" spc="-20" dirty="0">
                <a:latin typeface="SimSun"/>
                <a:cs typeface="SimSun"/>
              </a:rPr>
              <a:t>：</a:t>
            </a:r>
            <a:r>
              <a:rPr sz="1998" spc="-20" dirty="0" err="1">
                <a:latin typeface="SimSun"/>
                <a:cs typeface="SimSun"/>
              </a:rPr>
              <a:t>只有局部最大值保留为边缘</a:t>
            </a:r>
            <a:endParaRPr sz="1998" dirty="0">
              <a:latin typeface="SimSun"/>
              <a:cs typeface="SimSun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BB8DE5A-F3AE-16BF-E576-68B01FD9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12" y="2433824"/>
            <a:ext cx="3262988" cy="307795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B56A8C-8300-43EE-99EE-5FE4EE60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559" y="2433823"/>
            <a:ext cx="2944509" cy="3077959"/>
          </a:xfrm>
          <a:prstGeom prst="rect">
            <a:avLst/>
          </a:prstGeom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A967290E-E4C6-E570-702B-A5B2A033C418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911600" y="3972803"/>
            <a:ext cx="5349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CE7CE254-A898-C18B-49CE-B6497C671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133" y="2544650"/>
            <a:ext cx="3657600" cy="381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A44DE00-3FC7-AD52-DDD1-743B57C27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357" y="0"/>
            <a:ext cx="3429153" cy="228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18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FEB5-530B-D2D1-5C3D-5F531A08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C2C501-F580-23A1-2582-6203B2BDD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573" y="297926"/>
            <a:ext cx="4577035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8192" algn="l"/>
              </a:tabLst>
            </a:pPr>
            <a:r>
              <a:rPr sz="2800" spc="290" dirty="0"/>
              <a:t>5.4</a:t>
            </a:r>
            <a:r>
              <a:rPr sz="2800" dirty="0"/>
              <a:t>	</a:t>
            </a:r>
            <a:r>
              <a:rPr sz="2800" spc="-90" dirty="0"/>
              <a:t>Canny</a:t>
            </a:r>
            <a:r>
              <a:rPr sz="2800" spc="-45" dirty="0"/>
              <a:t>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3772A3-288F-4779-ABC0-676A32548398}"/>
              </a:ext>
            </a:extLst>
          </p:cNvPr>
          <p:cNvSpPr txBox="1"/>
          <p:nvPr/>
        </p:nvSpPr>
        <p:spPr>
          <a:xfrm>
            <a:off x="829733" y="952268"/>
            <a:ext cx="8475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54" marR="5075">
              <a:tabLst>
                <a:tab pos="355280" algn="l"/>
              </a:tabLst>
            </a:pPr>
            <a:r>
              <a:rPr lang="zh-CN" altLang="en-US" sz="1800" spc="-15" dirty="0">
                <a:latin typeface="SimSun"/>
                <a:cs typeface="SimSun"/>
              </a:rPr>
              <a:t>双阈值抑制：根据大小两个阈值，高于大阈值的为确定的边缘</a:t>
            </a:r>
            <a:r>
              <a:rPr lang="zh-CN" altLang="en-US" sz="1800" dirty="0">
                <a:latin typeface="SimSun"/>
                <a:cs typeface="SimSun"/>
              </a:rPr>
              <a:t>（</a:t>
            </a:r>
            <a:r>
              <a:rPr lang="zh-CN" altLang="en-US" sz="1800" spc="-10" dirty="0">
                <a:latin typeface="SimSun"/>
                <a:cs typeface="SimSun"/>
              </a:rPr>
              <a:t>强边缘）</a:t>
            </a:r>
            <a:r>
              <a:rPr lang="zh-CN" altLang="en-US" sz="1800" spc="-20" dirty="0">
                <a:latin typeface="SimSun"/>
                <a:cs typeface="SimSun"/>
              </a:rPr>
              <a:t>；低于小阈值的不</a:t>
            </a:r>
            <a:r>
              <a:rPr lang="zh-CN" altLang="en-US" sz="1800" spc="-10" dirty="0">
                <a:latin typeface="SimSun"/>
                <a:cs typeface="SimSun"/>
              </a:rPr>
              <a:t>是边缘；处于两者之间的像素点</a:t>
            </a:r>
            <a:r>
              <a:rPr lang="zh-CN" altLang="en-US" sz="1800" dirty="0">
                <a:latin typeface="SimSun"/>
                <a:cs typeface="SimSun"/>
              </a:rPr>
              <a:t>（</a:t>
            </a:r>
            <a:r>
              <a:rPr lang="zh-CN" altLang="en-US" sz="1800" spc="-10" dirty="0">
                <a:latin typeface="SimSun"/>
                <a:cs typeface="SimSun"/>
              </a:rPr>
              <a:t>弱边缘</a:t>
            </a:r>
            <a:r>
              <a:rPr lang="zh-CN" altLang="en-US" sz="1800" dirty="0">
                <a:latin typeface="SimSun"/>
                <a:cs typeface="SimSun"/>
              </a:rPr>
              <a:t>）</a:t>
            </a:r>
            <a:r>
              <a:rPr lang="zh-CN" altLang="en-US" sz="1800" spc="-25" dirty="0">
                <a:latin typeface="SimSun"/>
                <a:cs typeface="SimSun"/>
              </a:rPr>
              <a:t>下一步确定。</a:t>
            </a:r>
            <a:endParaRPr lang="zh-CN" altLang="en-US" sz="1800" dirty="0">
              <a:latin typeface="SimSun"/>
              <a:cs typeface="SimSu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394781-DD48-BCD6-D267-B761C9BB7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32" y="2663184"/>
            <a:ext cx="36576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949E06-7531-248F-A083-E25EE0EC8418}"/>
              </a:ext>
            </a:extLst>
          </p:cNvPr>
          <p:cNvSpPr txBox="1"/>
          <p:nvPr/>
        </p:nvSpPr>
        <p:spPr>
          <a:xfrm>
            <a:off x="3242733" y="203200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Th1=20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7A41B0-C210-5D64-1DA1-C3B5E947E6FE}"/>
              </a:ext>
            </a:extLst>
          </p:cNvPr>
          <p:cNvSpPr txBox="1"/>
          <p:nvPr/>
        </p:nvSpPr>
        <p:spPr>
          <a:xfrm>
            <a:off x="4927599" y="203200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Th2=300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364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5C4EF-1FCC-6FDF-0153-0AE047F2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FF8789-72C9-CDC7-DF6C-1B1906B37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573" y="297926"/>
            <a:ext cx="4577035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  <a:tabLst>
                <a:tab pos="1308192" algn="l"/>
              </a:tabLst>
            </a:pPr>
            <a:r>
              <a:rPr sz="2800" spc="290" dirty="0"/>
              <a:t>5.4</a:t>
            </a:r>
            <a:r>
              <a:rPr sz="2800" dirty="0"/>
              <a:t>	</a:t>
            </a:r>
            <a:r>
              <a:rPr sz="2800" spc="-90" dirty="0"/>
              <a:t>Canny</a:t>
            </a:r>
            <a:r>
              <a:rPr sz="2800" spc="-45" dirty="0"/>
              <a:t>算法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FEB327-F2E0-1AF6-0110-2D04F7A0E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40" y="1462108"/>
            <a:ext cx="11251819" cy="539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61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276" y="293606"/>
            <a:ext cx="53734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215" dirty="0">
                <a:latin typeface="PMingLiU"/>
                <a:cs typeface="PMingLiU"/>
              </a:rPr>
              <a:t>5.5</a:t>
            </a:r>
            <a:endParaRPr sz="2797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7926"/>
            <a:ext cx="4412477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</a:pPr>
            <a:r>
              <a:rPr sz="2800" spc="-90" dirty="0"/>
              <a:t>Canny</a:t>
            </a:r>
            <a:r>
              <a:rPr sz="2800" spc="-40" dirty="0"/>
              <a:t>编程实现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6475" y="1111871"/>
            <a:ext cx="8455458" cy="935821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469477" indent="-456789">
              <a:spcBef>
                <a:spcPts val="105"/>
              </a:spcBef>
              <a:buFont typeface="Wingdings"/>
              <a:buChar char=""/>
              <a:tabLst>
                <a:tab pos="469477" algn="l"/>
              </a:tabLst>
            </a:pPr>
            <a:r>
              <a:rPr sz="1998" spc="-10" dirty="0" err="1">
                <a:solidFill>
                  <a:srgbClr val="FF0000"/>
                </a:solidFill>
                <a:latin typeface="SimSun"/>
                <a:cs typeface="SimSun"/>
              </a:rPr>
              <a:t>梯度：梯度包括大小和方向，由</a:t>
            </a:r>
            <a:r>
              <a:rPr sz="1998" dirty="0" err="1">
                <a:solidFill>
                  <a:srgbClr val="FF0000"/>
                </a:solidFill>
                <a:latin typeface="SimSun"/>
                <a:cs typeface="SimSun"/>
              </a:rPr>
              <a:t>x</a:t>
            </a:r>
            <a:r>
              <a:rPr sz="1998" spc="-15" dirty="0" err="1">
                <a:solidFill>
                  <a:srgbClr val="FF0000"/>
                </a:solidFill>
                <a:latin typeface="SimSun"/>
                <a:cs typeface="SimSun"/>
              </a:rPr>
              <a:t>和</a:t>
            </a:r>
            <a:r>
              <a:rPr sz="1998" dirty="0" err="1">
                <a:solidFill>
                  <a:srgbClr val="FF0000"/>
                </a:solidFill>
                <a:latin typeface="SimSun"/>
                <a:cs typeface="SimSun"/>
              </a:rPr>
              <a:t>y</a:t>
            </a:r>
            <a:r>
              <a:rPr sz="1998" spc="-25" dirty="0" err="1">
                <a:solidFill>
                  <a:srgbClr val="FF0000"/>
                </a:solidFill>
                <a:latin typeface="SimSun"/>
                <a:cs typeface="SimSun"/>
              </a:rPr>
              <a:t>方向合成</a:t>
            </a:r>
            <a:r>
              <a:rPr sz="1998" spc="-25" dirty="0">
                <a:solidFill>
                  <a:srgbClr val="FF0000"/>
                </a:solidFill>
                <a:latin typeface="SimSun"/>
                <a:cs typeface="SimSun"/>
              </a:rPr>
              <a:t>。</a:t>
            </a:r>
            <a:r>
              <a:rPr lang="zh-CN" altLang="en-US" sz="1998" spc="-2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梯度方向由负指向正</a:t>
            </a:r>
            <a:endParaRPr sz="1998" dirty="0">
              <a:latin typeface="SimSun" panose="02010600030101010101" pitchFamily="2" charset="-122"/>
              <a:ea typeface="SimSun" panose="02010600030101010101" pitchFamily="2" charset="-122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10" dirty="0">
                <a:latin typeface="SimSun"/>
                <a:cs typeface="SimSun"/>
              </a:rPr>
              <a:t>非极大值抑制。</a:t>
            </a:r>
            <a:endParaRPr sz="1998" dirty="0">
              <a:latin typeface="SimSun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20" dirty="0">
                <a:latin typeface="SimSun"/>
                <a:cs typeface="SimSun"/>
              </a:rPr>
              <a:t>边缘细化。</a:t>
            </a:r>
            <a:endParaRPr sz="1998" dirty="0">
              <a:latin typeface="SimSun"/>
              <a:cs typeface="SimSu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096" y="1990025"/>
            <a:ext cx="4050089" cy="39221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CB230A-7766-F535-BB64-2D659ED4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75" y="1688382"/>
            <a:ext cx="15367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276" y="293606"/>
            <a:ext cx="53734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215" dirty="0">
                <a:latin typeface="PMingLiU"/>
                <a:cs typeface="PMingLiU"/>
              </a:rPr>
              <a:t>5.5</a:t>
            </a:r>
            <a:endParaRPr sz="2797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7926"/>
            <a:ext cx="4120246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</a:pPr>
            <a:r>
              <a:rPr sz="2800" spc="-90" dirty="0"/>
              <a:t>Canny</a:t>
            </a:r>
            <a:r>
              <a:rPr sz="2800" spc="-40" dirty="0"/>
              <a:t>编程实现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6475" y="1111871"/>
            <a:ext cx="5816929" cy="940198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469477" indent="-456789">
              <a:spcBef>
                <a:spcPts val="105"/>
              </a:spcBef>
              <a:buFont typeface="Wingdings"/>
              <a:buChar char=""/>
              <a:tabLst>
                <a:tab pos="469477" algn="l"/>
              </a:tabLst>
            </a:pPr>
            <a:r>
              <a:rPr sz="1998" spc="-10" dirty="0">
                <a:latin typeface="SimSun"/>
                <a:cs typeface="SimSun"/>
              </a:rPr>
              <a:t>梯度：梯度包括大小和方向，由</a:t>
            </a:r>
            <a:r>
              <a:rPr sz="1998" dirty="0">
                <a:latin typeface="SimSun"/>
                <a:cs typeface="SimSun"/>
              </a:rPr>
              <a:t>x</a:t>
            </a:r>
            <a:r>
              <a:rPr sz="1998" spc="-15" dirty="0">
                <a:latin typeface="SimSun"/>
                <a:cs typeface="SimSun"/>
              </a:rPr>
              <a:t>和</a:t>
            </a:r>
            <a:r>
              <a:rPr sz="1998" dirty="0">
                <a:latin typeface="SimSun"/>
                <a:cs typeface="SimSun"/>
              </a:rPr>
              <a:t>y</a:t>
            </a:r>
            <a:r>
              <a:rPr sz="1998" spc="-25" dirty="0">
                <a:latin typeface="SimSun"/>
                <a:cs typeface="SimSun"/>
              </a:rPr>
              <a:t>方向合成。</a:t>
            </a:r>
            <a:endParaRPr sz="1998">
              <a:latin typeface="SimSun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10" dirty="0">
                <a:solidFill>
                  <a:srgbClr val="FF0000"/>
                </a:solidFill>
                <a:latin typeface="SimSun"/>
                <a:cs typeface="SimSun"/>
              </a:rPr>
              <a:t>非极大值抑制。</a:t>
            </a:r>
            <a:endParaRPr sz="1998">
              <a:latin typeface="SimSun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20" dirty="0">
                <a:latin typeface="SimSun"/>
                <a:cs typeface="SimSun"/>
              </a:rPr>
              <a:t>边缘细化。</a:t>
            </a:r>
            <a:endParaRPr sz="1998">
              <a:latin typeface="SimSun"/>
              <a:cs typeface="SimSu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29" y="2361536"/>
            <a:ext cx="3611584" cy="38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5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276" y="293606"/>
            <a:ext cx="53734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</a:pPr>
            <a:r>
              <a:rPr sz="2797" spc="215" dirty="0">
                <a:latin typeface="PMingLiU"/>
                <a:cs typeface="PMingLiU"/>
              </a:rPr>
              <a:t>5.5</a:t>
            </a:r>
            <a:endParaRPr sz="2797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7926"/>
            <a:ext cx="4239652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95"/>
              </a:spcBef>
            </a:pPr>
            <a:r>
              <a:rPr sz="2800" spc="-90" dirty="0"/>
              <a:t>Canny</a:t>
            </a:r>
            <a:r>
              <a:rPr sz="2800" spc="-40" dirty="0"/>
              <a:t>编程实现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6475" y="1111871"/>
            <a:ext cx="5816929" cy="940198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469477" indent="-456789">
              <a:spcBef>
                <a:spcPts val="105"/>
              </a:spcBef>
              <a:buFont typeface="Wingdings"/>
              <a:buChar char=""/>
              <a:tabLst>
                <a:tab pos="469477" algn="l"/>
              </a:tabLst>
            </a:pPr>
            <a:r>
              <a:rPr sz="1998" spc="-10" dirty="0">
                <a:latin typeface="SimSun"/>
                <a:cs typeface="SimSun"/>
              </a:rPr>
              <a:t>梯度：梯度包括大小和方向，由</a:t>
            </a:r>
            <a:r>
              <a:rPr sz="1998" dirty="0">
                <a:latin typeface="SimSun"/>
                <a:cs typeface="SimSun"/>
              </a:rPr>
              <a:t>x</a:t>
            </a:r>
            <a:r>
              <a:rPr sz="1998" spc="-15" dirty="0">
                <a:latin typeface="SimSun"/>
                <a:cs typeface="SimSun"/>
              </a:rPr>
              <a:t>和</a:t>
            </a:r>
            <a:r>
              <a:rPr sz="1998" dirty="0">
                <a:latin typeface="SimSun"/>
                <a:cs typeface="SimSun"/>
              </a:rPr>
              <a:t>y</a:t>
            </a:r>
            <a:r>
              <a:rPr sz="1998" spc="-25" dirty="0">
                <a:latin typeface="SimSun"/>
                <a:cs typeface="SimSun"/>
              </a:rPr>
              <a:t>方向合成。</a:t>
            </a:r>
            <a:endParaRPr sz="1998">
              <a:latin typeface="SimSun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10" dirty="0">
                <a:latin typeface="SimSun"/>
                <a:cs typeface="SimSun"/>
              </a:rPr>
              <a:t>非极大值抑制。</a:t>
            </a:r>
            <a:endParaRPr sz="1998">
              <a:latin typeface="SimSun"/>
              <a:cs typeface="SimSun"/>
            </a:endParaRPr>
          </a:p>
          <a:p>
            <a:pPr marL="469477" indent="-456789">
              <a:buFont typeface="Wingdings"/>
              <a:buChar char=""/>
              <a:tabLst>
                <a:tab pos="469477" algn="l"/>
              </a:tabLst>
            </a:pPr>
            <a:r>
              <a:rPr sz="1998" spc="-20" dirty="0">
                <a:solidFill>
                  <a:srgbClr val="FF0000"/>
                </a:solidFill>
                <a:latin typeface="SimSun"/>
                <a:cs typeface="SimSun"/>
              </a:rPr>
              <a:t>边缘细化。</a:t>
            </a:r>
            <a:endParaRPr sz="1998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54928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579</Words>
  <Application>Microsoft Macintosh PowerPoint</Application>
  <PresentationFormat>宽屏</PresentationFormat>
  <Paragraphs>105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等线 Light</vt:lpstr>
      <vt:lpstr>SimSun</vt:lpstr>
      <vt:lpstr>PMingLiU</vt:lpstr>
      <vt:lpstr>Arial</vt:lpstr>
      <vt:lpstr>Cambria Math</vt:lpstr>
      <vt:lpstr>Times New Roman</vt:lpstr>
      <vt:lpstr>Wingdings</vt:lpstr>
      <vt:lpstr>Office 主题​​</vt:lpstr>
      <vt:lpstr>第5章 图像边缘</vt:lpstr>
      <vt:lpstr>4.4 高斯模糊</vt:lpstr>
      <vt:lpstr>PowerPoint 演示文稿</vt:lpstr>
      <vt:lpstr>PowerPoint 演示文稿</vt:lpstr>
      <vt:lpstr>PowerPoint 演示文稿</vt:lpstr>
      <vt:lpstr>PowerPoint 演示文稿</vt:lpstr>
      <vt:lpstr>5.2 Sobel-Feldman、Scharr算子</vt:lpstr>
      <vt:lpstr>5.2 Sobel-Feldman算子</vt:lpstr>
      <vt:lpstr>5.3 Laplacian、LoG算子</vt:lpstr>
      <vt:lpstr>5.3 Laplacian、LoG算子</vt:lpstr>
      <vt:lpstr>5.3 Laplacian、LoG算子</vt:lpstr>
      <vt:lpstr>5.3 Laplacian、LoG算子</vt:lpstr>
      <vt:lpstr>5.4 Canny算法</vt:lpstr>
      <vt:lpstr>5.4 Canny算法</vt:lpstr>
      <vt:lpstr>5.4 Canny算法</vt:lpstr>
      <vt:lpstr>5.4 Canny算法</vt:lpstr>
      <vt:lpstr>5.4 Canny算法</vt:lpstr>
      <vt:lpstr>Canny编程实现</vt:lpstr>
      <vt:lpstr>Canny编程实现</vt:lpstr>
      <vt:lpstr>Canny编程实现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a1198</dc:creator>
  <cp:lastModifiedBy>a1198</cp:lastModifiedBy>
  <cp:revision>9</cp:revision>
  <dcterms:created xsi:type="dcterms:W3CDTF">2025-07-24T09:32:06Z</dcterms:created>
  <dcterms:modified xsi:type="dcterms:W3CDTF">2025-11-12T13:41:50Z</dcterms:modified>
</cp:coreProperties>
</file>