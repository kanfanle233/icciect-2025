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74"/>
  </p:notesMasterIdLst>
  <p:handoutMasterIdLst>
    <p:handoutMasterId r:id="rId75"/>
  </p:handoutMasterIdLst>
  <p:sldIdLst>
    <p:sldId id="370" r:id="rId3"/>
    <p:sldId id="371" r:id="rId4"/>
    <p:sldId id="361" r:id="rId5"/>
    <p:sldId id="265" r:id="rId6"/>
    <p:sldId id="439" r:id="rId7"/>
    <p:sldId id="372" r:id="rId8"/>
    <p:sldId id="373" r:id="rId9"/>
    <p:sldId id="376" r:id="rId10"/>
    <p:sldId id="377" r:id="rId11"/>
    <p:sldId id="381" r:id="rId12"/>
    <p:sldId id="383" r:id="rId13"/>
    <p:sldId id="382" r:id="rId14"/>
    <p:sldId id="384" r:id="rId15"/>
    <p:sldId id="385" r:id="rId16"/>
    <p:sldId id="386" r:id="rId17"/>
    <p:sldId id="379" r:id="rId18"/>
    <p:sldId id="378" r:id="rId19"/>
    <p:sldId id="380" r:id="rId20"/>
    <p:sldId id="387" r:id="rId21"/>
    <p:sldId id="388" r:id="rId22"/>
    <p:sldId id="389" r:id="rId23"/>
    <p:sldId id="390" r:id="rId24"/>
    <p:sldId id="394" r:id="rId25"/>
    <p:sldId id="395" r:id="rId26"/>
    <p:sldId id="396" r:id="rId27"/>
    <p:sldId id="391" r:id="rId28"/>
    <p:sldId id="392" r:id="rId29"/>
    <p:sldId id="393" r:id="rId30"/>
    <p:sldId id="397" r:id="rId31"/>
    <p:sldId id="398" r:id="rId32"/>
    <p:sldId id="399" r:id="rId33"/>
    <p:sldId id="400" r:id="rId34"/>
    <p:sldId id="401" r:id="rId35"/>
    <p:sldId id="402" r:id="rId36"/>
    <p:sldId id="404" r:id="rId37"/>
    <p:sldId id="406" r:id="rId38"/>
    <p:sldId id="405" r:id="rId39"/>
    <p:sldId id="403" r:id="rId40"/>
    <p:sldId id="407" r:id="rId41"/>
    <p:sldId id="408" r:id="rId42"/>
    <p:sldId id="409" r:id="rId43"/>
    <p:sldId id="410" r:id="rId44"/>
    <p:sldId id="411" r:id="rId45"/>
    <p:sldId id="412" r:id="rId46"/>
    <p:sldId id="413" r:id="rId47"/>
    <p:sldId id="414" r:id="rId48"/>
    <p:sldId id="419" r:id="rId49"/>
    <p:sldId id="415" r:id="rId50"/>
    <p:sldId id="416" r:id="rId51"/>
    <p:sldId id="417" r:id="rId52"/>
    <p:sldId id="418" r:id="rId53"/>
    <p:sldId id="420" r:id="rId54"/>
    <p:sldId id="421" r:id="rId55"/>
    <p:sldId id="422" r:id="rId56"/>
    <p:sldId id="423" r:id="rId57"/>
    <p:sldId id="440"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Lst>
  <p:sldSz cx="9145588" cy="6859588"/>
  <p:notesSz cx="6858000" cy="9144000"/>
  <p:custDataLst>
    <p:tags r:id="rId76"/>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FA5CCB3-15F5-4848-8543-C38E962EE0FA}">
          <p14:sldIdLst>
            <p14:sldId id="370"/>
            <p14:sldId id="371"/>
            <p14:sldId id="361"/>
          </p14:sldIdLst>
        </p14:section>
        <p14:section name="3.1灰度直方图&#10;" id="{87440BD9-D31F-1E47-B3C7-B4D7F82337A6}">
          <p14:sldIdLst>
            <p14:sldId id="265"/>
            <p14:sldId id="439"/>
            <p14:sldId id="372"/>
            <p14:sldId id="373"/>
            <p14:sldId id="376"/>
            <p14:sldId id="377"/>
            <p14:sldId id="381"/>
            <p14:sldId id="383"/>
            <p14:sldId id="382"/>
            <p14:sldId id="384"/>
            <p14:sldId id="385"/>
            <p14:sldId id="386"/>
          </p14:sldIdLst>
        </p14:section>
        <p14:section name="3.2 直方图均衡化" id="{72C622D4-0677-9347-BAB8-D4E3B56020BB}">
          <p14:sldIdLst>
            <p14:sldId id="379"/>
            <p14:sldId id="378"/>
            <p14:sldId id="380"/>
            <p14:sldId id="387"/>
            <p14:sldId id="388"/>
            <p14:sldId id="389"/>
            <p14:sldId id="390"/>
            <p14:sldId id="394"/>
            <p14:sldId id="395"/>
            <p14:sldId id="396"/>
            <p14:sldId id="391"/>
          </p14:sldIdLst>
        </p14:section>
        <p14:section name="3.3  直方图规定化&#10;" id="{6087383F-B423-204B-90FA-55659358C2B0}">
          <p14:sldIdLst>
            <p14:sldId id="392"/>
            <p14:sldId id="393"/>
            <p14:sldId id="397"/>
            <p14:sldId id="398"/>
            <p14:sldId id="399"/>
            <p14:sldId id="400"/>
            <p14:sldId id="401"/>
            <p14:sldId id="402"/>
            <p14:sldId id="404"/>
            <p14:sldId id="406"/>
            <p14:sldId id="405"/>
            <p14:sldId id="403"/>
            <p14:sldId id="407"/>
          </p14:sldIdLst>
        </p14:section>
        <p14:section name="3.4  线性变换" id="{FFCBBDD1-705B-7040-94E1-85B665EFA300}">
          <p14:sldIdLst>
            <p14:sldId id="408"/>
            <p14:sldId id="409"/>
            <p14:sldId id="410"/>
            <p14:sldId id="411"/>
            <p14:sldId id="412"/>
            <p14:sldId id="413"/>
            <p14:sldId id="414"/>
            <p14:sldId id="419"/>
          </p14:sldIdLst>
        </p14:section>
        <p14:section name="3.5  对数变换&#10;" id="{D9DF06F5-EE65-E344-B2E2-A7FE738E1D2C}">
          <p14:sldIdLst>
            <p14:sldId id="415"/>
            <p14:sldId id="416"/>
            <p14:sldId id="417"/>
            <p14:sldId id="418"/>
            <p14:sldId id="420"/>
          </p14:sldIdLst>
        </p14:section>
        <p14:section name="3.6  伽马变换&#10;" id="{8E851F2C-A86F-1C44-9598-E9E81E3B3A07}">
          <p14:sldIdLst>
            <p14:sldId id="421"/>
            <p14:sldId id="422"/>
            <p14:sldId id="423"/>
            <p14:sldId id="440"/>
            <p14:sldId id="424"/>
            <p14:sldId id="425"/>
            <p14:sldId id="426"/>
            <p14:sldId id="427"/>
          </p14:sldIdLst>
        </p14:section>
        <p14:section name="3.7  阈值变换&#10;" id="{28875D59-1A84-114D-ADA0-DB6CF5A47EAA}">
          <p14:sldIdLst>
            <p14:sldId id="428"/>
            <p14:sldId id="429"/>
            <p14:sldId id="430"/>
            <p14:sldId id="431"/>
            <p14:sldId id="432"/>
            <p14:sldId id="433"/>
            <p14:sldId id="434"/>
            <p14:sldId id="435"/>
            <p14:sldId id="436"/>
            <p14:sldId id="437"/>
            <p14:sldId id="438"/>
          </p14:sldIdLst>
        </p14:section>
      </p14:sectionLst>
    </p:ext>
    <p:ext uri="{EFAFB233-063F-42B5-8137-9DF3F51BA10A}">
      <p15:sldGuideLst xmlns:p15="http://schemas.microsoft.com/office/powerpoint/2012/main">
        <p15:guide id="1" orient="horz" pos="2160" userDrawn="1">
          <p15:clr>
            <a:srgbClr val="A4A3A4"/>
          </p15:clr>
        </p15:guide>
        <p15:guide id="2" orient="horz" pos="3838" userDrawn="1">
          <p15:clr>
            <a:srgbClr val="A4A3A4"/>
          </p15:clr>
        </p15:guide>
        <p15:guide id="3" pos="2880" userDrawn="1">
          <p15:clr>
            <a:srgbClr val="A4A3A4"/>
          </p15:clr>
        </p15:guide>
        <p15:guide id="4" pos="5399" userDrawn="1">
          <p15:clr>
            <a:srgbClr val="A4A3A4"/>
          </p15:clr>
        </p15:guide>
        <p15:guide id="5" pos="43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458E"/>
    <a:srgbClr val="38B1BF"/>
    <a:srgbClr val="EF7768"/>
    <a:srgbClr val="FF9933"/>
    <a:srgbClr val="C7C7C7"/>
    <a:srgbClr val="F5F5F5"/>
    <a:srgbClr val="8B8B8B"/>
    <a:srgbClr val="B11212"/>
    <a:srgbClr val="022A4F"/>
    <a:srgbClr val="007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41" autoAdjust="0"/>
    <p:restoredTop sz="94660"/>
  </p:normalViewPr>
  <p:slideViewPr>
    <p:cSldViewPr showGuides="1">
      <p:cViewPr varScale="1">
        <p:scale>
          <a:sx n="127" d="100"/>
          <a:sy n="127" d="100"/>
        </p:scale>
        <p:origin x="1014" y="120"/>
      </p:cViewPr>
      <p:guideLst>
        <p:guide orient="horz" pos="2160"/>
        <p:guide orient="horz" pos="3838"/>
        <p:guide pos="2880"/>
        <p:guide pos="5399"/>
        <p:guide pos="43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gs" Target="tags/tag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en-US" altLang="zh-CN"/>
              <a:t>y</a:t>
            </a:r>
            <a:r>
              <a:rPr lang="en-US"/>
              <a:t>=log(x+1)</a:t>
            </a:r>
          </a:p>
        </c:rich>
      </c:tx>
      <c:overlay val="0"/>
      <c:spPr>
        <a:noFill/>
        <a:ln>
          <a:noFill/>
        </a:ln>
        <a:effectLst/>
      </c:spPr>
      <c:txPr>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scatterChart>
        <c:scatterStyle val="smoothMarker"/>
        <c:varyColors val="0"/>
        <c:ser>
          <c:idx val="0"/>
          <c:order val="0"/>
          <c:tx>
            <c:strRef>
              <c:f>Sheet1!$B$1</c:f>
              <c:strCache>
                <c:ptCount val="1"/>
                <c:pt idx="0">
                  <c:v>Y 值</c:v>
                </c:pt>
              </c:strCache>
            </c:strRef>
          </c:tx>
          <c:spPr>
            <a:ln w="19050" cap="rnd">
              <a:solidFill>
                <a:schemeClr val="accent1"/>
              </a:solidFill>
              <a:miter lim="800000"/>
            </a:ln>
            <a:effectLst/>
          </c:spPr>
          <c:marker>
            <c:symbol val="none"/>
          </c:marker>
          <c:xVal>
            <c:numRef>
              <c:f>Sheet1!$A$2:$A$12</c:f>
              <c:numCache>
                <c:formatCode>General</c:formatCode>
                <c:ptCount val="11"/>
                <c:pt idx="0">
                  <c:v>0</c:v>
                </c:pt>
                <c:pt idx="1">
                  <c:v>2</c:v>
                </c:pt>
                <c:pt idx="2">
                  <c:v>4</c:v>
                </c:pt>
                <c:pt idx="3">
                  <c:v>6</c:v>
                </c:pt>
                <c:pt idx="4">
                  <c:v>9</c:v>
                </c:pt>
                <c:pt idx="5">
                  <c:v>19</c:v>
                </c:pt>
                <c:pt idx="6">
                  <c:v>29</c:v>
                </c:pt>
                <c:pt idx="7">
                  <c:v>49</c:v>
                </c:pt>
                <c:pt idx="8">
                  <c:v>79</c:v>
                </c:pt>
                <c:pt idx="9">
                  <c:v>99</c:v>
                </c:pt>
                <c:pt idx="10">
                  <c:v>139</c:v>
                </c:pt>
              </c:numCache>
            </c:numRef>
          </c:xVal>
          <c:yVal>
            <c:numRef>
              <c:f>Sheet1!$B$2:$B$12</c:f>
              <c:numCache>
                <c:formatCode>General</c:formatCode>
                <c:ptCount val="11"/>
                <c:pt idx="0">
                  <c:v>0</c:v>
                </c:pt>
                <c:pt idx="1">
                  <c:v>0.47699999999999998</c:v>
                </c:pt>
                <c:pt idx="2">
                  <c:v>0.7</c:v>
                </c:pt>
                <c:pt idx="3">
                  <c:v>0.84499999999999997</c:v>
                </c:pt>
                <c:pt idx="4">
                  <c:v>1</c:v>
                </c:pt>
                <c:pt idx="5">
                  <c:v>1.3</c:v>
                </c:pt>
                <c:pt idx="6">
                  <c:v>1.4770000000000001</c:v>
                </c:pt>
                <c:pt idx="7">
                  <c:v>1.7</c:v>
                </c:pt>
                <c:pt idx="8">
                  <c:v>1.9</c:v>
                </c:pt>
                <c:pt idx="9">
                  <c:v>2</c:v>
                </c:pt>
                <c:pt idx="10">
                  <c:v>2.1459999999999999</c:v>
                </c:pt>
              </c:numCache>
            </c:numRef>
          </c:yVal>
          <c:smooth val="1"/>
          <c:extLst>
            <c:ext xmlns:c16="http://schemas.microsoft.com/office/drawing/2014/chart" uri="{C3380CC4-5D6E-409C-BE32-E72D297353CC}">
              <c16:uniqueId val="{00000000-A624-E84E-8B4D-61C41AEDDADA}"/>
            </c:ext>
          </c:extLst>
        </c:ser>
        <c:dLbls>
          <c:showLegendKey val="0"/>
          <c:showVal val="0"/>
          <c:showCatName val="0"/>
          <c:showSerName val="0"/>
          <c:showPercent val="0"/>
          <c:showBubbleSize val="0"/>
        </c:dLbls>
        <c:axId val="-1736183344"/>
        <c:axId val="-1736184432"/>
      </c:scatterChart>
      <c:valAx>
        <c:axId val="-17361833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0" vertOverflow="ellipsis" vert="horz" wrap="square" anchor="ctr" anchorCtr="1"/>
          <a:lstStyle/>
          <a:p>
            <a:pPr>
              <a:defRPr lang="zh-CN" sz="1500" b="0" i="0" u="none" strike="noStrike" kern="1200" baseline="0">
                <a:solidFill>
                  <a:schemeClr val="tx1">
                    <a:lumMod val="65000"/>
                    <a:lumOff val="35000"/>
                  </a:schemeClr>
                </a:solidFill>
                <a:latin typeface="+mn-lt"/>
                <a:ea typeface="+mn-ea"/>
                <a:cs typeface="+mn-cs"/>
              </a:defRPr>
            </a:pPr>
            <a:endParaRPr lang="zh-CN"/>
          </a:p>
        </c:txPr>
        <c:crossAx val="-1736184432"/>
        <c:crosses val="autoZero"/>
        <c:crossBetween val="midCat"/>
      </c:valAx>
      <c:valAx>
        <c:axId val="-1736184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0" vertOverflow="ellipsis" vert="horz" wrap="square" anchor="ctr" anchorCtr="1"/>
          <a:lstStyle/>
          <a:p>
            <a:pPr>
              <a:defRPr lang="zh-CN" sz="1500" b="0" i="0" u="none" strike="noStrike" kern="1200" baseline="0">
                <a:solidFill>
                  <a:schemeClr val="tx1">
                    <a:lumMod val="65000"/>
                    <a:lumOff val="35000"/>
                  </a:schemeClr>
                </a:solidFill>
                <a:latin typeface="+mn-lt"/>
                <a:ea typeface="+mn-ea"/>
                <a:cs typeface="+mn-cs"/>
              </a:defRPr>
            </a:pPr>
            <a:endParaRPr lang="zh-CN"/>
          </a:p>
        </c:txPr>
        <c:crossAx val="-1736183344"/>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zh-CN" altLang="en-US" sz="1100">
                <a:solidFill>
                  <a:sysClr val="windowText" lastClr="000000"/>
                </a:solidFill>
              </a:rPr>
              <a:t>伽马校正</a:t>
            </a:r>
          </a:p>
        </c:rich>
      </c:tx>
      <c:layout>
        <c:manualLayout>
          <c:xMode val="edge"/>
          <c:yMode val="edge"/>
          <c:x val="0.43680845832308801"/>
          <c:y val="1.37073232643737E-2"/>
        </c:manualLayout>
      </c:layout>
      <c:overlay val="0"/>
      <c:spPr>
        <a:noFill/>
        <a:ln>
          <a:noFill/>
        </a:ln>
        <a:effectLst/>
      </c:spPr>
      <c:txPr>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18506112272356401"/>
          <c:y val="0.12031948764806399"/>
          <c:w val="0.71469360117368197"/>
          <c:h val="0.73869140860344595"/>
        </c:manualLayout>
      </c:layout>
      <c:scatterChart>
        <c:scatterStyle val="smoothMarker"/>
        <c:varyColors val="0"/>
        <c:ser>
          <c:idx val="0"/>
          <c:order val="0"/>
          <c:tx>
            <c:strRef>
              <c:f>Sheet1!$B$1</c:f>
              <c:strCache>
                <c:ptCount val="1"/>
                <c:pt idx="0">
                  <c:v>Y 值</c:v>
                </c:pt>
              </c:strCache>
            </c:strRef>
          </c:tx>
          <c:spPr>
            <a:ln w="19050" cap="rnd">
              <a:solidFill>
                <a:schemeClr val="accent1"/>
              </a:solidFill>
              <a:prstDash val="sysDot"/>
              <a:round/>
            </a:ln>
            <a:effectLst/>
          </c:spPr>
          <c:marker>
            <c:symbol val="none"/>
          </c:marker>
          <c:xVal>
            <c:numRef>
              <c:f>Sheet1!$A$2:$A$7</c:f>
              <c:numCache>
                <c:formatCode>General</c:formatCode>
                <c:ptCount val="6"/>
                <c:pt idx="0">
                  <c:v>0</c:v>
                </c:pt>
                <c:pt idx="1">
                  <c:v>0.1</c:v>
                </c:pt>
                <c:pt idx="2">
                  <c:v>0.3</c:v>
                </c:pt>
                <c:pt idx="3">
                  <c:v>0.5</c:v>
                </c:pt>
                <c:pt idx="4">
                  <c:v>0.7</c:v>
                </c:pt>
                <c:pt idx="5">
                  <c:v>1</c:v>
                </c:pt>
              </c:numCache>
            </c:numRef>
          </c:xVal>
          <c:yVal>
            <c:numRef>
              <c:f>Sheet1!$B$2:$B$7</c:f>
              <c:numCache>
                <c:formatCode>General</c:formatCode>
                <c:ptCount val="6"/>
                <c:pt idx="0">
                  <c:v>0</c:v>
                </c:pt>
                <c:pt idx="1">
                  <c:v>0.01</c:v>
                </c:pt>
                <c:pt idx="2">
                  <c:v>0.09</c:v>
                </c:pt>
                <c:pt idx="3">
                  <c:v>0.25</c:v>
                </c:pt>
                <c:pt idx="4">
                  <c:v>0.49</c:v>
                </c:pt>
                <c:pt idx="5">
                  <c:v>1</c:v>
                </c:pt>
              </c:numCache>
            </c:numRef>
          </c:yVal>
          <c:smooth val="1"/>
          <c:extLst>
            <c:ext xmlns:c16="http://schemas.microsoft.com/office/drawing/2014/chart" uri="{C3380CC4-5D6E-409C-BE32-E72D297353CC}">
              <c16:uniqueId val="{00000000-0D81-D043-A2AF-D464C603C93A}"/>
            </c:ext>
          </c:extLst>
        </c:ser>
        <c:ser>
          <c:idx val="1"/>
          <c:order val="1"/>
          <c:tx>
            <c:strRef>
              <c:f>Sheet1!$C$1</c:f>
              <c:strCache>
                <c:ptCount val="1"/>
                <c:pt idx="0">
                  <c:v>X 值</c:v>
                </c:pt>
              </c:strCache>
            </c:strRef>
          </c:tx>
          <c:spPr>
            <a:ln w="19050" cap="rnd">
              <a:solidFill>
                <a:schemeClr val="accent2"/>
              </a:solidFill>
              <a:round/>
            </a:ln>
            <a:effectLst/>
          </c:spPr>
          <c:marker>
            <c:symbol val="none"/>
          </c:marker>
          <c:xVal>
            <c:numRef>
              <c:f>Sheet1!$A$2:$A$7</c:f>
              <c:numCache>
                <c:formatCode>General</c:formatCode>
                <c:ptCount val="6"/>
                <c:pt idx="0">
                  <c:v>0</c:v>
                </c:pt>
                <c:pt idx="1">
                  <c:v>0.1</c:v>
                </c:pt>
                <c:pt idx="2">
                  <c:v>0.3</c:v>
                </c:pt>
                <c:pt idx="3">
                  <c:v>0.5</c:v>
                </c:pt>
                <c:pt idx="4">
                  <c:v>0.7</c:v>
                </c:pt>
                <c:pt idx="5">
                  <c:v>1</c:v>
                </c:pt>
              </c:numCache>
            </c:numRef>
          </c:xVal>
          <c:yVal>
            <c:numRef>
              <c:f>Sheet1!$C$2:$C$7</c:f>
              <c:numCache>
                <c:formatCode>General</c:formatCode>
                <c:ptCount val="6"/>
                <c:pt idx="0">
                  <c:v>0</c:v>
                </c:pt>
                <c:pt idx="1">
                  <c:v>0.1</c:v>
                </c:pt>
                <c:pt idx="2">
                  <c:v>0.3</c:v>
                </c:pt>
                <c:pt idx="3">
                  <c:v>0.5</c:v>
                </c:pt>
                <c:pt idx="4">
                  <c:v>0.7</c:v>
                </c:pt>
                <c:pt idx="5">
                  <c:v>1</c:v>
                </c:pt>
              </c:numCache>
            </c:numRef>
          </c:yVal>
          <c:smooth val="1"/>
          <c:extLst>
            <c:ext xmlns:c16="http://schemas.microsoft.com/office/drawing/2014/chart" uri="{C3380CC4-5D6E-409C-BE32-E72D297353CC}">
              <c16:uniqueId val="{00000001-0D81-D043-A2AF-D464C603C93A}"/>
            </c:ext>
          </c:extLst>
        </c:ser>
        <c:ser>
          <c:idx val="2"/>
          <c:order val="2"/>
          <c:tx>
            <c:strRef>
              <c:f>Sheet1!$D$1</c:f>
              <c:strCache>
                <c:ptCount val="1"/>
                <c:pt idx="0">
                  <c:v>Y 值</c:v>
                </c:pt>
              </c:strCache>
            </c:strRef>
          </c:tx>
          <c:spPr>
            <a:ln w="19050" cap="rnd">
              <a:solidFill>
                <a:schemeClr val="accent3"/>
              </a:solidFill>
              <a:prstDash val="dash"/>
              <a:round/>
            </a:ln>
            <a:effectLst/>
          </c:spPr>
          <c:marker>
            <c:symbol val="none"/>
          </c:marker>
          <c:xVal>
            <c:numRef>
              <c:f>Sheet1!$A$2:$A$7</c:f>
              <c:numCache>
                <c:formatCode>General</c:formatCode>
                <c:ptCount val="6"/>
                <c:pt idx="0">
                  <c:v>0</c:v>
                </c:pt>
                <c:pt idx="1">
                  <c:v>0.1</c:v>
                </c:pt>
                <c:pt idx="2">
                  <c:v>0.3</c:v>
                </c:pt>
                <c:pt idx="3">
                  <c:v>0.5</c:v>
                </c:pt>
                <c:pt idx="4">
                  <c:v>0.7</c:v>
                </c:pt>
                <c:pt idx="5">
                  <c:v>1</c:v>
                </c:pt>
              </c:numCache>
            </c:numRef>
          </c:xVal>
          <c:yVal>
            <c:numRef>
              <c:f>Sheet1!$D$2:$D$7</c:f>
              <c:numCache>
                <c:formatCode>General</c:formatCode>
                <c:ptCount val="6"/>
                <c:pt idx="0">
                  <c:v>0</c:v>
                </c:pt>
                <c:pt idx="1">
                  <c:v>0.3162278</c:v>
                </c:pt>
                <c:pt idx="2">
                  <c:v>0.54769999999999996</c:v>
                </c:pt>
                <c:pt idx="3">
                  <c:v>0.70709999999999995</c:v>
                </c:pt>
                <c:pt idx="4">
                  <c:v>0.8367</c:v>
                </c:pt>
                <c:pt idx="5">
                  <c:v>1</c:v>
                </c:pt>
              </c:numCache>
            </c:numRef>
          </c:yVal>
          <c:smooth val="1"/>
          <c:extLst>
            <c:ext xmlns:c16="http://schemas.microsoft.com/office/drawing/2014/chart" uri="{C3380CC4-5D6E-409C-BE32-E72D297353CC}">
              <c16:uniqueId val="{00000002-0D81-D043-A2AF-D464C603C93A}"/>
            </c:ext>
          </c:extLst>
        </c:ser>
        <c:dLbls>
          <c:showLegendKey val="0"/>
          <c:showVal val="0"/>
          <c:showCatName val="0"/>
          <c:showSerName val="0"/>
          <c:showPercent val="0"/>
          <c:showBubbleSize val="0"/>
        </c:dLbls>
        <c:axId val="-1736185520"/>
        <c:axId val="-1736180624"/>
      </c:scatterChart>
      <c:valAx>
        <c:axId val="-1736185520"/>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sz="1100">
                    <a:solidFill>
                      <a:sysClr val="windowText" lastClr="000000"/>
                    </a:solidFill>
                  </a:rPr>
                  <a:t>输入灰度值</a:t>
                </a:r>
              </a:p>
            </c:rich>
          </c:tx>
          <c:layout>
            <c:manualLayout>
              <c:xMode val="edge"/>
              <c:yMode val="edge"/>
              <c:x val="0.72498893044343404"/>
              <c:y val="0.88067113043970302"/>
            </c:manualLayout>
          </c:layout>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0" vertOverflow="ellipsis" vert="horz" wrap="square" anchor="b" anchorCtr="1"/>
          <a:lstStyle/>
          <a:p>
            <a:pPr>
              <a:defRPr lang="zh-CN" sz="1050" b="1" i="0" u="none" strike="noStrike" kern="1200" baseline="0">
                <a:solidFill>
                  <a:schemeClr val="tx1">
                    <a:lumMod val="65000"/>
                    <a:lumOff val="35000"/>
                  </a:schemeClr>
                </a:solidFill>
                <a:latin typeface="+mn-lt"/>
                <a:ea typeface="+mn-ea"/>
                <a:cs typeface="+mn-cs"/>
              </a:defRPr>
            </a:pPr>
            <a:endParaRPr lang="zh-CN"/>
          </a:p>
        </c:txPr>
        <c:crossAx val="-1736180624"/>
        <c:crosses val="autoZero"/>
        <c:crossBetween val="midCat"/>
      </c:valAx>
      <c:valAx>
        <c:axId val="-1736180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sz="1100">
                    <a:solidFill>
                      <a:sysClr val="windowText" lastClr="000000"/>
                    </a:solidFill>
                  </a:rPr>
                  <a:t>输出灰度值</a:t>
                </a:r>
              </a:p>
            </c:rich>
          </c:tx>
          <c:layout>
            <c:manualLayout>
              <c:xMode val="edge"/>
              <c:yMode val="edge"/>
              <c:x val="4.2720385150332899E-2"/>
              <c:y val="8.3836619487082306E-2"/>
            </c:manualLayout>
          </c:layout>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0" vertOverflow="ellipsis" vert="horz" wrap="square" anchor="ctr" anchorCtr="1"/>
          <a:lstStyle/>
          <a:p>
            <a:pPr>
              <a:defRPr lang="zh-CN" sz="1050" b="1" i="0" u="none" strike="noStrike" kern="1200" baseline="0">
                <a:solidFill>
                  <a:schemeClr val="tx1">
                    <a:lumMod val="65000"/>
                    <a:lumOff val="35000"/>
                  </a:schemeClr>
                </a:solidFill>
                <a:latin typeface="+mn-lt"/>
                <a:ea typeface="+mn-ea"/>
                <a:cs typeface="+mn-cs"/>
              </a:defRPr>
            </a:pPr>
            <a:endParaRPr lang="zh-CN"/>
          </a:p>
        </c:txPr>
        <c:crossAx val="-173618552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t>2025/10/24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t>2025/10/24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a:t>
            </a:fld>
            <a:endParaRPr lang="zh-CN" altLang="en-US"/>
          </a:p>
        </p:txBody>
      </p:sp>
    </p:spTree>
    <p:extLst>
      <p:ext uri="{BB962C8B-B14F-4D97-AF65-F5344CB8AC3E}">
        <p14:creationId xmlns:p14="http://schemas.microsoft.com/office/powerpoint/2010/main" val="1156852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56</a:t>
            </a:fld>
            <a:endParaRPr lang="zh-CN" altLang="en-US"/>
          </a:p>
        </p:txBody>
      </p:sp>
    </p:spTree>
    <p:extLst>
      <p:ext uri="{BB962C8B-B14F-4D97-AF65-F5344CB8AC3E}">
        <p14:creationId xmlns:p14="http://schemas.microsoft.com/office/powerpoint/2010/main" val="20972638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64</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65</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69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70</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71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t>‹#›</a:t>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8" name="그림 6" descr="0006.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1" y="3"/>
            <a:ext cx="9145588" cy="669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9" y="4407925"/>
            <a:ext cx="7773750" cy="1362391"/>
          </a:xfrm>
        </p:spPr>
        <p:txBody>
          <a:bodyPr anchor="t"/>
          <a:lstStyle>
            <a:lvl1pPr algn="l">
              <a:defRPr sz="3975" b="1" cap="all"/>
            </a:lvl1pPr>
          </a:lstStyle>
          <a:p>
            <a:r>
              <a:rPr lang="zh-CN" altLang="en-US"/>
              <a:t>单击此处编辑母版标题样式</a:t>
            </a:r>
          </a:p>
        </p:txBody>
      </p:sp>
      <p:sp>
        <p:nvSpPr>
          <p:cNvPr id="3" name="文本占位符 2"/>
          <p:cNvSpPr>
            <a:spLocks noGrp="1"/>
          </p:cNvSpPr>
          <p:nvPr>
            <p:ph type="body" idx="1"/>
          </p:nvPr>
        </p:nvSpPr>
        <p:spPr>
          <a:xfrm>
            <a:off x="722439" y="2907386"/>
            <a:ext cx="7773750" cy="1500534"/>
          </a:xfrm>
        </p:spPr>
        <p:txBody>
          <a:bodyPr anchor="b"/>
          <a:lstStyle>
            <a:lvl1pPr marL="0" indent="0">
              <a:buNone/>
              <a:defRPr sz="2025">
                <a:solidFill>
                  <a:schemeClr val="tx1">
                    <a:tint val="75000"/>
                  </a:schemeClr>
                </a:solidFill>
              </a:defRPr>
            </a:lvl1pPr>
            <a:lvl2pPr marL="457200" indent="0">
              <a:buNone/>
              <a:defRPr sz="1800">
                <a:solidFill>
                  <a:schemeClr val="tx1">
                    <a:tint val="75000"/>
                  </a:schemeClr>
                </a:solidFill>
              </a:defRPr>
            </a:lvl2pPr>
            <a:lvl3pPr marL="914400" indent="0">
              <a:buNone/>
              <a:defRPr sz="1575">
                <a:solidFill>
                  <a:schemeClr val="tx1">
                    <a:tint val="75000"/>
                  </a:schemeClr>
                </a:solidFill>
              </a:defRPr>
            </a:lvl3pPr>
            <a:lvl4pPr marL="1372235" indent="0">
              <a:buNone/>
              <a:defRPr sz="1425">
                <a:solidFill>
                  <a:schemeClr val="tx1">
                    <a:tint val="75000"/>
                  </a:schemeClr>
                </a:solidFill>
              </a:defRPr>
            </a:lvl4pPr>
            <a:lvl5pPr marL="1829435" indent="0">
              <a:buNone/>
              <a:defRPr sz="1425">
                <a:solidFill>
                  <a:schemeClr val="tx1">
                    <a:tint val="75000"/>
                  </a:schemeClr>
                </a:solidFill>
              </a:defRPr>
            </a:lvl5pPr>
            <a:lvl6pPr marL="2286635" indent="0">
              <a:buNone/>
              <a:defRPr sz="1425">
                <a:solidFill>
                  <a:schemeClr val="tx1">
                    <a:tint val="75000"/>
                  </a:schemeClr>
                </a:solidFill>
              </a:defRPr>
            </a:lvl6pPr>
            <a:lvl7pPr marL="2743835" indent="0">
              <a:buNone/>
              <a:defRPr sz="1425">
                <a:solidFill>
                  <a:schemeClr val="tx1">
                    <a:tint val="75000"/>
                  </a:schemeClr>
                </a:solidFill>
              </a:defRPr>
            </a:lvl7pPr>
            <a:lvl8pPr marL="3201035" indent="0">
              <a:buNone/>
              <a:defRPr sz="1425">
                <a:solidFill>
                  <a:schemeClr val="tx1">
                    <a:tint val="75000"/>
                  </a:schemeClr>
                </a:solidFill>
              </a:defRPr>
            </a:lvl8pPr>
            <a:lvl9pPr marL="3658235" indent="0">
              <a:buNone/>
              <a:defRPr sz="1425">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80"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008"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79" y="1535469"/>
            <a:ext cx="4040890"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4" name="内容占位符 3"/>
          <p:cNvSpPr>
            <a:spLocks noGrp="1"/>
          </p:cNvSpPr>
          <p:nvPr>
            <p:ph sz="half" idx="2"/>
          </p:nvPr>
        </p:nvSpPr>
        <p:spPr>
          <a:xfrm>
            <a:off x="457279" y="2175378"/>
            <a:ext cx="4040890"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836" y="1535469"/>
            <a:ext cx="4042477"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6" name="内容占位符 5"/>
          <p:cNvSpPr>
            <a:spLocks noGrp="1"/>
          </p:cNvSpPr>
          <p:nvPr>
            <p:ph sz="quarter" idx="4"/>
          </p:nvPr>
        </p:nvSpPr>
        <p:spPr>
          <a:xfrm>
            <a:off x="4645836" y="2175378"/>
            <a:ext cx="4042477"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2" y="273114"/>
            <a:ext cx="3008836" cy="1162320"/>
          </a:xfrm>
        </p:spPr>
        <p:txBody>
          <a:bodyPr anchor="b"/>
          <a:lstStyle>
            <a:lvl1pPr algn="l">
              <a:defRPr sz="2025" b="1"/>
            </a:lvl1pPr>
          </a:lstStyle>
          <a:p>
            <a:r>
              <a:rPr lang="zh-CN" altLang="en-US"/>
              <a:t>单击此处编辑母版标题样式</a:t>
            </a:r>
          </a:p>
        </p:txBody>
      </p:sp>
      <p:sp>
        <p:nvSpPr>
          <p:cNvPr id="3" name="内容占位符 2"/>
          <p:cNvSpPr>
            <a:spLocks noGrp="1"/>
          </p:cNvSpPr>
          <p:nvPr>
            <p:ph idx="1"/>
          </p:nvPr>
        </p:nvSpPr>
        <p:spPr>
          <a:xfrm>
            <a:off x="3575672" y="273117"/>
            <a:ext cx="5112637" cy="5854469"/>
          </a:xfrm>
        </p:spPr>
        <p:txBody>
          <a:bodyPr/>
          <a:lstStyle>
            <a:lvl1pPr>
              <a:defRPr sz="3225"/>
            </a:lvl1pPr>
            <a:lvl2pPr>
              <a:defRPr sz="2775"/>
            </a:lvl2pPr>
            <a:lvl3pPr>
              <a:defRPr sz="2400"/>
            </a:lvl3pPr>
            <a:lvl4pPr>
              <a:defRPr sz="2025"/>
            </a:lvl4pPr>
            <a:lvl5pPr>
              <a:defRPr sz="2025"/>
            </a:lvl5pPr>
            <a:lvl6pPr>
              <a:defRPr sz="2025"/>
            </a:lvl6pPr>
            <a:lvl7pPr>
              <a:defRPr sz="2025"/>
            </a:lvl7pPr>
            <a:lvl8pPr>
              <a:defRPr sz="2025"/>
            </a:lvl8pPr>
            <a:lvl9pPr>
              <a:defRPr sz="202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82" y="1435437"/>
            <a:ext cx="3008836" cy="4692149"/>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4801713"/>
            <a:ext cx="5487353" cy="566870"/>
          </a:xfrm>
        </p:spPr>
        <p:txBody>
          <a:bodyPr anchor="b"/>
          <a:lstStyle>
            <a:lvl1pPr algn="l">
              <a:defRPr sz="2025" b="1"/>
            </a:lvl1pPr>
          </a:lstStyle>
          <a:p>
            <a:r>
              <a:rPr lang="zh-CN" altLang="en-US"/>
              <a:t>单击此处编辑母版标题样式</a:t>
            </a:r>
          </a:p>
        </p:txBody>
      </p:sp>
      <p:sp>
        <p:nvSpPr>
          <p:cNvPr id="3" name="图片占位符 2"/>
          <p:cNvSpPr>
            <a:spLocks noGrp="1"/>
          </p:cNvSpPr>
          <p:nvPr>
            <p:ph type="pic" idx="1"/>
          </p:nvPr>
        </p:nvSpPr>
        <p:spPr>
          <a:xfrm>
            <a:off x="1792599" y="612917"/>
            <a:ext cx="5487353" cy="4115753"/>
          </a:xfrm>
        </p:spPr>
        <p:txBody>
          <a:bodyPr/>
          <a:lstStyle>
            <a:lvl1pPr marL="0" indent="0">
              <a:buNone/>
              <a:defRPr sz="3225"/>
            </a:lvl1pPr>
            <a:lvl2pPr marL="457200" indent="0">
              <a:buNone/>
              <a:defRPr sz="2775"/>
            </a:lvl2pPr>
            <a:lvl3pPr marL="914400" indent="0">
              <a:buNone/>
              <a:defRPr sz="2400"/>
            </a:lvl3pPr>
            <a:lvl4pPr marL="1372235" indent="0">
              <a:buNone/>
              <a:defRPr sz="2025"/>
            </a:lvl4pPr>
            <a:lvl5pPr marL="1829435" indent="0">
              <a:buNone/>
              <a:defRPr sz="2025"/>
            </a:lvl5pPr>
            <a:lvl6pPr marL="2286635" indent="0">
              <a:buNone/>
              <a:defRPr sz="2025"/>
            </a:lvl6pPr>
            <a:lvl7pPr marL="2743835" indent="0">
              <a:buNone/>
              <a:defRPr sz="2025"/>
            </a:lvl7pPr>
            <a:lvl8pPr marL="3201035" indent="0">
              <a:buNone/>
              <a:defRPr sz="2025"/>
            </a:lvl8pPr>
            <a:lvl9pPr marL="3658235" indent="0">
              <a:buNone/>
              <a:defRPr sz="2025"/>
            </a:lvl9pPr>
          </a:lstStyle>
          <a:p>
            <a:endParaRPr lang="zh-CN" altLang="en-US"/>
          </a:p>
        </p:txBody>
      </p:sp>
      <p:sp>
        <p:nvSpPr>
          <p:cNvPr id="4" name="文本占位符 3"/>
          <p:cNvSpPr>
            <a:spLocks noGrp="1"/>
          </p:cNvSpPr>
          <p:nvPr>
            <p:ph type="body" sz="half" idx="2"/>
          </p:nvPr>
        </p:nvSpPr>
        <p:spPr>
          <a:xfrm>
            <a:off x="1792599" y="5368583"/>
            <a:ext cx="5487353" cy="805048"/>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2" y="274702"/>
            <a:ext cx="2057757"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80" y="274702"/>
            <a:ext cx="602084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0">
    <p:wipe/>
  </p:transition>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80" y="274702"/>
            <a:ext cx="8231029"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80" y="1600573"/>
            <a:ext cx="8231029"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80" y="6357824"/>
            <a:ext cx="2133971" cy="365210"/>
          </a:xfrm>
          <a:prstGeom prst="rect">
            <a:avLst/>
          </a:prstGeom>
        </p:spPr>
        <p:txBody>
          <a:bodyPr vert="horz" lIns="121917" tIns="60958" rIns="121917" bIns="60958" rtlCol="0" anchor="ctr"/>
          <a:lstStyle>
            <a:lvl1pPr algn="l">
              <a:defRPr sz="1200">
                <a:solidFill>
                  <a:schemeClr val="tx1">
                    <a:tint val="75000"/>
                  </a:schemeClr>
                </a:solidFill>
              </a:defRPr>
            </a:lvl1pPr>
          </a:lstStyle>
          <a:p>
            <a:pPr defTabSz="914400"/>
            <a:fld id="{8B8CD9F9-72C8-4589-8A77-E0EAAC1A9441}" type="datetimeFigureOut">
              <a:rPr lang="zh-CN" altLang="en-US" smtClean="0">
                <a:solidFill>
                  <a:prstClr val="black">
                    <a:tint val="75000"/>
                  </a:prstClr>
                </a:solidFill>
              </a:rPr>
              <a:t>2025/10/24</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743" y="6357824"/>
            <a:ext cx="2896103" cy="365210"/>
          </a:xfrm>
          <a:prstGeom prst="rect">
            <a:avLst/>
          </a:prstGeom>
        </p:spPr>
        <p:txBody>
          <a:bodyPr vert="horz" lIns="121917" tIns="60958" rIns="121917" bIns="60958"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4338" y="6357824"/>
            <a:ext cx="2133971" cy="365210"/>
          </a:xfrm>
          <a:prstGeom prst="rect">
            <a:avLst/>
          </a:prstGeom>
        </p:spPr>
        <p:txBody>
          <a:bodyPr vert="horz" lIns="121917" tIns="60958" rIns="121917" bIns="60958" rtlCol="0" anchor="ctr"/>
          <a:lstStyle>
            <a:lvl1pPr algn="r">
              <a:defRPr sz="1200">
                <a:solidFill>
                  <a:schemeClr val="tx1">
                    <a:tint val="75000"/>
                  </a:schemeClr>
                </a:solidFill>
              </a:defRPr>
            </a:lvl1pPr>
          </a:lstStyle>
          <a:p>
            <a:pPr defTabSz="914400"/>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914400" rtl="0" eaLnBrk="1" latinLnBrk="0" hangingPunct="1">
        <a:spcBef>
          <a:spcPct val="0"/>
        </a:spcBef>
        <a:buNone/>
        <a:defRPr sz="4425"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25"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775"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4pPr>
      <a:lvl5pPr marL="20580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5pPr>
      <a:lvl6pPr marL="25152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6pPr>
      <a:lvl7pPr marL="29724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7pPr>
      <a:lvl8pPr marL="34296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8pPr>
      <a:lvl9pPr marL="3886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2235"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notesSlide" Target="../notesSlides/notesSlide16.xml"/><Relationship Id="rId7" Type="http://schemas.openxmlformats.org/officeDocument/2006/relationships/oleObject" Target="../embeddings/oleObject2.bin"/><Relationship Id="rId12"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9.wmf"/><Relationship Id="rId11" Type="http://schemas.openxmlformats.org/officeDocument/2006/relationships/image" Target="../media/image21.wmf"/><Relationship Id="rId5" Type="http://schemas.openxmlformats.org/officeDocument/2006/relationships/oleObject" Target="../embeddings/oleObject1.bin"/><Relationship Id="rId10" Type="http://schemas.openxmlformats.org/officeDocument/2006/relationships/oleObject" Target="../embeddings/oleObject3.bin"/><Relationship Id="rId4" Type="http://schemas.openxmlformats.org/officeDocument/2006/relationships/image" Target="../media/image170.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image" Target="../media/image34.wmf"/><Relationship Id="rId3" Type="http://schemas.openxmlformats.org/officeDocument/2006/relationships/notesSlide" Target="../notesSlides/notesSlide27.xml"/><Relationship Id="rId7" Type="http://schemas.openxmlformats.org/officeDocument/2006/relationships/image" Target="../media/image29.wmf"/><Relationship Id="rId12" Type="http://schemas.openxmlformats.org/officeDocument/2006/relationships/image" Target="../media/image31.wmf"/><Relationship Id="rId17" Type="http://schemas.openxmlformats.org/officeDocument/2006/relationships/oleObject" Target="../embeddings/oleObject11.bin"/><Relationship Id="rId2" Type="http://schemas.openxmlformats.org/officeDocument/2006/relationships/slideLayout" Target="../slideLayouts/slideLayout4.xml"/><Relationship Id="rId16" Type="http://schemas.openxmlformats.org/officeDocument/2006/relationships/image" Target="../media/image33.wmf"/><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oleObject" Target="../embeddings/oleObject8.bin"/><Relationship Id="rId5" Type="http://schemas.openxmlformats.org/officeDocument/2006/relationships/image" Target="../media/image28.wmf"/><Relationship Id="rId15" Type="http://schemas.openxmlformats.org/officeDocument/2006/relationships/oleObject" Target="../embeddings/oleObject10.bin"/><Relationship Id="rId10" Type="http://schemas.openxmlformats.org/officeDocument/2006/relationships/image" Target="../media/image30.wmf"/><Relationship Id="rId4" Type="http://schemas.openxmlformats.org/officeDocument/2006/relationships/oleObject" Target="../embeddings/oleObject5.bin"/><Relationship Id="rId9" Type="http://schemas.openxmlformats.org/officeDocument/2006/relationships/oleObject" Target="../embeddings/oleObject7.bin"/><Relationship Id="rId14" Type="http://schemas.openxmlformats.org/officeDocument/2006/relationships/image" Target="../media/image32.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28.xml"/><Relationship Id="rId7" Type="http://schemas.openxmlformats.org/officeDocument/2006/relationships/image" Target="../media/image36.w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13.bin"/><Relationship Id="rId5" Type="http://schemas.openxmlformats.org/officeDocument/2006/relationships/image" Target="../media/image35.wmf"/><Relationship Id="rId4" Type="http://schemas.openxmlformats.org/officeDocument/2006/relationships/oleObject" Target="../embeddings/oleObject12.bin"/><Relationship Id="rId9" Type="http://schemas.openxmlformats.org/officeDocument/2006/relationships/image" Target="../media/image37.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29.xml"/><Relationship Id="rId7" Type="http://schemas.openxmlformats.org/officeDocument/2006/relationships/image" Target="../media/image39.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16.bin"/><Relationship Id="rId5" Type="http://schemas.openxmlformats.org/officeDocument/2006/relationships/image" Target="../media/image38.wmf"/><Relationship Id="rId4" Type="http://schemas.openxmlformats.org/officeDocument/2006/relationships/oleObject" Target="../embeddings/oleObject15.bin"/><Relationship Id="rId9" Type="http://schemas.openxmlformats.org/officeDocument/2006/relationships/image" Target="../media/image40.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40.wmf"/><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49.wmf"/><Relationship Id="rId4" Type="http://schemas.openxmlformats.org/officeDocument/2006/relationships/oleObject" Target="../embeddings/oleObject18.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48.xml"/><Relationship Id="rId7" Type="http://schemas.openxmlformats.org/officeDocument/2006/relationships/image" Target="../media/image55.wmf"/><Relationship Id="rId12" Type="http://schemas.openxmlformats.org/officeDocument/2006/relationships/chart" Target="../charts/chart1.xml"/><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20.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56.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53.xml"/><Relationship Id="rId7" Type="http://schemas.openxmlformats.org/officeDocument/2006/relationships/image" Target="../media/image64.png"/><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63.png"/><Relationship Id="rId5" Type="http://schemas.openxmlformats.org/officeDocument/2006/relationships/image" Target="../media/image62.wmf"/><Relationship Id="rId10" Type="http://schemas.openxmlformats.org/officeDocument/2006/relationships/oleObject" Target="../embeddings/oleObject4.bin"/><Relationship Id="rId4" Type="http://schemas.openxmlformats.org/officeDocument/2006/relationships/oleObject" Target="../embeddings/oleObject23.bin"/><Relationship Id="rId9" Type="http://schemas.openxmlformats.org/officeDocument/2006/relationships/image" Target="../media/image63.wmf"/></Relationships>
</file>

<file path=ppt/slides/_rels/slide5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71.png"/><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63.wmf"/><Relationship Id="rId5" Type="http://schemas.openxmlformats.org/officeDocument/2006/relationships/oleObject" Target="../embeddings/oleObject4.bin"/><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61.png"/><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72.png"/><Relationship Id="rId5" Type="http://schemas.openxmlformats.org/officeDocument/2006/relationships/image" Target="../media/image63.wmf"/><Relationship Id="rId4" Type="http://schemas.openxmlformats.org/officeDocument/2006/relationships/oleObject" Target="../embeddings/oleObject4.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74.png"/><Relationship Id="rId5" Type="http://schemas.openxmlformats.org/officeDocument/2006/relationships/image" Target="../media/image73.wmf"/><Relationship Id="rId4" Type="http://schemas.openxmlformats.org/officeDocument/2006/relationships/oleObject" Target="../embeddings/oleObject25.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76.png"/></Relationships>
</file>

<file path=ppt/slides/_rels/slide6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78.png"/></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7.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82.png"/></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9.xml"/><Relationship Id="rId1" Type="http://schemas.openxmlformats.org/officeDocument/2006/relationships/slideLayout" Target="../slideLayouts/slideLayout4.xml"/><Relationship Id="rId4" Type="http://schemas.openxmlformats.org/officeDocument/2006/relationships/image" Target="../media/image83.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0.xml"/><Relationship Id="rId1" Type="http://schemas.openxmlformats.org/officeDocument/2006/relationships/slideLayout" Target="../slideLayouts/slideLayout4.xml"/><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层"/>
          <p:cNvSpPr txBox="1"/>
          <p:nvPr/>
        </p:nvSpPr>
        <p:spPr bwMode="auto">
          <a:xfrm>
            <a:off x="2180380" y="17369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1</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71" name="直接连接符 70"/>
          <p:cNvCxnSpPr/>
          <p:nvPr/>
        </p:nvCxnSpPr>
        <p:spPr>
          <a:xfrm>
            <a:off x="2839809" y="1789898"/>
            <a:ext cx="0" cy="417566"/>
          </a:xfrm>
          <a:prstGeom prst="line">
            <a:avLst/>
          </a:prstGeom>
          <a:noFill/>
          <a:ln w="9525" cap="flat" cmpd="sng" algn="ctr">
            <a:solidFill>
              <a:schemeClr val="tx1">
                <a:lumMod val="65000"/>
                <a:lumOff val="35000"/>
              </a:schemeClr>
            </a:solidFill>
            <a:prstDash val="solid"/>
          </a:ln>
          <a:effectLst/>
        </p:spPr>
      </p:cxnSp>
      <p:sp>
        <p:nvSpPr>
          <p:cNvPr id="72" name="标题层"/>
          <p:cNvSpPr txBox="1"/>
          <p:nvPr/>
        </p:nvSpPr>
        <p:spPr bwMode="auto">
          <a:xfrm>
            <a:off x="2908279" y="1736931"/>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灰度直方图</a:t>
            </a:r>
          </a:p>
        </p:txBody>
      </p:sp>
      <p:sp>
        <p:nvSpPr>
          <p:cNvPr id="90" name="标题层"/>
          <p:cNvSpPr txBox="1"/>
          <p:nvPr/>
        </p:nvSpPr>
        <p:spPr bwMode="auto">
          <a:xfrm>
            <a:off x="2180380" y="230536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2</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1" name="直接连接符 90"/>
          <p:cNvCxnSpPr/>
          <p:nvPr/>
        </p:nvCxnSpPr>
        <p:spPr>
          <a:xfrm>
            <a:off x="2839809" y="2358335"/>
            <a:ext cx="0" cy="417566"/>
          </a:xfrm>
          <a:prstGeom prst="line">
            <a:avLst/>
          </a:prstGeom>
          <a:noFill/>
          <a:ln w="9525" cap="flat" cmpd="sng" algn="ctr">
            <a:solidFill>
              <a:schemeClr val="tx1">
                <a:lumMod val="65000"/>
                <a:lumOff val="35000"/>
              </a:schemeClr>
            </a:solidFill>
            <a:prstDash val="solid"/>
          </a:ln>
          <a:effectLst/>
        </p:spPr>
      </p:cxnSp>
      <p:sp>
        <p:nvSpPr>
          <p:cNvPr id="92" name="标题层"/>
          <p:cNvSpPr txBox="1"/>
          <p:nvPr/>
        </p:nvSpPr>
        <p:spPr bwMode="auto">
          <a:xfrm>
            <a:off x="2908279" y="2277666"/>
            <a:ext cx="3536723"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直方图均衡化</a:t>
            </a:r>
          </a:p>
        </p:txBody>
      </p:sp>
      <p:sp>
        <p:nvSpPr>
          <p:cNvPr id="95" name="标题层"/>
          <p:cNvSpPr txBox="1"/>
          <p:nvPr/>
        </p:nvSpPr>
        <p:spPr bwMode="auto">
          <a:xfrm>
            <a:off x="2180380" y="28630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3</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6" name="直接连接符 95"/>
          <p:cNvCxnSpPr/>
          <p:nvPr/>
        </p:nvCxnSpPr>
        <p:spPr>
          <a:xfrm>
            <a:off x="2839809" y="2915998"/>
            <a:ext cx="0" cy="417566"/>
          </a:xfrm>
          <a:prstGeom prst="line">
            <a:avLst/>
          </a:prstGeom>
          <a:noFill/>
          <a:ln w="9525" cap="flat" cmpd="sng" algn="ctr">
            <a:solidFill>
              <a:schemeClr val="tx1">
                <a:lumMod val="65000"/>
                <a:lumOff val="35000"/>
              </a:schemeClr>
            </a:solidFill>
            <a:prstDash val="solid"/>
          </a:ln>
          <a:effectLst/>
        </p:spPr>
      </p:cxnSp>
      <p:sp>
        <p:nvSpPr>
          <p:cNvPr id="97" name="标题层"/>
          <p:cNvSpPr txBox="1"/>
          <p:nvPr/>
        </p:nvSpPr>
        <p:spPr bwMode="auto">
          <a:xfrm>
            <a:off x="2908278" y="2863031"/>
            <a:ext cx="4184795"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直方图规定化</a:t>
            </a:r>
          </a:p>
        </p:txBody>
      </p:sp>
      <p:sp>
        <p:nvSpPr>
          <p:cNvPr id="100" name="标题层"/>
          <p:cNvSpPr txBox="1"/>
          <p:nvPr/>
        </p:nvSpPr>
        <p:spPr bwMode="auto">
          <a:xfrm>
            <a:off x="2180380" y="342979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4</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101" name="直接连接符 100"/>
          <p:cNvCxnSpPr/>
          <p:nvPr/>
        </p:nvCxnSpPr>
        <p:spPr>
          <a:xfrm>
            <a:off x="2839809" y="3482761"/>
            <a:ext cx="0" cy="417566"/>
          </a:xfrm>
          <a:prstGeom prst="line">
            <a:avLst/>
          </a:prstGeom>
          <a:noFill/>
          <a:ln w="9525" cap="flat" cmpd="sng" algn="ctr">
            <a:solidFill>
              <a:schemeClr val="tx1">
                <a:lumMod val="65000"/>
                <a:lumOff val="35000"/>
              </a:schemeClr>
            </a:solidFill>
            <a:prstDash val="solid"/>
          </a:ln>
          <a:effectLst/>
        </p:spPr>
      </p:cxnSp>
      <p:sp>
        <p:nvSpPr>
          <p:cNvPr id="102" name="标题层"/>
          <p:cNvSpPr txBox="1"/>
          <p:nvPr/>
        </p:nvSpPr>
        <p:spPr bwMode="auto">
          <a:xfrm>
            <a:off x="2908279" y="3429794"/>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线性变换</a:t>
            </a:r>
          </a:p>
        </p:txBody>
      </p:sp>
      <p:sp>
        <p:nvSpPr>
          <p:cNvPr id="31" name="矩形 30"/>
          <p:cNvSpPr/>
          <p:nvPr/>
        </p:nvSpPr>
        <p:spPr>
          <a:xfrm>
            <a:off x="1" y="856667"/>
            <a:ext cx="9146778" cy="844410"/>
          </a:xfrm>
          <a:prstGeom prst="rect">
            <a:avLst/>
          </a:prstGeom>
          <a:solidFill>
            <a:srgbClr val="319095"/>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defTabSz="685800">
              <a:defRPr/>
            </a:pPr>
            <a:endParaRPr lang="zh-CN" altLang="en-US" sz="1350" kern="0">
              <a:solidFill>
                <a:prstClr val="white"/>
              </a:solidFill>
              <a:latin typeface="Calibri"/>
              <a:ea typeface="宋体"/>
            </a:endParaRPr>
          </a:p>
        </p:txBody>
      </p:sp>
      <p:sp>
        <p:nvSpPr>
          <p:cNvPr id="32" name="矩形 31"/>
          <p:cNvSpPr/>
          <p:nvPr/>
        </p:nvSpPr>
        <p:spPr>
          <a:xfrm>
            <a:off x="3845672" y="1015776"/>
            <a:ext cx="1454245" cy="600293"/>
          </a:xfrm>
          <a:prstGeom prst="rect">
            <a:avLst/>
          </a:prstGeom>
        </p:spPr>
        <p:txBody>
          <a:bodyPr wrap="none">
            <a:spAutoFit/>
          </a:bodyPr>
          <a:lstStyle/>
          <a:p>
            <a:pPr algn="ctr"/>
            <a:r>
              <a:rPr lang="zh-CN" altLang="en-US" sz="3300" b="1" dirty="0">
                <a:solidFill>
                  <a:prstClr val="white"/>
                </a:solidFill>
                <a:latin typeface="微软雅黑" panose="020B0503020204020204" pitchFamily="34" charset="-122"/>
                <a:ea typeface="微软雅黑" panose="020B0503020204020204" pitchFamily="34" charset="-122"/>
              </a:rPr>
              <a:t>第三章</a:t>
            </a:r>
            <a:endParaRPr lang="en-US" altLang="zh-CN" sz="3300" b="1" dirty="0">
              <a:solidFill>
                <a:prstClr val="white"/>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 y="5819780"/>
            <a:ext cx="9145587" cy="183141"/>
            <a:chOff x="-42912" y="6615474"/>
            <a:chExt cx="12190412" cy="244114"/>
          </a:xfrm>
        </p:grpSpPr>
        <p:sp>
          <p:nvSpPr>
            <p:cNvPr id="24" name="六边形 23"/>
            <p:cNvSpPr/>
            <p:nvPr/>
          </p:nvSpPr>
          <p:spPr>
            <a:xfrm>
              <a:off x="-42912" y="6615474"/>
              <a:ext cx="3041773" cy="24411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5" name="六边形 24"/>
            <p:cNvSpPr/>
            <p:nvPr/>
          </p:nvSpPr>
          <p:spPr>
            <a:xfrm>
              <a:off x="2998862" y="6615474"/>
              <a:ext cx="3063750" cy="24411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6" name="六边形 25"/>
            <p:cNvSpPr/>
            <p:nvPr/>
          </p:nvSpPr>
          <p:spPr>
            <a:xfrm>
              <a:off x="6052294" y="6615474"/>
              <a:ext cx="3047603" cy="24411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7" name="六边形 26"/>
            <p:cNvSpPr/>
            <p:nvPr/>
          </p:nvSpPr>
          <p:spPr>
            <a:xfrm>
              <a:off x="9099897" y="6615474"/>
              <a:ext cx="3047603" cy="24411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29" name="标题层"/>
          <p:cNvSpPr txBox="1"/>
          <p:nvPr/>
        </p:nvSpPr>
        <p:spPr bwMode="auto">
          <a:xfrm>
            <a:off x="2180380" y="400585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5</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0" name="直接连接符 29"/>
          <p:cNvCxnSpPr/>
          <p:nvPr/>
        </p:nvCxnSpPr>
        <p:spPr>
          <a:xfrm>
            <a:off x="2839809" y="4058825"/>
            <a:ext cx="0" cy="417566"/>
          </a:xfrm>
          <a:prstGeom prst="line">
            <a:avLst/>
          </a:prstGeom>
          <a:noFill/>
          <a:ln w="9525" cap="flat" cmpd="sng" algn="ctr">
            <a:solidFill>
              <a:schemeClr val="tx1">
                <a:lumMod val="65000"/>
                <a:lumOff val="35000"/>
              </a:schemeClr>
            </a:solidFill>
            <a:prstDash val="solid"/>
          </a:ln>
          <a:effectLst/>
        </p:spPr>
      </p:cxnSp>
      <p:sp>
        <p:nvSpPr>
          <p:cNvPr id="33" name="标题层"/>
          <p:cNvSpPr txBox="1"/>
          <p:nvPr/>
        </p:nvSpPr>
        <p:spPr bwMode="auto">
          <a:xfrm>
            <a:off x="2908279" y="4574265"/>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伽马变换</a:t>
            </a:r>
          </a:p>
        </p:txBody>
      </p:sp>
      <p:sp>
        <p:nvSpPr>
          <p:cNvPr id="34" name="标题层"/>
          <p:cNvSpPr txBox="1"/>
          <p:nvPr/>
        </p:nvSpPr>
        <p:spPr bwMode="auto">
          <a:xfrm>
            <a:off x="2180379" y="4595489"/>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6</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5" name="直接连接符 34"/>
          <p:cNvCxnSpPr/>
          <p:nvPr/>
        </p:nvCxnSpPr>
        <p:spPr>
          <a:xfrm>
            <a:off x="2839808" y="4648456"/>
            <a:ext cx="0" cy="417566"/>
          </a:xfrm>
          <a:prstGeom prst="line">
            <a:avLst/>
          </a:prstGeom>
          <a:noFill/>
          <a:ln w="9525" cap="flat" cmpd="sng" algn="ctr">
            <a:solidFill>
              <a:schemeClr val="tx1">
                <a:lumMod val="65000"/>
                <a:lumOff val="35000"/>
              </a:schemeClr>
            </a:solidFill>
            <a:prstDash val="solid"/>
          </a:ln>
          <a:effectLst/>
        </p:spPr>
      </p:cxnSp>
      <p:sp>
        <p:nvSpPr>
          <p:cNvPr id="36" name="标题层"/>
          <p:cNvSpPr txBox="1"/>
          <p:nvPr/>
        </p:nvSpPr>
        <p:spPr bwMode="auto">
          <a:xfrm>
            <a:off x="2899674" y="5115000"/>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阈值变换</a:t>
            </a:r>
          </a:p>
        </p:txBody>
      </p:sp>
      <p:sp>
        <p:nvSpPr>
          <p:cNvPr id="28" name="标题层"/>
          <p:cNvSpPr txBox="1"/>
          <p:nvPr/>
        </p:nvSpPr>
        <p:spPr bwMode="auto">
          <a:xfrm>
            <a:off x="2180379" y="5132553"/>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7</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7" name="直接连接符 36"/>
          <p:cNvCxnSpPr/>
          <p:nvPr/>
        </p:nvCxnSpPr>
        <p:spPr>
          <a:xfrm>
            <a:off x="2839808" y="5150647"/>
            <a:ext cx="0" cy="417566"/>
          </a:xfrm>
          <a:prstGeom prst="line">
            <a:avLst/>
          </a:prstGeom>
          <a:noFill/>
          <a:ln w="9525" cap="flat" cmpd="sng" algn="ctr">
            <a:solidFill>
              <a:schemeClr val="tx1">
                <a:lumMod val="65000"/>
                <a:lumOff val="35000"/>
              </a:schemeClr>
            </a:solidFill>
            <a:prstDash val="solid"/>
          </a:ln>
          <a:effectLst/>
        </p:spPr>
      </p:cxnSp>
      <p:sp>
        <p:nvSpPr>
          <p:cNvPr id="38" name="标题层"/>
          <p:cNvSpPr txBox="1"/>
          <p:nvPr/>
        </p:nvSpPr>
        <p:spPr bwMode="auto">
          <a:xfrm>
            <a:off x="2899674" y="3983344"/>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对数变换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600"/>
                            </p:stCondLst>
                            <p:childTnLst>
                              <p:par>
                                <p:cTn id="13" presetID="47"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600"/>
                                        <p:tgtEl>
                                          <p:spTgt spid="71"/>
                                        </p:tgtEl>
                                      </p:cBhvr>
                                    </p:animEffect>
                                    <p:anim calcmode="lin" valueType="num">
                                      <p:cBhvr>
                                        <p:cTn id="16" dur="600" fill="hold"/>
                                        <p:tgtEl>
                                          <p:spTgt spid="71"/>
                                        </p:tgtEl>
                                        <p:attrNameLst>
                                          <p:attrName>ppt_x</p:attrName>
                                        </p:attrNameLst>
                                      </p:cBhvr>
                                      <p:tavLst>
                                        <p:tav tm="0">
                                          <p:val>
                                            <p:strVal val="#ppt_x"/>
                                          </p:val>
                                        </p:tav>
                                        <p:tav tm="100000">
                                          <p:val>
                                            <p:strVal val="#ppt_x"/>
                                          </p:val>
                                        </p:tav>
                                      </p:tavLst>
                                    </p:anim>
                                    <p:anim calcmode="lin" valueType="num">
                                      <p:cBhvr>
                                        <p:cTn id="17" dur="600" fill="hold"/>
                                        <p:tgtEl>
                                          <p:spTgt spid="71"/>
                                        </p:tgtEl>
                                        <p:attrNameLst>
                                          <p:attrName>ppt_y</p:attrName>
                                        </p:attrNameLst>
                                      </p:cBhvr>
                                      <p:tavLst>
                                        <p:tav tm="0">
                                          <p:val>
                                            <p:strVal val="#ppt_y-.1"/>
                                          </p:val>
                                        </p:tav>
                                        <p:tav tm="100000">
                                          <p:val>
                                            <p:strVal val="#ppt_y"/>
                                          </p:val>
                                        </p:tav>
                                      </p:tavLst>
                                    </p:anim>
                                  </p:childTnLst>
                                </p:cTn>
                              </p:par>
                            </p:childTnLst>
                          </p:cTn>
                        </p:par>
                        <p:par>
                          <p:cTn id="18" fill="hold">
                            <p:stCondLst>
                              <p:cond delay="1600"/>
                            </p:stCondLst>
                            <p:childTnLst>
                              <p:par>
                                <p:cTn id="19" presetID="2" presetClass="entr" presetSubtype="8" decel="52500" fill="hold" grpId="0" nodeType="after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400" fill="hold"/>
                                        <p:tgtEl>
                                          <p:spTgt spid="70"/>
                                        </p:tgtEl>
                                        <p:attrNameLst>
                                          <p:attrName>ppt_x</p:attrName>
                                        </p:attrNameLst>
                                      </p:cBhvr>
                                      <p:tavLst>
                                        <p:tav tm="0">
                                          <p:val>
                                            <p:strVal val="0-#ppt_w/2"/>
                                          </p:val>
                                        </p:tav>
                                        <p:tav tm="100000">
                                          <p:val>
                                            <p:strVal val="#ppt_x"/>
                                          </p:val>
                                        </p:tav>
                                      </p:tavLst>
                                    </p:anim>
                                    <p:anim calcmode="lin" valueType="num">
                                      <p:cBhvr additive="base">
                                        <p:cTn id="22" dur="400" fill="hold"/>
                                        <p:tgtEl>
                                          <p:spTgt spid="70"/>
                                        </p:tgtEl>
                                        <p:attrNameLst>
                                          <p:attrName>ppt_y</p:attrName>
                                        </p:attrNameLst>
                                      </p:cBhvr>
                                      <p:tavLst>
                                        <p:tav tm="0">
                                          <p:val>
                                            <p:strVal val="#ppt_y"/>
                                          </p:val>
                                        </p:tav>
                                        <p:tav tm="100000">
                                          <p:val>
                                            <p:strVal val="#ppt_y"/>
                                          </p:val>
                                        </p:tav>
                                      </p:tavLst>
                                    </p:anim>
                                  </p:childTnLst>
                                </p:cTn>
                              </p:par>
                              <p:par>
                                <p:cTn id="23" presetID="2" presetClass="entr" presetSubtype="2" decel="5250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400" fill="hold"/>
                                        <p:tgtEl>
                                          <p:spTgt spid="72"/>
                                        </p:tgtEl>
                                        <p:attrNameLst>
                                          <p:attrName>ppt_x</p:attrName>
                                        </p:attrNameLst>
                                      </p:cBhvr>
                                      <p:tavLst>
                                        <p:tav tm="0">
                                          <p:val>
                                            <p:strVal val="1+#ppt_w/2"/>
                                          </p:val>
                                        </p:tav>
                                        <p:tav tm="100000">
                                          <p:val>
                                            <p:strVal val="#ppt_x"/>
                                          </p:val>
                                        </p:tav>
                                      </p:tavLst>
                                    </p:anim>
                                    <p:anim calcmode="lin" valueType="num">
                                      <p:cBhvr additive="base">
                                        <p:cTn id="26" dur="400" fill="hold"/>
                                        <p:tgtEl>
                                          <p:spTgt spid="72"/>
                                        </p:tgtEl>
                                        <p:attrNameLst>
                                          <p:attrName>ppt_y</p:attrName>
                                        </p:attrNameLst>
                                      </p:cBhvr>
                                      <p:tavLst>
                                        <p:tav tm="0">
                                          <p:val>
                                            <p:strVal val="#ppt_y"/>
                                          </p:val>
                                        </p:tav>
                                        <p:tav tm="100000">
                                          <p:val>
                                            <p:strVal val="#ppt_y"/>
                                          </p:val>
                                        </p:tav>
                                      </p:tavLst>
                                    </p:anim>
                                  </p:childTnLst>
                                </p:cTn>
                              </p:par>
                            </p:childTnLst>
                          </p:cTn>
                        </p:par>
                        <p:par>
                          <p:cTn id="27" fill="hold">
                            <p:stCondLst>
                              <p:cond delay="2100"/>
                            </p:stCondLst>
                            <p:childTnLst>
                              <p:par>
                                <p:cTn id="28" presetID="47" presetClass="entr" presetSubtype="0"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600"/>
                                        <p:tgtEl>
                                          <p:spTgt spid="91"/>
                                        </p:tgtEl>
                                      </p:cBhvr>
                                    </p:animEffect>
                                    <p:anim calcmode="lin" valueType="num">
                                      <p:cBhvr>
                                        <p:cTn id="31" dur="600" fill="hold"/>
                                        <p:tgtEl>
                                          <p:spTgt spid="91"/>
                                        </p:tgtEl>
                                        <p:attrNameLst>
                                          <p:attrName>ppt_x</p:attrName>
                                        </p:attrNameLst>
                                      </p:cBhvr>
                                      <p:tavLst>
                                        <p:tav tm="0">
                                          <p:val>
                                            <p:strVal val="#ppt_x"/>
                                          </p:val>
                                        </p:tav>
                                        <p:tav tm="100000">
                                          <p:val>
                                            <p:strVal val="#ppt_x"/>
                                          </p:val>
                                        </p:tav>
                                      </p:tavLst>
                                    </p:anim>
                                    <p:anim calcmode="lin" valueType="num">
                                      <p:cBhvr>
                                        <p:cTn id="32" dur="600" fill="hold"/>
                                        <p:tgtEl>
                                          <p:spTgt spid="91"/>
                                        </p:tgtEl>
                                        <p:attrNameLst>
                                          <p:attrName>ppt_y</p:attrName>
                                        </p:attrNameLst>
                                      </p:cBhvr>
                                      <p:tavLst>
                                        <p:tav tm="0">
                                          <p:val>
                                            <p:strVal val="#ppt_y-.1"/>
                                          </p:val>
                                        </p:tav>
                                        <p:tav tm="100000">
                                          <p:val>
                                            <p:strVal val="#ppt_y"/>
                                          </p:val>
                                        </p:tav>
                                      </p:tavLst>
                                    </p:anim>
                                  </p:childTnLst>
                                </p:cTn>
                              </p:par>
                            </p:childTnLst>
                          </p:cTn>
                        </p:par>
                        <p:par>
                          <p:cTn id="33" fill="hold">
                            <p:stCondLst>
                              <p:cond delay="3100"/>
                            </p:stCondLst>
                            <p:childTnLst>
                              <p:par>
                                <p:cTn id="34" presetID="2" presetClass="entr" presetSubtype="8" decel="52500" fill="hold" grpId="0" nodeType="after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400" fill="hold"/>
                                        <p:tgtEl>
                                          <p:spTgt spid="90"/>
                                        </p:tgtEl>
                                        <p:attrNameLst>
                                          <p:attrName>ppt_x</p:attrName>
                                        </p:attrNameLst>
                                      </p:cBhvr>
                                      <p:tavLst>
                                        <p:tav tm="0">
                                          <p:val>
                                            <p:strVal val="0-#ppt_w/2"/>
                                          </p:val>
                                        </p:tav>
                                        <p:tav tm="100000">
                                          <p:val>
                                            <p:strVal val="#ppt_x"/>
                                          </p:val>
                                        </p:tav>
                                      </p:tavLst>
                                    </p:anim>
                                    <p:anim calcmode="lin" valueType="num">
                                      <p:cBhvr additive="base">
                                        <p:cTn id="37" dur="4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5250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400" fill="hold"/>
                                        <p:tgtEl>
                                          <p:spTgt spid="92"/>
                                        </p:tgtEl>
                                        <p:attrNameLst>
                                          <p:attrName>ppt_x</p:attrName>
                                        </p:attrNameLst>
                                      </p:cBhvr>
                                      <p:tavLst>
                                        <p:tav tm="0">
                                          <p:val>
                                            <p:strVal val="1+#ppt_w/2"/>
                                          </p:val>
                                        </p:tav>
                                        <p:tav tm="100000">
                                          <p:val>
                                            <p:strVal val="#ppt_x"/>
                                          </p:val>
                                        </p:tav>
                                      </p:tavLst>
                                    </p:anim>
                                    <p:anim calcmode="lin" valueType="num">
                                      <p:cBhvr additive="base">
                                        <p:cTn id="41" dur="4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3600"/>
                            </p:stCondLst>
                            <p:childTnLst>
                              <p:par>
                                <p:cTn id="43" presetID="47" presetClass="entr" presetSubtype="0"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600"/>
                                        <p:tgtEl>
                                          <p:spTgt spid="96"/>
                                        </p:tgtEl>
                                      </p:cBhvr>
                                    </p:animEffect>
                                    <p:anim calcmode="lin" valueType="num">
                                      <p:cBhvr>
                                        <p:cTn id="46" dur="600" fill="hold"/>
                                        <p:tgtEl>
                                          <p:spTgt spid="96"/>
                                        </p:tgtEl>
                                        <p:attrNameLst>
                                          <p:attrName>ppt_x</p:attrName>
                                        </p:attrNameLst>
                                      </p:cBhvr>
                                      <p:tavLst>
                                        <p:tav tm="0">
                                          <p:val>
                                            <p:strVal val="#ppt_x"/>
                                          </p:val>
                                        </p:tav>
                                        <p:tav tm="100000">
                                          <p:val>
                                            <p:strVal val="#ppt_x"/>
                                          </p:val>
                                        </p:tav>
                                      </p:tavLst>
                                    </p:anim>
                                    <p:anim calcmode="lin" valueType="num">
                                      <p:cBhvr>
                                        <p:cTn id="47" dur="600" fill="hold"/>
                                        <p:tgtEl>
                                          <p:spTgt spid="96"/>
                                        </p:tgtEl>
                                        <p:attrNameLst>
                                          <p:attrName>ppt_y</p:attrName>
                                        </p:attrNameLst>
                                      </p:cBhvr>
                                      <p:tavLst>
                                        <p:tav tm="0">
                                          <p:val>
                                            <p:strVal val="#ppt_y-.1"/>
                                          </p:val>
                                        </p:tav>
                                        <p:tav tm="100000">
                                          <p:val>
                                            <p:strVal val="#ppt_y"/>
                                          </p:val>
                                        </p:tav>
                                      </p:tavLst>
                                    </p:anim>
                                  </p:childTnLst>
                                </p:cTn>
                              </p:par>
                            </p:childTnLst>
                          </p:cTn>
                        </p:par>
                        <p:par>
                          <p:cTn id="48" fill="hold">
                            <p:stCondLst>
                              <p:cond delay="4600"/>
                            </p:stCondLst>
                            <p:childTnLst>
                              <p:par>
                                <p:cTn id="49" presetID="2" presetClass="entr" presetSubtype="8" decel="52500" fill="hold" grpId="0" nodeType="afterEffect">
                                  <p:stCondLst>
                                    <p:cond delay="0"/>
                                  </p:stCondLst>
                                  <p:childTnLst>
                                    <p:set>
                                      <p:cBhvr>
                                        <p:cTn id="50" dur="1" fill="hold">
                                          <p:stCondLst>
                                            <p:cond delay="0"/>
                                          </p:stCondLst>
                                        </p:cTn>
                                        <p:tgtEl>
                                          <p:spTgt spid="95"/>
                                        </p:tgtEl>
                                        <p:attrNameLst>
                                          <p:attrName>style.visibility</p:attrName>
                                        </p:attrNameLst>
                                      </p:cBhvr>
                                      <p:to>
                                        <p:strVal val="visible"/>
                                      </p:to>
                                    </p:set>
                                    <p:anim calcmode="lin" valueType="num">
                                      <p:cBhvr additive="base">
                                        <p:cTn id="51" dur="400" fill="hold"/>
                                        <p:tgtEl>
                                          <p:spTgt spid="95"/>
                                        </p:tgtEl>
                                        <p:attrNameLst>
                                          <p:attrName>ppt_x</p:attrName>
                                        </p:attrNameLst>
                                      </p:cBhvr>
                                      <p:tavLst>
                                        <p:tav tm="0">
                                          <p:val>
                                            <p:strVal val="0-#ppt_w/2"/>
                                          </p:val>
                                        </p:tav>
                                        <p:tav tm="100000">
                                          <p:val>
                                            <p:strVal val="#ppt_x"/>
                                          </p:val>
                                        </p:tav>
                                      </p:tavLst>
                                    </p:anim>
                                    <p:anim calcmode="lin" valueType="num">
                                      <p:cBhvr additive="base">
                                        <p:cTn id="52" dur="400" fill="hold"/>
                                        <p:tgtEl>
                                          <p:spTgt spid="95"/>
                                        </p:tgtEl>
                                        <p:attrNameLst>
                                          <p:attrName>ppt_y</p:attrName>
                                        </p:attrNameLst>
                                      </p:cBhvr>
                                      <p:tavLst>
                                        <p:tav tm="0">
                                          <p:val>
                                            <p:strVal val="#ppt_y"/>
                                          </p:val>
                                        </p:tav>
                                        <p:tav tm="100000">
                                          <p:val>
                                            <p:strVal val="#ppt_y"/>
                                          </p:val>
                                        </p:tav>
                                      </p:tavLst>
                                    </p:anim>
                                  </p:childTnLst>
                                </p:cTn>
                              </p:par>
                              <p:par>
                                <p:cTn id="53" presetID="2" presetClass="entr" presetSubtype="2" decel="5250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 calcmode="lin" valueType="num">
                                      <p:cBhvr additive="base">
                                        <p:cTn id="55" dur="400" fill="hold"/>
                                        <p:tgtEl>
                                          <p:spTgt spid="97"/>
                                        </p:tgtEl>
                                        <p:attrNameLst>
                                          <p:attrName>ppt_x</p:attrName>
                                        </p:attrNameLst>
                                      </p:cBhvr>
                                      <p:tavLst>
                                        <p:tav tm="0">
                                          <p:val>
                                            <p:strVal val="1+#ppt_w/2"/>
                                          </p:val>
                                        </p:tav>
                                        <p:tav tm="100000">
                                          <p:val>
                                            <p:strVal val="#ppt_x"/>
                                          </p:val>
                                        </p:tav>
                                      </p:tavLst>
                                    </p:anim>
                                    <p:anim calcmode="lin" valueType="num">
                                      <p:cBhvr additive="base">
                                        <p:cTn id="56" dur="400" fill="hold"/>
                                        <p:tgtEl>
                                          <p:spTgt spid="97"/>
                                        </p:tgtEl>
                                        <p:attrNameLst>
                                          <p:attrName>ppt_y</p:attrName>
                                        </p:attrNameLst>
                                      </p:cBhvr>
                                      <p:tavLst>
                                        <p:tav tm="0">
                                          <p:val>
                                            <p:strVal val="#ppt_y"/>
                                          </p:val>
                                        </p:tav>
                                        <p:tav tm="100000">
                                          <p:val>
                                            <p:strVal val="#ppt_y"/>
                                          </p:val>
                                        </p:tav>
                                      </p:tavLst>
                                    </p:anim>
                                  </p:childTnLst>
                                </p:cTn>
                              </p:par>
                            </p:childTnLst>
                          </p:cTn>
                        </p:par>
                        <p:par>
                          <p:cTn id="57" fill="hold">
                            <p:stCondLst>
                              <p:cond delay="5100"/>
                            </p:stCondLst>
                            <p:childTnLst>
                              <p:par>
                                <p:cTn id="58" presetID="47" presetClass="entr" presetSubtype="0" fill="hold" nodeType="after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fade">
                                      <p:cBhvr>
                                        <p:cTn id="60" dur="600"/>
                                        <p:tgtEl>
                                          <p:spTgt spid="101"/>
                                        </p:tgtEl>
                                      </p:cBhvr>
                                    </p:animEffect>
                                    <p:anim calcmode="lin" valueType="num">
                                      <p:cBhvr>
                                        <p:cTn id="61" dur="600" fill="hold"/>
                                        <p:tgtEl>
                                          <p:spTgt spid="101"/>
                                        </p:tgtEl>
                                        <p:attrNameLst>
                                          <p:attrName>ppt_x</p:attrName>
                                        </p:attrNameLst>
                                      </p:cBhvr>
                                      <p:tavLst>
                                        <p:tav tm="0">
                                          <p:val>
                                            <p:strVal val="#ppt_x"/>
                                          </p:val>
                                        </p:tav>
                                        <p:tav tm="100000">
                                          <p:val>
                                            <p:strVal val="#ppt_x"/>
                                          </p:val>
                                        </p:tav>
                                      </p:tavLst>
                                    </p:anim>
                                    <p:anim calcmode="lin" valueType="num">
                                      <p:cBhvr>
                                        <p:cTn id="62" dur="600" fill="hold"/>
                                        <p:tgtEl>
                                          <p:spTgt spid="101"/>
                                        </p:tgtEl>
                                        <p:attrNameLst>
                                          <p:attrName>ppt_y</p:attrName>
                                        </p:attrNameLst>
                                      </p:cBhvr>
                                      <p:tavLst>
                                        <p:tav tm="0">
                                          <p:val>
                                            <p:strVal val="#ppt_y-.1"/>
                                          </p:val>
                                        </p:tav>
                                        <p:tav tm="100000">
                                          <p:val>
                                            <p:strVal val="#ppt_y"/>
                                          </p:val>
                                        </p:tav>
                                      </p:tavLst>
                                    </p:anim>
                                  </p:childTnLst>
                                </p:cTn>
                              </p:par>
                            </p:childTnLst>
                          </p:cTn>
                        </p:par>
                        <p:par>
                          <p:cTn id="63" fill="hold">
                            <p:stCondLst>
                              <p:cond delay="6100"/>
                            </p:stCondLst>
                            <p:childTnLst>
                              <p:par>
                                <p:cTn id="64" presetID="2" presetClass="entr" presetSubtype="8" decel="52500" fill="hold" grpId="0" nodeType="afterEffect">
                                  <p:stCondLst>
                                    <p:cond delay="0"/>
                                  </p:stCondLst>
                                  <p:childTnLst>
                                    <p:set>
                                      <p:cBhvr>
                                        <p:cTn id="65" dur="1" fill="hold">
                                          <p:stCondLst>
                                            <p:cond delay="0"/>
                                          </p:stCondLst>
                                        </p:cTn>
                                        <p:tgtEl>
                                          <p:spTgt spid="100"/>
                                        </p:tgtEl>
                                        <p:attrNameLst>
                                          <p:attrName>style.visibility</p:attrName>
                                        </p:attrNameLst>
                                      </p:cBhvr>
                                      <p:to>
                                        <p:strVal val="visible"/>
                                      </p:to>
                                    </p:set>
                                    <p:anim calcmode="lin" valueType="num">
                                      <p:cBhvr additive="base">
                                        <p:cTn id="66" dur="400" fill="hold"/>
                                        <p:tgtEl>
                                          <p:spTgt spid="100"/>
                                        </p:tgtEl>
                                        <p:attrNameLst>
                                          <p:attrName>ppt_x</p:attrName>
                                        </p:attrNameLst>
                                      </p:cBhvr>
                                      <p:tavLst>
                                        <p:tav tm="0">
                                          <p:val>
                                            <p:strVal val="0-#ppt_w/2"/>
                                          </p:val>
                                        </p:tav>
                                        <p:tav tm="100000">
                                          <p:val>
                                            <p:strVal val="#ppt_x"/>
                                          </p:val>
                                        </p:tav>
                                      </p:tavLst>
                                    </p:anim>
                                    <p:anim calcmode="lin" valueType="num">
                                      <p:cBhvr additive="base">
                                        <p:cTn id="67" dur="400" fill="hold"/>
                                        <p:tgtEl>
                                          <p:spTgt spid="100"/>
                                        </p:tgtEl>
                                        <p:attrNameLst>
                                          <p:attrName>ppt_y</p:attrName>
                                        </p:attrNameLst>
                                      </p:cBhvr>
                                      <p:tavLst>
                                        <p:tav tm="0">
                                          <p:val>
                                            <p:strVal val="#ppt_y"/>
                                          </p:val>
                                        </p:tav>
                                        <p:tav tm="100000">
                                          <p:val>
                                            <p:strVal val="#ppt_y"/>
                                          </p:val>
                                        </p:tav>
                                      </p:tavLst>
                                    </p:anim>
                                  </p:childTnLst>
                                </p:cTn>
                              </p:par>
                              <p:par>
                                <p:cTn id="68" presetID="2" presetClass="entr" presetSubtype="2" decel="52500" fill="hold" grpId="0" nodeType="withEffect">
                                  <p:stCondLst>
                                    <p:cond delay="0"/>
                                  </p:stCondLst>
                                  <p:childTnLst>
                                    <p:set>
                                      <p:cBhvr>
                                        <p:cTn id="69" dur="1" fill="hold">
                                          <p:stCondLst>
                                            <p:cond delay="0"/>
                                          </p:stCondLst>
                                        </p:cTn>
                                        <p:tgtEl>
                                          <p:spTgt spid="102"/>
                                        </p:tgtEl>
                                        <p:attrNameLst>
                                          <p:attrName>style.visibility</p:attrName>
                                        </p:attrNameLst>
                                      </p:cBhvr>
                                      <p:to>
                                        <p:strVal val="visible"/>
                                      </p:to>
                                    </p:set>
                                    <p:anim calcmode="lin" valueType="num">
                                      <p:cBhvr additive="base">
                                        <p:cTn id="70" dur="400" fill="hold"/>
                                        <p:tgtEl>
                                          <p:spTgt spid="102"/>
                                        </p:tgtEl>
                                        <p:attrNameLst>
                                          <p:attrName>ppt_x</p:attrName>
                                        </p:attrNameLst>
                                      </p:cBhvr>
                                      <p:tavLst>
                                        <p:tav tm="0">
                                          <p:val>
                                            <p:strVal val="1+#ppt_w/2"/>
                                          </p:val>
                                        </p:tav>
                                        <p:tav tm="100000">
                                          <p:val>
                                            <p:strVal val="#ppt_x"/>
                                          </p:val>
                                        </p:tav>
                                      </p:tavLst>
                                    </p:anim>
                                    <p:anim calcmode="lin" valueType="num">
                                      <p:cBhvr additive="base">
                                        <p:cTn id="71" dur="400" fill="hold"/>
                                        <p:tgtEl>
                                          <p:spTgt spid="102"/>
                                        </p:tgtEl>
                                        <p:attrNameLst>
                                          <p:attrName>ppt_y</p:attrName>
                                        </p:attrNameLst>
                                      </p:cBhvr>
                                      <p:tavLst>
                                        <p:tav tm="0">
                                          <p:val>
                                            <p:strVal val="#ppt_y"/>
                                          </p:val>
                                        </p:tav>
                                        <p:tav tm="100000">
                                          <p:val>
                                            <p:strVal val="#ppt_y"/>
                                          </p:val>
                                        </p:tav>
                                      </p:tavLst>
                                    </p:anim>
                                  </p:childTnLst>
                                </p:cTn>
                              </p:par>
                            </p:childTnLst>
                          </p:cTn>
                        </p:par>
                        <p:par>
                          <p:cTn id="72" fill="hold">
                            <p:stCondLst>
                              <p:cond delay="6600"/>
                            </p:stCondLst>
                            <p:childTnLst>
                              <p:par>
                                <p:cTn id="73" presetID="47" presetClass="entr" presetSubtype="0"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600"/>
                                        <p:tgtEl>
                                          <p:spTgt spid="30"/>
                                        </p:tgtEl>
                                      </p:cBhvr>
                                    </p:animEffect>
                                    <p:anim calcmode="lin" valueType="num">
                                      <p:cBhvr>
                                        <p:cTn id="76" dur="600" fill="hold"/>
                                        <p:tgtEl>
                                          <p:spTgt spid="30"/>
                                        </p:tgtEl>
                                        <p:attrNameLst>
                                          <p:attrName>ppt_x</p:attrName>
                                        </p:attrNameLst>
                                      </p:cBhvr>
                                      <p:tavLst>
                                        <p:tav tm="0">
                                          <p:val>
                                            <p:strVal val="#ppt_x"/>
                                          </p:val>
                                        </p:tav>
                                        <p:tav tm="100000">
                                          <p:val>
                                            <p:strVal val="#ppt_x"/>
                                          </p:val>
                                        </p:tav>
                                      </p:tavLst>
                                    </p:anim>
                                    <p:anim calcmode="lin" valueType="num">
                                      <p:cBhvr>
                                        <p:cTn id="77" dur="600" fill="hold"/>
                                        <p:tgtEl>
                                          <p:spTgt spid="30"/>
                                        </p:tgtEl>
                                        <p:attrNameLst>
                                          <p:attrName>ppt_y</p:attrName>
                                        </p:attrNameLst>
                                      </p:cBhvr>
                                      <p:tavLst>
                                        <p:tav tm="0">
                                          <p:val>
                                            <p:strVal val="#ppt_y-.1"/>
                                          </p:val>
                                        </p:tav>
                                        <p:tav tm="100000">
                                          <p:val>
                                            <p:strVal val="#ppt_y"/>
                                          </p:val>
                                        </p:tav>
                                      </p:tavLst>
                                    </p:anim>
                                  </p:childTnLst>
                                </p:cTn>
                              </p:par>
                            </p:childTnLst>
                          </p:cTn>
                        </p:par>
                        <p:par>
                          <p:cTn id="78" fill="hold">
                            <p:stCondLst>
                              <p:cond delay="7600"/>
                            </p:stCondLst>
                            <p:childTnLst>
                              <p:par>
                                <p:cTn id="79" presetID="2" presetClass="entr" presetSubtype="8" decel="5250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400" fill="hold"/>
                                        <p:tgtEl>
                                          <p:spTgt spid="29"/>
                                        </p:tgtEl>
                                        <p:attrNameLst>
                                          <p:attrName>ppt_x</p:attrName>
                                        </p:attrNameLst>
                                      </p:cBhvr>
                                      <p:tavLst>
                                        <p:tav tm="0">
                                          <p:val>
                                            <p:strVal val="0-#ppt_w/2"/>
                                          </p:val>
                                        </p:tav>
                                        <p:tav tm="100000">
                                          <p:val>
                                            <p:strVal val="#ppt_x"/>
                                          </p:val>
                                        </p:tav>
                                      </p:tavLst>
                                    </p:anim>
                                    <p:anim calcmode="lin" valueType="num">
                                      <p:cBhvr additive="base">
                                        <p:cTn id="82" dur="400" fill="hold"/>
                                        <p:tgtEl>
                                          <p:spTgt spid="29"/>
                                        </p:tgtEl>
                                        <p:attrNameLst>
                                          <p:attrName>ppt_y</p:attrName>
                                        </p:attrNameLst>
                                      </p:cBhvr>
                                      <p:tavLst>
                                        <p:tav tm="0">
                                          <p:val>
                                            <p:strVal val="#ppt_y"/>
                                          </p:val>
                                        </p:tav>
                                        <p:tav tm="100000">
                                          <p:val>
                                            <p:strVal val="#ppt_y"/>
                                          </p:val>
                                        </p:tav>
                                      </p:tavLst>
                                    </p:anim>
                                  </p:childTnLst>
                                </p:cTn>
                              </p:par>
                              <p:par>
                                <p:cTn id="83" presetID="2" presetClass="entr" presetSubtype="2" decel="5250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400" fill="hold"/>
                                        <p:tgtEl>
                                          <p:spTgt spid="33"/>
                                        </p:tgtEl>
                                        <p:attrNameLst>
                                          <p:attrName>ppt_x</p:attrName>
                                        </p:attrNameLst>
                                      </p:cBhvr>
                                      <p:tavLst>
                                        <p:tav tm="0">
                                          <p:val>
                                            <p:strVal val="1+#ppt_w/2"/>
                                          </p:val>
                                        </p:tav>
                                        <p:tav tm="100000">
                                          <p:val>
                                            <p:strVal val="#ppt_x"/>
                                          </p:val>
                                        </p:tav>
                                      </p:tavLst>
                                    </p:anim>
                                    <p:anim calcmode="lin" valueType="num">
                                      <p:cBhvr additive="base">
                                        <p:cTn id="86" dur="400" fill="hold"/>
                                        <p:tgtEl>
                                          <p:spTgt spid="33"/>
                                        </p:tgtEl>
                                        <p:attrNameLst>
                                          <p:attrName>ppt_y</p:attrName>
                                        </p:attrNameLst>
                                      </p:cBhvr>
                                      <p:tavLst>
                                        <p:tav tm="0">
                                          <p:val>
                                            <p:strVal val="#ppt_y"/>
                                          </p:val>
                                        </p:tav>
                                        <p:tav tm="100000">
                                          <p:val>
                                            <p:strVal val="#ppt_y"/>
                                          </p:val>
                                        </p:tav>
                                      </p:tavLst>
                                    </p:anim>
                                  </p:childTnLst>
                                </p:cTn>
                              </p:par>
                            </p:childTnLst>
                          </p:cTn>
                        </p:par>
                        <p:par>
                          <p:cTn id="87" fill="hold">
                            <p:stCondLst>
                              <p:cond delay="8100"/>
                            </p:stCondLst>
                            <p:childTnLst>
                              <p:par>
                                <p:cTn id="88" presetID="47" presetClass="entr" presetSubtype="0" fill="hold"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600"/>
                                        <p:tgtEl>
                                          <p:spTgt spid="35"/>
                                        </p:tgtEl>
                                      </p:cBhvr>
                                    </p:animEffect>
                                    <p:anim calcmode="lin" valueType="num">
                                      <p:cBhvr>
                                        <p:cTn id="91" dur="600" fill="hold"/>
                                        <p:tgtEl>
                                          <p:spTgt spid="35"/>
                                        </p:tgtEl>
                                        <p:attrNameLst>
                                          <p:attrName>ppt_x</p:attrName>
                                        </p:attrNameLst>
                                      </p:cBhvr>
                                      <p:tavLst>
                                        <p:tav tm="0">
                                          <p:val>
                                            <p:strVal val="#ppt_x"/>
                                          </p:val>
                                        </p:tav>
                                        <p:tav tm="100000">
                                          <p:val>
                                            <p:strVal val="#ppt_x"/>
                                          </p:val>
                                        </p:tav>
                                      </p:tavLst>
                                    </p:anim>
                                    <p:anim calcmode="lin" valueType="num">
                                      <p:cBhvr>
                                        <p:cTn id="92" dur="600" fill="hold"/>
                                        <p:tgtEl>
                                          <p:spTgt spid="35"/>
                                        </p:tgtEl>
                                        <p:attrNameLst>
                                          <p:attrName>ppt_y</p:attrName>
                                        </p:attrNameLst>
                                      </p:cBhvr>
                                      <p:tavLst>
                                        <p:tav tm="0">
                                          <p:val>
                                            <p:strVal val="#ppt_y-.1"/>
                                          </p:val>
                                        </p:tav>
                                        <p:tav tm="100000">
                                          <p:val>
                                            <p:strVal val="#ppt_y"/>
                                          </p:val>
                                        </p:tav>
                                      </p:tavLst>
                                    </p:anim>
                                  </p:childTnLst>
                                </p:cTn>
                              </p:par>
                            </p:childTnLst>
                          </p:cTn>
                        </p:par>
                        <p:par>
                          <p:cTn id="93" fill="hold">
                            <p:stCondLst>
                              <p:cond delay="9100"/>
                            </p:stCondLst>
                            <p:childTnLst>
                              <p:par>
                                <p:cTn id="94" presetID="2" presetClass="entr" presetSubtype="8" decel="52500"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400" fill="hold"/>
                                        <p:tgtEl>
                                          <p:spTgt spid="34"/>
                                        </p:tgtEl>
                                        <p:attrNameLst>
                                          <p:attrName>ppt_x</p:attrName>
                                        </p:attrNameLst>
                                      </p:cBhvr>
                                      <p:tavLst>
                                        <p:tav tm="0">
                                          <p:val>
                                            <p:strVal val="0-#ppt_w/2"/>
                                          </p:val>
                                        </p:tav>
                                        <p:tav tm="100000">
                                          <p:val>
                                            <p:strVal val="#ppt_x"/>
                                          </p:val>
                                        </p:tav>
                                      </p:tavLst>
                                    </p:anim>
                                    <p:anim calcmode="lin" valueType="num">
                                      <p:cBhvr additive="base">
                                        <p:cTn id="97" dur="400" fill="hold"/>
                                        <p:tgtEl>
                                          <p:spTgt spid="34"/>
                                        </p:tgtEl>
                                        <p:attrNameLst>
                                          <p:attrName>ppt_y</p:attrName>
                                        </p:attrNameLst>
                                      </p:cBhvr>
                                      <p:tavLst>
                                        <p:tav tm="0">
                                          <p:val>
                                            <p:strVal val="#ppt_y"/>
                                          </p:val>
                                        </p:tav>
                                        <p:tav tm="100000">
                                          <p:val>
                                            <p:strVal val="#ppt_y"/>
                                          </p:val>
                                        </p:tav>
                                      </p:tavLst>
                                    </p:anim>
                                  </p:childTnLst>
                                </p:cTn>
                              </p:par>
                              <p:par>
                                <p:cTn id="98" presetID="2" presetClass="entr" presetSubtype="2" decel="5250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 calcmode="lin" valueType="num">
                                      <p:cBhvr additive="base">
                                        <p:cTn id="100" dur="400" fill="hold"/>
                                        <p:tgtEl>
                                          <p:spTgt spid="36"/>
                                        </p:tgtEl>
                                        <p:attrNameLst>
                                          <p:attrName>ppt_x</p:attrName>
                                        </p:attrNameLst>
                                      </p:cBhvr>
                                      <p:tavLst>
                                        <p:tav tm="0">
                                          <p:val>
                                            <p:strVal val="1+#ppt_w/2"/>
                                          </p:val>
                                        </p:tav>
                                        <p:tav tm="100000">
                                          <p:val>
                                            <p:strVal val="#ppt_x"/>
                                          </p:val>
                                        </p:tav>
                                      </p:tavLst>
                                    </p:anim>
                                    <p:anim calcmode="lin" valueType="num">
                                      <p:cBhvr additive="base">
                                        <p:cTn id="101" dur="400" fill="hold"/>
                                        <p:tgtEl>
                                          <p:spTgt spid="36"/>
                                        </p:tgtEl>
                                        <p:attrNameLst>
                                          <p:attrName>ppt_y</p:attrName>
                                        </p:attrNameLst>
                                      </p:cBhvr>
                                      <p:tavLst>
                                        <p:tav tm="0">
                                          <p:val>
                                            <p:strVal val="#ppt_y"/>
                                          </p:val>
                                        </p:tav>
                                        <p:tav tm="100000">
                                          <p:val>
                                            <p:strVal val="#ppt_y"/>
                                          </p:val>
                                        </p:tav>
                                      </p:tavLst>
                                    </p:anim>
                                  </p:childTnLst>
                                </p:cTn>
                              </p:par>
                            </p:childTnLst>
                          </p:cTn>
                        </p:par>
                        <p:par>
                          <p:cTn id="102" fill="hold">
                            <p:stCondLst>
                              <p:cond delay="9600"/>
                            </p:stCondLst>
                            <p:childTnLst>
                              <p:par>
                                <p:cTn id="103" presetID="2" presetClass="entr" presetSubtype="8" decel="52500" fill="hold" grpId="0" nodeType="after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400" fill="hold"/>
                                        <p:tgtEl>
                                          <p:spTgt spid="28"/>
                                        </p:tgtEl>
                                        <p:attrNameLst>
                                          <p:attrName>ppt_x</p:attrName>
                                        </p:attrNameLst>
                                      </p:cBhvr>
                                      <p:tavLst>
                                        <p:tav tm="0">
                                          <p:val>
                                            <p:strVal val="0-#ppt_w/2"/>
                                          </p:val>
                                        </p:tav>
                                        <p:tav tm="100000">
                                          <p:val>
                                            <p:strVal val="#ppt_x"/>
                                          </p:val>
                                        </p:tav>
                                      </p:tavLst>
                                    </p:anim>
                                    <p:anim calcmode="lin" valueType="num">
                                      <p:cBhvr additive="base">
                                        <p:cTn id="106" dur="400" fill="hold"/>
                                        <p:tgtEl>
                                          <p:spTgt spid="28"/>
                                        </p:tgtEl>
                                        <p:attrNameLst>
                                          <p:attrName>ppt_y</p:attrName>
                                        </p:attrNameLst>
                                      </p:cBhvr>
                                      <p:tavLst>
                                        <p:tav tm="0">
                                          <p:val>
                                            <p:strVal val="#ppt_y"/>
                                          </p:val>
                                        </p:tav>
                                        <p:tav tm="100000">
                                          <p:val>
                                            <p:strVal val="#ppt_y"/>
                                          </p:val>
                                        </p:tav>
                                      </p:tavLst>
                                    </p:anim>
                                  </p:childTnLst>
                                </p:cTn>
                              </p:par>
                            </p:childTnLst>
                          </p:cTn>
                        </p:par>
                        <p:par>
                          <p:cTn id="107" fill="hold">
                            <p:stCondLst>
                              <p:cond delay="10100"/>
                            </p:stCondLst>
                            <p:childTnLst>
                              <p:par>
                                <p:cTn id="108" presetID="47" presetClass="entr" presetSubtype="0" fill="hold" nodeType="after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600"/>
                                        <p:tgtEl>
                                          <p:spTgt spid="37"/>
                                        </p:tgtEl>
                                      </p:cBhvr>
                                    </p:animEffect>
                                    <p:anim calcmode="lin" valueType="num">
                                      <p:cBhvr>
                                        <p:cTn id="111" dur="600" fill="hold"/>
                                        <p:tgtEl>
                                          <p:spTgt spid="37"/>
                                        </p:tgtEl>
                                        <p:attrNameLst>
                                          <p:attrName>ppt_x</p:attrName>
                                        </p:attrNameLst>
                                      </p:cBhvr>
                                      <p:tavLst>
                                        <p:tav tm="0">
                                          <p:val>
                                            <p:strVal val="#ppt_x"/>
                                          </p:val>
                                        </p:tav>
                                        <p:tav tm="100000">
                                          <p:val>
                                            <p:strVal val="#ppt_x"/>
                                          </p:val>
                                        </p:tav>
                                      </p:tavLst>
                                    </p:anim>
                                    <p:anim calcmode="lin" valueType="num">
                                      <p:cBhvr>
                                        <p:cTn id="112" dur="600" fill="hold"/>
                                        <p:tgtEl>
                                          <p:spTgt spid="37"/>
                                        </p:tgtEl>
                                        <p:attrNameLst>
                                          <p:attrName>ppt_y</p:attrName>
                                        </p:attrNameLst>
                                      </p:cBhvr>
                                      <p:tavLst>
                                        <p:tav tm="0">
                                          <p:val>
                                            <p:strVal val="#ppt_y-.1"/>
                                          </p:val>
                                        </p:tav>
                                        <p:tav tm="100000">
                                          <p:val>
                                            <p:strVal val="#ppt_y"/>
                                          </p:val>
                                        </p:tav>
                                      </p:tavLst>
                                    </p:anim>
                                  </p:childTnLst>
                                </p:cTn>
                              </p:par>
                              <p:par>
                                <p:cTn id="113" presetID="2" presetClass="entr" presetSubtype="2" decel="5250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400" fill="hold"/>
                                        <p:tgtEl>
                                          <p:spTgt spid="38"/>
                                        </p:tgtEl>
                                        <p:attrNameLst>
                                          <p:attrName>ppt_x</p:attrName>
                                        </p:attrNameLst>
                                      </p:cBhvr>
                                      <p:tavLst>
                                        <p:tav tm="0">
                                          <p:val>
                                            <p:strVal val="1+#ppt_w/2"/>
                                          </p:val>
                                        </p:tav>
                                        <p:tav tm="100000">
                                          <p:val>
                                            <p:strVal val="#ppt_x"/>
                                          </p:val>
                                        </p:tav>
                                      </p:tavLst>
                                    </p:anim>
                                    <p:anim calcmode="lin" valueType="num">
                                      <p:cBhvr additive="base">
                                        <p:cTn id="116" dur="4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2" grpId="0"/>
      <p:bldP spid="90" grpId="0"/>
      <p:bldP spid="92" grpId="0"/>
      <p:bldP spid="95" grpId="0"/>
      <p:bldP spid="97" grpId="0"/>
      <p:bldP spid="100" grpId="0"/>
      <p:bldP spid="102" grpId="0"/>
      <p:bldP spid="32" grpId="0"/>
      <p:bldP spid="29" grpId="0"/>
      <p:bldP spid="33" grpId="0"/>
      <p:bldP spid="34" grpId="0"/>
      <p:bldP spid="36" grpId="0"/>
      <p:bldP spid="28"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2548034" y="2713783"/>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3" name="六边形 22"/>
          <p:cNvSpPr/>
          <p:nvPr/>
        </p:nvSpPr>
        <p:spPr>
          <a:xfrm>
            <a:off x="3187187" y="2576015"/>
            <a:ext cx="3978683" cy="337269"/>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1</a:t>
            </a:r>
            <a:endParaRPr lang="zh-CN" altLang="en-US" sz="1350" dirty="0">
              <a:latin typeface="微软雅黑" panose="020B0503020204020204" pitchFamily="34" charset="-122"/>
              <a:ea typeface="微软雅黑" panose="020B0503020204020204" pitchFamily="34" charset="-122"/>
            </a:endParaRPr>
          </a:p>
        </p:txBody>
      </p:sp>
      <p:sp>
        <p:nvSpPr>
          <p:cNvPr id="24" name="六边形 23"/>
          <p:cNvSpPr/>
          <p:nvPr/>
        </p:nvSpPr>
        <p:spPr>
          <a:xfrm>
            <a:off x="683180" y="3335318"/>
            <a:ext cx="1190654" cy="1026664"/>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800" dirty="0">
                <a:latin typeface="微软雅黑" panose="020B0503020204020204" pitchFamily="34" charset="-122"/>
                <a:ea typeface="微软雅黑" panose="020B0503020204020204" pitchFamily="34" charset="-122"/>
              </a:rPr>
              <a:t>学习目标</a:t>
            </a:r>
          </a:p>
        </p:txBody>
      </p:sp>
      <p:cxnSp>
        <p:nvCxnSpPr>
          <p:cNvPr id="25" name="直接箭头连接符 24"/>
          <p:cNvCxnSpPr>
            <a:stCxn id="24" idx="5"/>
            <a:endCxn id="22" idx="1"/>
          </p:cNvCxnSpPr>
          <p:nvPr/>
        </p:nvCxnSpPr>
        <p:spPr>
          <a:xfrm flipV="1">
            <a:off x="1617168" y="3199830"/>
            <a:ext cx="930866" cy="135488"/>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4" idx="1"/>
            <a:endCxn id="29" idx="1"/>
          </p:cNvCxnSpPr>
          <p:nvPr/>
        </p:nvCxnSpPr>
        <p:spPr>
          <a:xfrm>
            <a:off x="1617168" y="4361982"/>
            <a:ext cx="930866" cy="9393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893460" y="2954172"/>
            <a:ext cx="4871059" cy="392460"/>
          </a:xfrm>
          <a:prstGeom prst="rect">
            <a:avLst/>
          </a:prstGeom>
          <a:noFill/>
        </p:spPr>
        <p:txBody>
          <a:bodyPr wrap="square" lIns="68625" tIns="34312" rIns="68625" bIns="34312" rtlCol="0">
            <a:spAutoFit/>
          </a:bodyPr>
          <a:lstStyle/>
          <a:p>
            <a:pPr lvl="0"/>
            <a:r>
              <a:rPr lang="zh-CN" altLang="en-US" dirty="0"/>
              <a:t>掌握直方图表示与变换的基础知识。</a:t>
            </a:r>
            <a:endParaRPr lang="zh-CN" altLang="zh-CN" dirty="0"/>
          </a:p>
        </p:txBody>
      </p:sp>
      <p:sp>
        <p:nvSpPr>
          <p:cNvPr id="29" name="圆角矩形 28"/>
          <p:cNvSpPr/>
          <p:nvPr/>
        </p:nvSpPr>
        <p:spPr>
          <a:xfrm>
            <a:off x="2548034" y="3969868"/>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0" name="六边形 29"/>
          <p:cNvSpPr/>
          <p:nvPr/>
        </p:nvSpPr>
        <p:spPr>
          <a:xfrm>
            <a:off x="3187187" y="3832099"/>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sp>
        <p:nvSpPr>
          <p:cNvPr id="31" name="TextBox 30"/>
          <p:cNvSpPr txBox="1"/>
          <p:nvPr/>
        </p:nvSpPr>
        <p:spPr>
          <a:xfrm>
            <a:off x="2893461" y="4202799"/>
            <a:ext cx="4920678" cy="715625"/>
          </a:xfrm>
          <a:prstGeom prst="rect">
            <a:avLst/>
          </a:prstGeom>
          <a:noFill/>
        </p:spPr>
        <p:txBody>
          <a:bodyPr wrap="square" lIns="68625" tIns="34312" rIns="68625" bIns="34312" rtlCol="0">
            <a:spAutoFit/>
          </a:bodyPr>
          <a:lstStyle/>
          <a:p>
            <a:pPr lvl="0"/>
            <a:r>
              <a:rPr lang="zh-CN" altLang="en-US" dirty="0"/>
              <a:t>熟练掌握常用的几种直方图表示与变换操作的实现方法。</a:t>
            </a:r>
            <a:endParaRPr lang="zh-CN" altLang="zh-CN" dirty="0"/>
          </a:p>
        </p:txBody>
      </p:sp>
      <p:cxnSp>
        <p:nvCxnSpPr>
          <p:cNvPr id="15" name="直接连接符 14"/>
          <p:cNvCxnSpPr/>
          <p:nvPr/>
        </p:nvCxnSpPr>
        <p:spPr>
          <a:xfrm>
            <a:off x="1" y="1539010"/>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6" name="TextBox 43"/>
          <p:cNvSpPr txBox="1">
            <a:spLocks noChangeArrowheads="1"/>
          </p:cNvSpPr>
          <p:nvPr/>
        </p:nvSpPr>
        <p:spPr bwMode="auto">
          <a:xfrm>
            <a:off x="1838129" y="776842"/>
            <a:ext cx="3061562" cy="5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indent="304800" algn="just">
              <a:lnSpc>
                <a:spcPct val="150000"/>
              </a:lnSpc>
            </a:pPr>
            <a:r>
              <a:rPr lang="zh-CN" altLang="zh-CN" sz="2400" dirty="0">
                <a:latin typeface="Eras Bold ITC" panose="020B0907030504020204" pitchFamily="34" charset="0"/>
              </a:rPr>
              <a:t>本章学习目标</a:t>
            </a:r>
          </a:p>
        </p:txBody>
      </p:sp>
      <p:sp>
        <p:nvSpPr>
          <p:cNvPr id="17" name="燕尾形 16"/>
          <p:cNvSpPr/>
          <p:nvPr/>
        </p:nvSpPr>
        <p:spPr>
          <a:xfrm>
            <a:off x="1190107" y="85666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18" name="TextBox 7"/>
          <p:cNvSpPr txBox="1"/>
          <p:nvPr/>
        </p:nvSpPr>
        <p:spPr>
          <a:xfrm>
            <a:off x="142957" y="992251"/>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Tree>
  </p:cSld>
  <p:clrMapOvr>
    <a:masterClrMapping/>
  </p:clrMapOvr>
  <p:transition spd="slow" advClick="0" advTm="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14:presetBounceEnd="50000">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14:bounceEnd="50000">
                                          <p:cBhvr additive="base">
                                            <p:cTn id="22" dur="500" fill="hold"/>
                                            <p:tgtEl>
                                              <p:spTgt spid="22"/>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14:presetBounceEnd="50000">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14:bounceEnd="50000">
                                          <p:cBhvr additive="base">
                                            <p:cTn id="35"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 </a:t>
            </a:r>
            <a:r>
              <a:rPr lang="zh-CN" altLang="en-US" sz="2100" b="1" dirty="0">
                <a:solidFill>
                  <a:schemeClr val="tx1">
                    <a:lumMod val="75000"/>
                    <a:lumOff val="25000"/>
                  </a:schemeClr>
                </a:solidFill>
                <a:latin typeface="微软雅黑" panose="020B0503020204020204" pitchFamily="34" charset="-122"/>
              </a:rPr>
              <a:t>灰度直方图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3" name="图片 2">
            <a:extLst>
              <a:ext uri="{FF2B5EF4-FFF2-40B4-BE49-F238E27FC236}">
                <a16:creationId xmlns:a16="http://schemas.microsoft.com/office/drawing/2014/main" id="{46EC1E43-9B23-400A-BC73-6865F4039686}"/>
              </a:ext>
            </a:extLst>
          </p:cNvPr>
          <p:cNvPicPr>
            <a:picLocks noChangeAspect="1"/>
          </p:cNvPicPr>
          <p:nvPr/>
        </p:nvPicPr>
        <p:blipFill>
          <a:blip r:embed="rId3"/>
          <a:stretch>
            <a:fillRect/>
          </a:stretch>
        </p:blipFill>
        <p:spPr>
          <a:xfrm>
            <a:off x="324322" y="1594471"/>
            <a:ext cx="4207693" cy="4348242"/>
          </a:xfrm>
          <a:prstGeom prst="rect">
            <a:avLst/>
          </a:prstGeom>
        </p:spPr>
      </p:pic>
      <p:pic>
        <p:nvPicPr>
          <p:cNvPr id="4" name="图片 3">
            <a:extLst>
              <a:ext uri="{FF2B5EF4-FFF2-40B4-BE49-F238E27FC236}">
                <a16:creationId xmlns:a16="http://schemas.microsoft.com/office/drawing/2014/main" id="{5C6F2D26-446E-4DF1-AADC-D8CFBF3BBC28}"/>
              </a:ext>
            </a:extLst>
          </p:cNvPr>
          <p:cNvPicPr>
            <a:picLocks noChangeAspect="1"/>
          </p:cNvPicPr>
          <p:nvPr/>
        </p:nvPicPr>
        <p:blipFill>
          <a:blip r:embed="rId4"/>
          <a:stretch>
            <a:fillRect/>
          </a:stretch>
        </p:blipFill>
        <p:spPr>
          <a:xfrm>
            <a:off x="4737753" y="1594471"/>
            <a:ext cx="4176464" cy="4330547"/>
          </a:xfrm>
          <a:prstGeom prst="rect">
            <a:avLst/>
          </a:prstGeom>
        </p:spPr>
      </p:pic>
    </p:spTree>
  </p:cSld>
  <p:clrMapOvr>
    <a:masterClrMapping/>
  </p:clrMapOvr>
  <p:transition spd="slow" advClick="0"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 </a:t>
            </a:r>
            <a:r>
              <a:rPr lang="zh-CN" altLang="en-US" sz="2100" b="1" dirty="0">
                <a:solidFill>
                  <a:schemeClr val="tx1">
                    <a:lumMod val="75000"/>
                    <a:lumOff val="25000"/>
                  </a:schemeClr>
                </a:solidFill>
                <a:latin typeface="微软雅黑" panose="020B0503020204020204" pitchFamily="34" charset="-122"/>
              </a:rPr>
              <a:t>灰度直方图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576350" y="1485578"/>
            <a:ext cx="7992888" cy="1061829"/>
          </a:xfrm>
          <a:prstGeom prst="rect">
            <a:avLst/>
          </a:prstGeom>
          <a:noFill/>
        </p:spPr>
        <p:txBody>
          <a:bodyPr wrap="square" rtlCol="0">
            <a:spAutoFit/>
          </a:bodyPr>
          <a:lstStyle/>
          <a:p>
            <a:r>
              <a:rPr lang="zh-CN" altLang="en-US" dirty="0"/>
              <a:t>        直方图是用一系列高度不等的纵向条纹或线段表示数据分布情况的统计报告图。一般用横轴表示数据类型，纵轴表示分布情况。</a:t>
            </a:r>
            <a:r>
              <a:rPr lang="zh-CN" altLang="en-US" b="1" dirty="0"/>
              <a:t>灰度直方图概括了一幅图像的灰度级信息</a:t>
            </a:r>
            <a:r>
              <a:rPr lang="zh-CN" altLang="en-US" dirty="0"/>
              <a:t>。</a:t>
            </a:r>
          </a:p>
        </p:txBody>
      </p:sp>
      <p:pic>
        <p:nvPicPr>
          <p:cNvPr id="10" name="图片 9"/>
          <p:cNvPicPr>
            <a:picLocks noChangeAspect="1"/>
          </p:cNvPicPr>
          <p:nvPr/>
        </p:nvPicPr>
        <p:blipFill>
          <a:blip r:embed="rId3"/>
          <a:stretch>
            <a:fillRect/>
          </a:stretch>
        </p:blipFill>
        <p:spPr>
          <a:xfrm>
            <a:off x="576350" y="2807016"/>
            <a:ext cx="3419588" cy="3452155"/>
          </a:xfrm>
          <a:prstGeom prst="rect">
            <a:avLst/>
          </a:prstGeom>
        </p:spPr>
      </p:pic>
      <p:pic>
        <p:nvPicPr>
          <p:cNvPr id="14" name="图片 13"/>
          <p:cNvPicPr>
            <a:picLocks noChangeAspect="1"/>
          </p:cNvPicPr>
          <p:nvPr/>
        </p:nvPicPr>
        <p:blipFill>
          <a:blip r:embed="rId4"/>
          <a:stretch>
            <a:fillRect/>
          </a:stretch>
        </p:blipFill>
        <p:spPr>
          <a:xfrm>
            <a:off x="4025144" y="2834582"/>
            <a:ext cx="4534293" cy="3452159"/>
          </a:xfrm>
          <a:prstGeom prst="rect">
            <a:avLst/>
          </a:prstGeom>
        </p:spPr>
      </p:pic>
    </p:spTree>
    <p:extLst>
      <p:ext uri="{BB962C8B-B14F-4D97-AF65-F5344CB8AC3E}">
        <p14:creationId xmlns:p14="http://schemas.microsoft.com/office/powerpoint/2010/main" val="73557136"/>
      </p:ext>
    </p:extLst>
  </p:cSld>
  <p:clrMapOvr>
    <a:masterClrMapping/>
  </p:clrMapOvr>
  <p:transition spd="slow" advClick="0"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3.1.1 </a:t>
            </a:r>
            <a:r>
              <a:rPr lang="zh-CN" altLang="en-US" sz="2100" b="1" dirty="0">
                <a:solidFill>
                  <a:schemeClr val="tx1">
                    <a:lumMod val="75000"/>
                    <a:lumOff val="25000"/>
                  </a:schemeClr>
                </a:solidFill>
                <a:latin typeface="微软雅黑" panose="020B0503020204020204" pitchFamily="34" charset="-122"/>
              </a:rPr>
              <a:t>灰度直方图原理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矩形 1"/>
          <p:cNvSpPr/>
          <p:nvPr/>
        </p:nvSpPr>
        <p:spPr>
          <a:xfrm>
            <a:off x="2850329" y="2526711"/>
            <a:ext cx="2636475" cy="58477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zh-CN" altLang="en-US" sz="3200" b="1" cap="none" spc="0" dirty="0">
                <a:solidFill>
                  <a:schemeClr val="accent3"/>
                </a:solidFill>
                <a:effectLst/>
              </a:rPr>
              <a:t>举个例子</a:t>
            </a:r>
          </a:p>
        </p:txBody>
      </p:sp>
      <p:sp>
        <p:nvSpPr>
          <p:cNvPr id="3" name="文本框 2"/>
          <p:cNvSpPr txBox="1"/>
          <p:nvPr/>
        </p:nvSpPr>
        <p:spPr>
          <a:xfrm>
            <a:off x="712183" y="1602723"/>
            <a:ext cx="6912768" cy="461665"/>
          </a:xfrm>
          <a:prstGeom prst="rect">
            <a:avLst/>
          </a:prstGeom>
          <a:noFill/>
        </p:spPr>
        <p:txBody>
          <a:bodyPr wrap="square" rtlCol="0">
            <a:spAutoFit/>
          </a:bodyPr>
          <a:lstStyle/>
          <a:p>
            <a:r>
              <a:rPr lang="zh-CN" altLang="en-US" sz="2400" b="1" dirty="0"/>
              <a:t>什么是灰度？</a:t>
            </a:r>
          </a:p>
        </p:txBody>
      </p:sp>
      <p:sp>
        <p:nvSpPr>
          <p:cNvPr id="4" name="文本框 3"/>
          <p:cNvSpPr txBox="1"/>
          <p:nvPr/>
        </p:nvSpPr>
        <p:spPr>
          <a:xfrm>
            <a:off x="792374" y="3573810"/>
            <a:ext cx="7560840" cy="1384995"/>
          </a:xfrm>
          <a:prstGeom prst="rect">
            <a:avLst/>
          </a:prstGeom>
          <a:noFill/>
        </p:spPr>
        <p:txBody>
          <a:bodyPr wrap="square" rtlCol="0">
            <a:spAutoFit/>
          </a:bodyPr>
          <a:lstStyle/>
          <a:p>
            <a:r>
              <a:rPr lang="en-US" altLang="zh-CN" dirty="0"/>
              <a:t>         </a:t>
            </a:r>
            <a:r>
              <a:rPr lang="zh-CN" altLang="en-US" dirty="0"/>
              <a:t>在六七十年代，人们拍摄的照片都是黑白的，还有那个时代的电视机画面也是黑白的，这些黑白的照片和电视画面就是现在我们所说的灰度图片，图片上的各个点的像素都是由不同的灰度值表示出来的。</a:t>
            </a: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3.1.1 </a:t>
            </a:r>
            <a:r>
              <a:rPr lang="zh-CN" altLang="en-US" sz="2100" b="1" dirty="0">
                <a:solidFill>
                  <a:schemeClr val="tx1">
                    <a:lumMod val="75000"/>
                    <a:lumOff val="25000"/>
                  </a:schemeClr>
                </a:solidFill>
                <a:latin typeface="微软雅黑" panose="020B0503020204020204" pitchFamily="34" charset="-122"/>
              </a:rPr>
              <a:t>灰度直方图原理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文本框 11"/>
          <p:cNvSpPr txBox="1"/>
          <p:nvPr/>
        </p:nvSpPr>
        <p:spPr>
          <a:xfrm>
            <a:off x="712183" y="1304736"/>
            <a:ext cx="6912768" cy="461665"/>
          </a:xfrm>
          <a:prstGeom prst="rect">
            <a:avLst/>
          </a:prstGeom>
          <a:noFill/>
        </p:spPr>
        <p:txBody>
          <a:bodyPr wrap="square" rtlCol="0">
            <a:spAutoFit/>
          </a:bodyPr>
          <a:lstStyle/>
          <a:p>
            <a:r>
              <a:rPr lang="zh-CN" altLang="zh-CN" sz="2400" b="1" dirty="0"/>
              <a:t>什么才是灰度图片呢</a:t>
            </a:r>
            <a:r>
              <a:rPr lang="zh-CN" altLang="en-US" sz="2400" b="1" dirty="0"/>
              <a:t>？</a:t>
            </a: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3" name="文本框 2"/>
          <p:cNvSpPr txBox="1"/>
          <p:nvPr/>
        </p:nvSpPr>
        <p:spPr>
          <a:xfrm>
            <a:off x="712183" y="1752625"/>
            <a:ext cx="7527300" cy="1384995"/>
          </a:xfrm>
          <a:prstGeom prst="rect">
            <a:avLst/>
          </a:prstGeom>
          <a:noFill/>
        </p:spPr>
        <p:txBody>
          <a:bodyPr wrap="square" rtlCol="0">
            <a:spAutoFit/>
          </a:bodyPr>
          <a:lstStyle/>
          <a:p>
            <a:r>
              <a:rPr lang="en-US" altLang="zh-CN" dirty="0"/>
              <a:t>        </a:t>
            </a:r>
            <a:r>
              <a:rPr lang="zh-CN" altLang="en-US" dirty="0"/>
              <a:t>将白色与黑色之间按对数关系分成若干级，称为“灰度等级”。范围从</a:t>
            </a:r>
            <a:r>
              <a:rPr lang="en-US" altLang="zh-CN" dirty="0"/>
              <a:t>0</a:t>
            </a:r>
            <a:r>
              <a:rPr lang="zh-CN" altLang="en-US" dirty="0"/>
              <a:t>到</a:t>
            </a:r>
            <a:r>
              <a:rPr lang="en-US" altLang="zh-CN" dirty="0"/>
              <a:t>255</a:t>
            </a:r>
            <a:r>
              <a:rPr lang="zh-CN" altLang="en-US" dirty="0"/>
              <a:t>，白色为</a:t>
            </a:r>
            <a:r>
              <a:rPr lang="en-US" altLang="zh-CN" dirty="0"/>
              <a:t>255</a:t>
            </a:r>
            <a:r>
              <a:rPr lang="zh-CN" altLang="en-US" dirty="0"/>
              <a:t>，黑色为</a:t>
            </a:r>
            <a:r>
              <a:rPr lang="en-US" altLang="zh-CN" dirty="0"/>
              <a:t>0</a:t>
            </a:r>
            <a:r>
              <a:rPr lang="zh-CN" altLang="en-US" dirty="0"/>
              <a:t>。一幅图像中每个像素对应的灰度值和各灰度级的像素数统计如图</a:t>
            </a:r>
            <a:r>
              <a:rPr lang="en-US" altLang="zh-CN" dirty="0"/>
              <a:t>3.1</a:t>
            </a:r>
            <a:r>
              <a:rPr lang="zh-CN" altLang="en-US" dirty="0"/>
              <a:t>上半部分所示，该图像可以用图</a:t>
            </a:r>
            <a:r>
              <a:rPr lang="en-US" altLang="zh-CN" dirty="0"/>
              <a:t>3.1</a:t>
            </a:r>
            <a:r>
              <a:rPr lang="zh-CN" altLang="en-US" dirty="0"/>
              <a:t>中的直方图描述。</a:t>
            </a:r>
          </a:p>
        </p:txBody>
      </p:sp>
      <p:pic>
        <p:nvPicPr>
          <p:cNvPr id="8" name="图片 7"/>
          <p:cNvPicPr>
            <a:picLocks noChangeAspect="1"/>
          </p:cNvPicPr>
          <p:nvPr/>
        </p:nvPicPr>
        <p:blipFill>
          <a:blip r:embed="rId3"/>
          <a:stretch>
            <a:fillRect/>
          </a:stretch>
        </p:blipFill>
        <p:spPr>
          <a:xfrm>
            <a:off x="2052514" y="3099371"/>
            <a:ext cx="4350946" cy="3206662"/>
          </a:xfrm>
          <a:prstGeom prst="rect">
            <a:avLst/>
          </a:prstGeom>
        </p:spPr>
      </p:pic>
      <p:sp>
        <p:nvSpPr>
          <p:cNvPr id="21" name="文本框 20"/>
          <p:cNvSpPr txBox="1"/>
          <p:nvPr/>
        </p:nvSpPr>
        <p:spPr>
          <a:xfrm>
            <a:off x="1039676" y="6332536"/>
            <a:ext cx="6257781" cy="338554"/>
          </a:xfrm>
          <a:prstGeom prst="rect">
            <a:avLst/>
          </a:prstGeom>
          <a:noFill/>
        </p:spPr>
        <p:txBody>
          <a:bodyPr wrap="square">
            <a:spAutoFit/>
          </a:bodyPr>
          <a:lstStyle/>
          <a:p>
            <a:pPr indent="266700" algn="ctr"/>
            <a:r>
              <a:rPr lang="zh-CN" altLang="zh-CN" sz="1600" b="1" kern="100" dirty="0">
                <a:effectLst/>
                <a:latin typeface="黑体" panose="02010609060101010101" pitchFamily="49" charset="-122"/>
                <a:ea typeface="黑体" panose="02010609060101010101" pitchFamily="49" charset="-122"/>
              </a:rPr>
              <a:t>图</a:t>
            </a:r>
            <a:r>
              <a:rPr lang="en-US" altLang="zh-CN" sz="1600" b="1" kern="100" dirty="0">
                <a:effectLst/>
                <a:latin typeface="黑体" panose="02010609060101010101" pitchFamily="49" charset="-122"/>
                <a:ea typeface="黑体" panose="02010609060101010101" pitchFamily="49" charset="-122"/>
              </a:rPr>
              <a:t>3.1  </a:t>
            </a:r>
            <a:r>
              <a:rPr lang="zh-CN" altLang="zh-CN" sz="1600" b="1" kern="100" dirty="0">
                <a:effectLst/>
                <a:latin typeface="黑体" panose="02010609060101010101" pitchFamily="49" charset="-122"/>
                <a:ea typeface="黑体" panose="02010609060101010101" pitchFamily="49" charset="-122"/>
              </a:rPr>
              <a:t>图像像素数统计及灰度直方图</a:t>
            </a: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3.1.1 </a:t>
            </a:r>
            <a:r>
              <a:rPr lang="zh-CN" altLang="en-US" sz="2100" b="1" dirty="0">
                <a:solidFill>
                  <a:schemeClr val="tx1">
                    <a:lumMod val="75000"/>
                    <a:lumOff val="25000"/>
                  </a:schemeClr>
                </a:solidFill>
                <a:latin typeface="微软雅黑" panose="020B0503020204020204" pitchFamily="34" charset="-122"/>
              </a:rPr>
              <a:t>灰度直方图原理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3" name="文本框 2"/>
          <p:cNvSpPr txBox="1"/>
          <p:nvPr/>
        </p:nvSpPr>
        <p:spPr>
          <a:xfrm>
            <a:off x="712183" y="1238210"/>
            <a:ext cx="7527300" cy="1754326"/>
          </a:xfrm>
          <a:prstGeom prst="rect">
            <a:avLst/>
          </a:prstGeom>
          <a:noFill/>
        </p:spPr>
        <p:txBody>
          <a:bodyPr wrap="square" rtlCol="0">
            <a:spAutoFit/>
          </a:bodyPr>
          <a:lstStyle/>
          <a:p>
            <a:r>
              <a:rPr lang="zh-CN" altLang="en-US" sz="2400" dirty="0"/>
              <a:t>         </a:t>
            </a:r>
            <a:r>
              <a:rPr lang="zh-CN" altLang="en-US" dirty="0"/>
              <a:t>图像的灰度直方图是一个离散函数，它表示图像每一灰度级与该灰度级出现的频率的对应关系。假设一幅图像的像素总数为</a:t>
            </a:r>
            <a:r>
              <a:rPr lang="en-US" altLang="zh-CN" dirty="0"/>
              <a:t>N</a:t>
            </a:r>
            <a:r>
              <a:rPr lang="zh-CN" altLang="en-US" dirty="0"/>
              <a:t>，灰度级总数为</a:t>
            </a:r>
            <a:r>
              <a:rPr lang="en-US" altLang="zh-CN" dirty="0"/>
              <a:t>L</a:t>
            </a:r>
            <a:r>
              <a:rPr lang="zh-CN" altLang="en-US" dirty="0"/>
              <a:t>，其中灰度级为</a:t>
            </a:r>
            <a:r>
              <a:rPr lang="en-US" altLang="zh-CN" dirty="0" err="1"/>
              <a:t>i</a:t>
            </a:r>
            <a:r>
              <a:rPr lang="en-US" altLang="zh-CN" dirty="0"/>
              <a:t> (0≤i≤L)</a:t>
            </a:r>
            <a:r>
              <a:rPr lang="zh-CN" altLang="en-US" dirty="0"/>
              <a:t>的像素总数为</a:t>
            </a:r>
            <a:r>
              <a:rPr lang="en-US" altLang="zh-CN" dirty="0"/>
              <a:t>Ni</a:t>
            </a:r>
            <a:r>
              <a:rPr lang="zh-CN" altLang="en-US" dirty="0"/>
              <a:t>，则这幅图像的灰度直方图横坐标即为灰度</a:t>
            </a:r>
            <a:r>
              <a:rPr lang="en-US" altLang="zh-CN" dirty="0" err="1"/>
              <a:t>i</a:t>
            </a:r>
            <a:r>
              <a:rPr lang="zh-CN" altLang="en-US" dirty="0"/>
              <a:t>，纵坐标为灰度级为</a:t>
            </a:r>
            <a:r>
              <a:rPr lang="en-US" altLang="zh-CN" dirty="0" err="1"/>
              <a:t>i</a:t>
            </a:r>
            <a:r>
              <a:rPr lang="zh-CN" altLang="en-US" dirty="0"/>
              <a:t>的像素个数</a:t>
            </a:r>
            <a:r>
              <a:rPr lang="en-US" altLang="zh-CN" dirty="0"/>
              <a:t>Ng</a:t>
            </a:r>
            <a:r>
              <a:rPr lang="zh-CN" altLang="en-US" dirty="0"/>
              <a:t>。</a:t>
            </a:r>
          </a:p>
        </p:txBody>
      </p:sp>
      <p:pic>
        <p:nvPicPr>
          <p:cNvPr id="9" name="图片 8"/>
          <p:cNvPicPr>
            <a:picLocks noChangeAspect="1"/>
          </p:cNvPicPr>
          <p:nvPr/>
        </p:nvPicPr>
        <p:blipFill rotWithShape="1">
          <a:blip r:embed="rId3"/>
          <a:srcRect t="5554" r="178"/>
          <a:stretch>
            <a:fillRect/>
          </a:stretch>
        </p:blipFill>
        <p:spPr>
          <a:xfrm>
            <a:off x="2340546" y="2983716"/>
            <a:ext cx="4786068" cy="3693847"/>
          </a:xfrm>
          <a:prstGeom prst="rect">
            <a:avLst/>
          </a:prstGeom>
          <a:noFill/>
          <a:ln>
            <a:noFill/>
          </a:ln>
        </p:spPr>
      </p:pic>
    </p:spTree>
  </p:cSld>
  <p:clrMapOvr>
    <a:masterClrMapping/>
  </p:clrMapOvr>
  <p:transition spd="slow" advClick="0"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4" name="文本框 3"/>
          <p:cNvSpPr txBox="1"/>
          <p:nvPr/>
        </p:nvSpPr>
        <p:spPr>
          <a:xfrm>
            <a:off x="468338" y="1360980"/>
            <a:ext cx="8208912" cy="1061829"/>
          </a:xfrm>
          <a:prstGeom prst="rect">
            <a:avLst/>
          </a:prstGeom>
          <a:noFill/>
        </p:spPr>
        <p:txBody>
          <a:bodyPr wrap="square" rtlCol="0">
            <a:spAutoFit/>
          </a:bodyPr>
          <a:lstStyle/>
          <a:p>
            <a:r>
              <a:rPr lang="en-US" altLang="zh-CN" dirty="0"/>
              <a:t>         </a:t>
            </a:r>
            <a:r>
              <a:rPr lang="zh-CN" altLang="en-US" dirty="0"/>
              <a:t>使用</a:t>
            </a:r>
            <a:r>
              <a:rPr lang="en-US" altLang="zh-CN" dirty="0" err="1"/>
              <a:t>Opencv</a:t>
            </a:r>
            <a:r>
              <a:rPr lang="zh-CN" altLang="en-US" dirty="0"/>
              <a:t>统计绘制直方图，主要通过调用函数</a:t>
            </a:r>
            <a:r>
              <a:rPr lang="en-US" altLang="zh-CN" dirty="0" err="1"/>
              <a:t>calcHist</a:t>
            </a:r>
            <a:r>
              <a:rPr lang="en-US" altLang="zh-CN" dirty="0"/>
              <a:t>()</a:t>
            </a:r>
            <a:r>
              <a:rPr lang="zh-CN" altLang="en-US" dirty="0"/>
              <a:t>实现，调用语法为：</a:t>
            </a:r>
          </a:p>
          <a:p>
            <a:r>
              <a:rPr lang="en-US" altLang="zh-CN" dirty="0"/>
              <a:t>hist = cv2.calcHist(images, channels, mask, </a:t>
            </a:r>
            <a:r>
              <a:rPr lang="en-US" altLang="zh-CN" dirty="0" err="1"/>
              <a:t>histSize</a:t>
            </a:r>
            <a:r>
              <a:rPr lang="en-US" altLang="zh-CN" dirty="0"/>
              <a:t>, ranges, accumulate).</a:t>
            </a:r>
          </a:p>
        </p:txBody>
      </p:sp>
      <p:sp>
        <p:nvSpPr>
          <p:cNvPr id="3" name="文本框 2"/>
          <p:cNvSpPr txBox="1"/>
          <p:nvPr/>
        </p:nvSpPr>
        <p:spPr>
          <a:xfrm>
            <a:off x="490830" y="2388737"/>
            <a:ext cx="7704856" cy="4247317"/>
          </a:xfrm>
          <a:prstGeom prst="rect">
            <a:avLst/>
          </a:prstGeom>
          <a:noFill/>
        </p:spPr>
        <p:txBody>
          <a:bodyPr wrap="square" rtlCol="0">
            <a:spAutoFit/>
          </a:bodyPr>
          <a:lstStyle/>
          <a:p>
            <a:pPr indent="266700" algn="just"/>
            <a:r>
              <a:rPr lang="en-US" altLang="zh-CN" sz="1800" kern="100" dirty="0">
                <a:effectLst/>
                <a:latin typeface="Times New Roman" panose="02020603050405020304" pitchFamily="18" charset="0"/>
                <a:ea typeface="宋体" pitchFamily="2" charset="-122"/>
              </a:rPr>
              <a:t> </a:t>
            </a:r>
            <a:r>
              <a:rPr lang="zh-CN" altLang="zh-CN" sz="1800" b="1"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hist</a:t>
            </a:r>
            <a:r>
              <a:rPr lang="zh-CN" altLang="zh-CN" sz="1800" kern="100" dirty="0">
                <a:effectLst/>
                <a:latin typeface="Times New Roman" panose="02020603050405020304" pitchFamily="18" charset="0"/>
                <a:ea typeface="宋体" pitchFamily="2" charset="-122"/>
              </a:rPr>
              <a:t>：表示直方图，返回的是一个二维数组。</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images</a:t>
            </a:r>
            <a:r>
              <a:rPr lang="zh-CN" altLang="zh-CN" sz="1800" kern="100" dirty="0">
                <a:effectLst/>
                <a:latin typeface="Times New Roman" panose="02020603050405020304" pitchFamily="18" charset="0"/>
                <a:ea typeface="宋体" pitchFamily="2" charset="-122"/>
              </a:rPr>
              <a:t>：表示输入的原始图像。</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channels</a:t>
            </a:r>
            <a:r>
              <a:rPr lang="zh-CN" altLang="zh-CN" sz="1800" kern="100" dirty="0">
                <a:effectLst/>
                <a:latin typeface="Times New Roman" panose="02020603050405020304" pitchFamily="18" charset="0"/>
                <a:ea typeface="宋体" pitchFamily="2" charset="-122"/>
              </a:rPr>
              <a:t>：表示选择要统计的图像通道。其中，通道编号需要用中括号括起，输入图像是灰度图像时，它的值为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，彩色图像则为</a:t>
            </a:r>
            <a:r>
              <a:rPr lang="en-US" altLang="zh-CN" sz="1800" kern="100" dirty="0">
                <a:effectLst/>
                <a:latin typeface="Times New Roman" panose="02020603050405020304" pitchFamily="18" charset="0"/>
                <a:ea typeface="宋体" pitchFamily="2" charset="-122"/>
              </a:rPr>
              <a:t>[0]</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[1]</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[2]</a:t>
            </a:r>
            <a:r>
              <a:rPr lang="zh-CN" altLang="zh-CN" sz="1800" kern="100" dirty="0">
                <a:effectLst/>
                <a:latin typeface="Times New Roman" panose="02020603050405020304" pitchFamily="18" charset="0"/>
                <a:ea typeface="宋体" pitchFamily="2" charset="-122"/>
              </a:rPr>
              <a:t>，分别表示</a:t>
            </a:r>
            <a:r>
              <a:rPr lang="en-US" altLang="zh-CN" sz="1800" kern="100" dirty="0">
                <a:effectLst/>
                <a:latin typeface="Times New Roman" panose="02020603050405020304" pitchFamily="18" charset="0"/>
                <a:ea typeface="宋体" pitchFamily="2" charset="-122"/>
              </a:rPr>
              <a:t>B</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G</a:t>
            </a:r>
            <a:r>
              <a:rPr lang="zh-CN" altLang="zh-CN" sz="1800" kern="100" dirty="0">
                <a:effectLst/>
                <a:latin typeface="Times New Roman" panose="02020603050405020304" pitchFamily="18" charset="0"/>
                <a:ea typeface="宋体" pitchFamily="2" charset="-122"/>
              </a:rPr>
              <a:t>、</a:t>
            </a:r>
            <a:r>
              <a:rPr lang="en-US" altLang="zh-CN" sz="1800" kern="100" dirty="0">
                <a:effectLst/>
                <a:latin typeface="Times New Roman" panose="02020603050405020304" pitchFamily="18" charset="0"/>
                <a:ea typeface="宋体" pitchFamily="2" charset="-122"/>
              </a:rPr>
              <a:t>R</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mask</a:t>
            </a:r>
            <a:r>
              <a:rPr lang="zh-CN" altLang="zh-CN" sz="1800" kern="100" dirty="0">
                <a:effectLst/>
                <a:latin typeface="Times New Roman" panose="02020603050405020304" pitchFamily="18" charset="0"/>
                <a:ea typeface="宋体" pitchFamily="2" charset="-122"/>
              </a:rPr>
              <a:t>：表示掩码图像。统计整副图像的直方图，设为</a:t>
            </a:r>
            <a:r>
              <a:rPr lang="en-US" altLang="zh-CN" sz="1800" kern="100" dirty="0">
                <a:effectLst/>
                <a:latin typeface="Times New Roman" panose="02020603050405020304" pitchFamily="18" charset="0"/>
                <a:ea typeface="宋体" pitchFamily="2" charset="-122"/>
              </a:rPr>
              <a:t>None</a:t>
            </a:r>
            <a:r>
              <a:rPr lang="zh-CN" altLang="zh-CN" sz="1800" kern="100" dirty="0">
                <a:effectLst/>
                <a:latin typeface="Times New Roman" panose="02020603050405020304" pitchFamily="18" charset="0"/>
                <a:ea typeface="宋体" pitchFamily="2" charset="-122"/>
              </a:rPr>
              <a:t>，统计图像的某一部分直方图时，需要掩码图像。</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histSize</a:t>
            </a:r>
            <a:r>
              <a:rPr lang="zh-CN" altLang="zh-CN" sz="1800" kern="100" dirty="0">
                <a:effectLst/>
                <a:latin typeface="Times New Roman" panose="02020603050405020304" pitchFamily="18" charset="0"/>
                <a:ea typeface="宋体" pitchFamily="2" charset="-122"/>
              </a:rPr>
              <a:t>：表示</a:t>
            </a:r>
            <a:r>
              <a:rPr lang="en-US" altLang="zh-CN" sz="1800" kern="100" dirty="0">
                <a:effectLst/>
                <a:latin typeface="Times New Roman" panose="02020603050405020304" pitchFamily="18" charset="0"/>
                <a:ea typeface="宋体" pitchFamily="2" charset="-122"/>
              </a:rPr>
              <a:t>BINS</a:t>
            </a:r>
            <a:r>
              <a:rPr lang="zh-CN" altLang="zh-CN" sz="1800" kern="100" dirty="0">
                <a:effectLst/>
                <a:latin typeface="Times New Roman" panose="02020603050405020304" pitchFamily="18" charset="0"/>
                <a:ea typeface="宋体" pitchFamily="2" charset="-122"/>
              </a:rPr>
              <a:t>的数量，即灰度级的数目。例如当</a:t>
            </a:r>
            <a:r>
              <a:rPr lang="en-US" altLang="zh-CN" sz="1800" kern="100" dirty="0">
                <a:effectLst/>
                <a:latin typeface="Times New Roman" panose="02020603050405020304" pitchFamily="18" charset="0"/>
                <a:ea typeface="宋体" pitchFamily="2" charset="-122"/>
              </a:rPr>
              <a:t>bins=3</a:t>
            </a:r>
            <a:r>
              <a:rPr lang="zh-CN" altLang="zh-CN" sz="1800" kern="100" dirty="0">
                <a:effectLst/>
                <a:latin typeface="Times New Roman" panose="02020603050405020304" pitchFamily="18" charset="0"/>
                <a:ea typeface="宋体" pitchFamily="2" charset="-122"/>
              </a:rPr>
              <a:t>表示三个灰度级。</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ranges</a:t>
            </a:r>
            <a:r>
              <a:rPr lang="zh-CN" altLang="zh-CN" sz="1800" kern="100" dirty="0">
                <a:effectLst/>
                <a:latin typeface="Times New Roman" panose="02020603050405020304" pitchFamily="18" charset="0"/>
                <a:ea typeface="宋体" pitchFamily="2" charset="-122"/>
              </a:rPr>
              <a:t>：表示像素值范围，即横轴范围。例如</a:t>
            </a:r>
            <a:r>
              <a:rPr lang="en-US" altLang="zh-CN" sz="1800" kern="100" dirty="0">
                <a:effectLst/>
                <a:latin typeface="Times New Roman" panose="02020603050405020304" pitchFamily="18" charset="0"/>
                <a:ea typeface="宋体" pitchFamily="2" charset="-122"/>
              </a:rPr>
              <a:t>[0, 255]</a:t>
            </a:r>
            <a:r>
              <a:rPr lang="zh-CN" altLang="zh-CN" sz="18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accumulate</a:t>
            </a:r>
            <a:r>
              <a:rPr lang="zh-CN" altLang="zh-CN" sz="1800" kern="100" dirty="0">
                <a:effectLst/>
                <a:latin typeface="Times New Roman" panose="02020603050405020304" pitchFamily="18" charset="0"/>
                <a:ea typeface="宋体" pitchFamily="2" charset="-122"/>
              </a:rPr>
              <a:t>：表示累计叠加标识，默认为</a:t>
            </a:r>
            <a:r>
              <a:rPr lang="en-US" altLang="zh-CN" sz="1800" kern="100" dirty="0">
                <a:effectLst/>
                <a:latin typeface="Times New Roman" panose="02020603050405020304" pitchFamily="18" charset="0"/>
                <a:ea typeface="宋体" pitchFamily="2" charset="-122"/>
              </a:rPr>
              <a:t>false</a:t>
            </a:r>
            <a:r>
              <a:rPr lang="zh-CN" altLang="zh-CN" sz="1800" kern="100" dirty="0">
                <a:effectLst/>
                <a:latin typeface="Times New Roman" panose="02020603050405020304" pitchFamily="18" charset="0"/>
                <a:ea typeface="宋体" pitchFamily="2" charset="-122"/>
              </a:rPr>
              <a:t>。如果该参数被设置为</a:t>
            </a:r>
            <a:r>
              <a:rPr lang="en-US" altLang="zh-CN" sz="1800" kern="100" dirty="0">
                <a:effectLst/>
                <a:latin typeface="Times New Roman" panose="02020603050405020304" pitchFamily="18" charset="0"/>
                <a:ea typeface="宋体" pitchFamily="2" charset="-122"/>
              </a:rPr>
              <a:t>true</a:t>
            </a:r>
            <a:r>
              <a:rPr lang="zh-CN" altLang="zh-CN" sz="1800" kern="100" dirty="0">
                <a:effectLst/>
                <a:latin typeface="Times New Roman" panose="02020603050405020304" pitchFamily="18" charset="0"/>
                <a:ea typeface="宋体" pitchFamily="2" charset="-122"/>
              </a:rPr>
              <a:t>，则直方图在开始分配时不会被清零，该参数允许从多个对象中计算单个直方图，或者用于实时更新直方图，多个直方图的累积结果用于对一组图像的直方图计算。</a:t>
            </a:r>
          </a:p>
        </p:txBody>
      </p:sp>
    </p:spTree>
  </p:cSld>
  <p:clrMapOvr>
    <a:masterClrMapping/>
  </p:clrMapOvr>
  <p:transition spd="slow" advClick="0"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l="2363" t="-1" b="2704"/>
          <a:stretch>
            <a:fillRect/>
          </a:stretch>
        </p:blipFill>
        <p:spPr>
          <a:xfrm>
            <a:off x="142957" y="1505346"/>
            <a:ext cx="3888432" cy="3848896"/>
          </a:xfrm>
          <a:prstGeom prst="rect">
            <a:avLst/>
          </a:prstGeom>
          <a:noFill/>
          <a:ln>
            <a:noFill/>
          </a:ln>
        </p:spPr>
      </p:pic>
      <p:pic>
        <p:nvPicPr>
          <p:cNvPr id="10" name="图片 9"/>
          <p:cNvPicPr>
            <a:picLocks noChangeAspect="1"/>
          </p:cNvPicPr>
          <p:nvPr/>
        </p:nvPicPr>
        <p:blipFill>
          <a:blip r:embed="rId4"/>
          <a:stretch>
            <a:fillRect/>
          </a:stretch>
        </p:blipFill>
        <p:spPr>
          <a:xfrm>
            <a:off x="4284244" y="1505347"/>
            <a:ext cx="4718387" cy="3848895"/>
          </a:xfrm>
          <a:prstGeom prst="rect">
            <a:avLst/>
          </a:prstGeom>
          <a:noFill/>
          <a:ln>
            <a:noFill/>
          </a:ln>
        </p:spPr>
      </p:pic>
      <p:sp>
        <p:nvSpPr>
          <p:cNvPr id="3" name="文本框 2"/>
          <p:cNvSpPr txBox="1"/>
          <p:nvPr/>
        </p:nvSpPr>
        <p:spPr>
          <a:xfrm>
            <a:off x="1376081" y="5772760"/>
            <a:ext cx="1422184" cy="369332"/>
          </a:xfrm>
          <a:prstGeom prst="rect">
            <a:avLst/>
          </a:prstGeom>
          <a:noFill/>
        </p:spPr>
        <p:txBody>
          <a:bodyPr wrap="none" rtlCol="0">
            <a:spAutoFit/>
          </a:bodyPr>
          <a:lstStyle/>
          <a:p>
            <a:r>
              <a:rPr lang="en-US" altLang="zh-CN" sz="1800" kern="100" dirty="0">
                <a:effectLst/>
                <a:latin typeface="Times New Roman" panose="02020603050405020304" pitchFamily="18" charset="0"/>
                <a:ea typeface="宋体" pitchFamily="2" charset="-122"/>
              </a:rPr>
              <a:t>(a) </a:t>
            </a:r>
            <a:r>
              <a:rPr lang="zh-CN" altLang="zh-CN" sz="1800" dirty="0">
                <a:solidFill>
                  <a:srgbClr val="000000"/>
                </a:solidFill>
                <a:effectLst/>
                <a:ea typeface="宋体" pitchFamily="2" charset="-122"/>
                <a:cs typeface="宋体" pitchFamily="2" charset="-122"/>
              </a:rPr>
              <a:t>灰度图像</a:t>
            </a:r>
            <a:endParaRPr lang="zh-CN" altLang="en-US" dirty="0"/>
          </a:p>
        </p:txBody>
      </p:sp>
      <p:sp>
        <p:nvSpPr>
          <p:cNvPr id="5" name="文本框 4"/>
          <p:cNvSpPr txBox="1"/>
          <p:nvPr/>
        </p:nvSpPr>
        <p:spPr>
          <a:xfrm>
            <a:off x="6046494" y="5662042"/>
            <a:ext cx="2448272" cy="369332"/>
          </a:xfrm>
          <a:prstGeom prst="rect">
            <a:avLst/>
          </a:prstGeom>
          <a:noFill/>
        </p:spPr>
        <p:txBody>
          <a:bodyPr wrap="square" rtlCol="0">
            <a:spAutoFit/>
          </a:bodyPr>
          <a:lstStyle/>
          <a:p>
            <a:r>
              <a:rPr lang="en-US" altLang="zh-CN" sz="1800" kern="100" dirty="0">
                <a:effectLst/>
                <a:latin typeface="Times New Roman" panose="02020603050405020304" pitchFamily="18" charset="0"/>
                <a:ea typeface="宋体" pitchFamily="2" charset="-122"/>
              </a:rPr>
              <a:t>(b) </a:t>
            </a:r>
            <a:r>
              <a:rPr lang="zh-CN" altLang="zh-CN" sz="1800" dirty="0">
                <a:solidFill>
                  <a:srgbClr val="000000"/>
                </a:solidFill>
                <a:effectLst/>
                <a:ea typeface="宋体" pitchFamily="2" charset="-122"/>
                <a:cs typeface="宋体" pitchFamily="2" charset="-122"/>
              </a:rPr>
              <a:t>灰度直方图</a:t>
            </a:r>
            <a:endParaRPr lang="zh-CN" altLang="en-US" dirty="0"/>
          </a:p>
        </p:txBody>
      </p:sp>
    </p:spTree>
  </p:cSld>
  <p:clrMapOvr>
    <a:masterClrMapping/>
  </p:clrMapOvr>
  <p:transition spd="slow" advClick="0"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4" name="文本框 3"/>
          <p:cNvSpPr txBox="1"/>
          <p:nvPr/>
        </p:nvSpPr>
        <p:spPr>
          <a:xfrm>
            <a:off x="643172" y="1212398"/>
            <a:ext cx="5369782" cy="784830"/>
          </a:xfrm>
          <a:prstGeom prst="rect">
            <a:avLst/>
          </a:prstGeom>
          <a:noFill/>
        </p:spPr>
        <p:txBody>
          <a:bodyPr wrap="square" rtlCol="0">
            <a:spAutoFit/>
          </a:bodyPr>
          <a:lstStyle/>
          <a:p>
            <a:r>
              <a:rPr lang="zh-CN" altLang="zh-CN" sz="2400" kern="100" dirty="0">
                <a:effectLst/>
                <a:latin typeface="Times New Roman" panose="02020603050405020304" pitchFamily="18" charset="0"/>
                <a:ea typeface="宋体" pitchFamily="2" charset="-122"/>
              </a:rPr>
              <a:t>灰度图像直方图的生成与实现程序如下：</a:t>
            </a:r>
          </a:p>
          <a:p>
            <a:endParaRPr lang="zh-CN" altLang="en-US" dirty="0"/>
          </a:p>
        </p:txBody>
      </p:sp>
      <p:sp>
        <p:nvSpPr>
          <p:cNvPr id="7" name="文本框 6"/>
          <p:cNvSpPr txBox="1"/>
          <p:nvPr/>
        </p:nvSpPr>
        <p:spPr>
          <a:xfrm>
            <a:off x="950022" y="1767800"/>
            <a:ext cx="7784514" cy="3323987"/>
          </a:xfrm>
          <a:prstGeom prst="rect">
            <a:avLst/>
          </a:prstGeom>
          <a:noFill/>
        </p:spPr>
        <p:txBody>
          <a:bodyPr wrap="square" rtlCol="0">
            <a:spAutoFit/>
          </a:bodyPr>
          <a:lstStyle/>
          <a:p>
            <a:r>
              <a:rPr lang="en-US" altLang="zh-CN" kern="100" dirty="0">
                <a:effectLst/>
                <a:latin typeface="Times New Roman" panose="02020603050405020304" pitchFamily="18" charset="0"/>
                <a:ea typeface="宋体" pitchFamily="2" charset="-122"/>
              </a:rPr>
              <a:t>import cv2</a:t>
            </a:r>
          </a:p>
          <a:p>
            <a:r>
              <a:rPr lang="en-US" altLang="zh-CN" kern="100" dirty="0">
                <a:solidFill>
                  <a:srgbClr val="000000"/>
                </a:solidFill>
                <a:effectLst/>
                <a:latin typeface="Times New Roman" panose="02020603050405020304" pitchFamily="18" charset="0"/>
                <a:ea typeface="宋体" pitchFamily="2" charset="-122"/>
              </a:rPr>
              <a:t>import </a:t>
            </a:r>
            <a:r>
              <a:rPr lang="en-US" altLang="zh-CN" kern="100" dirty="0" err="1">
                <a:solidFill>
                  <a:srgbClr val="000000"/>
                </a:solidFill>
                <a:effectLst/>
                <a:latin typeface="Times New Roman" panose="02020603050405020304" pitchFamily="18" charset="0"/>
                <a:ea typeface="宋体" pitchFamily="2" charset="-122"/>
              </a:rPr>
              <a:t>numpy</a:t>
            </a:r>
            <a:r>
              <a:rPr lang="en-US" altLang="zh-CN" kern="100" dirty="0">
                <a:solidFill>
                  <a:srgbClr val="000000"/>
                </a:solidFill>
                <a:effectLst/>
                <a:latin typeface="Times New Roman" panose="02020603050405020304" pitchFamily="18" charset="0"/>
                <a:ea typeface="宋体" pitchFamily="2" charset="-122"/>
              </a:rPr>
              <a:t> as np  </a:t>
            </a:r>
            <a:endParaRPr lang="en-US" altLang="zh-CN" kern="100" dirty="0">
              <a:latin typeface="Times New Roman" panose="02020603050405020304" pitchFamily="18" charset="0"/>
              <a:ea typeface="宋体" pitchFamily="2" charset="-122"/>
            </a:endParaRPr>
          </a:p>
          <a:p>
            <a:r>
              <a:rPr lang="en-US" altLang="zh-CN" kern="100" dirty="0">
                <a:solidFill>
                  <a:srgbClr val="000000"/>
                </a:solidFill>
                <a:effectLst/>
                <a:latin typeface="Times New Roman" panose="02020603050405020304" pitchFamily="18" charset="0"/>
                <a:ea typeface="宋体" pitchFamily="2" charset="-122"/>
              </a:rPr>
              <a:t>from matplotlib import </a:t>
            </a:r>
            <a:r>
              <a:rPr lang="en-US" altLang="zh-CN" kern="100" dirty="0" err="1">
                <a:solidFill>
                  <a:srgbClr val="000000"/>
                </a:solidFill>
                <a:effectLst/>
                <a:latin typeface="Times New Roman" panose="02020603050405020304" pitchFamily="18" charset="0"/>
                <a:ea typeface="宋体" pitchFamily="2" charset="-122"/>
              </a:rPr>
              <a:t>pyplot</a:t>
            </a:r>
            <a:r>
              <a:rPr lang="en-US" altLang="zh-CN" kern="100" dirty="0">
                <a:solidFill>
                  <a:srgbClr val="000000"/>
                </a:solidFill>
                <a:effectLst/>
                <a:latin typeface="Times New Roman" panose="02020603050405020304" pitchFamily="18" charset="0"/>
                <a:ea typeface="宋体" pitchFamily="2" charset="-122"/>
              </a:rPr>
              <a:t> as </a:t>
            </a:r>
            <a:r>
              <a:rPr lang="en-US" altLang="zh-CN" kern="100" dirty="0" err="1">
                <a:solidFill>
                  <a:srgbClr val="000000"/>
                </a:solidFill>
                <a:effectLst/>
                <a:latin typeface="Times New Roman" panose="02020603050405020304" pitchFamily="18" charset="0"/>
                <a:ea typeface="宋体" pitchFamily="2" charset="-122"/>
              </a:rPr>
              <a:t>plt</a:t>
            </a:r>
            <a:endParaRPr lang="en-US" altLang="zh-CN" kern="100" dirty="0">
              <a:latin typeface="Times New Roman" panose="02020603050405020304" pitchFamily="18" charset="0"/>
              <a:ea typeface="宋体" pitchFamily="2" charset="-122"/>
            </a:endParaRPr>
          </a:p>
          <a:p>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 cv2.imread('C:/Users/Administrator/Desktop/lenaNoise.jpg',0)  cv2.imshow("Gray",</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显示</a:t>
            </a:r>
            <a:r>
              <a:rPr lang="en-US" altLang="zh-CN" kern="100" dirty="0" err="1">
                <a:solidFill>
                  <a:srgbClr val="000000"/>
                </a:solidFill>
                <a:effectLst/>
                <a:latin typeface="Times New Roman" panose="02020603050405020304" pitchFamily="18" charset="0"/>
                <a:ea typeface="宋体" pitchFamily="2" charset="-122"/>
              </a:rPr>
              <a:t>img</a:t>
            </a:r>
            <a:r>
              <a:rPr lang="zh-CN" altLang="zh-CN" kern="100" dirty="0">
                <a:solidFill>
                  <a:srgbClr val="000000"/>
                </a:solidFill>
                <a:effectLst/>
                <a:latin typeface="Times New Roman" panose="02020603050405020304" pitchFamily="18" charset="0"/>
                <a:ea typeface="宋体" pitchFamily="2" charset="-122"/>
              </a:rPr>
              <a:t>中读取的灰度图片</a:t>
            </a:r>
            <a:endParaRPr lang="en-US" altLang="zh-CN" kern="100" dirty="0">
              <a:latin typeface="Times New Roman" panose="02020603050405020304" pitchFamily="18" charset="0"/>
              <a:ea typeface="宋体" pitchFamily="2" charset="-122"/>
            </a:endParaRPr>
          </a:p>
          <a:p>
            <a:r>
              <a:rPr lang="en-US" altLang="zh-CN" kern="100" dirty="0">
                <a:solidFill>
                  <a:srgbClr val="000000"/>
                </a:solidFill>
                <a:effectLst/>
                <a:latin typeface="Times New Roman" panose="02020603050405020304" pitchFamily="18" charset="0"/>
                <a:ea typeface="宋体" pitchFamily="2" charset="-122"/>
              </a:rPr>
              <a:t>hist = cv2.calcHist([</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[0], None,[256], [0,256])  </a:t>
            </a:r>
            <a:endParaRPr lang="en-US" altLang="zh-CN" kern="100" dirty="0">
              <a:latin typeface="Times New Roman" panose="02020603050405020304" pitchFamily="18" charset="0"/>
              <a:ea typeface="宋体" pitchFamily="2" charset="-122"/>
            </a:endParaRPr>
          </a:p>
          <a:p>
            <a:r>
              <a:rPr lang="en-US" altLang="zh-CN" kern="100" dirty="0" err="1">
                <a:solidFill>
                  <a:srgbClr val="000000"/>
                </a:solidFill>
                <a:effectLst/>
                <a:latin typeface="Times New Roman" panose="02020603050405020304" pitchFamily="18" charset="0"/>
                <a:ea typeface="宋体" pitchFamily="2" charset="-122"/>
              </a:rPr>
              <a:t>plt.title</a:t>
            </a:r>
            <a:r>
              <a:rPr lang="en-US" altLang="zh-CN" kern="100" dirty="0">
                <a:solidFill>
                  <a:srgbClr val="000000"/>
                </a:solidFill>
                <a:effectLst/>
                <a:latin typeface="Times New Roman" panose="02020603050405020304" pitchFamily="18" charset="0"/>
                <a:ea typeface="宋体" pitchFamily="2" charset="-122"/>
              </a:rPr>
              <a:t>("Grayscale Histogram")	#</a:t>
            </a:r>
            <a:r>
              <a:rPr lang="zh-CN" altLang="zh-CN" kern="100" dirty="0">
                <a:solidFill>
                  <a:srgbClr val="000000"/>
                </a:solidFill>
                <a:effectLst/>
                <a:latin typeface="Times New Roman" panose="02020603050405020304" pitchFamily="18" charset="0"/>
                <a:ea typeface="宋体" pitchFamily="2" charset="-122"/>
              </a:rPr>
              <a:t>图像的标题</a:t>
            </a:r>
            <a:r>
              <a:rPr lang="en-US" altLang="zh-CN" kern="100" dirty="0">
                <a:solidFill>
                  <a:srgbClr val="000000"/>
                </a:solidFill>
                <a:effectLst/>
                <a:latin typeface="Times New Roman" panose="02020603050405020304" pitchFamily="18" charset="0"/>
                <a:ea typeface="宋体" pitchFamily="2" charset="-122"/>
              </a:rPr>
              <a:t>  </a:t>
            </a:r>
            <a:r>
              <a:rPr lang="en-US" altLang="zh-CN" kern="100" dirty="0" err="1">
                <a:solidFill>
                  <a:srgbClr val="000000"/>
                </a:solidFill>
                <a:effectLst/>
                <a:latin typeface="Times New Roman" panose="02020603050405020304" pitchFamily="18" charset="0"/>
                <a:ea typeface="宋体" pitchFamily="2" charset="-122"/>
              </a:rPr>
              <a:t>plt.hist</a:t>
            </a:r>
            <a:r>
              <a:rPr lang="en-US" altLang="zh-CN" kern="100" dirty="0">
                <a:solidFill>
                  <a:srgbClr val="000000"/>
                </a:solidFill>
                <a:effectLst/>
                <a:latin typeface="Times New Roman" panose="02020603050405020304" pitchFamily="18" charset="0"/>
                <a:ea typeface="宋体" pitchFamily="2" charset="-122"/>
              </a:rPr>
              <a:t>(</a:t>
            </a:r>
            <a:r>
              <a:rPr lang="en-US" altLang="zh-CN" kern="100" dirty="0" err="1">
                <a:solidFill>
                  <a:srgbClr val="000000"/>
                </a:solidFill>
                <a:effectLst/>
                <a:latin typeface="Times New Roman" panose="02020603050405020304" pitchFamily="18" charset="0"/>
                <a:ea typeface="宋体" pitchFamily="2" charset="-122"/>
              </a:rPr>
              <a:t>img.ravel</a:t>
            </a:r>
            <a:r>
              <a:rPr lang="en-US" altLang="zh-CN" kern="100" dirty="0">
                <a:solidFill>
                  <a:srgbClr val="000000"/>
                </a:solidFill>
                <a:effectLst/>
                <a:latin typeface="Times New Roman" panose="02020603050405020304" pitchFamily="18" charset="0"/>
                <a:ea typeface="宋体" pitchFamily="2" charset="-122"/>
              </a:rPr>
              <a:t>(),256)		#</a:t>
            </a:r>
            <a:r>
              <a:rPr lang="zh-CN" altLang="zh-CN" kern="100" dirty="0">
                <a:solidFill>
                  <a:srgbClr val="000000"/>
                </a:solidFill>
                <a:effectLst/>
                <a:latin typeface="Times New Roman" panose="02020603050405020304" pitchFamily="18" charset="0"/>
                <a:ea typeface="宋体" pitchFamily="2" charset="-122"/>
              </a:rPr>
              <a:t>画出灰度直方图</a:t>
            </a:r>
            <a:r>
              <a:rPr lang="en-US" altLang="zh-CN" kern="100" dirty="0">
                <a:solidFill>
                  <a:srgbClr val="000000"/>
                </a:solidFill>
                <a:effectLst/>
                <a:latin typeface="Times New Roman" panose="02020603050405020304" pitchFamily="18" charset="0"/>
                <a:ea typeface="宋体" pitchFamily="2" charset="-122"/>
              </a:rPr>
              <a:t>  </a:t>
            </a:r>
            <a:endParaRPr lang="en-US" altLang="zh-CN" kern="100" dirty="0">
              <a:latin typeface="Times New Roman" panose="02020603050405020304" pitchFamily="18" charset="0"/>
              <a:ea typeface="宋体" pitchFamily="2" charset="-122"/>
            </a:endParaRPr>
          </a:p>
          <a:p>
            <a:r>
              <a:rPr lang="en-US" altLang="zh-CN" kern="100" dirty="0" err="1">
                <a:solidFill>
                  <a:srgbClr val="000000"/>
                </a:solidFill>
                <a:effectLst/>
                <a:latin typeface="Times New Roman" panose="02020603050405020304" pitchFamily="18" charset="0"/>
                <a:ea typeface="宋体" pitchFamily="2" charset="-122"/>
              </a:rPr>
              <a:t>plt.show</a:t>
            </a:r>
            <a:r>
              <a:rPr lang="en-US" altLang="zh-CN" kern="100" dirty="0">
                <a:solidFill>
                  <a:srgbClr val="000000"/>
                </a:solidFill>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endParaRPr lang="zh-CN" altLang="en-US" dirty="0"/>
          </a:p>
        </p:txBody>
      </p:sp>
      <p:sp>
        <p:nvSpPr>
          <p:cNvPr id="10" name="文本框 9"/>
          <p:cNvSpPr txBox="1"/>
          <p:nvPr/>
        </p:nvSpPr>
        <p:spPr>
          <a:xfrm>
            <a:off x="643172" y="5267907"/>
            <a:ext cx="4589754" cy="461665"/>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上述程序的运行结果如</a:t>
            </a:r>
            <a:r>
              <a:rPr lang="zh-CN" altLang="zh-CN" sz="2400" dirty="0">
                <a:solidFill>
                  <a:srgbClr val="000000"/>
                </a:solidFill>
                <a:effectLst/>
                <a:latin typeface="Times New Roman" panose="02020603050405020304" pitchFamily="18" charset="0"/>
                <a:ea typeface="宋体" pitchFamily="2" charset="-122"/>
                <a:cs typeface="Times New Roman" panose="02020603050405020304" pitchFamily="18" charset="0"/>
              </a:rPr>
              <a:t>图</a:t>
            </a:r>
            <a:r>
              <a:rPr lang="en-US" altLang="zh-CN" sz="2400" dirty="0">
                <a:solidFill>
                  <a:srgbClr val="000000"/>
                </a:solidFill>
                <a:effectLst/>
                <a:latin typeface="Times New Roman" panose="02020603050405020304" pitchFamily="18" charset="0"/>
                <a:ea typeface="宋体" pitchFamily="2" charset="-122"/>
              </a:rPr>
              <a:t>3.2</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p:spTree>
  </p:cSld>
  <p:clrMapOvr>
    <a:masterClrMapping/>
  </p:clrMapOvr>
  <p:transition spd="slow" advClick="0"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540346" y="1278313"/>
            <a:ext cx="7632848" cy="415498"/>
          </a:xfrm>
          <a:prstGeom prst="rect">
            <a:avLst/>
          </a:prstGeom>
          <a:noFill/>
        </p:spPr>
        <p:txBody>
          <a:bodyPr wrap="square" rtlCol="0">
            <a:spAutoFit/>
          </a:bodyPr>
          <a:lstStyle/>
          <a:p>
            <a:r>
              <a:rPr lang="zh-CN" altLang="zh-CN" kern="100" dirty="0">
                <a:effectLst/>
                <a:latin typeface="Times New Roman" panose="02020603050405020304" pitchFamily="18" charset="0"/>
                <a:ea typeface="宋体" pitchFamily="2" charset="-122"/>
                <a:cs typeface="Times New Roman" panose="02020603050405020304" pitchFamily="18" charset="0"/>
              </a:rPr>
              <a:t>分析图像的灰度直方图可以得到很多有效的信息。</a:t>
            </a:r>
            <a:endParaRPr lang="zh-CN" altLang="en-US" dirty="0"/>
          </a:p>
        </p:txBody>
      </p:sp>
      <p:sp>
        <p:nvSpPr>
          <p:cNvPr id="8" name="文本框 7"/>
          <p:cNvSpPr txBox="1"/>
          <p:nvPr/>
        </p:nvSpPr>
        <p:spPr>
          <a:xfrm>
            <a:off x="540346" y="1739978"/>
            <a:ext cx="8261386" cy="461665"/>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图</a:t>
            </a:r>
            <a:r>
              <a:rPr lang="en-US" altLang="zh-CN" kern="100" dirty="0">
                <a:latin typeface="Times New Roman" panose="02020603050405020304" pitchFamily="18" charset="0"/>
                <a:ea typeface="宋体" pitchFamily="2" charset="-122"/>
                <a:cs typeface="Times New Roman" panose="02020603050405020304" pitchFamily="18" charset="0"/>
              </a:rPr>
              <a:t>3.3</a:t>
            </a:r>
            <a:r>
              <a:rPr lang="zh-CN" altLang="en-US" kern="100" dirty="0">
                <a:latin typeface="Times New Roman" panose="02020603050405020304" pitchFamily="18" charset="0"/>
                <a:ea typeface="宋体" pitchFamily="2" charset="-122"/>
                <a:cs typeface="Times New Roman" panose="02020603050405020304" pitchFamily="18" charset="0"/>
              </a:rPr>
              <a:t>所示，图像较暗，则直方图的峰值出现在直方图的较左部分。</a:t>
            </a:r>
            <a:endParaRPr lang="zh-CN" altLang="en-US" dirty="0"/>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l="1138" r="2117" b="1235"/>
          <a:stretch>
            <a:fillRect/>
          </a:stretch>
        </p:blipFill>
        <p:spPr>
          <a:xfrm>
            <a:off x="1188418" y="2874076"/>
            <a:ext cx="2880320" cy="2851034"/>
          </a:xfrm>
          <a:prstGeom prst="rect">
            <a:avLst/>
          </a:prstGeom>
          <a:noFill/>
          <a:ln>
            <a:noFill/>
          </a:ln>
        </p:spPr>
      </p:pic>
      <p:pic>
        <p:nvPicPr>
          <p:cNvPr id="10" name="图片 9"/>
          <p:cNvPicPr>
            <a:picLocks noChangeAspect="1"/>
          </p:cNvPicPr>
          <p:nvPr/>
        </p:nvPicPr>
        <p:blipFill>
          <a:blip r:embed="rId4"/>
          <a:stretch>
            <a:fillRect/>
          </a:stretch>
        </p:blipFill>
        <p:spPr>
          <a:xfrm>
            <a:off x="4842279" y="2897979"/>
            <a:ext cx="3733104" cy="2857012"/>
          </a:xfrm>
          <a:prstGeom prst="rect">
            <a:avLst/>
          </a:prstGeom>
          <a:noFill/>
          <a:ln>
            <a:noFill/>
          </a:ln>
        </p:spPr>
      </p:pic>
      <p:sp>
        <p:nvSpPr>
          <p:cNvPr id="12" name="文本框 11"/>
          <p:cNvSpPr txBox="1"/>
          <p:nvPr/>
        </p:nvSpPr>
        <p:spPr>
          <a:xfrm>
            <a:off x="1604039" y="5882837"/>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(a) </a:t>
            </a:r>
            <a:r>
              <a:rPr lang="zh-CN" altLang="zh-CN" sz="1600" b="1" dirty="0">
                <a:solidFill>
                  <a:srgbClr val="000000"/>
                </a:solidFill>
                <a:effectLst/>
                <a:ea typeface="宋体" pitchFamily="2" charset="-122"/>
                <a:cs typeface="宋体" pitchFamily="2" charset="-122"/>
              </a:rPr>
              <a:t>较暗的图像</a:t>
            </a:r>
            <a:endParaRPr lang="zh-CN" altLang="en-US" sz="1600" b="1" dirty="0"/>
          </a:p>
        </p:txBody>
      </p:sp>
      <p:sp>
        <p:nvSpPr>
          <p:cNvPr id="14" name="文本框 13"/>
          <p:cNvSpPr txBox="1"/>
          <p:nvPr/>
        </p:nvSpPr>
        <p:spPr>
          <a:xfrm>
            <a:off x="6012954" y="5921932"/>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(b)</a:t>
            </a:r>
            <a:r>
              <a:rPr lang="zh-CN" altLang="zh-CN" sz="1600" b="1" dirty="0">
                <a:solidFill>
                  <a:srgbClr val="000000"/>
                </a:solidFill>
                <a:effectLst/>
                <a:ea typeface="宋体" pitchFamily="2" charset="-122"/>
                <a:cs typeface="宋体" pitchFamily="2" charset="-122"/>
              </a:rPr>
              <a:t>灰度直方图</a:t>
            </a:r>
            <a:endParaRPr lang="zh-CN" altLang="en-US" sz="1600" b="1" dirty="0"/>
          </a:p>
        </p:txBody>
      </p:sp>
      <p:sp>
        <p:nvSpPr>
          <p:cNvPr id="16" name="文本框 15"/>
          <p:cNvSpPr txBox="1"/>
          <p:nvPr/>
        </p:nvSpPr>
        <p:spPr>
          <a:xfrm>
            <a:off x="1922810" y="6296016"/>
            <a:ext cx="5299968" cy="369332"/>
          </a:xfrm>
          <a:prstGeom prst="rect">
            <a:avLst/>
          </a:prstGeom>
          <a:noFill/>
        </p:spPr>
        <p:txBody>
          <a:bodyPr wrap="square">
            <a:spAutoFit/>
          </a:bodyPr>
          <a:lstStyle/>
          <a:p>
            <a:pPr indent="266700" algn="ctr"/>
            <a:r>
              <a:rPr lang="en-US" altLang="zh-CN" sz="1800" b="1" kern="0" dirty="0">
                <a:effectLst/>
                <a:latin typeface="黑体" panose="02010609060101010101" pitchFamily="49" charset="-122"/>
                <a:ea typeface="黑体" panose="02010609060101010101" pitchFamily="49" charset="-122"/>
              </a:rPr>
              <a:t>图3.3  </a:t>
            </a:r>
            <a:r>
              <a:rPr lang="zh-CN" altLang="zh-CN" sz="1800" b="1" kern="0" dirty="0">
                <a:solidFill>
                  <a:srgbClr val="000000"/>
                </a:solidFill>
                <a:effectLst/>
                <a:latin typeface="黑体" panose="02010609060101010101" pitchFamily="49" charset="-122"/>
                <a:ea typeface="黑体" panose="02010609060101010101" pitchFamily="49" charset="-122"/>
                <a:cs typeface="宋体" pitchFamily="2" charset="-122"/>
              </a:rPr>
              <a:t>较暗图像</a:t>
            </a:r>
            <a:r>
              <a:rPr lang="en-US" altLang="zh-CN" sz="1800" b="1" kern="0" dirty="0" err="1">
                <a:effectLst/>
                <a:latin typeface="黑体" panose="02010609060101010101" pitchFamily="49" charset="-122"/>
                <a:ea typeface="黑体" panose="02010609060101010101" pitchFamily="49" charset="-122"/>
              </a:rPr>
              <a:t>和灰度直方图</a:t>
            </a:r>
            <a:endParaRPr lang="zh-CN" altLang="zh-CN" sz="1800" b="1" kern="100" dirty="0">
              <a:effectLst/>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540346" y="1397622"/>
            <a:ext cx="8261386" cy="784830"/>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图</a:t>
            </a:r>
            <a:r>
              <a:rPr lang="en-US" altLang="zh-CN" kern="100" dirty="0">
                <a:latin typeface="Times New Roman" panose="02020603050405020304" pitchFamily="18" charset="0"/>
                <a:ea typeface="宋体" pitchFamily="2" charset="-122"/>
                <a:cs typeface="Times New Roman" panose="02020603050405020304" pitchFamily="18" charset="0"/>
              </a:rPr>
              <a:t>3.4</a:t>
            </a:r>
            <a:r>
              <a:rPr lang="zh-CN" altLang="en-US" kern="100" dirty="0">
                <a:latin typeface="Times New Roman" panose="02020603050405020304" pitchFamily="18" charset="0"/>
                <a:ea typeface="宋体" pitchFamily="2" charset="-122"/>
                <a:cs typeface="Times New Roman" panose="02020603050405020304" pitchFamily="18" charset="0"/>
              </a:rPr>
              <a:t>所示，图像较亮，则直方图的峰值出现在直方图的较右部分。</a:t>
            </a:r>
            <a:endParaRPr lang="zh-CN" altLang="en-US" dirty="0"/>
          </a:p>
        </p:txBody>
      </p:sp>
      <p:sp>
        <p:nvSpPr>
          <p:cNvPr id="12" name="文本框 11"/>
          <p:cNvSpPr txBox="1"/>
          <p:nvPr/>
        </p:nvSpPr>
        <p:spPr>
          <a:xfrm>
            <a:off x="1604039" y="5545428"/>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(a) </a:t>
            </a:r>
            <a:r>
              <a:rPr lang="zh-CN" altLang="zh-CN" sz="1600" b="1" dirty="0">
                <a:solidFill>
                  <a:srgbClr val="000000"/>
                </a:solidFill>
                <a:effectLst/>
                <a:ea typeface="宋体" pitchFamily="2" charset="-122"/>
                <a:cs typeface="宋体" pitchFamily="2" charset="-122"/>
              </a:rPr>
              <a:t>较</a:t>
            </a:r>
            <a:r>
              <a:rPr lang="zh-CN" altLang="en-US" sz="1600" b="1" dirty="0">
                <a:solidFill>
                  <a:srgbClr val="000000"/>
                </a:solidFill>
                <a:effectLst/>
                <a:ea typeface="宋体" pitchFamily="2" charset="-122"/>
                <a:cs typeface="宋体" pitchFamily="2" charset="-122"/>
              </a:rPr>
              <a:t>亮</a:t>
            </a:r>
            <a:r>
              <a:rPr lang="zh-CN" altLang="zh-CN" sz="1600" b="1" dirty="0">
                <a:solidFill>
                  <a:srgbClr val="000000"/>
                </a:solidFill>
                <a:effectLst/>
                <a:ea typeface="宋体" pitchFamily="2" charset="-122"/>
                <a:cs typeface="宋体" pitchFamily="2" charset="-122"/>
              </a:rPr>
              <a:t>的图像</a:t>
            </a:r>
            <a:endParaRPr lang="zh-CN" altLang="en-US" sz="1600" b="1" dirty="0"/>
          </a:p>
        </p:txBody>
      </p:sp>
      <p:sp>
        <p:nvSpPr>
          <p:cNvPr id="14" name="文本框 13"/>
          <p:cNvSpPr txBox="1"/>
          <p:nvPr/>
        </p:nvSpPr>
        <p:spPr>
          <a:xfrm>
            <a:off x="5796930" y="5535042"/>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(b)</a:t>
            </a:r>
            <a:r>
              <a:rPr lang="zh-CN" altLang="zh-CN" sz="1600" b="1" dirty="0">
                <a:solidFill>
                  <a:srgbClr val="000000"/>
                </a:solidFill>
                <a:effectLst/>
                <a:ea typeface="宋体" pitchFamily="2" charset="-122"/>
                <a:cs typeface="宋体" pitchFamily="2" charset="-122"/>
              </a:rPr>
              <a:t>灰度直方图</a:t>
            </a:r>
            <a:endParaRPr lang="zh-CN" altLang="en-US" sz="1600" b="1" dirty="0"/>
          </a:p>
        </p:txBody>
      </p:sp>
      <p:sp>
        <p:nvSpPr>
          <p:cNvPr id="16" name="文本框 15"/>
          <p:cNvSpPr txBox="1"/>
          <p:nvPr/>
        </p:nvSpPr>
        <p:spPr>
          <a:xfrm>
            <a:off x="1836490" y="5983404"/>
            <a:ext cx="5299968" cy="369332"/>
          </a:xfrm>
          <a:prstGeom prst="rect">
            <a:avLst/>
          </a:prstGeom>
          <a:noFill/>
        </p:spPr>
        <p:txBody>
          <a:bodyPr wrap="square">
            <a:spAutoFit/>
          </a:bodyPr>
          <a:lstStyle/>
          <a:p>
            <a:pPr indent="266700" algn="ctr"/>
            <a:r>
              <a:rPr lang="en-US" altLang="zh-CN" sz="1800" b="1" kern="0" dirty="0">
                <a:effectLst/>
                <a:latin typeface="黑体" panose="02010609060101010101" pitchFamily="49" charset="-122"/>
                <a:ea typeface="黑体" panose="02010609060101010101" pitchFamily="49" charset="-122"/>
              </a:rPr>
              <a:t>图3.4 </a:t>
            </a:r>
            <a:r>
              <a:rPr lang="zh-CN" altLang="en-US" sz="1800" b="1" kern="0" dirty="0">
                <a:effectLst/>
                <a:latin typeface="黑体" panose="02010609060101010101" pitchFamily="49" charset="-122"/>
                <a:ea typeface="黑体" panose="02010609060101010101" pitchFamily="49" charset="-122"/>
              </a:rPr>
              <a:t>较亮图像和灰度直方图</a:t>
            </a:r>
            <a:endParaRPr lang="zh-CN" altLang="zh-CN" sz="1800" b="1" kern="100" dirty="0">
              <a:effectLst/>
              <a:latin typeface="黑体" panose="02010609060101010101" pitchFamily="49" charset="-122"/>
              <a:ea typeface="黑体" panose="02010609060101010101" pitchFamily="49"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57" t="1" r="1822" b="2998"/>
          <a:stretch>
            <a:fillRect/>
          </a:stretch>
        </p:blipFill>
        <p:spPr>
          <a:xfrm>
            <a:off x="1188418" y="2538440"/>
            <a:ext cx="2880319" cy="2851033"/>
          </a:xfrm>
          <a:prstGeom prst="rect">
            <a:avLst/>
          </a:prstGeom>
          <a:noFill/>
          <a:ln>
            <a:noFill/>
          </a:ln>
        </p:spPr>
      </p:pic>
      <p:pic>
        <p:nvPicPr>
          <p:cNvPr id="15" name="图片 14"/>
          <p:cNvPicPr>
            <a:picLocks noChangeAspect="1"/>
          </p:cNvPicPr>
          <p:nvPr/>
        </p:nvPicPr>
        <p:blipFill>
          <a:blip r:embed="rId4"/>
          <a:stretch>
            <a:fillRect/>
          </a:stretch>
        </p:blipFill>
        <p:spPr>
          <a:xfrm>
            <a:off x="4671039" y="2538440"/>
            <a:ext cx="3731323" cy="2897180"/>
          </a:xfrm>
          <a:prstGeom prst="rect">
            <a:avLst/>
          </a:prstGeom>
          <a:noFill/>
          <a:ln>
            <a:noFill/>
          </a:ln>
        </p:spPr>
      </p:pic>
    </p:spTree>
  </p:cSld>
  <p:clrMapOvr>
    <a:masterClrMapping/>
  </p:clrMapOvr>
  <p:transition spd="slow" advClick="0"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355781" y="1583662"/>
            <a:ext cx="8261386" cy="461665"/>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图</a:t>
            </a:r>
            <a:r>
              <a:rPr lang="en-US" altLang="zh-CN" kern="100" dirty="0">
                <a:latin typeface="Times New Roman" panose="02020603050405020304" pitchFamily="18" charset="0"/>
                <a:ea typeface="宋体" pitchFamily="2" charset="-122"/>
                <a:cs typeface="Times New Roman" panose="02020603050405020304" pitchFamily="18" charset="0"/>
              </a:rPr>
              <a:t>3.5 (b)</a:t>
            </a:r>
            <a:r>
              <a:rPr lang="zh-CN" altLang="en-US" kern="100" dirty="0">
                <a:latin typeface="Times New Roman" panose="02020603050405020304" pitchFamily="18" charset="0"/>
                <a:ea typeface="宋体" pitchFamily="2" charset="-122"/>
                <a:cs typeface="Times New Roman" panose="02020603050405020304" pitchFamily="18" charset="0"/>
              </a:rPr>
              <a:t>所示，直方图上非零值较多，则这张图的对比度较低。</a:t>
            </a:r>
            <a:endParaRPr lang="zh-CN" altLang="en-US" dirty="0"/>
          </a:p>
        </p:txBody>
      </p:sp>
      <p:sp>
        <p:nvSpPr>
          <p:cNvPr id="12" name="文本框 11"/>
          <p:cNvSpPr txBox="1"/>
          <p:nvPr/>
        </p:nvSpPr>
        <p:spPr>
          <a:xfrm>
            <a:off x="1604039" y="5545428"/>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(a) </a:t>
            </a:r>
            <a:r>
              <a:rPr lang="zh-CN" altLang="zh-CN" sz="1600" b="1" dirty="0">
                <a:solidFill>
                  <a:srgbClr val="000000"/>
                </a:solidFill>
                <a:effectLst/>
                <a:ea typeface="宋体" pitchFamily="2" charset="-122"/>
                <a:cs typeface="宋体" pitchFamily="2" charset="-122"/>
              </a:rPr>
              <a:t>较</a:t>
            </a:r>
            <a:r>
              <a:rPr lang="zh-CN" altLang="en-US" sz="1600" b="1" dirty="0">
                <a:solidFill>
                  <a:srgbClr val="000000"/>
                </a:solidFill>
                <a:effectLst/>
                <a:ea typeface="宋体" pitchFamily="2" charset="-122"/>
                <a:cs typeface="宋体" pitchFamily="2" charset="-122"/>
              </a:rPr>
              <a:t>亮</a:t>
            </a:r>
            <a:r>
              <a:rPr lang="zh-CN" altLang="zh-CN" sz="1600" b="1" dirty="0">
                <a:solidFill>
                  <a:srgbClr val="000000"/>
                </a:solidFill>
                <a:effectLst/>
                <a:ea typeface="宋体" pitchFamily="2" charset="-122"/>
                <a:cs typeface="宋体" pitchFamily="2" charset="-122"/>
              </a:rPr>
              <a:t>的图像</a:t>
            </a:r>
            <a:endParaRPr lang="zh-CN" altLang="en-US" sz="1600" b="1" dirty="0"/>
          </a:p>
        </p:txBody>
      </p:sp>
      <p:sp>
        <p:nvSpPr>
          <p:cNvPr id="14" name="文本框 13"/>
          <p:cNvSpPr txBox="1"/>
          <p:nvPr/>
        </p:nvSpPr>
        <p:spPr>
          <a:xfrm>
            <a:off x="5796930" y="5535042"/>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(b)</a:t>
            </a:r>
            <a:r>
              <a:rPr lang="zh-CN" altLang="zh-CN" sz="1600" b="1" dirty="0">
                <a:solidFill>
                  <a:srgbClr val="000000"/>
                </a:solidFill>
                <a:effectLst/>
                <a:ea typeface="宋体" pitchFamily="2" charset="-122"/>
                <a:cs typeface="宋体" pitchFamily="2" charset="-122"/>
              </a:rPr>
              <a:t>灰度直方图</a:t>
            </a:r>
            <a:endParaRPr lang="zh-CN" altLang="en-US" sz="1600" b="1" dirty="0"/>
          </a:p>
        </p:txBody>
      </p:sp>
      <p:sp>
        <p:nvSpPr>
          <p:cNvPr id="16" name="文本框 15"/>
          <p:cNvSpPr txBox="1"/>
          <p:nvPr/>
        </p:nvSpPr>
        <p:spPr>
          <a:xfrm>
            <a:off x="1836490" y="5983404"/>
            <a:ext cx="5299968" cy="369332"/>
          </a:xfrm>
          <a:prstGeom prst="rect">
            <a:avLst/>
          </a:prstGeom>
          <a:noFill/>
        </p:spPr>
        <p:txBody>
          <a:bodyPr wrap="square">
            <a:spAutoFit/>
          </a:bodyPr>
          <a:lstStyle/>
          <a:p>
            <a:pPr indent="266700" algn="ctr"/>
            <a:r>
              <a:rPr lang="en-US" altLang="zh-CN" sz="1800" b="1" kern="0" dirty="0">
                <a:effectLst/>
                <a:latin typeface="黑体" panose="02010609060101010101" pitchFamily="49" charset="-122"/>
                <a:ea typeface="黑体" panose="02010609060101010101" pitchFamily="49" charset="-122"/>
              </a:rPr>
              <a:t>图3.5 </a:t>
            </a:r>
            <a:r>
              <a:rPr lang="zh-CN" altLang="en-US" sz="1800" b="1" kern="0" dirty="0">
                <a:effectLst/>
                <a:latin typeface="黑体" panose="02010609060101010101" pitchFamily="49" charset="-122"/>
                <a:ea typeface="黑体" panose="02010609060101010101" pitchFamily="49" charset="-122"/>
              </a:rPr>
              <a:t>对比度较小图像和灰度直方图</a:t>
            </a:r>
            <a:endParaRPr lang="zh-CN" altLang="zh-CN" sz="1800" b="1" kern="100" dirty="0">
              <a:effectLst/>
              <a:latin typeface="黑体" panose="02010609060101010101" pitchFamily="49" charset="-122"/>
              <a:ea typeface="黑体" panose="02010609060101010101" pitchFamily="49"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57" t="1" r="1822" b="2998"/>
          <a:stretch>
            <a:fillRect/>
          </a:stretch>
        </p:blipFill>
        <p:spPr>
          <a:xfrm>
            <a:off x="1188418" y="2538440"/>
            <a:ext cx="2880319" cy="2851033"/>
          </a:xfrm>
          <a:prstGeom prst="rect">
            <a:avLst/>
          </a:prstGeom>
          <a:noFill/>
          <a:ln>
            <a:noFill/>
          </a:ln>
        </p:spPr>
      </p:pic>
      <p:pic>
        <p:nvPicPr>
          <p:cNvPr id="15" name="图片 14"/>
          <p:cNvPicPr>
            <a:picLocks noChangeAspect="1"/>
          </p:cNvPicPr>
          <p:nvPr/>
        </p:nvPicPr>
        <p:blipFill>
          <a:blip r:embed="rId4"/>
          <a:stretch>
            <a:fillRect/>
          </a:stretch>
        </p:blipFill>
        <p:spPr>
          <a:xfrm>
            <a:off x="4671039" y="2538440"/>
            <a:ext cx="3731323" cy="2897180"/>
          </a:xfrm>
          <a:prstGeom prst="rect">
            <a:avLst/>
          </a:prstGeom>
          <a:noFill/>
          <a:ln>
            <a:noFill/>
          </a:ln>
        </p:spPr>
      </p:pic>
      <p:pic>
        <p:nvPicPr>
          <p:cNvPr id="17" name="图片 16"/>
          <p:cNvPicPr>
            <a:picLocks noChangeAspect="1"/>
          </p:cNvPicPr>
          <p:nvPr/>
        </p:nvPicPr>
        <p:blipFill>
          <a:blip r:embed="rId5"/>
          <a:srcRect l="1476" t="1176" r="2302" b="1528"/>
          <a:stretch>
            <a:fillRect/>
          </a:stretch>
        </p:blipFill>
        <p:spPr>
          <a:xfrm>
            <a:off x="1184728" y="2547199"/>
            <a:ext cx="2880318" cy="2851032"/>
          </a:xfrm>
          <a:prstGeom prst="rect">
            <a:avLst/>
          </a:prstGeom>
          <a:noFill/>
          <a:ln>
            <a:noFill/>
          </a:ln>
        </p:spPr>
      </p:pic>
      <p:pic>
        <p:nvPicPr>
          <p:cNvPr id="18" name="图片 17"/>
          <p:cNvPicPr>
            <a:picLocks noChangeAspect="1"/>
          </p:cNvPicPr>
          <p:nvPr/>
        </p:nvPicPr>
        <p:blipFill>
          <a:blip r:embed="rId6"/>
          <a:stretch>
            <a:fillRect/>
          </a:stretch>
        </p:blipFill>
        <p:spPr>
          <a:xfrm>
            <a:off x="4667348" y="2550212"/>
            <a:ext cx="3697574" cy="2875022"/>
          </a:xfrm>
          <a:prstGeom prst="rect">
            <a:avLst/>
          </a:prstGeom>
          <a:noFill/>
          <a:ln>
            <a:noFill/>
          </a:ln>
        </p:spPr>
      </p:pic>
    </p:spTree>
  </p:cSld>
  <p:clrMapOvr>
    <a:masterClrMapping/>
  </p:clrMapOvr>
  <p:transition spd="slow" advClick="0" advTm="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3.1.2</a:t>
            </a:r>
            <a:r>
              <a:rPr lang="zh-CN" altLang="en-US" sz="2100" b="1" dirty="0">
                <a:solidFill>
                  <a:schemeClr val="tx1">
                    <a:lumMod val="75000"/>
                    <a:lumOff val="25000"/>
                  </a:schemeClr>
                </a:solidFill>
                <a:latin typeface="微软雅黑" panose="020B0503020204020204" pitchFamily="34" charset="-122"/>
              </a:rPr>
              <a:t>灰度直方图的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文本框 7"/>
          <p:cNvSpPr txBox="1"/>
          <p:nvPr/>
        </p:nvSpPr>
        <p:spPr>
          <a:xfrm>
            <a:off x="355781" y="1688954"/>
            <a:ext cx="8261386" cy="461665"/>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图</a:t>
            </a:r>
            <a:r>
              <a:rPr lang="en-US" altLang="zh-CN" kern="100" dirty="0">
                <a:latin typeface="Times New Roman" panose="02020603050405020304" pitchFamily="18" charset="0"/>
                <a:ea typeface="宋体" pitchFamily="2" charset="-122"/>
                <a:cs typeface="Times New Roman" panose="02020603050405020304" pitchFamily="18" charset="0"/>
              </a:rPr>
              <a:t>3.5 (b)</a:t>
            </a:r>
            <a:r>
              <a:rPr lang="zh-CN" altLang="en-US" kern="100" dirty="0">
                <a:latin typeface="Times New Roman" panose="02020603050405020304" pitchFamily="18" charset="0"/>
                <a:ea typeface="宋体" pitchFamily="2" charset="-122"/>
                <a:cs typeface="Times New Roman" panose="02020603050405020304" pitchFamily="18" charset="0"/>
              </a:rPr>
              <a:t>所示，直方图上非零值较多，则这张图的对比度较低。</a:t>
            </a:r>
            <a:endParaRPr lang="zh-CN" altLang="en-US" dirty="0"/>
          </a:p>
        </p:txBody>
      </p:sp>
      <p:sp>
        <p:nvSpPr>
          <p:cNvPr id="12" name="文本框 11"/>
          <p:cNvSpPr txBox="1"/>
          <p:nvPr/>
        </p:nvSpPr>
        <p:spPr>
          <a:xfrm>
            <a:off x="1604039" y="5545428"/>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(a) </a:t>
            </a:r>
            <a:r>
              <a:rPr lang="zh-CN" altLang="zh-CN" sz="1600" b="1" dirty="0">
                <a:solidFill>
                  <a:srgbClr val="000000"/>
                </a:solidFill>
                <a:effectLst/>
                <a:ea typeface="宋体" pitchFamily="2" charset="-122"/>
                <a:cs typeface="宋体" pitchFamily="2" charset="-122"/>
              </a:rPr>
              <a:t>较</a:t>
            </a:r>
            <a:r>
              <a:rPr lang="zh-CN" altLang="en-US" sz="1600" b="1" dirty="0">
                <a:solidFill>
                  <a:srgbClr val="000000"/>
                </a:solidFill>
                <a:effectLst/>
                <a:ea typeface="宋体" pitchFamily="2" charset="-122"/>
                <a:cs typeface="宋体" pitchFamily="2" charset="-122"/>
              </a:rPr>
              <a:t>亮</a:t>
            </a:r>
            <a:r>
              <a:rPr lang="zh-CN" altLang="zh-CN" sz="1600" b="1" dirty="0">
                <a:solidFill>
                  <a:srgbClr val="000000"/>
                </a:solidFill>
                <a:effectLst/>
                <a:ea typeface="宋体" pitchFamily="2" charset="-122"/>
                <a:cs typeface="宋体" pitchFamily="2" charset="-122"/>
              </a:rPr>
              <a:t>的图像</a:t>
            </a:r>
            <a:endParaRPr lang="zh-CN" altLang="en-US" sz="1600" b="1" dirty="0"/>
          </a:p>
        </p:txBody>
      </p:sp>
      <p:sp>
        <p:nvSpPr>
          <p:cNvPr id="14" name="文本框 13"/>
          <p:cNvSpPr txBox="1"/>
          <p:nvPr/>
        </p:nvSpPr>
        <p:spPr>
          <a:xfrm>
            <a:off x="5796930" y="5535042"/>
            <a:ext cx="4589754" cy="338554"/>
          </a:xfrm>
          <a:prstGeom prst="rect">
            <a:avLst/>
          </a:prstGeom>
          <a:noFill/>
        </p:spPr>
        <p:txBody>
          <a:bodyPr wrap="square">
            <a:spAutoFit/>
          </a:bodyPr>
          <a:lstStyle/>
          <a:p>
            <a:r>
              <a:rPr lang="en-US" altLang="zh-CN" sz="1600" b="1" dirty="0">
                <a:solidFill>
                  <a:srgbClr val="000000"/>
                </a:solidFill>
                <a:effectLst/>
                <a:latin typeface="宋体" pitchFamily="2" charset="-122"/>
                <a:cs typeface="宋体" pitchFamily="2" charset="-122"/>
              </a:rPr>
              <a:t>(b)</a:t>
            </a:r>
            <a:r>
              <a:rPr lang="zh-CN" altLang="zh-CN" sz="1600" b="1" dirty="0">
                <a:solidFill>
                  <a:srgbClr val="000000"/>
                </a:solidFill>
                <a:effectLst/>
                <a:ea typeface="宋体" pitchFamily="2" charset="-122"/>
                <a:cs typeface="宋体" pitchFamily="2" charset="-122"/>
              </a:rPr>
              <a:t>灰度直方图</a:t>
            </a:r>
            <a:endParaRPr lang="zh-CN" altLang="en-US" sz="1600" b="1" dirty="0"/>
          </a:p>
        </p:txBody>
      </p:sp>
      <p:sp>
        <p:nvSpPr>
          <p:cNvPr id="16" name="文本框 15"/>
          <p:cNvSpPr txBox="1"/>
          <p:nvPr/>
        </p:nvSpPr>
        <p:spPr>
          <a:xfrm>
            <a:off x="1836490" y="5983404"/>
            <a:ext cx="5299968" cy="369332"/>
          </a:xfrm>
          <a:prstGeom prst="rect">
            <a:avLst/>
          </a:prstGeom>
          <a:noFill/>
        </p:spPr>
        <p:txBody>
          <a:bodyPr wrap="square">
            <a:spAutoFit/>
          </a:bodyPr>
          <a:lstStyle/>
          <a:p>
            <a:pPr indent="266700" algn="ctr"/>
            <a:r>
              <a:rPr lang="en-US" altLang="zh-CN" sz="1800" b="1" kern="0" dirty="0">
                <a:effectLst/>
                <a:latin typeface="黑体" panose="02010609060101010101" pitchFamily="49" charset="-122"/>
                <a:ea typeface="黑体" panose="02010609060101010101" pitchFamily="49" charset="-122"/>
              </a:rPr>
              <a:t>图3.6 </a:t>
            </a:r>
            <a:r>
              <a:rPr lang="zh-CN" altLang="en-US" sz="1800" b="1" kern="0" dirty="0">
                <a:effectLst/>
                <a:latin typeface="黑体" panose="02010609060101010101" pitchFamily="49" charset="-122"/>
                <a:ea typeface="黑体" panose="02010609060101010101" pitchFamily="49" charset="-122"/>
              </a:rPr>
              <a:t>对比度较大图像和灰度直方图</a:t>
            </a:r>
            <a:endParaRPr lang="zh-CN" altLang="zh-CN" sz="1800" b="1" kern="100" dirty="0">
              <a:effectLst/>
              <a:latin typeface="黑体" panose="02010609060101010101" pitchFamily="49" charset="-122"/>
              <a:ea typeface="黑体" panose="02010609060101010101" pitchFamily="49"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57" t="1" r="1822" b="2998"/>
          <a:stretch>
            <a:fillRect/>
          </a:stretch>
        </p:blipFill>
        <p:spPr>
          <a:xfrm>
            <a:off x="1188418" y="2538440"/>
            <a:ext cx="2880319" cy="2851033"/>
          </a:xfrm>
          <a:prstGeom prst="rect">
            <a:avLst/>
          </a:prstGeom>
          <a:noFill/>
          <a:ln>
            <a:noFill/>
          </a:ln>
        </p:spPr>
      </p:pic>
      <p:pic>
        <p:nvPicPr>
          <p:cNvPr id="15" name="图片 14"/>
          <p:cNvPicPr>
            <a:picLocks noChangeAspect="1"/>
          </p:cNvPicPr>
          <p:nvPr/>
        </p:nvPicPr>
        <p:blipFill>
          <a:blip r:embed="rId4"/>
          <a:stretch>
            <a:fillRect/>
          </a:stretch>
        </p:blipFill>
        <p:spPr>
          <a:xfrm>
            <a:off x="4671039" y="2538440"/>
            <a:ext cx="3731323" cy="2897180"/>
          </a:xfrm>
          <a:prstGeom prst="rect">
            <a:avLst/>
          </a:prstGeom>
          <a:noFill/>
          <a:ln>
            <a:noFill/>
          </a:ln>
        </p:spPr>
      </p:pic>
      <p:pic>
        <p:nvPicPr>
          <p:cNvPr id="17" name="图片 16"/>
          <p:cNvPicPr>
            <a:picLocks noChangeAspect="1"/>
          </p:cNvPicPr>
          <p:nvPr/>
        </p:nvPicPr>
        <p:blipFill>
          <a:blip r:embed="rId5"/>
          <a:srcRect l="1476" t="1176" r="2302" b="1528"/>
          <a:stretch>
            <a:fillRect/>
          </a:stretch>
        </p:blipFill>
        <p:spPr>
          <a:xfrm>
            <a:off x="1184728" y="2547199"/>
            <a:ext cx="2880318" cy="2851032"/>
          </a:xfrm>
          <a:prstGeom prst="rect">
            <a:avLst/>
          </a:prstGeom>
          <a:noFill/>
          <a:ln>
            <a:noFill/>
          </a:ln>
        </p:spPr>
      </p:pic>
      <p:pic>
        <p:nvPicPr>
          <p:cNvPr id="18" name="图片 17"/>
          <p:cNvPicPr>
            <a:picLocks noChangeAspect="1"/>
          </p:cNvPicPr>
          <p:nvPr/>
        </p:nvPicPr>
        <p:blipFill>
          <a:blip r:embed="rId6"/>
          <a:stretch>
            <a:fillRect/>
          </a:stretch>
        </p:blipFill>
        <p:spPr>
          <a:xfrm>
            <a:off x="4667348" y="2550212"/>
            <a:ext cx="3697574" cy="2875022"/>
          </a:xfrm>
          <a:prstGeom prst="rect">
            <a:avLst/>
          </a:prstGeom>
          <a:noFill/>
          <a:ln>
            <a:noFill/>
          </a:ln>
        </p:spPr>
      </p:pic>
      <p:pic>
        <p:nvPicPr>
          <p:cNvPr id="19" name="图片 18"/>
          <p:cNvPicPr>
            <a:picLocks noChangeAspect="1"/>
          </p:cNvPicPr>
          <p:nvPr/>
        </p:nvPicPr>
        <p:blipFill>
          <a:blip r:embed="rId7">
            <a:extLst>
              <a:ext uri="{28A0092B-C50C-407E-A947-70E740481C1C}">
                <a14:useLocalDpi xmlns:a14="http://schemas.microsoft.com/office/drawing/2010/main" val="0"/>
              </a:ext>
            </a:extLst>
          </a:blip>
          <a:srcRect l="1735" t="1764" r="2023" b="3587"/>
          <a:stretch>
            <a:fillRect/>
          </a:stretch>
        </p:blipFill>
        <p:spPr>
          <a:xfrm>
            <a:off x="1193158" y="2547198"/>
            <a:ext cx="2871887" cy="2842687"/>
          </a:xfrm>
          <a:prstGeom prst="rect">
            <a:avLst/>
          </a:prstGeom>
          <a:noFill/>
          <a:ln>
            <a:noFill/>
          </a:ln>
        </p:spPr>
      </p:pic>
      <p:pic>
        <p:nvPicPr>
          <p:cNvPr id="21" name="图片 20"/>
          <p:cNvPicPr>
            <a:picLocks noChangeAspect="1"/>
          </p:cNvPicPr>
          <p:nvPr/>
        </p:nvPicPr>
        <p:blipFill>
          <a:blip r:embed="rId8"/>
          <a:stretch>
            <a:fillRect/>
          </a:stretch>
        </p:blipFill>
        <p:spPr>
          <a:xfrm>
            <a:off x="4671038" y="2547197"/>
            <a:ext cx="3670055" cy="2842275"/>
          </a:xfrm>
          <a:prstGeom prst="rect">
            <a:avLst/>
          </a:prstGeom>
          <a:noFill/>
          <a:ln>
            <a:noFill/>
          </a:ln>
        </p:spPr>
      </p:pic>
    </p:spTree>
  </p:cSld>
  <p:clrMapOvr>
    <a:masterClrMapping/>
  </p:clrMapOvr>
  <p:transition spd="slow" advClick="0"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 </a:t>
            </a:r>
            <a:r>
              <a:rPr lang="zh-CN" altLang="en-US" sz="2100" b="1" dirty="0">
                <a:solidFill>
                  <a:schemeClr val="tx1">
                    <a:lumMod val="75000"/>
                    <a:lumOff val="25000"/>
                  </a:schemeClr>
                </a:solidFill>
                <a:latin typeface="微软雅黑" panose="020B0503020204020204" pitchFamily="34" charset="-122"/>
              </a:rPr>
              <a:t>直方图均衡化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3" name="文本框 2"/>
          <p:cNvSpPr txBox="1"/>
          <p:nvPr/>
        </p:nvSpPr>
        <p:spPr>
          <a:xfrm>
            <a:off x="712183" y="1341562"/>
            <a:ext cx="7715503" cy="1384995"/>
          </a:xfrm>
          <a:prstGeom prst="rect">
            <a:avLst/>
          </a:prstGeom>
          <a:noFill/>
        </p:spPr>
        <p:txBody>
          <a:bodyPr wrap="square" rtlCol="0">
            <a:spAutoFit/>
          </a:bodyPr>
          <a:lstStyle/>
          <a:p>
            <a:r>
              <a:rPr lang="en-US" altLang="zh-CN" dirty="0"/>
              <a:t>         </a:t>
            </a:r>
            <a:r>
              <a:rPr lang="zh-CN" altLang="en-US" dirty="0"/>
              <a:t>现实中经常会拍摄到不清晰的图片，为了使图片变得清晰，需要将灰度值的差别变大。直方图均衡化是把原始图像的灰度直方图从比较集中的某个灰度区间变成在全部灰度范围内的</a:t>
            </a:r>
            <a:r>
              <a:rPr lang="zh-CN" altLang="en-US" b="1" dirty="0"/>
              <a:t>均匀分布</a:t>
            </a:r>
            <a:r>
              <a:rPr lang="zh-CN" altLang="en-US" dirty="0"/>
              <a:t>的过程。</a:t>
            </a:r>
          </a:p>
        </p:txBody>
      </p:sp>
      <p:pic>
        <p:nvPicPr>
          <p:cNvPr id="9" name="图片 8"/>
          <p:cNvPicPr>
            <a:picLocks noChangeAspect="1"/>
          </p:cNvPicPr>
          <p:nvPr/>
        </p:nvPicPr>
        <p:blipFill>
          <a:blip r:embed="rId3"/>
          <a:stretch>
            <a:fillRect/>
          </a:stretch>
        </p:blipFill>
        <p:spPr>
          <a:xfrm>
            <a:off x="712183" y="2853731"/>
            <a:ext cx="3381809" cy="2736304"/>
          </a:xfrm>
          <a:prstGeom prst="rect">
            <a:avLst/>
          </a:prstGeom>
          <a:noFill/>
          <a:ln>
            <a:noFill/>
          </a:ln>
        </p:spPr>
      </p:pic>
      <p:pic>
        <p:nvPicPr>
          <p:cNvPr id="10" name="图片 9"/>
          <p:cNvPicPr>
            <a:picLocks noChangeAspect="1"/>
          </p:cNvPicPr>
          <p:nvPr/>
        </p:nvPicPr>
        <p:blipFill>
          <a:blip r:embed="rId4"/>
          <a:stretch>
            <a:fillRect/>
          </a:stretch>
        </p:blipFill>
        <p:spPr>
          <a:xfrm>
            <a:off x="5104285" y="2853731"/>
            <a:ext cx="3240360" cy="2718128"/>
          </a:xfrm>
          <a:prstGeom prst="rect">
            <a:avLst/>
          </a:prstGeom>
          <a:noFill/>
          <a:ln>
            <a:noFill/>
          </a:ln>
        </p:spPr>
      </p:pic>
      <p:sp>
        <p:nvSpPr>
          <p:cNvPr id="4" name="箭头: 右 3"/>
          <p:cNvSpPr/>
          <p:nvPr/>
        </p:nvSpPr>
        <p:spPr>
          <a:xfrm>
            <a:off x="4275102" y="4036494"/>
            <a:ext cx="648072" cy="19918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Tree>
  </p:cSld>
  <p:clrMapOvr>
    <a:masterClrMapping/>
  </p:clrMapOvr>
  <p:transition spd="slow" advClick="0"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3.2.1 </a:t>
            </a:r>
            <a:r>
              <a:rPr lang="zh-CN" altLang="en-US" sz="2100" b="1" dirty="0">
                <a:solidFill>
                  <a:schemeClr val="tx1">
                    <a:lumMod val="75000"/>
                    <a:lumOff val="25000"/>
                  </a:schemeClr>
                </a:solidFill>
                <a:latin typeface="微软雅黑" panose="020B0503020204020204" pitchFamily="34" charset="-122"/>
              </a:rPr>
              <a:t>直方图均衡化原理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3" name="文本框 2"/>
          <p:cNvSpPr txBox="1"/>
          <p:nvPr/>
        </p:nvSpPr>
        <p:spPr>
          <a:xfrm>
            <a:off x="712183" y="1341562"/>
            <a:ext cx="7715503" cy="1708160"/>
          </a:xfrm>
          <a:prstGeom prst="rect">
            <a:avLst/>
          </a:prstGeom>
          <a:noFill/>
        </p:spPr>
        <p:txBody>
          <a:bodyPr wrap="square" rtlCol="0">
            <a:spAutoFit/>
          </a:bodyPr>
          <a:lstStyle/>
          <a:p>
            <a:r>
              <a:rPr lang="zh-CN" altLang="en-US" dirty="0"/>
              <a:t>         直方图均衡化就是对图像进行非线性拉伸，均衡化处理后的图像像素占有尽可能多的灰度级并且分布均匀。</a:t>
            </a:r>
            <a:endParaRPr lang="en-US" altLang="zh-CN" dirty="0"/>
          </a:p>
          <a:p>
            <a:r>
              <a:rPr lang="zh-CN" altLang="en-US" dirty="0"/>
              <a:t>         用像素总数</a:t>
            </a:r>
            <a:r>
              <a:rPr lang="en-US" altLang="zh-CN" dirty="0"/>
              <a:t>n</a:t>
            </a:r>
            <a:r>
              <a:rPr lang="zh-CN" altLang="en-US" dirty="0"/>
              <a:t>去除各个灰度级中像素的总数</a:t>
            </a:r>
            <a:r>
              <a:rPr lang="en-US" altLang="zh-CN" dirty="0"/>
              <a:t>Ni</a:t>
            </a:r>
            <a:r>
              <a:rPr lang="zh-CN" altLang="en-US" dirty="0"/>
              <a:t>得到各个灰度级出现的概率</a:t>
            </a:r>
            <a:r>
              <a:rPr lang="en-US" altLang="zh-CN" dirty="0"/>
              <a:t>Pi</a:t>
            </a:r>
            <a:r>
              <a:rPr lang="zh-CN" altLang="en-US" dirty="0"/>
              <a:t>。以灰度级为横坐标，以各个灰度级出现的概率为纵坐标的直方图就是均衡化之后的直方图。具体如下：</a:t>
            </a:r>
            <a:endParaRPr lang="en-US" altLang="zh-CN" dirty="0"/>
          </a:p>
        </p:txBody>
      </p:sp>
      <mc:AlternateContent xmlns:mc="http://schemas.openxmlformats.org/markup-compatibility/2006" xmlns:a14="http://schemas.microsoft.com/office/drawing/2010/main">
        <mc:Choice Requires="a14">
          <p:sp>
            <p:nvSpPr>
              <p:cNvPr id="4" name="文本框 3"/>
              <p:cNvSpPr txBox="1"/>
              <p:nvPr/>
            </p:nvSpPr>
            <p:spPr>
              <a:xfrm>
                <a:off x="712183" y="3429794"/>
                <a:ext cx="7715502" cy="627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zh-CN" i="1" smtClean="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𝑝</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𝑖</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f>
                        <m:fPr>
                          <m:ctrlPr>
                            <a:rPr lang="zh-CN" altLang="zh-CN" i="1">
                              <a:effectLst/>
                              <a:latin typeface="Cambria Math" panose="02040503050406030204" pitchFamily="18" charset="0"/>
                              <a:ea typeface="Cambria Math" panose="02040503050406030204" pitchFamily="18" charset="0"/>
                            </a:rPr>
                          </m:ctrlPr>
                        </m:fPr>
                        <m:num>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𝑛</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𝑖</m:t>
                              </m:r>
                            </m:sub>
                          </m:sSub>
                        </m:num>
                        <m:den>
                          <m:r>
                            <a:rPr lang="en-US" altLang="zh-CN" sz="1800" i="1" kern="100">
                              <a:effectLst/>
                              <a:latin typeface="Cambria Math" panose="02040503050406030204" pitchFamily="18" charset="0"/>
                              <a:ea typeface="宋体" pitchFamily="2" charset="-122"/>
                              <a:cs typeface="Times New Roman" panose="02020603050405020304" pitchFamily="18" charset="0"/>
                            </a:rPr>
                            <m:t>𝑛</m:t>
                          </m:r>
                        </m:den>
                      </m:f>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𝑖</m:t>
                      </m:r>
                      <m:r>
                        <a:rPr lang="en-US" altLang="zh-CN" sz="1800" i="1" kern="100">
                          <a:effectLst/>
                          <a:latin typeface="Cambria Math" panose="02040503050406030204" pitchFamily="18" charset="0"/>
                          <a:ea typeface="宋体" pitchFamily="2" charset="-122"/>
                          <a:cs typeface="Times New Roman" panose="02020603050405020304" pitchFamily="18" charset="0"/>
                        </a:rPr>
                        <m:t>∈0,1,…,</m:t>
                      </m:r>
                      <m:r>
                        <a:rPr lang="en-US" altLang="zh-CN" sz="1800" i="1" kern="100">
                          <a:effectLst/>
                          <a:latin typeface="Cambria Math" panose="02040503050406030204" pitchFamily="18" charset="0"/>
                          <a:ea typeface="宋体" pitchFamily="2" charset="-122"/>
                          <a:cs typeface="Times New Roman" panose="02020603050405020304" pitchFamily="18" charset="0"/>
                        </a:rPr>
                        <m:t>𝐿</m:t>
                      </m:r>
                      <m:r>
                        <a:rPr lang="en-US" altLang="zh-CN" sz="1800" i="1" kern="100">
                          <a:effectLst/>
                          <a:latin typeface="Cambria Math" panose="02040503050406030204" pitchFamily="18" charset="0"/>
                          <a:ea typeface="宋体" pitchFamily="2" charset="-122"/>
                          <a:cs typeface="Times New Roman" panose="02020603050405020304" pitchFamily="18" charset="0"/>
                        </a:rPr>
                        <m:t>−1</m:t>
                      </m:r>
                      <m:r>
                        <a:rPr lang="en-US" altLang="zh-CN" sz="1800" kern="100">
                          <a:effectLst/>
                          <a:latin typeface="Cambria Math" panose="02040503050406030204" pitchFamily="18" charset="0"/>
                          <a:ea typeface="宋体" pitchFamily="2" charset="-122"/>
                          <a:cs typeface="Times New Roman" panose="02020603050405020304" pitchFamily="18" charset="0"/>
                        </a:rPr>
                        <m:t>(</m:t>
                      </m:r>
                      <m:r>
                        <m:rPr>
                          <m:sty m:val="p"/>
                        </m:rPr>
                        <a:rPr lang="en-US" altLang="zh-CN" sz="1800" kern="100">
                          <a:effectLst/>
                          <a:latin typeface="Cambria Math" panose="02040503050406030204" pitchFamily="18" charset="0"/>
                          <a:ea typeface="宋体" pitchFamily="2" charset="-122"/>
                          <a:cs typeface="Times New Roman" panose="02020603050405020304" pitchFamily="18" charset="0"/>
                        </a:rPr>
                        <m:t>L</m:t>
                      </m:r>
                      <m:r>
                        <a:rPr lang="zh-CN" altLang="zh-CN" sz="1800" kern="100">
                          <a:effectLst/>
                          <a:latin typeface="Cambria Math" panose="02040503050406030204" pitchFamily="18" charset="0"/>
                          <a:ea typeface="宋体" pitchFamily="2" charset="-122"/>
                          <a:cs typeface="Times New Roman" panose="02020603050405020304" pitchFamily="18" charset="0"/>
                        </a:rPr>
                        <m:t>为灰度级个数</m:t>
                      </m:r>
                      <m:r>
                        <a:rPr lang="en-US" altLang="zh-CN" sz="1800" kern="100">
                          <a:effectLst/>
                          <a:latin typeface="Cambria Math" panose="02040503050406030204" pitchFamily="18" charset="0"/>
                          <a:ea typeface="宋体" pitchFamily="2" charset="-122"/>
                          <a:cs typeface="Times New Roman" panose="02020603050405020304" pitchFamily="18" charset="0"/>
                        </a:rPr>
                        <m:t>)</m:t>
                      </m:r>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712183" y="3429794"/>
                <a:ext cx="7715502" cy="627223"/>
              </a:xfrm>
              <a:prstGeom prst="rect">
                <a:avLst/>
              </a:prstGeom>
              <a:blipFill rotWithShape="1">
                <a:blip r:embed="rId4"/>
                <a:stretch>
                  <a:fillRect l="-5" t="-25" r="8"/>
                </a:stretch>
              </a:blipFill>
            </p:spPr>
            <p:txBody>
              <a:bodyPr/>
              <a:lstStyle/>
              <a:p>
                <a:r>
                  <a:rPr lang="zh-CN" altLang="en-US">
                    <a:noFill/>
                  </a:rPr>
                  <a:t> </a:t>
                </a:r>
              </a:p>
            </p:txBody>
          </p:sp>
        </mc:Fallback>
      </mc:AlternateContent>
      <p:sp>
        <p:nvSpPr>
          <p:cNvPr id="17" name="文本框 16"/>
          <p:cNvSpPr txBox="1"/>
          <p:nvPr/>
        </p:nvSpPr>
        <p:spPr>
          <a:xfrm>
            <a:off x="7021066" y="3577259"/>
            <a:ext cx="819526" cy="369332"/>
          </a:xfrm>
          <a:prstGeom prst="rect">
            <a:avLst/>
          </a:prstGeom>
          <a:noFill/>
        </p:spPr>
        <p:txBody>
          <a:bodyPr wrap="square" rtlCol="0">
            <a:spAutoFit/>
          </a:bodyPr>
          <a:lstStyle/>
          <a:p>
            <a:r>
              <a:rPr lang="en-US" altLang="zh-CN" sz="1800" dirty="0">
                <a:effectLst/>
                <a:latin typeface="宋体" pitchFamily="2" charset="-122"/>
                <a:ea typeface="等线" panose="02010600030101010101" pitchFamily="2" charset="-122"/>
                <a:cs typeface="宋体" pitchFamily="2" charset="-122"/>
              </a:rPr>
              <a:t>(</a:t>
            </a:r>
            <a:r>
              <a:rPr lang="en-US" altLang="zh-CN" sz="1800" dirty="0">
                <a:effectLst/>
                <a:latin typeface="Times New Roman" panose="02020603050405020304" pitchFamily="18" charset="0"/>
                <a:ea typeface="宋体" pitchFamily="2" charset="-122"/>
              </a:rPr>
              <a:t>3-1</a:t>
            </a:r>
            <a:r>
              <a:rPr lang="en-US" altLang="zh-CN" sz="1800" dirty="0">
                <a:effectLst/>
                <a:latin typeface="宋体" pitchFamily="2" charset="-122"/>
                <a:ea typeface="等线" panose="02010600030101010101" pitchFamily="2" charset="-122"/>
                <a:cs typeface="宋体" pitchFamily="2" charset="-122"/>
              </a:rPr>
              <a:t>)</a:t>
            </a:r>
            <a:endParaRPr lang="zh-CN" altLang="en-US" dirty="0"/>
          </a:p>
        </p:txBody>
      </p:sp>
      <p:graphicFrame>
        <p:nvGraphicFramePr>
          <p:cNvPr id="19" name="对象 18"/>
          <p:cNvGraphicFramePr>
            <a:graphicFrameLocks noChangeAspect="1"/>
          </p:cNvGraphicFramePr>
          <p:nvPr/>
        </p:nvGraphicFramePr>
        <p:xfrm>
          <a:off x="3532374" y="4446682"/>
          <a:ext cx="2080839" cy="816337"/>
        </p:xfrm>
        <a:graphic>
          <a:graphicData uri="http://schemas.openxmlformats.org/presentationml/2006/ole">
            <mc:AlternateContent xmlns:mc="http://schemas.openxmlformats.org/markup-compatibility/2006">
              <mc:Choice xmlns:v="urn:schemas-microsoft-com:vml" Requires="v">
                <p:oleObj spid="_x0000_s1026" r:id="rId5" imgW="838200" imgH="444500" progId="Equation.3">
                  <p:embed/>
                </p:oleObj>
              </mc:Choice>
              <mc:Fallback>
                <p:oleObj r:id="rId5" imgW="838200" imgH="4445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2374" y="4446682"/>
                        <a:ext cx="2080839" cy="816337"/>
                      </a:xfrm>
                      <a:prstGeom prst="rect">
                        <a:avLst/>
                      </a:prstGeom>
                      <a:noFill/>
                    </p:spPr>
                  </p:pic>
                </p:oleObj>
              </mc:Fallback>
            </mc:AlternateContent>
          </a:graphicData>
        </a:graphic>
      </p:graphicFrame>
      <p:sp>
        <p:nvSpPr>
          <p:cNvPr id="20" name="文本框 19"/>
          <p:cNvSpPr txBox="1"/>
          <p:nvPr/>
        </p:nvSpPr>
        <p:spPr>
          <a:xfrm>
            <a:off x="7021066" y="4677319"/>
            <a:ext cx="819526" cy="369332"/>
          </a:xfrm>
          <a:prstGeom prst="rect">
            <a:avLst/>
          </a:prstGeom>
          <a:noFill/>
        </p:spPr>
        <p:txBody>
          <a:bodyPr wrap="square" rtlCol="0">
            <a:spAutoFit/>
          </a:bodyPr>
          <a:lstStyle/>
          <a:p>
            <a:r>
              <a:rPr lang="en-US" altLang="zh-CN" sz="1800" dirty="0">
                <a:effectLst/>
                <a:latin typeface="宋体" pitchFamily="2" charset="-122"/>
                <a:cs typeface="宋体" pitchFamily="2" charset="-122"/>
              </a:rPr>
              <a:t>(</a:t>
            </a:r>
            <a:r>
              <a:rPr lang="en-US" altLang="zh-CN" sz="1800" dirty="0">
                <a:effectLst/>
                <a:latin typeface="Times New Roman" panose="02020603050405020304" pitchFamily="18" charset="0"/>
                <a:ea typeface="宋体" pitchFamily="2" charset="-122"/>
              </a:rPr>
              <a:t>3-2)</a:t>
            </a:r>
            <a:endParaRPr lang="zh-CN" altLang="en-US" dirty="0"/>
          </a:p>
        </p:txBody>
      </p:sp>
      <p:graphicFrame>
        <p:nvGraphicFramePr>
          <p:cNvPr id="22" name="对象 21"/>
          <p:cNvGraphicFramePr>
            <a:graphicFrameLocks noChangeAspect="1"/>
          </p:cNvGraphicFramePr>
          <p:nvPr/>
        </p:nvGraphicFramePr>
        <p:xfrm>
          <a:off x="3689266" y="5693426"/>
          <a:ext cx="1767056" cy="497488"/>
        </p:xfrm>
        <a:graphic>
          <a:graphicData uri="http://schemas.openxmlformats.org/presentationml/2006/ole">
            <mc:AlternateContent xmlns:mc="http://schemas.openxmlformats.org/markup-compatibility/2006">
              <mc:Choice xmlns:v="urn:schemas-microsoft-com:vml" Requires="v">
                <p:oleObj spid="_x0000_s1027" r:id="rId7" imgW="787400" imgH="228600" progId="Equation.3">
                  <p:embed/>
                </p:oleObj>
              </mc:Choice>
              <mc:Fallback>
                <p:oleObj r:id="rId7" imgW="787400" imgH="2286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9266" y="5693426"/>
                        <a:ext cx="1767056" cy="497488"/>
                      </a:xfrm>
                      <a:prstGeom prst="rect">
                        <a:avLst/>
                      </a:prstGeom>
                      <a:noFill/>
                    </p:spPr>
                  </p:pic>
                </p:oleObj>
              </mc:Fallback>
            </mc:AlternateContent>
          </a:graphicData>
        </a:graphic>
      </p:graphicFrame>
      <p:sp>
        <p:nvSpPr>
          <p:cNvPr id="23" name="文本框 22"/>
          <p:cNvSpPr txBox="1"/>
          <p:nvPr/>
        </p:nvSpPr>
        <p:spPr>
          <a:xfrm>
            <a:off x="6954394" y="5780384"/>
            <a:ext cx="886198" cy="369332"/>
          </a:xfrm>
          <a:prstGeom prst="rect">
            <a:avLst/>
          </a:prstGeom>
          <a:noFill/>
        </p:spPr>
        <p:txBody>
          <a:bodyPr wrap="square" rtlCol="0">
            <a:spAutoFit/>
          </a:bodyPr>
          <a:lstStyle/>
          <a:p>
            <a:r>
              <a:rPr lang="en-US" altLang="zh-CN" sz="1800" dirty="0">
                <a:effectLst/>
                <a:latin typeface="Times New Roman" panose="02020603050405020304" pitchFamily="18" charset="0"/>
                <a:ea typeface="宋体" pitchFamily="2" charset="-122"/>
              </a:rPr>
              <a:t>  (3-3)</a:t>
            </a:r>
            <a:endParaRPr lang="zh-CN" altLang="en-US" dirty="0"/>
          </a:p>
        </p:txBody>
      </p:sp>
      <p:sp>
        <p:nvSpPr>
          <p:cNvPr id="24" name="文本框 23"/>
          <p:cNvSpPr txBox="1"/>
          <p:nvPr/>
        </p:nvSpPr>
        <p:spPr>
          <a:xfrm>
            <a:off x="712183" y="3064654"/>
            <a:ext cx="5328592" cy="692497"/>
          </a:xfrm>
          <a:prstGeom prst="rect">
            <a:avLst/>
          </a:prstGeom>
          <a:noFill/>
        </p:spPr>
        <p:txBody>
          <a:bodyPr wrap="square" rtlCol="0">
            <a:spAutoFit/>
          </a:bodyPr>
          <a:lstStyle/>
          <a:p>
            <a:r>
              <a:rPr lang="zh-CN" altLang="zh-CN" sz="1800" kern="100" dirty="0">
                <a:effectLst/>
                <a:latin typeface="Times New Roman" panose="02020603050405020304" pitchFamily="18" charset="0"/>
                <a:ea typeface="宋体" pitchFamily="2" charset="-122"/>
              </a:rPr>
              <a:t>首先计算图像的各灰度级中像素出现的概率</a:t>
            </a:r>
            <a:r>
              <a:rPr lang="en-US" altLang="zh-CN" sz="1800" i="1" kern="100" dirty="0">
                <a:effectLst/>
                <a:latin typeface="Times New Roman" panose="02020603050405020304" pitchFamily="18" charset="0"/>
                <a:ea typeface="宋体" pitchFamily="2" charset="-122"/>
              </a:rPr>
              <a:t>P</a:t>
            </a:r>
            <a:r>
              <a:rPr lang="en-US" altLang="zh-CN" sz="1800" i="1" kern="100" baseline="-25000" dirty="0">
                <a:effectLst/>
                <a:latin typeface="Times New Roman" panose="02020603050405020304" pitchFamily="18" charset="0"/>
                <a:ea typeface="宋体" pitchFamily="2" charset="-122"/>
              </a:rPr>
              <a:t>i</a:t>
            </a:r>
            <a:r>
              <a:rPr lang="zh-CN" altLang="zh-CN" sz="1800" kern="100" dirty="0">
                <a:effectLst/>
                <a:latin typeface="Times New Roman" panose="02020603050405020304" pitchFamily="18" charset="0"/>
                <a:ea typeface="宋体" pitchFamily="2" charset="-122"/>
              </a:rPr>
              <a:t>。</a:t>
            </a:r>
          </a:p>
          <a:p>
            <a:endParaRPr lang="zh-CN" altLang="en-US" dirty="0"/>
          </a:p>
        </p:txBody>
      </p:sp>
      <p:sp>
        <p:nvSpPr>
          <p:cNvPr id="29" name="文本框 28"/>
          <p:cNvSpPr txBox="1"/>
          <p:nvPr/>
        </p:nvSpPr>
        <p:spPr>
          <a:xfrm>
            <a:off x="756370" y="4084392"/>
            <a:ext cx="5328592" cy="369332"/>
          </a:xfrm>
          <a:prstGeom prst="rect">
            <a:avLst/>
          </a:prstGeom>
          <a:noFill/>
        </p:spPr>
        <p:txBody>
          <a:bodyPr wrap="square" rtlCol="0">
            <a:spAutoFit/>
          </a:bodyPr>
          <a:lstStyle/>
          <a:p>
            <a:r>
              <a:rPr lang="zh-CN" altLang="zh-CN" sz="1800" kern="100">
                <a:effectLst/>
                <a:latin typeface="Times New Roman" panose="02020603050405020304" pitchFamily="18" charset="0"/>
                <a:ea typeface="宋体" pitchFamily="2" charset="-122"/>
                <a:cs typeface="Times New Roman" panose="02020603050405020304" pitchFamily="18" charset="0"/>
              </a:rPr>
              <a:t>之后计算</a:t>
            </a:r>
            <a:endParaRPr lang="zh-CN" altLang="en-US" dirty="0"/>
          </a:p>
        </p:txBody>
      </p:sp>
      <mc:AlternateContent xmlns:mc="http://schemas.openxmlformats.org/markup-compatibility/2006" xmlns:a14="http://schemas.microsoft.com/office/drawing/2010/main">
        <mc:Choice Requires="a14">
          <p:sp>
            <p:nvSpPr>
              <p:cNvPr id="40" name="文本框 39"/>
              <p:cNvSpPr txBox="1"/>
              <p:nvPr/>
            </p:nvSpPr>
            <p:spPr>
              <a:xfrm>
                <a:off x="-1916376" y="4061309"/>
                <a:ext cx="7470648"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𝑝</m:t>
                      </m:r>
                    </m:oMath>
                  </m:oMathPara>
                </a14:m>
                <a:endParaRPr lang="zh-CN" altLang="en-US" dirty="0"/>
              </a:p>
            </p:txBody>
          </p:sp>
        </mc:Choice>
        <mc:Fallback xmlns="">
          <p:sp>
            <p:nvSpPr>
              <p:cNvPr id="40" name="文本框 39"/>
              <p:cNvSpPr txBox="1">
                <a:spLocks noRot="1" noChangeAspect="1" noMove="1" noResize="1" noEditPoints="1" noAdjustHandles="1" noChangeArrowheads="1" noChangeShapeType="1" noTextEdit="1"/>
              </p:cNvSpPr>
              <p:nvPr/>
            </p:nvSpPr>
            <p:spPr>
              <a:xfrm>
                <a:off x="-1916376" y="4061309"/>
                <a:ext cx="7470648" cy="415498"/>
              </a:xfrm>
              <a:prstGeom prst="rect">
                <a:avLst/>
              </a:prstGeom>
              <a:blipFill rotWithShape="1">
                <a:blip r:embed="rId9"/>
                <a:stretch>
                  <a:fillRect l="8" t="-116" r="8" b="-1056"/>
                </a:stretch>
              </a:blipFill>
            </p:spPr>
            <p:txBody>
              <a:bodyPr/>
              <a:lstStyle/>
              <a:p>
                <a:r>
                  <a:rPr lang="zh-CN" altLang="en-US">
                    <a:noFill/>
                  </a:rPr>
                  <a:t> </a:t>
                </a:r>
              </a:p>
            </p:txBody>
          </p:sp>
        </mc:Fallback>
      </mc:AlternateContent>
      <p:sp>
        <p:nvSpPr>
          <p:cNvPr id="39" name="文本框 38"/>
          <p:cNvSpPr txBox="1"/>
          <p:nvPr/>
        </p:nvSpPr>
        <p:spPr>
          <a:xfrm>
            <a:off x="1818948" y="4094840"/>
            <a:ext cx="3078173" cy="369332"/>
          </a:xfrm>
          <a:prstGeom prst="rect">
            <a:avLst/>
          </a:prstGeom>
          <a:noFill/>
        </p:spPr>
        <p:txBody>
          <a:bodyPr wrap="square" rtlCol="0">
            <a:spAutoFit/>
          </a:bodyPr>
          <a:lstStyle/>
          <a:p>
            <a:r>
              <a:rPr lang="zh-CN" altLang="zh-CN" sz="1800" kern="100" dirty="0">
                <a:effectLst/>
                <a:latin typeface="Times New Roman" panose="02020603050405020304" pitchFamily="18" charset="0"/>
                <a:ea typeface="宋体" pitchFamily="2" charset="-122"/>
                <a:cs typeface="Times New Roman" panose="02020603050405020304" pitchFamily="18" charset="0"/>
              </a:rPr>
              <a:t>的累计概率函数</a:t>
            </a:r>
            <a:endParaRPr lang="zh-CN" altLang="en-US" dirty="0"/>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5" name="对象 44"/>
          <p:cNvGraphicFramePr>
            <a:graphicFrameLocks noChangeAspect="1"/>
          </p:cNvGraphicFramePr>
          <p:nvPr/>
        </p:nvGraphicFramePr>
        <p:xfrm>
          <a:off x="3532374" y="4025025"/>
          <a:ext cx="289605" cy="490099"/>
        </p:xfrm>
        <a:graphic>
          <a:graphicData uri="http://schemas.openxmlformats.org/presentationml/2006/ole">
            <mc:AlternateContent xmlns:mc="http://schemas.openxmlformats.org/markup-compatibility/2006">
              <mc:Choice xmlns:v="urn:schemas-microsoft-com:vml" Requires="v">
                <p:oleObj spid="_x0000_s1028" r:id="rId10" imgW="139700" imgH="228600" progId="Equation.3">
                  <p:embed/>
                </p:oleObj>
              </mc:Choice>
              <mc:Fallback>
                <p:oleObj r:id="rId10" imgW="139700" imgH="228600" progId="Equation.3">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32374" y="4025025"/>
                        <a:ext cx="289605" cy="490099"/>
                      </a:xfrm>
                      <a:prstGeom prst="rect">
                        <a:avLst/>
                      </a:prstGeom>
                      <a:noFill/>
                    </p:spPr>
                  </p:pic>
                </p:oleObj>
              </mc:Fallback>
            </mc:AlternateContent>
          </a:graphicData>
        </a:graphic>
      </p:graphicFrame>
      <p:sp>
        <p:nvSpPr>
          <p:cNvPr id="52" name="文本框 51"/>
          <p:cNvSpPr txBox="1"/>
          <p:nvPr/>
        </p:nvSpPr>
        <p:spPr>
          <a:xfrm>
            <a:off x="3686383" y="4116201"/>
            <a:ext cx="615765" cy="415498"/>
          </a:xfrm>
          <a:prstGeom prst="rect">
            <a:avLst/>
          </a:prstGeom>
          <a:noFill/>
        </p:spPr>
        <p:txBody>
          <a:bodyPr wrap="square" rtlCol="0">
            <a:spAutoFit/>
          </a:bodyPr>
          <a:lstStyle/>
          <a:p>
            <a:r>
              <a:rPr lang="zh-CN" altLang="en-US" dirty="0"/>
              <a:t>。</a:t>
            </a:r>
          </a:p>
        </p:txBody>
      </p:sp>
      <p:sp>
        <p:nvSpPr>
          <p:cNvPr id="60" name="文本框 59"/>
          <p:cNvSpPr txBox="1"/>
          <p:nvPr/>
        </p:nvSpPr>
        <p:spPr>
          <a:xfrm>
            <a:off x="760241" y="5346035"/>
            <a:ext cx="3816424" cy="369332"/>
          </a:xfrm>
          <a:prstGeom prst="rect">
            <a:avLst/>
          </a:prstGeom>
          <a:noFill/>
        </p:spPr>
        <p:txBody>
          <a:bodyPr wrap="square" rtlCol="0">
            <a:spAutoFit/>
          </a:bodyPr>
          <a:lstStyle/>
          <a:p>
            <a:r>
              <a:rPr lang="zh-CN" altLang="en-US" sz="1800" dirty="0"/>
              <a:t>最后将</a:t>
            </a:r>
          </a:p>
        </p:txBody>
      </p:sp>
      <p:graphicFrame>
        <p:nvGraphicFramePr>
          <p:cNvPr id="65" name="对象 64"/>
          <p:cNvGraphicFramePr>
            <a:graphicFrameLocks noChangeAspect="1"/>
          </p:cNvGraphicFramePr>
          <p:nvPr/>
        </p:nvGraphicFramePr>
        <p:xfrm>
          <a:off x="1529343" y="5294868"/>
          <a:ext cx="289605" cy="490099"/>
        </p:xfrm>
        <a:graphic>
          <a:graphicData uri="http://schemas.openxmlformats.org/presentationml/2006/ole">
            <mc:AlternateContent xmlns:mc="http://schemas.openxmlformats.org/markup-compatibility/2006">
              <mc:Choice xmlns:v="urn:schemas-microsoft-com:vml" Requires="v">
                <p:oleObj spid="_x0000_s1029" r:id="rId12" imgW="139700" imgH="228600" progId="Equation.3">
                  <p:embed/>
                </p:oleObj>
              </mc:Choice>
              <mc:Fallback>
                <p:oleObj r:id="rId12" imgW="139700" imgH="228600" progId="Equation.3">
                  <p:embed/>
                  <p:pic>
                    <p:nvPicPr>
                      <p:cNvPr id="0" name="对象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9343" y="5294868"/>
                        <a:ext cx="289605" cy="490099"/>
                      </a:xfrm>
                      <a:prstGeom prst="rect">
                        <a:avLst/>
                      </a:prstGeom>
                      <a:noFill/>
                    </p:spPr>
                  </p:pic>
                </p:oleObj>
              </mc:Fallback>
            </mc:AlternateContent>
          </a:graphicData>
        </a:graphic>
      </p:graphicFrame>
      <p:sp>
        <p:nvSpPr>
          <p:cNvPr id="67" name="文本框 66"/>
          <p:cNvSpPr txBox="1"/>
          <p:nvPr/>
        </p:nvSpPr>
        <p:spPr>
          <a:xfrm>
            <a:off x="1729553" y="5363631"/>
            <a:ext cx="6225452"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宋体" pitchFamily="2" charset="-122"/>
                <a:cs typeface="Times New Roman" panose="02020603050405020304" pitchFamily="18" charset="0"/>
              </a:rPr>
              <a:t>缩放至</a:t>
            </a:r>
            <a:r>
              <a:rPr lang="en-US" altLang="zh-CN" sz="1800" kern="100" dirty="0">
                <a:effectLst/>
                <a:latin typeface="Times New Roman" panose="02020603050405020304" pitchFamily="18" charset="0"/>
                <a:ea typeface="宋体" pitchFamily="2" charset="-122"/>
              </a:rPr>
              <a:t>0~255</a:t>
            </a:r>
            <a:r>
              <a:rPr lang="zh-CN" altLang="zh-CN" sz="1800" kern="100" dirty="0">
                <a:effectLst/>
                <a:latin typeface="Times New Roman" panose="02020603050405020304" pitchFamily="18" charset="0"/>
                <a:ea typeface="宋体" pitchFamily="2" charset="-122"/>
                <a:cs typeface="Times New Roman" panose="02020603050405020304" pitchFamily="18" charset="0"/>
              </a:rPr>
              <a:t>范围内</a:t>
            </a:r>
            <a:r>
              <a:rPr lang="zh-CN" altLang="en-US" sz="1800" kern="100" dirty="0">
                <a:effectLst/>
                <a:latin typeface="Times New Roman" panose="02020603050405020304" pitchFamily="18" charset="0"/>
                <a:ea typeface="宋体" pitchFamily="2" charset="-122"/>
                <a:cs typeface="Times New Roman" panose="02020603050405020304" pitchFamily="18" charset="0"/>
              </a:rPr>
              <a:t>。</a:t>
            </a:r>
            <a:endParaRPr lang="zh-CN" altLang="en-US" sz="1800" dirty="0"/>
          </a:p>
        </p:txBody>
      </p:sp>
    </p:spTree>
  </p:cSld>
  <p:clrMapOvr>
    <a:masterClrMapping/>
  </p:clrMapOvr>
  <p:transition spd="slow" advClick="0"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p:cNvSpPr txBox="1"/>
          <p:nvPr/>
        </p:nvSpPr>
        <p:spPr>
          <a:xfrm>
            <a:off x="717902" y="1931695"/>
            <a:ext cx="6552728" cy="415498"/>
          </a:xfrm>
          <a:prstGeom prst="rect">
            <a:avLst/>
          </a:prstGeom>
          <a:noFill/>
        </p:spPr>
        <p:txBody>
          <a:bodyPr wrap="square" rtlCol="0">
            <a:spAutoFit/>
          </a:bodyPr>
          <a:lstStyle/>
          <a:p>
            <a:r>
              <a:rPr lang="en-US" altLang="zh-CN" dirty="0"/>
              <a:t>          </a:t>
            </a:r>
            <a:endParaRPr lang="zh-CN" altLang="en-US" dirty="0"/>
          </a:p>
        </p:txBody>
      </p:sp>
      <p:sp>
        <p:nvSpPr>
          <p:cNvPr id="3" name="文本框 2"/>
          <p:cNvSpPr txBox="1"/>
          <p:nvPr/>
        </p:nvSpPr>
        <p:spPr>
          <a:xfrm>
            <a:off x="712183" y="1341562"/>
            <a:ext cx="7715503" cy="1061829"/>
          </a:xfrm>
          <a:prstGeom prst="rect">
            <a:avLst/>
          </a:prstGeom>
          <a:noFill/>
        </p:spPr>
        <p:txBody>
          <a:bodyPr wrap="square" rtlCol="0">
            <a:spAutoFit/>
          </a:bodyPr>
          <a:lstStyle/>
          <a:p>
            <a:r>
              <a:rPr lang="zh-CN" altLang="en-US" dirty="0"/>
              <a:t>         基于</a:t>
            </a:r>
            <a:r>
              <a:rPr lang="en-US" altLang="zh-CN" dirty="0"/>
              <a:t>python</a:t>
            </a:r>
            <a:r>
              <a:rPr lang="zh-CN" altLang="en-US" dirty="0"/>
              <a:t>的</a:t>
            </a:r>
            <a:r>
              <a:rPr lang="en-US" altLang="zh-CN" dirty="0"/>
              <a:t>OpenCV</a:t>
            </a:r>
            <a:r>
              <a:rPr lang="zh-CN" altLang="en-US" dirty="0"/>
              <a:t>提供了一个</a:t>
            </a:r>
            <a:r>
              <a:rPr lang="en-US" altLang="zh-CN" dirty="0" err="1"/>
              <a:t>equalizeHist</a:t>
            </a:r>
            <a:r>
              <a:rPr lang="en-US" altLang="zh-CN" dirty="0"/>
              <a:t>()</a:t>
            </a:r>
            <a:r>
              <a:rPr lang="zh-CN" altLang="en-US" dirty="0"/>
              <a:t>函数用于图像均衡化，调用语法为：</a:t>
            </a:r>
            <a:r>
              <a:rPr lang="en-US" altLang="zh-CN" dirty="0"/>
              <a:t>cv2.equalizeHist(</a:t>
            </a:r>
            <a:r>
              <a:rPr lang="en-US" altLang="zh-CN" dirty="0" err="1"/>
              <a:t>img</a:t>
            </a:r>
            <a:r>
              <a:rPr lang="en-US" altLang="zh-CN" dirty="0"/>
              <a:t>)</a:t>
            </a:r>
          </a:p>
          <a:p>
            <a:r>
              <a:rPr lang="en-US" altLang="zh-CN" dirty="0"/>
              <a:t>         </a:t>
            </a:r>
            <a:r>
              <a:rPr lang="zh-CN" altLang="en-US" dirty="0"/>
              <a:t>直方图均衡化的实现程序如下：</a:t>
            </a: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1044402" y="2403391"/>
            <a:ext cx="7743324" cy="3323987"/>
          </a:xfrm>
          <a:prstGeom prst="rect">
            <a:avLst/>
          </a:prstGeom>
          <a:noFill/>
        </p:spPr>
        <p:txBody>
          <a:bodyPr wrap="square" rtlCol="0">
            <a:spAutoFit/>
          </a:bodyPr>
          <a:lstStyle/>
          <a:p>
            <a:pPr indent="266700" algn="just"/>
            <a:r>
              <a:rPr lang="en-US" altLang="zh-CN" kern="100" dirty="0">
                <a:solidFill>
                  <a:srgbClr val="000000"/>
                </a:solidFill>
                <a:effectLst/>
                <a:latin typeface="Times New Roman" panose="02020603050405020304" pitchFamily="18" charset="0"/>
                <a:ea typeface="宋体" pitchFamily="2" charset="-122"/>
              </a:rPr>
              <a:t>import cv2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import </a:t>
            </a:r>
            <a:r>
              <a:rPr lang="en-US" altLang="zh-CN" kern="100" dirty="0" err="1">
                <a:solidFill>
                  <a:srgbClr val="000000"/>
                </a:solidFill>
                <a:effectLst/>
                <a:latin typeface="Times New Roman" panose="02020603050405020304" pitchFamily="18" charset="0"/>
                <a:ea typeface="宋体" pitchFamily="2" charset="-122"/>
              </a:rPr>
              <a:t>numpy</a:t>
            </a:r>
            <a:r>
              <a:rPr lang="en-US" altLang="zh-CN" kern="100" dirty="0">
                <a:solidFill>
                  <a:srgbClr val="000000"/>
                </a:solidFill>
                <a:effectLst/>
                <a:latin typeface="Times New Roman" panose="02020603050405020304" pitchFamily="18" charset="0"/>
                <a:ea typeface="宋体" pitchFamily="2" charset="-122"/>
              </a:rPr>
              <a:t> as np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from matplotlib import </a:t>
            </a:r>
            <a:r>
              <a:rPr lang="en-US" altLang="zh-CN" kern="100" dirty="0" err="1">
                <a:solidFill>
                  <a:srgbClr val="000000"/>
                </a:solidFill>
                <a:effectLst/>
                <a:latin typeface="Times New Roman" panose="02020603050405020304" pitchFamily="18" charset="0"/>
                <a:ea typeface="宋体" pitchFamily="2" charset="-122"/>
              </a:rPr>
              <a:t>pyplot</a:t>
            </a:r>
            <a:r>
              <a:rPr lang="en-US" altLang="zh-CN" kern="100" dirty="0">
                <a:solidFill>
                  <a:srgbClr val="000000"/>
                </a:solidFill>
                <a:effectLst/>
                <a:latin typeface="Times New Roman" panose="02020603050405020304" pitchFamily="18" charset="0"/>
                <a:ea typeface="宋体" pitchFamily="2" charset="-122"/>
              </a:rPr>
              <a:t> as </a:t>
            </a:r>
            <a:r>
              <a:rPr lang="en-US" altLang="zh-CN" kern="100" dirty="0" err="1">
                <a:solidFill>
                  <a:srgbClr val="000000"/>
                </a:solidFill>
                <a:effectLst/>
                <a:latin typeface="Times New Roman" panose="02020603050405020304" pitchFamily="18" charset="0"/>
                <a:ea typeface="宋体" pitchFamily="2" charset="-122"/>
              </a:rPr>
              <a:t>plt</a:t>
            </a:r>
            <a:r>
              <a:rPr lang="en-US" altLang="zh-CN" kern="100" dirty="0">
                <a:solidFill>
                  <a:srgbClr val="000000"/>
                </a:solidFill>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 cv2.imread('gray.jpg',0)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equal = cv2.equalizeHist(</a:t>
            </a:r>
            <a:r>
              <a:rPr lang="en-US" altLang="zh-CN" kern="100" dirty="0" err="1">
                <a:solidFill>
                  <a:srgbClr val="000000"/>
                </a:solidFill>
                <a:effectLst/>
                <a:latin typeface="Times New Roman" panose="02020603050405020304" pitchFamily="18" charset="0"/>
                <a:ea typeface="宋体" pitchFamily="2" charset="-122"/>
              </a:rPr>
              <a:t>img</a:t>
            </a:r>
            <a:r>
              <a:rPr lang="en-US" altLang="zh-CN" kern="100" dirty="0">
                <a:solidFill>
                  <a:srgbClr val="000000"/>
                </a:solidFill>
                <a:effectLst/>
                <a:latin typeface="Times New Roman" panose="02020603050405020304" pitchFamily="18" charset="0"/>
                <a:ea typeface="宋体" pitchFamily="2" charset="-122"/>
              </a:rPr>
              <a:t>)		#</a:t>
            </a:r>
            <a:r>
              <a:rPr lang="zh-CN" altLang="zh-CN" kern="100" dirty="0">
                <a:solidFill>
                  <a:srgbClr val="000000"/>
                </a:solidFill>
                <a:effectLst/>
                <a:latin typeface="Times New Roman" panose="02020603050405020304" pitchFamily="18" charset="0"/>
                <a:ea typeface="宋体" pitchFamily="2" charset="-122"/>
              </a:rPr>
              <a:t>直方图均衡化</a:t>
            </a:r>
            <a:r>
              <a:rPr lang="en-US" altLang="zh-CN" kern="100" dirty="0">
                <a:solidFill>
                  <a:srgbClr val="000000"/>
                </a:solidFill>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hist = cv2.calcHist([equal], [0], None,[256], [0,256])  </a:t>
            </a:r>
            <a:endParaRPr lang="zh-CN" altLang="zh-CN" kern="100" dirty="0">
              <a:effectLst/>
              <a:latin typeface="Times New Roman" panose="02020603050405020304" pitchFamily="18" charset="0"/>
              <a:ea typeface="宋体" pitchFamily="2" charset="-122"/>
            </a:endParaRPr>
          </a:p>
          <a:p>
            <a:pPr indent="266700" algn="just"/>
            <a:r>
              <a:rPr lang="en-US" altLang="zh-CN" kern="100" dirty="0">
                <a:solidFill>
                  <a:srgbClr val="000000"/>
                </a:solidFill>
                <a:effectLst/>
                <a:latin typeface="Times New Roman" panose="02020603050405020304" pitchFamily="18" charset="0"/>
                <a:ea typeface="宋体" pitchFamily="2" charset="-122"/>
              </a:rPr>
              <a:t>cv2.imshow("</a:t>
            </a:r>
            <a:r>
              <a:rPr lang="en-US" altLang="zh-CN" kern="100" dirty="0" err="1">
                <a:solidFill>
                  <a:srgbClr val="000000"/>
                </a:solidFill>
                <a:effectLst/>
                <a:latin typeface="Times New Roman" panose="02020603050405020304" pitchFamily="18" charset="0"/>
                <a:ea typeface="宋体" pitchFamily="2" charset="-122"/>
              </a:rPr>
              <a:t>equal",equal</a:t>
            </a:r>
            <a:r>
              <a:rPr lang="en-US" altLang="zh-CN" kern="100" dirty="0">
                <a:solidFill>
                  <a:srgbClr val="000000"/>
                </a:solidFill>
                <a:effectLst/>
                <a:latin typeface="Times New Roman" panose="02020603050405020304" pitchFamily="18" charset="0"/>
                <a:ea typeface="宋体" pitchFamily="2" charset="-122"/>
              </a:rPr>
              <a:t>)</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plt.hist</a:t>
            </a:r>
            <a:r>
              <a:rPr lang="en-US" altLang="zh-CN" kern="100" dirty="0">
                <a:solidFill>
                  <a:srgbClr val="000000"/>
                </a:solidFill>
                <a:effectLst/>
                <a:latin typeface="Times New Roman" panose="02020603050405020304" pitchFamily="18" charset="0"/>
                <a:ea typeface="宋体" pitchFamily="2" charset="-122"/>
              </a:rPr>
              <a:t>(</a:t>
            </a:r>
            <a:r>
              <a:rPr lang="en-US" altLang="zh-CN" kern="100" dirty="0" err="1">
                <a:solidFill>
                  <a:srgbClr val="000000"/>
                </a:solidFill>
                <a:effectLst/>
                <a:latin typeface="Times New Roman" panose="02020603050405020304" pitchFamily="18" charset="0"/>
                <a:ea typeface="宋体" pitchFamily="2" charset="-122"/>
              </a:rPr>
              <a:t>equal.ravel</a:t>
            </a:r>
            <a:r>
              <a:rPr lang="en-US" altLang="zh-CN" kern="100" dirty="0">
                <a:solidFill>
                  <a:srgbClr val="000000"/>
                </a:solidFill>
                <a:effectLst/>
                <a:latin typeface="Times New Roman" panose="02020603050405020304" pitchFamily="18" charset="0"/>
                <a:ea typeface="宋体" pitchFamily="2" charset="-122"/>
              </a:rPr>
              <a:t>(),256) </a:t>
            </a:r>
            <a:endParaRPr lang="zh-CN" altLang="zh-CN" kern="100" dirty="0">
              <a:effectLst/>
              <a:latin typeface="Times New Roman" panose="02020603050405020304" pitchFamily="18" charset="0"/>
              <a:ea typeface="宋体" pitchFamily="2" charset="-122"/>
            </a:endParaRPr>
          </a:p>
          <a:p>
            <a:pPr indent="266700" algn="just"/>
            <a:r>
              <a:rPr lang="en-US" altLang="zh-CN" kern="100" dirty="0" err="1">
                <a:solidFill>
                  <a:srgbClr val="000000"/>
                </a:solidFill>
                <a:effectLst/>
                <a:latin typeface="Times New Roman" panose="02020603050405020304" pitchFamily="18" charset="0"/>
                <a:ea typeface="宋体" pitchFamily="2" charset="-122"/>
              </a:rPr>
              <a:t>plt.show</a:t>
            </a:r>
            <a:r>
              <a:rPr lang="en-US" altLang="zh-CN" kern="100" dirty="0">
                <a:solidFill>
                  <a:srgbClr val="000000"/>
                </a:solidFill>
                <a:effectLst/>
                <a:latin typeface="Times New Roman" panose="02020603050405020304" pitchFamily="18" charset="0"/>
                <a:ea typeface="宋体" pitchFamily="2" charset="-122"/>
              </a:rPr>
              <a:t>()  </a:t>
            </a:r>
            <a:endParaRPr lang="zh-CN"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684362" y="1341562"/>
            <a:ext cx="7560840" cy="1061829"/>
          </a:xfrm>
          <a:prstGeom prst="rect">
            <a:avLst/>
          </a:prstGeom>
          <a:noFill/>
        </p:spPr>
        <p:txBody>
          <a:bodyPr wrap="square" rtlCol="0">
            <a:spAutoFit/>
          </a:bodyPr>
          <a:lstStyle/>
          <a:p>
            <a:r>
              <a:rPr lang="en-US" altLang="zh-CN" sz="1800"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上述程序使用</a:t>
            </a:r>
            <a:r>
              <a:rPr lang="en-US" altLang="zh-CN" kern="100" dirty="0" err="1">
                <a:effectLst/>
                <a:latin typeface="Times New Roman" panose="02020603050405020304" pitchFamily="18" charset="0"/>
                <a:ea typeface="宋体" pitchFamily="2" charset="-122"/>
              </a:rPr>
              <a:t>equalizeHist</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cs typeface="Times New Roman" panose="02020603050405020304" pitchFamily="18" charset="0"/>
              </a:rPr>
              <a:t>函数对读入的图片进行直方图均衡化操作，再使用</a:t>
            </a:r>
            <a:r>
              <a:rPr lang="en-US" altLang="zh-CN" kern="100" dirty="0" err="1">
                <a:effectLst/>
                <a:latin typeface="Times New Roman" panose="02020603050405020304" pitchFamily="18" charset="0"/>
                <a:ea typeface="宋体" pitchFamily="2" charset="-122"/>
              </a:rPr>
              <a:t>calcHist</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cs typeface="Times New Roman" panose="02020603050405020304" pitchFamily="18" charset="0"/>
              </a:rPr>
              <a:t>函数统计直方图均衡化后图片的直方图</a:t>
            </a:r>
            <a:r>
              <a:rPr lang="zh-CN" altLang="en-US" kern="100" dirty="0">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如图</a:t>
            </a:r>
            <a:r>
              <a:rPr lang="en-US" altLang="zh-CN" kern="100" dirty="0">
                <a:effectLst/>
                <a:latin typeface="Times New Roman" panose="02020603050405020304" pitchFamily="18" charset="0"/>
                <a:ea typeface="宋体" pitchFamily="2" charset="-122"/>
                <a:cs typeface="Times New Roman" panose="02020603050405020304" pitchFamily="18" charset="0"/>
              </a:rPr>
              <a:t>3.7</a:t>
            </a:r>
            <a:r>
              <a:rPr lang="zh-CN" altLang="en-US"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rcRect l="1195" t="596" r="1943" b="3274"/>
          <a:stretch>
            <a:fillRect/>
          </a:stretch>
        </p:blipFill>
        <p:spPr>
          <a:xfrm>
            <a:off x="684362" y="2543335"/>
            <a:ext cx="3338273" cy="3304331"/>
          </a:xfrm>
          <a:prstGeom prst="rect">
            <a:avLst/>
          </a:prstGeom>
          <a:noFill/>
          <a:ln>
            <a:noFill/>
          </a:ln>
        </p:spPr>
      </p:pic>
      <p:pic>
        <p:nvPicPr>
          <p:cNvPr id="13" name="图片 12"/>
          <p:cNvPicPr>
            <a:picLocks noChangeAspect="1"/>
          </p:cNvPicPr>
          <p:nvPr/>
        </p:nvPicPr>
        <p:blipFill>
          <a:blip r:embed="rId4"/>
          <a:stretch>
            <a:fillRect/>
          </a:stretch>
        </p:blipFill>
        <p:spPr>
          <a:xfrm>
            <a:off x="4464782" y="2523613"/>
            <a:ext cx="4176464" cy="3343773"/>
          </a:xfrm>
          <a:prstGeom prst="rect">
            <a:avLst/>
          </a:prstGeom>
          <a:noFill/>
          <a:ln>
            <a:noFill/>
          </a:ln>
        </p:spPr>
      </p:pic>
      <p:sp>
        <p:nvSpPr>
          <p:cNvPr id="15" name="文本框 14"/>
          <p:cNvSpPr txBox="1"/>
          <p:nvPr/>
        </p:nvSpPr>
        <p:spPr>
          <a:xfrm>
            <a:off x="1575749" y="5847666"/>
            <a:ext cx="1555498"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(a)</a:t>
            </a:r>
            <a:r>
              <a:rPr lang="zh-CN" altLang="zh-CN" sz="1600" b="1" dirty="0">
                <a:solidFill>
                  <a:srgbClr val="000000"/>
                </a:solidFill>
                <a:effectLst/>
                <a:latin typeface="黑体" panose="02010609060101010101" pitchFamily="49" charset="-122"/>
                <a:ea typeface="黑体" panose="02010609060101010101" pitchFamily="49" charset="-122"/>
                <a:cs typeface="宋体" pitchFamily="2" charset="-122"/>
              </a:rPr>
              <a:t>原始图像</a:t>
            </a:r>
            <a:endParaRPr lang="zh-CN" altLang="en-US" sz="1600" b="1" dirty="0">
              <a:latin typeface="黑体" panose="02010609060101010101" pitchFamily="49" charset="-122"/>
              <a:ea typeface="黑体" panose="02010609060101010101" pitchFamily="49" charset="-122"/>
            </a:endParaRPr>
          </a:p>
        </p:txBody>
      </p:sp>
      <p:sp>
        <p:nvSpPr>
          <p:cNvPr id="16" name="文本框 15"/>
          <p:cNvSpPr txBox="1"/>
          <p:nvPr/>
        </p:nvSpPr>
        <p:spPr>
          <a:xfrm>
            <a:off x="5775265" y="5867386"/>
            <a:ext cx="1555498"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(b)</a:t>
            </a:r>
            <a:r>
              <a:rPr lang="zh-CN" altLang="en-US" sz="1600" b="1" dirty="0">
                <a:solidFill>
                  <a:srgbClr val="000000"/>
                </a:solidFill>
                <a:effectLst/>
                <a:latin typeface="黑体" panose="02010609060101010101" pitchFamily="49" charset="-122"/>
                <a:ea typeface="黑体" panose="02010609060101010101" pitchFamily="49" charset="-122"/>
                <a:cs typeface="宋体" pitchFamily="2" charset="-122"/>
              </a:rPr>
              <a:t>灰度直方图</a:t>
            </a:r>
            <a:endParaRPr lang="zh-CN" altLang="en-US" sz="1600" b="1" dirty="0">
              <a:latin typeface="黑体" panose="02010609060101010101" pitchFamily="49" charset="-122"/>
              <a:ea typeface="黑体" panose="02010609060101010101" pitchFamily="49" charset="-122"/>
            </a:endParaRPr>
          </a:p>
        </p:txBody>
      </p:sp>
      <p:sp>
        <p:nvSpPr>
          <p:cNvPr id="19" name="文本框 18"/>
          <p:cNvSpPr txBox="1"/>
          <p:nvPr/>
        </p:nvSpPr>
        <p:spPr>
          <a:xfrm>
            <a:off x="976362" y="6318298"/>
            <a:ext cx="676478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3.7 </a:t>
            </a:r>
            <a:r>
              <a:rPr lang="zh-CN" altLang="zh-CN" sz="1800" b="1" kern="0" dirty="0">
                <a:latin typeface="黑体" panose="02010609060101010101" pitchFamily="49" charset="-122"/>
                <a:ea typeface="黑体" panose="02010609060101010101" pitchFamily="49" charset="-122"/>
              </a:rPr>
              <a:t>原始图像与直方图</a:t>
            </a:r>
          </a:p>
        </p:txBody>
      </p:sp>
    </p:spTree>
  </p:cSld>
  <p:clrMapOvr>
    <a:masterClrMapping/>
  </p:clrMapOvr>
  <p:transition spd="slow" advClick="0" advTm="0">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8334" y="1299103"/>
            <a:ext cx="8062912" cy="1061829"/>
          </a:xfrm>
          <a:prstGeom prst="rect">
            <a:avLst/>
          </a:prstGeom>
          <a:noFill/>
        </p:spPr>
        <p:txBody>
          <a:bodyPr wrap="square" rtlCol="0">
            <a:spAutoFit/>
          </a:bodyPr>
          <a:lstStyle/>
          <a:p>
            <a:r>
              <a:rPr lang="zh-CN" altLang="en-US" kern="100" dirty="0">
                <a:effectLst/>
                <a:latin typeface="Times New Roman" panose="02020603050405020304" pitchFamily="18" charset="0"/>
                <a:ea typeface="宋体" pitchFamily="2" charset="-122"/>
                <a:cs typeface="Times New Roman" panose="02020603050405020304" pitchFamily="18" charset="0"/>
              </a:rPr>
              <a:t>        直方图均衡化之后的图片和均衡化之后的直方图如图</a:t>
            </a:r>
            <a:r>
              <a:rPr lang="en-US" altLang="zh-CN" kern="100" dirty="0">
                <a:effectLst/>
                <a:latin typeface="Times New Roman" panose="02020603050405020304" pitchFamily="18" charset="0"/>
                <a:ea typeface="宋体" pitchFamily="2" charset="-122"/>
                <a:cs typeface="Times New Roman" panose="02020603050405020304" pitchFamily="18" charset="0"/>
              </a:rPr>
              <a:t>3.8</a:t>
            </a:r>
            <a:r>
              <a:rPr lang="zh-CN" altLang="en-US" kern="100" dirty="0">
                <a:effectLst/>
                <a:latin typeface="Times New Roman" panose="02020603050405020304" pitchFamily="18" charset="0"/>
                <a:ea typeface="宋体" pitchFamily="2" charset="-122"/>
                <a:cs typeface="Times New Roman" panose="02020603050405020304" pitchFamily="18" charset="0"/>
              </a:rPr>
              <a:t>所示。经过直方图均衡化之后，图</a:t>
            </a:r>
            <a:r>
              <a:rPr lang="en-US" altLang="zh-CN" kern="100" dirty="0">
                <a:effectLst/>
                <a:latin typeface="Times New Roman" panose="02020603050405020304" pitchFamily="18" charset="0"/>
                <a:ea typeface="宋体" pitchFamily="2" charset="-122"/>
                <a:cs typeface="Times New Roman" panose="02020603050405020304" pitchFamily="18" charset="0"/>
              </a:rPr>
              <a:t>3.8</a:t>
            </a:r>
            <a:r>
              <a:rPr lang="zh-CN" altLang="en-US" kern="100" dirty="0">
                <a:effectLst/>
                <a:latin typeface="Times New Roman" panose="02020603050405020304" pitchFamily="18" charset="0"/>
                <a:ea typeface="宋体" pitchFamily="2" charset="-122"/>
                <a:cs typeface="Times New Roman" panose="02020603050405020304" pitchFamily="18" charset="0"/>
              </a:rPr>
              <a:t>中的直方图非零值分布更宽且比较均匀，直方图均衡化之后的图片的对比度也更强了。</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rcRect l="1195" t="596" r="1943" b="3274"/>
          <a:stretch>
            <a:fillRect/>
          </a:stretch>
        </p:blipFill>
        <p:spPr>
          <a:xfrm>
            <a:off x="684362" y="2543335"/>
            <a:ext cx="3338273" cy="3304331"/>
          </a:xfrm>
          <a:prstGeom prst="rect">
            <a:avLst/>
          </a:prstGeom>
          <a:noFill/>
          <a:ln>
            <a:noFill/>
          </a:ln>
        </p:spPr>
      </p:pic>
      <p:sp>
        <p:nvSpPr>
          <p:cNvPr id="15" name="文本框 14"/>
          <p:cNvSpPr txBox="1"/>
          <p:nvPr/>
        </p:nvSpPr>
        <p:spPr>
          <a:xfrm>
            <a:off x="1466171" y="5867386"/>
            <a:ext cx="1794575"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(a)</a:t>
            </a:r>
            <a:r>
              <a:rPr lang="zh-CN" altLang="en-US" sz="1600" b="1" dirty="0">
                <a:solidFill>
                  <a:srgbClr val="000000"/>
                </a:solidFill>
                <a:effectLst/>
                <a:latin typeface="黑体" panose="02010609060101010101" pitchFamily="49" charset="-122"/>
                <a:ea typeface="黑体" panose="02010609060101010101" pitchFamily="49" charset="-122"/>
                <a:cs typeface="宋体" pitchFamily="2" charset="-122"/>
              </a:rPr>
              <a:t>均衡化后图像</a:t>
            </a:r>
            <a:endParaRPr lang="zh-CN" altLang="en-US" sz="1600" b="1" dirty="0">
              <a:latin typeface="黑体" panose="02010609060101010101" pitchFamily="49" charset="-122"/>
              <a:ea typeface="黑体" panose="02010609060101010101" pitchFamily="49" charset="-122"/>
            </a:endParaRPr>
          </a:p>
        </p:txBody>
      </p:sp>
      <p:sp>
        <p:nvSpPr>
          <p:cNvPr id="16" name="文本框 15"/>
          <p:cNvSpPr txBox="1"/>
          <p:nvPr/>
        </p:nvSpPr>
        <p:spPr>
          <a:xfrm>
            <a:off x="5775265" y="5867386"/>
            <a:ext cx="1555498"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(b)</a:t>
            </a:r>
            <a:r>
              <a:rPr lang="zh-CN" altLang="en-US" sz="1600" b="1" dirty="0">
                <a:solidFill>
                  <a:srgbClr val="000000"/>
                </a:solidFill>
                <a:effectLst/>
                <a:latin typeface="黑体" panose="02010609060101010101" pitchFamily="49" charset="-122"/>
                <a:ea typeface="黑体" panose="02010609060101010101" pitchFamily="49" charset="-122"/>
                <a:cs typeface="宋体" pitchFamily="2" charset="-122"/>
              </a:rPr>
              <a:t>灰度直方图</a:t>
            </a:r>
            <a:endParaRPr lang="zh-CN" altLang="en-US" sz="1600" b="1" dirty="0">
              <a:latin typeface="黑体" panose="02010609060101010101" pitchFamily="49" charset="-122"/>
              <a:ea typeface="黑体" panose="02010609060101010101" pitchFamily="49" charset="-122"/>
            </a:endParaRPr>
          </a:p>
        </p:txBody>
      </p:sp>
      <p:sp>
        <p:nvSpPr>
          <p:cNvPr id="19" name="文本框 18"/>
          <p:cNvSpPr txBox="1"/>
          <p:nvPr/>
        </p:nvSpPr>
        <p:spPr>
          <a:xfrm>
            <a:off x="976362" y="6318298"/>
            <a:ext cx="676478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3.8 </a:t>
            </a:r>
            <a:r>
              <a:rPr lang="zh-CN" altLang="en-US" sz="1800" b="1" kern="0" dirty="0">
                <a:latin typeface="黑体" panose="02010609060101010101" pitchFamily="49" charset="-122"/>
                <a:ea typeface="黑体" panose="02010609060101010101" pitchFamily="49" charset="-122"/>
              </a:rPr>
              <a:t>均衡化后图像与直方图</a:t>
            </a:r>
            <a:endParaRPr lang="zh-CN" altLang="zh-CN" sz="1800" b="1" kern="0" dirty="0">
              <a:latin typeface="黑体" panose="02010609060101010101" pitchFamily="49" charset="-122"/>
              <a:ea typeface="黑体" panose="02010609060101010101" pitchFamily="49" charset="-122"/>
            </a:endParaRP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rcRect l="1155" t="1772" r="1676" b="2187"/>
          <a:stretch>
            <a:fillRect/>
          </a:stretch>
        </p:blipFill>
        <p:spPr>
          <a:xfrm>
            <a:off x="664438" y="2525740"/>
            <a:ext cx="3358197" cy="3324053"/>
          </a:xfrm>
          <a:prstGeom prst="rect">
            <a:avLst/>
          </a:prstGeom>
          <a:noFill/>
          <a:ln>
            <a:noFill/>
          </a:ln>
        </p:spPr>
      </p:pic>
      <p:pic>
        <p:nvPicPr>
          <p:cNvPr id="17" name="图片 16"/>
          <p:cNvPicPr>
            <a:picLocks noChangeAspect="1"/>
          </p:cNvPicPr>
          <p:nvPr/>
        </p:nvPicPr>
        <p:blipFill>
          <a:blip r:embed="rId5"/>
          <a:stretch>
            <a:fillRect/>
          </a:stretch>
        </p:blipFill>
        <p:spPr>
          <a:xfrm>
            <a:off x="4464782" y="2525740"/>
            <a:ext cx="4176464" cy="3319796"/>
          </a:xfrm>
          <a:prstGeom prst="rect">
            <a:avLst/>
          </a:prstGeom>
          <a:noFill/>
          <a:ln>
            <a:noFill/>
          </a:ln>
        </p:spPr>
      </p:pic>
    </p:spTree>
  </p:cSld>
  <p:clrMapOvr>
    <a:masterClrMapping/>
  </p:clrMapOvr>
  <p:transition spd="slow" advClick="0"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206584" y="1345885"/>
            <a:ext cx="7200800" cy="415498"/>
          </a:xfrm>
          <a:prstGeom prst="rect">
            <a:avLst/>
          </a:prstGeom>
          <a:noFill/>
        </p:spPr>
        <p:txBody>
          <a:bodyPr wrap="square" rtlCol="0">
            <a:spAutoFit/>
          </a:bodyPr>
          <a:lstStyle/>
          <a:p>
            <a:r>
              <a:rPr lang="zh-CN" altLang="zh-CN" kern="100" dirty="0">
                <a:effectLst/>
                <a:latin typeface="Times New Roman" panose="02020603050405020304" pitchFamily="18" charset="0"/>
                <a:ea typeface="宋体" pitchFamily="2" charset="-122"/>
                <a:cs typeface="Times New Roman" panose="02020603050405020304" pitchFamily="18" charset="0"/>
              </a:rPr>
              <a:t>图</a:t>
            </a:r>
            <a:r>
              <a:rPr lang="en-US" altLang="zh-CN" kern="100" dirty="0">
                <a:effectLst/>
                <a:latin typeface="Times New Roman" panose="02020603050405020304" pitchFamily="18" charset="0"/>
                <a:ea typeface="宋体" pitchFamily="2" charset="-122"/>
              </a:rPr>
              <a:t>3.9</a:t>
            </a:r>
            <a:r>
              <a:rPr lang="zh-CN" altLang="zh-CN" kern="100" dirty="0">
                <a:effectLst/>
                <a:latin typeface="Times New Roman" panose="02020603050405020304" pitchFamily="18" charset="0"/>
                <a:ea typeface="宋体" pitchFamily="2" charset="-122"/>
                <a:cs typeface="Times New Roman" panose="02020603050405020304" pitchFamily="18" charset="0"/>
              </a:rPr>
              <a:t>展示了对比度较小的原始图像的直方图。</a:t>
            </a:r>
            <a:endParaRPr lang="zh-CN" altLang="en-US" dirty="0"/>
          </a:p>
        </p:txBody>
      </p:sp>
      <p:pic>
        <p:nvPicPr>
          <p:cNvPr id="8" name="图片 7"/>
          <p:cNvPicPr>
            <a:picLocks noChangeAspect="1"/>
          </p:cNvPicPr>
          <p:nvPr/>
        </p:nvPicPr>
        <p:blipFill>
          <a:blip r:embed="rId3"/>
          <a:stretch>
            <a:fillRect/>
          </a:stretch>
        </p:blipFill>
        <p:spPr>
          <a:xfrm>
            <a:off x="828378" y="2019469"/>
            <a:ext cx="3307402" cy="3273774"/>
          </a:xfrm>
          <a:prstGeom prst="rect">
            <a:avLst/>
          </a:prstGeom>
          <a:noFill/>
          <a:ln>
            <a:noFill/>
          </a:ln>
        </p:spPr>
      </p:pic>
      <p:pic>
        <p:nvPicPr>
          <p:cNvPr id="9" name="图片 8"/>
          <p:cNvPicPr>
            <a:picLocks noChangeAspect="1"/>
          </p:cNvPicPr>
          <p:nvPr/>
        </p:nvPicPr>
        <p:blipFill>
          <a:blip r:embed="rId4"/>
          <a:stretch>
            <a:fillRect/>
          </a:stretch>
        </p:blipFill>
        <p:spPr>
          <a:xfrm>
            <a:off x="4500786" y="2028227"/>
            <a:ext cx="3960440" cy="3265009"/>
          </a:xfrm>
          <a:prstGeom prst="rect">
            <a:avLst/>
          </a:prstGeom>
          <a:noFill/>
          <a:ln>
            <a:noFill/>
          </a:ln>
        </p:spPr>
      </p:pic>
      <p:sp>
        <p:nvSpPr>
          <p:cNvPr id="10" name="文本框 9"/>
          <p:cNvSpPr txBox="1"/>
          <p:nvPr/>
        </p:nvSpPr>
        <p:spPr>
          <a:xfrm>
            <a:off x="1206584" y="5344425"/>
            <a:ext cx="2550989"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(a)</a:t>
            </a:r>
            <a:r>
              <a:rPr lang="zh-CN" altLang="en-US" sz="1600" b="1" dirty="0">
                <a:solidFill>
                  <a:srgbClr val="000000"/>
                </a:solidFill>
                <a:effectLst/>
                <a:latin typeface="黑体" panose="02010609060101010101" pitchFamily="49" charset="-122"/>
                <a:ea typeface="黑体" panose="02010609060101010101" pitchFamily="49" charset="-122"/>
                <a:cs typeface="宋体" pitchFamily="2" charset="-122"/>
              </a:rPr>
              <a:t>对比度较小原始图像</a:t>
            </a:r>
            <a:endParaRPr lang="zh-CN" altLang="en-US" sz="1600" b="1" dirty="0">
              <a:latin typeface="黑体" panose="02010609060101010101" pitchFamily="49" charset="-122"/>
              <a:ea typeface="黑体" panose="02010609060101010101" pitchFamily="49" charset="-122"/>
            </a:endParaRPr>
          </a:p>
        </p:txBody>
      </p:sp>
      <p:sp>
        <p:nvSpPr>
          <p:cNvPr id="11" name="文本框 10"/>
          <p:cNvSpPr txBox="1"/>
          <p:nvPr/>
        </p:nvSpPr>
        <p:spPr>
          <a:xfrm>
            <a:off x="5766224" y="5391977"/>
            <a:ext cx="1555498" cy="338554"/>
          </a:xfrm>
          <a:prstGeom prst="rect">
            <a:avLst/>
          </a:prstGeom>
          <a:noFill/>
        </p:spPr>
        <p:txBody>
          <a:bodyPr wrap="square">
            <a:spAutoFit/>
          </a:bodyPr>
          <a:lstStyle/>
          <a:p>
            <a:r>
              <a:rPr lang="en-US" altLang="zh-CN" sz="1600" b="1" dirty="0">
                <a:solidFill>
                  <a:srgbClr val="000000"/>
                </a:solidFill>
                <a:effectLst/>
                <a:latin typeface="黑体" panose="02010609060101010101" pitchFamily="49" charset="-122"/>
                <a:ea typeface="黑体" panose="02010609060101010101" pitchFamily="49" charset="-122"/>
                <a:cs typeface="宋体" pitchFamily="2" charset="-122"/>
              </a:rPr>
              <a:t>(b)</a:t>
            </a:r>
            <a:r>
              <a:rPr lang="zh-CN" altLang="en-US" sz="1600" b="1" dirty="0">
                <a:solidFill>
                  <a:srgbClr val="000000"/>
                </a:solidFill>
                <a:effectLst/>
                <a:latin typeface="黑体" panose="02010609060101010101" pitchFamily="49" charset="-122"/>
                <a:ea typeface="黑体" panose="02010609060101010101" pitchFamily="49" charset="-122"/>
                <a:cs typeface="宋体" pitchFamily="2" charset="-122"/>
              </a:rPr>
              <a:t>灰度直方图</a:t>
            </a:r>
            <a:endParaRPr lang="zh-CN" altLang="en-US" sz="1600" b="1" dirty="0">
              <a:latin typeface="黑体" panose="02010609060101010101" pitchFamily="49" charset="-122"/>
              <a:ea typeface="黑体" panose="02010609060101010101" pitchFamily="49" charset="-122"/>
            </a:endParaRPr>
          </a:p>
        </p:txBody>
      </p:sp>
      <p:sp>
        <p:nvSpPr>
          <p:cNvPr id="13" name="文本框 12"/>
          <p:cNvSpPr txBox="1"/>
          <p:nvPr/>
        </p:nvSpPr>
        <p:spPr>
          <a:xfrm>
            <a:off x="2017706" y="5951439"/>
            <a:ext cx="4589754"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3.9  </a:t>
            </a:r>
            <a:r>
              <a:rPr lang="zh-CN" altLang="zh-CN" sz="1800" b="1" kern="0" dirty="0">
                <a:latin typeface="黑体" panose="02010609060101010101" pitchFamily="49" charset="-122"/>
                <a:ea typeface="黑体" panose="02010609060101010101" pitchFamily="49" charset="-122"/>
              </a:rPr>
              <a:t>对比度较小原始图像与直方图</a:t>
            </a:r>
          </a:p>
        </p:txBody>
      </p:sp>
      <p:sp>
        <p:nvSpPr>
          <p:cNvPr id="14"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612354" y="1269555"/>
            <a:ext cx="8078898" cy="1061829"/>
          </a:xfrm>
          <a:prstGeom prst="rect">
            <a:avLst/>
          </a:prstGeom>
          <a:noFill/>
        </p:spPr>
        <p:txBody>
          <a:bodyPr wrap="square">
            <a:spAutoFit/>
          </a:bodyPr>
          <a:lstStyle/>
          <a:p>
            <a:r>
              <a:rPr lang="en-US" altLang="zh-CN" kern="100" dirty="0">
                <a:latin typeface="+mn-ea"/>
                <a:cs typeface="Times New Roman" panose="02020603050405020304" pitchFamily="18" charset="0"/>
              </a:rPr>
              <a:t>    </a:t>
            </a:r>
            <a:r>
              <a:rPr lang="zh-CN" altLang="zh-CN" kern="100" dirty="0">
                <a:effectLst/>
                <a:latin typeface="+mn-ea"/>
                <a:cs typeface="Times New Roman" panose="02020603050405020304" pitchFamily="18" charset="0"/>
              </a:rPr>
              <a:t>图</a:t>
            </a:r>
            <a:r>
              <a:rPr lang="en-US" altLang="zh-CN" kern="100" dirty="0">
                <a:effectLst/>
                <a:latin typeface="+mn-ea"/>
              </a:rPr>
              <a:t>3.10</a:t>
            </a:r>
            <a:r>
              <a:rPr lang="zh-CN" altLang="zh-CN" kern="100" dirty="0">
                <a:effectLst/>
                <a:latin typeface="+mn-ea"/>
                <a:cs typeface="Times New Roman" panose="02020603050405020304" pitchFamily="18" charset="0"/>
              </a:rPr>
              <a:t>为对图</a:t>
            </a:r>
            <a:r>
              <a:rPr lang="en-US" altLang="zh-CN" kern="100" dirty="0">
                <a:effectLst/>
                <a:latin typeface="+mn-ea"/>
              </a:rPr>
              <a:t>3.9</a:t>
            </a:r>
            <a:r>
              <a:rPr lang="zh-CN" altLang="zh-CN" kern="100" dirty="0">
                <a:effectLst/>
                <a:latin typeface="+mn-ea"/>
                <a:cs typeface="Times New Roman" panose="02020603050405020304" pitchFamily="18" charset="0"/>
              </a:rPr>
              <a:t>中的图像进行直方图均衡化之后的图像效果和对应的直方图。我们可以看到图</a:t>
            </a:r>
            <a:r>
              <a:rPr lang="en-US" altLang="zh-CN" kern="100" dirty="0">
                <a:effectLst/>
                <a:latin typeface="+mn-ea"/>
              </a:rPr>
              <a:t>3.10</a:t>
            </a:r>
            <a:r>
              <a:rPr lang="zh-CN" altLang="zh-CN" kern="100" dirty="0">
                <a:effectLst/>
                <a:latin typeface="+mn-ea"/>
                <a:cs typeface="Times New Roman" panose="02020603050405020304" pitchFamily="18" charset="0"/>
              </a:rPr>
              <a:t>中的直方图占有了更多的非零值，图片的对比度也有了明显的提高。</a:t>
            </a:r>
            <a:endParaRPr lang="zh-CN" altLang="en-US" dirty="0">
              <a:latin typeface="+mn-ea"/>
            </a:endParaRPr>
          </a:p>
        </p:txBody>
      </p:sp>
      <p:pic>
        <p:nvPicPr>
          <p:cNvPr id="9" name="图片 8"/>
          <p:cNvPicPr>
            <a:picLocks noChangeAspect="1"/>
          </p:cNvPicPr>
          <p:nvPr/>
        </p:nvPicPr>
        <p:blipFill>
          <a:blip r:embed="rId3"/>
          <a:srcRect l="1195" t="2076" r="1943" b="2135"/>
          <a:stretch>
            <a:fillRect/>
          </a:stretch>
        </p:blipFill>
        <p:spPr>
          <a:xfrm>
            <a:off x="864948" y="2513137"/>
            <a:ext cx="3203789" cy="3171215"/>
          </a:xfrm>
          <a:prstGeom prst="rect">
            <a:avLst/>
          </a:prstGeom>
          <a:noFill/>
          <a:ln>
            <a:noFill/>
          </a:ln>
        </p:spPr>
      </p:pic>
      <p:sp>
        <p:nvSpPr>
          <p:cNvPr id="12" name="文本框 11"/>
          <p:cNvSpPr txBox="1"/>
          <p:nvPr/>
        </p:nvSpPr>
        <p:spPr>
          <a:xfrm>
            <a:off x="864948" y="5769048"/>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zh-CN" sz="1600" b="1" dirty="0">
                <a:solidFill>
                  <a:srgbClr val="000000"/>
                </a:solidFill>
                <a:latin typeface="黑体" panose="02010609060101010101" pitchFamily="49" charset="-122"/>
                <a:ea typeface="黑体" panose="02010609060101010101" pitchFamily="49" charset="-122"/>
              </a:rPr>
              <a:t>对比度较小图像均衡化后效果</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4" name="文本框 13"/>
          <p:cNvSpPr txBox="1"/>
          <p:nvPr/>
        </p:nvSpPr>
        <p:spPr>
          <a:xfrm>
            <a:off x="5652914" y="5780547"/>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404442" y="6269464"/>
            <a:ext cx="5688632" cy="369332"/>
          </a:xfrm>
          <a:prstGeom prst="rect">
            <a:avLst/>
          </a:prstGeom>
          <a:noFill/>
        </p:spPr>
        <p:txBody>
          <a:bodyPr wrap="square">
            <a:spAutoFit/>
          </a:bodyPr>
          <a:lstStyle/>
          <a:p>
            <a:pPr indent="266700" algn="ctr"/>
            <a:r>
              <a:rPr lang="zh-CN" altLang="zh-CN"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3.10  </a:t>
            </a:r>
            <a:r>
              <a:rPr lang="zh-CN" altLang="zh-CN" sz="1800" b="1" kern="0" dirty="0">
                <a:latin typeface="黑体" panose="02010609060101010101" pitchFamily="49" charset="-122"/>
                <a:ea typeface="黑体" panose="02010609060101010101" pitchFamily="49" charset="-122"/>
              </a:rPr>
              <a:t>对比度较小图像均衡化后效果与直方图</a:t>
            </a:r>
            <a:endParaRPr lang="zh-CN" altLang="en-US" sz="1800" b="1" kern="0" dirty="0">
              <a:latin typeface="黑体" panose="02010609060101010101" pitchFamily="49" charset="-122"/>
              <a:ea typeface="黑体" panose="02010609060101010101" pitchFamily="49" charset="-122"/>
            </a:endParaRPr>
          </a:p>
        </p:txBody>
      </p:sp>
      <p:pic>
        <p:nvPicPr>
          <p:cNvPr id="17" name="图片 16"/>
          <p:cNvPicPr>
            <a:picLocks noChangeAspect="1"/>
          </p:cNvPicPr>
          <p:nvPr/>
        </p:nvPicPr>
        <p:blipFill>
          <a:blip r:embed="rId4"/>
          <a:stretch>
            <a:fillRect/>
          </a:stretch>
        </p:blipFill>
        <p:spPr>
          <a:xfrm>
            <a:off x="4572794" y="2521897"/>
            <a:ext cx="4118458" cy="3171210"/>
          </a:xfrm>
          <a:prstGeom prst="rect">
            <a:avLst/>
          </a:prstGeom>
          <a:noFill/>
          <a:ln>
            <a:noFill/>
          </a:ln>
        </p:spPr>
      </p:pic>
      <p:sp>
        <p:nvSpPr>
          <p:cNvPr id="18"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612354" y="1409094"/>
            <a:ext cx="7605027" cy="415498"/>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图</a:t>
            </a:r>
            <a:r>
              <a:rPr lang="en-US" altLang="zh-CN" kern="100" dirty="0">
                <a:effectLst/>
                <a:latin typeface="Times New Roman" panose="02020603050405020304" pitchFamily="18" charset="0"/>
                <a:ea typeface="宋体" pitchFamily="2" charset="-122"/>
              </a:rPr>
              <a:t>3.11</a:t>
            </a:r>
            <a:r>
              <a:rPr lang="zh-CN" altLang="zh-CN" kern="100" dirty="0">
                <a:effectLst/>
                <a:latin typeface="Times New Roman" panose="02020603050405020304" pitchFamily="18" charset="0"/>
                <a:ea typeface="宋体" pitchFamily="2" charset="-122"/>
                <a:cs typeface="Times New Roman" panose="02020603050405020304" pitchFamily="18" charset="0"/>
              </a:rPr>
              <a:t>为亮度较高的图像和该图像对应的直方图。</a:t>
            </a:r>
            <a:endParaRPr lang="zh-CN" altLang="en-US" dirty="0">
              <a:latin typeface="+mn-ea"/>
            </a:endParaRPr>
          </a:p>
        </p:txBody>
      </p:sp>
      <p:sp>
        <p:nvSpPr>
          <p:cNvPr id="12" name="文本框 11"/>
          <p:cNvSpPr txBox="1"/>
          <p:nvPr/>
        </p:nvSpPr>
        <p:spPr>
          <a:xfrm>
            <a:off x="900386" y="531500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亮度较高图像均衡化后效果</a:t>
            </a:r>
          </a:p>
        </p:txBody>
      </p:sp>
      <p:sp>
        <p:nvSpPr>
          <p:cNvPr id="14" name="文本框 13"/>
          <p:cNvSpPr txBox="1"/>
          <p:nvPr/>
        </p:nvSpPr>
        <p:spPr>
          <a:xfrm>
            <a:off x="5652914" y="531500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404442" y="578054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3.11 </a:t>
            </a:r>
            <a:r>
              <a:rPr lang="zh-CN" altLang="en-US" sz="1800" b="1" kern="0" dirty="0">
                <a:latin typeface="黑体" panose="02010609060101010101" pitchFamily="49" charset="-122"/>
                <a:ea typeface="黑体" panose="02010609060101010101" pitchFamily="49" charset="-122"/>
              </a:rPr>
              <a:t>亮度较高原始图像与直方图</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58" t="2352" r="940" b="1823"/>
          <a:stretch>
            <a:fillRect/>
          </a:stretch>
        </p:blipFill>
        <p:spPr>
          <a:xfrm>
            <a:off x="756370" y="2007567"/>
            <a:ext cx="3276699" cy="3243383"/>
          </a:xfrm>
          <a:prstGeom prst="rect">
            <a:avLst/>
          </a:prstGeom>
          <a:noFill/>
          <a:ln>
            <a:noFill/>
          </a:ln>
        </p:spPr>
      </p:pic>
      <p:pic>
        <p:nvPicPr>
          <p:cNvPr id="18" name="图片 17"/>
          <p:cNvPicPr>
            <a:picLocks noChangeAspect="1"/>
          </p:cNvPicPr>
          <p:nvPr/>
        </p:nvPicPr>
        <p:blipFill>
          <a:blip r:embed="rId4"/>
          <a:stretch>
            <a:fillRect/>
          </a:stretch>
        </p:blipFill>
        <p:spPr>
          <a:xfrm>
            <a:off x="4716810" y="2006093"/>
            <a:ext cx="4255597" cy="3308909"/>
          </a:xfrm>
          <a:prstGeom prst="rect">
            <a:avLst/>
          </a:prstGeom>
          <a:noFill/>
          <a:ln>
            <a:noFill/>
          </a:ln>
        </p:spPr>
      </p:pic>
      <p:sp>
        <p:nvSpPr>
          <p:cNvPr id="19"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612354" y="1265219"/>
            <a:ext cx="8056801" cy="738664"/>
          </a:xfrm>
          <a:prstGeom prst="rect">
            <a:avLst/>
          </a:prstGeom>
          <a:noFill/>
        </p:spPr>
        <p:txBody>
          <a:bodyPr wrap="square">
            <a:spAutoFit/>
          </a:bodyPr>
          <a:lstStyle/>
          <a:p>
            <a:r>
              <a:rPr lang="zh-CN" altLang="en-US" kern="100" dirty="0">
                <a:effectLst/>
                <a:latin typeface="Times New Roman" panose="02020603050405020304" pitchFamily="18" charset="0"/>
                <a:ea typeface="宋体" pitchFamily="2" charset="-122"/>
                <a:cs typeface="Times New Roman" panose="02020603050405020304" pitchFamily="18" charset="0"/>
              </a:rPr>
              <a:t>        图</a:t>
            </a:r>
            <a:r>
              <a:rPr lang="en-US" altLang="zh-CN" kern="100" dirty="0">
                <a:effectLst/>
                <a:latin typeface="Times New Roman" panose="02020603050405020304" pitchFamily="18" charset="0"/>
                <a:ea typeface="宋体" pitchFamily="2" charset="-122"/>
                <a:cs typeface="Times New Roman" panose="02020603050405020304" pitchFamily="18" charset="0"/>
              </a:rPr>
              <a:t>3.12</a:t>
            </a:r>
            <a:r>
              <a:rPr lang="zh-CN" altLang="en-US" kern="100" dirty="0">
                <a:effectLst/>
                <a:latin typeface="Times New Roman" panose="02020603050405020304" pitchFamily="18" charset="0"/>
                <a:ea typeface="宋体" pitchFamily="2" charset="-122"/>
                <a:cs typeface="Times New Roman" panose="02020603050405020304" pitchFamily="18" charset="0"/>
              </a:rPr>
              <a:t>为对图</a:t>
            </a:r>
            <a:r>
              <a:rPr lang="en-US" altLang="zh-CN" kern="100" dirty="0">
                <a:effectLst/>
                <a:latin typeface="Times New Roman" panose="02020603050405020304" pitchFamily="18" charset="0"/>
                <a:ea typeface="宋体" pitchFamily="2" charset="-122"/>
                <a:cs typeface="Times New Roman" panose="02020603050405020304" pitchFamily="18" charset="0"/>
              </a:rPr>
              <a:t>3.11</a:t>
            </a:r>
            <a:r>
              <a:rPr lang="zh-CN" altLang="en-US" kern="100" dirty="0">
                <a:effectLst/>
                <a:latin typeface="Times New Roman" panose="02020603050405020304" pitchFamily="18" charset="0"/>
                <a:ea typeface="宋体" pitchFamily="2" charset="-122"/>
                <a:cs typeface="Times New Roman" panose="02020603050405020304" pitchFamily="18" charset="0"/>
              </a:rPr>
              <a:t>中的图像进行直方图均衡化后的图像效果和均衡化后图像对应的直方图。</a:t>
            </a:r>
            <a:endParaRPr lang="zh-CN" altLang="en-US" dirty="0">
              <a:latin typeface="+mn-ea"/>
            </a:endParaRPr>
          </a:p>
        </p:txBody>
      </p:sp>
      <p:sp>
        <p:nvSpPr>
          <p:cNvPr id="12" name="文本框 11"/>
          <p:cNvSpPr txBox="1"/>
          <p:nvPr/>
        </p:nvSpPr>
        <p:spPr>
          <a:xfrm>
            <a:off x="1044402" y="5313485"/>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亮度较高图像均衡化后效果</a:t>
            </a:r>
          </a:p>
        </p:txBody>
      </p:sp>
      <p:sp>
        <p:nvSpPr>
          <p:cNvPr id="14" name="文本框 13"/>
          <p:cNvSpPr txBox="1"/>
          <p:nvPr/>
        </p:nvSpPr>
        <p:spPr>
          <a:xfrm>
            <a:off x="5724922" y="5381777"/>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404442" y="578054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3.12  </a:t>
            </a:r>
            <a:r>
              <a:rPr lang="zh-CN" altLang="en-US" sz="1800" b="1" kern="0" dirty="0">
                <a:latin typeface="黑体" panose="02010609060101010101" pitchFamily="49" charset="-122"/>
                <a:ea typeface="黑体" panose="02010609060101010101" pitchFamily="49" charset="-122"/>
              </a:rPr>
              <a:t>亮度较高图像均衡化后效果与直方图</a:t>
            </a:r>
          </a:p>
        </p:txBody>
      </p:sp>
      <p:pic>
        <p:nvPicPr>
          <p:cNvPr id="15" name="图片 14"/>
          <p:cNvPicPr>
            <a:picLocks noChangeAspect="1"/>
          </p:cNvPicPr>
          <p:nvPr/>
        </p:nvPicPr>
        <p:blipFill>
          <a:blip r:embed="rId3"/>
          <a:stretch>
            <a:fillRect/>
          </a:stretch>
        </p:blipFill>
        <p:spPr>
          <a:xfrm>
            <a:off x="4573596" y="1937005"/>
            <a:ext cx="4032448" cy="3313945"/>
          </a:xfrm>
          <a:prstGeom prst="rect">
            <a:avLst/>
          </a:prstGeom>
          <a:noFill/>
          <a:ln>
            <a:noFill/>
          </a:ln>
        </p:spPr>
      </p:pic>
      <p:pic>
        <p:nvPicPr>
          <p:cNvPr id="17" name="图片 16"/>
          <p:cNvPicPr>
            <a:picLocks noChangeAspect="1"/>
          </p:cNvPicPr>
          <p:nvPr/>
        </p:nvPicPr>
        <p:blipFill>
          <a:blip r:embed="rId4"/>
          <a:srcRect l="902" t="1793" r="2072" b="2541"/>
          <a:stretch>
            <a:fillRect/>
          </a:stretch>
        </p:blipFill>
        <p:spPr>
          <a:xfrm>
            <a:off x="621033" y="2013985"/>
            <a:ext cx="3305728" cy="3272117"/>
          </a:xfrm>
          <a:prstGeom prst="rect">
            <a:avLst/>
          </a:prstGeom>
          <a:noFill/>
          <a:ln>
            <a:noFill/>
          </a:ln>
        </p:spPr>
      </p:pic>
      <p:pic>
        <p:nvPicPr>
          <p:cNvPr id="18" name="图片 17"/>
          <p:cNvPicPr>
            <a:picLocks noChangeAspect="1"/>
          </p:cNvPicPr>
          <p:nvPr/>
        </p:nvPicPr>
        <p:blipFill>
          <a:blip r:embed="rId5"/>
          <a:stretch>
            <a:fillRect/>
          </a:stretch>
        </p:blipFill>
        <p:spPr>
          <a:xfrm>
            <a:off x="4549124" y="1978832"/>
            <a:ext cx="4120031" cy="3295777"/>
          </a:xfrm>
          <a:prstGeom prst="rect">
            <a:avLst/>
          </a:prstGeom>
          <a:noFill/>
          <a:ln>
            <a:noFill/>
          </a:ln>
        </p:spPr>
      </p:pic>
      <p:sp>
        <p:nvSpPr>
          <p:cNvPr id="19"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612354" y="1273622"/>
            <a:ext cx="7605027" cy="415498"/>
          </a:xfrm>
          <a:prstGeom prst="rect">
            <a:avLst/>
          </a:prstGeom>
          <a:noFill/>
        </p:spPr>
        <p:txBody>
          <a:bodyPr wrap="square">
            <a:spAutoFit/>
          </a:bodyPr>
          <a:lstStyle/>
          <a:p>
            <a:r>
              <a:rPr lang="zh-CN" altLang="en-US" kern="100" dirty="0">
                <a:effectLst/>
                <a:latin typeface="Times New Roman" panose="02020603050405020304" pitchFamily="18" charset="0"/>
                <a:ea typeface="宋体" pitchFamily="2" charset="-122"/>
                <a:cs typeface="Times New Roman" panose="02020603050405020304" pitchFamily="18" charset="0"/>
              </a:rPr>
              <a:t>          图</a:t>
            </a:r>
            <a:r>
              <a:rPr lang="en-US" altLang="zh-CN" kern="100" dirty="0">
                <a:effectLst/>
                <a:latin typeface="Times New Roman" panose="02020603050405020304" pitchFamily="18" charset="0"/>
                <a:ea typeface="宋体" pitchFamily="2" charset="-122"/>
                <a:cs typeface="Times New Roman" panose="02020603050405020304" pitchFamily="18" charset="0"/>
              </a:rPr>
              <a:t>3.13</a:t>
            </a:r>
            <a:r>
              <a:rPr lang="zh-CN" altLang="en-US" kern="100" dirty="0">
                <a:effectLst/>
                <a:latin typeface="Times New Roman" panose="02020603050405020304" pitchFamily="18" charset="0"/>
                <a:ea typeface="宋体" pitchFamily="2" charset="-122"/>
                <a:cs typeface="Times New Roman" panose="02020603050405020304" pitchFamily="18" charset="0"/>
              </a:rPr>
              <a:t>为亮度较低的图像和该图像对应的直方图。</a:t>
            </a:r>
            <a:endParaRPr lang="zh-CN" altLang="en-US" dirty="0">
              <a:latin typeface="+mn-ea"/>
            </a:endParaRPr>
          </a:p>
        </p:txBody>
      </p:sp>
      <p:sp>
        <p:nvSpPr>
          <p:cNvPr id="12" name="文本框 11"/>
          <p:cNvSpPr txBox="1"/>
          <p:nvPr/>
        </p:nvSpPr>
        <p:spPr>
          <a:xfrm>
            <a:off x="1044402" y="5313485"/>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zh-CN" sz="1600" b="1" dirty="0">
                <a:solidFill>
                  <a:srgbClr val="000000"/>
                </a:solidFill>
                <a:latin typeface="黑体" panose="02010609060101010101" pitchFamily="49" charset="-122"/>
                <a:ea typeface="黑体" panose="02010609060101010101" pitchFamily="49" charset="-122"/>
              </a:rPr>
              <a:t>亮度较低原始图像</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4" name="文本框 13"/>
          <p:cNvSpPr txBox="1"/>
          <p:nvPr/>
        </p:nvSpPr>
        <p:spPr>
          <a:xfrm>
            <a:off x="5724922" y="5381777"/>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404442" y="578054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3.13 </a:t>
            </a:r>
            <a:r>
              <a:rPr lang="zh-CN" altLang="en-US" sz="1800" b="1" kern="0" dirty="0">
                <a:latin typeface="黑体" panose="02010609060101010101" pitchFamily="49" charset="-122"/>
                <a:ea typeface="黑体" panose="02010609060101010101" pitchFamily="49" charset="-122"/>
              </a:rPr>
              <a:t>亮度较低原始图像与直方图</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58" t="2352" r="940" b="1823"/>
          <a:stretch>
            <a:fillRect/>
          </a:stretch>
        </p:blipFill>
        <p:spPr>
          <a:xfrm>
            <a:off x="756370" y="1984226"/>
            <a:ext cx="3276699" cy="3243383"/>
          </a:xfrm>
          <a:prstGeom prst="rect">
            <a:avLst/>
          </a:prstGeom>
          <a:noFill/>
          <a:ln>
            <a:noFill/>
          </a:ln>
        </p:spPr>
      </p:pic>
      <p:pic>
        <p:nvPicPr>
          <p:cNvPr id="17" name="图片 16"/>
          <p:cNvPicPr>
            <a:picLocks noChangeAspect="1"/>
          </p:cNvPicPr>
          <p:nvPr/>
        </p:nvPicPr>
        <p:blipFill>
          <a:blip r:embed="rId4"/>
          <a:srcRect l="902" t="1793" r="2072" b="2541"/>
          <a:stretch>
            <a:fillRect/>
          </a:stretch>
        </p:blipFill>
        <p:spPr>
          <a:xfrm>
            <a:off x="756370" y="1978832"/>
            <a:ext cx="3305728" cy="3272117"/>
          </a:xfrm>
          <a:prstGeom prst="rect">
            <a:avLst/>
          </a:prstGeom>
          <a:noFill/>
          <a:ln>
            <a:noFill/>
          </a:ln>
        </p:spPr>
      </p:pic>
      <p:pic>
        <p:nvPicPr>
          <p:cNvPr id="19" name="图片 18"/>
          <p:cNvPicPr>
            <a:picLocks noChangeAspect="1"/>
          </p:cNvPicPr>
          <p:nvPr/>
        </p:nvPicPr>
        <p:blipFill>
          <a:blip r:embed="rId5">
            <a:extLst>
              <a:ext uri="{28A0092B-C50C-407E-A947-70E740481C1C}">
                <a14:useLocalDpi xmlns:a14="http://schemas.microsoft.com/office/drawing/2010/main" val="0"/>
              </a:ext>
            </a:extLst>
          </a:blip>
          <a:srcRect l="1138" t="1763" r="1792" b="3055"/>
          <a:stretch>
            <a:fillRect/>
          </a:stretch>
        </p:blipFill>
        <p:spPr>
          <a:xfrm>
            <a:off x="756370" y="1978832"/>
            <a:ext cx="3299771" cy="3272117"/>
          </a:xfrm>
          <a:prstGeom prst="rect">
            <a:avLst/>
          </a:prstGeom>
          <a:noFill/>
          <a:ln>
            <a:noFill/>
          </a:ln>
        </p:spPr>
      </p:pic>
      <p:pic>
        <p:nvPicPr>
          <p:cNvPr id="20" name="图片 19"/>
          <p:cNvPicPr>
            <a:picLocks noChangeAspect="1"/>
          </p:cNvPicPr>
          <p:nvPr/>
        </p:nvPicPr>
        <p:blipFill>
          <a:blip r:embed="rId6"/>
          <a:stretch>
            <a:fillRect/>
          </a:stretch>
        </p:blipFill>
        <p:spPr>
          <a:xfrm>
            <a:off x="4545971" y="1978831"/>
            <a:ext cx="4131280" cy="3342719"/>
          </a:xfrm>
          <a:prstGeom prst="rect">
            <a:avLst/>
          </a:prstGeom>
          <a:noFill/>
          <a:ln>
            <a:noFill/>
          </a:ln>
        </p:spPr>
      </p:pic>
      <p:sp>
        <p:nvSpPr>
          <p:cNvPr id="21"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712974" y="1269554"/>
            <a:ext cx="7676243" cy="1107996"/>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en-US" altLang="zh-CN" kern="100" dirty="0">
                <a:effectLst/>
                <a:latin typeface="+mn-ea"/>
                <a:cs typeface="Times New Roman" panose="02020603050405020304" pitchFamily="18" charset="0"/>
              </a:rPr>
              <a:t> </a:t>
            </a:r>
            <a:r>
              <a:rPr lang="zh-CN" altLang="zh-CN" kern="100" dirty="0">
                <a:effectLst/>
                <a:latin typeface="+mn-ea"/>
                <a:cs typeface="Times New Roman" panose="02020603050405020304" pitchFamily="18" charset="0"/>
              </a:rPr>
              <a:t>从图</a:t>
            </a:r>
            <a:r>
              <a:rPr lang="en-US" altLang="zh-CN" kern="100" dirty="0">
                <a:effectLst/>
                <a:latin typeface="+mn-ea"/>
              </a:rPr>
              <a:t>3.9</a:t>
            </a:r>
            <a:r>
              <a:rPr lang="zh-CN" altLang="zh-CN" kern="100" dirty="0">
                <a:effectLst/>
                <a:latin typeface="+mn-ea"/>
                <a:cs typeface="Times New Roman" panose="02020603050405020304" pitchFamily="18" charset="0"/>
              </a:rPr>
              <a:t>至图</a:t>
            </a:r>
            <a:r>
              <a:rPr lang="en-US" altLang="zh-CN" kern="100" dirty="0">
                <a:effectLst/>
                <a:latin typeface="+mn-ea"/>
              </a:rPr>
              <a:t>3.14</a:t>
            </a:r>
            <a:r>
              <a:rPr lang="zh-CN" altLang="zh-CN" kern="100" dirty="0">
                <a:effectLst/>
                <a:latin typeface="+mn-ea"/>
                <a:cs typeface="Times New Roman" panose="02020603050405020304" pitchFamily="18" charset="0"/>
              </a:rPr>
              <a:t>的例子我们可以看出，可以通过直方图均衡化的方法对于对比度较低的图像、亮度较高的图像、亮度较低的图像进行图像增强处理。</a:t>
            </a:r>
            <a:endParaRPr lang="zh-CN" altLang="en-US" dirty="0">
              <a:latin typeface="+mn-ea"/>
            </a:endParaRPr>
          </a:p>
        </p:txBody>
      </p:sp>
      <p:pic>
        <p:nvPicPr>
          <p:cNvPr id="9" name="图片 8"/>
          <p:cNvPicPr>
            <a:picLocks noChangeAspect="1"/>
          </p:cNvPicPr>
          <p:nvPr/>
        </p:nvPicPr>
        <p:blipFill>
          <a:blip r:embed="rId3"/>
          <a:srcRect l="1470" t="898" r="1822" b="2095"/>
          <a:stretch>
            <a:fillRect/>
          </a:stretch>
        </p:blipFill>
        <p:spPr>
          <a:xfrm>
            <a:off x="712182" y="2493689"/>
            <a:ext cx="3320617" cy="3286855"/>
          </a:xfrm>
          <a:prstGeom prst="rect">
            <a:avLst/>
          </a:prstGeom>
          <a:noFill/>
          <a:ln>
            <a:noFill/>
          </a:ln>
        </p:spPr>
      </p:pic>
      <p:pic>
        <p:nvPicPr>
          <p:cNvPr id="10" name="图片 9"/>
          <p:cNvPicPr>
            <a:picLocks noChangeAspect="1"/>
          </p:cNvPicPr>
          <p:nvPr/>
        </p:nvPicPr>
        <p:blipFill>
          <a:blip r:embed="rId4"/>
          <a:stretch>
            <a:fillRect/>
          </a:stretch>
        </p:blipFill>
        <p:spPr>
          <a:xfrm>
            <a:off x="4544000" y="2555040"/>
            <a:ext cx="3845217" cy="3225503"/>
          </a:xfrm>
          <a:prstGeom prst="rect">
            <a:avLst/>
          </a:prstGeom>
          <a:noFill/>
          <a:ln>
            <a:noFill/>
          </a:ln>
        </p:spPr>
      </p:pic>
      <p:sp>
        <p:nvSpPr>
          <p:cNvPr id="11" name="文本框 10"/>
          <p:cNvSpPr txBox="1"/>
          <p:nvPr/>
        </p:nvSpPr>
        <p:spPr>
          <a:xfrm>
            <a:off x="879568" y="578054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亮度较低图像均衡化后效果</a:t>
            </a:r>
          </a:p>
        </p:txBody>
      </p:sp>
      <p:sp>
        <p:nvSpPr>
          <p:cNvPr id="12" name="文本框 11"/>
          <p:cNvSpPr txBox="1"/>
          <p:nvPr/>
        </p:nvSpPr>
        <p:spPr>
          <a:xfrm>
            <a:off x="5724922" y="5788756"/>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3" name="文本框 12"/>
          <p:cNvSpPr txBox="1"/>
          <p:nvPr/>
        </p:nvSpPr>
        <p:spPr>
          <a:xfrm>
            <a:off x="1332434" y="6269464"/>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3.14 </a:t>
            </a:r>
            <a:r>
              <a:rPr lang="zh-CN" altLang="en-US" sz="1800" b="1" kern="0" dirty="0">
                <a:latin typeface="黑体" panose="02010609060101010101" pitchFamily="49" charset="-122"/>
                <a:ea typeface="黑体" panose="02010609060101010101" pitchFamily="49" charset="-122"/>
              </a:rPr>
              <a:t>亮度较低图像均衡化后效果与直方图</a:t>
            </a:r>
          </a:p>
        </p:txBody>
      </p:sp>
      <p:sp>
        <p:nvSpPr>
          <p:cNvPr id="14"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3.2.2 </a:t>
            </a:r>
            <a:r>
              <a:rPr lang="zh-CN" altLang="en-US" sz="2100" b="1" dirty="0">
                <a:solidFill>
                  <a:schemeClr val="tx1">
                    <a:lumMod val="75000"/>
                    <a:lumOff val="25000"/>
                  </a:schemeClr>
                </a:solidFill>
                <a:latin typeface="微软雅黑" panose="020B0503020204020204" pitchFamily="34" charset="-122"/>
              </a:rPr>
              <a:t>直方图均衡化的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  </a:t>
            </a:r>
            <a:r>
              <a:rPr lang="zh-CN" altLang="en-US" sz="2100" b="1" dirty="0">
                <a:solidFill>
                  <a:schemeClr val="tx1">
                    <a:lumMod val="75000"/>
                    <a:lumOff val="25000"/>
                  </a:schemeClr>
                </a:solidFill>
                <a:latin typeface="微软雅黑" panose="020B0503020204020204" pitchFamily="34" charset="-122"/>
              </a:rPr>
              <a:t>直方图规定化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39828" y="1521789"/>
            <a:ext cx="6769921" cy="738664"/>
          </a:xfrm>
          <a:prstGeom prst="rect">
            <a:avLst/>
          </a:prstGeom>
          <a:noFill/>
        </p:spPr>
        <p:txBody>
          <a:bodyPr wrap="square" rtlCol="0">
            <a:spAutoFit/>
          </a:bodyPr>
          <a:lstStyle/>
          <a:p>
            <a:r>
              <a:rPr lang="en-US" altLang="zh-CN" sz="1800" kern="100" dirty="0">
                <a:effectLst/>
                <a:latin typeface="Times New Roman" panose="02020603050405020304" pitchFamily="18" charset="0"/>
                <a:ea typeface="宋体" pitchFamily="2" charset="-122"/>
                <a:cs typeface="Times New Roman" panose="02020603050405020304" pitchFamily="18" charset="0"/>
              </a:rPr>
              <a:t>       </a:t>
            </a:r>
            <a:r>
              <a:rPr lang="zh-CN" altLang="zh-CN" b="1" kern="100" dirty="0">
                <a:effectLst/>
                <a:latin typeface="Times New Roman" panose="02020603050405020304" pitchFamily="18" charset="0"/>
                <a:ea typeface="宋体" pitchFamily="2" charset="-122"/>
                <a:cs typeface="Times New Roman" panose="02020603050405020304" pitchFamily="18" charset="0"/>
              </a:rPr>
              <a:t>直方图均衡化</a:t>
            </a:r>
            <a:r>
              <a:rPr lang="zh-CN" altLang="zh-CN" kern="100" dirty="0">
                <a:effectLst/>
                <a:latin typeface="Times New Roman" panose="02020603050405020304" pitchFamily="18" charset="0"/>
                <a:ea typeface="宋体" pitchFamily="2" charset="-122"/>
                <a:cs typeface="Times New Roman" panose="02020603050405020304" pitchFamily="18" charset="0"/>
              </a:rPr>
              <a:t>的优点是能自动地增强整个图像的对比度，不足之处是用户不能控制局部的增强效果。</a:t>
            </a:r>
            <a:endParaRPr lang="zh-CN" altLang="en-US" dirty="0"/>
          </a:p>
        </p:txBody>
      </p:sp>
      <p:sp>
        <p:nvSpPr>
          <p:cNvPr id="4" name="文本框 3"/>
          <p:cNvSpPr txBox="1"/>
          <p:nvPr/>
        </p:nvSpPr>
        <p:spPr>
          <a:xfrm>
            <a:off x="839828" y="2709714"/>
            <a:ext cx="6920852" cy="1708160"/>
          </a:xfrm>
          <a:prstGeom prst="rect">
            <a:avLst/>
          </a:prstGeom>
          <a:noFill/>
        </p:spPr>
        <p:txBody>
          <a:bodyPr wrap="square" rtlCol="0">
            <a:spAutoFit/>
          </a:bodyPr>
          <a:lstStyle/>
          <a:p>
            <a:r>
              <a:rPr lang="zh-CN" altLang="en-US" dirty="0"/>
              <a:t>         </a:t>
            </a:r>
            <a:r>
              <a:rPr lang="zh-CN" altLang="en-US" b="1" dirty="0"/>
              <a:t>直方图规定化</a:t>
            </a:r>
            <a:r>
              <a:rPr lang="zh-CN" altLang="en-US" dirty="0"/>
              <a:t>是运用在均衡化原理的基础上的，通过建立</a:t>
            </a:r>
            <a:r>
              <a:rPr lang="zh-CN" altLang="en-US" dirty="0">
                <a:solidFill>
                  <a:srgbClr val="00458E"/>
                </a:solidFill>
              </a:rPr>
              <a:t>原始图像</a:t>
            </a:r>
            <a:r>
              <a:rPr lang="zh-CN" altLang="en-US" dirty="0"/>
              <a:t>和期望图像</a:t>
            </a:r>
            <a:r>
              <a:rPr lang="en-US" altLang="zh-CN" dirty="0"/>
              <a:t>(</a:t>
            </a:r>
            <a:r>
              <a:rPr lang="zh-CN" altLang="en-US" dirty="0">
                <a:solidFill>
                  <a:srgbClr val="00458E"/>
                </a:solidFill>
              </a:rPr>
              <a:t>待匹配图像</a:t>
            </a:r>
            <a:r>
              <a:rPr lang="en-US" altLang="zh-CN" dirty="0"/>
              <a:t>)</a:t>
            </a:r>
            <a:r>
              <a:rPr lang="zh-CN" altLang="en-US" dirty="0"/>
              <a:t>之间的关系，使原始图像的直方图匹配特定的形状，即增强特定灰度级分布范围内的图像。所以，从某种意义上，直方图规定化可看作是直方图均衡化方法的改进。</a:t>
            </a:r>
          </a:p>
        </p:txBody>
      </p:sp>
    </p:spTree>
  </p:cSld>
  <p:clrMapOvr>
    <a:masterClrMapping/>
  </p:clrMapOvr>
  <p:transition spd="slow" advClick="0"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3.3.1  </a:t>
            </a:r>
            <a:r>
              <a:rPr lang="zh-CN" altLang="en-US" sz="2100" b="1" dirty="0">
                <a:solidFill>
                  <a:schemeClr val="tx1">
                    <a:lumMod val="75000"/>
                    <a:lumOff val="25000"/>
                  </a:schemeClr>
                </a:solidFill>
                <a:latin typeface="微软雅黑" panose="020B0503020204020204" pitchFamily="34" charset="-122"/>
              </a:rPr>
              <a:t>直方图规定化原理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00787" y="1271221"/>
            <a:ext cx="7416824" cy="1708160"/>
          </a:xfrm>
          <a:prstGeom prst="rect">
            <a:avLst/>
          </a:prstGeom>
          <a:noFill/>
        </p:spPr>
        <p:txBody>
          <a:bodyPr wrap="square" rtlCol="0">
            <a:spAutoFit/>
          </a:bodyPr>
          <a:lstStyle/>
          <a:p>
            <a:r>
              <a:rPr lang="en-US" altLang="zh-CN" sz="1800"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在学习直方图规定化原理之前，我们先来了解概率密度函数的概念。概率密度函数一般以小写标记。对于一维实随机变量</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cs typeface="Times New Roman" panose="02020603050405020304" pitchFamily="18" charset="0"/>
              </a:rPr>
              <a:t>，</a:t>
            </a:r>
            <a:r>
              <a:rPr lang="zh-CN" altLang="en-US" kern="100" dirty="0">
                <a:effectLst/>
                <a:latin typeface="Times New Roman" panose="02020603050405020304" pitchFamily="18" charset="0"/>
                <a:ea typeface="宋体" pitchFamily="2" charset="-122"/>
                <a:cs typeface="Times New Roman" panose="02020603050405020304" pitchFamily="18" charset="0"/>
              </a:rPr>
              <a:t>设他的累积分布函数是          ，如果存在可测函数          满足公式（</a:t>
            </a:r>
            <a:r>
              <a:rPr lang="en-US" altLang="zh-CN" kern="100" dirty="0">
                <a:effectLst/>
                <a:latin typeface="Times New Roman" panose="02020603050405020304" pitchFamily="18" charset="0"/>
                <a:ea typeface="宋体" pitchFamily="2" charset="-122"/>
                <a:cs typeface="Times New Roman" panose="02020603050405020304" pitchFamily="18" charset="0"/>
              </a:rPr>
              <a:t>3-4</a:t>
            </a:r>
            <a:r>
              <a:rPr lang="zh-CN" altLang="en-US" kern="100" dirty="0">
                <a:effectLst/>
                <a:latin typeface="Times New Roman" panose="02020603050405020304" pitchFamily="18" charset="0"/>
                <a:ea typeface="宋体" pitchFamily="2" charset="-122"/>
                <a:cs typeface="Times New Roman" panose="02020603050405020304" pitchFamily="18" charset="0"/>
              </a:rPr>
              <a:t>）  ，那么</a:t>
            </a:r>
            <a:r>
              <a:rPr lang="en-US" altLang="zh-CN" kern="100" dirty="0">
                <a:effectLst/>
                <a:latin typeface="Times New Roman" panose="02020603050405020304" pitchFamily="18" charset="0"/>
                <a:ea typeface="宋体" pitchFamily="2" charset="-122"/>
                <a:cs typeface="Times New Roman" panose="02020603050405020304" pitchFamily="18" charset="0"/>
              </a:rPr>
              <a:t>x</a:t>
            </a:r>
            <a:r>
              <a:rPr lang="zh-CN" altLang="en-US" kern="100" dirty="0">
                <a:effectLst/>
                <a:latin typeface="Times New Roman" panose="02020603050405020304" pitchFamily="18" charset="0"/>
                <a:ea typeface="宋体" pitchFamily="2" charset="-122"/>
                <a:cs typeface="Times New Roman" panose="02020603050405020304" pitchFamily="18" charset="0"/>
              </a:rPr>
              <a:t>是一个连续型随机变量，并且</a:t>
            </a:r>
            <a:endParaRPr lang="zh-CN" altLang="en-US" dirty="0"/>
          </a:p>
          <a:p>
            <a:r>
              <a:rPr lang="zh-CN" altLang="en-US" dirty="0"/>
              <a:t>是它的概率密度函数。</a:t>
            </a:r>
          </a:p>
        </p:txBody>
      </p:sp>
      <p:sp>
        <p:nvSpPr>
          <p:cNvPr id="30" name="Rectangle 27"/>
          <p:cNvSpPr>
            <a:spLocks noChangeArrowheads="1"/>
          </p:cNvSpPr>
          <p:nvPr/>
        </p:nvSpPr>
        <p:spPr bwMode="auto">
          <a:xfrm>
            <a:off x="1188417" y="2039812"/>
            <a:ext cx="453650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1" name="对象 30"/>
          <p:cNvGraphicFramePr>
            <a:graphicFrameLocks noChangeAspect="1"/>
          </p:cNvGraphicFramePr>
          <p:nvPr/>
        </p:nvGraphicFramePr>
        <p:xfrm>
          <a:off x="4244050" y="1970240"/>
          <a:ext cx="657487" cy="408192"/>
        </p:xfrm>
        <a:graphic>
          <a:graphicData uri="http://schemas.openxmlformats.org/presentationml/2006/ole">
            <mc:AlternateContent xmlns:mc="http://schemas.openxmlformats.org/markup-compatibility/2006">
              <mc:Choice xmlns:v="urn:schemas-microsoft-com:vml" Requires="v">
                <p:oleObj spid="_x0000_s2050" r:id="rId4" imgW="381000" imgH="241300" progId="Equation.3">
                  <p:embed/>
                </p:oleObj>
              </mc:Choice>
              <mc:Fallback>
                <p:oleObj r:id="rId4" imgW="381000" imgH="24130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4050" y="1970240"/>
                        <a:ext cx="657487" cy="408192"/>
                      </a:xfrm>
                      <a:prstGeom prst="rect">
                        <a:avLst/>
                      </a:prstGeom>
                      <a:noFill/>
                    </p:spPr>
                  </p:pic>
                </p:oleObj>
              </mc:Fallback>
            </mc:AlternateContent>
          </a:graphicData>
        </a:graphic>
      </p:graphicFrame>
      <p:sp>
        <p:nvSpPr>
          <p:cNvPr id="37" name="Rectangle 35"/>
          <p:cNvSpPr>
            <a:spLocks noChangeArrowheads="1"/>
          </p:cNvSpPr>
          <p:nvPr/>
        </p:nvSpPr>
        <p:spPr bwMode="auto">
          <a:xfrm>
            <a:off x="3852714" y="2033484"/>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8" name="对象 37"/>
          <p:cNvGraphicFramePr>
            <a:graphicFrameLocks noChangeAspect="1"/>
          </p:cNvGraphicFramePr>
          <p:nvPr/>
        </p:nvGraphicFramePr>
        <p:xfrm>
          <a:off x="7387358" y="2024673"/>
          <a:ext cx="569812" cy="353759"/>
        </p:xfrm>
        <a:graphic>
          <a:graphicData uri="http://schemas.openxmlformats.org/presentationml/2006/ole">
            <mc:AlternateContent xmlns:mc="http://schemas.openxmlformats.org/markup-compatibility/2006">
              <mc:Choice xmlns:v="urn:schemas-microsoft-com:vml" Requires="v">
                <p:oleObj spid="_x0000_s2051" r:id="rId6" imgW="381000" imgH="241300" progId="Equation.3">
                  <p:embed/>
                </p:oleObj>
              </mc:Choice>
              <mc:Fallback>
                <p:oleObj r:id="rId6" imgW="381000" imgH="2413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7358" y="2024673"/>
                        <a:ext cx="569812" cy="353759"/>
                      </a:xfrm>
                      <a:prstGeom prst="rect">
                        <a:avLst/>
                      </a:prstGeom>
                      <a:noFill/>
                    </p:spPr>
                  </p:pic>
                </p:oleObj>
              </mc:Fallback>
            </mc:AlternateContent>
          </a:graphicData>
        </a:graphic>
      </p:graphicFrame>
      <p:graphicFrame>
        <p:nvGraphicFramePr>
          <p:cNvPr id="50" name="对象 49"/>
          <p:cNvGraphicFramePr>
            <a:graphicFrameLocks noChangeAspect="1"/>
          </p:cNvGraphicFramePr>
          <p:nvPr/>
        </p:nvGraphicFramePr>
        <p:xfrm>
          <a:off x="7389315" y="2364724"/>
          <a:ext cx="569812" cy="353759"/>
        </p:xfrm>
        <a:graphic>
          <a:graphicData uri="http://schemas.openxmlformats.org/presentationml/2006/ole">
            <mc:AlternateContent xmlns:mc="http://schemas.openxmlformats.org/markup-compatibility/2006">
              <mc:Choice xmlns:v="urn:schemas-microsoft-com:vml" Requires="v">
                <p:oleObj spid="_x0000_s2052" r:id="rId8" imgW="381000" imgH="241300" progId="Equation.3">
                  <p:embed/>
                </p:oleObj>
              </mc:Choice>
              <mc:Fallback>
                <p:oleObj r:id="rId8" imgW="381000" imgH="241300" progId="Equation.3">
                  <p:embed/>
                  <p:pic>
                    <p:nvPicPr>
                      <p:cNvPr id="0" name="对象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9315" y="2364724"/>
                        <a:ext cx="569812" cy="353759"/>
                      </a:xfrm>
                      <a:prstGeom prst="rect">
                        <a:avLst/>
                      </a:prstGeom>
                      <a:noFill/>
                    </p:spPr>
                  </p:pic>
                </p:oleObj>
              </mc:Fallback>
            </mc:AlternateContent>
          </a:graphicData>
        </a:graphic>
      </p:graphicFrame>
      <p:sp>
        <p:nvSpPr>
          <p:cNvPr id="42" name="Rectangle 45"/>
          <p:cNvSpPr>
            <a:spLocks noChangeArrowheads="1"/>
          </p:cNvSpPr>
          <p:nvPr/>
        </p:nvSpPr>
        <p:spPr bwMode="auto">
          <a:xfrm>
            <a:off x="2979733" y="3346713"/>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3" name="对象 42"/>
          <p:cNvGraphicFramePr>
            <a:graphicFrameLocks noChangeAspect="1"/>
          </p:cNvGraphicFramePr>
          <p:nvPr/>
        </p:nvGraphicFramePr>
        <p:xfrm>
          <a:off x="2965929" y="3154534"/>
          <a:ext cx="2187747" cy="657444"/>
        </p:xfrm>
        <a:graphic>
          <a:graphicData uri="http://schemas.openxmlformats.org/presentationml/2006/ole">
            <mc:AlternateContent xmlns:mc="http://schemas.openxmlformats.org/markup-compatibility/2006">
              <mc:Choice xmlns:v="urn:schemas-microsoft-com:vml" Requires="v">
                <p:oleObj spid="_x0000_s2053" r:id="rId9" imgW="1130300" imgH="330200" progId="Equation.3">
                  <p:embed/>
                </p:oleObj>
              </mc:Choice>
              <mc:Fallback>
                <p:oleObj r:id="rId9" imgW="1130300" imgH="330200" progId="Equation.3">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5929" y="3154534"/>
                        <a:ext cx="2187747" cy="657444"/>
                      </a:xfrm>
                      <a:prstGeom prst="rect">
                        <a:avLst/>
                      </a:prstGeom>
                      <a:noFill/>
                    </p:spPr>
                  </p:pic>
                </p:oleObj>
              </mc:Fallback>
            </mc:AlternateContent>
          </a:graphicData>
        </a:graphic>
      </p:graphicFrame>
      <p:sp>
        <p:nvSpPr>
          <p:cNvPr id="52" name="文本框 51"/>
          <p:cNvSpPr txBox="1"/>
          <p:nvPr/>
        </p:nvSpPr>
        <p:spPr>
          <a:xfrm>
            <a:off x="6445002" y="3244580"/>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宋体" pitchFamily="2" charset="-122"/>
              </a:rPr>
              <a:t>(3-4)</a:t>
            </a:r>
            <a:endParaRPr lang="zh-CN" altLang="en-US" dirty="0"/>
          </a:p>
        </p:txBody>
      </p:sp>
      <p:sp>
        <p:nvSpPr>
          <p:cNvPr id="53" name="Rectangle 27"/>
          <p:cNvSpPr>
            <a:spLocks noChangeArrowheads="1"/>
          </p:cNvSpPr>
          <p:nvPr/>
        </p:nvSpPr>
        <p:spPr bwMode="auto">
          <a:xfrm>
            <a:off x="1188417" y="4796888"/>
            <a:ext cx="453650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4" name="文本框 53"/>
          <p:cNvSpPr txBox="1"/>
          <p:nvPr/>
        </p:nvSpPr>
        <p:spPr>
          <a:xfrm>
            <a:off x="684362" y="4170646"/>
            <a:ext cx="7776864" cy="1708160"/>
          </a:xfrm>
          <a:prstGeom prst="rect">
            <a:avLst/>
          </a:prstGeom>
          <a:noFill/>
        </p:spPr>
        <p:txBody>
          <a:bodyPr wrap="square" rtlCol="0">
            <a:spAutoFit/>
          </a:bodyPr>
          <a:lstStyle/>
          <a:p>
            <a:r>
              <a:rPr lang="zh-CN" altLang="en-US" dirty="0"/>
              <a:t>         直方图规定化的目的就是调整原始图像的直方图使之符合某一规定直方图的要求。设          和         分别表示原始灰度图像和目标图像的灰度分布概率密度函数。根据直方图规定化的特点与要求，应使原始图像的直方图具有 所表示的形状。因此，建立       和          之间的关系是直方图规定化必须要解决的问题。</a:t>
            </a:r>
          </a:p>
        </p:txBody>
      </p:sp>
      <p:graphicFrame>
        <p:nvGraphicFramePr>
          <p:cNvPr id="55" name="对象 54"/>
          <p:cNvGraphicFramePr>
            <a:graphicFrameLocks noChangeAspect="1"/>
          </p:cNvGraphicFramePr>
          <p:nvPr/>
        </p:nvGraphicFramePr>
        <p:xfrm>
          <a:off x="3662212" y="4531110"/>
          <a:ext cx="622549" cy="360560"/>
        </p:xfrm>
        <a:graphic>
          <a:graphicData uri="http://schemas.openxmlformats.org/presentationml/2006/ole">
            <mc:AlternateContent xmlns:mc="http://schemas.openxmlformats.org/markup-compatibility/2006">
              <mc:Choice xmlns:v="urn:schemas-microsoft-com:vml" Requires="v">
                <p:oleObj spid="_x0000_s2054" r:id="rId11" imgW="381000" imgH="215900" progId="Equation.3">
                  <p:embed/>
                </p:oleObj>
              </mc:Choice>
              <mc:Fallback>
                <p:oleObj r:id="rId11" imgW="381000" imgH="215900" progId="Equation.3">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62212" y="4531110"/>
                        <a:ext cx="622549" cy="360560"/>
                      </a:xfrm>
                      <a:prstGeom prst="rect">
                        <a:avLst/>
                      </a:prstGeom>
                      <a:noFill/>
                    </p:spPr>
                  </p:pic>
                </p:oleObj>
              </mc:Fallback>
            </mc:AlternateContent>
          </a:graphicData>
        </a:graphic>
      </p:graphicFrame>
      <p:graphicFrame>
        <p:nvGraphicFramePr>
          <p:cNvPr id="56" name="对象 55"/>
          <p:cNvGraphicFramePr>
            <a:graphicFrameLocks noChangeAspect="1"/>
          </p:cNvGraphicFramePr>
          <p:nvPr/>
        </p:nvGraphicFramePr>
        <p:xfrm>
          <a:off x="4509199" y="4534604"/>
          <a:ext cx="622548" cy="357066"/>
        </p:xfrm>
        <a:graphic>
          <a:graphicData uri="http://schemas.openxmlformats.org/presentationml/2006/ole">
            <mc:AlternateContent xmlns:mc="http://schemas.openxmlformats.org/markup-compatibility/2006">
              <mc:Choice xmlns:v="urn:schemas-microsoft-com:vml" Requires="v">
                <p:oleObj spid="_x0000_s2055" r:id="rId13" imgW="381000" imgH="215900" progId="Equation.3">
                  <p:embed/>
                </p:oleObj>
              </mc:Choice>
              <mc:Fallback>
                <p:oleObj r:id="rId13" imgW="381000" imgH="215900" progId="Equation.3">
                  <p:embed/>
                  <p:pic>
                    <p:nvPicPr>
                      <p:cNvPr id="0" name="对象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09199" y="4534604"/>
                        <a:ext cx="622548" cy="357066"/>
                      </a:xfrm>
                      <a:prstGeom prst="rect">
                        <a:avLst/>
                      </a:prstGeom>
                      <a:noFill/>
                    </p:spPr>
                  </p:pic>
                </p:oleObj>
              </mc:Fallback>
            </mc:AlternateContent>
          </a:graphicData>
        </a:graphic>
      </p:graphicFrame>
      <p:graphicFrame>
        <p:nvGraphicFramePr>
          <p:cNvPr id="57" name="对象 56"/>
          <p:cNvGraphicFramePr>
            <a:graphicFrameLocks noChangeAspect="1"/>
          </p:cNvGraphicFramePr>
          <p:nvPr/>
        </p:nvGraphicFramePr>
        <p:xfrm>
          <a:off x="7741146" y="5157531"/>
          <a:ext cx="576064" cy="371485"/>
        </p:xfrm>
        <a:graphic>
          <a:graphicData uri="http://schemas.openxmlformats.org/presentationml/2006/ole">
            <mc:AlternateContent xmlns:mc="http://schemas.openxmlformats.org/markup-compatibility/2006">
              <mc:Choice xmlns:v="urn:schemas-microsoft-com:vml" Requires="v">
                <p:oleObj spid="_x0000_s2056" r:id="rId15" imgW="381000" imgH="215900" progId="Equation.3">
                  <p:embed/>
                </p:oleObj>
              </mc:Choice>
              <mc:Fallback>
                <p:oleObj r:id="rId15" imgW="381000" imgH="215900" progId="Equation.3">
                  <p:embed/>
                  <p:pic>
                    <p:nvPicPr>
                      <p:cNvPr id="0" name="对象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41146" y="5157531"/>
                        <a:ext cx="576064" cy="371485"/>
                      </a:xfrm>
                      <a:prstGeom prst="rect">
                        <a:avLst/>
                      </a:prstGeom>
                      <a:noFill/>
                    </p:spPr>
                  </p:pic>
                </p:oleObj>
              </mc:Fallback>
            </mc:AlternateContent>
          </a:graphicData>
        </a:graphic>
      </p:graphicFrame>
      <p:graphicFrame>
        <p:nvGraphicFramePr>
          <p:cNvPr id="58" name="对象 57"/>
          <p:cNvGraphicFramePr>
            <a:graphicFrameLocks noChangeAspect="1"/>
          </p:cNvGraphicFramePr>
          <p:nvPr/>
        </p:nvGraphicFramePr>
        <p:xfrm>
          <a:off x="1008310" y="5476404"/>
          <a:ext cx="622549" cy="360560"/>
        </p:xfrm>
        <a:graphic>
          <a:graphicData uri="http://schemas.openxmlformats.org/presentationml/2006/ole">
            <mc:AlternateContent xmlns:mc="http://schemas.openxmlformats.org/markup-compatibility/2006">
              <mc:Choice xmlns:v="urn:schemas-microsoft-com:vml" Requires="v">
                <p:oleObj spid="_x0000_s2057" r:id="rId17" imgW="381000" imgH="215900" progId="Equation.3">
                  <p:embed/>
                </p:oleObj>
              </mc:Choice>
              <mc:Fallback>
                <p:oleObj r:id="rId17" imgW="381000" imgH="215900" progId="Equation.3">
                  <p:embed/>
                  <p:pic>
                    <p:nvPicPr>
                      <p:cNvPr id="0" name="对象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8310" y="5476404"/>
                        <a:ext cx="622549" cy="360560"/>
                      </a:xfrm>
                      <a:prstGeom prst="rect">
                        <a:avLst/>
                      </a:prstGeom>
                      <a:noFill/>
                    </p:spPr>
                  </p:pic>
                </p:oleObj>
              </mc:Fallback>
            </mc:AlternateContent>
          </a:graphicData>
        </a:graphic>
      </p:graphicFrame>
    </p:spTree>
  </p:cSld>
  <p:clrMapOvr>
    <a:masterClrMapping/>
  </p:clrMapOvr>
  <p:transition spd="slow" advClick="0"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3.3.1  </a:t>
            </a:r>
            <a:r>
              <a:rPr lang="zh-CN" altLang="en-US" sz="2100" b="1" dirty="0">
                <a:solidFill>
                  <a:schemeClr val="tx1">
                    <a:lumMod val="75000"/>
                    <a:lumOff val="25000"/>
                  </a:schemeClr>
                </a:solidFill>
                <a:latin typeface="微软雅黑" panose="020B0503020204020204" pitchFamily="34" charset="-122"/>
              </a:rPr>
              <a:t>直方图规定化原理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684362" y="1413570"/>
            <a:ext cx="7848872" cy="738664"/>
          </a:xfrm>
          <a:prstGeom prst="rect">
            <a:avLst/>
          </a:prstGeom>
          <a:noFill/>
        </p:spPr>
        <p:txBody>
          <a:bodyPr wrap="square" rtlCol="0">
            <a:spAutoFit/>
          </a:bodyPr>
          <a:lstStyle/>
          <a:p>
            <a:r>
              <a:rPr lang="zh-CN" altLang="en-US" dirty="0"/>
              <a:t>         根据直方图均衡化理论，首先对原始图像进行直方图均衡化处理，如公式</a:t>
            </a:r>
            <a:r>
              <a:rPr lang="en-US" altLang="zh-CN" dirty="0"/>
              <a:t>(3-5)</a:t>
            </a:r>
            <a:r>
              <a:rPr lang="zh-CN" altLang="en-US" dirty="0"/>
              <a:t>所示：</a:t>
            </a:r>
          </a:p>
        </p:txBody>
      </p:sp>
      <p:graphicFrame>
        <p:nvGraphicFramePr>
          <p:cNvPr id="5" name="对象 4"/>
          <p:cNvGraphicFramePr>
            <a:graphicFrameLocks noChangeAspect="1"/>
          </p:cNvGraphicFramePr>
          <p:nvPr/>
        </p:nvGraphicFramePr>
        <p:xfrm>
          <a:off x="2628578" y="2152234"/>
          <a:ext cx="2733228" cy="708169"/>
        </p:xfrm>
        <a:graphic>
          <a:graphicData uri="http://schemas.openxmlformats.org/presentationml/2006/ole">
            <mc:AlternateContent xmlns:mc="http://schemas.openxmlformats.org/markup-compatibility/2006">
              <mc:Choice xmlns:v="urn:schemas-microsoft-com:vml" Requires="v">
                <p:oleObj spid="_x0000_s3074" r:id="rId4" imgW="1308100" imgH="330200" progId="Equation.3">
                  <p:embed/>
                </p:oleObj>
              </mc:Choice>
              <mc:Fallback>
                <p:oleObj r:id="rId4" imgW="1308100" imgH="3302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8578" y="2152234"/>
                        <a:ext cx="2733228" cy="708169"/>
                      </a:xfrm>
                      <a:prstGeom prst="rect">
                        <a:avLst/>
                      </a:prstGeom>
                      <a:noFill/>
                    </p:spPr>
                  </p:pic>
                </p:oleObj>
              </mc:Fallback>
            </mc:AlternateContent>
          </a:graphicData>
        </a:graphic>
      </p:graphicFrame>
      <p:sp>
        <p:nvSpPr>
          <p:cNvPr id="26" name="文本框 25"/>
          <p:cNvSpPr txBox="1"/>
          <p:nvPr/>
        </p:nvSpPr>
        <p:spPr>
          <a:xfrm>
            <a:off x="6733034" y="2295049"/>
            <a:ext cx="1152128" cy="415498"/>
          </a:xfrm>
          <a:prstGeom prst="rect">
            <a:avLst/>
          </a:prstGeom>
          <a:noFill/>
        </p:spPr>
        <p:txBody>
          <a:bodyPr wrap="square">
            <a:spAutoFit/>
          </a:bodyPr>
          <a:lstStyle/>
          <a:p>
            <a:r>
              <a:rPr lang="en-US" altLang="zh-CN" dirty="0">
                <a:effectLst/>
                <a:latin typeface="Times New Roman" panose="02020603050405020304" pitchFamily="18" charset="0"/>
                <a:ea typeface="宋体" pitchFamily="2" charset="-122"/>
              </a:rPr>
              <a:t>(3-5)</a:t>
            </a:r>
            <a:endParaRPr lang="zh-CN" altLang="en-US" dirty="0"/>
          </a:p>
        </p:txBody>
      </p:sp>
      <p:sp>
        <p:nvSpPr>
          <p:cNvPr id="7" name="文本框 6"/>
          <p:cNvSpPr txBox="1"/>
          <p:nvPr/>
        </p:nvSpPr>
        <p:spPr>
          <a:xfrm>
            <a:off x="733529" y="2997746"/>
            <a:ext cx="7316995" cy="738664"/>
          </a:xfrm>
          <a:prstGeom prst="rect">
            <a:avLst/>
          </a:prstGeom>
          <a:noFill/>
        </p:spPr>
        <p:txBody>
          <a:bodyPr wrap="square" rtlCol="0">
            <a:spAutoFit/>
          </a:bodyPr>
          <a:lstStyle/>
          <a:p>
            <a:r>
              <a:rPr lang="zh-CN" altLang="en-US" dirty="0"/>
              <a:t>         对于目标图像也采用同样的方法进行均衡化处理，如公式</a:t>
            </a:r>
            <a:r>
              <a:rPr lang="en-US" altLang="zh-CN" dirty="0"/>
              <a:t>(3-6)</a:t>
            </a:r>
            <a:r>
              <a:rPr lang="zh-CN" altLang="en-US" dirty="0"/>
              <a:t>所示：</a:t>
            </a:r>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2628577" y="3873753"/>
          <a:ext cx="2624431" cy="662451"/>
        </p:xfrm>
        <a:graphic>
          <a:graphicData uri="http://schemas.openxmlformats.org/presentationml/2006/ole">
            <mc:AlternateContent xmlns:mc="http://schemas.openxmlformats.org/markup-compatibility/2006">
              <mc:Choice xmlns:v="urn:schemas-microsoft-com:vml" Requires="v">
                <p:oleObj spid="_x0000_s3075" r:id="rId6" imgW="1346200" imgH="330200" progId="Equation.3">
                  <p:embed/>
                </p:oleObj>
              </mc:Choice>
              <mc:Fallback>
                <p:oleObj r:id="rId6" imgW="1346200" imgH="330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8577" y="3873753"/>
                        <a:ext cx="2624431" cy="662451"/>
                      </a:xfrm>
                      <a:prstGeom prst="rect">
                        <a:avLst/>
                      </a:prstGeom>
                      <a:noFill/>
                    </p:spPr>
                  </p:pic>
                </p:oleObj>
              </mc:Fallback>
            </mc:AlternateContent>
          </a:graphicData>
        </a:graphic>
      </p:graphicFrame>
      <p:sp>
        <p:nvSpPr>
          <p:cNvPr id="32" name="文本框 31"/>
          <p:cNvSpPr txBox="1"/>
          <p:nvPr/>
        </p:nvSpPr>
        <p:spPr>
          <a:xfrm>
            <a:off x="6733034" y="3997229"/>
            <a:ext cx="1152128" cy="415498"/>
          </a:xfrm>
          <a:prstGeom prst="rect">
            <a:avLst/>
          </a:prstGeom>
          <a:noFill/>
        </p:spPr>
        <p:txBody>
          <a:bodyPr wrap="square">
            <a:spAutoFit/>
          </a:bodyPr>
          <a:lstStyle/>
          <a:p>
            <a:r>
              <a:rPr lang="en-US" altLang="zh-CN" dirty="0">
                <a:effectLst/>
                <a:latin typeface="Times New Roman" panose="02020603050405020304" pitchFamily="18" charset="0"/>
                <a:ea typeface="宋体" pitchFamily="2" charset="-122"/>
              </a:rPr>
              <a:t>(3-6)</a:t>
            </a:r>
            <a:endParaRPr lang="zh-CN" altLang="en-US" dirty="0"/>
          </a:p>
        </p:txBody>
      </p:sp>
      <p:sp>
        <p:nvSpPr>
          <p:cNvPr id="10" name="文本框 9"/>
          <p:cNvSpPr txBox="1"/>
          <p:nvPr/>
        </p:nvSpPr>
        <p:spPr>
          <a:xfrm>
            <a:off x="1281410" y="4797946"/>
            <a:ext cx="3934090" cy="415498"/>
          </a:xfrm>
          <a:prstGeom prst="rect">
            <a:avLst/>
          </a:prstGeom>
          <a:noFill/>
        </p:spPr>
        <p:txBody>
          <a:bodyPr wrap="none" rtlCol="0">
            <a:spAutoFit/>
          </a:bodyPr>
          <a:lstStyle/>
          <a:p>
            <a:r>
              <a:rPr lang="zh-CN" altLang="en-US"/>
              <a:t>上式的逆变换如公式</a:t>
            </a:r>
            <a:r>
              <a:rPr lang="en-US" altLang="zh-CN"/>
              <a:t>(3-7)</a:t>
            </a:r>
            <a:r>
              <a:rPr lang="zh-CN" altLang="en-US"/>
              <a:t>所示：</a:t>
            </a:r>
            <a:endParaRPr lang="zh-CN" altLang="en-US" dirty="0"/>
          </a:p>
        </p:txBody>
      </p:sp>
      <p:graphicFrame>
        <p:nvGraphicFramePr>
          <p:cNvPr id="16" name="对象 15"/>
          <p:cNvGraphicFramePr>
            <a:graphicFrameLocks noChangeAspect="1"/>
          </p:cNvGraphicFramePr>
          <p:nvPr/>
        </p:nvGraphicFramePr>
        <p:xfrm>
          <a:off x="2628577" y="5301156"/>
          <a:ext cx="1512169" cy="479391"/>
        </p:xfrm>
        <a:graphic>
          <a:graphicData uri="http://schemas.openxmlformats.org/presentationml/2006/ole">
            <mc:AlternateContent xmlns:mc="http://schemas.openxmlformats.org/markup-compatibility/2006">
              <mc:Choice xmlns:v="urn:schemas-microsoft-com:vml" Requires="v">
                <p:oleObj spid="_x0000_s3076" r:id="rId8" imgW="673100" imgH="228600" progId="Equation.3">
                  <p:embed/>
                </p:oleObj>
              </mc:Choice>
              <mc:Fallback>
                <p:oleObj r:id="rId8" imgW="673100" imgH="22860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8577" y="5301156"/>
                        <a:ext cx="1512169" cy="479391"/>
                      </a:xfrm>
                      <a:prstGeom prst="rect">
                        <a:avLst/>
                      </a:prstGeom>
                      <a:noFill/>
                    </p:spPr>
                  </p:pic>
                </p:oleObj>
              </mc:Fallback>
            </mc:AlternateContent>
          </a:graphicData>
        </a:graphic>
      </p:graphicFrame>
      <p:sp>
        <p:nvSpPr>
          <p:cNvPr id="39" name="文本框 38"/>
          <p:cNvSpPr txBox="1"/>
          <p:nvPr/>
        </p:nvSpPr>
        <p:spPr>
          <a:xfrm>
            <a:off x="6752578" y="5365049"/>
            <a:ext cx="1152128" cy="415498"/>
          </a:xfrm>
          <a:prstGeom prst="rect">
            <a:avLst/>
          </a:prstGeom>
          <a:noFill/>
        </p:spPr>
        <p:txBody>
          <a:bodyPr wrap="square">
            <a:spAutoFit/>
          </a:bodyPr>
          <a:lstStyle/>
          <a:p>
            <a:r>
              <a:rPr lang="en-US" altLang="zh-CN" dirty="0">
                <a:effectLst/>
                <a:latin typeface="Times New Roman" panose="02020603050405020304" pitchFamily="18" charset="0"/>
                <a:ea typeface="宋体" pitchFamily="2" charset="-122"/>
              </a:rPr>
              <a:t>(3-7)</a:t>
            </a:r>
            <a:endParaRPr lang="zh-CN" altLang="en-US" dirty="0"/>
          </a:p>
        </p:txBody>
      </p:sp>
    </p:spTree>
  </p:cSld>
  <p:clrMapOvr>
    <a:masterClrMapping/>
  </p:clrMapOvr>
  <p:transition spd="slow" advClick="0"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3.3.1  </a:t>
            </a:r>
            <a:r>
              <a:rPr lang="zh-CN" altLang="en-US" sz="2100" b="1" dirty="0">
                <a:solidFill>
                  <a:schemeClr val="tx1">
                    <a:lumMod val="75000"/>
                    <a:lumOff val="25000"/>
                  </a:schemeClr>
                </a:solidFill>
                <a:latin typeface="微软雅黑" panose="020B0503020204020204" pitchFamily="34" charset="-122"/>
              </a:rPr>
              <a:t>直方图规定化原理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684362" y="1413570"/>
            <a:ext cx="7848872" cy="1061829"/>
          </a:xfrm>
          <a:prstGeom prst="rect">
            <a:avLst/>
          </a:prstGeom>
          <a:noFill/>
        </p:spPr>
        <p:txBody>
          <a:bodyPr wrap="square" rtlCol="0">
            <a:spAutoFit/>
          </a:bodyPr>
          <a:lstStyle/>
          <a:p>
            <a:r>
              <a:rPr lang="zh-CN" altLang="en-US" dirty="0"/>
              <a:t>         上式表明，可通过均衡化后的灰度级</a:t>
            </a:r>
            <a:r>
              <a:rPr lang="en-US" altLang="zh-CN" dirty="0"/>
              <a:t>v</a:t>
            </a:r>
            <a:r>
              <a:rPr lang="zh-CN" altLang="en-US" dirty="0"/>
              <a:t>求出目标函数的灰度级</a:t>
            </a:r>
            <a:r>
              <a:rPr lang="en-US" altLang="zh-CN" dirty="0"/>
              <a:t>z</a:t>
            </a:r>
            <a:r>
              <a:rPr lang="zh-CN" altLang="en-US" dirty="0"/>
              <a:t>。由于对目标图像和原始图像都进行了均衡化处理，因此具有相同的分布密度，如公式</a:t>
            </a:r>
            <a:r>
              <a:rPr lang="en-US" altLang="zh-CN" dirty="0"/>
              <a:t>(3-8)</a:t>
            </a:r>
            <a:r>
              <a:rPr lang="zh-CN" altLang="en-US" dirty="0"/>
              <a:t>所示：</a:t>
            </a:r>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对象 14"/>
          <p:cNvGraphicFramePr>
            <a:graphicFrameLocks noChangeAspect="1"/>
          </p:cNvGraphicFramePr>
          <p:nvPr/>
        </p:nvGraphicFramePr>
        <p:xfrm>
          <a:off x="2602897" y="2593075"/>
          <a:ext cx="2002253" cy="501405"/>
        </p:xfrm>
        <a:graphic>
          <a:graphicData uri="http://schemas.openxmlformats.org/presentationml/2006/ole">
            <mc:AlternateContent xmlns:mc="http://schemas.openxmlformats.org/markup-compatibility/2006">
              <mc:Choice xmlns:v="urn:schemas-microsoft-com:vml" Requires="v">
                <p:oleObj spid="_x0000_s4098" r:id="rId4" imgW="862965" imgH="228600" progId="Equation.3">
                  <p:embed/>
                </p:oleObj>
              </mc:Choice>
              <mc:Fallback>
                <p:oleObj r:id="rId4" imgW="862965" imgH="2286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2897" y="2593075"/>
                        <a:ext cx="2002253" cy="501405"/>
                      </a:xfrm>
                      <a:prstGeom prst="rect">
                        <a:avLst/>
                      </a:prstGeom>
                      <a:noFill/>
                    </p:spPr>
                  </p:pic>
                </p:oleObj>
              </mc:Fallback>
            </mc:AlternateContent>
          </a:graphicData>
        </a:graphic>
      </p:graphicFrame>
      <p:sp>
        <p:nvSpPr>
          <p:cNvPr id="27" name="文本框 26"/>
          <p:cNvSpPr txBox="1"/>
          <p:nvPr/>
        </p:nvSpPr>
        <p:spPr>
          <a:xfrm>
            <a:off x="6779991" y="2636028"/>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3-8</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28" name="文本框 27"/>
          <p:cNvSpPr txBox="1"/>
          <p:nvPr/>
        </p:nvSpPr>
        <p:spPr>
          <a:xfrm>
            <a:off x="684362" y="3335098"/>
            <a:ext cx="7776864" cy="738664"/>
          </a:xfrm>
          <a:prstGeom prst="rect">
            <a:avLst/>
          </a:prstGeom>
          <a:noFill/>
        </p:spPr>
        <p:txBody>
          <a:bodyPr wrap="square">
            <a:spAutoFit/>
          </a:bodyPr>
          <a:lstStyle/>
          <a:p>
            <a:r>
              <a:rPr lang="zh-CN" altLang="en-US" dirty="0"/>
              <a:t>         因而可以用原始图像均衡化后的灰度级</a:t>
            </a:r>
            <a:r>
              <a:rPr lang="en-US" altLang="zh-CN" dirty="0"/>
              <a:t>s</a:t>
            </a:r>
            <a:r>
              <a:rPr lang="zh-CN" altLang="en-US" dirty="0"/>
              <a:t>代表</a:t>
            </a:r>
            <a:r>
              <a:rPr lang="en-US" altLang="zh-CN" dirty="0"/>
              <a:t>v</a:t>
            </a:r>
            <a:r>
              <a:rPr lang="zh-CN" altLang="en-US" dirty="0"/>
              <a:t>，如公式</a:t>
            </a:r>
            <a:r>
              <a:rPr lang="en-US" altLang="zh-CN" dirty="0"/>
              <a:t>(3-9)</a:t>
            </a:r>
            <a:r>
              <a:rPr lang="zh-CN" altLang="en-US" dirty="0"/>
              <a:t>所示：</a:t>
            </a:r>
          </a:p>
        </p:txBody>
      </p:sp>
      <p:graphicFrame>
        <p:nvGraphicFramePr>
          <p:cNvPr id="22" name="对象 21"/>
          <p:cNvGraphicFramePr>
            <a:graphicFrameLocks noChangeAspect="1"/>
          </p:cNvGraphicFramePr>
          <p:nvPr/>
        </p:nvGraphicFramePr>
        <p:xfrm>
          <a:off x="2602897" y="4072945"/>
          <a:ext cx="2357724" cy="446132"/>
        </p:xfrm>
        <a:graphic>
          <a:graphicData uri="http://schemas.openxmlformats.org/presentationml/2006/ole">
            <mc:AlternateContent xmlns:mc="http://schemas.openxmlformats.org/markup-compatibility/2006">
              <mc:Choice xmlns:v="urn:schemas-microsoft-com:vml" Requires="v">
                <p:oleObj spid="_x0000_s4099" r:id="rId6" imgW="1206500" imgH="228600" progId="Equation.3">
                  <p:embed/>
                </p:oleObj>
              </mc:Choice>
              <mc:Fallback>
                <p:oleObj r:id="rId6" imgW="1206500" imgH="228600"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2897" y="4072945"/>
                        <a:ext cx="2357724" cy="446132"/>
                      </a:xfrm>
                      <a:prstGeom prst="rect">
                        <a:avLst/>
                      </a:prstGeom>
                      <a:noFill/>
                    </p:spPr>
                  </p:pic>
                </p:oleObj>
              </mc:Fallback>
            </mc:AlternateContent>
          </a:graphicData>
        </a:graphic>
      </p:graphicFrame>
      <p:sp>
        <p:nvSpPr>
          <p:cNvPr id="33" name="文本框 32"/>
          <p:cNvSpPr txBox="1"/>
          <p:nvPr/>
        </p:nvSpPr>
        <p:spPr>
          <a:xfrm>
            <a:off x="6789954" y="4139173"/>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3-9</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4" name="文本框 3"/>
          <p:cNvSpPr txBox="1"/>
          <p:nvPr/>
        </p:nvSpPr>
        <p:spPr>
          <a:xfrm>
            <a:off x="828378" y="5085978"/>
            <a:ext cx="7488832" cy="738664"/>
          </a:xfrm>
          <a:prstGeom prst="rect">
            <a:avLst/>
          </a:prstGeom>
          <a:noFill/>
        </p:spPr>
        <p:txBody>
          <a:bodyPr wrap="square" rtlCol="0">
            <a:spAutoFit/>
          </a:bodyPr>
          <a:lstStyle/>
          <a:p>
            <a:r>
              <a:rPr lang="zh-CN" altLang="en-US" dirty="0"/>
              <a:t>        所以可以依据原始图像均衡化后的图像的灰度值得到目标图像的灰度级     。</a:t>
            </a:r>
          </a:p>
        </p:txBody>
      </p:sp>
      <p:graphicFrame>
        <p:nvGraphicFramePr>
          <p:cNvPr id="5" name="对象 4"/>
          <p:cNvGraphicFramePr>
            <a:graphicFrameLocks noChangeAspect="1"/>
          </p:cNvGraphicFramePr>
          <p:nvPr/>
        </p:nvGraphicFramePr>
        <p:xfrm>
          <a:off x="2542492" y="5446017"/>
          <a:ext cx="302109" cy="302109"/>
        </p:xfrm>
        <a:graphic>
          <a:graphicData uri="http://schemas.openxmlformats.org/presentationml/2006/ole">
            <mc:AlternateContent xmlns:mc="http://schemas.openxmlformats.org/markup-compatibility/2006">
              <mc:Choice xmlns:v="urn:schemas-microsoft-com:vml" Requires="v">
                <p:oleObj spid="_x0000_s4100" r:id="rId8" imgW="127000" imgH="127000" progId="Equation.3">
                  <p:embed/>
                </p:oleObj>
              </mc:Choice>
              <mc:Fallback>
                <p:oleObj r:id="rId8" imgW="127000" imgH="12700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2492" y="5446017"/>
                        <a:ext cx="302109" cy="302109"/>
                      </a:xfrm>
                      <a:prstGeom prst="rect">
                        <a:avLst/>
                      </a:prstGeom>
                      <a:noFill/>
                    </p:spPr>
                  </p:pic>
                </p:oleObj>
              </mc:Fallback>
            </mc:AlternateContent>
          </a:graphicData>
        </a:graphic>
      </p:graphicFrame>
    </p:spTree>
  </p:cSld>
  <p:clrMapOvr>
    <a:masterClrMapping/>
  </p:clrMapOvr>
  <p:transition spd="slow" advClick="0"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3.3.1  </a:t>
            </a:r>
            <a:r>
              <a:rPr lang="zh-CN" altLang="en-US" sz="2100" b="1" dirty="0">
                <a:solidFill>
                  <a:schemeClr val="tx1">
                    <a:lumMod val="75000"/>
                    <a:lumOff val="25000"/>
                  </a:schemeClr>
                </a:solidFill>
                <a:latin typeface="微软雅黑" panose="020B0503020204020204" pitchFamily="34" charset="-122"/>
              </a:rPr>
              <a:t>直方图规定化原理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684362" y="1413570"/>
            <a:ext cx="7848872" cy="1061829"/>
          </a:xfrm>
          <a:prstGeom prst="rect">
            <a:avLst/>
          </a:prstGeom>
          <a:noFill/>
        </p:spPr>
        <p:txBody>
          <a:bodyPr wrap="square" rtlCol="0">
            <a:spAutoFit/>
          </a:bodyPr>
          <a:lstStyle/>
          <a:p>
            <a:r>
              <a:rPr lang="zh-CN" altLang="en-US" dirty="0"/>
              <a:t>         上式表明，可通过均衡化后的灰度级</a:t>
            </a:r>
            <a:r>
              <a:rPr lang="en-US" altLang="zh-CN" dirty="0"/>
              <a:t>v</a:t>
            </a:r>
            <a:r>
              <a:rPr lang="zh-CN" altLang="en-US" dirty="0"/>
              <a:t>求出目标函数的灰度级</a:t>
            </a:r>
            <a:r>
              <a:rPr lang="en-US" altLang="zh-CN" dirty="0"/>
              <a:t>z</a:t>
            </a:r>
            <a:r>
              <a:rPr lang="zh-CN" altLang="en-US" dirty="0"/>
              <a:t>。由于对目标图像和原始图像都进行了均衡化处理，因此具有相同的分布密度，如公式</a:t>
            </a:r>
            <a:r>
              <a:rPr lang="en-US" altLang="zh-CN" dirty="0"/>
              <a:t>(3-8)</a:t>
            </a:r>
            <a:r>
              <a:rPr lang="zh-CN" altLang="en-US" dirty="0"/>
              <a:t>所示：</a:t>
            </a:r>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对象 14"/>
          <p:cNvGraphicFramePr>
            <a:graphicFrameLocks noChangeAspect="1"/>
          </p:cNvGraphicFramePr>
          <p:nvPr/>
        </p:nvGraphicFramePr>
        <p:xfrm>
          <a:off x="2602897" y="2593075"/>
          <a:ext cx="2002253" cy="501405"/>
        </p:xfrm>
        <a:graphic>
          <a:graphicData uri="http://schemas.openxmlformats.org/presentationml/2006/ole">
            <mc:AlternateContent xmlns:mc="http://schemas.openxmlformats.org/markup-compatibility/2006">
              <mc:Choice xmlns:v="urn:schemas-microsoft-com:vml" Requires="v">
                <p:oleObj spid="_x0000_s5122" r:id="rId4" imgW="862965" imgH="228600" progId="Equation.3">
                  <p:embed/>
                </p:oleObj>
              </mc:Choice>
              <mc:Fallback>
                <p:oleObj r:id="rId4" imgW="862965" imgH="228600" progId="Equation.3">
                  <p:embed/>
                  <p:pic>
                    <p:nvPicPr>
                      <p:cNvPr id="0" name="对象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2897" y="2593075"/>
                        <a:ext cx="2002253" cy="501405"/>
                      </a:xfrm>
                      <a:prstGeom prst="rect">
                        <a:avLst/>
                      </a:prstGeom>
                      <a:noFill/>
                    </p:spPr>
                  </p:pic>
                </p:oleObj>
              </mc:Fallback>
            </mc:AlternateContent>
          </a:graphicData>
        </a:graphic>
      </p:graphicFrame>
      <p:sp>
        <p:nvSpPr>
          <p:cNvPr id="27" name="文本框 26"/>
          <p:cNvSpPr txBox="1"/>
          <p:nvPr/>
        </p:nvSpPr>
        <p:spPr>
          <a:xfrm>
            <a:off x="6779991" y="2636028"/>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3-8</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28" name="文本框 27"/>
          <p:cNvSpPr txBox="1"/>
          <p:nvPr/>
        </p:nvSpPr>
        <p:spPr>
          <a:xfrm>
            <a:off x="684362" y="3335098"/>
            <a:ext cx="7776864" cy="738664"/>
          </a:xfrm>
          <a:prstGeom prst="rect">
            <a:avLst/>
          </a:prstGeom>
          <a:noFill/>
        </p:spPr>
        <p:txBody>
          <a:bodyPr wrap="square">
            <a:spAutoFit/>
          </a:bodyPr>
          <a:lstStyle/>
          <a:p>
            <a:r>
              <a:rPr lang="zh-CN" altLang="en-US" dirty="0"/>
              <a:t>         因而可以用原始图像均衡化后的灰度级</a:t>
            </a:r>
            <a:r>
              <a:rPr lang="en-US" altLang="zh-CN" dirty="0"/>
              <a:t>s</a:t>
            </a:r>
            <a:r>
              <a:rPr lang="zh-CN" altLang="en-US" dirty="0"/>
              <a:t>代表</a:t>
            </a:r>
            <a:r>
              <a:rPr lang="en-US" altLang="zh-CN" dirty="0"/>
              <a:t>v</a:t>
            </a:r>
            <a:r>
              <a:rPr lang="zh-CN" altLang="en-US" dirty="0"/>
              <a:t>，如公式</a:t>
            </a:r>
            <a:r>
              <a:rPr lang="en-US" altLang="zh-CN" dirty="0"/>
              <a:t>(3-9)</a:t>
            </a:r>
            <a:r>
              <a:rPr lang="zh-CN" altLang="en-US" dirty="0"/>
              <a:t>所示：</a:t>
            </a:r>
          </a:p>
        </p:txBody>
      </p:sp>
      <p:graphicFrame>
        <p:nvGraphicFramePr>
          <p:cNvPr id="22" name="对象 21"/>
          <p:cNvGraphicFramePr>
            <a:graphicFrameLocks noChangeAspect="1"/>
          </p:cNvGraphicFramePr>
          <p:nvPr/>
        </p:nvGraphicFramePr>
        <p:xfrm>
          <a:off x="2602897" y="4072945"/>
          <a:ext cx="2357724" cy="446132"/>
        </p:xfrm>
        <a:graphic>
          <a:graphicData uri="http://schemas.openxmlformats.org/presentationml/2006/ole">
            <mc:AlternateContent xmlns:mc="http://schemas.openxmlformats.org/markup-compatibility/2006">
              <mc:Choice xmlns:v="urn:schemas-microsoft-com:vml" Requires="v">
                <p:oleObj spid="_x0000_s5123" r:id="rId4" imgW="1206500" imgH="228600" progId="Equation.3">
                  <p:embed/>
                </p:oleObj>
              </mc:Choice>
              <mc:Fallback>
                <p:oleObj r:id="rId4" imgW="1206500" imgH="228600" progId="Equation.3">
                  <p:embed/>
                  <p:pic>
                    <p:nvPicPr>
                      <p:cNvPr id="0" name="对象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2897" y="4072945"/>
                        <a:ext cx="2357724" cy="446132"/>
                      </a:xfrm>
                      <a:prstGeom prst="rect">
                        <a:avLst/>
                      </a:prstGeom>
                      <a:noFill/>
                    </p:spPr>
                  </p:pic>
                </p:oleObj>
              </mc:Fallback>
            </mc:AlternateContent>
          </a:graphicData>
        </a:graphic>
      </p:graphicFrame>
      <p:sp>
        <p:nvSpPr>
          <p:cNvPr id="33" name="文本框 32"/>
          <p:cNvSpPr txBox="1"/>
          <p:nvPr/>
        </p:nvSpPr>
        <p:spPr>
          <a:xfrm>
            <a:off x="6789954" y="4139173"/>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3-9</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4" name="文本框 3"/>
          <p:cNvSpPr txBox="1"/>
          <p:nvPr/>
        </p:nvSpPr>
        <p:spPr>
          <a:xfrm>
            <a:off x="828378" y="5085978"/>
            <a:ext cx="7488832" cy="738664"/>
          </a:xfrm>
          <a:prstGeom prst="rect">
            <a:avLst/>
          </a:prstGeom>
          <a:noFill/>
        </p:spPr>
        <p:txBody>
          <a:bodyPr wrap="square" rtlCol="0">
            <a:spAutoFit/>
          </a:bodyPr>
          <a:lstStyle/>
          <a:p>
            <a:r>
              <a:rPr lang="zh-CN" altLang="en-US" dirty="0"/>
              <a:t>        所以可以依据原始图像均衡化后的图像的灰度值得到目标图像的灰度级     。</a:t>
            </a:r>
          </a:p>
        </p:txBody>
      </p:sp>
      <p:graphicFrame>
        <p:nvGraphicFramePr>
          <p:cNvPr id="5" name="对象 4"/>
          <p:cNvGraphicFramePr>
            <a:graphicFrameLocks noChangeAspect="1"/>
          </p:cNvGraphicFramePr>
          <p:nvPr/>
        </p:nvGraphicFramePr>
        <p:xfrm>
          <a:off x="2542492" y="5446017"/>
          <a:ext cx="302109" cy="302109"/>
        </p:xfrm>
        <a:graphic>
          <a:graphicData uri="http://schemas.openxmlformats.org/presentationml/2006/ole">
            <mc:AlternateContent xmlns:mc="http://schemas.openxmlformats.org/markup-compatibility/2006">
              <mc:Choice xmlns:v="urn:schemas-microsoft-com:vml" Requires="v">
                <p:oleObj spid="_x0000_s5124" r:id="rId4" imgW="127000" imgH="127000" progId="Equation.3">
                  <p:embed/>
                </p:oleObj>
              </mc:Choice>
              <mc:Fallback>
                <p:oleObj r:id="rId4" imgW="127000" imgH="127000" progId="Equation.3">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2492" y="5446017"/>
                        <a:ext cx="302109" cy="302109"/>
                      </a:xfrm>
                      <a:prstGeom prst="rect">
                        <a:avLst/>
                      </a:prstGeom>
                      <a:noFill/>
                    </p:spPr>
                  </p:pic>
                </p:oleObj>
              </mc:Fallback>
            </mc:AlternateContent>
          </a:graphicData>
        </a:graphic>
      </p:graphicFrame>
    </p:spTree>
  </p:cSld>
  <p:clrMapOvr>
    <a:masterClrMapping/>
  </p:clrMapOvr>
  <p:transition spd="slow" advClick="0"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3.3.1  </a:t>
            </a:r>
            <a:r>
              <a:rPr lang="zh-CN" altLang="en-US" sz="2100" b="1" dirty="0">
                <a:solidFill>
                  <a:schemeClr val="tx1">
                    <a:lumMod val="75000"/>
                    <a:lumOff val="25000"/>
                  </a:schemeClr>
                </a:solidFill>
                <a:latin typeface="微软雅黑" panose="020B0503020204020204" pitchFamily="34" charset="-122"/>
              </a:rPr>
              <a:t>直方图规定化原理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
          <p:cNvSpPr txBox="1"/>
          <p:nvPr/>
        </p:nvSpPr>
        <p:spPr>
          <a:xfrm>
            <a:off x="684362" y="1485578"/>
            <a:ext cx="7704856" cy="4293483"/>
          </a:xfrm>
          <a:prstGeom prst="rect">
            <a:avLst/>
          </a:prstGeom>
          <a:noFill/>
        </p:spPr>
        <p:txBody>
          <a:bodyPr wrap="square" rtlCol="0">
            <a:spAutoFit/>
          </a:bodyPr>
          <a:lstStyle/>
          <a:p>
            <a:r>
              <a:rPr lang="zh-CN" altLang="en-US" dirty="0"/>
              <a:t>         根据上述理论推导，可以得出直方图规定化处理的一般步骤，步骤如下：</a:t>
            </a:r>
            <a:endParaRPr lang="en-US" altLang="zh-CN" dirty="0"/>
          </a:p>
          <a:p>
            <a:r>
              <a:rPr lang="en-US" altLang="zh-CN" dirty="0"/>
              <a:t>1</a:t>
            </a:r>
            <a:r>
              <a:rPr lang="zh-CN" altLang="en-US" dirty="0"/>
              <a:t>、根据直方图均衡化原理，对原始图像的直方图进行灰度均衡化处理，见公式 </a:t>
            </a:r>
            <a:r>
              <a:rPr lang="en-US" altLang="zh-CN" dirty="0"/>
              <a:t>(3-5)</a:t>
            </a:r>
            <a:r>
              <a:rPr lang="zh-CN" altLang="en-US" dirty="0"/>
              <a:t>；</a:t>
            </a:r>
          </a:p>
          <a:p>
            <a:r>
              <a:rPr lang="en-US" altLang="zh-CN" dirty="0"/>
              <a:t>2</a:t>
            </a:r>
            <a:r>
              <a:rPr lang="zh-CN" altLang="en-US" dirty="0"/>
              <a:t>、按照目标图像的概率密度函数 ，求解目标图像进行均衡化处理的变换函数 ，见公式 </a:t>
            </a:r>
            <a:r>
              <a:rPr lang="en-US" altLang="zh-CN" dirty="0"/>
              <a:t>(3-6)</a:t>
            </a:r>
            <a:r>
              <a:rPr lang="zh-CN" altLang="en-US" dirty="0"/>
              <a:t>；</a:t>
            </a:r>
          </a:p>
          <a:p>
            <a:r>
              <a:rPr lang="en-US" altLang="zh-CN" dirty="0"/>
              <a:t>3</a:t>
            </a:r>
            <a:r>
              <a:rPr lang="zh-CN" altLang="en-US" dirty="0"/>
              <a:t>、用原始图像均衡化得到的灰度级 代替 ，求解逆变换 ，见公式 </a:t>
            </a:r>
            <a:r>
              <a:rPr lang="en-US" altLang="zh-CN" dirty="0"/>
              <a:t>(3-9)</a:t>
            </a:r>
            <a:r>
              <a:rPr lang="zh-CN" altLang="en-US" dirty="0"/>
              <a:t>。</a:t>
            </a:r>
          </a:p>
          <a:p>
            <a:endParaRPr lang="en-US" altLang="zh-CN" dirty="0"/>
          </a:p>
          <a:p>
            <a:r>
              <a:rPr lang="en-US" altLang="zh-CN" dirty="0"/>
              <a:t>         </a:t>
            </a:r>
            <a:r>
              <a:rPr lang="zh-CN" altLang="en-US" dirty="0"/>
              <a:t>所谓</a:t>
            </a:r>
            <a:r>
              <a:rPr lang="zh-CN" altLang="en-US" b="1" dirty="0"/>
              <a:t>直方图规定化</a:t>
            </a:r>
            <a:r>
              <a:rPr lang="zh-CN" altLang="en-US" dirty="0"/>
              <a:t>，就是通过一个灰度映像函数，</a:t>
            </a:r>
            <a:r>
              <a:rPr lang="zh-CN" altLang="en-US" b="1" dirty="0"/>
              <a:t>将原图片具有的灰度直方图改造成所希望的直方图</a:t>
            </a:r>
            <a:r>
              <a:rPr lang="zh-CN" altLang="en-US" dirty="0"/>
              <a:t>，从而使得原图片呈现所希望的直方图具有的效果和风格。所以，直方图修正的关键就是灰度映像函数。</a:t>
            </a:r>
          </a:p>
        </p:txBody>
      </p:sp>
    </p:spTree>
  </p:cSld>
  <p:clrMapOvr>
    <a:masterClrMapping/>
  </p:clrMapOvr>
  <p:transition spd="slow" advClick="0"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684362" y="1250750"/>
            <a:ext cx="7488832" cy="738664"/>
          </a:xfrm>
          <a:prstGeom prst="rect">
            <a:avLst/>
          </a:prstGeom>
          <a:noFill/>
        </p:spPr>
        <p:txBody>
          <a:bodyPr wrap="square" rtlCol="0">
            <a:spAutoFit/>
          </a:bodyPr>
          <a:lstStyle/>
          <a:p>
            <a:r>
              <a:rPr lang="zh-CN" altLang="en-US" dirty="0"/>
              <a:t>直方图规定化的实现程序如下：</a:t>
            </a:r>
            <a:endParaRPr lang="en-US" altLang="zh-CN" dirty="0"/>
          </a:p>
          <a:p>
            <a:endParaRPr lang="zh-CN" altLang="en-US" dirty="0"/>
          </a:p>
        </p:txBody>
      </p:sp>
      <p:sp>
        <p:nvSpPr>
          <p:cNvPr id="3" name="文本框 2"/>
          <p:cNvSpPr txBox="1"/>
          <p:nvPr/>
        </p:nvSpPr>
        <p:spPr>
          <a:xfrm>
            <a:off x="712183" y="1667658"/>
            <a:ext cx="8441148" cy="461664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import cv2</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numpy</a:t>
            </a:r>
            <a:r>
              <a:rPr lang="en-US" altLang="zh-CN" dirty="0">
                <a:latin typeface="Times New Roman" panose="02020603050405020304" pitchFamily="18" charset="0"/>
                <a:cs typeface="Times New Roman" panose="02020603050405020304" pitchFamily="18" charset="0"/>
              </a:rPr>
              <a:t> as np</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matplotlib.pyplot</a:t>
            </a:r>
            <a:r>
              <a:rPr lang="en-US" altLang="zh-CN" dirty="0">
                <a:latin typeface="Times New Roman" panose="02020603050405020304" pitchFamily="18" charset="0"/>
                <a:cs typeface="Times New Roman" panose="02020603050405020304" pitchFamily="18" charset="0"/>
              </a:rPr>
              <a:t> as </a:t>
            </a:r>
            <a:r>
              <a:rPr lang="en-US" altLang="zh-CN" dirty="0" err="1">
                <a:latin typeface="Times New Roman" panose="02020603050405020304" pitchFamily="18" charset="0"/>
                <a:cs typeface="Times New Roman" panose="02020603050405020304" pitchFamily="18" charset="0"/>
              </a:rPr>
              <a:t>plt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img0=cv2.imread('dark.jpg')		#</a:t>
            </a:r>
            <a:r>
              <a:rPr lang="zh-CN" altLang="en-US" dirty="0">
                <a:latin typeface="Times New Roman" panose="02020603050405020304" pitchFamily="18" charset="0"/>
                <a:cs typeface="Times New Roman" panose="02020603050405020304" pitchFamily="18" charset="0"/>
              </a:rPr>
              <a:t>读取原图片</a:t>
            </a:r>
          </a:p>
          <a:p>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=cv2.imread('graysky.jpg')		#</a:t>
            </a:r>
            <a:r>
              <a:rPr lang="zh-CN" altLang="en-US" dirty="0">
                <a:latin typeface="Times New Roman" panose="02020603050405020304" pitchFamily="18" charset="0"/>
                <a:cs typeface="Times New Roman" panose="02020603050405020304" pitchFamily="18" charset="0"/>
              </a:rPr>
              <a:t>读取目标图片</a:t>
            </a:r>
          </a:p>
          <a:p>
            <a:r>
              <a:rPr lang="en-US" altLang="zh-CN" dirty="0">
                <a:latin typeface="Times New Roman" panose="02020603050405020304" pitchFamily="18" charset="0"/>
                <a:cs typeface="Times New Roman" panose="02020603050405020304" pitchFamily="18" charset="0"/>
              </a:rPr>
              <a:t>img0=cv2.cvtColor(img0, cv2.COLOR_BGR2GRAY)</a:t>
            </a: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=img0.copy()			#</a:t>
            </a:r>
            <a:r>
              <a:rPr lang="zh-CN" altLang="en-US" dirty="0">
                <a:latin typeface="Times New Roman" panose="02020603050405020304" pitchFamily="18" charset="0"/>
                <a:cs typeface="Times New Roman" panose="02020603050405020304" pitchFamily="18" charset="0"/>
              </a:rPr>
              <a:t>用于之后做对比</a:t>
            </a:r>
          </a:p>
          <a:p>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=cv2.cvtColor(</a:t>
            </a:r>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 cv2.COLOR_BGR2GRAY)</a:t>
            </a:r>
          </a:p>
          <a:p>
            <a:r>
              <a:rPr lang="en-US" altLang="zh-CN" dirty="0">
                <a:latin typeface="Times New Roman" panose="02020603050405020304" pitchFamily="18" charset="0"/>
                <a:cs typeface="Times New Roman" panose="02020603050405020304" pitchFamily="18" charset="0"/>
              </a:rPr>
              <a:t>mHist1=[]  mNum1=[]  inhist1=[]</a:t>
            </a:r>
          </a:p>
          <a:p>
            <a:r>
              <a:rPr lang="en-US" altLang="zh-CN" dirty="0">
                <a:latin typeface="Times New Roman" panose="02020603050405020304" pitchFamily="18" charset="0"/>
                <a:cs typeface="Times New Roman" panose="02020603050405020304" pitchFamily="18" charset="0"/>
              </a:rPr>
              <a:t>mHist2=[]  mNum2=[]  inhist2=[]</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range(256):			#</a:t>
            </a:r>
            <a:r>
              <a:rPr lang="zh-CN" altLang="en-US" dirty="0">
                <a:latin typeface="Times New Roman" panose="02020603050405020304" pitchFamily="18" charset="0"/>
                <a:cs typeface="Times New Roman" panose="02020603050405020304" pitchFamily="18" charset="0"/>
              </a:rPr>
              <a:t>对原图像进行均衡化</a:t>
            </a:r>
          </a:p>
          <a:p>
            <a:r>
              <a:rPr lang="en-US" altLang="zh-CN" dirty="0">
                <a:latin typeface="Times New Roman" panose="02020603050405020304" pitchFamily="18" charset="0"/>
                <a:cs typeface="Times New Roman" panose="02020603050405020304" pitchFamily="18" charset="0"/>
              </a:rPr>
              <a:t>mHist1.append(0)</a:t>
            </a:r>
          </a:p>
          <a:p>
            <a:r>
              <a:rPr lang="en-US" altLang="zh-CN" dirty="0" err="1">
                <a:latin typeface="Times New Roman" panose="02020603050405020304" pitchFamily="18" charset="0"/>
                <a:cs typeface="Times New Roman" panose="02020603050405020304" pitchFamily="18" charset="0"/>
              </a:rPr>
              <a:t>row,col</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img.shape</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获取原图像像素点的宽度和高度</a:t>
            </a:r>
          </a:p>
        </p:txBody>
      </p:sp>
    </p:spTree>
  </p:cSld>
  <p:clrMapOvr>
    <a:masterClrMapping/>
  </p:clrMapOvr>
  <p:transition spd="slow" advClick="0"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698175" y="1184826"/>
            <a:ext cx="7488832" cy="738664"/>
          </a:xfrm>
          <a:prstGeom prst="rect">
            <a:avLst/>
          </a:prstGeom>
          <a:noFill/>
        </p:spPr>
        <p:txBody>
          <a:bodyPr wrap="square" rtlCol="0">
            <a:spAutoFit/>
          </a:bodyPr>
          <a:lstStyle/>
          <a:p>
            <a:r>
              <a:rPr lang="zh-CN" altLang="en-US" dirty="0"/>
              <a:t>直方图规定化的实现程序如下：</a:t>
            </a:r>
            <a:endParaRPr lang="en-US" altLang="zh-CN" dirty="0"/>
          </a:p>
          <a:p>
            <a:endParaRPr lang="zh-CN" altLang="en-US" dirty="0"/>
          </a:p>
        </p:txBody>
      </p:sp>
      <p:sp>
        <p:nvSpPr>
          <p:cNvPr id="10" name="文本框 9"/>
          <p:cNvSpPr txBox="1"/>
          <p:nvPr/>
        </p:nvSpPr>
        <p:spPr>
          <a:xfrm>
            <a:off x="721850" y="1620082"/>
            <a:ext cx="8441148" cy="493981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range(row):</a:t>
            </a:r>
          </a:p>
          <a:p>
            <a:r>
              <a:rPr lang="en-US" altLang="zh-CN" dirty="0">
                <a:latin typeface="Times New Roman" panose="02020603050405020304" pitchFamily="18" charset="0"/>
                <a:cs typeface="Times New Roman" panose="02020603050405020304" pitchFamily="18" charset="0"/>
              </a:rPr>
              <a:t>       for j in range(col):</a:t>
            </a:r>
          </a:p>
          <a:p>
            <a:r>
              <a:rPr lang="en-US" altLang="zh-CN" dirty="0">
                <a:latin typeface="Times New Roman" panose="02020603050405020304" pitchFamily="18" charset="0"/>
                <a:cs typeface="Times New Roman" panose="02020603050405020304" pitchFamily="18" charset="0"/>
              </a:rPr>
              <a:t>            mHist1[</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 mHist1[</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统计灰度值的个数</a:t>
            </a:r>
          </a:p>
          <a:p>
            <a:r>
              <a:rPr lang="en-US" altLang="zh-CN" dirty="0">
                <a:latin typeface="Times New Roman" panose="02020603050405020304" pitchFamily="18" charset="0"/>
                <a:cs typeface="Times New Roman" panose="02020603050405020304" pitchFamily="18" charset="0"/>
              </a:rPr>
              <a:t>mNum1.append(mHist1[0]/</a:t>
            </a:r>
            <a:r>
              <a:rPr lang="en-US" altLang="zh-CN" dirty="0" err="1">
                <a:latin typeface="Times New Roman" panose="02020603050405020304" pitchFamily="18" charset="0"/>
                <a:cs typeface="Times New Roman" panose="02020603050405020304" pitchFamily="18" charset="0"/>
              </a:rPr>
              <a:t>img.size</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range(0,255):</a:t>
            </a:r>
          </a:p>
          <a:p>
            <a:r>
              <a:rPr lang="en-US" altLang="zh-CN" dirty="0">
                <a:latin typeface="Times New Roman" panose="02020603050405020304" pitchFamily="18" charset="0"/>
                <a:cs typeface="Times New Roman" panose="02020603050405020304" pitchFamily="18" charset="0"/>
              </a:rPr>
              <a:t>        mNum1.append(mNum1[</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]+mHist1[i+1]/</a:t>
            </a:r>
            <a:r>
              <a:rPr lang="en-US" altLang="zh-CN" dirty="0" err="1">
                <a:latin typeface="Times New Roman" panose="02020603050405020304" pitchFamily="18" charset="0"/>
                <a:cs typeface="Times New Roman" panose="02020603050405020304" pitchFamily="18" charset="0"/>
              </a:rPr>
              <a:t>img.size</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range(256):</a:t>
            </a:r>
          </a:p>
          <a:p>
            <a:r>
              <a:rPr lang="en-US" altLang="zh-CN" dirty="0">
                <a:latin typeface="Times New Roman" panose="02020603050405020304" pitchFamily="18" charset="0"/>
                <a:cs typeface="Times New Roman" panose="02020603050405020304" pitchFamily="18" charset="0"/>
              </a:rPr>
              <a:t>        inhist1.append(round(255*mNum1[</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range(256):				#</a:t>
            </a:r>
            <a:r>
              <a:rPr lang="zh-CN" altLang="en-US" dirty="0">
                <a:latin typeface="Times New Roman" panose="02020603050405020304" pitchFamily="18" charset="0"/>
                <a:cs typeface="Times New Roman" panose="02020603050405020304" pitchFamily="18" charset="0"/>
              </a:rPr>
              <a:t>对目标图像进行均衡化</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mHist2.append(0)</a:t>
            </a:r>
          </a:p>
          <a:p>
            <a:r>
              <a:rPr lang="en-US" altLang="zh-CN" dirty="0" err="1">
                <a:latin typeface="Times New Roman" panose="02020603050405020304" pitchFamily="18" charset="0"/>
                <a:cs typeface="Times New Roman" panose="02020603050405020304" pitchFamily="18" charset="0"/>
              </a:rPr>
              <a:t>rows,cols</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scr.shape</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获取目标图像像素点的宽度和高度</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range(rows):</a:t>
            </a:r>
          </a:p>
          <a:p>
            <a:r>
              <a:rPr lang="en-US" altLang="zh-CN" dirty="0">
                <a:latin typeface="Times New Roman" panose="02020603050405020304" pitchFamily="18" charset="0"/>
                <a:cs typeface="Times New Roman" panose="02020603050405020304" pitchFamily="18" charset="0"/>
              </a:rPr>
              <a:t>        for j in range(cols):</a:t>
            </a:r>
          </a:p>
          <a:p>
            <a:r>
              <a:rPr lang="en-US" altLang="zh-CN" dirty="0">
                <a:latin typeface="Times New Roman" panose="02020603050405020304" pitchFamily="18" charset="0"/>
                <a:cs typeface="Times New Roman" panose="02020603050405020304" pitchFamily="18" charset="0"/>
              </a:rPr>
              <a:t>            mHist2[</a:t>
            </a:r>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 mHist2[</a:t>
            </a:r>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统计灰度值的个数</a:t>
            </a:r>
          </a:p>
          <a:p>
            <a:r>
              <a:rPr lang="en-US" altLang="zh-CN" dirty="0">
                <a:latin typeface="Times New Roman" panose="02020603050405020304" pitchFamily="18" charset="0"/>
                <a:cs typeface="Times New Roman" panose="02020603050405020304" pitchFamily="18" charset="0"/>
              </a:rPr>
              <a:t>mNum2.append(mHist2[0]/</a:t>
            </a:r>
            <a:r>
              <a:rPr lang="en-US" altLang="zh-CN" dirty="0" err="1">
                <a:latin typeface="Times New Roman" panose="02020603050405020304" pitchFamily="18" charset="0"/>
                <a:cs typeface="Times New Roman" panose="02020603050405020304" pitchFamily="18" charset="0"/>
              </a:rPr>
              <a:t>scr.size</a:t>
            </a:r>
            <a:r>
              <a:rPr lang="en-US" altLang="zh-CN" dirty="0">
                <a:latin typeface="Times New Roman" panose="02020603050405020304" pitchFamily="18" charset="0"/>
                <a:cs typeface="Times New Roman" panose="02020603050405020304" pitchFamily="18" charset="0"/>
              </a:rPr>
              <a:t>)</a:t>
            </a:r>
          </a:p>
        </p:txBody>
      </p:sp>
    </p:spTree>
  </p:cSld>
  <p:clrMapOvr>
    <a:masterClrMapping/>
  </p:clrMapOvr>
  <p:transition spd="slow" advClick="0" advTm="0">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699160" y="1212398"/>
            <a:ext cx="7488832" cy="5262979"/>
          </a:xfrm>
          <a:prstGeom prst="rect">
            <a:avLst/>
          </a:prstGeom>
          <a:noFill/>
        </p:spPr>
        <p:txBody>
          <a:bodyPr wrap="square" rtlCol="0">
            <a:spAutoFit/>
          </a:bodyPr>
          <a:lstStyle/>
          <a:p>
            <a:r>
              <a:rPr lang="zh-CN" altLang="en-US" dirty="0"/>
              <a:t>直方图规定化的实现程序如下：</a:t>
            </a:r>
            <a:endParaRPr lang="en-US" altLang="zh-CN" dirty="0"/>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range(0,255):</a:t>
            </a:r>
          </a:p>
          <a:p>
            <a:r>
              <a:rPr lang="en-US" altLang="zh-CN" dirty="0">
                <a:latin typeface="Times New Roman" panose="02020603050405020304" pitchFamily="18" charset="0"/>
                <a:cs typeface="Times New Roman" panose="02020603050405020304" pitchFamily="18" charset="0"/>
              </a:rPr>
              <a:t>        mNum2.append(mNum2[</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]+mHist2[i+1]/</a:t>
            </a:r>
            <a:r>
              <a:rPr lang="en-US" altLang="zh-CN" dirty="0" err="1">
                <a:latin typeface="Times New Roman" panose="02020603050405020304" pitchFamily="18" charset="0"/>
                <a:cs typeface="Times New Roman" panose="02020603050405020304" pitchFamily="18" charset="0"/>
              </a:rPr>
              <a:t>scr.size</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range(256):</a:t>
            </a:r>
          </a:p>
          <a:p>
            <a:r>
              <a:rPr lang="en-US" altLang="zh-CN" dirty="0">
                <a:latin typeface="Times New Roman" panose="02020603050405020304" pitchFamily="18" charset="0"/>
                <a:cs typeface="Times New Roman" panose="02020603050405020304" pitchFamily="18" charset="0"/>
              </a:rPr>
              <a:t>        inhist2.append(round(255*mNum2[</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g=[]			#</a:t>
            </a:r>
            <a:r>
              <a:rPr lang="zh-CN" altLang="en-US" dirty="0">
                <a:latin typeface="Times New Roman" panose="02020603050405020304" pitchFamily="18" charset="0"/>
                <a:cs typeface="Times New Roman" panose="02020603050405020304" pitchFamily="18" charset="0"/>
              </a:rPr>
              <a:t>用于放入规定化后的图片像素</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range(256):		#</a:t>
            </a:r>
            <a:r>
              <a:rPr lang="zh-CN" altLang="en-US" dirty="0">
                <a:latin typeface="Times New Roman" panose="02020603050405020304" pitchFamily="18" charset="0"/>
                <a:cs typeface="Times New Roman" panose="02020603050405020304" pitchFamily="18" charset="0"/>
              </a:rPr>
              <a:t>进行规定化</a:t>
            </a:r>
          </a:p>
          <a:p>
            <a:r>
              <a:rPr lang="en-US" altLang="zh-CN" dirty="0">
                <a:latin typeface="Times New Roman" panose="02020603050405020304" pitchFamily="18" charset="0"/>
                <a:cs typeface="Times New Roman" panose="02020603050405020304" pitchFamily="18" charset="0"/>
              </a:rPr>
              <a:t>      a=inhist1[</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flag=True</a:t>
            </a:r>
          </a:p>
          <a:p>
            <a:r>
              <a:rPr lang="en-US" altLang="zh-CN" dirty="0">
                <a:latin typeface="Times New Roman" panose="02020603050405020304" pitchFamily="18" charset="0"/>
                <a:cs typeface="Times New Roman" panose="02020603050405020304" pitchFamily="18" charset="0"/>
              </a:rPr>
              <a:t>for j in range(256):</a:t>
            </a:r>
          </a:p>
          <a:p>
            <a:r>
              <a:rPr lang="en-US" altLang="zh-CN" dirty="0">
                <a:latin typeface="Times New Roman" panose="02020603050405020304" pitchFamily="18" charset="0"/>
                <a:cs typeface="Times New Roman" panose="02020603050405020304" pitchFamily="18" charset="0"/>
              </a:rPr>
              <a:t>     if inhist2[j]==a:</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g.append</a:t>
            </a:r>
            <a:r>
              <a:rPr lang="en-US" altLang="zh-CN" dirty="0">
                <a:latin typeface="Times New Roman" panose="02020603050405020304" pitchFamily="18" charset="0"/>
                <a:cs typeface="Times New Roman" panose="02020603050405020304" pitchFamily="18" charset="0"/>
              </a:rPr>
              <a:t>(j)</a:t>
            </a:r>
          </a:p>
          <a:p>
            <a:r>
              <a:rPr lang="en-US" altLang="zh-CN" dirty="0">
                <a:latin typeface="Times New Roman" panose="02020603050405020304" pitchFamily="18" charset="0"/>
                <a:cs typeface="Times New Roman" panose="02020603050405020304" pitchFamily="18" charset="0"/>
              </a:rPr>
              <a:t>flag=False</a:t>
            </a:r>
          </a:p>
          <a:p>
            <a:r>
              <a:rPr lang="en-US" altLang="zh-CN" dirty="0">
                <a:latin typeface="Times New Roman" panose="02020603050405020304" pitchFamily="18" charset="0"/>
                <a:cs typeface="Times New Roman" panose="02020603050405020304" pitchFamily="18" charset="0"/>
              </a:rPr>
              <a:t>break</a:t>
            </a:r>
          </a:p>
          <a:p>
            <a:r>
              <a:rPr lang="en-US" altLang="zh-CN" dirty="0">
                <a:latin typeface="Times New Roman" panose="02020603050405020304" pitchFamily="18" charset="0"/>
                <a:cs typeface="Times New Roman" panose="02020603050405020304" pitchFamily="18" charset="0"/>
              </a:rPr>
              <a:t>if flag==True:</a:t>
            </a:r>
          </a:p>
          <a:p>
            <a:r>
              <a:rPr lang="en-US" altLang="zh-CN" dirty="0" err="1">
                <a:latin typeface="Times New Roman" panose="02020603050405020304" pitchFamily="18" charset="0"/>
                <a:cs typeface="Times New Roman" panose="02020603050405020304" pitchFamily="18" charset="0"/>
              </a:rPr>
              <a:t>minp</a:t>
            </a:r>
            <a:r>
              <a:rPr lang="en-US" altLang="zh-CN" dirty="0">
                <a:latin typeface="Times New Roman" panose="02020603050405020304" pitchFamily="18" charset="0"/>
                <a:cs typeface="Times New Roman" panose="02020603050405020304" pitchFamily="18" charset="0"/>
              </a:rPr>
              <a:t>=255</a:t>
            </a:r>
          </a:p>
          <a:p>
            <a:endParaRPr lang="zh-CN" altLang="en-US" dirty="0"/>
          </a:p>
        </p:txBody>
      </p:sp>
    </p:spTree>
  </p:cSld>
  <p:clrMapOvr>
    <a:masterClrMapping/>
  </p:clrMapOvr>
  <p:transition spd="slow" advClick="0" advTm="0">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712183" y="1134439"/>
            <a:ext cx="7488832" cy="738664"/>
          </a:xfrm>
          <a:prstGeom prst="rect">
            <a:avLst/>
          </a:prstGeom>
          <a:noFill/>
        </p:spPr>
        <p:txBody>
          <a:bodyPr wrap="square" rtlCol="0">
            <a:spAutoFit/>
          </a:bodyPr>
          <a:lstStyle/>
          <a:p>
            <a:r>
              <a:rPr lang="zh-CN" altLang="en-US" dirty="0"/>
              <a:t>直方图规定化的实现程序如下：</a:t>
            </a:r>
            <a:endParaRPr lang="en-US" altLang="zh-CN" dirty="0"/>
          </a:p>
          <a:p>
            <a:endParaRPr lang="zh-CN" altLang="en-US" dirty="0"/>
          </a:p>
        </p:txBody>
      </p:sp>
      <p:sp>
        <p:nvSpPr>
          <p:cNvPr id="10" name="文本框 9"/>
          <p:cNvSpPr txBox="1"/>
          <p:nvPr/>
        </p:nvSpPr>
        <p:spPr>
          <a:xfrm>
            <a:off x="726779" y="1493258"/>
            <a:ext cx="5804827" cy="5262979"/>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for j in range(256):</a:t>
            </a:r>
          </a:p>
          <a:p>
            <a:r>
              <a:rPr lang="en-US" altLang="zh-CN" dirty="0">
                <a:latin typeface="Times New Roman" panose="02020603050405020304" pitchFamily="18" charset="0"/>
                <a:cs typeface="Times New Roman" panose="02020603050405020304" pitchFamily="18" charset="0"/>
              </a:rPr>
              <a:t>b=abs(inhist2[j]-a)</a:t>
            </a:r>
          </a:p>
          <a:p>
            <a:r>
              <a:rPr lang="en-US" altLang="zh-CN" dirty="0">
                <a:latin typeface="Times New Roman" panose="02020603050405020304" pitchFamily="18" charset="0"/>
                <a:cs typeface="Times New Roman" panose="02020603050405020304" pitchFamily="18" charset="0"/>
              </a:rPr>
              <a:t>                if b&lt;</a:t>
            </a:r>
            <a:r>
              <a:rPr lang="en-US" altLang="zh-CN" dirty="0" err="1">
                <a:latin typeface="Times New Roman" panose="02020603050405020304" pitchFamily="18" charset="0"/>
                <a:cs typeface="Times New Roman" panose="02020603050405020304" pitchFamily="18" charset="0"/>
              </a:rPr>
              <a:t>minp</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minp</a:t>
            </a:r>
            <a:r>
              <a:rPr lang="en-US" altLang="zh-CN" dirty="0">
                <a:latin typeface="Times New Roman" panose="02020603050405020304" pitchFamily="18" charset="0"/>
                <a:cs typeface="Times New Roman" panose="02020603050405020304" pitchFamily="18" charset="0"/>
              </a:rPr>
              <a:t>=b</a:t>
            </a:r>
          </a:p>
          <a:p>
            <a:r>
              <a:rPr lang="en-US" altLang="zh-CN" dirty="0" err="1">
                <a:latin typeface="Times New Roman" panose="02020603050405020304" pitchFamily="18" charset="0"/>
                <a:cs typeface="Times New Roman" panose="02020603050405020304" pitchFamily="18" charset="0"/>
              </a:rPr>
              <a:t>jmin</a:t>
            </a:r>
            <a:r>
              <a:rPr lang="en-US" altLang="zh-CN" dirty="0">
                <a:latin typeface="Times New Roman" panose="02020603050405020304" pitchFamily="18" charset="0"/>
                <a:cs typeface="Times New Roman" panose="02020603050405020304" pitchFamily="18" charset="0"/>
              </a:rPr>
              <a:t>=j</a:t>
            </a:r>
          </a:p>
          <a:p>
            <a:r>
              <a:rPr lang="en-US" altLang="zh-CN" dirty="0" err="1">
                <a:latin typeface="Times New Roman" panose="02020603050405020304" pitchFamily="18" charset="0"/>
                <a:cs typeface="Times New Roman" panose="02020603050405020304" pitchFamily="18" charset="0"/>
              </a:rPr>
              <a:t>g.append</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jmin</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range(row):</a:t>
            </a:r>
          </a:p>
          <a:p>
            <a:r>
              <a:rPr lang="en-US" altLang="zh-CN" dirty="0">
                <a:latin typeface="Times New Roman" panose="02020603050405020304" pitchFamily="18" charset="0"/>
                <a:cs typeface="Times New Roman" panose="02020603050405020304" pitchFamily="18" charset="0"/>
              </a:rPr>
              <a:t>        for j in range(col):</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]=g[</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cv2.imshow("original",img0)</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scr</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p>
          <a:p>
            <a:r>
              <a:rPr lang="en-US" altLang="zh-CN" dirty="0" err="1">
                <a:latin typeface="Times New Roman" panose="02020603050405020304" pitchFamily="18" charset="0"/>
                <a:cs typeface="Times New Roman" panose="02020603050405020304" pitchFamily="18" charset="0"/>
              </a:rPr>
              <a:t>plt.hist</a:t>
            </a:r>
            <a:r>
              <a:rPr lang="en-US" altLang="zh-CN" dirty="0">
                <a:latin typeface="Times New Roman" panose="02020603050405020304" pitchFamily="18" charset="0"/>
                <a:cs typeface="Times New Roman" panose="02020603050405020304" pitchFamily="18" charset="0"/>
              </a:rPr>
              <a:t>(img0.ravel(),256)</a:t>
            </a:r>
          </a:p>
          <a:p>
            <a:r>
              <a:rPr lang="en-US" altLang="zh-CN" dirty="0" err="1">
                <a:latin typeface="Times New Roman" panose="02020603050405020304" pitchFamily="18" charset="0"/>
                <a:cs typeface="Times New Roman" panose="02020603050405020304" pitchFamily="18" charset="0"/>
              </a:rPr>
              <a:t>plt.hist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scr.ravel</a:t>
            </a:r>
            <a:r>
              <a:rPr lang="en-US" altLang="zh-CN" dirty="0">
                <a:latin typeface="Times New Roman" panose="02020603050405020304" pitchFamily="18" charset="0"/>
                <a:cs typeface="Times New Roman" panose="02020603050405020304" pitchFamily="18" charset="0"/>
              </a:rPr>
              <a:t>(),256)</a:t>
            </a:r>
          </a:p>
          <a:p>
            <a:r>
              <a:rPr lang="en-US" altLang="zh-CN" dirty="0" err="1">
                <a:latin typeface="Times New Roman" panose="02020603050405020304" pitchFamily="18" charset="0"/>
                <a:cs typeface="Times New Roman" panose="02020603050405020304" pitchFamily="18" charset="0"/>
              </a:rPr>
              <a:t>plt.hist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img.ravel</a:t>
            </a:r>
            <a:r>
              <a:rPr lang="en-US" altLang="zh-CN" dirty="0">
                <a:latin typeface="Times New Roman" panose="02020603050405020304" pitchFamily="18" charset="0"/>
                <a:cs typeface="Times New Roman" panose="02020603050405020304" pitchFamily="18" charset="0"/>
              </a:rPr>
              <a:t>(),256)</a:t>
            </a:r>
          </a:p>
          <a:p>
            <a:r>
              <a:rPr lang="en-US" altLang="zh-CN" dirty="0" err="1">
                <a:latin typeface="Times New Roman" panose="02020603050405020304" pitchFamily="18" charset="0"/>
                <a:cs typeface="Times New Roman" panose="02020603050405020304" pitchFamily="18" charset="0"/>
              </a:rPr>
              <a:t>plt.show</a:t>
            </a:r>
            <a:r>
              <a:rPr lang="en-US" altLang="zh-CN" dirty="0">
                <a:latin typeface="Times New Roman" panose="02020603050405020304" pitchFamily="18" charset="0"/>
                <a:cs typeface="Times New Roman" panose="02020603050405020304" pitchFamily="18" charset="0"/>
              </a:rPr>
              <a:t>()</a:t>
            </a:r>
          </a:p>
        </p:txBody>
      </p:sp>
    </p:spTree>
  </p:cSld>
  <p:clrMapOvr>
    <a:masterClrMapping/>
  </p:clrMapOvr>
  <p:transition spd="slow" advClick="0"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612354" y="1231188"/>
            <a:ext cx="7920880" cy="1384995"/>
          </a:xfrm>
          <a:prstGeom prst="rect">
            <a:avLst/>
          </a:prstGeom>
          <a:noFill/>
        </p:spPr>
        <p:txBody>
          <a:bodyPr wrap="square" rtlCol="0">
            <a:spAutoFit/>
          </a:bodyPr>
          <a:lstStyle/>
          <a:p>
            <a:r>
              <a:rPr lang="zh-CN" altLang="en-US" dirty="0"/>
              <a:t>        上述程序的运行结果如图</a:t>
            </a:r>
            <a:r>
              <a:rPr lang="en-US" altLang="zh-CN" dirty="0"/>
              <a:t>3.15</a:t>
            </a:r>
            <a:r>
              <a:rPr lang="zh-CN" altLang="en-US" dirty="0"/>
              <a:t>至图</a:t>
            </a:r>
            <a:r>
              <a:rPr lang="en-US" altLang="zh-CN" dirty="0"/>
              <a:t>3.17</a:t>
            </a:r>
            <a:r>
              <a:rPr lang="zh-CN" altLang="en-US" dirty="0"/>
              <a:t>所示。该程序将图</a:t>
            </a:r>
            <a:r>
              <a:rPr lang="en-US" altLang="zh-CN" dirty="0"/>
              <a:t>3.15</a:t>
            </a:r>
            <a:r>
              <a:rPr lang="zh-CN" altLang="en-US" dirty="0"/>
              <a:t>中的原始图像的直方图映射成和图</a:t>
            </a:r>
            <a:r>
              <a:rPr lang="en-US" altLang="zh-CN" dirty="0"/>
              <a:t>3.16</a:t>
            </a:r>
            <a:r>
              <a:rPr lang="zh-CN" altLang="en-US" dirty="0"/>
              <a:t>一样的直方图。原始图像规定化后的图像如图</a:t>
            </a:r>
            <a:r>
              <a:rPr lang="en-US" altLang="zh-CN" dirty="0"/>
              <a:t>3.17</a:t>
            </a:r>
            <a:r>
              <a:rPr lang="zh-CN" altLang="en-US" dirty="0"/>
              <a:t>所示。图</a:t>
            </a:r>
            <a:r>
              <a:rPr lang="en-US" altLang="zh-CN" dirty="0"/>
              <a:t>3.15</a:t>
            </a:r>
            <a:r>
              <a:rPr lang="zh-CN" altLang="en-US" dirty="0"/>
              <a:t>中的原始图片呈现了和图</a:t>
            </a:r>
            <a:r>
              <a:rPr lang="en-US" altLang="zh-CN" dirty="0"/>
              <a:t>3.17</a:t>
            </a:r>
            <a:r>
              <a:rPr lang="zh-CN" altLang="en-US" dirty="0"/>
              <a:t>中图片一样的较暗的风格。</a:t>
            </a:r>
          </a:p>
        </p:txBody>
      </p:sp>
      <p:pic>
        <p:nvPicPr>
          <p:cNvPr id="11" name="图片 10"/>
          <p:cNvPicPr>
            <a:picLocks noChangeAspect="1"/>
          </p:cNvPicPr>
          <p:nvPr/>
        </p:nvPicPr>
        <p:blipFill>
          <a:blip r:embed="rId3"/>
          <a:srcRect l="1459" t="1470" r="1457" b="2410"/>
          <a:stretch>
            <a:fillRect/>
          </a:stretch>
        </p:blipFill>
        <p:spPr>
          <a:xfrm>
            <a:off x="712183" y="2759570"/>
            <a:ext cx="3324608" cy="3262512"/>
          </a:xfrm>
          <a:prstGeom prst="rect">
            <a:avLst/>
          </a:prstGeom>
          <a:noFill/>
          <a:ln>
            <a:noFill/>
          </a:ln>
        </p:spPr>
      </p:pic>
      <p:pic>
        <p:nvPicPr>
          <p:cNvPr id="12" name="图片 11"/>
          <p:cNvPicPr>
            <a:picLocks noChangeAspect="1"/>
          </p:cNvPicPr>
          <p:nvPr/>
        </p:nvPicPr>
        <p:blipFill>
          <a:blip r:embed="rId4"/>
          <a:stretch>
            <a:fillRect/>
          </a:stretch>
        </p:blipFill>
        <p:spPr>
          <a:xfrm>
            <a:off x="4500787" y="2759568"/>
            <a:ext cx="4248472" cy="3262505"/>
          </a:xfrm>
          <a:prstGeom prst="rect">
            <a:avLst/>
          </a:prstGeom>
          <a:noFill/>
          <a:ln>
            <a:noFill/>
          </a:ln>
        </p:spPr>
      </p:pic>
      <p:sp>
        <p:nvSpPr>
          <p:cNvPr id="13" name="文本框 12"/>
          <p:cNvSpPr txBox="1"/>
          <p:nvPr/>
        </p:nvSpPr>
        <p:spPr>
          <a:xfrm>
            <a:off x="1476450" y="6022073"/>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4" name="文本框 13"/>
          <p:cNvSpPr txBox="1"/>
          <p:nvPr/>
        </p:nvSpPr>
        <p:spPr>
          <a:xfrm>
            <a:off x="5724922" y="602207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5" name="文本框 14"/>
          <p:cNvSpPr txBox="1"/>
          <p:nvPr/>
        </p:nvSpPr>
        <p:spPr>
          <a:xfrm>
            <a:off x="1476450" y="636062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3.15  </a:t>
            </a:r>
            <a:r>
              <a:rPr lang="zh-CN" altLang="en-US" sz="1800" b="1" kern="0" dirty="0">
                <a:latin typeface="黑体" panose="02010609060101010101" pitchFamily="49" charset="-122"/>
                <a:ea typeface="黑体" panose="02010609060101010101" pitchFamily="49" charset="-122"/>
              </a:rPr>
              <a:t>原始图像与直方图</a:t>
            </a:r>
          </a:p>
        </p:txBody>
      </p:sp>
    </p:spTree>
  </p:cSld>
  <p:clrMapOvr>
    <a:masterClrMapping/>
  </p:clrMapOvr>
  <p:transition spd="slow" advClick="0"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p:cNvPicPr>
            <a:picLocks noChangeAspect="1"/>
          </p:cNvPicPr>
          <p:nvPr/>
        </p:nvPicPr>
        <p:blipFill>
          <a:blip r:embed="rId3"/>
          <a:srcRect l="1658" t="1762" b="2704"/>
          <a:stretch>
            <a:fillRect/>
          </a:stretch>
        </p:blipFill>
        <p:spPr>
          <a:xfrm>
            <a:off x="828378" y="2104735"/>
            <a:ext cx="3356555" cy="3322427"/>
          </a:xfrm>
          <a:prstGeom prst="rect">
            <a:avLst/>
          </a:prstGeom>
          <a:noFill/>
          <a:ln>
            <a:noFill/>
          </a:ln>
        </p:spPr>
      </p:pic>
      <p:pic>
        <p:nvPicPr>
          <p:cNvPr id="11" name="图片 10"/>
          <p:cNvPicPr>
            <a:picLocks noChangeAspect="1"/>
          </p:cNvPicPr>
          <p:nvPr/>
        </p:nvPicPr>
        <p:blipFill>
          <a:blip r:embed="rId4"/>
          <a:stretch>
            <a:fillRect/>
          </a:stretch>
        </p:blipFill>
        <p:spPr>
          <a:xfrm>
            <a:off x="4644802" y="2104742"/>
            <a:ext cx="3744416" cy="3301760"/>
          </a:xfrm>
          <a:prstGeom prst="rect">
            <a:avLst/>
          </a:prstGeom>
          <a:noFill/>
          <a:ln>
            <a:noFill/>
          </a:ln>
        </p:spPr>
      </p:pic>
      <p:sp>
        <p:nvSpPr>
          <p:cNvPr id="12" name="文本框 11"/>
          <p:cNvSpPr txBox="1"/>
          <p:nvPr/>
        </p:nvSpPr>
        <p:spPr>
          <a:xfrm>
            <a:off x="1692474" y="5446001"/>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目标图像</a:t>
            </a:r>
          </a:p>
        </p:txBody>
      </p:sp>
      <p:sp>
        <p:nvSpPr>
          <p:cNvPr id="13" name="文本框 12"/>
          <p:cNvSpPr txBox="1"/>
          <p:nvPr/>
        </p:nvSpPr>
        <p:spPr>
          <a:xfrm>
            <a:off x="5652914" y="5449990"/>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4" name="文本框 13"/>
          <p:cNvSpPr txBox="1"/>
          <p:nvPr/>
        </p:nvSpPr>
        <p:spPr>
          <a:xfrm>
            <a:off x="1340617"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3.16  </a:t>
            </a:r>
            <a:r>
              <a:rPr lang="zh-CN" altLang="en-US" sz="1800" b="1" kern="0" dirty="0">
                <a:latin typeface="黑体" panose="02010609060101010101" pitchFamily="49" charset="-122"/>
                <a:ea typeface="黑体" panose="02010609060101010101" pitchFamily="49" charset="-122"/>
              </a:rPr>
              <a:t> 目标图像与直方图</a:t>
            </a:r>
          </a:p>
        </p:txBody>
      </p:sp>
    </p:spTree>
  </p:cSld>
  <p:clrMapOvr>
    <a:masterClrMapping/>
  </p:clrMapOvr>
  <p:transition spd="slow" advClick="0" advTm="0">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3.3.2 </a:t>
            </a:r>
            <a:r>
              <a:rPr lang="zh-CN" altLang="en-US" sz="2100" b="1" dirty="0">
                <a:solidFill>
                  <a:schemeClr val="tx1">
                    <a:lumMod val="75000"/>
                    <a:lumOff val="25000"/>
                  </a:schemeClr>
                </a:solidFill>
                <a:latin typeface="微软雅黑" panose="020B0503020204020204" pitchFamily="34" charset="-122"/>
              </a:rPr>
              <a:t>直方图规定化的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1692474" y="5446001"/>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规定化后图像</a:t>
            </a:r>
          </a:p>
        </p:txBody>
      </p:sp>
      <p:sp>
        <p:nvSpPr>
          <p:cNvPr id="13" name="文本框 12"/>
          <p:cNvSpPr txBox="1"/>
          <p:nvPr/>
        </p:nvSpPr>
        <p:spPr>
          <a:xfrm>
            <a:off x="5652914" y="5449990"/>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4" name="文本框 13"/>
          <p:cNvSpPr txBox="1"/>
          <p:nvPr/>
        </p:nvSpPr>
        <p:spPr>
          <a:xfrm>
            <a:off x="1340617"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3.17 </a:t>
            </a:r>
            <a:r>
              <a:rPr lang="zh-CN" altLang="en-US" sz="1800" b="1" kern="0" dirty="0">
                <a:latin typeface="黑体" panose="02010609060101010101" pitchFamily="49" charset="-122"/>
                <a:ea typeface="黑体" panose="02010609060101010101" pitchFamily="49" charset="-122"/>
              </a:rPr>
              <a:t>规定化后图像与直方图</a:t>
            </a:r>
          </a:p>
        </p:txBody>
      </p:sp>
      <p:pic>
        <p:nvPicPr>
          <p:cNvPr id="16" name="图片 15"/>
          <p:cNvPicPr>
            <a:picLocks noChangeAspect="1"/>
          </p:cNvPicPr>
          <p:nvPr/>
        </p:nvPicPr>
        <p:blipFill>
          <a:blip r:embed="rId3"/>
          <a:srcRect l="877" t="1470" r="1869" b="1528"/>
          <a:stretch>
            <a:fillRect/>
          </a:stretch>
        </p:blipFill>
        <p:spPr>
          <a:xfrm>
            <a:off x="900386" y="2173218"/>
            <a:ext cx="3211712" cy="3179057"/>
          </a:xfrm>
          <a:prstGeom prst="rect">
            <a:avLst/>
          </a:prstGeom>
          <a:noFill/>
          <a:ln>
            <a:noFill/>
          </a:ln>
        </p:spPr>
      </p:pic>
      <p:pic>
        <p:nvPicPr>
          <p:cNvPr id="17" name="图片 16"/>
          <p:cNvPicPr>
            <a:picLocks noChangeAspect="1"/>
          </p:cNvPicPr>
          <p:nvPr/>
        </p:nvPicPr>
        <p:blipFill>
          <a:blip r:embed="rId4"/>
          <a:stretch>
            <a:fillRect/>
          </a:stretch>
        </p:blipFill>
        <p:spPr>
          <a:xfrm>
            <a:off x="4607511" y="2213591"/>
            <a:ext cx="3997731" cy="3141102"/>
          </a:xfrm>
          <a:prstGeom prst="rect">
            <a:avLst/>
          </a:prstGeom>
          <a:noFill/>
          <a:ln>
            <a:noFill/>
          </a:ln>
        </p:spPr>
      </p:pic>
    </p:spTree>
  </p:cSld>
  <p:clrMapOvr>
    <a:masterClrMapping/>
  </p:clrMapOvr>
  <p:transition spd="slow" advClick="0"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  </a:t>
            </a:r>
            <a:r>
              <a:rPr lang="zh-CN" altLang="en-US" sz="2100" b="1" dirty="0">
                <a:solidFill>
                  <a:schemeClr val="tx1">
                    <a:lumMod val="75000"/>
                    <a:lumOff val="25000"/>
                  </a:schemeClr>
                </a:solidFill>
                <a:latin typeface="微软雅黑" panose="020B0503020204020204" pitchFamily="34" charset="-122"/>
              </a:rPr>
              <a:t>线性变换</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712183" y="1413570"/>
            <a:ext cx="7433588" cy="1061829"/>
          </a:xfrm>
          <a:prstGeom prst="rect">
            <a:avLst/>
          </a:prstGeom>
          <a:noFill/>
        </p:spPr>
        <p:txBody>
          <a:bodyPr wrap="square" rtlCol="0">
            <a:spAutoFit/>
          </a:bodyPr>
          <a:lstStyle/>
          <a:p>
            <a:r>
              <a:rPr lang="zh-CN" altLang="en-US" dirty="0"/>
              <a:t>         图像的灰度线性变换是通过建立灰度映射来调整原始图像的灰度，从而改善图像的质量，凸显图像的细节，提高图像的对比度。</a:t>
            </a:r>
          </a:p>
        </p:txBody>
      </p:sp>
      <p:pic>
        <p:nvPicPr>
          <p:cNvPr id="10" name="图片 9"/>
          <p:cNvPicPr>
            <a:picLocks noChangeAspect="1"/>
          </p:cNvPicPr>
          <p:nvPr/>
        </p:nvPicPr>
        <p:blipFill>
          <a:blip r:embed="rId3"/>
          <a:stretch>
            <a:fillRect/>
          </a:stretch>
        </p:blipFill>
        <p:spPr>
          <a:xfrm>
            <a:off x="972394" y="2875642"/>
            <a:ext cx="3033240" cy="2282343"/>
          </a:xfrm>
          <a:prstGeom prst="rect">
            <a:avLst/>
          </a:prstGeom>
          <a:noFill/>
          <a:ln>
            <a:noFill/>
          </a:ln>
        </p:spPr>
      </p:pic>
      <p:pic>
        <p:nvPicPr>
          <p:cNvPr id="11" name="图片 10"/>
          <p:cNvPicPr>
            <a:picLocks noChangeAspect="1"/>
          </p:cNvPicPr>
          <p:nvPr/>
        </p:nvPicPr>
        <p:blipFill>
          <a:blip r:embed="rId4"/>
          <a:stretch>
            <a:fillRect/>
          </a:stretch>
        </p:blipFill>
        <p:spPr>
          <a:xfrm>
            <a:off x="4932834" y="2875701"/>
            <a:ext cx="3056683" cy="2282342"/>
          </a:xfrm>
          <a:prstGeom prst="rect">
            <a:avLst/>
          </a:prstGeom>
          <a:noFill/>
          <a:ln>
            <a:noFill/>
          </a:ln>
        </p:spPr>
      </p:pic>
      <p:sp>
        <p:nvSpPr>
          <p:cNvPr id="12" name="箭头: 右 11"/>
          <p:cNvSpPr/>
          <p:nvPr/>
        </p:nvSpPr>
        <p:spPr>
          <a:xfrm>
            <a:off x="4195794" y="3817631"/>
            <a:ext cx="648072" cy="19918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3.4.1  </a:t>
            </a:r>
            <a:r>
              <a:rPr lang="zh-CN" altLang="en-US" sz="2100" b="1" dirty="0">
                <a:solidFill>
                  <a:schemeClr val="tx1">
                    <a:lumMod val="75000"/>
                    <a:lumOff val="25000"/>
                  </a:schemeClr>
                </a:solidFill>
                <a:latin typeface="微软雅黑" panose="020B0503020204020204" pitchFamily="34" charset="-122"/>
              </a:rPr>
              <a:t>线性变换原理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712183" y="1348497"/>
            <a:ext cx="7605027" cy="1061829"/>
          </a:xfrm>
          <a:prstGeom prst="rect">
            <a:avLst/>
          </a:prstGeom>
          <a:noFill/>
        </p:spPr>
        <p:txBody>
          <a:bodyPr wrap="square" rtlCol="0">
            <a:spAutoFit/>
          </a:bodyPr>
          <a:lstStyle/>
          <a:p>
            <a:r>
              <a:rPr lang="zh-CN" altLang="en-US" dirty="0"/>
              <a:t>         我们把图像的灰度直方图看作是关于图像灰度值的一个函数，即每张图片都可以得到一个关于其灰度值的分布函数。我们可以通过线性变换让其灰度值的范围变大，公式如下所示：</a:t>
            </a:r>
          </a:p>
        </p:txBody>
      </p:sp>
      <p:graphicFrame>
        <p:nvGraphicFramePr>
          <p:cNvPr id="6" name="对象 5"/>
          <p:cNvGraphicFramePr>
            <a:graphicFrameLocks noChangeAspect="1"/>
          </p:cNvGraphicFramePr>
          <p:nvPr/>
        </p:nvGraphicFramePr>
        <p:xfrm>
          <a:off x="2727677" y="2490022"/>
          <a:ext cx="2169469" cy="461129"/>
        </p:xfrm>
        <a:graphic>
          <a:graphicData uri="http://schemas.openxmlformats.org/presentationml/2006/ole">
            <mc:AlternateContent xmlns:mc="http://schemas.openxmlformats.org/markup-compatibility/2006">
              <mc:Choice xmlns:v="urn:schemas-microsoft-com:vml" Requires="v">
                <p:oleObj spid="_x0000_s6146" r:id="rId4" imgW="1002665" imgH="215900" progId="Equation.3">
                  <p:embed/>
                </p:oleObj>
              </mc:Choice>
              <mc:Fallback>
                <p:oleObj r:id="rId4" imgW="1002665" imgH="2159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677" y="2490022"/>
                        <a:ext cx="2169469" cy="461129"/>
                      </a:xfrm>
                      <a:prstGeom prst="rect">
                        <a:avLst/>
                      </a:prstGeom>
                      <a:noFill/>
                    </p:spPr>
                  </p:pic>
                </p:oleObj>
              </mc:Fallback>
            </mc:AlternateContent>
          </a:graphicData>
        </a:graphic>
      </p:graphicFrame>
      <p:sp>
        <p:nvSpPr>
          <p:cNvPr id="17" name="文本框 16"/>
          <p:cNvSpPr txBox="1"/>
          <p:nvPr/>
        </p:nvSpPr>
        <p:spPr>
          <a:xfrm>
            <a:off x="6661026" y="2512837"/>
            <a:ext cx="458975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3-8</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12" name="文本框 11"/>
          <p:cNvSpPr txBox="1"/>
          <p:nvPr/>
        </p:nvSpPr>
        <p:spPr>
          <a:xfrm>
            <a:off x="828378" y="3028485"/>
            <a:ext cx="7344816" cy="1061829"/>
          </a:xfrm>
          <a:prstGeom prst="rect">
            <a:avLst/>
          </a:prstGeom>
          <a:noFill/>
        </p:spPr>
        <p:txBody>
          <a:bodyPr wrap="square" rtlCol="0">
            <a:spAutoFit/>
          </a:bodyPr>
          <a:lstStyle/>
          <a:p>
            <a:r>
              <a:rPr lang="zh-CN" altLang="en-US" dirty="0"/>
              <a:t>         该公式中 表示灰度线性变换后的灰度值， 表示变换前输入图像的灰度值，</a:t>
            </a:r>
            <a:r>
              <a:rPr lang="en-US" altLang="zh-CN" dirty="0"/>
              <a:t>a</a:t>
            </a:r>
            <a:r>
              <a:rPr lang="zh-CN" altLang="en-US" dirty="0"/>
              <a:t>和</a:t>
            </a:r>
            <a:r>
              <a:rPr lang="en-US" altLang="zh-CN" dirty="0"/>
              <a:t>b</a:t>
            </a:r>
            <a:r>
              <a:rPr lang="zh-CN" altLang="en-US" dirty="0"/>
              <a:t>为线性变换方程的参数，分别表示斜率和截距。</a:t>
            </a:r>
          </a:p>
        </p:txBody>
      </p:sp>
      <p:sp>
        <p:nvSpPr>
          <p:cNvPr id="13" name="文本框 12"/>
          <p:cNvSpPr txBox="1"/>
          <p:nvPr/>
        </p:nvSpPr>
        <p:spPr>
          <a:xfrm>
            <a:off x="814324" y="4090314"/>
            <a:ext cx="7056784" cy="2677656"/>
          </a:xfrm>
          <a:prstGeom prst="rect">
            <a:avLst/>
          </a:prstGeom>
          <a:noFill/>
        </p:spPr>
        <p:txBody>
          <a:bodyPr wrap="square" rtlCol="0">
            <a:spAutoFit/>
          </a:bodyPr>
          <a:lstStyle/>
          <a:p>
            <a:r>
              <a:rPr lang="en-US" altLang="zh-CN" dirty="0"/>
              <a:t>1.</a:t>
            </a:r>
            <a:r>
              <a:rPr lang="zh-CN" altLang="en-US" dirty="0"/>
              <a:t>当</a:t>
            </a:r>
            <a:r>
              <a:rPr lang="en-US" altLang="zh-CN" dirty="0"/>
              <a:t>a=1</a:t>
            </a:r>
            <a:r>
              <a:rPr lang="zh-CN" altLang="en-US" dirty="0"/>
              <a:t>，</a:t>
            </a:r>
            <a:r>
              <a:rPr lang="en-US" altLang="zh-CN" dirty="0"/>
              <a:t>b=0</a:t>
            </a:r>
            <a:r>
              <a:rPr lang="zh-CN" altLang="en-US" dirty="0"/>
              <a:t>时，保持原始图像不变；</a:t>
            </a:r>
          </a:p>
          <a:p>
            <a:r>
              <a:rPr lang="en-US" altLang="zh-CN" dirty="0"/>
              <a:t>2.</a:t>
            </a:r>
            <a:r>
              <a:rPr lang="zh-CN" altLang="en-US" dirty="0"/>
              <a:t>当</a:t>
            </a:r>
            <a:r>
              <a:rPr lang="en-US" altLang="zh-CN" dirty="0"/>
              <a:t>a=1</a:t>
            </a:r>
            <a:r>
              <a:rPr lang="zh-CN" altLang="en-US" dirty="0"/>
              <a:t>时，图像所有的灰度值上移 </a:t>
            </a:r>
            <a:r>
              <a:rPr lang="en-US" altLang="zh-CN" dirty="0"/>
              <a:t>(b&gt;0)</a:t>
            </a:r>
            <a:r>
              <a:rPr lang="zh-CN" altLang="en-US" dirty="0"/>
              <a:t>或下移 </a:t>
            </a:r>
            <a:r>
              <a:rPr lang="en-US" altLang="zh-CN" dirty="0"/>
              <a:t>(b&lt;0)</a:t>
            </a:r>
            <a:r>
              <a:rPr lang="zh-CN" altLang="en-US" dirty="0"/>
              <a:t>，也就是图像整体变亮或者变暗，不会改变图像的对比度。其中，</a:t>
            </a:r>
            <a:r>
              <a:rPr lang="en-US" altLang="zh-CN" dirty="0"/>
              <a:t>b&gt;0</a:t>
            </a:r>
            <a:r>
              <a:rPr lang="zh-CN" altLang="en-US" dirty="0"/>
              <a:t>时，图像变亮，</a:t>
            </a:r>
            <a:r>
              <a:rPr lang="en-US" altLang="zh-CN" dirty="0"/>
              <a:t>b&lt;0</a:t>
            </a:r>
            <a:r>
              <a:rPr lang="zh-CN" altLang="en-US" dirty="0"/>
              <a:t>时，图像变暗；</a:t>
            </a:r>
          </a:p>
          <a:p>
            <a:r>
              <a:rPr lang="en-US" altLang="zh-CN" dirty="0"/>
              <a:t>3.</a:t>
            </a:r>
            <a:r>
              <a:rPr lang="zh-CN" altLang="en-US" dirty="0"/>
              <a:t>当</a:t>
            </a:r>
            <a:r>
              <a:rPr lang="en-US" altLang="zh-CN" dirty="0"/>
              <a:t>a=-1</a:t>
            </a:r>
            <a:r>
              <a:rPr lang="zh-CN" altLang="en-US" dirty="0"/>
              <a:t>，</a:t>
            </a:r>
            <a:r>
              <a:rPr lang="en-US" altLang="zh-CN" dirty="0"/>
              <a:t>b=255</a:t>
            </a:r>
            <a:r>
              <a:rPr lang="zh-CN" altLang="en-US" dirty="0"/>
              <a:t>时，原始图像的灰度值反转；</a:t>
            </a:r>
          </a:p>
          <a:p>
            <a:r>
              <a:rPr lang="en-US" altLang="zh-CN" dirty="0"/>
              <a:t>4.</a:t>
            </a:r>
            <a:r>
              <a:rPr lang="zh-CN" altLang="en-US" dirty="0"/>
              <a:t>当</a:t>
            </a:r>
            <a:r>
              <a:rPr lang="en-US" altLang="zh-CN" dirty="0"/>
              <a:t>a&gt;1</a:t>
            </a:r>
            <a:r>
              <a:rPr lang="zh-CN" altLang="en-US" dirty="0"/>
              <a:t>时，输出图像的对比度增强，图像看起来更加清晰；</a:t>
            </a:r>
          </a:p>
          <a:p>
            <a:r>
              <a:rPr lang="en-US" altLang="zh-CN" dirty="0"/>
              <a:t>5.</a:t>
            </a:r>
            <a:r>
              <a:rPr lang="zh-CN" altLang="en-US" dirty="0"/>
              <a:t>当</a:t>
            </a:r>
            <a:r>
              <a:rPr lang="en-US" altLang="zh-CN" dirty="0"/>
              <a:t>0&lt;a&lt;1</a:t>
            </a:r>
            <a:r>
              <a:rPr lang="zh-CN" altLang="en-US" dirty="0"/>
              <a:t>时，输出图像的对比度减小，图像看起来变暗；</a:t>
            </a:r>
          </a:p>
          <a:p>
            <a:r>
              <a:rPr lang="en-US" altLang="zh-CN" dirty="0"/>
              <a:t>6.</a:t>
            </a:r>
            <a:r>
              <a:rPr lang="zh-CN" altLang="en-US" dirty="0"/>
              <a:t>当</a:t>
            </a:r>
            <a:r>
              <a:rPr lang="en-US" altLang="zh-CN" dirty="0"/>
              <a:t>a&lt;0</a:t>
            </a:r>
            <a:r>
              <a:rPr lang="zh-CN" altLang="en-US" dirty="0"/>
              <a:t>时，原始图像暗区域变亮，亮区域变暗。</a:t>
            </a:r>
          </a:p>
        </p:txBody>
      </p:sp>
    </p:spTree>
  </p:cSld>
  <p:clrMapOvr>
    <a:masterClrMapping/>
  </p:clrMapOvr>
  <p:transition spd="slow" advClick="0"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324322" y="1225751"/>
            <a:ext cx="5867025" cy="41549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以图像灰度值增长为例，实现代码如下：</a:t>
            </a:r>
          </a:p>
        </p:txBody>
      </p:sp>
      <p:sp>
        <p:nvSpPr>
          <p:cNvPr id="3" name="文本框 2"/>
          <p:cNvSpPr txBox="1"/>
          <p:nvPr/>
        </p:nvSpPr>
        <p:spPr>
          <a:xfrm>
            <a:off x="828378" y="1734975"/>
            <a:ext cx="7488832" cy="300082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import cv2    </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numpy</a:t>
            </a:r>
            <a:r>
              <a:rPr lang="en-US" altLang="zh-CN" dirty="0">
                <a:latin typeface="Times New Roman" panose="02020603050405020304" pitchFamily="18" charset="0"/>
                <a:cs typeface="Times New Roman" panose="02020603050405020304" pitchFamily="18" charset="0"/>
              </a:rPr>
              <a:t> as np    </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matplotlib.pyplot</a:t>
            </a:r>
            <a:r>
              <a:rPr lang="en-US" altLang="zh-CN" dirty="0">
                <a:latin typeface="Times New Roman" panose="02020603050405020304" pitchFamily="18" charset="0"/>
                <a:cs typeface="Times New Roman" panose="02020603050405020304" pitchFamily="18" charset="0"/>
              </a:rPr>
              <a:t> as </a:t>
            </a:r>
            <a:r>
              <a:rPr lang="en-US" altLang="zh-CN" dirty="0" err="1">
                <a:latin typeface="Times New Roman" panose="02020603050405020304" pitchFamily="18" charset="0"/>
                <a:cs typeface="Times New Roman" panose="02020603050405020304" pitchFamily="18" charset="0"/>
              </a:rPr>
              <a:t>plt</a:t>
            </a:r>
            <a:r>
              <a:rPr lang="en-US" altLang="zh-CN" dirty="0">
                <a:latin typeface="Times New Roman" panose="02020603050405020304" pitchFamily="18" charset="0"/>
                <a:cs typeface="Times New Roman" panose="02020603050405020304" pitchFamily="18" charset="0"/>
              </a:rPr>
              <a:t>  </a:t>
            </a: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 cv2.imread('gray.jpg')</a:t>
            </a:r>
          </a:p>
          <a:p>
            <a:r>
              <a:rPr lang="en-US" altLang="zh-CN" dirty="0" err="1">
                <a:latin typeface="Times New Roman" panose="02020603050405020304" pitchFamily="18" charset="0"/>
                <a:cs typeface="Times New Roman" panose="02020603050405020304" pitchFamily="18" charset="0"/>
              </a:rPr>
              <a:t>grayImage</a:t>
            </a:r>
            <a:r>
              <a:rPr lang="en-US" altLang="zh-CN" dirty="0">
                <a:latin typeface="Times New Roman" panose="02020603050405020304" pitchFamily="18" charset="0"/>
                <a:cs typeface="Times New Roman" panose="02020603050405020304" pitchFamily="18" charset="0"/>
              </a:rPr>
              <a:t> = cv2.cvtColor(</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cv2.COLOR_BGR2GRAY)</a:t>
            </a: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图像灰度转换  </a:t>
            </a:r>
          </a:p>
          <a:p>
            <a:r>
              <a:rPr lang="en-US" altLang="zh-CN" dirty="0">
                <a:latin typeface="Times New Roman" panose="02020603050405020304" pitchFamily="18" charset="0"/>
                <a:cs typeface="Times New Roman" panose="02020603050405020304" pitchFamily="18" charset="0"/>
              </a:rPr>
              <a:t>height = </a:t>
            </a:r>
            <a:r>
              <a:rPr lang="en-US" altLang="zh-CN" dirty="0" err="1">
                <a:latin typeface="Times New Roman" panose="02020603050405020304" pitchFamily="18" charset="0"/>
                <a:cs typeface="Times New Roman" panose="02020603050405020304" pitchFamily="18" charset="0"/>
              </a:rPr>
              <a:t>grayImage.shape</a:t>
            </a:r>
            <a:r>
              <a:rPr lang="en-US" altLang="zh-CN" dirty="0">
                <a:latin typeface="Times New Roman" panose="02020603050405020304" pitchFamily="18" charset="0"/>
                <a:cs typeface="Times New Roman" panose="02020603050405020304" pitchFamily="18" charset="0"/>
              </a:rPr>
              <a:t>[0]		#</a:t>
            </a:r>
            <a:r>
              <a:rPr lang="zh-CN" altLang="en-US" dirty="0">
                <a:latin typeface="Times New Roman" panose="02020603050405020304" pitchFamily="18" charset="0"/>
                <a:cs typeface="Times New Roman" panose="02020603050405020304" pitchFamily="18" charset="0"/>
              </a:rPr>
              <a:t>获取图像高度  </a:t>
            </a:r>
          </a:p>
          <a:p>
            <a:r>
              <a:rPr lang="en-US" altLang="zh-CN" dirty="0">
                <a:latin typeface="Times New Roman" panose="02020603050405020304" pitchFamily="18" charset="0"/>
                <a:cs typeface="Times New Roman" panose="02020603050405020304" pitchFamily="18" charset="0"/>
              </a:rPr>
              <a:t>width = </a:t>
            </a:r>
            <a:r>
              <a:rPr lang="en-US" altLang="zh-CN" dirty="0" err="1">
                <a:latin typeface="Times New Roman" panose="02020603050405020304" pitchFamily="18" charset="0"/>
                <a:cs typeface="Times New Roman" panose="02020603050405020304" pitchFamily="18" charset="0"/>
              </a:rPr>
              <a:t>grayImage.shape</a:t>
            </a:r>
            <a:r>
              <a:rPr lang="en-US"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获取图像宽度  </a:t>
            </a:r>
          </a:p>
          <a:p>
            <a:r>
              <a:rPr lang="en-US" altLang="zh-CN" dirty="0">
                <a:latin typeface="Times New Roman" panose="02020603050405020304" pitchFamily="18" charset="0"/>
                <a:cs typeface="Times New Roman" panose="02020603050405020304" pitchFamily="18" charset="0"/>
              </a:rPr>
              <a:t>result = </a:t>
            </a:r>
            <a:r>
              <a:rPr lang="en-US" altLang="zh-CN" dirty="0" err="1">
                <a:latin typeface="Times New Roman" panose="02020603050405020304" pitchFamily="18" charset="0"/>
                <a:cs typeface="Times New Roman" panose="02020603050405020304" pitchFamily="18" charset="0"/>
              </a:rPr>
              <a:t>np.zeros</a:t>
            </a:r>
            <a:r>
              <a:rPr lang="en-US" altLang="zh-CN" dirty="0">
                <a:latin typeface="Times New Roman" panose="02020603050405020304" pitchFamily="18" charset="0"/>
                <a:cs typeface="Times New Roman" panose="02020603050405020304" pitchFamily="18" charset="0"/>
              </a:rPr>
              <a:t>((height, width), np.uint8)	#</a:t>
            </a:r>
            <a:r>
              <a:rPr lang="zh-CN" altLang="en-US" dirty="0">
                <a:latin typeface="Times New Roman" panose="02020603050405020304" pitchFamily="18" charset="0"/>
                <a:cs typeface="Times New Roman" panose="02020603050405020304" pitchFamily="18" charset="0"/>
              </a:rPr>
              <a:t>创建一幅图像   </a:t>
            </a:r>
          </a:p>
        </p:txBody>
      </p:sp>
    </p:spTree>
  </p:cSld>
  <p:clrMapOvr>
    <a:masterClrMapping/>
  </p:clrMapOvr>
  <p:transition spd="slow" advClick="0" advTm="0">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178269" y="1202817"/>
            <a:ext cx="5867025" cy="415498"/>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以图像灰度值增长为例，实现代码如下：</a:t>
            </a:r>
          </a:p>
        </p:txBody>
      </p:sp>
      <p:sp>
        <p:nvSpPr>
          <p:cNvPr id="3" name="文本框 2"/>
          <p:cNvSpPr txBox="1"/>
          <p:nvPr/>
        </p:nvSpPr>
        <p:spPr>
          <a:xfrm>
            <a:off x="828378" y="1734975"/>
            <a:ext cx="7488832" cy="300082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range(height):  </a:t>
            </a:r>
          </a:p>
          <a:p>
            <a:pPr lvl="1"/>
            <a:r>
              <a:rPr lang="en-US" altLang="zh-CN" dirty="0">
                <a:latin typeface="Times New Roman" panose="02020603050405020304" pitchFamily="18" charset="0"/>
                <a:cs typeface="Times New Roman" panose="02020603050405020304" pitchFamily="18" charset="0"/>
              </a:rPr>
              <a:t>for j in range(width):  </a:t>
            </a:r>
          </a:p>
          <a:p>
            <a:pPr lvl="1"/>
            <a:r>
              <a:rPr lang="en-US" altLang="zh-CN" dirty="0">
                <a:latin typeface="Times New Roman" panose="02020603050405020304" pitchFamily="18" charset="0"/>
                <a:cs typeface="Times New Roman" panose="02020603050405020304" pitchFamily="18" charset="0"/>
              </a:rPr>
              <a:t>if (int(</a:t>
            </a:r>
            <a:r>
              <a:rPr lang="en-US" altLang="zh-CN" dirty="0" err="1">
                <a:latin typeface="Times New Roman" panose="02020603050405020304" pitchFamily="18" charset="0"/>
                <a:cs typeface="Times New Roman" panose="02020603050405020304" pitchFamily="18" charset="0"/>
              </a:rPr>
              <a:t>grayImage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]*2) &gt; 255):  gray = 255	#</a:t>
            </a:r>
            <a:r>
              <a:rPr lang="zh-CN" altLang="en-US" dirty="0">
                <a:latin typeface="Times New Roman" panose="02020603050405020304" pitchFamily="18" charset="0"/>
                <a:cs typeface="Times New Roman" panose="02020603050405020304" pitchFamily="18" charset="0"/>
              </a:rPr>
              <a:t>防溢出判断  </a:t>
            </a:r>
          </a:p>
          <a:p>
            <a:pPr lvl="1"/>
            <a:r>
              <a:rPr lang="en-US" altLang="zh-CN" dirty="0">
                <a:latin typeface="Times New Roman" panose="02020603050405020304" pitchFamily="18" charset="0"/>
                <a:cs typeface="Times New Roman" panose="02020603050405020304" pitchFamily="18" charset="0"/>
              </a:rPr>
              <a:t>else:   gray = int(</a:t>
            </a:r>
            <a:r>
              <a:rPr lang="en-US" altLang="zh-CN" dirty="0" err="1">
                <a:latin typeface="Times New Roman" panose="02020603050405020304" pitchFamily="18" charset="0"/>
                <a:cs typeface="Times New Roman" panose="02020603050405020304" pitchFamily="18" charset="0"/>
              </a:rPr>
              <a:t>grayImage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]+50)					         #</a:t>
            </a:r>
            <a:r>
              <a:rPr lang="zh-CN" altLang="en-US" dirty="0">
                <a:latin typeface="Times New Roman" panose="02020603050405020304" pitchFamily="18" charset="0"/>
                <a:cs typeface="Times New Roman" panose="02020603050405020304" pitchFamily="18" charset="0"/>
              </a:rPr>
              <a:t>每个像素点的灰度值增加</a:t>
            </a:r>
            <a:r>
              <a:rPr lang="en-US" altLang="zh-CN" dirty="0">
                <a:latin typeface="Times New Roman" panose="02020603050405020304" pitchFamily="18" charset="0"/>
                <a:cs typeface="Times New Roman" panose="02020603050405020304" pitchFamily="18" charset="0"/>
              </a:rPr>
              <a:t>50</a:t>
            </a:r>
          </a:p>
          <a:p>
            <a:pPr lvl="3"/>
            <a:r>
              <a:rPr lang="en-US" altLang="zh-CN" dirty="0">
                <a:latin typeface="Times New Roman" panose="02020603050405020304" pitchFamily="18" charset="0"/>
                <a:cs typeface="Times New Roman" panose="02020603050405020304" pitchFamily="18" charset="0"/>
              </a:rPr>
              <a:t>result[</a:t>
            </a:r>
            <a:r>
              <a:rPr lang="en-US" altLang="zh-CN" dirty="0" err="1">
                <a:latin typeface="Times New Roman" panose="02020603050405020304" pitchFamily="18" charset="0"/>
                <a:cs typeface="Times New Roman" panose="02020603050405020304" pitchFamily="18" charset="0"/>
              </a:rPr>
              <a:t>i,j</a:t>
            </a:r>
            <a:r>
              <a:rPr lang="en-US" altLang="zh-CN" dirty="0">
                <a:latin typeface="Times New Roman" panose="02020603050405020304" pitchFamily="18" charset="0"/>
                <a:cs typeface="Times New Roman" panose="02020603050405020304" pitchFamily="18" charset="0"/>
              </a:rPr>
              <a:t>] = np.uint8(gray)   </a:t>
            </a:r>
          </a:p>
          <a:p>
            <a:pPr lvl="3"/>
            <a:r>
              <a:rPr lang="en-US" altLang="zh-CN" dirty="0">
                <a:latin typeface="Times New Roman" panose="02020603050405020304" pitchFamily="18" charset="0"/>
                <a:cs typeface="Times New Roman" panose="02020603050405020304" pitchFamily="18" charset="0"/>
              </a:rPr>
              <a:t>cv2.imshow("Result", result)  </a:t>
            </a:r>
          </a:p>
          <a:p>
            <a:r>
              <a:rPr lang="en-US" altLang="zh-CN" dirty="0" err="1">
                <a:latin typeface="Times New Roman" panose="02020603050405020304" pitchFamily="18" charset="0"/>
                <a:cs typeface="Times New Roman" panose="02020603050405020304" pitchFamily="18" charset="0"/>
              </a:rPr>
              <a:t>plt.hist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grayImage.ravel</a:t>
            </a:r>
            <a:r>
              <a:rPr lang="en-US" altLang="zh-CN" dirty="0">
                <a:latin typeface="Times New Roman" panose="02020603050405020304" pitchFamily="18" charset="0"/>
                <a:cs typeface="Times New Roman" panose="02020603050405020304" pitchFamily="18" charset="0"/>
              </a:rPr>
              <a:t>(),256)  </a:t>
            </a:r>
          </a:p>
          <a:p>
            <a:r>
              <a:rPr lang="en-US" altLang="zh-CN" dirty="0" err="1">
                <a:latin typeface="Times New Roman" panose="02020603050405020304" pitchFamily="18" charset="0"/>
                <a:cs typeface="Times New Roman" panose="02020603050405020304" pitchFamily="18" charset="0"/>
              </a:rPr>
              <a:t>plt.show</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612354" y="1230469"/>
            <a:ext cx="7776864" cy="738664"/>
          </a:xfrm>
          <a:prstGeom prst="rect">
            <a:avLst/>
          </a:prstGeom>
          <a:noFill/>
        </p:spPr>
        <p:txBody>
          <a:bodyPr wrap="square">
            <a:spAutoFit/>
          </a:bodyPr>
          <a:lstStyle/>
          <a:p>
            <a:pPr indent="457200"/>
            <a:r>
              <a:rPr lang="zh-CN" altLang="en-US" dirty="0"/>
              <a:t>上述程序的作用是将每个像素点的灰度值增加</a:t>
            </a:r>
            <a:r>
              <a:rPr lang="en-US" altLang="zh-CN" dirty="0"/>
              <a:t>50</a:t>
            </a:r>
            <a:r>
              <a:rPr lang="zh-CN" altLang="en-US" dirty="0"/>
              <a:t>。上述程序的运行结果如图</a:t>
            </a:r>
            <a:r>
              <a:rPr lang="en-US" altLang="zh-CN" dirty="0"/>
              <a:t>3.18</a:t>
            </a:r>
            <a:r>
              <a:rPr lang="zh-CN" altLang="en-US" dirty="0"/>
              <a:t>至图</a:t>
            </a:r>
            <a:r>
              <a:rPr lang="en-US" altLang="zh-CN" dirty="0"/>
              <a:t>3.19</a:t>
            </a:r>
            <a:r>
              <a:rPr lang="zh-CN" altLang="en-US" dirty="0"/>
              <a:t>所示：</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rcRect l="1437" t="1176" r="2326" b="1528"/>
          <a:stretch>
            <a:fillRect/>
          </a:stretch>
        </p:blipFill>
        <p:spPr>
          <a:xfrm>
            <a:off x="712183" y="2166840"/>
            <a:ext cx="3312860" cy="3279177"/>
          </a:xfrm>
          <a:prstGeom prst="rect">
            <a:avLst/>
          </a:prstGeom>
          <a:noFill/>
          <a:ln>
            <a:noFill/>
          </a:ln>
        </p:spPr>
      </p:pic>
      <p:pic>
        <p:nvPicPr>
          <p:cNvPr id="13" name="图片 12"/>
          <p:cNvPicPr>
            <a:picLocks noChangeAspect="1"/>
          </p:cNvPicPr>
          <p:nvPr/>
        </p:nvPicPr>
        <p:blipFill>
          <a:blip r:embed="rId4"/>
          <a:stretch>
            <a:fillRect/>
          </a:stretch>
        </p:blipFill>
        <p:spPr>
          <a:xfrm>
            <a:off x="4356770" y="2166839"/>
            <a:ext cx="4358031" cy="3279173"/>
          </a:xfrm>
          <a:prstGeom prst="rect">
            <a:avLst/>
          </a:prstGeom>
          <a:noFill/>
          <a:ln>
            <a:noFill/>
          </a:ln>
        </p:spPr>
      </p:pic>
      <p:sp>
        <p:nvSpPr>
          <p:cNvPr id="15" name="文本框 14"/>
          <p:cNvSpPr txBox="1"/>
          <p:nvPr/>
        </p:nvSpPr>
        <p:spPr>
          <a:xfrm>
            <a:off x="1604039" y="5579853"/>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6" name="文本框 15"/>
          <p:cNvSpPr txBox="1"/>
          <p:nvPr/>
        </p:nvSpPr>
        <p:spPr>
          <a:xfrm>
            <a:off x="5597334" y="557985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7" name="文本框 16"/>
          <p:cNvSpPr txBox="1"/>
          <p:nvPr/>
        </p:nvSpPr>
        <p:spPr>
          <a:xfrm>
            <a:off x="1340617"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3.18  </a:t>
            </a:r>
            <a:r>
              <a:rPr lang="zh-CN" altLang="en-US" sz="1800" b="1" kern="0" dirty="0">
                <a:latin typeface="黑体" panose="02010609060101010101" pitchFamily="49" charset="-122"/>
                <a:ea typeface="黑体" panose="02010609060101010101" pitchFamily="49" charset="-122"/>
              </a:rPr>
              <a:t>原始图像与直方图</a:t>
            </a:r>
          </a:p>
        </p:txBody>
      </p:sp>
    </p:spTree>
  </p:cSld>
  <p:clrMapOvr>
    <a:masterClrMapping/>
  </p:clrMapOvr>
  <p:transition spd="slow" advClick="0" advTm="0">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文本框 14"/>
          <p:cNvSpPr txBox="1"/>
          <p:nvPr/>
        </p:nvSpPr>
        <p:spPr>
          <a:xfrm>
            <a:off x="1528229" y="5281248"/>
            <a:ext cx="203265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线性变换后图像</a:t>
            </a:r>
          </a:p>
        </p:txBody>
      </p:sp>
      <p:sp>
        <p:nvSpPr>
          <p:cNvPr id="16" name="文本框 15"/>
          <p:cNvSpPr txBox="1"/>
          <p:nvPr/>
        </p:nvSpPr>
        <p:spPr>
          <a:xfrm>
            <a:off x="5584710" y="5281248"/>
            <a:ext cx="2156436"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7" name="文本框 16"/>
          <p:cNvSpPr txBox="1"/>
          <p:nvPr/>
        </p:nvSpPr>
        <p:spPr>
          <a:xfrm>
            <a:off x="1340617"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3.19  </a:t>
            </a:r>
            <a:r>
              <a:rPr lang="zh-CN" altLang="en-US" sz="1800" b="1" kern="0" dirty="0">
                <a:latin typeface="黑体" panose="02010609060101010101" pitchFamily="49" charset="-122"/>
                <a:ea typeface="黑体" panose="02010609060101010101" pitchFamily="49" charset="-122"/>
              </a:rPr>
              <a:t>线性变换后图像与直方图</a:t>
            </a:r>
          </a:p>
        </p:txBody>
      </p:sp>
      <p:pic>
        <p:nvPicPr>
          <p:cNvPr id="14" name="图片 13"/>
          <p:cNvPicPr>
            <a:picLocks noChangeAspect="1"/>
          </p:cNvPicPr>
          <p:nvPr/>
        </p:nvPicPr>
        <p:blipFill>
          <a:blip r:embed="rId3"/>
          <a:srcRect l="1478" t="2057" r="1567" b="1822"/>
          <a:stretch>
            <a:fillRect/>
          </a:stretch>
        </p:blipFill>
        <p:spPr>
          <a:xfrm>
            <a:off x="712183" y="1699877"/>
            <a:ext cx="3287472" cy="3276658"/>
          </a:xfrm>
          <a:prstGeom prst="rect">
            <a:avLst/>
          </a:prstGeom>
          <a:noFill/>
          <a:ln>
            <a:noFill/>
          </a:ln>
        </p:spPr>
      </p:pic>
      <p:pic>
        <p:nvPicPr>
          <p:cNvPr id="18" name="图片 17"/>
          <p:cNvPicPr>
            <a:picLocks noChangeAspect="1"/>
          </p:cNvPicPr>
          <p:nvPr/>
        </p:nvPicPr>
        <p:blipFill>
          <a:blip r:embed="rId4"/>
          <a:stretch>
            <a:fillRect/>
          </a:stretch>
        </p:blipFill>
        <p:spPr>
          <a:xfrm>
            <a:off x="4500786" y="1699877"/>
            <a:ext cx="4426601" cy="3305222"/>
          </a:xfrm>
          <a:prstGeom prst="rect">
            <a:avLst/>
          </a:prstGeom>
          <a:noFill/>
          <a:ln>
            <a:noFill/>
          </a:ln>
        </p:spPr>
      </p:pic>
    </p:spTree>
  </p:cSld>
  <p:clrMapOvr>
    <a:masterClrMapping/>
  </p:clrMapOvr>
  <p:transition spd="slow" advClick="0" advTm="0">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文本框 18"/>
          <p:cNvSpPr txBox="1"/>
          <p:nvPr/>
        </p:nvSpPr>
        <p:spPr>
          <a:xfrm>
            <a:off x="468338" y="1269555"/>
            <a:ext cx="8424936" cy="1708160"/>
          </a:xfrm>
          <a:prstGeom prst="rect">
            <a:avLst/>
          </a:prstGeom>
          <a:noFill/>
        </p:spPr>
        <p:txBody>
          <a:bodyPr wrap="square">
            <a:spAutoFit/>
          </a:bodyPr>
          <a:lstStyle/>
          <a:p>
            <a:pPr indent="457200"/>
            <a:r>
              <a:rPr lang="zh-CN" altLang="en-US" dirty="0"/>
              <a:t>以改变图像对比度为例，运行结果如图</a:t>
            </a:r>
            <a:r>
              <a:rPr lang="en-US" altLang="zh-CN" dirty="0"/>
              <a:t>3.20</a:t>
            </a:r>
            <a:r>
              <a:rPr lang="zh-CN" altLang="en-US" dirty="0"/>
              <a:t>至图</a:t>
            </a:r>
            <a:r>
              <a:rPr lang="en-US" altLang="zh-CN" dirty="0"/>
              <a:t>3.21</a:t>
            </a:r>
            <a:r>
              <a:rPr lang="zh-CN" altLang="en-US" dirty="0"/>
              <a:t>所示。在更改图像对比度时，程序的代码部分只需要将图像灰度值增长的代码中的</a:t>
            </a:r>
            <a:r>
              <a:rPr lang="en-US" altLang="zh-CN" dirty="0"/>
              <a:t>gray = int(</a:t>
            </a:r>
            <a:r>
              <a:rPr lang="en-US" altLang="zh-CN" dirty="0" err="1"/>
              <a:t>grayImage</a:t>
            </a:r>
            <a:r>
              <a:rPr lang="en-US" altLang="zh-CN" dirty="0"/>
              <a:t>[</a:t>
            </a:r>
            <a:r>
              <a:rPr lang="en-US" altLang="zh-CN" dirty="0" err="1"/>
              <a:t>i,j</a:t>
            </a:r>
            <a:r>
              <a:rPr lang="en-US" altLang="zh-CN" dirty="0"/>
              <a:t>]+50)</a:t>
            </a:r>
            <a:r>
              <a:rPr lang="zh-CN" altLang="en-US" dirty="0"/>
              <a:t>更改为</a:t>
            </a:r>
            <a:r>
              <a:rPr lang="en-US" altLang="zh-CN" dirty="0"/>
              <a:t>gray = int(</a:t>
            </a:r>
            <a:r>
              <a:rPr lang="en-US" altLang="zh-CN" dirty="0" err="1"/>
              <a:t>grayImage</a:t>
            </a:r>
            <a:r>
              <a:rPr lang="en-US" altLang="zh-CN" dirty="0"/>
              <a:t>[</a:t>
            </a:r>
            <a:r>
              <a:rPr lang="en-US" altLang="zh-CN" dirty="0" err="1"/>
              <a:t>i,j</a:t>
            </a:r>
            <a:r>
              <a:rPr lang="en-US" altLang="zh-CN" dirty="0"/>
              <a:t>]*0.8)</a:t>
            </a:r>
            <a:r>
              <a:rPr lang="zh-CN" altLang="en-US" dirty="0"/>
              <a:t>即可。从图中可以看出，将原始图像的对比度减小，变化后的图像与原始图像相比明显的不清楚了，很多细节部分难以看清。</a:t>
            </a:r>
          </a:p>
        </p:txBody>
      </p:sp>
      <p:pic>
        <p:nvPicPr>
          <p:cNvPr id="20" name="图片 19"/>
          <p:cNvPicPr>
            <a:picLocks noChangeAspect="1"/>
          </p:cNvPicPr>
          <p:nvPr/>
        </p:nvPicPr>
        <p:blipFill>
          <a:blip r:embed="rId3">
            <a:extLst>
              <a:ext uri="{28A0092B-C50C-407E-A947-70E740481C1C}">
                <a14:useLocalDpi xmlns:a14="http://schemas.microsoft.com/office/drawing/2010/main" val="0"/>
              </a:ext>
            </a:extLst>
          </a:blip>
          <a:srcRect l="1724" t="2646" r="1753" b="1822"/>
          <a:stretch>
            <a:fillRect/>
          </a:stretch>
        </p:blipFill>
        <p:spPr>
          <a:xfrm>
            <a:off x="990396" y="2977713"/>
            <a:ext cx="3168352" cy="3136137"/>
          </a:xfrm>
          <a:prstGeom prst="rect">
            <a:avLst/>
          </a:prstGeom>
          <a:noFill/>
          <a:ln>
            <a:noFill/>
          </a:ln>
        </p:spPr>
      </p:pic>
      <p:pic>
        <p:nvPicPr>
          <p:cNvPr id="21" name="图片 20"/>
          <p:cNvPicPr>
            <a:picLocks noChangeAspect="1"/>
          </p:cNvPicPr>
          <p:nvPr/>
        </p:nvPicPr>
        <p:blipFill>
          <a:blip r:embed="rId4"/>
          <a:stretch>
            <a:fillRect/>
          </a:stretch>
        </p:blipFill>
        <p:spPr>
          <a:xfrm>
            <a:off x="4680806" y="2977714"/>
            <a:ext cx="3852428" cy="3136137"/>
          </a:xfrm>
          <a:prstGeom prst="rect">
            <a:avLst/>
          </a:prstGeom>
          <a:noFill/>
          <a:ln>
            <a:noFill/>
          </a:ln>
        </p:spPr>
      </p:pic>
      <p:sp>
        <p:nvSpPr>
          <p:cNvPr id="22" name="文本框 21"/>
          <p:cNvSpPr txBox="1"/>
          <p:nvPr/>
        </p:nvSpPr>
        <p:spPr>
          <a:xfrm>
            <a:off x="1629489" y="6151494"/>
            <a:ext cx="203265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23" name="文本框 22"/>
          <p:cNvSpPr txBox="1"/>
          <p:nvPr/>
        </p:nvSpPr>
        <p:spPr>
          <a:xfrm>
            <a:off x="5796930" y="6157473"/>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24" name="文本框 23"/>
          <p:cNvSpPr txBox="1"/>
          <p:nvPr/>
        </p:nvSpPr>
        <p:spPr>
          <a:xfrm>
            <a:off x="1314432" y="6524498"/>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3.20  </a:t>
            </a:r>
            <a:r>
              <a:rPr lang="zh-CN" altLang="en-US" sz="1800" b="1" kern="0" dirty="0">
                <a:latin typeface="黑体" panose="02010609060101010101" pitchFamily="49" charset="-122"/>
                <a:ea typeface="黑体" panose="02010609060101010101" pitchFamily="49" charset="-122"/>
              </a:rPr>
              <a:t>原始图像与直方图</a:t>
            </a:r>
          </a:p>
        </p:txBody>
      </p:sp>
    </p:spTree>
  </p:cSld>
  <p:clrMapOvr>
    <a:masterClrMapping/>
  </p:clrMapOvr>
  <p:transition spd="slow" advClick="0" advTm="0">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3.4.2  </a:t>
            </a:r>
            <a:r>
              <a:rPr lang="zh-CN" altLang="en-US" sz="2100" b="1" dirty="0">
                <a:solidFill>
                  <a:schemeClr val="tx1">
                    <a:lumMod val="75000"/>
                    <a:lumOff val="25000"/>
                  </a:schemeClr>
                </a:solidFill>
                <a:latin typeface="微软雅黑" panose="020B0503020204020204" pitchFamily="34" charset="-122"/>
              </a:rPr>
              <a:t>线性变换的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0" name="图片 19"/>
          <p:cNvPicPr>
            <a:picLocks noChangeAspect="1"/>
          </p:cNvPicPr>
          <p:nvPr/>
        </p:nvPicPr>
        <p:blipFill>
          <a:blip r:embed="rId3">
            <a:extLst>
              <a:ext uri="{28A0092B-C50C-407E-A947-70E740481C1C}">
                <a14:useLocalDpi xmlns:a14="http://schemas.microsoft.com/office/drawing/2010/main" val="0"/>
              </a:ext>
            </a:extLst>
          </a:blip>
          <a:srcRect l="1724" t="2646" r="1753" b="1822"/>
          <a:stretch>
            <a:fillRect/>
          </a:stretch>
        </p:blipFill>
        <p:spPr>
          <a:xfrm>
            <a:off x="990396" y="1888373"/>
            <a:ext cx="3168352" cy="3136137"/>
          </a:xfrm>
          <a:prstGeom prst="rect">
            <a:avLst/>
          </a:prstGeom>
          <a:noFill/>
          <a:ln>
            <a:noFill/>
          </a:ln>
        </p:spPr>
      </p:pic>
      <p:pic>
        <p:nvPicPr>
          <p:cNvPr id="21" name="图片 20"/>
          <p:cNvPicPr>
            <a:picLocks noChangeAspect="1"/>
          </p:cNvPicPr>
          <p:nvPr/>
        </p:nvPicPr>
        <p:blipFill>
          <a:blip r:embed="rId4"/>
          <a:stretch>
            <a:fillRect/>
          </a:stretch>
        </p:blipFill>
        <p:spPr>
          <a:xfrm>
            <a:off x="4644802" y="1888373"/>
            <a:ext cx="3852428" cy="3136137"/>
          </a:xfrm>
          <a:prstGeom prst="rect">
            <a:avLst/>
          </a:prstGeom>
          <a:noFill/>
          <a:ln>
            <a:noFill/>
          </a:ln>
        </p:spPr>
      </p:pic>
      <p:sp>
        <p:nvSpPr>
          <p:cNvPr id="22" name="文本框 21"/>
          <p:cNvSpPr txBox="1"/>
          <p:nvPr/>
        </p:nvSpPr>
        <p:spPr>
          <a:xfrm>
            <a:off x="1604039" y="5265880"/>
            <a:ext cx="203265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线性变换后图像</a:t>
            </a:r>
          </a:p>
        </p:txBody>
      </p:sp>
      <p:sp>
        <p:nvSpPr>
          <p:cNvPr id="23" name="文本框 22"/>
          <p:cNvSpPr txBox="1"/>
          <p:nvPr/>
        </p:nvSpPr>
        <p:spPr>
          <a:xfrm>
            <a:off x="5508900" y="5265880"/>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24" name="文本框 23"/>
          <p:cNvSpPr txBox="1"/>
          <p:nvPr/>
        </p:nvSpPr>
        <p:spPr>
          <a:xfrm>
            <a:off x="1314432" y="5792602"/>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3.21  </a:t>
            </a:r>
            <a:r>
              <a:rPr lang="zh-CN" altLang="en-US" sz="1800" b="1" kern="0" dirty="0">
                <a:latin typeface="黑体" panose="02010609060101010101" pitchFamily="49" charset="-122"/>
                <a:ea typeface="黑体" panose="02010609060101010101" pitchFamily="49" charset="-122"/>
              </a:rPr>
              <a:t>线性变换后图像与直方图</a:t>
            </a:r>
          </a:p>
        </p:txBody>
      </p:sp>
    </p:spTree>
  </p:cSld>
  <p:clrMapOvr>
    <a:masterClrMapping/>
  </p:clrMapOvr>
  <p:transition spd="slow" advClick="0" advTm="0">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3.5  </a:t>
            </a:r>
            <a:r>
              <a:rPr lang="zh-CN" altLang="en-US" sz="2100" b="1" dirty="0">
                <a:solidFill>
                  <a:schemeClr val="tx1">
                    <a:lumMod val="75000"/>
                    <a:lumOff val="25000"/>
                  </a:schemeClr>
                </a:solidFill>
                <a:latin typeface="微软雅黑" panose="020B0503020204020204" pitchFamily="34" charset="-122"/>
              </a:rPr>
              <a:t>对数变换</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文本框 18"/>
          <p:cNvSpPr txBox="1"/>
          <p:nvPr/>
        </p:nvSpPr>
        <p:spPr>
          <a:xfrm>
            <a:off x="468338" y="1269555"/>
            <a:ext cx="8424936" cy="1384995"/>
          </a:xfrm>
          <a:prstGeom prst="rect">
            <a:avLst/>
          </a:prstGeom>
          <a:noFill/>
        </p:spPr>
        <p:txBody>
          <a:bodyPr wrap="square">
            <a:spAutoFit/>
          </a:bodyPr>
          <a:lstStyle/>
          <a:p>
            <a:pPr indent="457200"/>
            <a:r>
              <a:rPr lang="zh-CN" altLang="en-US" dirty="0"/>
              <a:t>本小节介绍的是一种灰度的非线性变换，即对数变换。由于对数曲线在像素值较低的区域斜率较大，在像素值较高的区域斜率较小，所以图像经过对数变换后，较暗区域的对比度将有所提升，因此可以用于增强图像的暗部细节。</a:t>
            </a:r>
          </a:p>
        </p:txBody>
      </p:sp>
      <p:pic>
        <p:nvPicPr>
          <p:cNvPr id="10" name="图片 9"/>
          <p:cNvPicPr>
            <a:picLocks noChangeAspect="1"/>
          </p:cNvPicPr>
          <p:nvPr/>
        </p:nvPicPr>
        <p:blipFill>
          <a:blip r:embed="rId3"/>
          <a:stretch>
            <a:fillRect/>
          </a:stretch>
        </p:blipFill>
        <p:spPr>
          <a:xfrm>
            <a:off x="1281410" y="3231156"/>
            <a:ext cx="2435002" cy="1947766"/>
          </a:xfrm>
          <a:prstGeom prst="rect">
            <a:avLst/>
          </a:prstGeom>
          <a:noFill/>
          <a:ln>
            <a:noFill/>
          </a:ln>
        </p:spPr>
      </p:pic>
      <p:pic>
        <p:nvPicPr>
          <p:cNvPr id="11" name="图片 10"/>
          <p:cNvPicPr>
            <a:picLocks noChangeAspect="1"/>
          </p:cNvPicPr>
          <p:nvPr/>
        </p:nvPicPr>
        <p:blipFill>
          <a:blip r:embed="rId4"/>
          <a:stretch>
            <a:fillRect/>
          </a:stretch>
        </p:blipFill>
        <p:spPr>
          <a:xfrm>
            <a:off x="5076850" y="3223121"/>
            <a:ext cx="2448272" cy="1966460"/>
          </a:xfrm>
          <a:prstGeom prst="rect">
            <a:avLst/>
          </a:prstGeom>
          <a:noFill/>
          <a:ln>
            <a:noFill/>
          </a:ln>
        </p:spPr>
      </p:pic>
      <p:sp>
        <p:nvSpPr>
          <p:cNvPr id="12" name="箭头: 右 11"/>
          <p:cNvSpPr/>
          <p:nvPr/>
        </p:nvSpPr>
        <p:spPr>
          <a:xfrm>
            <a:off x="4068739" y="4105448"/>
            <a:ext cx="648072" cy="19918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Tree>
  </p:cSld>
  <p:clrMapOvr>
    <a:masterClrMapping/>
  </p:clrMapOvr>
  <p:transition spd="slow" advClick="0" advTm="0">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3.5.1  </a:t>
            </a:r>
            <a:r>
              <a:rPr lang="zh-CN" altLang="en-US" sz="2100" b="1" dirty="0">
                <a:solidFill>
                  <a:schemeClr val="tx1">
                    <a:lumMod val="75000"/>
                    <a:lumOff val="25000"/>
                  </a:schemeClr>
                </a:solidFill>
                <a:latin typeface="微软雅黑" panose="020B0503020204020204" pitchFamily="34" charset="-122"/>
              </a:rPr>
              <a:t>对数变换原理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文本框 18"/>
          <p:cNvSpPr txBox="1"/>
          <p:nvPr/>
        </p:nvSpPr>
        <p:spPr>
          <a:xfrm>
            <a:off x="0" y="1269215"/>
            <a:ext cx="8424936" cy="415498"/>
          </a:xfrm>
          <a:prstGeom prst="rect">
            <a:avLst/>
          </a:prstGeom>
          <a:noFill/>
        </p:spPr>
        <p:txBody>
          <a:bodyPr wrap="square">
            <a:spAutoFit/>
          </a:bodyPr>
          <a:lstStyle/>
          <a:p>
            <a:pPr indent="457200"/>
            <a:r>
              <a:rPr lang="zh-CN" altLang="en-US" dirty="0"/>
              <a:t>图像灰度的对数变换一般表示如公式 </a:t>
            </a:r>
            <a:r>
              <a:rPr lang="en-US" altLang="zh-CN" dirty="0"/>
              <a:t>(3-11)</a:t>
            </a:r>
            <a:r>
              <a:rPr lang="zh-CN" altLang="en-US" dirty="0"/>
              <a:t>所示：</a:t>
            </a:r>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3096630" y="1719106"/>
          <a:ext cx="2952328" cy="524776"/>
        </p:xfrm>
        <a:graphic>
          <a:graphicData uri="http://schemas.openxmlformats.org/presentationml/2006/ole">
            <mc:AlternateContent xmlns:mc="http://schemas.openxmlformats.org/markup-compatibility/2006">
              <mc:Choice xmlns:v="urn:schemas-microsoft-com:vml" Requires="v">
                <p:oleObj spid="_x0000_s7170" r:id="rId4" imgW="1244600" imgH="215900" progId="Equation.3">
                  <p:embed/>
                </p:oleObj>
              </mc:Choice>
              <mc:Fallback>
                <p:oleObj r:id="rId4" imgW="1244600" imgH="2159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6630" y="1719106"/>
                        <a:ext cx="2952328" cy="524776"/>
                      </a:xfrm>
                      <a:prstGeom prst="rect">
                        <a:avLst/>
                      </a:prstGeom>
                      <a:noFill/>
                    </p:spPr>
                  </p:pic>
                </p:oleObj>
              </mc:Fallback>
            </mc:AlternateContent>
          </a:graphicData>
        </a:graphic>
      </p:graphicFrame>
      <p:sp>
        <p:nvSpPr>
          <p:cNvPr id="12" name="文本框 11"/>
          <p:cNvSpPr txBox="1"/>
          <p:nvPr/>
        </p:nvSpPr>
        <p:spPr>
          <a:xfrm>
            <a:off x="7309098" y="1762156"/>
            <a:ext cx="93610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3-11</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14" name="文本框 13"/>
          <p:cNvSpPr txBox="1"/>
          <p:nvPr/>
        </p:nvSpPr>
        <p:spPr>
          <a:xfrm>
            <a:off x="468338" y="2310154"/>
            <a:ext cx="8568952" cy="415498"/>
          </a:xfrm>
          <a:prstGeom prst="rect">
            <a:avLst/>
          </a:prstGeom>
          <a:noFill/>
        </p:spPr>
        <p:txBody>
          <a:bodyPr wrap="square" rtlCol="0">
            <a:spAutoFit/>
          </a:bodyPr>
          <a:lstStyle/>
          <a:p>
            <a:r>
              <a:rPr lang="zh-CN" altLang="en-US" dirty="0"/>
              <a:t>其中   为尺度比较常数，   为原始图像灰度值，   为变换后的目标灰度值。</a:t>
            </a:r>
          </a:p>
        </p:txBody>
      </p:sp>
      <p:graphicFrame>
        <p:nvGraphicFramePr>
          <p:cNvPr id="20" name="对象 19"/>
          <p:cNvGraphicFramePr>
            <a:graphicFrameLocks noChangeAspect="1"/>
          </p:cNvGraphicFramePr>
          <p:nvPr/>
        </p:nvGraphicFramePr>
        <p:xfrm>
          <a:off x="1044036" y="2377899"/>
          <a:ext cx="252314" cy="280008"/>
        </p:xfrm>
        <a:graphic>
          <a:graphicData uri="http://schemas.openxmlformats.org/presentationml/2006/ole">
            <mc:AlternateContent xmlns:mc="http://schemas.openxmlformats.org/markup-compatibility/2006">
              <mc:Choice xmlns:v="urn:schemas-microsoft-com:vml" Requires="v">
                <p:oleObj spid="_x0000_s7171" r:id="rId6" imgW="114300" imgH="139700" progId="Equation.3">
                  <p:embed/>
                </p:oleObj>
              </mc:Choice>
              <mc:Fallback>
                <p:oleObj r:id="rId6" imgW="114300" imgH="1397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036" y="2377899"/>
                        <a:ext cx="252314" cy="280008"/>
                      </a:xfrm>
                      <a:prstGeom prst="rect">
                        <a:avLst/>
                      </a:prstGeom>
                      <a:noFill/>
                    </p:spPr>
                  </p:pic>
                </p:oleObj>
              </mc:Fallback>
            </mc:AlternateContent>
          </a:graphicData>
        </a:graphic>
      </p:graphicFrame>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2" name="对象 21"/>
          <p:cNvGraphicFramePr>
            <a:graphicFrameLocks noChangeAspect="1"/>
          </p:cNvGraphicFramePr>
          <p:nvPr/>
        </p:nvGraphicFramePr>
        <p:xfrm>
          <a:off x="3261657" y="2357973"/>
          <a:ext cx="333807" cy="333807"/>
        </p:xfrm>
        <a:graphic>
          <a:graphicData uri="http://schemas.openxmlformats.org/presentationml/2006/ole">
            <mc:AlternateContent xmlns:mc="http://schemas.openxmlformats.org/markup-compatibility/2006">
              <mc:Choice xmlns:v="urn:schemas-microsoft-com:vml" Requires="v">
                <p:oleObj spid="_x0000_s7172" r:id="rId8" imgW="215900" imgH="215900" progId="Equation.3">
                  <p:embed/>
                </p:oleObj>
              </mc:Choice>
              <mc:Fallback>
                <p:oleObj r:id="rId8" imgW="215900" imgH="215900"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61657" y="2357973"/>
                        <a:ext cx="333807" cy="333807"/>
                      </a:xfrm>
                      <a:prstGeom prst="rect">
                        <a:avLst/>
                      </a:prstGeom>
                      <a:noFill/>
                    </p:spPr>
                  </p:pic>
                </p:oleObj>
              </mc:Fallback>
            </mc:AlternateContent>
          </a:graphicData>
        </a:graphic>
      </p:graphicFrame>
      <p:graphicFrame>
        <p:nvGraphicFramePr>
          <p:cNvPr id="24" name="对象 23"/>
          <p:cNvGraphicFramePr>
            <a:graphicFrameLocks noChangeAspect="1"/>
          </p:cNvGraphicFramePr>
          <p:nvPr/>
        </p:nvGraphicFramePr>
        <p:xfrm>
          <a:off x="5868524" y="2378210"/>
          <a:ext cx="313570" cy="313570"/>
        </p:xfrm>
        <a:graphic>
          <a:graphicData uri="http://schemas.openxmlformats.org/presentationml/2006/ole">
            <mc:AlternateContent xmlns:mc="http://schemas.openxmlformats.org/markup-compatibility/2006">
              <mc:Choice xmlns:v="urn:schemas-microsoft-com:vml" Requires="v">
                <p:oleObj spid="_x0000_s7173" r:id="rId10" imgW="215900" imgH="215900" progId="Equation.3">
                  <p:embed/>
                </p:oleObj>
              </mc:Choice>
              <mc:Fallback>
                <p:oleObj r:id="rId10" imgW="215900" imgH="21590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8524" y="2378210"/>
                        <a:ext cx="313570" cy="313570"/>
                      </a:xfrm>
                      <a:prstGeom prst="rect">
                        <a:avLst/>
                      </a:prstGeom>
                      <a:noFill/>
                    </p:spPr>
                  </p:pic>
                </p:oleObj>
              </mc:Fallback>
            </mc:AlternateContent>
          </a:graphicData>
        </a:graphic>
      </p:graphicFrame>
      <p:sp>
        <p:nvSpPr>
          <p:cNvPr id="31" name="文本框 30"/>
          <p:cNvSpPr txBox="1"/>
          <p:nvPr/>
        </p:nvSpPr>
        <p:spPr>
          <a:xfrm>
            <a:off x="188202" y="2712950"/>
            <a:ext cx="5993892" cy="461665"/>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对数图像如下图</a:t>
            </a:r>
            <a:r>
              <a:rPr lang="en-US" altLang="zh-CN" kern="100" dirty="0">
                <a:effectLst/>
                <a:latin typeface="Times New Roman" panose="02020603050405020304" pitchFamily="18" charset="0"/>
                <a:ea typeface="宋体" pitchFamily="2" charset="-122"/>
              </a:rPr>
              <a:t>3.22</a:t>
            </a:r>
            <a:r>
              <a:rPr lang="zh-CN" altLang="zh-CN" kern="100" dirty="0">
                <a:effectLst/>
                <a:latin typeface="Times New Roman" panose="02020603050405020304" pitchFamily="18" charset="0"/>
                <a:ea typeface="宋体" pitchFamily="2" charset="-122"/>
              </a:rPr>
              <a:t>所示</a:t>
            </a:r>
            <a:r>
              <a:rPr lang="zh-CN" altLang="zh-CN" sz="2400" kern="100" dirty="0">
                <a:effectLst/>
                <a:latin typeface="Times New Roman" panose="02020603050405020304" pitchFamily="18" charset="0"/>
                <a:ea typeface="宋体" pitchFamily="2" charset="-122"/>
              </a:rPr>
              <a:t>：</a:t>
            </a:r>
          </a:p>
        </p:txBody>
      </p:sp>
      <p:graphicFrame>
        <p:nvGraphicFramePr>
          <p:cNvPr id="32" name="图表 31"/>
          <p:cNvGraphicFramePr/>
          <p:nvPr/>
        </p:nvGraphicFramePr>
        <p:xfrm>
          <a:off x="2844602" y="3055634"/>
          <a:ext cx="3391642" cy="2662013"/>
        </p:xfrm>
        <a:graphic>
          <a:graphicData uri="http://schemas.openxmlformats.org/drawingml/2006/chart">
            <c:chart xmlns:c="http://schemas.openxmlformats.org/drawingml/2006/chart" xmlns:r="http://schemas.openxmlformats.org/officeDocument/2006/relationships" r:id="rId12"/>
          </a:graphicData>
        </a:graphic>
      </p:graphicFrame>
      <p:sp>
        <p:nvSpPr>
          <p:cNvPr id="34" name="文本框 33"/>
          <p:cNvSpPr txBox="1"/>
          <p:nvPr/>
        </p:nvSpPr>
        <p:spPr>
          <a:xfrm>
            <a:off x="2866291" y="5601963"/>
            <a:ext cx="5993892" cy="415498"/>
          </a:xfrm>
          <a:prstGeom prst="rect">
            <a:avLst/>
          </a:prstGeom>
          <a:noFill/>
        </p:spPr>
        <p:txBody>
          <a:bodyPr wrap="square">
            <a:spAutoFit/>
          </a:bodyPr>
          <a:lstStyle/>
          <a:p>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3.22</a:t>
            </a:r>
            <a:r>
              <a:rPr lang="en-US" altLang="zh-CN" dirty="0"/>
              <a:t>  </a:t>
            </a:r>
            <a:r>
              <a:rPr lang="zh-CN" altLang="en-US" sz="1800" b="1" kern="0" dirty="0">
                <a:latin typeface="黑体" panose="02010609060101010101" pitchFamily="49" charset="-122"/>
                <a:ea typeface="黑体" panose="02010609060101010101" pitchFamily="49" charset="-122"/>
              </a:rPr>
              <a:t>对数曲线下的灰度值变化</a:t>
            </a:r>
          </a:p>
        </p:txBody>
      </p:sp>
      <p:sp>
        <p:nvSpPr>
          <p:cNvPr id="36" name="文本框 35"/>
          <p:cNvSpPr txBox="1"/>
          <p:nvPr/>
        </p:nvSpPr>
        <p:spPr>
          <a:xfrm>
            <a:off x="468338" y="6069594"/>
            <a:ext cx="8208911" cy="738664"/>
          </a:xfrm>
          <a:prstGeom prst="rect">
            <a:avLst/>
          </a:prstGeom>
          <a:noFill/>
        </p:spPr>
        <p:txBody>
          <a:bodyPr wrap="square">
            <a:spAutoFit/>
          </a:bodyPr>
          <a:lstStyle/>
          <a:p>
            <a:r>
              <a:rPr lang="en-US" altLang="zh-CN" kern="100" dirty="0">
                <a:effectLst/>
                <a:latin typeface="Times New Roman" panose="02020603050405020304" pitchFamily="18" charset="0"/>
                <a:ea typeface="宋体" pitchFamily="2" charset="-122"/>
                <a:cs typeface="Times New Roman" panose="02020603050405020304" pitchFamily="18" charset="0"/>
              </a:rPr>
              <a:t>        </a:t>
            </a:r>
            <a:r>
              <a:rPr lang="zh-CN" altLang="zh-CN" kern="100" dirty="0">
                <a:effectLst/>
                <a:latin typeface="Times New Roman" panose="02020603050405020304" pitchFamily="18" charset="0"/>
                <a:ea typeface="宋体" pitchFamily="2" charset="-122"/>
                <a:cs typeface="Times New Roman" panose="02020603050405020304" pitchFamily="18" charset="0"/>
              </a:rPr>
              <a:t>对数变换实现了扩展低灰度值而压缩高灰度值的效果，被广泛地应用于频谱图像的显示中。一个典型的应用是傅立叶频谱</a:t>
            </a:r>
            <a:r>
              <a:rPr lang="zh-CN" altLang="en-US"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Tree>
  </p:cSld>
  <p:clrMapOvr>
    <a:masterClrMapping/>
  </p:clrMapOvr>
  <p:transition spd="slow" advClick="0"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3.5.2  </a:t>
            </a:r>
            <a:r>
              <a:rPr lang="zh-CN" altLang="en-US" sz="2100" b="1" dirty="0">
                <a:solidFill>
                  <a:schemeClr val="tx1">
                    <a:lumMod val="75000"/>
                    <a:lumOff val="25000"/>
                  </a:schemeClr>
                </a:solidFill>
                <a:latin typeface="微软雅黑" panose="020B0503020204020204" pitchFamily="34" charset="-122"/>
              </a:rPr>
              <a:t>对数变换的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5" name="文本框 24"/>
          <p:cNvSpPr txBox="1"/>
          <p:nvPr/>
        </p:nvSpPr>
        <p:spPr>
          <a:xfrm>
            <a:off x="549725" y="1243371"/>
            <a:ext cx="4589754" cy="415498"/>
          </a:xfrm>
          <a:prstGeom prst="rect">
            <a:avLst/>
          </a:prstGeom>
          <a:noFill/>
        </p:spPr>
        <p:txBody>
          <a:bodyPr wrap="square">
            <a:spAutoFit/>
          </a:bodyPr>
          <a:lstStyle/>
          <a:p>
            <a:r>
              <a:rPr lang="zh-CN" altLang="en-US" dirty="0"/>
              <a:t>图像对数变换的实现程序如下：</a:t>
            </a:r>
          </a:p>
        </p:txBody>
      </p:sp>
      <p:sp>
        <p:nvSpPr>
          <p:cNvPr id="26" name="文本框 25"/>
          <p:cNvSpPr txBox="1"/>
          <p:nvPr/>
        </p:nvSpPr>
        <p:spPr>
          <a:xfrm>
            <a:off x="549725" y="1705783"/>
            <a:ext cx="7848872" cy="4616648"/>
          </a:xfrm>
          <a:prstGeom prst="rect">
            <a:avLst/>
          </a:prstGeom>
          <a:noFill/>
        </p:spPr>
        <p:txBody>
          <a:bodyPr wrap="square">
            <a:spAutoFit/>
          </a:bodyPr>
          <a:lstStyle/>
          <a:p>
            <a:r>
              <a:rPr lang="en-US" altLang="zh-CN" dirty="0"/>
              <a:t>import cv2  </a:t>
            </a:r>
          </a:p>
          <a:p>
            <a:r>
              <a:rPr lang="en-US" altLang="zh-CN" dirty="0"/>
              <a:t>import </a:t>
            </a:r>
            <a:r>
              <a:rPr lang="en-US" altLang="zh-CN" dirty="0" err="1"/>
              <a:t>numpy</a:t>
            </a:r>
            <a:r>
              <a:rPr lang="en-US" altLang="zh-CN" dirty="0"/>
              <a:t> as np  </a:t>
            </a:r>
          </a:p>
          <a:p>
            <a:r>
              <a:rPr lang="en-US" altLang="zh-CN" dirty="0"/>
              <a:t>import </a:t>
            </a:r>
            <a:r>
              <a:rPr lang="en-US" altLang="zh-CN" dirty="0" err="1"/>
              <a:t>matplotlib.pyplot</a:t>
            </a:r>
            <a:r>
              <a:rPr lang="en-US" altLang="zh-CN" dirty="0"/>
              <a:t> as </a:t>
            </a:r>
            <a:r>
              <a:rPr lang="en-US" altLang="zh-CN" dirty="0" err="1"/>
              <a:t>plt</a:t>
            </a:r>
            <a:r>
              <a:rPr lang="en-US" altLang="zh-CN" dirty="0"/>
              <a:t>  </a:t>
            </a:r>
          </a:p>
          <a:p>
            <a:endParaRPr lang="en-US" altLang="zh-CN" dirty="0"/>
          </a:p>
          <a:p>
            <a:r>
              <a:rPr lang="en-US" altLang="zh-CN" dirty="0"/>
              <a:t>def log(c, </a:t>
            </a:r>
            <a:r>
              <a:rPr lang="en-US" altLang="zh-CN" dirty="0" err="1"/>
              <a:t>img</a:t>
            </a:r>
            <a:r>
              <a:rPr lang="en-US" altLang="zh-CN" dirty="0"/>
              <a:t>):  </a:t>
            </a:r>
          </a:p>
          <a:p>
            <a:r>
              <a:rPr lang="en-US" altLang="zh-CN" dirty="0"/>
              <a:t>	    output = c * np.log(1+ </a:t>
            </a:r>
            <a:r>
              <a:rPr lang="en-US" altLang="zh-CN" dirty="0" err="1"/>
              <a:t>img</a:t>
            </a:r>
            <a:r>
              <a:rPr lang="en-US" altLang="zh-CN" dirty="0"/>
              <a:t>)  </a:t>
            </a:r>
          </a:p>
          <a:p>
            <a:r>
              <a:rPr lang="en-US" altLang="zh-CN" dirty="0"/>
              <a:t>	    output = np.uint8(output) </a:t>
            </a:r>
          </a:p>
          <a:p>
            <a:r>
              <a:rPr lang="en-US" altLang="zh-CN" dirty="0"/>
              <a:t>return output  </a:t>
            </a:r>
          </a:p>
          <a:p>
            <a:r>
              <a:rPr lang="en-US" altLang="zh-CN" dirty="0" err="1"/>
              <a:t>img</a:t>
            </a:r>
            <a:r>
              <a:rPr lang="en-US" altLang="zh-CN" dirty="0"/>
              <a:t> = cv2.imread('sky.jpg',0)		#</a:t>
            </a:r>
            <a:r>
              <a:rPr lang="zh-CN" altLang="en-US" dirty="0"/>
              <a:t>读取原始图像 </a:t>
            </a:r>
          </a:p>
          <a:p>
            <a:r>
              <a:rPr lang="en-US" altLang="zh-CN" dirty="0"/>
              <a:t>output = log(40, </a:t>
            </a:r>
            <a:r>
              <a:rPr lang="en-US" altLang="zh-CN" dirty="0" err="1"/>
              <a:t>img</a:t>
            </a:r>
            <a:r>
              <a:rPr lang="en-US" altLang="zh-CN" dirty="0"/>
              <a:t>)		#</a:t>
            </a:r>
            <a:r>
              <a:rPr lang="zh-CN" altLang="en-US" dirty="0"/>
              <a:t>进行对数变换，</a:t>
            </a:r>
            <a:r>
              <a:rPr lang="en-US" altLang="zh-CN" dirty="0"/>
              <a:t>c=40  </a:t>
            </a:r>
          </a:p>
          <a:p>
            <a:r>
              <a:rPr lang="en-US" altLang="zh-CN" dirty="0"/>
              <a:t>cv2.imshow('Output', output)		#</a:t>
            </a:r>
            <a:r>
              <a:rPr lang="zh-CN" altLang="en-US" dirty="0"/>
              <a:t>显示图像与直方图  </a:t>
            </a:r>
          </a:p>
          <a:p>
            <a:r>
              <a:rPr lang="en-US" altLang="zh-CN" dirty="0"/>
              <a:t>cv2.imshow('</a:t>
            </a:r>
            <a:r>
              <a:rPr lang="en-US" altLang="zh-CN" dirty="0" err="1"/>
              <a:t>img</a:t>
            </a:r>
            <a:r>
              <a:rPr lang="en-US" altLang="zh-CN" dirty="0"/>
              <a:t>', </a:t>
            </a:r>
            <a:r>
              <a:rPr lang="en-US" altLang="zh-CN" dirty="0" err="1"/>
              <a:t>img</a:t>
            </a:r>
            <a:r>
              <a:rPr lang="en-US" altLang="zh-CN" dirty="0"/>
              <a:t>	</a:t>
            </a:r>
          </a:p>
          <a:p>
            <a:r>
              <a:rPr lang="en-US" altLang="zh-CN" dirty="0" err="1"/>
              <a:t>plt.hist</a:t>
            </a:r>
            <a:r>
              <a:rPr lang="en-US" altLang="zh-CN" dirty="0"/>
              <a:t>(</a:t>
            </a:r>
            <a:r>
              <a:rPr lang="en-US" altLang="zh-CN" dirty="0" err="1"/>
              <a:t>output.ravel</a:t>
            </a:r>
            <a:r>
              <a:rPr lang="en-US" altLang="zh-CN" dirty="0"/>
              <a:t>(),256) </a:t>
            </a:r>
          </a:p>
          <a:p>
            <a:r>
              <a:rPr lang="en-US" altLang="zh-CN" dirty="0" err="1"/>
              <a:t>plt.show</a:t>
            </a:r>
            <a:r>
              <a:rPr lang="en-US" altLang="zh-CN" dirty="0"/>
              <a:t>()</a:t>
            </a:r>
          </a:p>
        </p:txBody>
      </p:sp>
    </p:spTree>
  </p:cSld>
  <p:clrMapOvr>
    <a:masterClrMapping/>
  </p:clrMapOvr>
  <p:transition spd="slow" advClick="0" advTm="0">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3.5.2  </a:t>
            </a:r>
            <a:r>
              <a:rPr lang="zh-CN" altLang="en-US" sz="2100" b="1" dirty="0">
                <a:solidFill>
                  <a:schemeClr val="tx1">
                    <a:lumMod val="75000"/>
                    <a:lumOff val="25000"/>
                  </a:schemeClr>
                </a:solidFill>
                <a:latin typeface="微软雅黑" panose="020B0503020204020204" pitchFamily="34" charset="-122"/>
              </a:rPr>
              <a:t>对数变换的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5" name="文本框 24"/>
          <p:cNvSpPr txBox="1"/>
          <p:nvPr/>
        </p:nvSpPr>
        <p:spPr>
          <a:xfrm>
            <a:off x="549724" y="1243371"/>
            <a:ext cx="6687365" cy="415498"/>
          </a:xfrm>
          <a:prstGeom prst="rect">
            <a:avLst/>
          </a:prstGeom>
          <a:noFill/>
        </p:spPr>
        <p:txBody>
          <a:bodyPr wrap="square">
            <a:spAutoFit/>
          </a:bodyPr>
          <a:lstStyle/>
          <a:p>
            <a:r>
              <a:rPr lang="zh-CN" altLang="en-US" dirty="0"/>
              <a:t>上述程序的运行结果如图</a:t>
            </a:r>
            <a:r>
              <a:rPr lang="en-US" altLang="zh-CN" dirty="0"/>
              <a:t>3.23</a:t>
            </a:r>
            <a:r>
              <a:rPr lang="zh-CN" altLang="en-US" dirty="0"/>
              <a:t>至图</a:t>
            </a:r>
            <a:r>
              <a:rPr lang="en-US" altLang="zh-CN" dirty="0"/>
              <a:t>3.24</a:t>
            </a:r>
            <a:r>
              <a:rPr lang="zh-CN" altLang="en-US" dirty="0"/>
              <a:t>所示：</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rcRect l="1758" b="3880"/>
          <a:stretch>
            <a:fillRect/>
          </a:stretch>
        </p:blipFill>
        <p:spPr>
          <a:xfrm>
            <a:off x="574187" y="1861722"/>
            <a:ext cx="3402871" cy="3368272"/>
          </a:xfrm>
          <a:prstGeom prst="rect">
            <a:avLst/>
          </a:prstGeom>
          <a:noFill/>
          <a:ln>
            <a:noFill/>
          </a:ln>
        </p:spPr>
      </p:pic>
      <p:pic>
        <p:nvPicPr>
          <p:cNvPr id="13" name="图片 12"/>
          <p:cNvPicPr>
            <a:picLocks noChangeAspect="1"/>
          </p:cNvPicPr>
          <p:nvPr/>
        </p:nvPicPr>
        <p:blipFill>
          <a:blip r:embed="rId4"/>
          <a:stretch>
            <a:fillRect/>
          </a:stretch>
        </p:blipFill>
        <p:spPr>
          <a:xfrm>
            <a:off x="4413062" y="1861722"/>
            <a:ext cx="4210847" cy="3368270"/>
          </a:xfrm>
          <a:prstGeom prst="rect">
            <a:avLst/>
          </a:prstGeom>
          <a:noFill/>
          <a:ln>
            <a:noFill/>
          </a:ln>
        </p:spPr>
      </p:pic>
      <p:sp>
        <p:nvSpPr>
          <p:cNvPr id="14" name="文本框 13"/>
          <p:cNvSpPr txBox="1"/>
          <p:nvPr/>
        </p:nvSpPr>
        <p:spPr>
          <a:xfrm>
            <a:off x="1476450" y="5374010"/>
            <a:ext cx="2032651"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5" name="文本框 14"/>
          <p:cNvSpPr txBox="1"/>
          <p:nvPr/>
        </p:nvSpPr>
        <p:spPr>
          <a:xfrm>
            <a:off x="5796930" y="5396760"/>
            <a:ext cx="4589754"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301933" y="583987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3.23  </a:t>
            </a:r>
            <a:r>
              <a:rPr lang="zh-CN" altLang="en-US" sz="1800" b="1" kern="0" dirty="0">
                <a:latin typeface="黑体" panose="02010609060101010101" pitchFamily="49" charset="-122"/>
                <a:ea typeface="黑体" panose="02010609060101010101" pitchFamily="49" charset="-122"/>
              </a:rPr>
              <a:t>原始图像与直方图</a:t>
            </a:r>
          </a:p>
        </p:txBody>
      </p:sp>
    </p:spTree>
  </p:cSld>
  <p:clrMapOvr>
    <a:masterClrMapping/>
  </p:clrMapOvr>
  <p:transition spd="slow" advClick="0" advTm="0">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3.5.2  </a:t>
            </a:r>
            <a:r>
              <a:rPr lang="zh-CN" altLang="en-US" sz="2100" b="1" dirty="0">
                <a:solidFill>
                  <a:schemeClr val="tx1">
                    <a:lumMod val="75000"/>
                    <a:lumOff val="25000"/>
                  </a:schemeClr>
                </a:solidFill>
                <a:latin typeface="微软雅黑" panose="020B0503020204020204" pitchFamily="34" charset="-122"/>
              </a:rPr>
              <a:t>对数变换的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1281410" y="4947669"/>
            <a:ext cx="2592288"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经过对数变换后的图像</a:t>
            </a:r>
          </a:p>
        </p:txBody>
      </p:sp>
      <p:sp>
        <p:nvSpPr>
          <p:cNvPr id="15" name="文本框 14"/>
          <p:cNvSpPr txBox="1"/>
          <p:nvPr/>
        </p:nvSpPr>
        <p:spPr>
          <a:xfrm>
            <a:off x="5842386" y="4964718"/>
            <a:ext cx="2304256"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
        <p:nvSpPr>
          <p:cNvPr id="16" name="文本框 15"/>
          <p:cNvSpPr txBox="1"/>
          <p:nvPr/>
        </p:nvSpPr>
        <p:spPr>
          <a:xfrm>
            <a:off x="1377509" y="5267734"/>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3.24  </a:t>
            </a:r>
            <a:r>
              <a:rPr lang="zh-CN" altLang="en-US" sz="1800" b="1" kern="0" dirty="0">
                <a:latin typeface="黑体" panose="02010609060101010101" pitchFamily="49" charset="-122"/>
                <a:ea typeface="黑体" panose="02010609060101010101" pitchFamily="49" charset="-122"/>
              </a:rPr>
              <a:t>经过对数变换后的图像与直方图</a:t>
            </a:r>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rcRect l="2253" t="1469" r="1853" b="2703"/>
          <a:stretch>
            <a:fillRect/>
          </a:stretch>
        </p:blipFill>
        <p:spPr>
          <a:xfrm>
            <a:off x="712183" y="1448548"/>
            <a:ext cx="3509642" cy="3377668"/>
          </a:xfrm>
          <a:prstGeom prst="rect">
            <a:avLst/>
          </a:prstGeom>
          <a:noFill/>
          <a:ln>
            <a:noFill/>
          </a:ln>
        </p:spPr>
      </p:pic>
      <p:pic>
        <p:nvPicPr>
          <p:cNvPr id="19" name="图片 18"/>
          <p:cNvPicPr>
            <a:picLocks noChangeAspect="1"/>
          </p:cNvPicPr>
          <p:nvPr/>
        </p:nvPicPr>
        <p:blipFill>
          <a:blip r:embed="rId4"/>
          <a:stretch>
            <a:fillRect/>
          </a:stretch>
        </p:blipFill>
        <p:spPr>
          <a:xfrm>
            <a:off x="4572794" y="1448548"/>
            <a:ext cx="4252783" cy="3415848"/>
          </a:xfrm>
          <a:prstGeom prst="rect">
            <a:avLst/>
          </a:prstGeom>
          <a:noFill/>
          <a:ln>
            <a:noFill/>
          </a:ln>
        </p:spPr>
      </p:pic>
      <p:sp>
        <p:nvSpPr>
          <p:cNvPr id="20" name="文本框 19"/>
          <p:cNvSpPr txBox="1"/>
          <p:nvPr/>
        </p:nvSpPr>
        <p:spPr>
          <a:xfrm>
            <a:off x="708051" y="5666581"/>
            <a:ext cx="8117525" cy="1061829"/>
          </a:xfrm>
          <a:prstGeom prst="rect">
            <a:avLst/>
          </a:prstGeom>
          <a:noFill/>
        </p:spPr>
        <p:txBody>
          <a:bodyPr wrap="square">
            <a:spAutoFit/>
          </a:bodyPr>
          <a:lstStyle/>
          <a:p>
            <a:pPr indent="457200"/>
            <a:r>
              <a:rPr lang="zh-CN" altLang="en-US" dirty="0"/>
              <a:t> 由图</a:t>
            </a:r>
            <a:r>
              <a:rPr lang="en-US" altLang="zh-CN" dirty="0"/>
              <a:t>3.24</a:t>
            </a:r>
            <a:r>
              <a:rPr lang="zh-CN" altLang="en-US" dirty="0"/>
              <a:t>可以看出，原始图像中较暗部分的对比度经对数变换后明显提高，图像的亮度也有所提升，图像的暗部的细节能看得更加清楚，由此实现图像增强的目的。</a:t>
            </a:r>
          </a:p>
        </p:txBody>
      </p:sp>
    </p:spTree>
  </p:cSld>
  <p:clrMapOvr>
    <a:masterClrMapping/>
  </p:clrMapOvr>
  <p:transition spd="slow" advClick="0" advTm="0">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  </a:t>
            </a:r>
            <a:r>
              <a:rPr lang="zh-CN" altLang="en-US" sz="2100" b="1" dirty="0">
                <a:solidFill>
                  <a:schemeClr val="tx1">
                    <a:lumMod val="75000"/>
                    <a:lumOff val="25000"/>
                  </a:schemeClr>
                </a:solidFill>
                <a:latin typeface="微软雅黑" panose="020B0503020204020204" pitchFamily="34" charset="-122"/>
              </a:rPr>
              <a:t>伽马变换</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文本框 17"/>
          <p:cNvSpPr txBox="1"/>
          <p:nvPr/>
        </p:nvSpPr>
        <p:spPr>
          <a:xfrm>
            <a:off x="575861" y="1212398"/>
            <a:ext cx="7993866" cy="1384995"/>
          </a:xfrm>
          <a:prstGeom prst="rect">
            <a:avLst/>
          </a:prstGeom>
          <a:noFill/>
        </p:spPr>
        <p:txBody>
          <a:bodyPr wrap="square">
            <a:spAutoFit/>
          </a:bodyPr>
          <a:lstStyle/>
          <a:p>
            <a:pPr indent="266700" algn="just"/>
            <a:r>
              <a:rPr lang="en-US" altLang="zh-CN" kern="100" dirty="0">
                <a:effectLst/>
                <a:latin typeface="Times New Roman" panose="02020603050405020304" pitchFamily="18" charset="0"/>
                <a:ea typeface="宋体" pitchFamily="2" charset="-122"/>
              </a:rPr>
              <a:t>    </a:t>
            </a:r>
            <a:r>
              <a:rPr lang="zh-CN" altLang="zh-CN" kern="100" dirty="0">
                <a:effectLst/>
                <a:latin typeface="Times New Roman" panose="02020603050405020304" pitchFamily="18" charset="0"/>
                <a:ea typeface="宋体" pitchFamily="2" charset="-122"/>
              </a:rPr>
              <a:t>在低照度下，人眼更容易分辨出亮度的变化。而在高照度下，人眼对亮度的变化不敏感。因此，为了能更清晰地辨识高照度的图像，对于那些因过曝光导致的高亮图像可以使用伽马变换的方法来增强图像。</a:t>
            </a:r>
          </a:p>
        </p:txBody>
      </p:sp>
      <p:pic>
        <p:nvPicPr>
          <p:cNvPr id="12" name="图片 11"/>
          <p:cNvPicPr>
            <a:picLocks noChangeAspect="1"/>
          </p:cNvPicPr>
          <p:nvPr/>
        </p:nvPicPr>
        <p:blipFill>
          <a:blip r:embed="rId3"/>
          <a:stretch>
            <a:fillRect/>
          </a:stretch>
        </p:blipFill>
        <p:spPr>
          <a:xfrm>
            <a:off x="1281410" y="3226080"/>
            <a:ext cx="2480395" cy="1819616"/>
          </a:xfrm>
          <a:prstGeom prst="rect">
            <a:avLst/>
          </a:prstGeom>
          <a:noFill/>
          <a:ln>
            <a:noFill/>
          </a:ln>
        </p:spPr>
      </p:pic>
      <p:pic>
        <p:nvPicPr>
          <p:cNvPr id="13" name="图片 12"/>
          <p:cNvPicPr>
            <a:picLocks noChangeAspect="1"/>
          </p:cNvPicPr>
          <p:nvPr/>
        </p:nvPicPr>
        <p:blipFill>
          <a:blip r:embed="rId4"/>
          <a:stretch>
            <a:fillRect/>
          </a:stretch>
        </p:blipFill>
        <p:spPr>
          <a:xfrm>
            <a:off x="5220866" y="3263943"/>
            <a:ext cx="2376264" cy="1776697"/>
          </a:xfrm>
          <a:prstGeom prst="rect">
            <a:avLst/>
          </a:prstGeom>
          <a:noFill/>
          <a:ln>
            <a:noFill/>
          </a:ln>
        </p:spPr>
      </p:pic>
      <p:sp>
        <p:nvSpPr>
          <p:cNvPr id="14" name="箭头: 右 13"/>
          <p:cNvSpPr/>
          <p:nvPr/>
        </p:nvSpPr>
        <p:spPr>
          <a:xfrm>
            <a:off x="4113840" y="4036297"/>
            <a:ext cx="648072" cy="19918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Tree>
  </p:cSld>
  <p:clrMapOvr>
    <a:masterClrMapping/>
  </p:clrMapOvr>
  <p:transition spd="slow" advClick="0" advTm="0">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3.6.1  </a:t>
            </a:r>
            <a:r>
              <a:rPr lang="zh-CN" altLang="en-US" sz="2100" b="1" dirty="0">
                <a:solidFill>
                  <a:schemeClr val="tx1">
                    <a:lumMod val="75000"/>
                    <a:lumOff val="25000"/>
                  </a:schemeClr>
                </a:solidFill>
                <a:latin typeface="微软雅黑" panose="020B0503020204020204" pitchFamily="34" charset="-122"/>
              </a:rPr>
              <a:t>伽马变换原理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文本框 17"/>
          <p:cNvSpPr txBox="1"/>
          <p:nvPr/>
        </p:nvSpPr>
        <p:spPr>
          <a:xfrm>
            <a:off x="575861" y="1212398"/>
            <a:ext cx="7993866" cy="738664"/>
          </a:xfrm>
          <a:prstGeom prst="rect">
            <a:avLst/>
          </a:prstGeom>
          <a:noFill/>
        </p:spPr>
        <p:txBody>
          <a:bodyPr wrap="square">
            <a:spAutoFit/>
          </a:bodyPr>
          <a:lstStyle/>
          <a:p>
            <a:pPr indent="266700" algn="just"/>
            <a:r>
              <a:rPr lang="zh-CN" altLang="en-US" kern="100" dirty="0">
                <a:effectLst/>
                <a:latin typeface="Times New Roman" panose="02020603050405020304" pitchFamily="18" charset="0"/>
                <a:ea typeface="宋体" pitchFamily="2" charset="-122"/>
              </a:rPr>
              <a:t>    伽马变换又叫做指数变换或幂变换，是一种常用的灰度非线性变换，其一般表达式如</a:t>
            </a:r>
            <a:r>
              <a:rPr lang="en-US" altLang="zh-CN" kern="100" dirty="0">
                <a:effectLst/>
                <a:latin typeface="Times New Roman" panose="02020603050405020304" pitchFamily="18" charset="0"/>
                <a:ea typeface="宋体" pitchFamily="2" charset="-122"/>
              </a:rPr>
              <a:t>(3-12)</a:t>
            </a:r>
            <a:r>
              <a:rPr lang="zh-CN" altLang="en-US" kern="100" dirty="0">
                <a:effectLst/>
                <a:latin typeface="Times New Roman" panose="02020603050405020304" pitchFamily="18" charset="0"/>
                <a:ea typeface="宋体" pitchFamily="2" charset="-122"/>
              </a:rPr>
              <a:t>所示：</a:t>
            </a:r>
            <a:endParaRPr lang="zh-CN" altLang="zh-CN" kern="100" dirty="0">
              <a:effectLst/>
              <a:latin typeface="Times New Roman" panose="02020603050405020304" pitchFamily="18" charset="0"/>
              <a:ea typeface="宋体" pitchFamily="2" charset="-122"/>
            </a:endParaRPr>
          </a:p>
        </p:txBody>
      </p:sp>
      <p:graphicFrame>
        <p:nvGraphicFramePr>
          <p:cNvPr id="4" name="对象 3"/>
          <p:cNvGraphicFramePr>
            <a:graphicFrameLocks noChangeAspect="1"/>
          </p:cNvGraphicFramePr>
          <p:nvPr/>
        </p:nvGraphicFramePr>
        <p:xfrm>
          <a:off x="2844602" y="2098581"/>
          <a:ext cx="2058367" cy="623639"/>
        </p:xfrm>
        <a:graphic>
          <a:graphicData uri="http://schemas.openxmlformats.org/presentationml/2006/ole">
            <mc:AlternateContent xmlns:mc="http://schemas.openxmlformats.org/markup-compatibility/2006">
              <mc:Choice xmlns:v="urn:schemas-microsoft-com:vml" Requires="v">
                <p:oleObj spid="_x0000_s8194" r:id="rId4" imgW="825500" imgH="241300" progId="Equation.3">
                  <p:embed/>
                </p:oleObj>
              </mc:Choice>
              <mc:Fallback>
                <p:oleObj r:id="rId4" imgW="825500" imgH="2413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4602" y="2098581"/>
                        <a:ext cx="2058367" cy="623639"/>
                      </a:xfrm>
                      <a:prstGeom prst="rect">
                        <a:avLst/>
                      </a:prstGeom>
                      <a:noFill/>
                    </p:spPr>
                  </p:pic>
                </p:oleObj>
              </mc:Fallback>
            </mc:AlternateContent>
          </a:graphicData>
        </a:graphic>
      </p:graphicFrame>
      <p:sp>
        <p:nvSpPr>
          <p:cNvPr id="13" name="文本框 12"/>
          <p:cNvSpPr txBox="1"/>
          <p:nvPr/>
        </p:nvSpPr>
        <p:spPr>
          <a:xfrm>
            <a:off x="7273094" y="2202651"/>
            <a:ext cx="936104"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3-11</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9" name="文本框 8"/>
          <p:cNvSpPr txBox="1"/>
          <p:nvPr/>
        </p:nvSpPr>
        <p:spPr>
          <a:xfrm>
            <a:off x="575861" y="2948309"/>
            <a:ext cx="7993866" cy="415498"/>
          </a:xfrm>
          <a:prstGeom prst="rect">
            <a:avLst/>
          </a:prstGeom>
          <a:noFill/>
        </p:spPr>
        <p:txBody>
          <a:bodyPr wrap="square" rtlCol="0">
            <a:spAutoFit/>
          </a:bodyPr>
          <a:lstStyle/>
          <a:p>
            <a:r>
              <a:rPr lang="zh-CN" altLang="en-US" dirty="0"/>
              <a:t>其中        和       的取值范围均为</a:t>
            </a:r>
            <a:r>
              <a:rPr lang="en-US" altLang="zh-CN" dirty="0"/>
              <a:t>[0,1]</a:t>
            </a:r>
            <a:r>
              <a:rPr lang="zh-CN" altLang="en-US" dirty="0"/>
              <a:t>，  则为伽马系数。</a:t>
            </a:r>
          </a:p>
        </p:txBody>
      </p:sp>
      <mc:AlternateContent xmlns:mc="http://schemas.openxmlformats.org/markup-compatibility/2006" xmlns:a14="http://schemas.microsoft.com/office/drawing/2010/main">
        <mc:Choice Requires="a14">
          <p:sp>
            <p:nvSpPr>
              <p:cNvPr id="22" name="文本框 21"/>
              <p:cNvSpPr txBox="1"/>
              <p:nvPr/>
            </p:nvSpPr>
            <p:spPr>
              <a:xfrm>
                <a:off x="1116410" y="2925738"/>
                <a:ext cx="621732"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𝐴</m:t>
                          </m:r>
                        </m:sub>
                      </m:sSub>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116410" y="2925738"/>
                <a:ext cx="621732" cy="415498"/>
              </a:xfrm>
              <a:prstGeom prst="rect">
                <a:avLst/>
              </a:prstGeom>
              <a:blipFill rotWithShape="1">
                <a:blip r:embed="rId6"/>
                <a:stretch>
                  <a:fillRect l="-13" t="-71" r="24" b="-1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1926669" y="2925738"/>
                <a:ext cx="557893" cy="4154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𝐷</m:t>
                          </m:r>
                        </m:e>
                        <m:sub>
                          <m:r>
                            <a:rPr lang="zh-CN" altLang="en-US" i="1">
                              <a:latin typeface="Cambria Math" panose="02040503050406030204" pitchFamily="18" charset="0"/>
                            </a:rPr>
                            <m:t>𝐵</m:t>
                          </m:r>
                        </m:sub>
                      </m:sSub>
                    </m:oMath>
                  </m:oMathPara>
                </a14:m>
                <a:endParaRPr lang="zh-CN" altLang="en-US" dirty="0"/>
              </a:p>
            </p:txBody>
          </p:sp>
        </mc:Choice>
        <mc:Fallback xmlns="">
          <p:sp>
            <p:nvSpPr>
              <p:cNvPr id="25" name="文本框 24"/>
              <p:cNvSpPr txBox="1">
                <a:spLocks noRot="1" noChangeAspect="1" noMove="1" noResize="1" noEditPoints="1" noAdjustHandles="1" noChangeArrowheads="1" noChangeShapeType="1" noTextEdit="1"/>
              </p:cNvSpPr>
              <p:nvPr/>
            </p:nvSpPr>
            <p:spPr>
              <a:xfrm>
                <a:off x="1926669" y="2925738"/>
                <a:ext cx="557893" cy="415498"/>
              </a:xfrm>
              <a:prstGeom prst="rect">
                <a:avLst/>
              </a:prstGeom>
              <a:blipFill rotWithShape="1">
                <a:blip r:embed="rId7"/>
                <a:stretch>
                  <a:fillRect l="-14" t="-71" r="79" b="-1102"/>
                </a:stretch>
              </a:blipFill>
            </p:spPr>
            <p:txBody>
              <a:bodyPr/>
              <a:lstStyle/>
              <a:p>
                <a:r>
                  <a:rPr lang="zh-CN" altLang="en-US">
                    <a:noFill/>
                  </a:rPr>
                  <a:t> </a:t>
                </a:r>
              </a:p>
            </p:txBody>
          </p:sp>
        </mc:Fallback>
      </mc:AlternateContent>
      <p:graphicFrame>
        <p:nvGraphicFramePr>
          <p:cNvPr id="23" name="对象 22"/>
          <p:cNvGraphicFramePr>
            <a:graphicFrameLocks noChangeAspect="1"/>
          </p:cNvGraphicFramePr>
          <p:nvPr/>
        </p:nvGraphicFramePr>
        <p:xfrm>
          <a:off x="4895610" y="2988299"/>
          <a:ext cx="252314" cy="296323"/>
        </p:xfrm>
        <a:graphic>
          <a:graphicData uri="http://schemas.openxmlformats.org/presentationml/2006/ole">
            <mc:AlternateContent xmlns:mc="http://schemas.openxmlformats.org/markup-compatibility/2006">
              <mc:Choice xmlns:v="urn:schemas-microsoft-com:vml" Requires="v">
                <p:oleObj spid="_x0000_s8195" r:id="rId8" imgW="127000" imgH="165100" progId="Equation.3">
                  <p:embed/>
                </p:oleObj>
              </mc:Choice>
              <mc:Fallback>
                <p:oleObj r:id="rId8" imgW="127000" imgH="16510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95610" y="2988299"/>
                        <a:ext cx="252314" cy="296323"/>
                      </a:xfrm>
                      <a:prstGeom prst="rect">
                        <a:avLst/>
                      </a:prstGeom>
                      <a:noFill/>
                    </p:spPr>
                  </p:pic>
                </p:oleObj>
              </mc:Fallback>
            </mc:AlternateContent>
          </a:graphicData>
        </a:graphic>
      </p:graphicFrame>
      <p:sp>
        <p:nvSpPr>
          <p:cNvPr id="30" name="文本框 29"/>
          <p:cNvSpPr txBox="1"/>
          <p:nvPr/>
        </p:nvSpPr>
        <p:spPr>
          <a:xfrm>
            <a:off x="575861" y="3458693"/>
            <a:ext cx="7993866" cy="1384995"/>
          </a:xfrm>
          <a:prstGeom prst="rect">
            <a:avLst/>
          </a:prstGeom>
          <a:noFill/>
        </p:spPr>
        <p:txBody>
          <a:bodyPr wrap="square" rtlCol="0">
            <a:spAutoFit/>
          </a:bodyPr>
          <a:lstStyle/>
          <a:p>
            <a:r>
              <a:rPr lang="zh-CN" altLang="en-US" dirty="0"/>
              <a:t>与对数变换不同，伽马变换可以根据   的不同取值选择性地增强低灰度区域的对比度或是高灰度区域的对比度。   是图像灰度矫正中一个非常重要的参数，其取值决定了是增强低灰度区域还是增强高灰度区域。</a:t>
            </a:r>
          </a:p>
        </p:txBody>
      </p:sp>
      <p:graphicFrame>
        <p:nvGraphicFramePr>
          <p:cNvPr id="32" name="对象 31"/>
          <p:cNvGraphicFramePr>
            <a:graphicFrameLocks noChangeAspect="1"/>
          </p:cNvGraphicFramePr>
          <p:nvPr/>
        </p:nvGraphicFramePr>
        <p:xfrm>
          <a:off x="5652914" y="3780415"/>
          <a:ext cx="288032" cy="338272"/>
        </p:xfrm>
        <a:graphic>
          <a:graphicData uri="http://schemas.openxmlformats.org/presentationml/2006/ole">
            <mc:AlternateContent xmlns:mc="http://schemas.openxmlformats.org/markup-compatibility/2006">
              <mc:Choice xmlns:v="urn:schemas-microsoft-com:vml" Requires="v">
                <p:oleObj spid="_x0000_s8196" r:id="rId10" imgW="127000" imgH="165100" progId="Equation.3">
                  <p:embed/>
                </p:oleObj>
              </mc:Choice>
              <mc:Fallback>
                <p:oleObj r:id="rId10" imgW="127000" imgH="16510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2914" y="3780415"/>
                        <a:ext cx="288032" cy="338272"/>
                      </a:xfrm>
                      <a:prstGeom prst="rect">
                        <a:avLst/>
                      </a:prstGeom>
                      <a:noFill/>
                    </p:spPr>
                  </p:pic>
                </p:oleObj>
              </mc:Fallback>
            </mc:AlternateContent>
          </a:graphicData>
        </a:graphic>
      </p:graphicFrame>
      <p:graphicFrame>
        <p:nvGraphicFramePr>
          <p:cNvPr id="2" name="对象 1">
            <a:extLst>
              <a:ext uri="{FF2B5EF4-FFF2-40B4-BE49-F238E27FC236}">
                <a16:creationId xmlns:a16="http://schemas.microsoft.com/office/drawing/2014/main" id="{6156916D-7748-F61D-914B-D30DA2790BAB}"/>
              </a:ext>
            </a:extLst>
          </p:cNvPr>
          <p:cNvGraphicFramePr>
            <a:graphicFrameLocks noChangeAspect="1"/>
          </p:cNvGraphicFramePr>
          <p:nvPr>
            <p:extLst>
              <p:ext uri="{D42A27DB-BD31-4B8C-83A1-F6EECF244321}">
                <p14:modId xmlns:p14="http://schemas.microsoft.com/office/powerpoint/2010/main" val="2808604842"/>
              </p:ext>
            </p:extLst>
          </p:nvPr>
        </p:nvGraphicFramePr>
        <p:xfrm>
          <a:off x="4908877" y="3508156"/>
          <a:ext cx="252314" cy="296323"/>
        </p:xfrm>
        <a:graphic>
          <a:graphicData uri="http://schemas.openxmlformats.org/presentationml/2006/ole">
            <mc:AlternateContent xmlns:mc="http://schemas.openxmlformats.org/markup-compatibility/2006">
              <mc:Choice xmlns:v="urn:schemas-microsoft-com:vml" Requires="v">
                <p:oleObj spid="_x0000_s8197" r:id="rId8" imgW="127000" imgH="165100" progId="Equation.3">
                  <p:embed/>
                </p:oleObj>
              </mc:Choice>
              <mc:Fallback>
                <p:oleObj r:id="rId8" imgW="127000" imgH="165100" progId="Equation.3">
                  <p:embed/>
                  <p:pic>
                    <p:nvPicPr>
                      <p:cNvPr id="23" name="对象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8877" y="3508156"/>
                        <a:ext cx="252314" cy="296323"/>
                      </a:xfrm>
                      <a:prstGeom prst="rect">
                        <a:avLst/>
                      </a:prstGeom>
                      <a:noFill/>
                    </p:spPr>
                  </p:pic>
                </p:oleObj>
              </mc:Fallback>
            </mc:AlternateContent>
          </a:graphicData>
        </a:graphic>
      </p:graphicFrame>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3.6.1  </a:t>
            </a:r>
            <a:r>
              <a:rPr lang="zh-CN" altLang="en-US" sz="2100" b="1" dirty="0">
                <a:solidFill>
                  <a:schemeClr val="tx1">
                    <a:lumMod val="75000"/>
                    <a:lumOff val="25000"/>
                  </a:schemeClr>
                </a:solidFill>
                <a:latin typeface="微软雅黑" panose="020B0503020204020204" pitchFamily="34" charset="-122"/>
              </a:rPr>
              <a:t>伽马变换原理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396330" y="1133414"/>
            <a:ext cx="8496944" cy="2308324"/>
          </a:xfrm>
          <a:prstGeom prst="rect">
            <a:avLst/>
          </a:prstGeom>
          <a:noFill/>
        </p:spPr>
        <p:txBody>
          <a:bodyPr wrap="square" rtlCol="0">
            <a:spAutoFit/>
          </a:bodyPr>
          <a:lstStyle/>
          <a:p>
            <a:r>
              <a:rPr lang="zh-CN" altLang="en-US" sz="1800" dirty="0"/>
              <a:t>其中：</a:t>
            </a:r>
          </a:p>
          <a:p>
            <a:r>
              <a:rPr lang="en-US" altLang="zh-CN" sz="1800" dirty="0"/>
              <a:t>1.</a:t>
            </a:r>
            <a:r>
              <a:rPr lang="zh-CN" altLang="en-US" sz="1800" dirty="0"/>
              <a:t>当 </a:t>
            </a:r>
            <a:r>
              <a:rPr lang="en-US" altLang="zh-CN" sz="1800" dirty="0"/>
              <a:t>&gt;1</a:t>
            </a:r>
            <a:r>
              <a:rPr lang="zh-CN" altLang="en-US" sz="1800" dirty="0"/>
              <a:t>时，会拉伸图像中灰度级较高的区域，压缩灰度级较低的部分，即图像的高灰度区域对比度得到增强。</a:t>
            </a:r>
          </a:p>
          <a:p>
            <a:r>
              <a:rPr lang="en-US" altLang="zh-CN" sz="1800" dirty="0"/>
              <a:t>2.</a:t>
            </a:r>
            <a:r>
              <a:rPr lang="zh-CN" altLang="en-US" sz="1800" dirty="0"/>
              <a:t>当 </a:t>
            </a:r>
            <a:r>
              <a:rPr lang="en-US" altLang="zh-CN" sz="1800" dirty="0"/>
              <a:t>&lt;1</a:t>
            </a:r>
            <a:r>
              <a:rPr lang="zh-CN" altLang="en-US" sz="1800" dirty="0"/>
              <a:t>时，会拉伸图像中灰度级较低的区域，压缩灰度级较高的部分，即图像的低灰度区域对比度得到增强。</a:t>
            </a:r>
          </a:p>
          <a:p>
            <a:r>
              <a:rPr lang="en-US" altLang="zh-CN" sz="1800" dirty="0"/>
              <a:t>3.</a:t>
            </a:r>
            <a:r>
              <a:rPr lang="zh-CN" altLang="en-US" sz="1800" dirty="0"/>
              <a:t>当 </a:t>
            </a:r>
            <a:r>
              <a:rPr lang="en-US" altLang="zh-CN" sz="1800" dirty="0"/>
              <a:t>=1</a:t>
            </a:r>
            <a:r>
              <a:rPr lang="zh-CN" altLang="en-US" sz="1800" dirty="0"/>
              <a:t>时，该灰度变换是线性的，此时就是通过线性方式来改变原图像。</a:t>
            </a:r>
          </a:p>
          <a:p>
            <a:r>
              <a:rPr lang="zh-CN" altLang="en-US" sz="1800" dirty="0"/>
              <a:t>经过伽马变换后的输入和输出图像灰度值关系如图</a:t>
            </a:r>
            <a:r>
              <a:rPr lang="en-US" altLang="zh-CN" sz="1800" dirty="0"/>
              <a:t>3.25</a:t>
            </a:r>
            <a:r>
              <a:rPr lang="zh-CN" altLang="en-US" sz="1800" dirty="0"/>
              <a:t>所示：图中的虚线部分是 值小于</a:t>
            </a:r>
            <a:r>
              <a:rPr lang="en-US" altLang="zh-CN" sz="1800" dirty="0"/>
              <a:t>1</a:t>
            </a:r>
            <a:r>
              <a:rPr lang="zh-CN" altLang="en-US" sz="1800" dirty="0"/>
              <a:t>时的输入输出关系，图中的点线部分是 值大于</a:t>
            </a:r>
            <a:r>
              <a:rPr lang="en-US" altLang="zh-CN" sz="1800" dirty="0"/>
              <a:t>1</a:t>
            </a:r>
            <a:r>
              <a:rPr lang="zh-CN" altLang="en-US" sz="1800" dirty="0"/>
              <a:t>时的输入输出关系。</a:t>
            </a:r>
          </a:p>
        </p:txBody>
      </p:sp>
      <p:graphicFrame>
        <p:nvGraphicFramePr>
          <p:cNvPr id="20" name="图表 19" title="5555"/>
          <p:cNvGraphicFramePr/>
          <p:nvPr/>
        </p:nvGraphicFramePr>
        <p:xfrm>
          <a:off x="1926669" y="3386460"/>
          <a:ext cx="4494850" cy="3122949"/>
        </p:xfrm>
        <a:graphic>
          <a:graphicData uri="http://schemas.openxmlformats.org/drawingml/2006/chart">
            <c:chart xmlns:c="http://schemas.openxmlformats.org/drawingml/2006/chart" xmlns:r="http://schemas.openxmlformats.org/officeDocument/2006/relationships" r:id="rId3"/>
          </a:graphicData>
        </a:graphic>
      </p:graphicFrame>
      <p:sp>
        <p:nvSpPr>
          <p:cNvPr id="24" name="文本框 23"/>
          <p:cNvSpPr txBox="1"/>
          <p:nvPr/>
        </p:nvSpPr>
        <p:spPr>
          <a:xfrm>
            <a:off x="1307841" y="6454130"/>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3.25  </a:t>
            </a:r>
            <a:r>
              <a:rPr lang="zh-CN" altLang="en-US" sz="1800" b="1" kern="0" dirty="0">
                <a:latin typeface="黑体" panose="02010609060101010101" pitchFamily="49" charset="-122"/>
                <a:ea typeface="黑体" panose="02010609060101010101" pitchFamily="49" charset="-122"/>
              </a:rPr>
              <a:t>伽马变换后的输入和输出图像灰度值</a:t>
            </a:r>
          </a:p>
        </p:txBody>
      </p:sp>
      <p:sp>
        <p:nvSpPr>
          <p:cNvPr id="26" name="文本框 51"/>
          <p:cNvSpPr txBox="1"/>
          <p:nvPr/>
        </p:nvSpPr>
        <p:spPr>
          <a:xfrm>
            <a:off x="3276650" y="4291892"/>
            <a:ext cx="864096" cy="290030"/>
          </a:xfrm>
          <a:prstGeom prst="rect">
            <a:avLst/>
          </a:prstGeom>
          <a:solidFill>
            <a:sysClr val="window" lastClr="FFFFFF"/>
          </a:solidFill>
          <a:ln w="6350">
            <a:noFill/>
          </a:ln>
          <a:effectLst/>
        </p:spPr>
        <p:txBody>
          <a:bodyPr rot="0" spcFirstLastPara="0" vert="horz" wrap="square" lIns="91440" tIns="45720" rIns="91440" bIns="45720" numCol="1" spcCol="0" rtlCol="0" fromWordArt="0" anchor="t" anchorCtr="0" forceAA="0" compatLnSpc="1">
            <a:noAutofit/>
          </a:bodyPr>
          <a:lstStyle/>
          <a:p>
            <a:pPr indent="266700" algn="just"/>
            <a:r>
              <a:rPr lang="zh-CN" sz="1050" kern="100" dirty="0">
                <a:effectLst/>
                <a:latin typeface="Times New Roman" panose="02020603050405020304" pitchFamily="18" charset="0"/>
                <a:ea typeface="宋体" pitchFamily="2" charset="-122"/>
                <a:cs typeface="宋体" pitchFamily="2" charset="-122"/>
              </a:rPr>
              <a:t>γ</a:t>
            </a:r>
            <a:r>
              <a:rPr lang="en-US" sz="1050" kern="100" dirty="0">
                <a:effectLst/>
                <a:latin typeface="Times New Roman" panose="02020603050405020304" pitchFamily="18" charset="0"/>
                <a:ea typeface="宋体" pitchFamily="2" charset="-122"/>
                <a:cs typeface="宋体" pitchFamily="2" charset="-122"/>
              </a:rPr>
              <a:t>=0.5</a:t>
            </a:r>
            <a:endParaRPr lang="zh-CN" sz="1050" kern="100" dirty="0">
              <a:effectLst/>
              <a:latin typeface="Times New Roman" panose="02020603050405020304" pitchFamily="18" charset="0"/>
              <a:ea typeface="宋体" pitchFamily="2" charset="-122"/>
              <a:cs typeface="宋体" pitchFamily="2" charset="-122"/>
            </a:endParaRPr>
          </a:p>
        </p:txBody>
      </p:sp>
      <p:sp>
        <p:nvSpPr>
          <p:cNvPr id="27" name="文本框 52"/>
          <p:cNvSpPr txBox="1"/>
          <p:nvPr/>
        </p:nvSpPr>
        <p:spPr>
          <a:xfrm>
            <a:off x="4842279" y="5016607"/>
            <a:ext cx="861814" cy="346074"/>
          </a:xfrm>
          <a:prstGeom prst="rect">
            <a:avLst/>
          </a:prstGeom>
          <a:solidFill>
            <a:sysClr val="window" lastClr="FFFFFF"/>
          </a:solidFill>
          <a:ln w="6350">
            <a:noFill/>
          </a:ln>
          <a:effectLst/>
        </p:spPr>
        <p:txBody>
          <a:bodyPr rot="0" spcFirstLastPara="0" vert="horz" wrap="square" lIns="91440" tIns="45720" rIns="91440" bIns="45720" numCol="1" spcCol="0" rtlCol="0" fromWordArt="0" anchor="t" anchorCtr="0" forceAA="0" compatLnSpc="1">
            <a:noAutofit/>
          </a:bodyPr>
          <a:lstStyle/>
          <a:p>
            <a:pPr indent="266700" algn="just"/>
            <a:r>
              <a:rPr lang="zh-CN" sz="1050" kern="100">
                <a:effectLst/>
                <a:latin typeface="Times New Roman" panose="02020603050405020304" pitchFamily="18" charset="0"/>
                <a:ea typeface="宋体" pitchFamily="2" charset="-122"/>
                <a:cs typeface="宋体" pitchFamily="2" charset="-122"/>
              </a:rPr>
              <a:t>γ</a:t>
            </a:r>
            <a:r>
              <a:rPr lang="en-US" sz="1050" kern="100">
                <a:effectLst/>
                <a:latin typeface="Times New Roman" panose="02020603050405020304" pitchFamily="18" charset="0"/>
                <a:ea typeface="宋体" pitchFamily="2" charset="-122"/>
                <a:cs typeface="宋体" pitchFamily="2" charset="-122"/>
              </a:rPr>
              <a:t>=2</a:t>
            </a:r>
            <a:endParaRPr lang="zh-CN" sz="1050" kern="100">
              <a:effectLst/>
              <a:latin typeface="Times New Roman" panose="02020603050405020304" pitchFamily="18" charset="0"/>
              <a:ea typeface="宋体" pitchFamily="2" charset="-122"/>
              <a:cs typeface="宋体" pitchFamily="2" charset="-122"/>
            </a:endParaRPr>
          </a:p>
        </p:txBody>
      </p:sp>
    </p:spTree>
  </p:cSld>
  <p:clrMapOvr>
    <a:masterClrMapping/>
  </p:clrMapOvr>
  <p:transition spd="slow" advClick="0" advTm="0">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3.6.1  </a:t>
            </a:r>
            <a:r>
              <a:rPr lang="zh-CN" altLang="en-US" sz="2100" b="1" dirty="0">
                <a:solidFill>
                  <a:schemeClr val="tx1">
                    <a:lumMod val="75000"/>
                    <a:lumOff val="25000"/>
                  </a:schemeClr>
                </a:solidFill>
                <a:latin typeface="微软雅黑" panose="020B0503020204020204" pitchFamily="34" charset="-122"/>
              </a:rPr>
              <a:t>伽马变换原理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图片 6">
            <a:extLst>
              <a:ext uri="{FF2B5EF4-FFF2-40B4-BE49-F238E27FC236}">
                <a16:creationId xmlns:a16="http://schemas.microsoft.com/office/drawing/2014/main" id="{A061C50C-36F4-40A5-A760-B78523B962FA}"/>
              </a:ext>
            </a:extLst>
          </p:cNvPr>
          <p:cNvPicPr>
            <a:picLocks noChangeAspect="1"/>
          </p:cNvPicPr>
          <p:nvPr/>
        </p:nvPicPr>
        <p:blipFill>
          <a:blip r:embed="rId3"/>
          <a:stretch>
            <a:fillRect/>
          </a:stretch>
        </p:blipFill>
        <p:spPr>
          <a:xfrm>
            <a:off x="5004842" y="4077866"/>
            <a:ext cx="3104636" cy="2543346"/>
          </a:xfrm>
          <a:prstGeom prst="rect">
            <a:avLst/>
          </a:prstGeom>
        </p:spPr>
      </p:pic>
      <p:pic>
        <p:nvPicPr>
          <p:cNvPr id="9" name="图片 8">
            <a:extLst>
              <a:ext uri="{FF2B5EF4-FFF2-40B4-BE49-F238E27FC236}">
                <a16:creationId xmlns:a16="http://schemas.microsoft.com/office/drawing/2014/main" id="{92DD1E2A-80F0-4791-8577-57A30B3ABE2F}"/>
              </a:ext>
            </a:extLst>
          </p:cNvPr>
          <p:cNvPicPr>
            <a:picLocks noChangeAspect="1"/>
          </p:cNvPicPr>
          <p:nvPr/>
        </p:nvPicPr>
        <p:blipFill>
          <a:blip r:embed="rId4"/>
          <a:stretch>
            <a:fillRect/>
          </a:stretch>
        </p:blipFill>
        <p:spPr>
          <a:xfrm>
            <a:off x="1604039" y="4077866"/>
            <a:ext cx="2464699" cy="2562668"/>
          </a:xfrm>
          <a:prstGeom prst="rect">
            <a:avLst/>
          </a:prstGeom>
        </p:spPr>
      </p:pic>
      <p:pic>
        <p:nvPicPr>
          <p:cNvPr id="10" name="图片 9">
            <a:extLst>
              <a:ext uri="{FF2B5EF4-FFF2-40B4-BE49-F238E27FC236}">
                <a16:creationId xmlns:a16="http://schemas.microsoft.com/office/drawing/2014/main" id="{E8A35C32-5800-469C-B0FE-5CA3C60730EE}"/>
              </a:ext>
            </a:extLst>
          </p:cNvPr>
          <p:cNvPicPr>
            <a:picLocks noChangeAspect="1"/>
          </p:cNvPicPr>
          <p:nvPr/>
        </p:nvPicPr>
        <p:blipFill>
          <a:blip r:embed="rId5"/>
          <a:stretch>
            <a:fillRect/>
          </a:stretch>
        </p:blipFill>
        <p:spPr>
          <a:xfrm>
            <a:off x="5004842" y="1232441"/>
            <a:ext cx="3104636" cy="2543345"/>
          </a:xfrm>
          <a:prstGeom prst="rect">
            <a:avLst/>
          </a:prstGeom>
        </p:spPr>
      </p:pic>
      <p:pic>
        <p:nvPicPr>
          <p:cNvPr id="11" name="图片 10">
            <a:extLst>
              <a:ext uri="{FF2B5EF4-FFF2-40B4-BE49-F238E27FC236}">
                <a16:creationId xmlns:a16="http://schemas.microsoft.com/office/drawing/2014/main" id="{D90018CD-AA99-46A9-8181-122435368222}"/>
              </a:ext>
            </a:extLst>
          </p:cNvPr>
          <p:cNvPicPr>
            <a:picLocks noChangeAspect="1"/>
          </p:cNvPicPr>
          <p:nvPr/>
        </p:nvPicPr>
        <p:blipFill>
          <a:blip r:embed="rId6"/>
          <a:stretch>
            <a:fillRect/>
          </a:stretch>
        </p:blipFill>
        <p:spPr>
          <a:xfrm>
            <a:off x="1588576" y="1232441"/>
            <a:ext cx="2480162" cy="2562662"/>
          </a:xfrm>
          <a:prstGeom prst="rect">
            <a:avLst/>
          </a:prstGeom>
        </p:spPr>
      </p:pic>
    </p:spTree>
    <p:extLst>
      <p:ext uri="{BB962C8B-B14F-4D97-AF65-F5344CB8AC3E}">
        <p14:creationId xmlns:p14="http://schemas.microsoft.com/office/powerpoint/2010/main" val="2335594703"/>
      </p:ext>
    </p:extLst>
  </p:cSld>
  <p:clrMapOvr>
    <a:masterClrMapping/>
  </p:clrMapOvr>
  <p:transition spd="slow" advClick="0"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3.6.2  </a:t>
            </a:r>
            <a:r>
              <a:rPr lang="zh-CN" altLang="en-US" sz="2100" b="1" dirty="0">
                <a:solidFill>
                  <a:schemeClr val="tx1">
                    <a:lumMod val="75000"/>
                    <a:lumOff val="25000"/>
                  </a:schemeClr>
                </a:solidFill>
                <a:latin typeface="微软雅黑" panose="020B0503020204020204" pitchFamily="34" charset="-122"/>
              </a:rPr>
              <a:t>伽马变换的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396330" y="1133414"/>
            <a:ext cx="8496944" cy="738664"/>
          </a:xfrm>
          <a:prstGeom prst="rect">
            <a:avLst/>
          </a:prstGeom>
          <a:noFill/>
        </p:spPr>
        <p:txBody>
          <a:bodyPr wrap="square" rtlCol="0">
            <a:spAutoFit/>
          </a:bodyPr>
          <a:lstStyle/>
          <a:p>
            <a:r>
              <a:rPr lang="zh-CN" altLang="en-US" dirty="0"/>
              <a:t>         分别以 </a:t>
            </a:r>
            <a:r>
              <a:rPr lang="en-US" altLang="zh-CN" dirty="0"/>
              <a:t>=0.5</a:t>
            </a:r>
            <a:r>
              <a:rPr lang="zh-CN" altLang="en-US" dirty="0"/>
              <a:t>以及 </a:t>
            </a:r>
            <a:r>
              <a:rPr lang="en-US" altLang="zh-CN" dirty="0"/>
              <a:t>=2</a:t>
            </a:r>
            <a:r>
              <a:rPr lang="zh-CN" altLang="en-US" dirty="0"/>
              <a:t>为例展示了图像伽马变换的效果，伽马变换的程序代码如下所示：</a:t>
            </a:r>
          </a:p>
        </p:txBody>
      </p:sp>
      <p:sp>
        <p:nvSpPr>
          <p:cNvPr id="18" name="文本框 17"/>
          <p:cNvSpPr txBox="1"/>
          <p:nvPr/>
        </p:nvSpPr>
        <p:spPr>
          <a:xfrm>
            <a:off x="648358" y="1872078"/>
            <a:ext cx="7848872" cy="4616648"/>
          </a:xfrm>
          <a:prstGeom prst="rect">
            <a:avLst/>
          </a:prstGeom>
          <a:noFill/>
        </p:spPr>
        <p:txBody>
          <a:bodyPr wrap="square">
            <a:spAutoFit/>
          </a:bodyPr>
          <a:lstStyle/>
          <a:p>
            <a:r>
              <a:rPr lang="en-US" altLang="zh-CN" kern="100" dirty="0">
                <a:latin typeface="Times New Roman" panose="02020603050405020304" pitchFamily="18" charset="0"/>
                <a:ea typeface="宋体" pitchFamily="2" charset="-122"/>
              </a:rPr>
              <a:t>import cv2</a:t>
            </a:r>
          </a:p>
          <a:p>
            <a:r>
              <a:rPr lang="en-US" altLang="zh-CN" kern="100" dirty="0">
                <a:latin typeface="Times New Roman" panose="02020603050405020304" pitchFamily="18" charset="0"/>
                <a:ea typeface="宋体" pitchFamily="2" charset="-122"/>
              </a:rPr>
              <a:t>import </a:t>
            </a:r>
            <a:r>
              <a:rPr lang="en-US" altLang="zh-CN" kern="100" dirty="0" err="1">
                <a:latin typeface="Times New Roman" panose="02020603050405020304" pitchFamily="18" charset="0"/>
                <a:ea typeface="宋体" pitchFamily="2" charset="-122"/>
              </a:rPr>
              <a:t>numpy</a:t>
            </a:r>
            <a:r>
              <a:rPr lang="en-US" altLang="zh-CN" kern="100" dirty="0">
                <a:latin typeface="Times New Roman" panose="02020603050405020304" pitchFamily="18" charset="0"/>
                <a:ea typeface="宋体" pitchFamily="2" charset="-122"/>
              </a:rPr>
              <a:t> as np</a:t>
            </a:r>
          </a:p>
          <a:p>
            <a:r>
              <a:rPr lang="en-US" altLang="zh-CN" kern="100" dirty="0">
                <a:latin typeface="Times New Roman" panose="02020603050405020304" pitchFamily="18" charset="0"/>
                <a:ea typeface="宋体" pitchFamily="2" charset="-122"/>
              </a:rPr>
              <a:t>import </a:t>
            </a:r>
            <a:r>
              <a:rPr lang="en-US" altLang="zh-CN" kern="100" dirty="0" err="1">
                <a:latin typeface="Times New Roman" panose="02020603050405020304" pitchFamily="18" charset="0"/>
                <a:ea typeface="宋体" pitchFamily="2" charset="-122"/>
              </a:rPr>
              <a:t>matplotlib.pyplot</a:t>
            </a:r>
            <a:r>
              <a:rPr lang="en-US" altLang="zh-CN" kern="100" dirty="0">
                <a:latin typeface="Times New Roman" panose="02020603050405020304" pitchFamily="18" charset="0"/>
                <a:ea typeface="宋体" pitchFamily="2" charset="-122"/>
              </a:rPr>
              <a:t> as </a:t>
            </a:r>
            <a:r>
              <a:rPr lang="en-US" altLang="zh-CN" kern="100" dirty="0" err="1">
                <a:latin typeface="Times New Roman" panose="02020603050405020304" pitchFamily="18" charset="0"/>
                <a:ea typeface="宋体" pitchFamily="2" charset="-122"/>
              </a:rPr>
              <a:t>plt</a:t>
            </a:r>
            <a:endParaRPr lang="en-US" altLang="zh-CN" kern="100" dirty="0">
              <a:latin typeface="Times New Roman" panose="02020603050405020304" pitchFamily="18" charset="0"/>
              <a:ea typeface="宋体" pitchFamily="2" charset="-122"/>
            </a:endParaRPr>
          </a:p>
          <a:p>
            <a:endParaRPr lang="en-US" altLang="zh-CN" kern="100" dirty="0">
              <a:latin typeface="Times New Roman" panose="02020603050405020304" pitchFamily="18" charset="0"/>
              <a:ea typeface="宋体" pitchFamily="2" charset="-122"/>
            </a:endParaRPr>
          </a:p>
          <a:p>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 = cv2.imread('gray.jpg',0)</a:t>
            </a:r>
          </a:p>
          <a:p>
            <a:r>
              <a:rPr lang="en-US" altLang="zh-CN" kern="100" dirty="0">
                <a:latin typeface="Times New Roman" panose="02020603050405020304" pitchFamily="18" charset="0"/>
                <a:ea typeface="宋体" pitchFamily="2" charset="-122"/>
              </a:rPr>
              <a:t>img1 = </a:t>
            </a:r>
            <a:r>
              <a:rPr lang="en-US" altLang="zh-CN" kern="100" dirty="0" err="1">
                <a:latin typeface="Times New Roman" panose="02020603050405020304" pitchFamily="18" charset="0"/>
                <a:ea typeface="宋体" pitchFamily="2" charset="-122"/>
              </a:rPr>
              <a:t>np.power</a:t>
            </a:r>
            <a:r>
              <a:rPr lang="en-US" altLang="zh-CN" kern="100" dirty="0">
                <a:latin typeface="Times New Roman" panose="02020603050405020304" pitchFamily="18" charset="0"/>
                <a:ea typeface="宋体" pitchFamily="2" charset="-122"/>
              </a:rPr>
              <a:t>(</a:t>
            </a:r>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/float(</a:t>
            </a:r>
            <a:r>
              <a:rPr lang="en-US" altLang="zh-CN" kern="100" dirty="0" err="1">
                <a:latin typeface="Times New Roman" panose="02020603050405020304" pitchFamily="18" charset="0"/>
                <a:ea typeface="宋体" pitchFamily="2" charset="-122"/>
              </a:rPr>
              <a:t>np.max</a:t>
            </a:r>
            <a:r>
              <a:rPr lang="en-US" altLang="zh-CN" kern="100" dirty="0">
                <a:latin typeface="Times New Roman" panose="02020603050405020304" pitchFamily="18" charset="0"/>
                <a:ea typeface="宋体" pitchFamily="2" charset="-122"/>
              </a:rPr>
              <a:t>(</a:t>
            </a:r>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 1/2)        #</a:t>
            </a:r>
            <a:r>
              <a:rPr lang="el-GR" altLang="zh-CN" kern="100" dirty="0">
                <a:latin typeface="Times New Roman" panose="02020603050405020304" pitchFamily="18" charset="0"/>
                <a:ea typeface="宋体" pitchFamily="2" charset="-122"/>
              </a:rPr>
              <a:t>γ=0.5</a:t>
            </a:r>
          </a:p>
          <a:p>
            <a:r>
              <a:rPr lang="en-US" altLang="zh-CN" kern="100" dirty="0">
                <a:latin typeface="Times New Roman" panose="02020603050405020304" pitchFamily="18" charset="0"/>
                <a:ea typeface="宋体" pitchFamily="2" charset="-122"/>
              </a:rPr>
              <a:t>img2 = </a:t>
            </a:r>
            <a:r>
              <a:rPr lang="en-US" altLang="zh-CN" kern="100" dirty="0" err="1">
                <a:latin typeface="Times New Roman" panose="02020603050405020304" pitchFamily="18" charset="0"/>
                <a:ea typeface="宋体" pitchFamily="2" charset="-122"/>
              </a:rPr>
              <a:t>np.power</a:t>
            </a:r>
            <a:r>
              <a:rPr lang="en-US" altLang="zh-CN" kern="100" dirty="0">
                <a:latin typeface="Times New Roman" panose="02020603050405020304" pitchFamily="18" charset="0"/>
                <a:ea typeface="宋体" pitchFamily="2" charset="-122"/>
              </a:rPr>
              <a:t>(</a:t>
            </a:r>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/float(</a:t>
            </a:r>
            <a:r>
              <a:rPr lang="en-US" altLang="zh-CN" kern="100" dirty="0" err="1">
                <a:latin typeface="Times New Roman" panose="02020603050405020304" pitchFamily="18" charset="0"/>
                <a:ea typeface="宋体" pitchFamily="2" charset="-122"/>
              </a:rPr>
              <a:t>np.max</a:t>
            </a:r>
            <a:r>
              <a:rPr lang="en-US" altLang="zh-CN" kern="100" dirty="0">
                <a:latin typeface="Times New Roman" panose="02020603050405020304" pitchFamily="18" charset="0"/>
                <a:ea typeface="宋体" pitchFamily="2" charset="-122"/>
              </a:rPr>
              <a:t>(</a:t>
            </a:r>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 2)         # </a:t>
            </a:r>
            <a:r>
              <a:rPr lang="el-GR" altLang="zh-CN" kern="100" dirty="0">
                <a:latin typeface="Times New Roman" panose="02020603050405020304" pitchFamily="18" charset="0"/>
                <a:ea typeface="宋体" pitchFamily="2" charset="-122"/>
              </a:rPr>
              <a:t>γ=2</a:t>
            </a:r>
          </a:p>
          <a:p>
            <a:r>
              <a:rPr lang="en-US" altLang="zh-CN" kern="100" dirty="0">
                <a:latin typeface="Times New Roman" panose="02020603050405020304" pitchFamily="18" charset="0"/>
                <a:ea typeface="宋体" pitchFamily="2" charset="-122"/>
              </a:rPr>
              <a:t>cv2.imshow('original',</a:t>
            </a:r>
            <a:r>
              <a:rPr lang="en-US" altLang="zh-CN" kern="100" dirty="0" err="1">
                <a:latin typeface="Times New Roman" panose="02020603050405020304" pitchFamily="18" charset="0"/>
                <a:ea typeface="宋体" pitchFamily="2" charset="-122"/>
              </a:rPr>
              <a:t>img</a:t>
            </a:r>
            <a:r>
              <a:rPr lang="en-US" altLang="zh-CN" kern="100" dirty="0">
                <a:latin typeface="Times New Roman" panose="02020603050405020304" pitchFamily="18" charset="0"/>
                <a:ea typeface="宋体" pitchFamily="2" charset="-122"/>
              </a:rPr>
              <a:t>)</a:t>
            </a:r>
          </a:p>
          <a:p>
            <a:r>
              <a:rPr lang="en-US" altLang="zh-CN" kern="100" dirty="0">
                <a:latin typeface="Times New Roman" panose="02020603050405020304" pitchFamily="18" charset="0"/>
                <a:ea typeface="宋体" pitchFamily="2" charset="-122"/>
              </a:rPr>
              <a:t>cv2.imshow('r=1/2',img1)</a:t>
            </a:r>
          </a:p>
          <a:p>
            <a:r>
              <a:rPr lang="en-US" altLang="zh-CN" kern="100" dirty="0">
                <a:latin typeface="Times New Roman" panose="02020603050405020304" pitchFamily="18" charset="0"/>
                <a:ea typeface="宋体" pitchFamily="2" charset="-122"/>
              </a:rPr>
              <a:t>cv2.imshow('r=2',img2)</a:t>
            </a:r>
          </a:p>
          <a:p>
            <a:r>
              <a:rPr lang="en-US" altLang="zh-CN" kern="100" dirty="0" err="1">
                <a:latin typeface="Times New Roman" panose="02020603050405020304" pitchFamily="18" charset="0"/>
                <a:ea typeface="宋体" pitchFamily="2" charset="-122"/>
              </a:rPr>
              <a:t>plt.hist</a:t>
            </a:r>
            <a:r>
              <a:rPr lang="en-US" altLang="zh-CN" kern="100" dirty="0">
                <a:latin typeface="Times New Roman" panose="02020603050405020304" pitchFamily="18" charset="0"/>
                <a:ea typeface="宋体" pitchFamily="2" charset="-122"/>
              </a:rPr>
              <a:t>(</a:t>
            </a:r>
            <a:r>
              <a:rPr lang="en-US" altLang="zh-CN" kern="100" dirty="0" err="1">
                <a:latin typeface="Times New Roman" panose="02020603050405020304" pitchFamily="18" charset="0"/>
                <a:ea typeface="宋体" pitchFamily="2" charset="-122"/>
              </a:rPr>
              <a:t>img.ravel</a:t>
            </a:r>
            <a:r>
              <a:rPr lang="en-US" altLang="zh-CN" kern="100" dirty="0">
                <a:latin typeface="Times New Roman" panose="02020603050405020304" pitchFamily="18" charset="0"/>
                <a:ea typeface="宋体" pitchFamily="2" charset="-122"/>
              </a:rPr>
              <a:t>(),256)</a:t>
            </a:r>
          </a:p>
          <a:p>
            <a:r>
              <a:rPr lang="en-US" altLang="zh-CN" kern="100" dirty="0" err="1">
                <a:latin typeface="Times New Roman" panose="02020603050405020304" pitchFamily="18" charset="0"/>
                <a:ea typeface="宋体" pitchFamily="2" charset="-122"/>
              </a:rPr>
              <a:t>plt.hist</a:t>
            </a:r>
            <a:r>
              <a:rPr lang="en-US" altLang="zh-CN" kern="100" dirty="0">
                <a:latin typeface="Times New Roman" panose="02020603050405020304" pitchFamily="18" charset="0"/>
                <a:ea typeface="宋体" pitchFamily="2" charset="-122"/>
              </a:rPr>
              <a:t>(img1.ravel(),256)</a:t>
            </a:r>
          </a:p>
          <a:p>
            <a:r>
              <a:rPr lang="en-US" altLang="zh-CN" kern="100" dirty="0" err="1">
                <a:latin typeface="Times New Roman" panose="02020603050405020304" pitchFamily="18" charset="0"/>
                <a:ea typeface="宋体" pitchFamily="2" charset="-122"/>
              </a:rPr>
              <a:t>plt.hist</a:t>
            </a:r>
            <a:r>
              <a:rPr lang="en-US" altLang="zh-CN" kern="100" dirty="0">
                <a:latin typeface="Times New Roman" panose="02020603050405020304" pitchFamily="18" charset="0"/>
                <a:ea typeface="宋体" pitchFamily="2" charset="-122"/>
              </a:rPr>
              <a:t>(img2.ravel(),256)</a:t>
            </a:r>
          </a:p>
          <a:p>
            <a:r>
              <a:rPr lang="en-US" altLang="zh-CN" kern="100" dirty="0" err="1">
                <a:latin typeface="Times New Roman" panose="02020603050405020304" pitchFamily="18" charset="0"/>
                <a:ea typeface="宋体" pitchFamily="2" charset="-122"/>
              </a:rPr>
              <a:t>plt.show</a:t>
            </a:r>
            <a:r>
              <a:rPr lang="en-US" altLang="zh-CN" kern="100" dirty="0">
                <a:latin typeface="Times New Roman" panose="02020603050405020304" pitchFamily="18" charset="0"/>
                <a:ea typeface="宋体" pitchFamily="2" charset="-122"/>
              </a:rPr>
              <a:t>()</a:t>
            </a:r>
          </a:p>
        </p:txBody>
      </p:sp>
    </p:spTree>
  </p:cSld>
  <p:clrMapOvr>
    <a:masterClrMapping/>
  </p:clrMapOvr>
  <p:transition spd="slow" advClick="0" advTm="0">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3.6.2  </a:t>
            </a:r>
            <a:r>
              <a:rPr lang="zh-CN" altLang="en-US" sz="2100" b="1" dirty="0">
                <a:solidFill>
                  <a:schemeClr val="tx1">
                    <a:lumMod val="75000"/>
                    <a:lumOff val="25000"/>
                  </a:schemeClr>
                </a:solidFill>
                <a:latin typeface="微软雅黑" panose="020B0503020204020204" pitchFamily="34" charset="-122"/>
              </a:rPr>
              <a:t>伽马变换的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1384995"/>
          </a:xfrm>
          <a:prstGeom prst="rect">
            <a:avLst/>
          </a:prstGeom>
          <a:noFill/>
        </p:spPr>
        <p:txBody>
          <a:bodyPr wrap="square" rtlCol="0">
            <a:spAutoFit/>
          </a:bodyPr>
          <a:lstStyle/>
          <a:p>
            <a:r>
              <a:rPr lang="zh-CN" altLang="en-US" dirty="0"/>
              <a:t>        上述程序的运行结果如图</a:t>
            </a:r>
            <a:r>
              <a:rPr lang="en-US" altLang="zh-CN" dirty="0"/>
              <a:t>3.26</a:t>
            </a:r>
            <a:r>
              <a:rPr lang="zh-CN" altLang="en-US" dirty="0"/>
              <a:t>至图</a:t>
            </a:r>
            <a:r>
              <a:rPr lang="en-US" altLang="zh-CN" dirty="0"/>
              <a:t>3.28</a:t>
            </a:r>
            <a:r>
              <a:rPr lang="zh-CN" altLang="en-US" dirty="0"/>
              <a:t>所示。由图</a:t>
            </a:r>
            <a:r>
              <a:rPr lang="en-US" altLang="zh-CN" dirty="0"/>
              <a:t>3.28</a:t>
            </a:r>
            <a:r>
              <a:rPr lang="zh-CN" altLang="en-US" dirty="0"/>
              <a:t>可知，当 </a:t>
            </a:r>
            <a:r>
              <a:rPr lang="en-US" altLang="zh-CN" dirty="0"/>
              <a:t>=2</a:t>
            </a:r>
            <a:r>
              <a:rPr lang="zh-CN" altLang="en-US" dirty="0"/>
              <a:t>时，图像的高灰度区域对比度得到增强；由图</a:t>
            </a:r>
            <a:r>
              <a:rPr lang="en-US" altLang="zh-CN" dirty="0"/>
              <a:t>3.27</a:t>
            </a:r>
            <a:r>
              <a:rPr lang="zh-CN" altLang="en-US" dirty="0"/>
              <a:t>可知，当 </a:t>
            </a:r>
            <a:r>
              <a:rPr lang="en-US" altLang="zh-CN" dirty="0"/>
              <a:t>=1/2</a:t>
            </a:r>
            <a:r>
              <a:rPr lang="zh-CN" altLang="en-US" dirty="0"/>
              <a:t>时，图像的低灰度区域对比度得到增强。所以图像的伽马变换也是通过调节图像的对比度来达到图像增强的目的。</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l="2049" b="1235"/>
          <a:stretch>
            <a:fillRect/>
          </a:stretch>
        </p:blipFill>
        <p:spPr>
          <a:xfrm>
            <a:off x="972394" y="2674168"/>
            <a:ext cx="3049245" cy="3018242"/>
          </a:xfrm>
          <a:prstGeom prst="rect">
            <a:avLst/>
          </a:prstGeom>
          <a:noFill/>
          <a:ln>
            <a:noFill/>
          </a:ln>
        </p:spPr>
      </p:pic>
      <p:pic>
        <p:nvPicPr>
          <p:cNvPr id="14" name="图片 13"/>
          <p:cNvPicPr>
            <a:picLocks noChangeAspect="1"/>
          </p:cNvPicPr>
          <p:nvPr/>
        </p:nvPicPr>
        <p:blipFill>
          <a:blip r:embed="rId4"/>
          <a:stretch>
            <a:fillRect/>
          </a:stretch>
        </p:blipFill>
        <p:spPr>
          <a:xfrm>
            <a:off x="4454947" y="2674168"/>
            <a:ext cx="4114291" cy="3018241"/>
          </a:xfrm>
          <a:prstGeom prst="rect">
            <a:avLst/>
          </a:prstGeom>
          <a:noFill/>
          <a:ln>
            <a:noFill/>
          </a:ln>
        </p:spPr>
      </p:pic>
      <p:sp>
        <p:nvSpPr>
          <p:cNvPr id="17" name="文本框 16"/>
          <p:cNvSpPr txBox="1"/>
          <p:nvPr/>
        </p:nvSpPr>
        <p:spPr>
          <a:xfrm>
            <a:off x="1650298" y="5777944"/>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9" name="文本框 18"/>
          <p:cNvSpPr txBox="1"/>
          <p:nvPr/>
        </p:nvSpPr>
        <p:spPr>
          <a:xfrm>
            <a:off x="1386876" y="6334196"/>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3.26  </a:t>
            </a:r>
            <a:r>
              <a:rPr lang="zh-CN" altLang="en-US" sz="1800" b="1" kern="0" dirty="0">
                <a:latin typeface="黑体" panose="02010609060101010101" pitchFamily="49" charset="-122"/>
                <a:ea typeface="黑体" panose="02010609060101010101" pitchFamily="49" charset="-122"/>
              </a:rPr>
              <a:t>原始图像与直方图</a:t>
            </a:r>
          </a:p>
        </p:txBody>
      </p:sp>
      <p:sp>
        <p:nvSpPr>
          <p:cNvPr id="20" name="文本框 19"/>
          <p:cNvSpPr txBox="1"/>
          <p:nvPr/>
        </p:nvSpPr>
        <p:spPr>
          <a:xfrm>
            <a:off x="5580906" y="5777944"/>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spd="slow" advClick="0" advTm="0">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3.6.2  </a:t>
            </a:r>
            <a:r>
              <a:rPr lang="zh-CN" altLang="en-US" sz="2100" b="1" dirty="0">
                <a:solidFill>
                  <a:schemeClr val="tx1">
                    <a:lumMod val="75000"/>
                    <a:lumOff val="25000"/>
                  </a:schemeClr>
                </a:solidFill>
                <a:latin typeface="微软雅黑" panose="020B0503020204020204" pitchFamily="34" charset="-122"/>
              </a:rPr>
              <a:t>伽马变换的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415498"/>
          </a:xfrm>
          <a:prstGeom prst="rect">
            <a:avLst/>
          </a:prstGeom>
          <a:noFill/>
        </p:spPr>
        <p:txBody>
          <a:bodyPr wrap="square" rtlCol="0">
            <a:spAutoFit/>
          </a:bodyPr>
          <a:lstStyle/>
          <a:p>
            <a:r>
              <a:rPr lang="zh-CN" altLang="en-US" dirty="0"/>
              <a:t>        </a:t>
            </a:r>
          </a:p>
        </p:txBody>
      </p:sp>
      <p:sp>
        <p:nvSpPr>
          <p:cNvPr id="17" name="文本框 16"/>
          <p:cNvSpPr txBox="1"/>
          <p:nvPr/>
        </p:nvSpPr>
        <p:spPr>
          <a:xfrm>
            <a:off x="1332434" y="5221148"/>
            <a:ext cx="2448272"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当   </a:t>
            </a:r>
            <a:r>
              <a:rPr lang="en-US" altLang="zh-CN" sz="1600" b="1" dirty="0">
                <a:solidFill>
                  <a:srgbClr val="000000"/>
                </a:solidFill>
                <a:latin typeface="黑体" panose="02010609060101010101" pitchFamily="49" charset="-122"/>
                <a:ea typeface="黑体" panose="02010609060101010101" pitchFamily="49" charset="-122"/>
              </a:rPr>
              <a:t>=1/2</a:t>
            </a:r>
            <a:r>
              <a:rPr lang="zh-CN" altLang="en-US" sz="1600" b="1" dirty="0">
                <a:solidFill>
                  <a:srgbClr val="000000"/>
                </a:solidFill>
                <a:latin typeface="黑体" panose="02010609060101010101" pitchFamily="49" charset="-122"/>
                <a:ea typeface="黑体" panose="02010609060101010101" pitchFamily="49" charset="-122"/>
              </a:rPr>
              <a:t>时的图像</a:t>
            </a:r>
          </a:p>
        </p:txBody>
      </p:sp>
      <p:sp>
        <p:nvSpPr>
          <p:cNvPr id="19" name="文本框 18"/>
          <p:cNvSpPr txBox="1"/>
          <p:nvPr/>
        </p:nvSpPr>
        <p:spPr>
          <a:xfrm>
            <a:off x="1332434" y="5714979"/>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3.27  </a:t>
            </a:r>
            <a:r>
              <a:rPr lang="zh-CN" altLang="en-US" sz="1800" b="1" kern="0" dirty="0">
                <a:latin typeface="黑体" panose="02010609060101010101" pitchFamily="49" charset="-122"/>
                <a:ea typeface="黑体" panose="02010609060101010101" pitchFamily="49" charset="-122"/>
              </a:rPr>
              <a:t>当  </a:t>
            </a:r>
            <a:r>
              <a:rPr lang="en-US" altLang="zh-CN" sz="1800" b="1" kern="0" dirty="0">
                <a:latin typeface="黑体" panose="02010609060101010101" pitchFamily="49" charset="-122"/>
                <a:ea typeface="黑体" panose="02010609060101010101" pitchFamily="49" charset="-122"/>
              </a:rPr>
              <a:t>=1/2</a:t>
            </a:r>
            <a:r>
              <a:rPr lang="zh-CN" altLang="en-US" sz="1800" b="1" kern="0" dirty="0">
                <a:latin typeface="黑体" panose="02010609060101010101" pitchFamily="49" charset="-122"/>
                <a:ea typeface="黑体" panose="02010609060101010101" pitchFamily="49" charset="-122"/>
              </a:rPr>
              <a:t>时的图像与直方图</a:t>
            </a:r>
          </a:p>
        </p:txBody>
      </p:sp>
      <p:sp>
        <p:nvSpPr>
          <p:cNvPr id="20" name="文本框 19"/>
          <p:cNvSpPr txBox="1"/>
          <p:nvPr/>
        </p:nvSpPr>
        <p:spPr>
          <a:xfrm>
            <a:off x="5652914" y="5213348"/>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pic>
        <p:nvPicPr>
          <p:cNvPr id="16" name="图片 15"/>
          <p:cNvPicPr>
            <a:picLocks noChangeAspect="1"/>
          </p:cNvPicPr>
          <p:nvPr/>
        </p:nvPicPr>
        <p:blipFill>
          <a:blip r:embed="rId4"/>
          <a:srcRect b="1235"/>
          <a:stretch>
            <a:fillRect/>
          </a:stretch>
        </p:blipFill>
        <p:spPr>
          <a:xfrm>
            <a:off x="730728" y="1813815"/>
            <a:ext cx="3222399" cy="3189635"/>
          </a:xfrm>
          <a:prstGeom prst="rect">
            <a:avLst/>
          </a:prstGeom>
          <a:noFill/>
          <a:ln>
            <a:noFill/>
          </a:ln>
        </p:spPr>
      </p:pic>
      <p:graphicFrame>
        <p:nvGraphicFramePr>
          <p:cNvPr id="18" name="对象 17"/>
          <p:cNvGraphicFramePr>
            <a:graphicFrameLocks noChangeAspect="1"/>
          </p:cNvGraphicFramePr>
          <p:nvPr/>
        </p:nvGraphicFramePr>
        <p:xfrm>
          <a:off x="2047772" y="5221430"/>
          <a:ext cx="288032" cy="338272"/>
        </p:xfrm>
        <a:graphic>
          <a:graphicData uri="http://schemas.openxmlformats.org/presentationml/2006/ole">
            <mc:AlternateContent xmlns:mc="http://schemas.openxmlformats.org/markup-compatibility/2006">
              <mc:Choice xmlns:v="urn:schemas-microsoft-com:vml" Requires="v">
                <p:oleObj spid="_x0000_s9218" r:id="rId5" imgW="127000" imgH="165100" progId="Equation.3">
                  <p:embed/>
                </p:oleObj>
              </mc:Choice>
              <mc:Fallback>
                <p:oleObj r:id="rId5" imgW="127000" imgH="165100" progId="Equation.3">
                  <p:embed/>
                  <p:pic>
                    <p:nvPicPr>
                      <p:cNvPr id="0" name="对象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772" y="5221430"/>
                        <a:ext cx="288032" cy="338272"/>
                      </a:xfrm>
                      <a:prstGeom prst="rect">
                        <a:avLst/>
                      </a:prstGeom>
                      <a:noFill/>
                    </p:spPr>
                  </p:pic>
                </p:oleObj>
              </mc:Fallback>
            </mc:AlternateContent>
          </a:graphicData>
        </a:graphic>
      </p:graphicFrame>
      <p:graphicFrame>
        <p:nvGraphicFramePr>
          <p:cNvPr id="22" name="对象 21"/>
          <p:cNvGraphicFramePr>
            <a:graphicFrameLocks noChangeAspect="1"/>
          </p:cNvGraphicFramePr>
          <p:nvPr/>
        </p:nvGraphicFramePr>
        <p:xfrm>
          <a:off x="3636690" y="5743947"/>
          <a:ext cx="288032" cy="338272"/>
        </p:xfrm>
        <a:graphic>
          <a:graphicData uri="http://schemas.openxmlformats.org/presentationml/2006/ole">
            <mc:AlternateContent xmlns:mc="http://schemas.openxmlformats.org/markup-compatibility/2006">
              <mc:Choice xmlns:v="urn:schemas-microsoft-com:vml" Requires="v">
                <p:oleObj spid="_x0000_s9219" r:id="rId5" imgW="127000" imgH="165100" progId="Equation.3">
                  <p:embed/>
                </p:oleObj>
              </mc:Choice>
              <mc:Fallback>
                <p:oleObj r:id="rId5" imgW="127000" imgH="165100" progId="Equation.3">
                  <p:embed/>
                  <p:pic>
                    <p:nvPicPr>
                      <p:cNvPr id="0"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6690" y="5743947"/>
                        <a:ext cx="288032" cy="338272"/>
                      </a:xfrm>
                      <a:prstGeom prst="rect">
                        <a:avLst/>
                      </a:prstGeom>
                      <a:noFill/>
                    </p:spPr>
                  </p:pic>
                </p:oleObj>
              </mc:Fallback>
            </mc:AlternateContent>
          </a:graphicData>
        </a:graphic>
      </p:graphicFrame>
      <p:pic>
        <p:nvPicPr>
          <p:cNvPr id="23" name="图片 22"/>
          <p:cNvPicPr>
            <a:picLocks noChangeAspect="1"/>
          </p:cNvPicPr>
          <p:nvPr/>
        </p:nvPicPr>
        <p:blipFill>
          <a:blip r:embed="rId7"/>
          <a:stretch>
            <a:fillRect/>
          </a:stretch>
        </p:blipFill>
        <p:spPr>
          <a:xfrm>
            <a:off x="4574577" y="1810291"/>
            <a:ext cx="4248472" cy="3202199"/>
          </a:xfrm>
          <a:prstGeom prst="rect">
            <a:avLst/>
          </a:prstGeom>
          <a:noFill/>
          <a:ln>
            <a:noFill/>
          </a:ln>
        </p:spPr>
      </p:pic>
    </p:spTree>
  </p:cSld>
  <p:clrMapOvr>
    <a:masterClrMapping/>
  </p:clrMapOvr>
  <p:transition spd="slow" advClick="0" advTm="0">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3.6.2  </a:t>
            </a:r>
            <a:r>
              <a:rPr lang="zh-CN" altLang="en-US" sz="2100" b="1" dirty="0">
                <a:solidFill>
                  <a:schemeClr val="tx1">
                    <a:lumMod val="75000"/>
                    <a:lumOff val="25000"/>
                  </a:schemeClr>
                </a:solidFill>
                <a:latin typeface="微软雅黑" panose="020B0503020204020204" pitchFamily="34" charset="-122"/>
              </a:rPr>
              <a:t>伽马变换的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415498"/>
          </a:xfrm>
          <a:prstGeom prst="rect">
            <a:avLst/>
          </a:prstGeom>
          <a:noFill/>
        </p:spPr>
        <p:txBody>
          <a:bodyPr wrap="square" rtlCol="0">
            <a:spAutoFit/>
          </a:bodyPr>
          <a:lstStyle/>
          <a:p>
            <a:r>
              <a:rPr lang="zh-CN" altLang="en-US" dirty="0"/>
              <a:t>        </a:t>
            </a:r>
          </a:p>
        </p:txBody>
      </p:sp>
      <p:sp>
        <p:nvSpPr>
          <p:cNvPr id="17" name="文本框 16"/>
          <p:cNvSpPr txBox="1"/>
          <p:nvPr/>
        </p:nvSpPr>
        <p:spPr>
          <a:xfrm>
            <a:off x="1332434" y="5221148"/>
            <a:ext cx="2448272"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当   </a:t>
            </a:r>
            <a:r>
              <a:rPr lang="en-US" altLang="zh-CN" sz="1600" b="1" dirty="0">
                <a:solidFill>
                  <a:srgbClr val="000000"/>
                </a:solidFill>
                <a:latin typeface="黑体" panose="02010609060101010101" pitchFamily="49" charset="-122"/>
                <a:ea typeface="黑体" panose="02010609060101010101" pitchFamily="49" charset="-122"/>
              </a:rPr>
              <a:t>= 2 </a:t>
            </a:r>
            <a:r>
              <a:rPr lang="zh-CN" altLang="en-US" sz="1600" b="1" dirty="0">
                <a:solidFill>
                  <a:srgbClr val="000000"/>
                </a:solidFill>
                <a:latin typeface="黑体" panose="02010609060101010101" pitchFamily="49" charset="-122"/>
                <a:ea typeface="黑体" panose="02010609060101010101" pitchFamily="49" charset="-122"/>
              </a:rPr>
              <a:t>时的图像</a:t>
            </a:r>
          </a:p>
        </p:txBody>
      </p:sp>
      <p:sp>
        <p:nvSpPr>
          <p:cNvPr id="19" name="文本框 18"/>
          <p:cNvSpPr txBox="1"/>
          <p:nvPr/>
        </p:nvSpPr>
        <p:spPr>
          <a:xfrm>
            <a:off x="1332434" y="5714979"/>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3.28  </a:t>
            </a:r>
            <a:r>
              <a:rPr lang="zh-CN" altLang="en-US" sz="1800" b="1" kern="0" dirty="0">
                <a:latin typeface="黑体" panose="02010609060101010101" pitchFamily="49" charset="-122"/>
                <a:ea typeface="黑体" panose="02010609060101010101" pitchFamily="49" charset="-122"/>
              </a:rPr>
              <a:t>当   </a:t>
            </a:r>
            <a:r>
              <a:rPr lang="en-US" altLang="zh-CN" sz="1800" b="1" kern="0" dirty="0">
                <a:latin typeface="黑体" panose="02010609060101010101" pitchFamily="49" charset="-122"/>
                <a:ea typeface="黑体" panose="02010609060101010101" pitchFamily="49" charset="-122"/>
              </a:rPr>
              <a:t>=2</a:t>
            </a:r>
            <a:r>
              <a:rPr lang="zh-CN" altLang="en-US" sz="1800" b="1" kern="0" dirty="0">
                <a:latin typeface="黑体" panose="02010609060101010101" pitchFamily="49" charset="-122"/>
                <a:ea typeface="黑体" panose="02010609060101010101" pitchFamily="49" charset="-122"/>
              </a:rPr>
              <a:t>时的图像与直方图</a:t>
            </a:r>
          </a:p>
        </p:txBody>
      </p:sp>
      <p:sp>
        <p:nvSpPr>
          <p:cNvPr id="20" name="文本框 19"/>
          <p:cNvSpPr txBox="1"/>
          <p:nvPr/>
        </p:nvSpPr>
        <p:spPr>
          <a:xfrm>
            <a:off x="5652914" y="5221148"/>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graphicFrame>
        <p:nvGraphicFramePr>
          <p:cNvPr id="18" name="对象 17"/>
          <p:cNvGraphicFramePr>
            <a:graphicFrameLocks noChangeAspect="1"/>
          </p:cNvGraphicFramePr>
          <p:nvPr/>
        </p:nvGraphicFramePr>
        <p:xfrm>
          <a:off x="2047772" y="5221430"/>
          <a:ext cx="288032" cy="338272"/>
        </p:xfrm>
        <a:graphic>
          <a:graphicData uri="http://schemas.openxmlformats.org/presentationml/2006/ole">
            <mc:AlternateContent xmlns:mc="http://schemas.openxmlformats.org/markup-compatibility/2006">
              <mc:Choice xmlns:v="urn:schemas-microsoft-com:vml" Requires="v">
                <p:oleObj spid="_x0000_s10242" r:id="rId4" imgW="127000" imgH="165100" progId="Equation.3">
                  <p:embed/>
                </p:oleObj>
              </mc:Choice>
              <mc:Fallback>
                <p:oleObj r:id="rId4" imgW="127000" imgH="165100" progId="Equation.3">
                  <p:embed/>
                  <p:pic>
                    <p:nvPicPr>
                      <p:cNvPr id="0" name="对象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772" y="5221430"/>
                        <a:ext cx="288032" cy="338272"/>
                      </a:xfrm>
                      <a:prstGeom prst="rect">
                        <a:avLst/>
                      </a:prstGeom>
                      <a:noFill/>
                    </p:spPr>
                  </p:pic>
                </p:oleObj>
              </mc:Fallback>
            </mc:AlternateContent>
          </a:graphicData>
        </a:graphic>
      </p:graphicFrame>
      <p:graphicFrame>
        <p:nvGraphicFramePr>
          <p:cNvPr id="22" name="对象 21"/>
          <p:cNvGraphicFramePr>
            <a:graphicFrameLocks noChangeAspect="1"/>
          </p:cNvGraphicFramePr>
          <p:nvPr/>
        </p:nvGraphicFramePr>
        <p:xfrm>
          <a:off x="3744014" y="5744535"/>
          <a:ext cx="288032" cy="338272"/>
        </p:xfrm>
        <a:graphic>
          <a:graphicData uri="http://schemas.openxmlformats.org/presentationml/2006/ole">
            <mc:AlternateContent xmlns:mc="http://schemas.openxmlformats.org/markup-compatibility/2006">
              <mc:Choice xmlns:v="urn:schemas-microsoft-com:vml" Requires="v">
                <p:oleObj spid="_x0000_s10243" r:id="rId4" imgW="127000" imgH="165100" progId="Equation.3">
                  <p:embed/>
                </p:oleObj>
              </mc:Choice>
              <mc:Fallback>
                <p:oleObj r:id="rId4" imgW="127000" imgH="165100" progId="Equation.3">
                  <p:embed/>
                  <p:pic>
                    <p:nvPicPr>
                      <p:cNvPr id="0" name="对象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014" y="5744535"/>
                        <a:ext cx="288032" cy="338272"/>
                      </a:xfrm>
                      <a:prstGeom prst="rect">
                        <a:avLst/>
                      </a:prstGeom>
                      <a:noFill/>
                    </p:spPr>
                  </p:pic>
                </p:oleObj>
              </mc:Fallback>
            </mc:AlternateContent>
          </a:graphicData>
        </a:graphic>
      </p:graphicFrame>
      <p:pic>
        <p:nvPicPr>
          <p:cNvPr id="23" name="图片 22"/>
          <p:cNvPicPr>
            <a:picLocks noChangeAspect="1"/>
          </p:cNvPicPr>
          <p:nvPr/>
        </p:nvPicPr>
        <p:blipFill>
          <a:blip r:embed="rId6"/>
          <a:srcRect l="1764" b="1822"/>
          <a:stretch>
            <a:fillRect/>
          </a:stretch>
        </p:blipFill>
        <p:spPr>
          <a:xfrm>
            <a:off x="724605" y="1714997"/>
            <a:ext cx="3317937" cy="3284202"/>
          </a:xfrm>
          <a:prstGeom prst="rect">
            <a:avLst/>
          </a:prstGeom>
          <a:noFill/>
          <a:ln>
            <a:noFill/>
          </a:ln>
        </p:spPr>
      </p:pic>
      <p:pic>
        <p:nvPicPr>
          <p:cNvPr id="24" name="图片 23"/>
          <p:cNvPicPr>
            <a:picLocks noChangeAspect="1"/>
          </p:cNvPicPr>
          <p:nvPr/>
        </p:nvPicPr>
        <p:blipFill>
          <a:blip r:embed="rId7"/>
          <a:stretch>
            <a:fillRect/>
          </a:stretch>
        </p:blipFill>
        <p:spPr>
          <a:xfrm>
            <a:off x="4356770" y="1743733"/>
            <a:ext cx="4354061" cy="3255465"/>
          </a:xfrm>
          <a:prstGeom prst="rect">
            <a:avLst/>
          </a:prstGeom>
          <a:noFill/>
          <a:ln>
            <a:noFill/>
          </a:ln>
        </p:spPr>
      </p:pic>
    </p:spTree>
  </p:cSld>
  <p:clrMapOvr>
    <a:masterClrMapping/>
  </p:clrMapOvr>
  <p:transition spd="slow" advClick="0" advTm="0">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  </a:t>
            </a:r>
            <a:r>
              <a:rPr lang="zh-CN" altLang="en-US" sz="2100" b="1" dirty="0">
                <a:solidFill>
                  <a:schemeClr val="tx1">
                    <a:lumMod val="75000"/>
                    <a:lumOff val="25000"/>
                  </a:schemeClr>
                </a:solidFill>
                <a:latin typeface="微软雅黑" panose="020B0503020204020204" pitchFamily="34" charset="-122"/>
              </a:rPr>
              <a:t>阈值变换</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2844602" y="1841085"/>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Rectangle 18"/>
          <p:cNvSpPr>
            <a:spLocks noChangeArrowheads="1"/>
          </p:cNvSpPr>
          <p:nvPr/>
        </p:nvSpPr>
        <p:spPr bwMode="auto">
          <a:xfrm>
            <a:off x="3276650" y="2507636"/>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415498"/>
          </a:xfrm>
          <a:prstGeom prst="rect">
            <a:avLst/>
          </a:prstGeom>
          <a:noFill/>
        </p:spPr>
        <p:txBody>
          <a:bodyPr wrap="square" rtlCol="0">
            <a:spAutoFit/>
          </a:bodyPr>
          <a:lstStyle/>
          <a:p>
            <a:r>
              <a:rPr lang="zh-CN" altLang="en-US" dirty="0"/>
              <a:t>        </a:t>
            </a:r>
          </a:p>
        </p:txBody>
      </p:sp>
      <p:sp>
        <p:nvSpPr>
          <p:cNvPr id="2" name="文本框 1"/>
          <p:cNvSpPr txBox="1"/>
          <p:nvPr/>
        </p:nvSpPr>
        <p:spPr>
          <a:xfrm>
            <a:off x="668584" y="1731132"/>
            <a:ext cx="7632848" cy="3000821"/>
          </a:xfrm>
          <a:prstGeom prst="rect">
            <a:avLst/>
          </a:prstGeom>
          <a:noFill/>
        </p:spPr>
        <p:txBody>
          <a:bodyPr wrap="square" rtlCol="0">
            <a:spAutoFit/>
          </a:bodyPr>
          <a:lstStyle/>
          <a:p>
            <a:pPr indent="457200"/>
            <a:r>
              <a:rPr lang="zh-CN" altLang="en-US" dirty="0"/>
              <a:t>一幅图像包括目标物体、背景和噪声，要想从多值的数字图像中直接提取出目标物体，常用的方法之一就是设定一个阈值</a:t>
            </a:r>
            <a:r>
              <a:rPr lang="en-US" altLang="zh-CN" dirty="0"/>
              <a:t>T</a:t>
            </a:r>
            <a:r>
              <a:rPr lang="zh-CN" altLang="en-US" dirty="0"/>
              <a:t>，用</a:t>
            </a:r>
            <a:r>
              <a:rPr lang="en-US" altLang="zh-CN" dirty="0"/>
              <a:t>T</a:t>
            </a:r>
            <a:r>
              <a:rPr lang="zh-CN" altLang="en-US" dirty="0"/>
              <a:t>将图像的数据分成两部分：大于</a:t>
            </a:r>
            <a:r>
              <a:rPr lang="en-US" altLang="zh-CN" dirty="0"/>
              <a:t>T</a:t>
            </a:r>
            <a:r>
              <a:rPr lang="zh-CN" altLang="en-US" dirty="0"/>
              <a:t>的像素群和小于</a:t>
            </a:r>
            <a:r>
              <a:rPr lang="en-US" altLang="zh-CN" dirty="0"/>
              <a:t>T</a:t>
            </a:r>
            <a:r>
              <a:rPr lang="zh-CN" altLang="en-US" dirty="0"/>
              <a:t>的像素群。这种研究灰度变换的最特殊的方法，称为图像的二值化，即阈值变换。</a:t>
            </a:r>
            <a:endParaRPr lang="en-US" altLang="zh-CN" dirty="0"/>
          </a:p>
          <a:p>
            <a:pPr indent="457200"/>
            <a:endParaRPr lang="en-US" altLang="zh-CN" dirty="0"/>
          </a:p>
          <a:p>
            <a:pPr indent="457200"/>
            <a:r>
              <a:rPr lang="zh-CN" altLang="en-US" dirty="0"/>
              <a:t>通常情况下，</a:t>
            </a:r>
            <a:r>
              <a:rPr lang="zh-CN" altLang="en-US" b="1" dirty="0"/>
              <a:t>阈值变换</a:t>
            </a:r>
            <a:r>
              <a:rPr lang="zh-CN" altLang="en-US" dirty="0"/>
              <a:t>适用于目标与背景灰度有较强对比的情况，重要的是背景或物体的灰度比较单一，而且总可以得到封闭且连通区域的边界。</a:t>
            </a:r>
          </a:p>
        </p:txBody>
      </p:sp>
    </p:spTree>
  </p:cSld>
  <p:clrMapOvr>
    <a:masterClrMapping/>
  </p:clrMapOvr>
  <p:transition spd="slow" advClick="0" advTm="0">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3.7.1  </a:t>
            </a:r>
            <a:r>
              <a:rPr lang="zh-CN" altLang="en-US" sz="2100" b="1" dirty="0">
                <a:solidFill>
                  <a:schemeClr val="tx1">
                    <a:lumMod val="75000"/>
                    <a:lumOff val="25000"/>
                  </a:schemeClr>
                </a:solidFill>
                <a:latin typeface="微软雅黑" panose="020B0503020204020204" pitchFamily="34" charset="-122"/>
              </a:rPr>
              <a:t>阈值变换原理</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415498"/>
          </a:xfrm>
          <a:prstGeom prst="rect">
            <a:avLst/>
          </a:prstGeom>
          <a:noFill/>
        </p:spPr>
        <p:txBody>
          <a:bodyPr wrap="square" rtlCol="0">
            <a:spAutoFit/>
          </a:bodyPr>
          <a:lstStyle/>
          <a:p>
            <a:r>
              <a:rPr lang="zh-CN" altLang="en-US" dirty="0"/>
              <a:t>        </a:t>
            </a:r>
          </a:p>
        </p:txBody>
      </p:sp>
      <p:sp>
        <p:nvSpPr>
          <p:cNvPr id="2" name="文本框 1"/>
          <p:cNvSpPr txBox="1"/>
          <p:nvPr/>
        </p:nvSpPr>
        <p:spPr>
          <a:xfrm>
            <a:off x="98237" y="1172127"/>
            <a:ext cx="7632848" cy="415498"/>
          </a:xfrm>
          <a:prstGeom prst="rect">
            <a:avLst/>
          </a:prstGeom>
          <a:noFill/>
        </p:spPr>
        <p:txBody>
          <a:bodyPr wrap="square" rtlCol="0">
            <a:spAutoFit/>
          </a:bodyPr>
          <a:lstStyle/>
          <a:p>
            <a:pPr indent="457200"/>
            <a:r>
              <a:rPr lang="zh-CN" altLang="en-US" dirty="0"/>
              <a:t>灰度阈值变换的函数表达式如下：</a:t>
            </a:r>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2656206" y="1752625"/>
          <a:ext cx="1916588" cy="761181"/>
        </p:xfrm>
        <a:graphic>
          <a:graphicData uri="http://schemas.openxmlformats.org/presentationml/2006/ole">
            <mc:AlternateContent xmlns:mc="http://schemas.openxmlformats.org/markup-compatibility/2006">
              <mc:Choice xmlns:v="urn:schemas-microsoft-com:vml" Requires="v">
                <p:oleObj spid="_x0000_s11266" r:id="rId4" imgW="1168400" imgH="457200" progId="Equation.3">
                  <p:embed/>
                </p:oleObj>
              </mc:Choice>
              <mc:Fallback>
                <p:oleObj r:id="rId4" imgW="1168400" imgH="4572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6206" y="1752625"/>
                        <a:ext cx="1916588" cy="761181"/>
                      </a:xfrm>
                      <a:prstGeom prst="rect">
                        <a:avLst/>
                      </a:prstGeom>
                      <a:noFill/>
                    </p:spPr>
                  </p:pic>
                </p:oleObj>
              </mc:Fallback>
            </mc:AlternateContent>
          </a:graphicData>
        </a:graphic>
      </p:graphicFrame>
      <p:sp>
        <p:nvSpPr>
          <p:cNvPr id="14" name="文本框 13"/>
          <p:cNvSpPr txBox="1"/>
          <p:nvPr/>
        </p:nvSpPr>
        <p:spPr>
          <a:xfrm>
            <a:off x="6879040" y="1888607"/>
            <a:ext cx="1440160" cy="415498"/>
          </a:xfrm>
          <a:prstGeom prst="rect">
            <a:avLst/>
          </a:prstGeom>
          <a:noFill/>
        </p:spPr>
        <p:txBody>
          <a:bodyPr wrap="square">
            <a:spAutoFit/>
          </a:bodyPr>
          <a:lstStyle/>
          <a:p>
            <a:r>
              <a:rPr lang="en-US" altLang="zh-CN" dirty="0">
                <a:effectLst/>
                <a:latin typeface="Times New Roman" panose="02020603050405020304" pitchFamily="18" charset="0"/>
                <a:ea typeface="等线" panose="02010600030101010101" pitchFamily="2" charset="-122"/>
              </a:rPr>
              <a:t>(</a:t>
            </a:r>
            <a:r>
              <a:rPr lang="en-US" altLang="zh-CN" dirty="0">
                <a:effectLst/>
                <a:latin typeface="Times New Roman" panose="02020603050405020304" pitchFamily="18" charset="0"/>
                <a:ea typeface="宋体" pitchFamily="2" charset="-122"/>
              </a:rPr>
              <a:t>3-8</a:t>
            </a:r>
            <a:r>
              <a:rPr lang="en-US" altLang="zh-CN" dirty="0">
                <a:effectLst/>
                <a:latin typeface="宋体" pitchFamily="2" charset="-122"/>
                <a:ea typeface="等线" panose="02010600030101010101" pitchFamily="2" charset="-122"/>
                <a:cs typeface="宋体" pitchFamily="2" charset="-122"/>
              </a:rPr>
              <a:t>)</a:t>
            </a:r>
            <a:endParaRPr lang="zh-CN" altLang="en-US" dirty="0"/>
          </a:p>
        </p:txBody>
      </p:sp>
      <p:sp>
        <p:nvSpPr>
          <p:cNvPr id="18" name="文本框 17"/>
          <p:cNvSpPr txBox="1"/>
          <p:nvPr/>
        </p:nvSpPr>
        <p:spPr>
          <a:xfrm>
            <a:off x="576350" y="2636599"/>
            <a:ext cx="8100901" cy="1384995"/>
          </a:xfrm>
          <a:prstGeom prst="rect">
            <a:avLst/>
          </a:prstGeom>
          <a:noFill/>
        </p:spPr>
        <p:txBody>
          <a:bodyPr wrap="square">
            <a:spAutoFit/>
          </a:bodyPr>
          <a:lstStyle/>
          <a:p>
            <a:r>
              <a:rPr lang="zh-CN" altLang="en-US" dirty="0"/>
              <a:t>其中，</a:t>
            </a:r>
            <a:r>
              <a:rPr lang="en-US" altLang="zh-CN" dirty="0"/>
              <a:t>T</a:t>
            </a:r>
            <a:r>
              <a:rPr lang="zh-CN" altLang="en-US" dirty="0"/>
              <a:t>为指定的阈值。例如用户指定起到分界线作用的灰度值</a:t>
            </a:r>
            <a:r>
              <a:rPr lang="en-US" altLang="zh-CN" dirty="0"/>
              <a:t>127</a:t>
            </a:r>
            <a:r>
              <a:rPr lang="zh-CN" altLang="en-US" dirty="0"/>
              <a:t>，如果图像中某像素的灰度值小于</a:t>
            </a:r>
            <a:r>
              <a:rPr lang="en-US" altLang="zh-CN" dirty="0"/>
              <a:t>127</a:t>
            </a:r>
            <a:r>
              <a:rPr lang="zh-CN" altLang="en-US" dirty="0"/>
              <a:t>，则将该像素的灰度值设置为</a:t>
            </a:r>
            <a:r>
              <a:rPr lang="en-US" altLang="zh-CN" dirty="0"/>
              <a:t>0</a:t>
            </a:r>
            <a:r>
              <a:rPr lang="zh-CN" altLang="en-US" dirty="0"/>
              <a:t>，否则设置为</a:t>
            </a:r>
            <a:r>
              <a:rPr lang="en-US" altLang="zh-CN" dirty="0"/>
              <a:t>255(</a:t>
            </a:r>
            <a:r>
              <a:rPr lang="zh-CN" altLang="en-US" dirty="0"/>
              <a:t>如图</a:t>
            </a:r>
            <a:r>
              <a:rPr lang="en-US" altLang="zh-CN" dirty="0"/>
              <a:t>3.29</a:t>
            </a:r>
            <a:r>
              <a:rPr lang="zh-CN" altLang="en-US" dirty="0"/>
              <a:t>所示</a:t>
            </a:r>
            <a:r>
              <a:rPr lang="en-US" altLang="zh-CN" dirty="0"/>
              <a:t>)</a:t>
            </a:r>
            <a:r>
              <a:rPr lang="zh-CN" altLang="en-US" dirty="0"/>
              <a:t>。这个起到分界线作用的灰度值称为阈值。</a:t>
            </a:r>
          </a:p>
        </p:txBody>
      </p:sp>
      <p:pic>
        <p:nvPicPr>
          <p:cNvPr id="19" name="图片 18"/>
          <p:cNvPicPr>
            <a:picLocks noChangeAspect="1"/>
          </p:cNvPicPr>
          <p:nvPr/>
        </p:nvPicPr>
        <p:blipFill>
          <a:blip r:embed="rId6"/>
          <a:srcRect b="2538"/>
          <a:stretch>
            <a:fillRect/>
          </a:stretch>
        </p:blipFill>
        <p:spPr>
          <a:xfrm>
            <a:off x="2340545" y="3729760"/>
            <a:ext cx="3987959" cy="2292321"/>
          </a:xfrm>
          <a:prstGeom prst="rect">
            <a:avLst/>
          </a:prstGeom>
          <a:noFill/>
          <a:ln>
            <a:noFill/>
          </a:ln>
        </p:spPr>
      </p:pic>
      <p:sp>
        <p:nvSpPr>
          <p:cNvPr id="20" name="文本框 19"/>
          <p:cNvSpPr txBox="1"/>
          <p:nvPr/>
        </p:nvSpPr>
        <p:spPr>
          <a:xfrm>
            <a:off x="1281410"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3.29  </a:t>
            </a:r>
            <a:r>
              <a:rPr lang="zh-CN" altLang="en-US" sz="1800" b="1" kern="0" dirty="0">
                <a:latin typeface="黑体" panose="02010609060101010101" pitchFamily="49" charset="-122"/>
                <a:ea typeface="黑体" panose="02010609060101010101" pitchFamily="49" charset="-122"/>
              </a:rPr>
              <a:t>灰度阈值变换示意图</a:t>
            </a:r>
          </a:p>
        </p:txBody>
      </p:sp>
    </p:spTree>
  </p:cSld>
  <p:clrMapOvr>
    <a:masterClrMapping/>
  </p:clrMapOvr>
  <p:transition spd="slow" advClick="0" advTm="0">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76350" y="1203639"/>
            <a:ext cx="7992888" cy="415498"/>
          </a:xfrm>
          <a:prstGeom prst="rect">
            <a:avLst/>
          </a:prstGeom>
          <a:noFill/>
        </p:spPr>
        <p:txBody>
          <a:bodyPr wrap="square" rtlCol="0">
            <a:spAutoFit/>
          </a:bodyPr>
          <a:lstStyle/>
          <a:p>
            <a:r>
              <a:rPr lang="zh-CN" altLang="en-US" dirty="0"/>
              <a:t>        </a:t>
            </a:r>
          </a:p>
        </p:txBody>
      </p:sp>
      <p:sp>
        <p:nvSpPr>
          <p:cNvPr id="2" name="文本框 1"/>
          <p:cNvSpPr txBox="1"/>
          <p:nvPr/>
        </p:nvSpPr>
        <p:spPr>
          <a:xfrm>
            <a:off x="432334" y="1198618"/>
            <a:ext cx="8244916" cy="738664"/>
          </a:xfrm>
          <a:prstGeom prst="rect">
            <a:avLst/>
          </a:prstGeom>
          <a:noFill/>
        </p:spPr>
        <p:txBody>
          <a:bodyPr wrap="square" rtlCol="0">
            <a:spAutoFit/>
          </a:bodyPr>
          <a:lstStyle/>
          <a:p>
            <a:r>
              <a:rPr lang="zh-CN" altLang="en-US" dirty="0"/>
              <a:t>选取一个全局阈值，然后把整幅图像分成非黑即白的二值图像。调用语法为：</a:t>
            </a:r>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文本框 16"/>
          <p:cNvSpPr txBox="1"/>
          <p:nvPr/>
        </p:nvSpPr>
        <p:spPr>
          <a:xfrm>
            <a:off x="828378" y="1863311"/>
            <a:ext cx="6840760" cy="461665"/>
          </a:xfrm>
          <a:prstGeom prst="rect">
            <a:avLst/>
          </a:prstGeom>
          <a:noFill/>
        </p:spPr>
        <p:txBody>
          <a:bodyPr wrap="square">
            <a:spAutoFit/>
          </a:bodyPr>
          <a:lstStyle/>
          <a:p>
            <a:pPr indent="266700" algn="just"/>
            <a:r>
              <a:rPr lang="en-US" altLang="zh-CN" sz="2400" kern="100" dirty="0" err="1">
                <a:effectLst/>
                <a:latin typeface="Times New Roman" panose="02020603050405020304" pitchFamily="18" charset="0"/>
                <a:ea typeface="宋体" pitchFamily="2" charset="-122"/>
              </a:rPr>
              <a:t>ret,thresh</a:t>
            </a:r>
            <a:r>
              <a:rPr lang="en-US" altLang="zh-CN" sz="2400" kern="100" dirty="0">
                <a:effectLst/>
                <a:latin typeface="Times New Roman" panose="02020603050405020304" pitchFamily="18" charset="0"/>
                <a:ea typeface="宋体" pitchFamily="2" charset="-122"/>
              </a:rPr>
              <a:t>=cv2.threshold(images, </a:t>
            </a:r>
            <a:r>
              <a:rPr lang="en-US" altLang="zh-CN" sz="2400" kern="100" dirty="0" err="1">
                <a:effectLst/>
                <a:latin typeface="Times New Roman" panose="02020603050405020304" pitchFamily="18" charset="0"/>
                <a:ea typeface="宋体" pitchFamily="2" charset="-122"/>
              </a:rPr>
              <a:t>m,n,method</a:t>
            </a:r>
            <a:r>
              <a:rPr lang="en-US" altLang="zh-CN" sz="2400" kern="100" dirty="0">
                <a:effectLst/>
                <a:latin typeface="Times New Roman" panose="02020603050405020304" pitchFamily="18" charset="0"/>
                <a:ea typeface="宋体" pitchFamily="2" charset="-122"/>
              </a:rPr>
              <a:t>)</a:t>
            </a:r>
            <a:endParaRPr lang="zh-CN" altLang="zh-CN" sz="2400" kern="100" dirty="0">
              <a:effectLst/>
              <a:latin typeface="Times New Roman" panose="02020603050405020304" pitchFamily="18" charset="0"/>
              <a:ea typeface="宋体" pitchFamily="2" charset="-122"/>
            </a:endParaRPr>
          </a:p>
        </p:txBody>
      </p:sp>
      <p:sp>
        <p:nvSpPr>
          <p:cNvPr id="25" name="文本框 24"/>
          <p:cNvSpPr txBox="1"/>
          <p:nvPr/>
        </p:nvSpPr>
        <p:spPr>
          <a:xfrm>
            <a:off x="324322" y="2445252"/>
            <a:ext cx="8606301" cy="4293483"/>
          </a:xfrm>
          <a:prstGeom prst="rect">
            <a:avLst/>
          </a:prstGeom>
          <a:noFill/>
        </p:spPr>
        <p:txBody>
          <a:bodyPr wrap="square">
            <a:spAutoFit/>
          </a:bodyPr>
          <a:lstStyle/>
          <a:p>
            <a:pPr indent="266700" algn="just"/>
            <a:r>
              <a:rPr lang="zh-CN" altLang="zh-CN" kern="100" dirty="0">
                <a:effectLst/>
                <a:latin typeface="Times New Roman" panose="02020603050405020304" pitchFamily="18" charset="0"/>
                <a:ea typeface="宋体" pitchFamily="2" charset="-122"/>
              </a:rPr>
              <a:t>参数说明：</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ret</a:t>
            </a:r>
            <a:r>
              <a:rPr lang="zh-CN" altLang="zh-CN" kern="100" dirty="0">
                <a:effectLst/>
                <a:latin typeface="Times New Roman" panose="02020603050405020304" pitchFamily="18" charset="0"/>
                <a:ea typeface="宋体" pitchFamily="2" charset="-122"/>
              </a:rPr>
              <a:t>：表示返回的阈值。</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thresh</a:t>
            </a:r>
            <a:r>
              <a:rPr lang="zh-CN" altLang="zh-CN" kern="100" dirty="0">
                <a:effectLst/>
                <a:latin typeface="Times New Roman" panose="02020603050405020304" pitchFamily="18" charset="0"/>
                <a:ea typeface="宋体" pitchFamily="2" charset="-122"/>
              </a:rPr>
              <a:t>：表示阈值处理后的图像。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images</a:t>
            </a:r>
            <a:r>
              <a:rPr lang="zh-CN" altLang="zh-CN" kern="100" dirty="0">
                <a:effectLst/>
                <a:latin typeface="Times New Roman" panose="02020603050405020304" pitchFamily="18" charset="0"/>
                <a:ea typeface="宋体" pitchFamily="2" charset="-122"/>
              </a:rPr>
              <a:t>：表示要进行阈值变换的图像。</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a:t>
            </a:r>
            <a:r>
              <a:rPr lang="zh-CN" altLang="zh-CN" kern="100" dirty="0">
                <a:effectLst/>
                <a:latin typeface="Times New Roman" panose="02020603050405020304" pitchFamily="18" charset="0"/>
                <a:ea typeface="宋体" pitchFamily="2" charset="-122"/>
              </a:rPr>
              <a:t>：表示设定的灰度阈值。</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n</a:t>
            </a:r>
            <a:r>
              <a:rPr lang="zh-CN" altLang="zh-CN" kern="100" dirty="0">
                <a:effectLst/>
                <a:latin typeface="Times New Roman" panose="02020603050405020304" pitchFamily="18" charset="0"/>
                <a:ea typeface="宋体" pitchFamily="2" charset="-122"/>
              </a:rPr>
              <a:t>：表示高于</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或低于</a:t>
            </a:r>
            <a:r>
              <a:rPr lang="en-US" altLang="zh-CN" kern="100" dirty="0">
                <a:effectLst/>
                <a:latin typeface="Times New Roman" panose="02020603050405020304" pitchFamily="18" charset="0"/>
                <a:ea typeface="宋体" pitchFamily="2" charset="-122"/>
              </a:rPr>
              <a:t>)</a:t>
            </a:r>
            <a:r>
              <a:rPr lang="zh-CN" altLang="zh-CN" kern="100" dirty="0">
                <a:effectLst/>
                <a:latin typeface="Times New Roman" panose="02020603050405020304" pitchFamily="18" charset="0"/>
                <a:ea typeface="宋体" pitchFamily="2" charset="-122"/>
              </a:rPr>
              <a:t>阈值时赋予的新值。</a:t>
            </a:r>
          </a:p>
          <a:p>
            <a:pPr marL="342900" lvl="0" indent="-342900" algn="just">
              <a:buFont typeface="Wingdings" panose="05000000000000000000" pitchFamily="2" charset="2"/>
              <a:buChar char=""/>
            </a:pPr>
            <a:r>
              <a:rPr lang="en-US" altLang="zh-CN" kern="100" dirty="0">
                <a:effectLst/>
                <a:latin typeface="Times New Roman" panose="02020603050405020304" pitchFamily="18" charset="0"/>
                <a:ea typeface="宋体" pitchFamily="2" charset="-122"/>
              </a:rPr>
              <a:t>method</a:t>
            </a:r>
            <a:r>
              <a:rPr lang="zh-CN" altLang="zh-CN" kern="100" dirty="0">
                <a:effectLst/>
                <a:latin typeface="Times New Roman" panose="02020603050405020304" pitchFamily="18" charset="0"/>
                <a:ea typeface="宋体" pitchFamily="2" charset="-122"/>
              </a:rPr>
              <a:t>：表示选择何种方法进行阈值分割。常用的阈值分割方法有以下五种：</a:t>
            </a:r>
            <a:r>
              <a:rPr lang="en-US" altLang="zh-CN" kern="100" dirty="0">
                <a:effectLst/>
                <a:latin typeface="Times New Roman" panose="02020603050405020304" pitchFamily="18" charset="0"/>
                <a:ea typeface="宋体" pitchFamily="2" charset="-122"/>
              </a:rPr>
              <a:t>1. cv2.THRESH_BINARY</a:t>
            </a:r>
            <a:r>
              <a:rPr lang="zh-CN" altLang="zh-CN" kern="100" dirty="0">
                <a:effectLst/>
                <a:latin typeface="Times New Roman" panose="02020603050405020304" pitchFamily="18" charset="0"/>
                <a:ea typeface="宋体" pitchFamily="2" charset="-122"/>
              </a:rPr>
              <a:t>：黑白二值，高于阈值的归</a:t>
            </a:r>
            <a:r>
              <a:rPr lang="en-US" altLang="zh-CN" kern="100" dirty="0">
                <a:effectLst/>
                <a:latin typeface="Times New Roman" panose="02020603050405020304" pitchFamily="18" charset="0"/>
                <a:ea typeface="宋体" pitchFamily="2" charset="-122"/>
              </a:rPr>
              <a:t>1</a:t>
            </a:r>
            <a:r>
              <a:rPr lang="zh-CN" altLang="zh-CN" kern="100" dirty="0">
                <a:effectLst/>
                <a:latin typeface="Times New Roman" panose="02020603050405020304" pitchFamily="18" charset="0"/>
                <a:ea typeface="宋体" pitchFamily="2" charset="-122"/>
              </a:rPr>
              <a:t>，低于的归</a:t>
            </a:r>
            <a:r>
              <a:rPr lang="en-US" altLang="zh-CN" kern="100" dirty="0">
                <a:effectLst/>
                <a:latin typeface="Times New Roman" panose="02020603050405020304" pitchFamily="18" charset="0"/>
                <a:ea typeface="宋体" pitchFamily="2" charset="-122"/>
              </a:rPr>
              <a:t>0</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2. cv2.THRESH_BINARY _INV</a:t>
            </a:r>
            <a:r>
              <a:rPr lang="zh-CN" altLang="zh-CN" kern="100" dirty="0">
                <a:effectLst/>
                <a:latin typeface="Times New Roman" panose="02020603050405020304" pitchFamily="18" charset="0"/>
                <a:ea typeface="宋体" pitchFamily="2" charset="-122"/>
              </a:rPr>
              <a:t>：黑白二值翻转，第一种情况的反作用；</a:t>
            </a:r>
            <a:r>
              <a:rPr lang="en-US" altLang="zh-CN" kern="100" dirty="0">
                <a:effectLst/>
                <a:latin typeface="Times New Roman" panose="02020603050405020304" pitchFamily="18" charset="0"/>
                <a:ea typeface="宋体" pitchFamily="2" charset="-122"/>
              </a:rPr>
              <a:t>3. cv2.THRESH_TRUNC</a:t>
            </a:r>
            <a:r>
              <a:rPr lang="zh-CN" altLang="zh-CN" kern="100" dirty="0">
                <a:effectLst/>
                <a:latin typeface="Times New Roman" panose="02020603050405020304" pitchFamily="18" charset="0"/>
                <a:ea typeface="宋体" pitchFamily="2" charset="-122"/>
              </a:rPr>
              <a:t>：把大于阈值的变成等于阈值；</a:t>
            </a:r>
            <a:r>
              <a:rPr lang="en-US" altLang="zh-CN" kern="100" dirty="0">
                <a:effectLst/>
                <a:latin typeface="Times New Roman" panose="02020603050405020304" pitchFamily="18" charset="0"/>
                <a:ea typeface="宋体" pitchFamily="2" charset="-122"/>
              </a:rPr>
              <a:t>4. cv2.THRESH_TOZERO</a:t>
            </a:r>
            <a:r>
              <a:rPr lang="zh-CN" altLang="zh-CN" kern="100" dirty="0">
                <a:effectLst/>
                <a:latin typeface="Times New Roman" panose="02020603050405020304" pitchFamily="18" charset="0"/>
                <a:ea typeface="宋体" pitchFamily="2" charset="-122"/>
              </a:rPr>
              <a:t>：当像素高于阈值时像素设置为自己设置的像素值，低于阈值时不作处理；</a:t>
            </a:r>
            <a:r>
              <a:rPr lang="en-US" altLang="zh-CN" kern="100" dirty="0">
                <a:effectLst/>
                <a:latin typeface="Times New Roman" panose="02020603050405020304" pitchFamily="18" charset="0"/>
                <a:ea typeface="宋体" pitchFamily="2" charset="-122"/>
              </a:rPr>
              <a:t>5. cv2.THRESH_TOZERO_INV</a:t>
            </a:r>
            <a:r>
              <a:rPr lang="zh-CN" altLang="zh-CN" kern="100" dirty="0">
                <a:effectLst/>
                <a:latin typeface="Times New Roman" panose="02020603050405020304" pitchFamily="18" charset="0"/>
                <a:ea typeface="宋体" pitchFamily="2" charset="-122"/>
              </a:rPr>
              <a:t>：当像素低于阈值时设置为自己设置的像素值，高于阈值时不作处理。</a:t>
            </a:r>
          </a:p>
        </p:txBody>
      </p:sp>
    </p:spTree>
  </p:cSld>
  <p:clrMapOvr>
    <a:masterClrMapping/>
  </p:clrMapOvr>
  <p:transition spd="slow" advClick="0" advTm="0">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文本框 16"/>
          <p:cNvSpPr txBox="1"/>
          <p:nvPr/>
        </p:nvSpPr>
        <p:spPr>
          <a:xfrm>
            <a:off x="468338" y="1222000"/>
            <a:ext cx="4589754" cy="415498"/>
          </a:xfrm>
          <a:prstGeom prst="rect">
            <a:avLst/>
          </a:prstGeom>
          <a:noFill/>
        </p:spPr>
        <p:txBody>
          <a:bodyPr wrap="square">
            <a:spAutoFit/>
          </a:bodyPr>
          <a:lstStyle/>
          <a:p>
            <a:r>
              <a:rPr lang="zh-CN" altLang="en-US" dirty="0"/>
              <a:t>图像阈值变换的实现程序如下：</a:t>
            </a:r>
          </a:p>
        </p:txBody>
      </p:sp>
      <p:sp>
        <p:nvSpPr>
          <p:cNvPr id="7" name="文本框 6"/>
          <p:cNvSpPr txBox="1"/>
          <p:nvPr/>
        </p:nvSpPr>
        <p:spPr>
          <a:xfrm>
            <a:off x="468338" y="1627036"/>
            <a:ext cx="7848872" cy="4801314"/>
          </a:xfrm>
          <a:prstGeom prst="rect">
            <a:avLst/>
          </a:prstGeom>
          <a:noFill/>
        </p:spPr>
        <p:txBody>
          <a:bodyPr wrap="square" rtlCol="0">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from matplotlib import </a:t>
            </a:r>
            <a:r>
              <a:rPr lang="en-US" altLang="zh-CN" sz="1800" kern="100" dirty="0" err="1">
                <a:solidFill>
                  <a:srgbClr val="000000"/>
                </a:solidFill>
                <a:effectLst/>
                <a:latin typeface="Times New Roman" panose="02020603050405020304" pitchFamily="18" charset="0"/>
                <a:ea typeface="宋体" pitchFamily="2" charset="-122"/>
              </a:rPr>
              <a:t>pyplot</a:t>
            </a:r>
            <a:r>
              <a:rPr lang="en-US" altLang="zh-CN" sz="1800" kern="100" dirty="0">
                <a:solidFill>
                  <a:srgbClr val="000000"/>
                </a:solidFill>
                <a:effectLst/>
                <a:latin typeface="Times New Roman" panose="02020603050405020304" pitchFamily="18" charset="0"/>
                <a:ea typeface="宋体" pitchFamily="2" charset="-122"/>
              </a:rPr>
              <a:t> as </a:t>
            </a:r>
            <a:r>
              <a:rPr lang="en-US" altLang="zh-CN" sz="1800" kern="100" dirty="0" err="1">
                <a:solidFill>
                  <a:srgbClr val="000000"/>
                </a:solidFill>
                <a:effectLst/>
                <a:latin typeface="Times New Roman" panose="02020603050405020304" pitchFamily="18" charset="0"/>
                <a:ea typeface="宋体" pitchFamily="2" charset="-122"/>
              </a:rPr>
              <a:t>plt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=cv2.imread('lenaNoise.jpg',0)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GrayImage</a:t>
            </a:r>
            <a:r>
              <a:rPr lang="en-US" altLang="zh-CN" sz="1800" kern="100" dirty="0">
                <a:solidFill>
                  <a:srgbClr val="000000"/>
                </a:solidFill>
                <a:effectLst/>
                <a:latin typeface="Times New Roman" panose="02020603050405020304" pitchFamily="18" charset="0"/>
                <a:ea typeface="宋体" pitchFamily="2" charset="-122"/>
              </a:rPr>
              <a:t> = cv2.cvtColor(img,cv2.COLOR_BGR2GRAY)</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ret,thresh1=cv2.threshold(GrayImage,127,255,cv2.THRESH_BINARY)</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ret,thresh2=cv2.threshold(GrayImage,127,255,cv2.THRESH_BINARY_INV)</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ret,thresh3=cv2.threshold(GrayImage,127,255,cv2.THRESH_TRUNC)</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ret,thresh4=cv2.threshold(GrayImage,127,255,cv2.THRESH_TOZERO)</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ret,thresh5=cv2.threshold(GrayImage,127,255,cv2.THRESH_TOZERO_INV)</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a:t>
            </a:r>
            <a:r>
              <a:rPr lang="en-US" altLang="zh-CN" sz="1800" kern="100" dirty="0" err="1">
                <a:solidFill>
                  <a:srgbClr val="000000"/>
                </a:solidFill>
                <a:effectLst/>
                <a:latin typeface="Times New Roman" panose="02020603050405020304" pitchFamily="18" charset="0"/>
                <a:ea typeface="宋体" pitchFamily="2" charset="-122"/>
              </a:rPr>
              <a:t>GrayImage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cv2.imshow("result",thresh1)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cv2.imshow("result",thresh2)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cv2.imshow("result",thresh3)</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cv2.imshow("result",thresh4)</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cv2.imshow("result",thresh5)</a:t>
            </a:r>
          </a:p>
          <a:p>
            <a:pPr indent="266700" algn="just"/>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p:cNvSpPr txBox="1"/>
          <p:nvPr/>
        </p:nvSpPr>
        <p:spPr>
          <a:xfrm>
            <a:off x="396330" y="1212398"/>
            <a:ext cx="4589754" cy="4247317"/>
          </a:xfrm>
          <a:prstGeom prst="rect">
            <a:avLst/>
          </a:prstGeom>
          <a:noFill/>
        </p:spPr>
        <p:txBody>
          <a:bodyPr wrap="square">
            <a:spAutoFit/>
          </a:bodyPr>
          <a:lstStyle/>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GrayImage.ravel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(thresh1.ravel(),256)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plt.axis</a:t>
            </a:r>
            <a:r>
              <a:rPr lang="en-US" altLang="zh-CN" sz="1800" kern="100" dirty="0">
                <a:solidFill>
                  <a:srgbClr val="000000"/>
                </a:solidFill>
                <a:effectLst/>
                <a:latin typeface="Times New Roman" panose="02020603050405020304" pitchFamily="18" charset="0"/>
                <a:ea typeface="宋体" pitchFamily="2" charset="-122"/>
              </a:rPr>
              <a:t>([0,255, 0, 5000])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plt.show</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GrayImage.ravel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(thresh2.ravel(),256)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plt.axis</a:t>
            </a:r>
            <a:r>
              <a:rPr lang="en-US" altLang="zh-CN" sz="1800" kern="100" dirty="0">
                <a:solidFill>
                  <a:srgbClr val="000000"/>
                </a:solidFill>
                <a:effectLst/>
                <a:latin typeface="Times New Roman" panose="02020603050405020304" pitchFamily="18" charset="0"/>
                <a:ea typeface="宋体" pitchFamily="2" charset="-122"/>
              </a:rPr>
              <a:t>([0,255, 0, 5000])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plt.show</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GrayImage.ravel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(thresh3.ravel(),256)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plt.axis</a:t>
            </a:r>
            <a:r>
              <a:rPr lang="en-US" altLang="zh-CN" sz="1800" kern="100" dirty="0">
                <a:solidFill>
                  <a:srgbClr val="000000"/>
                </a:solidFill>
                <a:effectLst/>
                <a:latin typeface="Times New Roman" panose="02020603050405020304" pitchFamily="18" charset="0"/>
                <a:ea typeface="宋体" pitchFamily="2" charset="-122"/>
              </a:rPr>
              <a:t>([0,255, 0, 5000])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plt.show</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p:txBody>
      </p:sp>
      <p:sp>
        <p:nvSpPr>
          <p:cNvPr id="16" name="文本框 15"/>
          <p:cNvSpPr txBox="1"/>
          <p:nvPr/>
        </p:nvSpPr>
        <p:spPr>
          <a:xfrm>
            <a:off x="4834487" y="3861842"/>
            <a:ext cx="4589754" cy="2862322"/>
          </a:xfrm>
          <a:prstGeom prst="rect">
            <a:avLst/>
          </a:prstGeom>
          <a:noFill/>
        </p:spPr>
        <p:txBody>
          <a:bodyPr wrap="square">
            <a:spAutoFit/>
          </a:bodyPr>
          <a:lstStyle/>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GrayImage.ravel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(thresh4.ravel(),256)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plt.axis</a:t>
            </a:r>
            <a:r>
              <a:rPr lang="en-US" altLang="zh-CN" sz="1800" kern="100" dirty="0">
                <a:solidFill>
                  <a:srgbClr val="000000"/>
                </a:solidFill>
                <a:effectLst/>
                <a:latin typeface="Times New Roman" panose="02020603050405020304" pitchFamily="18" charset="0"/>
                <a:ea typeface="宋体" pitchFamily="2" charset="-122"/>
              </a:rPr>
              <a:t>([0,255, 0, 5000])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plt.show</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GrayImage.ravel</a:t>
            </a:r>
            <a:r>
              <a:rPr lang="en-US" altLang="zh-CN" sz="1800" kern="100" dirty="0">
                <a:solidFill>
                  <a:srgbClr val="000000"/>
                </a:solidFill>
                <a:effectLst/>
                <a:latin typeface="Times New Roman" panose="02020603050405020304" pitchFamily="18" charset="0"/>
                <a:ea typeface="宋体" pitchFamily="2" charset="-122"/>
              </a:rPr>
              <a:t>(),256)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plt.hist</a:t>
            </a:r>
            <a:r>
              <a:rPr lang="en-US" altLang="zh-CN" sz="1800" kern="100" dirty="0">
                <a:solidFill>
                  <a:srgbClr val="000000"/>
                </a:solidFill>
                <a:effectLst/>
                <a:latin typeface="Times New Roman" panose="02020603050405020304" pitchFamily="18" charset="0"/>
                <a:ea typeface="宋体" pitchFamily="2" charset="-122"/>
              </a:rPr>
              <a:t>(thresh5.ravel(),256)</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plt.axis</a:t>
            </a:r>
            <a:r>
              <a:rPr lang="en-US" altLang="zh-CN" sz="1800" kern="100" dirty="0">
                <a:solidFill>
                  <a:srgbClr val="000000"/>
                </a:solidFill>
                <a:effectLst/>
                <a:latin typeface="Times New Roman" panose="02020603050405020304" pitchFamily="18" charset="0"/>
                <a:ea typeface="宋体" pitchFamily="2" charset="-122"/>
              </a:rPr>
              <a:t>([0,255, 0, 5000])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plt.show</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1" name="图片 10"/>
          <p:cNvPicPr>
            <a:picLocks noChangeAspect="1"/>
          </p:cNvPicPr>
          <p:nvPr/>
        </p:nvPicPr>
        <p:blipFill>
          <a:blip r:embed="rId3"/>
          <a:srcRect l="1769" t="2058" r="2151" b="2077"/>
          <a:stretch>
            <a:fillRect/>
          </a:stretch>
        </p:blipFill>
        <p:spPr>
          <a:xfrm>
            <a:off x="712183" y="2033484"/>
            <a:ext cx="3525356" cy="3489512"/>
          </a:xfrm>
          <a:prstGeom prst="rect">
            <a:avLst/>
          </a:prstGeom>
          <a:noFill/>
          <a:ln>
            <a:noFill/>
          </a:ln>
        </p:spPr>
      </p:pic>
      <p:sp>
        <p:nvSpPr>
          <p:cNvPr id="12" name="文本框 11"/>
          <p:cNvSpPr txBox="1"/>
          <p:nvPr/>
        </p:nvSpPr>
        <p:spPr>
          <a:xfrm>
            <a:off x="1739872" y="5574838"/>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 </a:t>
            </a:r>
            <a:r>
              <a:rPr lang="zh-CN" altLang="en-US" sz="1600" b="1" dirty="0">
                <a:solidFill>
                  <a:srgbClr val="000000"/>
                </a:solidFill>
                <a:latin typeface="黑体" panose="02010609060101010101" pitchFamily="49" charset="-122"/>
                <a:ea typeface="黑体" panose="02010609060101010101" pitchFamily="49" charset="-122"/>
              </a:rPr>
              <a:t>原始图像</a:t>
            </a:r>
          </a:p>
        </p:txBody>
      </p:sp>
      <p:sp>
        <p:nvSpPr>
          <p:cNvPr id="13" name="文本框 12"/>
          <p:cNvSpPr txBox="1"/>
          <p:nvPr/>
        </p:nvSpPr>
        <p:spPr>
          <a:xfrm>
            <a:off x="1476450" y="6131090"/>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3.30  </a:t>
            </a:r>
            <a:r>
              <a:rPr lang="zh-CN" altLang="en-US" sz="1800" b="1" kern="0" dirty="0">
                <a:latin typeface="黑体" panose="02010609060101010101" pitchFamily="49" charset="-122"/>
                <a:ea typeface="黑体" panose="02010609060101010101" pitchFamily="49" charset="-122"/>
              </a:rPr>
              <a:t>原灰度图像与直方图</a:t>
            </a:r>
          </a:p>
        </p:txBody>
      </p:sp>
      <p:sp>
        <p:nvSpPr>
          <p:cNvPr id="15" name="文本框 14"/>
          <p:cNvSpPr txBox="1"/>
          <p:nvPr/>
        </p:nvSpPr>
        <p:spPr>
          <a:xfrm>
            <a:off x="5670480" y="5574838"/>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zh-CN" sz="1600" b="1" dirty="0">
                <a:solidFill>
                  <a:srgbClr val="000000"/>
                </a:solidFill>
                <a:latin typeface="黑体" panose="02010609060101010101" pitchFamily="49" charset="-122"/>
                <a:ea typeface="黑体" panose="02010609060101010101" pitchFamily="49" charset="-122"/>
              </a:rPr>
              <a:t>灰度直方图</a:t>
            </a:r>
            <a:endParaRPr lang="zh-CN" altLang="en-US" sz="1600" b="1" dirty="0">
              <a:solidFill>
                <a:srgbClr val="000000"/>
              </a:solidFill>
              <a:latin typeface="黑体" panose="02010609060101010101" pitchFamily="49" charset="-122"/>
              <a:ea typeface="黑体" panose="02010609060101010101" pitchFamily="49" charset="-122"/>
            </a:endParaRPr>
          </a:p>
        </p:txBody>
      </p:sp>
      <p:pic>
        <p:nvPicPr>
          <p:cNvPr id="17" name="图片 16"/>
          <p:cNvPicPr>
            <a:picLocks noChangeAspect="1"/>
          </p:cNvPicPr>
          <p:nvPr/>
        </p:nvPicPr>
        <p:blipFill>
          <a:blip r:embed="rId4"/>
          <a:stretch>
            <a:fillRect/>
          </a:stretch>
        </p:blipFill>
        <p:spPr>
          <a:xfrm>
            <a:off x="4572793" y="2033483"/>
            <a:ext cx="4106965" cy="3489507"/>
          </a:xfrm>
          <a:prstGeom prst="rect">
            <a:avLst/>
          </a:prstGeom>
          <a:noFill/>
          <a:ln>
            <a:noFill/>
          </a:ln>
        </p:spPr>
      </p:pic>
    </p:spTree>
  </p:cSld>
  <p:clrMapOvr>
    <a:masterClrMapping/>
  </p:clrMapOvr>
  <p:transition spd="slow" advClick="0" advTm="0">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1739872" y="5574838"/>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方法一图像</a:t>
            </a:r>
          </a:p>
        </p:txBody>
      </p:sp>
      <p:sp>
        <p:nvSpPr>
          <p:cNvPr id="13" name="文本框 12"/>
          <p:cNvSpPr txBox="1"/>
          <p:nvPr/>
        </p:nvSpPr>
        <p:spPr>
          <a:xfrm>
            <a:off x="1476450" y="6131090"/>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3.31  </a:t>
            </a:r>
            <a:r>
              <a:rPr lang="zh-CN" altLang="en-US" sz="1800" b="1" kern="0" dirty="0">
                <a:latin typeface="黑体" panose="02010609060101010101" pitchFamily="49" charset="-122"/>
                <a:ea typeface="黑体" panose="02010609060101010101" pitchFamily="49" charset="-122"/>
              </a:rPr>
              <a:t>阈值分割方法一图像与直方图</a:t>
            </a:r>
          </a:p>
        </p:txBody>
      </p:sp>
      <p:sp>
        <p:nvSpPr>
          <p:cNvPr id="15" name="文本框 14"/>
          <p:cNvSpPr txBox="1"/>
          <p:nvPr/>
        </p:nvSpPr>
        <p:spPr>
          <a:xfrm>
            <a:off x="5670480" y="5574838"/>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灰度直方图</a:t>
            </a:r>
          </a:p>
        </p:txBody>
      </p:sp>
      <p:pic>
        <p:nvPicPr>
          <p:cNvPr id="14" name="图片 13"/>
          <p:cNvPicPr>
            <a:picLocks noChangeAspect="1"/>
          </p:cNvPicPr>
          <p:nvPr/>
        </p:nvPicPr>
        <p:blipFill>
          <a:blip r:embed="rId3"/>
          <a:srcRect l="1771" t="2059" r="2094" b="2353"/>
          <a:stretch>
            <a:fillRect/>
          </a:stretch>
        </p:blipFill>
        <p:spPr>
          <a:xfrm>
            <a:off x="678444" y="2002268"/>
            <a:ext cx="3556883" cy="3520719"/>
          </a:xfrm>
          <a:prstGeom prst="rect">
            <a:avLst/>
          </a:prstGeom>
          <a:noFill/>
          <a:ln>
            <a:noFill/>
          </a:ln>
        </p:spPr>
      </p:pic>
      <p:pic>
        <p:nvPicPr>
          <p:cNvPr id="16" name="图片 15"/>
          <p:cNvPicPr>
            <a:picLocks noChangeAspect="1"/>
          </p:cNvPicPr>
          <p:nvPr/>
        </p:nvPicPr>
        <p:blipFill>
          <a:blip r:embed="rId4"/>
          <a:stretch>
            <a:fillRect/>
          </a:stretch>
        </p:blipFill>
        <p:spPr>
          <a:xfrm>
            <a:off x="4572794" y="2033484"/>
            <a:ext cx="4168369" cy="3489502"/>
          </a:xfrm>
          <a:prstGeom prst="rect">
            <a:avLst/>
          </a:prstGeom>
          <a:noFill/>
          <a:ln>
            <a:noFill/>
          </a:ln>
        </p:spPr>
      </p:pic>
    </p:spTree>
  </p:cSld>
  <p:clrMapOvr>
    <a:masterClrMapping/>
  </p:clrMapOvr>
  <p:transition spd="slow" advClick="0" advTm="0">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文本框 16"/>
          <p:cNvSpPr txBox="1"/>
          <p:nvPr/>
        </p:nvSpPr>
        <p:spPr>
          <a:xfrm>
            <a:off x="540346" y="1219035"/>
            <a:ext cx="7920880" cy="1706697"/>
          </a:xfrm>
          <a:prstGeom prst="rect">
            <a:avLst/>
          </a:prstGeom>
          <a:noFill/>
        </p:spPr>
        <p:txBody>
          <a:bodyPr wrap="square">
            <a:spAutoFit/>
          </a:bodyPr>
          <a:lstStyle/>
          <a:p>
            <a:pPr indent="457200"/>
            <a:r>
              <a:rPr lang="zh-CN" altLang="en-US" dirty="0"/>
              <a:t>上述程序分别使用五种方法行了阈值分割： </a:t>
            </a:r>
            <a:r>
              <a:rPr lang="en-US" altLang="zh-CN" dirty="0"/>
              <a:t>1.</a:t>
            </a:r>
            <a:r>
              <a:rPr lang="zh-CN" altLang="en-US" dirty="0"/>
              <a:t>黑白二值方法，</a:t>
            </a:r>
            <a:r>
              <a:rPr lang="en-US" altLang="zh-CN" dirty="0"/>
              <a:t>2.</a:t>
            </a:r>
            <a:r>
              <a:rPr lang="zh-CN" altLang="en-US" dirty="0"/>
              <a:t>黑白二值翻转方法，</a:t>
            </a:r>
            <a:r>
              <a:rPr lang="en-US" altLang="zh-CN" dirty="0"/>
              <a:t>3.</a:t>
            </a:r>
            <a:r>
              <a:rPr lang="zh-CN" altLang="en-US" dirty="0"/>
              <a:t>把大于阈值的变成等于阈值，</a:t>
            </a:r>
            <a:r>
              <a:rPr lang="en-US" altLang="zh-CN" dirty="0"/>
              <a:t>4.</a:t>
            </a:r>
            <a:r>
              <a:rPr lang="zh-CN" altLang="en-US" dirty="0"/>
              <a:t>当像素高于阈值时像素设置为自己设置的像素值，低于阈值时不作处理，</a:t>
            </a:r>
            <a:r>
              <a:rPr lang="en-US" altLang="zh-CN" dirty="0"/>
              <a:t>5.</a:t>
            </a:r>
            <a:r>
              <a:rPr lang="zh-CN" altLang="en-US" dirty="0"/>
              <a:t>当像素低于阈值时设置为自己设置的像素值，高于阈值时不作处理。原始图片及其对应的直方图如图</a:t>
            </a:r>
            <a:r>
              <a:rPr lang="en-US" altLang="zh-CN" dirty="0"/>
              <a:t>3.30</a:t>
            </a:r>
            <a:r>
              <a:rPr lang="zh-CN" altLang="en-US" dirty="0"/>
              <a:t>所示。</a:t>
            </a:r>
          </a:p>
        </p:txBody>
      </p:sp>
      <p:pic>
        <p:nvPicPr>
          <p:cNvPr id="18" name="图片 17"/>
          <p:cNvPicPr>
            <a:picLocks noChangeAspect="1"/>
          </p:cNvPicPr>
          <p:nvPr/>
        </p:nvPicPr>
        <p:blipFill>
          <a:blip r:embed="rId3"/>
          <a:srcRect l="1489" t="1764" r="2322" b="1793"/>
          <a:stretch>
            <a:fillRect/>
          </a:stretch>
        </p:blipFill>
        <p:spPr>
          <a:xfrm>
            <a:off x="712182" y="2925732"/>
            <a:ext cx="3356555" cy="3154642"/>
          </a:xfrm>
          <a:prstGeom prst="rect">
            <a:avLst/>
          </a:prstGeom>
          <a:noFill/>
          <a:ln>
            <a:noFill/>
          </a:ln>
        </p:spPr>
      </p:pic>
      <p:pic>
        <p:nvPicPr>
          <p:cNvPr id="19" name="图片 18"/>
          <p:cNvPicPr>
            <a:picLocks noChangeAspect="1"/>
          </p:cNvPicPr>
          <p:nvPr/>
        </p:nvPicPr>
        <p:blipFill>
          <a:blip r:embed="rId4"/>
          <a:stretch>
            <a:fillRect/>
          </a:stretch>
        </p:blipFill>
        <p:spPr>
          <a:xfrm>
            <a:off x="4572794" y="2925735"/>
            <a:ext cx="3691101" cy="3154639"/>
          </a:xfrm>
          <a:prstGeom prst="rect">
            <a:avLst/>
          </a:prstGeom>
          <a:noFill/>
          <a:ln>
            <a:noFill/>
          </a:ln>
        </p:spPr>
      </p:pic>
      <p:sp>
        <p:nvSpPr>
          <p:cNvPr id="20" name="文本框 19"/>
          <p:cNvSpPr txBox="1"/>
          <p:nvPr/>
        </p:nvSpPr>
        <p:spPr>
          <a:xfrm>
            <a:off x="1739872" y="6041894"/>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方法二图像</a:t>
            </a:r>
          </a:p>
        </p:txBody>
      </p:sp>
      <p:sp>
        <p:nvSpPr>
          <p:cNvPr id="21" name="文本框 20"/>
          <p:cNvSpPr txBox="1"/>
          <p:nvPr/>
        </p:nvSpPr>
        <p:spPr>
          <a:xfrm>
            <a:off x="1476450" y="646504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3.32  </a:t>
            </a:r>
            <a:r>
              <a:rPr lang="zh-CN" altLang="en-US" sz="1800" b="1" kern="0" dirty="0">
                <a:latin typeface="黑体" panose="02010609060101010101" pitchFamily="49" charset="-122"/>
                <a:ea typeface="黑体" panose="02010609060101010101" pitchFamily="49" charset="-122"/>
              </a:rPr>
              <a:t>阈值分割方法二图像与直方图</a:t>
            </a:r>
          </a:p>
        </p:txBody>
      </p:sp>
      <p:sp>
        <p:nvSpPr>
          <p:cNvPr id="22" name="文本框 21"/>
          <p:cNvSpPr txBox="1"/>
          <p:nvPr/>
        </p:nvSpPr>
        <p:spPr>
          <a:xfrm>
            <a:off x="5670480" y="6041894"/>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灰度直方图</a:t>
            </a:r>
          </a:p>
        </p:txBody>
      </p:sp>
    </p:spTree>
  </p:cSld>
  <p:clrMapOvr>
    <a:masterClrMapping/>
  </p:clrMapOvr>
  <p:transition spd="slow" advClick="0" advTm="0">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1665984" y="5149494"/>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方法三图像</a:t>
            </a:r>
          </a:p>
        </p:txBody>
      </p:sp>
      <p:sp>
        <p:nvSpPr>
          <p:cNvPr id="13" name="文本框 12"/>
          <p:cNvSpPr txBox="1"/>
          <p:nvPr/>
        </p:nvSpPr>
        <p:spPr>
          <a:xfrm>
            <a:off x="1548458" y="578054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3.33  </a:t>
            </a:r>
            <a:r>
              <a:rPr lang="zh-CN" altLang="en-US" sz="1800" b="1" kern="0" dirty="0">
                <a:latin typeface="黑体" panose="02010609060101010101" pitchFamily="49" charset="-122"/>
                <a:ea typeface="黑体" panose="02010609060101010101" pitchFamily="49" charset="-122"/>
              </a:rPr>
              <a:t>阈值分割方法三图像与直方图</a:t>
            </a:r>
          </a:p>
        </p:txBody>
      </p:sp>
      <p:sp>
        <p:nvSpPr>
          <p:cNvPr id="15" name="文本框 14"/>
          <p:cNvSpPr txBox="1"/>
          <p:nvPr/>
        </p:nvSpPr>
        <p:spPr>
          <a:xfrm>
            <a:off x="5717205" y="5165690"/>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灰度直方图</a:t>
            </a:r>
          </a:p>
        </p:txBody>
      </p:sp>
      <p:pic>
        <p:nvPicPr>
          <p:cNvPr id="17" name="图片 16"/>
          <p:cNvPicPr>
            <a:picLocks noChangeAspect="1"/>
          </p:cNvPicPr>
          <p:nvPr/>
        </p:nvPicPr>
        <p:blipFill>
          <a:blip r:embed="rId3"/>
          <a:srcRect l="876" b="2382"/>
          <a:stretch>
            <a:fillRect/>
          </a:stretch>
        </p:blipFill>
        <p:spPr>
          <a:xfrm>
            <a:off x="612354" y="1620082"/>
            <a:ext cx="3485306" cy="3449869"/>
          </a:xfrm>
          <a:prstGeom prst="rect">
            <a:avLst/>
          </a:prstGeom>
          <a:noFill/>
          <a:ln>
            <a:noFill/>
          </a:ln>
        </p:spPr>
      </p:pic>
      <p:pic>
        <p:nvPicPr>
          <p:cNvPr id="18" name="图片 17"/>
          <p:cNvPicPr>
            <a:picLocks noChangeAspect="1"/>
          </p:cNvPicPr>
          <p:nvPr/>
        </p:nvPicPr>
        <p:blipFill>
          <a:blip r:embed="rId4"/>
          <a:stretch>
            <a:fillRect/>
          </a:stretch>
        </p:blipFill>
        <p:spPr>
          <a:xfrm>
            <a:off x="4553867" y="1613828"/>
            <a:ext cx="4267400" cy="3449861"/>
          </a:xfrm>
          <a:prstGeom prst="rect">
            <a:avLst/>
          </a:prstGeom>
          <a:noFill/>
          <a:ln>
            <a:noFill/>
          </a:ln>
        </p:spPr>
      </p:pic>
    </p:spTree>
  </p:cSld>
  <p:clrMapOvr>
    <a:masterClrMapping/>
  </p:clrMapOvr>
  <p:transition spd="slow" advClick="0" advTm="0">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1665984" y="5149494"/>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方法四图像</a:t>
            </a:r>
          </a:p>
        </p:txBody>
      </p:sp>
      <p:sp>
        <p:nvSpPr>
          <p:cNvPr id="13" name="文本框 12"/>
          <p:cNvSpPr txBox="1"/>
          <p:nvPr/>
        </p:nvSpPr>
        <p:spPr>
          <a:xfrm>
            <a:off x="1548458" y="5780547"/>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3.34  </a:t>
            </a:r>
            <a:r>
              <a:rPr lang="zh-CN" altLang="en-US" sz="1800" b="1" kern="0" dirty="0">
                <a:latin typeface="黑体" panose="02010609060101010101" pitchFamily="49" charset="-122"/>
                <a:ea typeface="黑体" panose="02010609060101010101" pitchFamily="49" charset="-122"/>
              </a:rPr>
              <a:t>阈值分割方法四图像与直方图</a:t>
            </a:r>
          </a:p>
        </p:txBody>
      </p:sp>
      <p:sp>
        <p:nvSpPr>
          <p:cNvPr id="15" name="文本框 14"/>
          <p:cNvSpPr txBox="1"/>
          <p:nvPr/>
        </p:nvSpPr>
        <p:spPr>
          <a:xfrm>
            <a:off x="5717205" y="5165690"/>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灰度直方图</a:t>
            </a:r>
          </a:p>
        </p:txBody>
      </p:sp>
      <p:pic>
        <p:nvPicPr>
          <p:cNvPr id="17" name="图片 16"/>
          <p:cNvPicPr>
            <a:picLocks noChangeAspect="1"/>
          </p:cNvPicPr>
          <p:nvPr/>
        </p:nvPicPr>
        <p:blipFill>
          <a:blip r:embed="rId3"/>
          <a:srcRect l="876" b="2382"/>
          <a:stretch>
            <a:fillRect/>
          </a:stretch>
        </p:blipFill>
        <p:spPr>
          <a:xfrm>
            <a:off x="612354" y="1620082"/>
            <a:ext cx="3485306" cy="3449869"/>
          </a:xfrm>
          <a:prstGeom prst="rect">
            <a:avLst/>
          </a:prstGeom>
          <a:noFill/>
          <a:ln>
            <a:noFill/>
          </a:ln>
        </p:spPr>
      </p:pic>
      <p:pic>
        <p:nvPicPr>
          <p:cNvPr id="14" name="图片 13"/>
          <p:cNvPicPr>
            <a:picLocks noChangeAspect="1"/>
          </p:cNvPicPr>
          <p:nvPr/>
        </p:nvPicPr>
        <p:blipFill>
          <a:blip r:embed="rId4"/>
          <a:stretch>
            <a:fillRect/>
          </a:stretch>
        </p:blipFill>
        <p:spPr>
          <a:xfrm>
            <a:off x="4511443" y="1643393"/>
            <a:ext cx="4237815" cy="3426557"/>
          </a:xfrm>
          <a:prstGeom prst="rect">
            <a:avLst/>
          </a:prstGeom>
          <a:noFill/>
          <a:ln>
            <a:noFill/>
          </a:ln>
        </p:spPr>
      </p:pic>
    </p:spTree>
  </p:cSld>
  <p:clrMapOvr>
    <a:masterClrMapping/>
  </p:clrMapOvr>
  <p:transition spd="slow" advClick="0" advTm="0">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579773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3.7.2  </a:t>
            </a:r>
            <a:r>
              <a:rPr lang="zh-CN" altLang="en-US" sz="2100" b="1" dirty="0">
                <a:solidFill>
                  <a:schemeClr val="tx1">
                    <a:lumMod val="75000"/>
                    <a:lumOff val="25000"/>
                  </a:schemeClr>
                </a:solidFill>
                <a:latin typeface="微软雅黑" panose="020B0503020204020204" pitchFamily="34" charset="-122"/>
              </a:rPr>
              <a:t>阈值变换的</a:t>
            </a:r>
            <a:r>
              <a:rPr lang="en-US" altLang="zh-CN" sz="2100" b="1" dirty="0">
                <a:solidFill>
                  <a:schemeClr val="tx1">
                    <a:lumMod val="75000"/>
                    <a:lumOff val="25000"/>
                  </a:schemeClr>
                </a:solidFill>
                <a:latin typeface="微软雅黑" panose="020B0503020204020204" pitchFamily="34" charset="-122"/>
              </a:rPr>
              <a:t>OpenCV</a:t>
            </a:r>
            <a:r>
              <a:rPr lang="zh-CN" altLang="en-US" sz="2100" b="1" dirty="0">
                <a:solidFill>
                  <a:schemeClr val="tx1">
                    <a:lumMod val="75000"/>
                    <a:lumOff val="25000"/>
                  </a:schemeClr>
                </a:solidFill>
                <a:latin typeface="微软雅黑" panose="020B0503020204020204" pitchFamily="34" charset="-122"/>
              </a:rPr>
              <a:t>和</a:t>
            </a:r>
            <a:r>
              <a:rPr lang="en-US" altLang="zh-CN" sz="2100" b="1" dirty="0">
                <a:solidFill>
                  <a:schemeClr val="tx1">
                    <a:lumMod val="75000"/>
                    <a:lumOff val="25000"/>
                  </a:schemeClr>
                </a:solidFill>
                <a:latin typeface="微软雅黑" panose="020B0503020204020204" pitchFamily="34" charset="-122"/>
              </a:rPr>
              <a:t>Python</a:t>
            </a:r>
            <a:r>
              <a:rPr lang="zh-CN" altLang="en-US" sz="2100" b="1" dirty="0">
                <a:solidFill>
                  <a:schemeClr val="tx1">
                    <a:lumMod val="75000"/>
                    <a:lumOff val="25000"/>
                  </a:schemeClr>
                </a:solidFill>
                <a:latin typeface="微软雅黑" panose="020B0503020204020204" pitchFamily="34" charset="-122"/>
              </a:rPr>
              <a:t>实现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44" name="Rectangle 32"/>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
          <p:cNvSpPr>
            <a:spLocks noChangeArrowheads="1"/>
          </p:cNvSpPr>
          <p:nvPr/>
        </p:nvSpPr>
        <p:spPr bwMode="auto">
          <a:xfrm>
            <a:off x="0" y="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56570" y="1891360"/>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6" name="文本框 15"/>
          <p:cNvSpPr txBox="1"/>
          <p:nvPr/>
        </p:nvSpPr>
        <p:spPr>
          <a:xfrm>
            <a:off x="468338" y="1203639"/>
            <a:ext cx="7992888" cy="1384995"/>
          </a:xfrm>
          <a:prstGeom prst="rect">
            <a:avLst/>
          </a:prstGeom>
          <a:noFill/>
        </p:spPr>
        <p:txBody>
          <a:bodyPr wrap="square">
            <a:spAutoFit/>
          </a:bodyPr>
          <a:lstStyle/>
          <a:p>
            <a:r>
              <a:rPr lang="zh-CN" altLang="en-US" dirty="0"/>
              <a:t>         五种阈值分割方法的运行结果如图</a:t>
            </a:r>
            <a:r>
              <a:rPr lang="en-US" altLang="zh-CN" dirty="0"/>
              <a:t>3.31</a:t>
            </a:r>
            <a:r>
              <a:rPr lang="zh-CN" altLang="en-US" dirty="0"/>
              <a:t>至图</a:t>
            </a:r>
            <a:r>
              <a:rPr lang="en-US" altLang="zh-CN" dirty="0"/>
              <a:t>3.35</a:t>
            </a:r>
            <a:r>
              <a:rPr lang="zh-CN" altLang="en-US" dirty="0"/>
              <a:t>所示。从五种阈值分割的直方图结果可以看出，对原始灰度图像进行阈值处理后，图像的背景与物体之间的对比度增强，且直方图有了明显的界限，这有利于从图像中直接提取出目标物体。</a:t>
            </a:r>
          </a:p>
        </p:txBody>
      </p:sp>
      <p:pic>
        <p:nvPicPr>
          <p:cNvPr id="19" name="图片 18"/>
          <p:cNvPicPr>
            <a:picLocks noChangeAspect="1"/>
          </p:cNvPicPr>
          <p:nvPr/>
        </p:nvPicPr>
        <p:blipFill>
          <a:blip r:embed="rId3"/>
          <a:srcRect b="1499"/>
          <a:stretch>
            <a:fillRect/>
          </a:stretch>
        </p:blipFill>
        <p:spPr>
          <a:xfrm>
            <a:off x="1008398" y="2617298"/>
            <a:ext cx="3096344" cy="3064862"/>
          </a:xfrm>
          <a:prstGeom prst="rect">
            <a:avLst/>
          </a:prstGeom>
          <a:noFill/>
          <a:ln>
            <a:noFill/>
          </a:ln>
        </p:spPr>
      </p:pic>
      <p:pic>
        <p:nvPicPr>
          <p:cNvPr id="20" name="图片 19"/>
          <p:cNvPicPr>
            <a:picLocks noChangeAspect="1"/>
          </p:cNvPicPr>
          <p:nvPr/>
        </p:nvPicPr>
        <p:blipFill>
          <a:blip r:embed="rId4"/>
          <a:stretch>
            <a:fillRect/>
          </a:stretch>
        </p:blipFill>
        <p:spPr>
          <a:xfrm>
            <a:off x="4544003" y="2617298"/>
            <a:ext cx="4025987" cy="3064861"/>
          </a:xfrm>
          <a:prstGeom prst="rect">
            <a:avLst/>
          </a:prstGeom>
          <a:noFill/>
          <a:ln>
            <a:noFill/>
          </a:ln>
        </p:spPr>
      </p:pic>
      <p:sp>
        <p:nvSpPr>
          <p:cNvPr id="21" name="文本框 20"/>
          <p:cNvSpPr txBox="1"/>
          <p:nvPr/>
        </p:nvSpPr>
        <p:spPr>
          <a:xfrm>
            <a:off x="1665984" y="5701098"/>
            <a:ext cx="1944217"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(a)</a:t>
            </a:r>
            <a:r>
              <a:rPr lang="zh-CN" altLang="en-US" sz="1600" b="1" dirty="0">
                <a:solidFill>
                  <a:srgbClr val="000000"/>
                </a:solidFill>
                <a:latin typeface="黑体" panose="02010609060101010101" pitchFamily="49" charset="-122"/>
                <a:ea typeface="黑体" panose="02010609060101010101" pitchFamily="49" charset="-122"/>
              </a:rPr>
              <a:t>方法五图像</a:t>
            </a:r>
          </a:p>
        </p:txBody>
      </p:sp>
      <p:sp>
        <p:nvSpPr>
          <p:cNvPr id="22" name="文本框 21"/>
          <p:cNvSpPr txBox="1"/>
          <p:nvPr/>
        </p:nvSpPr>
        <p:spPr>
          <a:xfrm>
            <a:off x="1548458" y="6136105"/>
            <a:ext cx="5688632" cy="369332"/>
          </a:xfrm>
          <a:prstGeom prst="rect">
            <a:avLst/>
          </a:prstGeom>
          <a:noFill/>
        </p:spPr>
        <p:txBody>
          <a:bodyPr wrap="square">
            <a:spAutoFit/>
          </a:bodyPr>
          <a:lstStyle/>
          <a:p>
            <a:pPr indent="266700" algn="ctr"/>
            <a:r>
              <a:rPr lang="zh-CN" altLang="en-US" sz="1800" b="1" kern="0" dirty="0">
                <a:latin typeface="黑体" panose="02010609060101010101" pitchFamily="49" charset="-122"/>
                <a:ea typeface="黑体" panose="02010609060101010101" pitchFamily="49" charset="-122"/>
              </a:rPr>
              <a:t>图</a:t>
            </a:r>
            <a:r>
              <a:rPr lang="en-US" altLang="zh-CN" sz="1800" b="1" kern="0" dirty="0">
                <a:latin typeface="黑体" panose="02010609060101010101" pitchFamily="49" charset="-122"/>
                <a:ea typeface="黑体" panose="02010609060101010101" pitchFamily="49" charset="-122"/>
              </a:rPr>
              <a:t>3.35  </a:t>
            </a:r>
            <a:r>
              <a:rPr lang="zh-CN" altLang="en-US" sz="1800" b="1" kern="0" dirty="0">
                <a:latin typeface="黑体" panose="02010609060101010101" pitchFamily="49" charset="-122"/>
                <a:ea typeface="黑体" panose="02010609060101010101" pitchFamily="49" charset="-122"/>
              </a:rPr>
              <a:t>阈值分割方法四图像与直方图</a:t>
            </a:r>
          </a:p>
        </p:txBody>
      </p:sp>
      <p:sp>
        <p:nvSpPr>
          <p:cNvPr id="23" name="文本框 22"/>
          <p:cNvSpPr txBox="1"/>
          <p:nvPr/>
        </p:nvSpPr>
        <p:spPr>
          <a:xfrm>
            <a:off x="5717205" y="5717294"/>
            <a:ext cx="1940723" cy="338554"/>
          </a:xfrm>
          <a:prstGeom prst="rect">
            <a:avLst/>
          </a:prstGeom>
          <a:noFill/>
        </p:spPr>
        <p:txBody>
          <a:bodyPr wrap="square">
            <a:spAutoFit/>
          </a:bodyPr>
          <a:lstStyle/>
          <a:p>
            <a:r>
              <a:rPr lang="en-US" altLang="zh-CN" sz="1600" b="1" dirty="0">
                <a:solidFill>
                  <a:srgbClr val="000000"/>
                </a:solidFill>
                <a:latin typeface="黑体" panose="02010609060101010101" pitchFamily="49" charset="-122"/>
                <a:ea typeface="黑体" panose="02010609060101010101" pitchFamily="49" charset="-122"/>
              </a:rPr>
              <a:t>(b)</a:t>
            </a:r>
            <a:r>
              <a:rPr lang="zh-CN" altLang="en-US" sz="1600" b="1" dirty="0">
                <a:solidFill>
                  <a:srgbClr val="000000"/>
                </a:solidFill>
                <a:latin typeface="黑体" panose="02010609060101010101" pitchFamily="49" charset="-122"/>
                <a:ea typeface="黑体" panose="02010609060101010101" pitchFamily="49" charset="-122"/>
              </a:rPr>
              <a:t>灰度直方图</a:t>
            </a:r>
          </a:p>
        </p:txBody>
      </p:sp>
    </p:spTree>
  </p:cSld>
  <p:clrMapOvr>
    <a:masterClrMapping/>
  </p:clrMapOvr>
  <p:transition spd="slow" advClick="0" advTm="0">
    <p:wipe/>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我的主题色">
      <a:dk1>
        <a:sysClr val="windowText" lastClr="000000"/>
      </a:dk1>
      <a:lt1>
        <a:sysClr val="window" lastClr="FFFFFF"/>
      </a:lt1>
      <a:dk2>
        <a:srgbClr val="E6325C"/>
      </a:dk2>
      <a:lt2>
        <a:srgbClr val="E6325C"/>
      </a:lt2>
      <a:accent1>
        <a:srgbClr val="A3CD39"/>
      </a:accent1>
      <a:accent2>
        <a:srgbClr val="A3CD39"/>
      </a:accent2>
      <a:accent3>
        <a:srgbClr val="4EC0A5"/>
      </a:accent3>
      <a:accent4>
        <a:srgbClr val="4EC0A5"/>
      </a:accent4>
      <a:accent5>
        <a:srgbClr val="E4BE33"/>
      </a:accent5>
      <a:accent6>
        <a:srgbClr val="E4BE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265</TotalTime>
  <Words>6404</Words>
  <Application>Microsoft Office PowerPoint</Application>
  <PresentationFormat>自定义</PresentationFormat>
  <Paragraphs>643</Paragraphs>
  <Slides>71</Slides>
  <Notes>70</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71</vt:i4>
      </vt:variant>
    </vt:vector>
  </HeadingPairs>
  <TitlesOfParts>
    <vt:vector size="84" baseType="lpstr">
      <vt:lpstr>黑体</vt:lpstr>
      <vt:lpstr>宋体</vt:lpstr>
      <vt:lpstr>微软雅黑</vt:lpstr>
      <vt:lpstr>Arial</vt:lpstr>
      <vt:lpstr>Calibri</vt:lpstr>
      <vt:lpstr>Cambria Math</vt:lpstr>
      <vt:lpstr>Eras Bold ITC</vt:lpstr>
      <vt:lpstr>Impact</vt:lpstr>
      <vt:lpstr>Times New Roman</vt:lpstr>
      <vt:lpstr>Wingdings</vt:lpstr>
      <vt:lpstr>Office 主题</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亮亮图文旗舰店</dc:subject>
  <dc:creator/>
  <cp:keywords>更多模版：亮亮图文旗舰店https:/liangliangtuwen.tmall.com</cp:keywords>
  <dc:description>更多模版：亮亮图文旗舰店https://liangliangtuwen.tmall.com</dc:description>
  <cp:lastModifiedBy>admin</cp:lastModifiedBy>
  <cp:revision>417</cp:revision>
  <dcterms:created xsi:type="dcterms:W3CDTF">2025-10-20T08:40:36Z</dcterms:created>
  <dcterms:modified xsi:type="dcterms:W3CDTF">2025-10-24T02:05:39Z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2BA0564778523DDC84F5F5689E114E58_42</vt:lpwstr>
  </property>
  <property fmtid="{D5CDD505-2E9C-101B-9397-08002B2CF9AE}" pid="3" name="KSOProductBuildVer">
    <vt:lpwstr>2052-6.7.1.8828</vt:lpwstr>
  </property>
</Properties>
</file>