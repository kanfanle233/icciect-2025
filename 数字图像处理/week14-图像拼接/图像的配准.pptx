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9"/>
  </p:handoutMasterIdLst>
  <p:sldIdLst>
    <p:sldId id="370" r:id="rId3"/>
    <p:sldId id="417" r:id="rId5"/>
    <p:sldId id="418" r:id="rId6"/>
    <p:sldId id="419" r:id="rId7"/>
    <p:sldId id="420" r:id="rId8"/>
    <p:sldId id="421" r:id="rId9"/>
    <p:sldId id="422" r:id="rId10"/>
    <p:sldId id="423" r:id="rId11"/>
    <p:sldId id="424" r:id="rId12"/>
    <p:sldId id="425" r:id="rId13"/>
    <p:sldId id="426" r:id="rId14"/>
    <p:sldId id="427" r:id="rId15"/>
    <p:sldId id="428" r:id="rId16"/>
    <p:sldId id="429" r:id="rId17"/>
    <p:sldId id="430" r:id="rId18"/>
    <p:sldId id="442" r:id="rId19"/>
    <p:sldId id="431" r:id="rId20"/>
    <p:sldId id="432" r:id="rId21"/>
    <p:sldId id="433" r:id="rId22"/>
    <p:sldId id="434" r:id="rId23"/>
    <p:sldId id="435" r:id="rId24"/>
    <p:sldId id="437" r:id="rId25"/>
    <p:sldId id="438" r:id="rId26"/>
    <p:sldId id="439" r:id="rId27"/>
    <p:sldId id="440" r:id="rId28"/>
  </p:sldIdLst>
  <p:sldSz cx="9145270" cy="6859270"/>
  <p:notesSz cx="6858000" cy="9144000"/>
  <p:custDataLst>
    <p:tags r:id="rId33"/>
  </p:custDataLst>
  <p:defaultTex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b0ad03b4-efe2-4851-93ee-1ed56757a63e}">
          <p14:sldIdLst>
            <p14:sldId id="370"/>
          </p14:sldIdLst>
        </p14:section>
        <p14:section name="1图像配准的基本原理&#13;" id="{d18d96db-2032-45e2-9218-3448fef1c6de}">
          <p14:sldIdLst>
            <p14:sldId id="417"/>
            <p14:sldId id="418"/>
          </p14:sldIdLst>
        </p14:section>
        <p14:section name="2 提取特征点&#13;" id="{07b20057-38e5-493c-a61a-75b4a07feb82}">
          <p14:sldIdLst>
            <p14:sldId id="419"/>
            <p14:sldId id="420"/>
            <p14:sldId id="421"/>
          </p14:sldIdLst>
        </p14:section>
        <p14:section name="3基于特征的配准方法" id="{285ce448-fcdb-4482-92c8-9368e681944c}">
          <p14:sldIdLst>
            <p14:sldId id="422"/>
          </p14:sldIdLst>
        </p14:section>
        <p14:section name="4图像配准的OpenCV实现" id="{82d345a3-4747-45b8-8884-a63886e2f35a}">
          <p14:sldIdLst>
            <p14:sldId id="423"/>
            <p14:sldId id="424"/>
            <p14:sldId id="425"/>
            <p14:sldId id="426"/>
            <p14:sldId id="427"/>
            <p14:sldId id="428"/>
            <p14:sldId id="429"/>
            <p14:sldId id="430"/>
            <p14:sldId id="442"/>
          </p14:sldIdLst>
        </p14:section>
        <p14:section name="图像的拼接" id="{a43b0e9e-cf1f-4216-9c85-c7a8aff82bd3}">
          <p14:sldIdLst>
            <p14:sldId id="431"/>
            <p14:sldId id="432"/>
            <p14:sldId id="433"/>
            <p14:sldId id="434"/>
            <p14:sldId id="435"/>
            <p14:sldId id="437"/>
            <p14:sldId id="438"/>
            <p14:sldId id="439"/>
            <p14:sldId id="440"/>
          </p14:sldIdLst>
        </p14:section>
      </p14:sectionLst>
    </p:ext>
    <p:ext uri="{EFAFB233-063F-42B5-8137-9DF3F51BA10A}">
      <p15:sldGuideLst xmlns:p15="http://schemas.microsoft.com/office/powerpoint/2012/main">
        <p15:guide id="1" orient="horz" pos="2160" userDrawn="1">
          <p15:clr>
            <a:srgbClr val="A4A3A4"/>
          </p15:clr>
        </p15:guide>
        <p15:guide id="2" orient="horz" pos="3838" userDrawn="1">
          <p15:clr>
            <a:srgbClr val="A4A3A4"/>
          </p15:clr>
        </p15:guide>
        <p15:guide id="3" pos="2880" userDrawn="1">
          <p15:clr>
            <a:srgbClr val="A4A3A4"/>
          </p15:clr>
        </p15:guide>
        <p15:guide id="4" pos="5399" userDrawn="1">
          <p15:clr>
            <a:srgbClr val="A4A3A4"/>
          </p15:clr>
        </p15:guide>
        <p15:guide id="5" pos="43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5F5"/>
    <a:srgbClr val="38B1BF"/>
    <a:srgbClr val="EF7768"/>
    <a:srgbClr val="FF9933"/>
    <a:srgbClr val="C7C7C7"/>
    <a:srgbClr val="00458E"/>
    <a:srgbClr val="8B8B8B"/>
    <a:srgbClr val="B11212"/>
    <a:srgbClr val="022A4F"/>
    <a:srgbClr val="007A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511" autoAdjust="0"/>
    <p:restoredTop sz="94660"/>
  </p:normalViewPr>
  <p:slideViewPr>
    <p:cSldViewPr showGuides="1">
      <p:cViewPr varScale="1">
        <p:scale>
          <a:sx n="86" d="100"/>
          <a:sy n="86" d="100"/>
        </p:scale>
        <p:origin x="1546" y="62"/>
      </p:cViewPr>
      <p:guideLst>
        <p:guide orient="horz" pos="2160"/>
        <p:guide orient="horz" pos="3838"/>
        <p:guide pos="2880"/>
        <p:guide pos="5399"/>
        <p:guide pos="430"/>
      </p:guideLst>
    </p:cSldViewPr>
  </p:slid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83" d="100"/>
          <a:sy n="83" d="100"/>
        </p:scale>
        <p:origin x="-384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gs" Target="tags/tag10.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handoutMaster" Target="handoutMasters/handout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D1C15E6-6BD2-4E4B-B1D4-218C26E1B22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655EDCA-2189-4435-B38B-6F3C2C044356}"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B17430C-5A66-4BD0-A971-34190B6C601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AC173A-3DA8-4893-B28A-1E15F55C330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r>
              <a:rPr lang="zh-CN" altLang="en-US"/>
              <a:t>https://www.cnblogs.com/libai123456/p/17618061.html</a:t>
            </a:r>
            <a:endParaRPr lang="zh-CN" altLang="en-US"/>
          </a:p>
          <a:p>
            <a:r>
              <a:rPr lang="zh-CN" altLang="en-US"/>
              <a:t>https://docs.opencv.ac.cn/4.11.0/d1/de0/tutorial_py_feature_homography.html</a:t>
            </a:r>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2_两栏内容">
    <p:bg>
      <p:bgPr>
        <a:solidFill>
          <a:srgbClr val="F5F5F5"/>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3_两栏内容">
    <p:bg>
      <p:bgPr>
        <a:solidFill>
          <a:srgbClr val="F5F5F5"/>
        </a:solidFill>
        <a:effectLst/>
      </p:bgPr>
    </p:bg>
    <p:spTree>
      <p:nvGrpSpPr>
        <p:cNvPr id="1" name=""/>
        <p:cNvGrpSpPr/>
        <p:nvPr/>
      </p:nvGrpSpPr>
      <p:grpSpPr>
        <a:xfrm>
          <a:off x="0" y="0"/>
          <a:ext cx="0" cy="0"/>
          <a:chOff x="0" y="0"/>
          <a:chExt cx="0" cy="0"/>
        </a:xfrm>
      </p:grpSpPr>
      <p:sp>
        <p:nvSpPr>
          <p:cNvPr id="11" name="TextBox 15"/>
          <p:cNvSpPr txBox="1"/>
          <p:nvPr userDrawn="1"/>
        </p:nvSpPr>
        <p:spPr>
          <a:xfrm>
            <a:off x="8080932" y="405459"/>
            <a:ext cx="849913" cy="323165"/>
          </a:xfrm>
          <a:prstGeom prst="rect">
            <a:avLst/>
          </a:prstGeom>
          <a:noFill/>
        </p:spPr>
        <p:txBody>
          <a:bodyPr wrap="none" rtlCol="0">
            <a:spAutoFit/>
          </a:bodyPr>
          <a:lstStyle/>
          <a:p>
            <a:pPr algn="ct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第</a:t>
            </a:r>
            <a:r>
              <a:rPr lang="zh-CN" altLang="en-US" sz="1350" dirty="0">
                <a:solidFill>
                  <a:schemeClr val="tx1">
                    <a:lumMod val="50000"/>
                    <a:lumOff val="50000"/>
                  </a:schemeClr>
                </a:solidFill>
                <a:latin typeface="微软雅黑" panose="020B0503020204020204" pitchFamily="34" charset="-122"/>
                <a:ea typeface="微软雅黑" panose="020B0503020204020204" pitchFamily="34" charset="-122"/>
              </a:rPr>
              <a:t> </a:t>
            </a:r>
            <a:fld id="{2EEF1883-7A0E-4F66-9932-E581691AD397}" type="slidenum">
              <a:rPr lang="zh-CN" altLang="en-US" sz="1500" smtClean="0">
                <a:solidFill>
                  <a:schemeClr val="tx1">
                    <a:lumMod val="50000"/>
                    <a:lumOff val="50000"/>
                  </a:schemeClr>
                </a:solidFill>
                <a:latin typeface="微软雅黑" panose="020B0503020204020204" pitchFamily="34" charset="-122"/>
                <a:ea typeface="微软雅黑" panose="020B0503020204020204" pitchFamily="34" charset="-122"/>
              </a:rPr>
            </a:fld>
            <a:r>
              <a:rPr lang="zh-CN" altLang="en-US" sz="1350" dirty="0">
                <a:solidFill>
                  <a:schemeClr val="tx1">
                    <a:lumMod val="50000"/>
                    <a:lumOff val="50000"/>
                  </a:schemeClr>
                </a:solidFill>
                <a:latin typeface="微软雅黑" panose="020B0503020204020204" pitchFamily="34" charset="-122"/>
                <a:ea typeface="微软雅黑" panose="020B0503020204020204" pitchFamily="34" charset="-122"/>
              </a:rPr>
              <a:t> </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页</a:t>
            </a:r>
            <a:endParaRPr lang="zh-CN" altLang="en-US" sz="1200" b="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1_两栏内容">
    <p:bg>
      <p:bgPr>
        <a:solidFill>
          <a:srgbClr val="F5F5F5"/>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txStyles>
    <p:titleStyle>
      <a:lvl1pPr algn="ctr" defTabSz="816610" rtl="0" eaLnBrk="1" latinLnBrk="0" hangingPunct="1">
        <a:spcBef>
          <a:spcPct val="0"/>
        </a:spcBef>
        <a:buNone/>
        <a:defRPr sz="3900" kern="1200">
          <a:solidFill>
            <a:schemeClr val="tx1"/>
          </a:solidFill>
          <a:latin typeface="+mj-lt"/>
          <a:ea typeface="+mj-ea"/>
          <a:cs typeface="+mj-cs"/>
        </a:defRPr>
      </a:lvl1pPr>
    </p:titleStyle>
    <p:bodyStyle>
      <a:lvl1pPr marL="306070" indent="-306070" algn="l" defTabSz="816610" rtl="0" eaLnBrk="1" latinLnBrk="0" hangingPunct="1">
        <a:spcBef>
          <a:spcPct val="20000"/>
        </a:spcBef>
        <a:buFont typeface="Arial" panose="020B0604020202090204" pitchFamily="34" charset="0"/>
        <a:buChar char="•"/>
        <a:defRPr sz="2850" kern="1200">
          <a:solidFill>
            <a:schemeClr val="tx1"/>
          </a:solidFill>
          <a:latin typeface="+mn-lt"/>
          <a:ea typeface="+mn-ea"/>
          <a:cs typeface="+mn-cs"/>
        </a:defRPr>
      </a:lvl1pPr>
      <a:lvl2pPr marL="663575" indent="-255270" algn="l" defTabSz="816610" rtl="0" eaLnBrk="1" latinLnBrk="0" hangingPunct="1">
        <a:spcBef>
          <a:spcPct val="20000"/>
        </a:spcBef>
        <a:buFont typeface="Arial" panose="020B0604020202090204" pitchFamily="34" charset="0"/>
        <a:buChar char="–"/>
        <a:defRPr sz="2475" kern="1200">
          <a:solidFill>
            <a:schemeClr val="tx1"/>
          </a:solidFill>
          <a:latin typeface="+mn-lt"/>
          <a:ea typeface="+mn-ea"/>
          <a:cs typeface="+mn-cs"/>
        </a:defRPr>
      </a:lvl2pPr>
      <a:lvl3pPr marL="1020445" indent="-203835" algn="l" defTabSz="816610" rtl="0" eaLnBrk="1" latinLnBrk="0" hangingPunct="1">
        <a:spcBef>
          <a:spcPct val="20000"/>
        </a:spcBef>
        <a:buFont typeface="Arial" panose="020B0604020202090204" pitchFamily="34" charset="0"/>
        <a:buChar char="•"/>
        <a:defRPr sz="2175" kern="1200">
          <a:solidFill>
            <a:schemeClr val="tx1"/>
          </a:solidFill>
          <a:latin typeface="+mn-lt"/>
          <a:ea typeface="+mn-ea"/>
          <a:cs typeface="+mn-cs"/>
        </a:defRPr>
      </a:lvl3pPr>
      <a:lvl4pPr marL="142875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4pPr>
      <a:lvl5pPr marL="183705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5pPr>
      <a:lvl6pPr marL="224536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6pPr>
      <a:lvl7pPr marL="265366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7pPr>
      <a:lvl8pPr marL="306197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8pPr>
      <a:lvl9pPr marL="347027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816610" rtl="0" eaLnBrk="1" latinLnBrk="0" hangingPunct="1">
        <a:defRPr sz="1575" kern="1200">
          <a:solidFill>
            <a:schemeClr val="tx1"/>
          </a:solidFill>
          <a:latin typeface="+mn-lt"/>
          <a:ea typeface="+mn-ea"/>
          <a:cs typeface="+mn-cs"/>
        </a:defRPr>
      </a:lvl1pPr>
      <a:lvl2pPr marL="408305" algn="l" defTabSz="816610" rtl="0" eaLnBrk="1" latinLnBrk="0" hangingPunct="1">
        <a:defRPr sz="1575" kern="1200">
          <a:solidFill>
            <a:schemeClr val="tx1"/>
          </a:solidFill>
          <a:latin typeface="+mn-lt"/>
          <a:ea typeface="+mn-ea"/>
          <a:cs typeface="+mn-cs"/>
        </a:defRPr>
      </a:lvl2pPr>
      <a:lvl3pPr marL="816610" algn="l" defTabSz="816610" rtl="0" eaLnBrk="1" latinLnBrk="0" hangingPunct="1">
        <a:defRPr sz="1575" kern="1200">
          <a:solidFill>
            <a:schemeClr val="tx1"/>
          </a:solidFill>
          <a:latin typeface="+mn-lt"/>
          <a:ea typeface="+mn-ea"/>
          <a:cs typeface="+mn-cs"/>
        </a:defRPr>
      </a:lvl3pPr>
      <a:lvl4pPr marL="1224915" algn="l" defTabSz="816610" rtl="0" eaLnBrk="1" latinLnBrk="0" hangingPunct="1">
        <a:defRPr sz="1575" kern="1200">
          <a:solidFill>
            <a:schemeClr val="tx1"/>
          </a:solidFill>
          <a:latin typeface="+mn-lt"/>
          <a:ea typeface="+mn-ea"/>
          <a:cs typeface="+mn-cs"/>
        </a:defRPr>
      </a:lvl4pPr>
      <a:lvl5pPr marL="1633220" algn="l" defTabSz="816610" rtl="0" eaLnBrk="1" latinLnBrk="0" hangingPunct="1">
        <a:defRPr sz="1575" kern="1200">
          <a:solidFill>
            <a:schemeClr val="tx1"/>
          </a:solidFill>
          <a:latin typeface="+mn-lt"/>
          <a:ea typeface="+mn-ea"/>
          <a:cs typeface="+mn-cs"/>
        </a:defRPr>
      </a:lvl5pPr>
      <a:lvl6pPr marL="2041525" algn="l" defTabSz="816610" rtl="0" eaLnBrk="1" latinLnBrk="0" hangingPunct="1">
        <a:defRPr sz="1575" kern="1200">
          <a:solidFill>
            <a:schemeClr val="tx1"/>
          </a:solidFill>
          <a:latin typeface="+mn-lt"/>
          <a:ea typeface="+mn-ea"/>
          <a:cs typeface="+mn-cs"/>
        </a:defRPr>
      </a:lvl6pPr>
      <a:lvl7pPr marL="2449830" algn="l" defTabSz="816610" rtl="0" eaLnBrk="1" latinLnBrk="0" hangingPunct="1">
        <a:defRPr sz="1575" kern="1200">
          <a:solidFill>
            <a:schemeClr val="tx1"/>
          </a:solidFill>
          <a:latin typeface="+mn-lt"/>
          <a:ea typeface="+mn-ea"/>
          <a:cs typeface="+mn-cs"/>
        </a:defRPr>
      </a:lvl7pPr>
      <a:lvl8pPr marL="2858135" algn="l" defTabSz="816610" rtl="0" eaLnBrk="1" latinLnBrk="0" hangingPunct="1">
        <a:defRPr sz="1575" kern="1200">
          <a:solidFill>
            <a:schemeClr val="tx1"/>
          </a:solidFill>
          <a:latin typeface="+mn-lt"/>
          <a:ea typeface="+mn-ea"/>
          <a:cs typeface="+mn-cs"/>
        </a:defRPr>
      </a:lvl8pPr>
      <a:lvl9pPr marL="3266440" algn="l" defTabSz="816610" rtl="0" eaLnBrk="1" latinLnBrk="0" hangingPunct="1">
        <a:defRPr sz="157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4.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tags" Target="../tags/tag1.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4.xml"/><Relationship Id="rId2" Type="http://schemas.openxmlformats.org/officeDocument/2006/relationships/image" Target="../media/image9.png"/><Relationship Id="rId1" Type="http://schemas.openxmlformats.org/officeDocument/2006/relationships/tags" Target="../tags/tag2.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4.xml"/><Relationship Id="rId2" Type="http://schemas.openxmlformats.org/officeDocument/2006/relationships/image" Target="../media/image10.png"/><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4.xml"/><Relationship Id="rId2" Type="http://schemas.openxmlformats.org/officeDocument/2006/relationships/image" Target="../media/image11.png"/><Relationship Id="rId1" Type="http://schemas.openxmlformats.org/officeDocument/2006/relationships/tags" Target="../tags/tag4.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4.xml"/><Relationship Id="rId2" Type="http://schemas.openxmlformats.org/officeDocument/2006/relationships/image" Target="../media/image12.png"/><Relationship Id="rId1" Type="http://schemas.openxmlformats.org/officeDocument/2006/relationships/tags" Target="../tags/tag5.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4.xml"/><Relationship Id="rId4" Type="http://schemas.openxmlformats.org/officeDocument/2006/relationships/image" Target="../media/image14.png"/><Relationship Id="rId3" Type="http://schemas.openxmlformats.org/officeDocument/2006/relationships/tags" Target="../tags/tag7.xml"/><Relationship Id="rId2" Type="http://schemas.openxmlformats.org/officeDocument/2006/relationships/image" Target="../media/image13.png"/><Relationship Id="rId1" Type="http://schemas.openxmlformats.org/officeDocument/2006/relationships/tags" Target="../tags/tag6.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4.xml"/><Relationship Id="rId2" Type="http://schemas.openxmlformats.org/officeDocument/2006/relationships/image" Target="../media/image15.png"/><Relationship Id="rId1" Type="http://schemas.openxmlformats.org/officeDocument/2006/relationships/tags" Target="../tags/tag8.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4.xml"/><Relationship Id="rId2" Type="http://schemas.openxmlformats.org/officeDocument/2006/relationships/image" Target="../media/image16.png"/><Relationship Id="rId1" Type="http://schemas.openxmlformats.org/officeDocument/2006/relationships/tags" Target="../tags/tag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a:off x="3492346" y="1702544"/>
            <a:ext cx="2160896" cy="1862841"/>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75"/>
          </a:p>
        </p:txBody>
      </p:sp>
      <p:grpSp>
        <p:nvGrpSpPr>
          <p:cNvPr id="3" name="组合 2"/>
          <p:cNvGrpSpPr/>
          <p:nvPr/>
        </p:nvGrpSpPr>
        <p:grpSpPr>
          <a:xfrm>
            <a:off x="1" y="5663237"/>
            <a:ext cx="9145587" cy="339684"/>
            <a:chOff x="1" y="6406814"/>
            <a:chExt cx="12190412" cy="452774"/>
          </a:xfrm>
        </p:grpSpPr>
        <p:sp>
          <p:nvSpPr>
            <p:cNvPr id="32" name="六边形 31"/>
            <p:cNvSpPr/>
            <p:nvPr/>
          </p:nvSpPr>
          <p:spPr>
            <a:xfrm>
              <a:off x="1" y="6406814"/>
              <a:ext cx="3041773" cy="452774"/>
            </a:xfrm>
            <a:prstGeom prst="hexagon">
              <a:avLst/>
            </a:prstGeom>
            <a:solidFill>
              <a:srgbClr val="5FCACB"/>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33" name="六边形 32"/>
            <p:cNvSpPr/>
            <p:nvPr/>
          </p:nvSpPr>
          <p:spPr>
            <a:xfrm>
              <a:off x="3041775" y="6406814"/>
              <a:ext cx="3063750" cy="452774"/>
            </a:xfrm>
            <a:prstGeom prst="hexagon">
              <a:avLst/>
            </a:prstGeom>
            <a:solidFill>
              <a:srgbClr val="A0BF0D"/>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34" name="六边形 33"/>
            <p:cNvSpPr/>
            <p:nvPr/>
          </p:nvSpPr>
          <p:spPr>
            <a:xfrm>
              <a:off x="6095207" y="6406814"/>
              <a:ext cx="3047603" cy="452774"/>
            </a:xfrm>
            <a:prstGeom prst="hexag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35" name="六边形 34"/>
            <p:cNvSpPr/>
            <p:nvPr/>
          </p:nvSpPr>
          <p:spPr>
            <a:xfrm>
              <a:off x="9142810" y="6406814"/>
              <a:ext cx="3047603" cy="452774"/>
            </a:xfrm>
            <a:prstGeom prst="hexagon">
              <a:avLst/>
            </a:prstGeom>
            <a:solidFill>
              <a:srgbClr val="F5841C"/>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grpSp>
      <p:sp>
        <p:nvSpPr>
          <p:cNvPr id="36" name="六边形 35"/>
          <p:cNvSpPr/>
          <p:nvPr/>
        </p:nvSpPr>
        <p:spPr>
          <a:xfrm flipV="1">
            <a:off x="1" y="856667"/>
            <a:ext cx="2286397" cy="70072"/>
          </a:xfrm>
          <a:prstGeom prst="hexagon">
            <a:avLst/>
          </a:prstGeom>
          <a:solidFill>
            <a:srgbClr val="5FCACB"/>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41" name="文本框 5"/>
          <p:cNvSpPr txBox="1"/>
          <p:nvPr/>
        </p:nvSpPr>
        <p:spPr>
          <a:xfrm>
            <a:off x="3708698" y="4437906"/>
            <a:ext cx="1467534" cy="288549"/>
          </a:xfrm>
          <a:prstGeom prst="rect">
            <a:avLst/>
          </a:prstGeom>
          <a:noFill/>
        </p:spPr>
        <p:txBody>
          <a:bodyPr wrap="none" lIns="68588" tIns="34294" rIns="68588" bIns="34294" rtlCol="0">
            <a:spAutoFit/>
          </a:bodyPr>
          <a:lstStyle/>
          <a:p>
            <a:pPr algn="ctr"/>
            <a:r>
              <a:rPr lang="zh-CN" altLang="en-US" sz="1425" dirty="0">
                <a:solidFill>
                  <a:schemeClr val="tx1">
                    <a:lumMod val="85000"/>
                    <a:lumOff val="15000"/>
                  </a:schemeClr>
                </a:solidFill>
                <a:latin typeface="微软雅黑" panose="020B0503020204020204" pitchFamily="34" charset="-122"/>
                <a:ea typeface="微软雅黑" panose="020B0503020204020204" pitchFamily="34" charset="-122"/>
              </a:rPr>
              <a:t>清华大学出版社</a:t>
            </a:r>
            <a:endParaRPr lang="en-US" altLang="zh-CN" sz="1425"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2" name="矩形 41"/>
          <p:cNvSpPr/>
          <p:nvPr/>
        </p:nvSpPr>
        <p:spPr>
          <a:xfrm>
            <a:off x="2844602" y="2268005"/>
            <a:ext cx="3601002" cy="761883"/>
          </a:xfrm>
          <a:prstGeom prst="rect">
            <a:avLst/>
          </a:prstGeom>
          <a:noFill/>
          <a:ln>
            <a:noFill/>
          </a:ln>
          <a:effectLst>
            <a:glow rad="1905000">
              <a:srgbClr val="F14124">
                <a:alpha val="40000"/>
              </a:srgbClr>
            </a:glow>
            <a:softEdge rad="1270000"/>
          </a:effectLst>
        </p:spPr>
        <p:txBody>
          <a:bodyPr wrap="none" lIns="68588" tIns="34294" rIns="68588" bIns="34294">
            <a:spAutoFit/>
          </a:bodyPr>
          <a:lstStyle/>
          <a:p>
            <a:pPr algn="ctr"/>
            <a:r>
              <a:rPr lang="zh-CN" altLang="en-US" sz="4500" b="1" dirty="0">
                <a:solidFill>
                  <a:schemeClr val="tx1">
                    <a:lumMod val="75000"/>
                    <a:lumOff val="25000"/>
                  </a:schemeClr>
                </a:solidFill>
                <a:latin typeface="微软雅黑" panose="020B0503020204020204" pitchFamily="34" charset="-122"/>
                <a:ea typeface="微软雅黑" panose="020B0503020204020204" pitchFamily="34" charset="-122"/>
              </a:rPr>
              <a:t>数字图像处理</a:t>
            </a:r>
            <a:endParaRPr lang="zh-CN" altLang="en-US" sz="45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9" name="六边形 18"/>
          <p:cNvSpPr/>
          <p:nvPr/>
        </p:nvSpPr>
        <p:spPr>
          <a:xfrm flipV="1">
            <a:off x="2282024" y="858642"/>
            <a:ext cx="2286397" cy="70072"/>
          </a:xfrm>
          <a:prstGeom prst="hexagon">
            <a:avLst/>
          </a:prstGeom>
          <a:solidFill>
            <a:srgbClr val="A0BF0D"/>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0" name="六边形 19"/>
          <p:cNvSpPr/>
          <p:nvPr/>
        </p:nvSpPr>
        <p:spPr>
          <a:xfrm flipV="1">
            <a:off x="4564048" y="858642"/>
            <a:ext cx="2286397" cy="70072"/>
          </a:xfrm>
          <a:prstGeom prst="hexag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1" name="六边形 20"/>
          <p:cNvSpPr/>
          <p:nvPr/>
        </p:nvSpPr>
        <p:spPr>
          <a:xfrm flipV="1">
            <a:off x="6859192" y="858642"/>
            <a:ext cx="2286397" cy="70072"/>
          </a:xfrm>
          <a:prstGeom prst="hexagon">
            <a:avLst/>
          </a:prstGeom>
          <a:solidFill>
            <a:srgbClr val="F5841C"/>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200"/>
                                        <p:tgtEl>
                                          <p:spTgt spid="36"/>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barn(outVertical)">
                                      <p:cBhvr>
                                        <p:cTn id="11" dur="1000"/>
                                        <p:tgtEl>
                                          <p:spTgt spid="42"/>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p:tgtEl>
                                          <p:spTgt spid="41"/>
                                        </p:tgtEl>
                                        <p:attrNameLst>
                                          <p:attrName>ppt_y</p:attrName>
                                        </p:attrNameLst>
                                      </p:cBhvr>
                                      <p:tavLst>
                                        <p:tav tm="0">
                                          <p:val>
                                            <p:strVal val="#ppt_y+#ppt_h*1.125000"/>
                                          </p:val>
                                        </p:tav>
                                        <p:tav tm="100000">
                                          <p:val>
                                            <p:strVal val="#ppt_y"/>
                                          </p:val>
                                        </p:tav>
                                      </p:tavLst>
                                    </p:anim>
                                    <p:animEffect transition="in" filter="wipe(up)">
                                      <p:cBhvr>
                                        <p:cTn id="16" dur="500"/>
                                        <p:tgtEl>
                                          <p:spTgt spid="4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2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2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41" grpId="0"/>
      <p:bldP spid="42" grpId="0"/>
      <p:bldP spid="19" grpId="0" animBg="1"/>
      <p:bldP spid="20" grpId="0" animBg="1"/>
      <p:bldP spid="2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  </a:t>
            </a:r>
            <a:r>
              <a:rPr lang="zh-CN" altLang="en-US" sz="2100" b="1" dirty="0">
                <a:solidFill>
                  <a:schemeClr val="tx1">
                    <a:lumMod val="75000"/>
                    <a:lumOff val="25000"/>
                  </a:schemeClr>
                </a:solidFill>
                <a:latin typeface="微软雅黑" panose="020B0503020204020204" pitchFamily="34" charset="-122"/>
              </a:rPr>
              <a:t>图像的配准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2" name="文本框 1"/>
          <p:cNvSpPr txBox="1"/>
          <p:nvPr/>
        </p:nvSpPr>
        <p:spPr>
          <a:xfrm>
            <a:off x="540346" y="1184516"/>
            <a:ext cx="7560840" cy="415498"/>
          </a:xfrm>
          <a:prstGeom prst="rect">
            <a:avLst/>
          </a:prstGeom>
          <a:noFill/>
        </p:spPr>
        <p:txBody>
          <a:bodyPr wrap="square" rtlCol="0">
            <a:spAutoFit/>
          </a:bodyPr>
          <a:lstStyle/>
          <a:p>
            <a:pPr algn="just">
              <a:spcBef>
                <a:spcPts val="1200"/>
              </a:spcBef>
              <a:spcAft>
                <a:spcPts val="600"/>
              </a:spcAft>
            </a:pPr>
            <a:r>
              <a:rPr lang="en-US" altLang="zh-CN" b="1" kern="100" dirty="0">
                <a:effectLst/>
                <a:latin typeface="Arial" panose="020B0604020202090204" pitchFamily="34" charset="0"/>
                <a:ea typeface="宋体" pitchFamily="2" charset="-122"/>
                <a:cs typeface="Times New Roman" panose="02020603050405020304" pitchFamily="18" charset="0"/>
              </a:rPr>
              <a:t>4.7.1  </a:t>
            </a:r>
            <a:r>
              <a:rPr lang="zh-CN" altLang="zh-CN" b="1" kern="100" dirty="0">
                <a:effectLst/>
                <a:latin typeface="Arial" panose="020B0604020202090204" pitchFamily="34" charset="0"/>
                <a:ea typeface="宋体" pitchFamily="2" charset="-122"/>
                <a:cs typeface="Times New Roman" panose="02020603050405020304" pitchFamily="18" charset="0"/>
              </a:rPr>
              <a:t>图像配准的基本原理</a:t>
            </a:r>
            <a:endParaRPr lang="zh-CN" altLang="zh-CN" b="1" kern="100" dirty="0">
              <a:effectLst/>
              <a:latin typeface="Arial" panose="020B0604020202090204" pitchFamily="34" charset="0"/>
              <a:ea typeface="宋体" pitchFamily="2" charset="-122"/>
              <a:cs typeface="Times New Roman" panose="02020603050405020304" pitchFamily="18" charset="0"/>
            </a:endParaRPr>
          </a:p>
        </p:txBody>
      </p:sp>
      <p:sp>
        <p:nvSpPr>
          <p:cNvPr id="6" name="文本框 5"/>
          <p:cNvSpPr txBox="1"/>
          <p:nvPr/>
        </p:nvSpPr>
        <p:spPr>
          <a:xfrm>
            <a:off x="612354" y="1687988"/>
            <a:ext cx="8136904" cy="1708160"/>
          </a:xfrm>
          <a:prstGeom prst="rect">
            <a:avLst/>
          </a:prstGeom>
          <a:noFill/>
        </p:spPr>
        <p:txBody>
          <a:bodyPr wrap="square" rtlCol="0">
            <a:spAutoFit/>
          </a:bodyPr>
          <a:lstStyle/>
          <a:p>
            <a:r>
              <a:rPr lang="zh-CN" altLang="en-US" dirty="0"/>
              <a:t>        图像配准是图像处理领域的一个典型问题和技术难点，其目的在于比较或融合针对同一对象在不同条件下获取的图像。具体地说，对于一组图像中的两幅图像，通过寻找一种空间变换，把一幅图像映射到另一幅图像，使得两幅图像在空间中处于同一位置的点可以一一对应，达到信息融合的目的。</a:t>
            </a:r>
            <a:endParaRPr lang="zh-CN" altLang="en-US" dirty="0"/>
          </a:p>
        </p:txBody>
      </p:sp>
      <p:pic>
        <p:nvPicPr>
          <p:cNvPr id="4" name="图片 3"/>
          <p:cNvPicPr>
            <a:picLocks noChangeAspect="1"/>
          </p:cNvPicPr>
          <p:nvPr/>
        </p:nvPicPr>
        <p:blipFill>
          <a:blip r:embed="rId1"/>
          <a:stretch>
            <a:fillRect/>
          </a:stretch>
        </p:blipFill>
        <p:spPr>
          <a:xfrm>
            <a:off x="2592574" y="3463441"/>
            <a:ext cx="3456384" cy="272957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4.7.1  </a:t>
            </a:r>
            <a:r>
              <a:rPr lang="zh-CN" altLang="en-US" sz="2100" b="1" dirty="0">
                <a:solidFill>
                  <a:schemeClr val="tx1">
                    <a:lumMod val="75000"/>
                    <a:lumOff val="25000"/>
                  </a:schemeClr>
                </a:solidFill>
                <a:latin typeface="微软雅黑" panose="020B0503020204020204" pitchFamily="34" charset="-122"/>
              </a:rPr>
              <a:t>图像配准的基本原理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mc:AlternateContent xmlns:mc="http://schemas.openxmlformats.org/markup-compatibility/2006">
        <mc:Choice xmlns:a14="http://schemas.microsoft.com/office/drawing/2010/main" Requires="a14">
          <p:sp>
            <p:nvSpPr>
              <p:cNvPr id="13" name="文本框 12"/>
              <p:cNvSpPr txBox="1"/>
              <p:nvPr/>
            </p:nvSpPr>
            <p:spPr>
              <a:xfrm>
                <a:off x="590260" y="1208555"/>
                <a:ext cx="7965067" cy="1494155"/>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图像配准的核心是一个</a:t>
                </a:r>
                <a14:m>
                  <m:oMath xmlns:m="http://schemas.openxmlformats.org/officeDocument/2006/math">
                    <m:r>
                      <a:rPr lang="en-US" altLang="zh-CN" i="1" kern="100">
                        <a:effectLst/>
                        <a:latin typeface="Cambria Math" panose="02040503050406030204" pitchFamily="18" charset="0"/>
                        <a:ea typeface="宋体" pitchFamily="2" charset="-122"/>
                      </a:rPr>
                      <m:t>3</m:t>
                    </m:r>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3</m:t>
                    </m:r>
                  </m:oMath>
                </a14:m>
                <a:r>
                  <a:rPr lang="zh-CN" altLang="zh-CN" kern="100" dirty="0">
                    <a:effectLst/>
                    <a:latin typeface="Times New Roman" panose="02020603050405020304" pitchFamily="18" charset="0"/>
                    <a:ea typeface="宋体" pitchFamily="2" charset="-122"/>
                  </a:rPr>
                  <a:t>的</a:t>
                </a:r>
                <a:r>
                  <a:rPr lang="zh-CN" altLang="zh-CN" b="1" kern="100" dirty="0">
                    <a:effectLst/>
                    <a:latin typeface="Times New Roman" panose="02020603050405020304" pitchFamily="18" charset="0"/>
                    <a:ea typeface="宋体" pitchFamily="2" charset="-122"/>
                  </a:rPr>
                  <a:t>矩阵</a:t>
                </a:r>
                <a:r>
                  <a:rPr lang="en-US" altLang="zh-CN" b="1" kern="100" dirty="0">
                    <a:effectLst/>
                    <a:latin typeface="Times New Roman" panose="02020603050405020304" pitchFamily="18" charset="0"/>
                    <a:ea typeface="宋体" pitchFamily="2" charset="-122"/>
                  </a:rPr>
                  <a:t>H</a:t>
                </a:r>
                <a:r>
                  <a:rPr lang="zh-CN" altLang="zh-CN" kern="100" dirty="0">
                    <a:effectLst/>
                    <a:latin typeface="Times New Roman" panose="02020603050405020304" pitchFamily="18" charset="0"/>
                    <a:ea typeface="宋体" pitchFamily="2" charset="-122"/>
                  </a:rPr>
                  <a:t>，如</a:t>
                </a:r>
                <a:r>
                  <a:rPr lang="en-US" altLang="zh-CN" kern="100" dirty="0">
                    <a:effectLst/>
                    <a:latin typeface="Times New Roman" panose="02020603050405020304" pitchFamily="18" charset="0"/>
                    <a:ea typeface="宋体" pitchFamily="2" charset="-122"/>
                  </a:rPr>
                  <a:t> (4-23)</a:t>
                </a:r>
                <a:r>
                  <a:rPr lang="zh-CN" altLang="zh-CN" kern="100" dirty="0">
                    <a:effectLst/>
                    <a:latin typeface="Times New Roman" panose="02020603050405020304" pitchFamily="18" charset="0"/>
                    <a:ea typeface="宋体" pitchFamily="2" charset="-122"/>
                  </a:rPr>
                  <a:t>所示。假设</a:t>
                </a:r>
                <a:r>
                  <a:rPr lang="en-US" altLang="zh-CN" kern="100" dirty="0">
                    <a:effectLst/>
                    <a:latin typeface="Times New Roman" panose="02020603050405020304" pitchFamily="18" charset="0"/>
                    <a:ea typeface="宋体" pitchFamily="2" charset="-122"/>
                  </a:rPr>
                  <a:t>(x, y)</a:t>
                </a:r>
                <a:r>
                  <a:rPr lang="zh-CN" altLang="zh-CN" kern="100" dirty="0">
                    <a:effectLst/>
                    <a:latin typeface="Times New Roman" panose="02020603050405020304" pitchFamily="18" charset="0"/>
                    <a:ea typeface="宋体" pitchFamily="2" charset="-122"/>
                  </a:rPr>
                  <a:t>是源图像中任一特征像素点的坐标，</a:t>
                </a:r>
                <a14:m>
                  <m:oMath xmlns:m="http://schemas.openxmlformats.org/officeDocument/2006/math">
                    <m:r>
                      <a:rPr lang="en-US" altLang="zh-CN" i="1" kern="100">
                        <a:effectLst/>
                        <a:latin typeface="Cambria Math" panose="02040503050406030204" pitchFamily="18" charset="0"/>
                        <a:ea typeface="宋体" pitchFamily="2" charset="-122"/>
                      </a:rPr>
                      <m:t>(</m:t>
                    </m:r>
                    <m:sSup>
                      <m:sSupPr>
                        <m:ctrlPr>
                          <a:rPr lang="zh-CN" altLang="zh-CN" i="1" kern="100">
                            <a:effectLst/>
                            <a:latin typeface="Cambria Math" panose="02040503050406030204" pitchFamily="18" charset="0"/>
                            <a:ea typeface="Cambria Math" panose="02040503050406030204" pitchFamily="18" charset="0"/>
                          </a:rPr>
                        </m:ctrlPr>
                      </m:sSupPr>
                      <m:e>
                        <m:r>
                          <a:rPr lang="en-US" altLang="zh-CN" i="1" kern="100">
                            <a:effectLst/>
                            <a:latin typeface="Cambria Math" panose="02040503050406030204" pitchFamily="18" charset="0"/>
                            <a:ea typeface="宋体" pitchFamily="2" charset="-122"/>
                          </a:rPr>
                          <m:t>𝑥</m:t>
                        </m:r>
                      </m:e>
                      <m:sup>
                        <m:r>
                          <a:rPr lang="en-US" altLang="zh-CN" i="1" kern="100">
                            <a:effectLst/>
                            <a:latin typeface="Cambria Math" panose="02040503050406030204" pitchFamily="18" charset="0"/>
                            <a:ea typeface="宋体" pitchFamily="2" charset="-122"/>
                          </a:rPr>
                          <m:t>′</m:t>
                        </m:r>
                      </m:sup>
                    </m:sSup>
                    <m:r>
                      <a:rPr lang="en-US" altLang="zh-CN" i="1" kern="100">
                        <a:effectLst/>
                        <a:latin typeface="Cambria Math" panose="02040503050406030204" pitchFamily="18" charset="0"/>
                        <a:ea typeface="宋体" pitchFamily="2" charset="-122"/>
                      </a:rPr>
                      <m:t>,</m:t>
                    </m:r>
                    <m:sSup>
                      <m:sSupPr>
                        <m:ctrlPr>
                          <a:rPr lang="zh-CN" altLang="zh-CN" i="1" kern="100">
                            <a:effectLst/>
                            <a:latin typeface="Cambria Math" panose="02040503050406030204" pitchFamily="18" charset="0"/>
                            <a:ea typeface="Cambria Math" panose="02040503050406030204" pitchFamily="18" charset="0"/>
                          </a:rPr>
                        </m:ctrlPr>
                      </m:sSupPr>
                      <m:e>
                        <m:r>
                          <a:rPr lang="en-US" altLang="zh-CN" i="1" kern="100">
                            <a:effectLst/>
                            <a:latin typeface="Cambria Math" panose="02040503050406030204" pitchFamily="18" charset="0"/>
                            <a:ea typeface="宋体" pitchFamily="2" charset="-122"/>
                          </a:rPr>
                          <m:t>𝑦</m:t>
                        </m:r>
                      </m:e>
                      <m:sup>
                        <m:r>
                          <a:rPr lang="en-US" altLang="zh-CN" i="1" kern="100">
                            <a:effectLst/>
                            <a:latin typeface="Cambria Math" panose="02040503050406030204" pitchFamily="18" charset="0"/>
                            <a:ea typeface="宋体" pitchFamily="2" charset="-122"/>
                          </a:rPr>
                          <m:t>′</m:t>
                        </m:r>
                      </m:sup>
                    </m:sSup>
                    <m:r>
                      <a:rPr lang="en-US" altLang="zh-CN" i="1"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是目标图像中相应特征像素点的坐标，通过单应矩阵</a:t>
                </a:r>
                <a:r>
                  <a:rPr lang="en-US" altLang="zh-CN" kern="100" dirty="0">
                    <a:effectLst/>
                    <a:latin typeface="Times New Roman" panose="02020603050405020304" pitchFamily="18" charset="0"/>
                    <a:ea typeface="宋体" pitchFamily="2" charset="-122"/>
                  </a:rPr>
                  <a:t>H</a:t>
                </a:r>
                <a:r>
                  <a:rPr lang="zh-CN" altLang="zh-CN" kern="100" dirty="0">
                    <a:effectLst/>
                    <a:latin typeface="Times New Roman" panose="02020603050405020304" pitchFamily="18" charset="0"/>
                    <a:ea typeface="宋体" pitchFamily="2" charset="-122"/>
                  </a:rPr>
                  <a:t>实现两幅图像中特征像素点间的坐标变换以及两幅图像的配准，如公式</a:t>
                </a:r>
                <a:r>
                  <a:rPr lang="en-US" altLang="zh-CN" kern="100" dirty="0">
                    <a:effectLst/>
                    <a:latin typeface="Times New Roman" panose="02020603050405020304" pitchFamily="18" charset="0"/>
                    <a:ea typeface="宋体" pitchFamily="2" charset="-122"/>
                  </a:rPr>
                  <a:t> (4-24)</a:t>
                </a:r>
                <a:r>
                  <a:rPr lang="zh-CN" altLang="zh-CN" kern="100" dirty="0">
                    <a:effectLst/>
                    <a:latin typeface="Times New Roman" panose="02020603050405020304" pitchFamily="18" charset="0"/>
                    <a:ea typeface="宋体" pitchFamily="2" charset="-122"/>
                  </a:rPr>
                  <a:t>所示。</a:t>
                </a:r>
                <a:endParaRPr lang="zh-CN" altLang="zh-CN" kern="100" dirty="0">
                  <a:effectLst/>
                  <a:latin typeface="Times New Roman" panose="02020603050405020304" pitchFamily="18" charset="0"/>
                  <a:ea typeface="宋体" pitchFamily="2" charset="-122"/>
                </a:endParaRPr>
              </a:p>
            </p:txBody>
          </p:sp>
        </mc:Choice>
        <mc:Fallback>
          <p:sp>
            <p:nvSpPr>
              <p:cNvPr id="13" name="文本框 12"/>
              <p:cNvSpPr txBox="1">
                <a:spLocks noRot="1" noChangeAspect="1" noMove="1" noResize="1" noEditPoints="1" noAdjustHandles="1" noChangeArrowheads="1" noChangeShapeType="1" noTextEdit="1"/>
              </p:cNvSpPr>
              <p:nvPr/>
            </p:nvSpPr>
            <p:spPr>
              <a:xfrm>
                <a:off x="590260" y="1208555"/>
                <a:ext cx="7965067" cy="1494155"/>
              </a:xfrm>
              <a:prstGeom prst="rect">
                <a:avLst/>
              </a:prstGeom>
              <a:blipFill rotWithShape="1">
                <a:blip r:embed="rId1"/>
                <a:stretch>
                  <a:fillRect l="-4" t="-10" r="8" b="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2277916" y="2870089"/>
                <a:ext cx="4589754" cy="1119409"/>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𝐻</m:t>
                      </m:r>
                      <m:r>
                        <a:rPr lang="zh-CN" altLang="en-US" i="0">
                          <a:latin typeface="Cambria Math" panose="02040503050406030204" pitchFamily="18" charset="0"/>
                        </a:rPr>
                        <m:t>=</m:t>
                      </m:r>
                      <m:d>
                        <m:dPr>
                          <m:begChr m:val="["/>
                          <m:endChr m:val="]"/>
                          <m:ctrlPr>
                            <a:rPr lang="zh-CN" altLang="en-US" i="1">
                              <a:solidFill>
                                <a:srgbClr val="836967"/>
                              </a:solidFill>
                              <a:latin typeface="Cambria Math" panose="02040503050406030204" pitchFamily="18" charset="0"/>
                            </a:rPr>
                          </m:ctrlPr>
                        </m:dPr>
                        <m:e>
                          <m:m>
                            <m:mPr>
                              <m:mcs>
                                <m:mc>
                                  <m:mcPr>
                                    <m:count m:val="3"/>
                                    <m:mcJc m:val="center"/>
                                  </m:mcPr>
                                </m:mc>
                              </m:mcs>
                              <m:plcHide m:val="on"/>
                              <m:ctrlPr>
                                <a:rPr lang="zh-CN" altLang="en-US" i="1">
                                  <a:solidFill>
                                    <a:srgbClr val="836967"/>
                                  </a:solidFill>
                                  <a:latin typeface="Cambria Math" panose="02040503050406030204" pitchFamily="18" charset="0"/>
                                </a:rPr>
                              </m:ctrlPr>
                            </m:mPr>
                            <m:m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ℎ</m:t>
                                    </m:r>
                                  </m:e>
                                  <m:sub>
                                    <m:r>
                                      <a:rPr lang="zh-CN" altLang="en-US" i="0">
                                        <a:latin typeface="Cambria Math" panose="02040503050406030204" pitchFamily="18" charset="0"/>
                                      </a:rPr>
                                      <m:t>00</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ℎ</m:t>
                                    </m:r>
                                  </m:e>
                                  <m:sub>
                                    <m:r>
                                      <a:rPr lang="zh-CN" altLang="en-US" i="0">
                                        <a:latin typeface="Cambria Math" panose="02040503050406030204" pitchFamily="18" charset="0"/>
                                      </a:rPr>
                                      <m:t>01</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ℎ</m:t>
                                    </m:r>
                                  </m:e>
                                  <m:sub>
                                    <m:r>
                                      <a:rPr lang="zh-CN" altLang="en-US" i="0">
                                        <a:latin typeface="Cambria Math" panose="02040503050406030204" pitchFamily="18" charset="0"/>
                                      </a:rPr>
                                      <m:t>02</m:t>
                                    </m:r>
                                  </m:sub>
                                </m:sSub>
                              </m:e>
                            </m:mr>
                            <m:m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ℎ</m:t>
                                    </m:r>
                                  </m:e>
                                  <m:sub>
                                    <m:r>
                                      <a:rPr lang="zh-CN" altLang="en-US" i="0">
                                        <a:latin typeface="Cambria Math" panose="02040503050406030204" pitchFamily="18" charset="0"/>
                                      </a:rPr>
                                      <m:t>10</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ℎ</m:t>
                                    </m:r>
                                  </m:e>
                                  <m:sub>
                                    <m:r>
                                      <a:rPr lang="zh-CN" altLang="en-US" i="0">
                                        <a:latin typeface="Cambria Math" panose="02040503050406030204" pitchFamily="18" charset="0"/>
                                      </a:rPr>
                                      <m:t>11</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ℎ</m:t>
                                    </m:r>
                                  </m:e>
                                  <m:sub>
                                    <m:r>
                                      <a:rPr lang="zh-CN" altLang="en-US" i="0">
                                        <a:latin typeface="Cambria Math" panose="02040503050406030204" pitchFamily="18" charset="0"/>
                                      </a:rPr>
                                      <m:t>12</m:t>
                                    </m:r>
                                  </m:sub>
                                </m:sSub>
                              </m:e>
                            </m:mr>
                            <m:m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ℎ</m:t>
                                    </m:r>
                                  </m:e>
                                  <m:sub>
                                    <m:r>
                                      <a:rPr lang="zh-CN" altLang="en-US" i="0">
                                        <a:latin typeface="Cambria Math" panose="02040503050406030204" pitchFamily="18" charset="0"/>
                                      </a:rPr>
                                      <m:t>20</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ℎ</m:t>
                                    </m:r>
                                  </m:e>
                                  <m:sub>
                                    <m:r>
                                      <a:rPr lang="zh-CN" altLang="en-US" i="0">
                                        <a:latin typeface="Cambria Math" panose="02040503050406030204" pitchFamily="18" charset="0"/>
                                      </a:rPr>
                                      <m:t>21</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ℎ</m:t>
                                    </m:r>
                                  </m:e>
                                  <m:sub>
                                    <m:r>
                                      <a:rPr lang="zh-CN" altLang="en-US" i="0">
                                        <a:latin typeface="Cambria Math" panose="02040503050406030204" pitchFamily="18" charset="0"/>
                                      </a:rPr>
                                      <m:t>22</m:t>
                                    </m:r>
                                  </m:sub>
                                </m:sSub>
                              </m:e>
                            </m:mr>
                          </m:m>
                        </m:e>
                      </m:d>
                    </m:oMath>
                  </m:oMathPara>
                </a14:m>
                <a:endParaRPr lang="zh-CN" altLang="en-US" dirty="0"/>
              </a:p>
            </p:txBody>
          </p:sp>
        </mc:Choice>
        <mc:Fallback>
          <p:sp>
            <p:nvSpPr>
              <p:cNvPr id="15" name="文本框 14"/>
              <p:cNvSpPr txBox="1">
                <a:spLocks noRot="1" noChangeAspect="1" noMove="1" noResize="1" noEditPoints="1" noAdjustHandles="1" noChangeArrowheads="1" noChangeShapeType="1" noTextEdit="1"/>
              </p:cNvSpPr>
              <p:nvPr/>
            </p:nvSpPr>
            <p:spPr>
              <a:xfrm>
                <a:off x="2277916" y="2870089"/>
                <a:ext cx="4589754" cy="1119409"/>
              </a:xfrm>
              <a:prstGeom prst="rect">
                <a:avLst/>
              </a:prstGeom>
              <a:blipFill rotWithShape="1">
                <a:blip r:embed="rId2"/>
                <a:stretch>
                  <a:fillRect l="-4" t="-47" r="3" b="38"/>
                </a:stretch>
              </a:blipFill>
            </p:spPr>
            <p:txBody>
              <a:bodyPr/>
              <a:lstStyle/>
              <a:p>
                <a:r>
                  <a:rPr lang="zh-CN" altLang="en-US">
                    <a:noFill/>
                  </a:rPr>
                  <a:t> </a:t>
                </a:r>
              </a:p>
            </p:txBody>
          </p:sp>
        </mc:Fallback>
      </mc:AlternateContent>
      <p:sp>
        <p:nvSpPr>
          <p:cNvPr id="16" name="文本框 15"/>
          <p:cNvSpPr txBox="1"/>
          <p:nvPr/>
        </p:nvSpPr>
        <p:spPr>
          <a:xfrm>
            <a:off x="7597130" y="3014303"/>
            <a:ext cx="864096" cy="415490"/>
          </a:xfrm>
          <a:prstGeom prst="rect">
            <a:avLst/>
          </a:prstGeom>
          <a:noFill/>
        </p:spPr>
        <p:txBody>
          <a:bodyPr wrap="square">
            <a:spAutoFit/>
          </a:bodyPr>
          <a:lstStyle/>
          <a:p>
            <a:r>
              <a:rPr lang="en-US" altLang="zh-CN" dirty="0"/>
              <a:t>(4-23)</a:t>
            </a:r>
            <a:endParaRPr lang="en-US" altLang="zh-CN" dirty="0"/>
          </a:p>
        </p:txBody>
      </p:sp>
      <mc:AlternateContent xmlns:mc="http://schemas.openxmlformats.org/markup-compatibility/2006">
        <mc:Choice xmlns:a14="http://schemas.microsoft.com/office/drawing/2010/main" Requires="a14">
          <p:sp>
            <p:nvSpPr>
              <p:cNvPr id="18" name="文本框 17"/>
              <p:cNvSpPr txBox="1"/>
              <p:nvPr/>
            </p:nvSpPr>
            <p:spPr>
              <a:xfrm>
                <a:off x="2277916" y="4149874"/>
                <a:ext cx="4589754" cy="1119409"/>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d>
                        <m:dPr>
                          <m:begChr m:val="["/>
                          <m:endChr m:val="]"/>
                          <m:ctrlPr>
                            <a:rPr lang="zh-CN" altLang="en-US" i="1" smtClean="0">
                              <a:solidFill>
                                <a:srgbClr val="836967"/>
                              </a:solidFill>
                              <a:latin typeface="Cambria Math" panose="02040503050406030204" pitchFamily="18" charset="0"/>
                            </a:rPr>
                          </m:ctrlPr>
                        </m:dPr>
                        <m:e>
                          <m:m>
                            <m:mPr>
                              <m:mcs>
                                <m:mc>
                                  <m:mcPr>
                                    <m:count m:val="1"/>
                                    <m:mcJc m:val="center"/>
                                  </m:mcPr>
                                </m:mc>
                              </m:mcs>
                              <m:plcHide m:val="on"/>
                              <m:ctrlPr>
                                <a:rPr lang="zh-CN" altLang="en-US" i="1">
                                  <a:solidFill>
                                    <a:srgbClr val="836967"/>
                                  </a:solidFill>
                                  <a:latin typeface="Cambria Math" panose="02040503050406030204" pitchFamily="18" charset="0"/>
                                </a:rPr>
                              </m:ctrlPr>
                            </m:mPr>
                            <m:mr>
                              <m:e>
                                <m:r>
                                  <a:rPr lang="zh-CN" altLang="en-US" i="1">
                                    <a:latin typeface="Cambria Math" panose="02040503050406030204" pitchFamily="18" charset="0"/>
                                  </a:rPr>
                                  <m:t>𝑥</m:t>
                                </m:r>
                              </m:e>
                            </m:mr>
                            <m:mr>
                              <m:e>
                                <m:r>
                                  <a:rPr lang="zh-CN" altLang="en-US" i="1">
                                    <a:latin typeface="Cambria Math" panose="02040503050406030204" pitchFamily="18" charset="0"/>
                                  </a:rPr>
                                  <m:t>𝑦</m:t>
                                </m:r>
                              </m:e>
                            </m:mr>
                            <m:mr>
                              <m:e>
                                <m:r>
                                  <a:rPr lang="zh-CN" altLang="en-US" i="0">
                                    <a:latin typeface="Cambria Math" panose="02040503050406030204" pitchFamily="18" charset="0"/>
                                  </a:rPr>
                                  <m:t>1</m:t>
                                </m:r>
                              </m:e>
                            </m:mr>
                          </m:m>
                        </m:e>
                      </m:d>
                      <m:r>
                        <a:rPr lang="zh-CN" altLang="en-US" i="0">
                          <a:latin typeface="Cambria Math" panose="02040503050406030204" pitchFamily="18" charset="0"/>
                        </a:rPr>
                        <m:t>=</m:t>
                      </m:r>
                      <m:r>
                        <a:rPr lang="zh-CN" altLang="en-US" i="1">
                          <a:latin typeface="Cambria Math" panose="02040503050406030204" pitchFamily="18" charset="0"/>
                        </a:rPr>
                        <m:t>𝐻</m:t>
                      </m:r>
                      <m:d>
                        <m:dPr>
                          <m:begChr m:val="["/>
                          <m:endChr m:val="]"/>
                          <m:ctrlPr>
                            <a:rPr lang="zh-CN" altLang="en-US" i="1">
                              <a:solidFill>
                                <a:srgbClr val="836967"/>
                              </a:solidFill>
                              <a:latin typeface="Cambria Math" panose="02040503050406030204" pitchFamily="18" charset="0"/>
                            </a:rPr>
                          </m:ctrlPr>
                        </m:dPr>
                        <m:e>
                          <m:m>
                            <m:mPr>
                              <m:mcs>
                                <m:mc>
                                  <m:mcPr>
                                    <m:count m:val="1"/>
                                    <m:mcJc m:val="center"/>
                                  </m:mcPr>
                                </m:mc>
                              </m:mcs>
                              <m:plcHide m:val="on"/>
                              <m:ctrlPr>
                                <a:rPr lang="zh-CN" altLang="en-US" i="1">
                                  <a:solidFill>
                                    <a:srgbClr val="836967"/>
                                  </a:solidFill>
                                  <a:latin typeface="Cambria Math" panose="02040503050406030204" pitchFamily="18" charset="0"/>
                                </a:rPr>
                              </m:ctrlPr>
                            </m:mPr>
                            <m:mr>
                              <m:e>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𝑥</m:t>
                                    </m:r>
                                  </m:e>
                                  <m:sup>
                                    <m:r>
                                      <a:rPr lang="zh-CN" altLang="en-US" i="0">
                                        <a:latin typeface="Cambria Math" panose="02040503050406030204" pitchFamily="18" charset="0"/>
                                      </a:rPr>
                                      <m:t>′</m:t>
                                    </m:r>
                                  </m:sup>
                                </m:sSup>
                              </m:e>
                            </m:mr>
                            <m:mr>
                              <m:e>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𝑦</m:t>
                                    </m:r>
                                  </m:e>
                                  <m:sup>
                                    <m:r>
                                      <a:rPr lang="zh-CN" altLang="en-US" i="0">
                                        <a:latin typeface="Cambria Math" panose="02040503050406030204" pitchFamily="18" charset="0"/>
                                      </a:rPr>
                                      <m:t>′</m:t>
                                    </m:r>
                                  </m:sup>
                                </m:sSup>
                              </m:e>
                            </m:mr>
                            <m:mr>
                              <m:e>
                                <m:r>
                                  <a:rPr lang="zh-CN" altLang="en-US" i="0">
                                    <a:latin typeface="Cambria Math" panose="02040503050406030204" pitchFamily="18" charset="0"/>
                                  </a:rPr>
                                  <m:t>1</m:t>
                                </m:r>
                              </m:e>
                            </m:mr>
                          </m:m>
                        </m:e>
                      </m:d>
                      <m:r>
                        <a:rPr lang="zh-CN" altLang="en-US" i="0">
                          <a:latin typeface="Cambria Math" panose="02040503050406030204" pitchFamily="18" charset="0"/>
                        </a:rPr>
                        <m:t>=</m:t>
                      </m:r>
                      <m:d>
                        <m:dPr>
                          <m:begChr m:val="["/>
                          <m:endChr m:val="]"/>
                          <m:ctrlPr>
                            <a:rPr lang="zh-CN" altLang="en-US" i="1">
                              <a:solidFill>
                                <a:srgbClr val="836967"/>
                              </a:solidFill>
                              <a:latin typeface="Cambria Math" panose="02040503050406030204" pitchFamily="18" charset="0"/>
                            </a:rPr>
                          </m:ctrlPr>
                        </m:dPr>
                        <m:e>
                          <m:m>
                            <m:mPr>
                              <m:mcs>
                                <m:mc>
                                  <m:mcPr>
                                    <m:count m:val="3"/>
                                    <m:mcJc m:val="center"/>
                                  </m:mcPr>
                                </m:mc>
                              </m:mcs>
                              <m:plcHide m:val="on"/>
                              <m:ctrlPr>
                                <a:rPr lang="zh-CN" altLang="en-US" i="1">
                                  <a:solidFill>
                                    <a:srgbClr val="836967"/>
                                  </a:solidFill>
                                  <a:latin typeface="Cambria Math" panose="02040503050406030204" pitchFamily="18" charset="0"/>
                                </a:rPr>
                              </m:ctrlPr>
                            </m:mPr>
                            <m:m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ℎ</m:t>
                                    </m:r>
                                  </m:e>
                                  <m:sub>
                                    <m:r>
                                      <a:rPr lang="zh-CN" altLang="en-US" i="0">
                                        <a:latin typeface="Cambria Math" panose="02040503050406030204" pitchFamily="18" charset="0"/>
                                      </a:rPr>
                                      <m:t>00</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ℎ</m:t>
                                    </m:r>
                                  </m:e>
                                  <m:sub>
                                    <m:r>
                                      <a:rPr lang="zh-CN" altLang="en-US" i="0">
                                        <a:latin typeface="Cambria Math" panose="02040503050406030204" pitchFamily="18" charset="0"/>
                                      </a:rPr>
                                      <m:t>01</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ℎ</m:t>
                                    </m:r>
                                  </m:e>
                                  <m:sub>
                                    <m:r>
                                      <a:rPr lang="zh-CN" altLang="en-US" i="0">
                                        <a:latin typeface="Cambria Math" panose="02040503050406030204" pitchFamily="18" charset="0"/>
                                      </a:rPr>
                                      <m:t>02</m:t>
                                    </m:r>
                                  </m:sub>
                                </m:sSub>
                              </m:e>
                            </m:mr>
                            <m:m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ℎ</m:t>
                                    </m:r>
                                  </m:e>
                                  <m:sub>
                                    <m:r>
                                      <a:rPr lang="zh-CN" altLang="en-US" i="0">
                                        <a:latin typeface="Cambria Math" panose="02040503050406030204" pitchFamily="18" charset="0"/>
                                      </a:rPr>
                                      <m:t>10</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ℎ</m:t>
                                    </m:r>
                                  </m:e>
                                  <m:sub>
                                    <m:r>
                                      <a:rPr lang="zh-CN" altLang="en-US" i="0">
                                        <a:latin typeface="Cambria Math" panose="02040503050406030204" pitchFamily="18" charset="0"/>
                                      </a:rPr>
                                      <m:t>11</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ℎ</m:t>
                                    </m:r>
                                  </m:e>
                                  <m:sub>
                                    <m:r>
                                      <a:rPr lang="zh-CN" altLang="en-US" i="0">
                                        <a:latin typeface="Cambria Math" panose="02040503050406030204" pitchFamily="18" charset="0"/>
                                      </a:rPr>
                                      <m:t>12</m:t>
                                    </m:r>
                                  </m:sub>
                                </m:sSub>
                              </m:e>
                            </m:mr>
                            <m:m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ℎ</m:t>
                                    </m:r>
                                  </m:e>
                                  <m:sub>
                                    <m:r>
                                      <a:rPr lang="zh-CN" altLang="en-US" i="0">
                                        <a:latin typeface="Cambria Math" panose="02040503050406030204" pitchFamily="18" charset="0"/>
                                      </a:rPr>
                                      <m:t>20</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ℎ</m:t>
                                    </m:r>
                                  </m:e>
                                  <m:sub>
                                    <m:r>
                                      <a:rPr lang="zh-CN" altLang="en-US" i="0">
                                        <a:latin typeface="Cambria Math" panose="02040503050406030204" pitchFamily="18" charset="0"/>
                                      </a:rPr>
                                      <m:t>21</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ℎ</m:t>
                                    </m:r>
                                  </m:e>
                                  <m:sub>
                                    <m:r>
                                      <a:rPr lang="zh-CN" altLang="en-US" i="0">
                                        <a:latin typeface="Cambria Math" panose="02040503050406030204" pitchFamily="18" charset="0"/>
                                      </a:rPr>
                                      <m:t>22</m:t>
                                    </m:r>
                                  </m:sub>
                                </m:sSub>
                              </m:e>
                            </m:mr>
                          </m:m>
                        </m:e>
                      </m:d>
                      <m:d>
                        <m:dPr>
                          <m:begChr m:val="["/>
                          <m:endChr m:val="]"/>
                          <m:ctrlPr>
                            <a:rPr lang="zh-CN" altLang="en-US" i="1">
                              <a:solidFill>
                                <a:srgbClr val="836967"/>
                              </a:solidFill>
                              <a:latin typeface="Cambria Math" panose="02040503050406030204" pitchFamily="18" charset="0"/>
                            </a:rPr>
                          </m:ctrlPr>
                        </m:dPr>
                        <m:e>
                          <m:m>
                            <m:mPr>
                              <m:mcs>
                                <m:mc>
                                  <m:mcPr>
                                    <m:count m:val="1"/>
                                    <m:mcJc m:val="center"/>
                                  </m:mcPr>
                                </m:mc>
                              </m:mcs>
                              <m:plcHide m:val="on"/>
                              <m:ctrlPr>
                                <a:rPr lang="zh-CN" altLang="en-US" i="1">
                                  <a:solidFill>
                                    <a:srgbClr val="836967"/>
                                  </a:solidFill>
                                  <a:latin typeface="Cambria Math" panose="02040503050406030204" pitchFamily="18" charset="0"/>
                                </a:rPr>
                              </m:ctrlPr>
                            </m:mPr>
                            <m:mr>
                              <m:e>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𝑥</m:t>
                                    </m:r>
                                  </m:e>
                                  <m:sup>
                                    <m:r>
                                      <a:rPr lang="zh-CN" altLang="en-US" i="0">
                                        <a:latin typeface="Cambria Math" panose="02040503050406030204" pitchFamily="18" charset="0"/>
                                      </a:rPr>
                                      <m:t>′</m:t>
                                    </m:r>
                                  </m:sup>
                                </m:sSup>
                              </m:e>
                            </m:mr>
                            <m:mr>
                              <m:e>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𝑦</m:t>
                                    </m:r>
                                  </m:e>
                                  <m:sup>
                                    <m:r>
                                      <a:rPr lang="zh-CN" altLang="en-US" i="0">
                                        <a:latin typeface="Cambria Math" panose="02040503050406030204" pitchFamily="18" charset="0"/>
                                      </a:rPr>
                                      <m:t>′</m:t>
                                    </m:r>
                                  </m:sup>
                                </m:sSup>
                              </m:e>
                            </m:mr>
                            <m:mr>
                              <m:e>
                                <m:r>
                                  <a:rPr lang="zh-CN" altLang="en-US" i="0">
                                    <a:latin typeface="Cambria Math" panose="02040503050406030204" pitchFamily="18" charset="0"/>
                                  </a:rPr>
                                  <m:t>1</m:t>
                                </m:r>
                              </m:e>
                            </m:mr>
                          </m:m>
                        </m:e>
                      </m:d>
                    </m:oMath>
                  </m:oMathPara>
                </a14:m>
                <a:endParaRPr lang="zh-CN" altLang="en-US" dirty="0"/>
              </a:p>
            </p:txBody>
          </p:sp>
        </mc:Choice>
        <mc:Fallback>
          <p:sp>
            <p:nvSpPr>
              <p:cNvPr id="18" name="文本框 17"/>
              <p:cNvSpPr txBox="1">
                <a:spLocks noRot="1" noChangeAspect="1" noMove="1" noResize="1" noEditPoints="1" noAdjustHandles="1" noChangeArrowheads="1" noChangeShapeType="1" noTextEdit="1"/>
              </p:cNvSpPr>
              <p:nvPr/>
            </p:nvSpPr>
            <p:spPr>
              <a:xfrm>
                <a:off x="2277916" y="4149874"/>
                <a:ext cx="4589754" cy="1119409"/>
              </a:xfrm>
              <a:prstGeom prst="rect">
                <a:avLst/>
              </a:prstGeom>
              <a:blipFill rotWithShape="1">
                <a:blip r:embed="rId3"/>
                <a:stretch>
                  <a:fillRect l="-4" t="-13" r="3" b="5"/>
                </a:stretch>
              </a:blipFill>
            </p:spPr>
            <p:txBody>
              <a:bodyPr/>
              <a:lstStyle/>
              <a:p>
                <a:r>
                  <a:rPr lang="zh-CN" altLang="en-US">
                    <a:noFill/>
                  </a:rPr>
                  <a:t> </a:t>
                </a:r>
              </a:p>
            </p:txBody>
          </p:sp>
        </mc:Fallback>
      </mc:AlternateContent>
      <p:sp>
        <p:nvSpPr>
          <p:cNvPr id="19" name="文本框 18"/>
          <p:cNvSpPr txBox="1"/>
          <p:nvPr/>
        </p:nvSpPr>
        <p:spPr>
          <a:xfrm>
            <a:off x="7597130" y="4501833"/>
            <a:ext cx="864096" cy="415490"/>
          </a:xfrm>
          <a:prstGeom prst="rect">
            <a:avLst/>
          </a:prstGeom>
          <a:noFill/>
        </p:spPr>
        <p:txBody>
          <a:bodyPr wrap="square">
            <a:spAutoFit/>
          </a:bodyPr>
          <a:lstStyle/>
          <a:p>
            <a:r>
              <a:rPr lang="en-US" altLang="zh-CN" dirty="0"/>
              <a:t>(4-24)</a:t>
            </a:r>
            <a:endParaRPr lang="en-US" altLang="zh-CN" dirty="0"/>
          </a:p>
        </p:txBody>
      </p:sp>
      <p:sp>
        <p:nvSpPr>
          <p:cNvPr id="21" name="文本框 20"/>
          <p:cNvSpPr txBox="1"/>
          <p:nvPr/>
        </p:nvSpPr>
        <p:spPr>
          <a:xfrm>
            <a:off x="590260" y="5600041"/>
            <a:ext cx="7965067" cy="1061829"/>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本节将介绍一种基于特征的图像配准方法。这种方法是先提取出源图像中的大量特征点，然后在目标图像中寻找与之匹配的特征点。</a:t>
            </a:r>
            <a:endParaRPr lang="zh-CN" altLang="zh-CN" kern="100" dirty="0">
              <a:effectLst/>
              <a:latin typeface="Times New Roman" panose="0202060305040502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4.7.2  </a:t>
            </a:r>
            <a:r>
              <a:rPr lang="zh-CN" altLang="en-US" sz="2100" b="1" dirty="0">
                <a:solidFill>
                  <a:schemeClr val="tx1">
                    <a:lumMod val="75000"/>
                    <a:lumOff val="25000"/>
                  </a:schemeClr>
                </a:solidFill>
                <a:latin typeface="微软雅黑" panose="020B0503020204020204" pitchFamily="34" charset="-122"/>
              </a:rPr>
              <a:t>提取特征点</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17" name="文本框 16"/>
          <p:cNvSpPr txBox="1"/>
          <p:nvPr/>
        </p:nvSpPr>
        <p:spPr>
          <a:xfrm>
            <a:off x="612354" y="1286819"/>
            <a:ext cx="7920880" cy="1742636"/>
          </a:xfrm>
          <a:prstGeom prst="rect">
            <a:avLst/>
          </a:prstGeom>
          <a:noFill/>
        </p:spPr>
        <p:txBody>
          <a:bodyPr wrap="square">
            <a:spAutoFit/>
          </a:bodyPr>
          <a:lstStyle/>
          <a:p>
            <a:r>
              <a:rPr lang="zh-CN" altLang="en-US" dirty="0"/>
              <a:t>        在图像处理中，特征点指的是图像灰度值发生剧烈变化的点或者在图像边缘上曲率较大的点</a:t>
            </a:r>
            <a:r>
              <a:rPr lang="en-US" altLang="zh-CN" dirty="0"/>
              <a:t>(</a:t>
            </a:r>
            <a:r>
              <a:rPr lang="zh-CN" altLang="en-US" dirty="0"/>
              <a:t>即两个边缘的交点</a:t>
            </a:r>
            <a:r>
              <a:rPr lang="en-US" altLang="zh-CN" dirty="0"/>
              <a:t>)</a:t>
            </a:r>
            <a:r>
              <a:rPr lang="zh-CN" altLang="en-US" dirty="0"/>
              <a:t>。图像特征点在基于特征点的图像匹配算法中十分重要。图像特征点能够反映图像的本质特征，能够标识图像中的目标物体。通过特征点的匹配能够完成图像的配准。</a:t>
            </a:r>
            <a:endParaRPr lang="zh-CN" altLang="en-US" dirty="0"/>
          </a:p>
        </p:txBody>
      </p:sp>
      <p:pic>
        <p:nvPicPr>
          <p:cNvPr id="3" name="图片 2"/>
          <p:cNvPicPr>
            <a:picLocks noChangeAspect="1"/>
          </p:cNvPicPr>
          <p:nvPr/>
        </p:nvPicPr>
        <p:blipFill>
          <a:blip r:embed="rId1"/>
          <a:stretch>
            <a:fillRect/>
          </a:stretch>
        </p:blipFill>
        <p:spPr>
          <a:xfrm>
            <a:off x="1943412" y="3228473"/>
            <a:ext cx="4865606" cy="306460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4.7.2  </a:t>
            </a:r>
            <a:r>
              <a:rPr lang="zh-CN" altLang="en-US" sz="2100" b="1" dirty="0">
                <a:solidFill>
                  <a:schemeClr val="tx1">
                    <a:lumMod val="75000"/>
                    <a:lumOff val="25000"/>
                  </a:schemeClr>
                </a:solidFill>
                <a:latin typeface="微软雅黑" panose="020B0503020204020204" pitchFamily="34" charset="-122"/>
              </a:rPr>
              <a:t>提取特征点</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13" name="文本框 12"/>
          <p:cNvSpPr txBox="1"/>
          <p:nvPr/>
        </p:nvSpPr>
        <p:spPr>
          <a:xfrm>
            <a:off x="608278" y="1320702"/>
            <a:ext cx="7780940" cy="1061829"/>
          </a:xfrm>
          <a:prstGeom prst="rect">
            <a:avLst/>
          </a:prstGeom>
          <a:noFill/>
        </p:spPr>
        <p:txBody>
          <a:bodyPr wrap="square">
            <a:spAutoFit/>
          </a:bodyPr>
          <a:lstStyle/>
          <a:p>
            <a:r>
              <a:rPr lang="en-US" altLang="zh-CN" kern="100" dirty="0">
                <a:solidFill>
                  <a:srgbClr val="000000"/>
                </a:solidFill>
                <a:effectLst/>
                <a:latin typeface="Times New Roman" panose="02020603050405020304" pitchFamily="18" charset="0"/>
                <a:ea typeface="宋体" pitchFamily="2" charset="-122"/>
                <a:cs typeface="Times New Roman" panose="02020603050405020304" pitchFamily="18" charset="0"/>
              </a:rPr>
              <a:t>        </a:t>
            </a:r>
            <a:r>
              <a:rPr lang="zh-CN" altLang="zh-CN" kern="100" dirty="0">
                <a:solidFill>
                  <a:srgbClr val="000000"/>
                </a:solidFill>
                <a:effectLst/>
                <a:latin typeface="Times New Roman" panose="02020603050405020304" pitchFamily="18" charset="0"/>
                <a:ea typeface="宋体" pitchFamily="2" charset="-122"/>
                <a:cs typeface="Times New Roman" panose="02020603050405020304" pitchFamily="18" charset="0"/>
              </a:rPr>
              <a:t>本节将使用</a:t>
            </a:r>
            <a:r>
              <a:rPr lang="en-US" altLang="zh-CN" kern="100" dirty="0">
                <a:solidFill>
                  <a:srgbClr val="000000"/>
                </a:solidFill>
                <a:effectLst/>
                <a:latin typeface="Times New Roman" panose="02020603050405020304" pitchFamily="18" charset="0"/>
                <a:ea typeface="宋体" pitchFamily="2" charset="-122"/>
              </a:rPr>
              <a:t>ORB (Oriented FAST and Rotated BRIEF)</a:t>
            </a:r>
            <a:r>
              <a:rPr lang="zh-CN" altLang="zh-CN" kern="100" dirty="0">
                <a:solidFill>
                  <a:srgbClr val="000000"/>
                </a:solidFill>
                <a:effectLst/>
                <a:latin typeface="Times New Roman" panose="02020603050405020304" pitchFamily="18" charset="0"/>
                <a:ea typeface="宋体" pitchFamily="2" charset="-122"/>
                <a:cs typeface="Times New Roman" panose="02020603050405020304" pitchFamily="18" charset="0"/>
              </a:rPr>
              <a:t>算法提取特征点。</a:t>
            </a:r>
            <a:r>
              <a:rPr lang="en-US" altLang="zh-CN" kern="100" dirty="0">
                <a:solidFill>
                  <a:srgbClr val="000000"/>
                </a:solidFill>
                <a:effectLst/>
                <a:latin typeface="Times New Roman" panose="02020603050405020304" pitchFamily="18" charset="0"/>
                <a:ea typeface="宋体" pitchFamily="2" charset="-122"/>
              </a:rPr>
              <a:t>ORB</a:t>
            </a:r>
            <a:r>
              <a:rPr lang="zh-CN" altLang="zh-CN" kern="100" dirty="0">
                <a:solidFill>
                  <a:srgbClr val="000000"/>
                </a:solidFill>
                <a:effectLst/>
                <a:latin typeface="Times New Roman" panose="02020603050405020304" pitchFamily="18" charset="0"/>
                <a:ea typeface="宋体" pitchFamily="2" charset="-122"/>
                <a:cs typeface="Times New Roman" panose="02020603050405020304" pitchFamily="18" charset="0"/>
              </a:rPr>
              <a:t>算法是一种快速特征点提取和描述的算法。</a:t>
            </a:r>
            <a:r>
              <a:rPr lang="en-US" altLang="zh-CN" kern="100" dirty="0">
                <a:solidFill>
                  <a:srgbClr val="000000"/>
                </a:solidFill>
                <a:effectLst/>
                <a:latin typeface="Times New Roman" panose="02020603050405020304" pitchFamily="18" charset="0"/>
                <a:ea typeface="宋体" pitchFamily="2" charset="-122"/>
              </a:rPr>
              <a:t>ORB</a:t>
            </a:r>
            <a:r>
              <a:rPr lang="zh-CN" altLang="zh-CN" kern="100" dirty="0">
                <a:solidFill>
                  <a:srgbClr val="000000"/>
                </a:solidFill>
                <a:effectLst/>
                <a:latin typeface="Times New Roman" panose="02020603050405020304" pitchFamily="18" charset="0"/>
                <a:ea typeface="宋体" pitchFamily="2" charset="-122"/>
                <a:cs typeface="Times New Roman" panose="02020603050405020304" pitchFamily="18" charset="0"/>
              </a:rPr>
              <a:t>算法包括两部分，分别是特征点检测和特征点描述。</a:t>
            </a:r>
            <a:endParaRPr lang="zh-CN" altLang="en-US" dirty="0"/>
          </a:p>
        </p:txBody>
      </p:sp>
      <p:sp>
        <p:nvSpPr>
          <p:cNvPr id="15" name="文本框 14"/>
          <p:cNvSpPr txBox="1"/>
          <p:nvPr/>
        </p:nvSpPr>
        <p:spPr>
          <a:xfrm>
            <a:off x="1281410" y="2425199"/>
            <a:ext cx="4589754" cy="415498"/>
          </a:xfrm>
          <a:prstGeom prst="rect">
            <a:avLst/>
          </a:prstGeom>
          <a:noFill/>
        </p:spPr>
        <p:txBody>
          <a:bodyPr wrap="square">
            <a:spAutoFit/>
          </a:bodyPr>
          <a:lstStyle/>
          <a:p>
            <a:r>
              <a:rPr lang="en-US" altLang="zh-CN" b="1" dirty="0"/>
              <a:t>1</a:t>
            </a:r>
            <a:r>
              <a:rPr lang="zh-CN" altLang="en-US" b="1" dirty="0"/>
              <a:t>．特征点检测 </a:t>
            </a:r>
            <a:endParaRPr lang="zh-CN" altLang="en-US" b="1" dirty="0"/>
          </a:p>
        </p:txBody>
      </p:sp>
      <p:sp>
        <p:nvSpPr>
          <p:cNvPr id="18" name="文本框 17"/>
          <p:cNvSpPr txBox="1"/>
          <p:nvPr/>
        </p:nvSpPr>
        <p:spPr>
          <a:xfrm>
            <a:off x="690293" y="2865851"/>
            <a:ext cx="7729728" cy="1061829"/>
          </a:xfrm>
          <a:prstGeom prst="rect">
            <a:avLst/>
          </a:prstGeom>
          <a:noFill/>
        </p:spPr>
        <p:txBody>
          <a:bodyPr wrap="square">
            <a:spAutoFit/>
          </a:bodyPr>
          <a:lstStyle/>
          <a:p>
            <a:r>
              <a:rPr lang="en-US" altLang="zh-CN" kern="100" dirty="0">
                <a:effectLst/>
                <a:latin typeface="Times New Roman" panose="02020603050405020304" pitchFamily="18" charset="0"/>
                <a:ea typeface="宋体" pitchFamily="2" charset="-122"/>
              </a:rPr>
              <a:t>        ORB</a:t>
            </a:r>
            <a:r>
              <a:rPr lang="zh-CN" altLang="zh-CN" kern="100" dirty="0">
                <a:effectLst/>
                <a:latin typeface="Times New Roman" panose="02020603050405020304" pitchFamily="18" charset="0"/>
                <a:ea typeface="宋体" pitchFamily="2" charset="-122"/>
                <a:cs typeface="Times New Roman" panose="02020603050405020304" pitchFamily="18" charset="0"/>
              </a:rPr>
              <a:t>采用</a:t>
            </a:r>
            <a:r>
              <a:rPr lang="en-US" altLang="zh-CN" kern="100" dirty="0">
                <a:effectLst/>
                <a:latin typeface="Times New Roman" panose="02020603050405020304" pitchFamily="18" charset="0"/>
                <a:ea typeface="宋体" pitchFamily="2" charset="-122"/>
              </a:rPr>
              <a:t>FAST</a:t>
            </a:r>
            <a:r>
              <a:rPr lang="zh-CN" altLang="zh-CN" kern="100" dirty="0">
                <a:effectLst/>
                <a:latin typeface="Times New Roman" panose="02020603050405020304" pitchFamily="18" charset="0"/>
                <a:ea typeface="宋体" pitchFamily="2" charset="-122"/>
                <a:cs typeface="Times New Roman" panose="02020603050405020304" pitchFamily="18" charset="0"/>
              </a:rPr>
              <a:t>算法来检测特征点。图像的特征点可以简单的理解为图像中比较显著的点，如轮廓点、较暗区域中的亮点、较亮区域中的暗点等。</a:t>
            </a:r>
            <a:endParaRPr lang="zh-CN" altLang="en-US" dirty="0"/>
          </a:p>
        </p:txBody>
      </p:sp>
      <p:sp>
        <p:nvSpPr>
          <p:cNvPr id="19" name="文本框 18"/>
          <p:cNvSpPr txBox="1"/>
          <p:nvPr/>
        </p:nvSpPr>
        <p:spPr>
          <a:xfrm>
            <a:off x="972394" y="3874359"/>
            <a:ext cx="4589754" cy="521746"/>
          </a:xfrm>
          <a:prstGeom prst="rect">
            <a:avLst/>
          </a:prstGeom>
          <a:noFill/>
        </p:spPr>
        <p:txBody>
          <a:bodyPr wrap="square">
            <a:spAutoFit/>
          </a:bodyPr>
          <a:lstStyle/>
          <a:p>
            <a:pPr indent="266700">
              <a:lnSpc>
                <a:spcPct val="150000"/>
              </a:lnSpc>
            </a:pPr>
            <a:r>
              <a:rPr lang="en-US" altLang="zh-CN" b="1" dirty="0"/>
              <a:t>2</a:t>
            </a:r>
            <a:r>
              <a:rPr lang="zh-CN" altLang="zh-CN" b="1" dirty="0"/>
              <a:t>．</a:t>
            </a:r>
            <a:r>
              <a:rPr lang="en-US" altLang="zh-CN" b="1" dirty="0"/>
              <a:t>FAST</a:t>
            </a:r>
            <a:r>
              <a:rPr lang="zh-CN" altLang="zh-CN" b="1" dirty="0"/>
              <a:t>算法改进 </a:t>
            </a:r>
            <a:endParaRPr lang="zh-CN" altLang="zh-CN" b="1" dirty="0"/>
          </a:p>
        </p:txBody>
      </p:sp>
      <p:sp>
        <p:nvSpPr>
          <p:cNvPr id="21" name="文本框 20"/>
          <p:cNvSpPr txBox="1"/>
          <p:nvPr/>
        </p:nvSpPr>
        <p:spPr>
          <a:xfrm>
            <a:off x="717716" y="4487593"/>
            <a:ext cx="7671502" cy="1061829"/>
          </a:xfrm>
          <a:prstGeom prst="rect">
            <a:avLst/>
          </a:prstGeom>
          <a:noFill/>
        </p:spPr>
        <p:txBody>
          <a:bodyPr wrap="square">
            <a:spAutoFit/>
          </a:bodyPr>
          <a:lstStyle/>
          <a:p>
            <a:pPr indent="266700" algn="just"/>
            <a:r>
              <a:rPr lang="en-US" altLang="zh-CN" kern="100" dirty="0">
                <a:solidFill>
                  <a:srgbClr val="000000"/>
                </a:solidFill>
                <a:effectLst/>
                <a:latin typeface="Times New Roman" panose="02020603050405020304" pitchFamily="18" charset="0"/>
                <a:ea typeface="宋体" pitchFamily="2" charset="-122"/>
              </a:rPr>
              <a:t>   </a:t>
            </a:r>
            <a:r>
              <a:rPr lang="zh-CN" altLang="zh-CN" kern="100" dirty="0">
                <a:solidFill>
                  <a:srgbClr val="000000"/>
                </a:solidFill>
                <a:effectLst/>
                <a:latin typeface="+mn-ea"/>
              </a:rPr>
              <a:t>由于</a:t>
            </a:r>
            <a:r>
              <a:rPr lang="en-US" altLang="zh-CN" kern="100" dirty="0">
                <a:solidFill>
                  <a:srgbClr val="000000"/>
                </a:solidFill>
                <a:effectLst/>
                <a:latin typeface="+mn-ea"/>
              </a:rPr>
              <a:t>FAST</a:t>
            </a:r>
            <a:r>
              <a:rPr lang="zh-CN" altLang="zh-CN" kern="100" dirty="0">
                <a:solidFill>
                  <a:srgbClr val="000000"/>
                </a:solidFill>
                <a:effectLst/>
                <a:latin typeface="+mn-ea"/>
              </a:rPr>
              <a:t>算法提取出的特征点不具有尺度不变性，这导致图像经过缩放后无法匹配到相应的特征点。为了改进这一点，</a:t>
            </a:r>
            <a:r>
              <a:rPr lang="en-US" altLang="zh-CN" kern="100" dirty="0">
                <a:solidFill>
                  <a:srgbClr val="000000"/>
                </a:solidFill>
                <a:effectLst/>
                <a:latin typeface="+mn-ea"/>
              </a:rPr>
              <a:t>ORB</a:t>
            </a:r>
            <a:r>
              <a:rPr lang="zh-CN" altLang="zh-CN" kern="100" dirty="0">
                <a:solidFill>
                  <a:srgbClr val="000000"/>
                </a:solidFill>
                <a:effectLst/>
                <a:latin typeface="+mn-ea"/>
              </a:rPr>
              <a:t>使用图片的尺度金字塔，在不同尺度计算</a:t>
            </a:r>
            <a:r>
              <a:rPr lang="en-US" altLang="zh-CN" kern="100" dirty="0">
                <a:solidFill>
                  <a:srgbClr val="000000"/>
                </a:solidFill>
                <a:effectLst/>
                <a:latin typeface="+mn-ea"/>
              </a:rPr>
              <a:t>FAST</a:t>
            </a:r>
            <a:r>
              <a:rPr lang="zh-CN" altLang="zh-CN" kern="100" dirty="0">
                <a:solidFill>
                  <a:srgbClr val="000000"/>
                </a:solidFill>
                <a:effectLst/>
                <a:latin typeface="+mn-ea"/>
              </a:rPr>
              <a:t>特征点。</a:t>
            </a:r>
            <a:endParaRPr lang="zh-CN" altLang="zh-CN" kern="100" dirty="0">
              <a:effectLst/>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4.7.2  </a:t>
            </a:r>
            <a:r>
              <a:rPr lang="zh-CN" altLang="en-US" sz="2100" b="1" dirty="0">
                <a:solidFill>
                  <a:schemeClr val="tx1">
                    <a:lumMod val="75000"/>
                    <a:lumOff val="25000"/>
                  </a:schemeClr>
                </a:solidFill>
                <a:latin typeface="微软雅黑" panose="020B0503020204020204" pitchFamily="34" charset="-122"/>
              </a:rPr>
              <a:t>提取特征点</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12" name="文本框 11"/>
          <p:cNvSpPr txBox="1"/>
          <p:nvPr/>
        </p:nvSpPr>
        <p:spPr>
          <a:xfrm>
            <a:off x="1044402" y="1153460"/>
            <a:ext cx="4589754" cy="521746"/>
          </a:xfrm>
          <a:prstGeom prst="rect">
            <a:avLst/>
          </a:prstGeom>
          <a:noFill/>
        </p:spPr>
        <p:txBody>
          <a:bodyPr wrap="square">
            <a:spAutoFit/>
          </a:bodyPr>
          <a:lstStyle/>
          <a:p>
            <a:pPr indent="266700">
              <a:lnSpc>
                <a:spcPct val="150000"/>
              </a:lnSpc>
            </a:pPr>
            <a:r>
              <a:rPr lang="en-US" altLang="zh-CN" b="1" dirty="0"/>
              <a:t>3</a:t>
            </a:r>
            <a:r>
              <a:rPr lang="zh-CN" altLang="en-US" b="1" dirty="0"/>
              <a:t>．</a:t>
            </a:r>
            <a:r>
              <a:rPr lang="en-US" altLang="zh-CN" b="1" dirty="0"/>
              <a:t>BRIEF</a:t>
            </a:r>
            <a:r>
              <a:rPr lang="zh-CN" altLang="en-US" b="1" dirty="0"/>
              <a:t>算法改进</a:t>
            </a:r>
            <a:endParaRPr lang="zh-CN" altLang="zh-CN" b="1" dirty="0"/>
          </a:p>
        </p:txBody>
      </p:sp>
      <p:sp>
        <p:nvSpPr>
          <p:cNvPr id="14" name="文本框 13"/>
          <p:cNvSpPr txBox="1"/>
          <p:nvPr/>
        </p:nvSpPr>
        <p:spPr>
          <a:xfrm>
            <a:off x="712183" y="1736359"/>
            <a:ext cx="7992888" cy="1061829"/>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得到特征点后我们需要以某种方式描述这些特征点的属性。这些属性的输出我们称之为特征点的描述符。</a:t>
            </a:r>
            <a:r>
              <a:rPr lang="en-US" altLang="zh-CN" kern="100" dirty="0">
                <a:effectLst/>
                <a:latin typeface="Times New Roman" panose="02020603050405020304" pitchFamily="18" charset="0"/>
                <a:ea typeface="宋体" pitchFamily="2" charset="-122"/>
              </a:rPr>
              <a:t>ORB</a:t>
            </a:r>
            <a:r>
              <a:rPr lang="zh-CN" altLang="zh-CN" kern="100" dirty="0">
                <a:effectLst/>
                <a:latin typeface="Times New Roman" panose="02020603050405020304" pitchFamily="18" charset="0"/>
                <a:ea typeface="宋体" pitchFamily="2" charset="-122"/>
              </a:rPr>
              <a:t>采用</a:t>
            </a:r>
            <a:r>
              <a:rPr lang="en-US" altLang="zh-CN" kern="100" dirty="0">
                <a:effectLst/>
                <a:latin typeface="Times New Roman" panose="02020603050405020304" pitchFamily="18" charset="0"/>
                <a:ea typeface="宋体" pitchFamily="2" charset="-122"/>
              </a:rPr>
              <a:t>BRIEF</a:t>
            </a:r>
            <a:r>
              <a:rPr lang="zh-CN" altLang="zh-CN" kern="100" dirty="0">
                <a:effectLst/>
                <a:latin typeface="Times New Roman" panose="02020603050405020304" pitchFamily="18" charset="0"/>
                <a:ea typeface="宋体" pitchFamily="2" charset="-122"/>
              </a:rPr>
              <a:t>算法来计算特征点的描述符。</a:t>
            </a:r>
            <a:endParaRPr lang="zh-CN" altLang="zh-CN" sz="2400" kern="100" dirty="0">
              <a:effectLst/>
              <a:latin typeface="Times New Roman" panose="02020603050405020304" pitchFamily="18" charset="0"/>
              <a:ea typeface="宋体" pitchFamily="2" charset="-122"/>
            </a:endParaRPr>
          </a:p>
        </p:txBody>
      </p:sp>
      <p:sp>
        <p:nvSpPr>
          <p:cNvPr id="16" name="文本框 15"/>
          <p:cNvSpPr txBox="1"/>
          <p:nvPr/>
        </p:nvSpPr>
        <p:spPr>
          <a:xfrm>
            <a:off x="712183" y="2859341"/>
            <a:ext cx="7992888" cy="3000821"/>
          </a:xfrm>
          <a:prstGeom prst="rect">
            <a:avLst/>
          </a:prstGeom>
          <a:noFill/>
        </p:spPr>
        <p:txBody>
          <a:bodyPr wrap="square">
            <a:spAutoFit/>
          </a:bodyPr>
          <a:lstStyle/>
          <a:p>
            <a:r>
              <a:rPr lang="en-US" altLang="zh-CN" kern="100" dirty="0">
                <a:effectLst/>
                <a:latin typeface="Times New Roman" panose="02020603050405020304" pitchFamily="18" charset="0"/>
                <a:ea typeface="宋体" pitchFamily="2" charset="-122"/>
              </a:rPr>
              <a:t>        BRIEF</a:t>
            </a:r>
            <a:r>
              <a:rPr lang="zh-CN" altLang="zh-CN" kern="100" dirty="0">
                <a:effectLst/>
                <a:latin typeface="Times New Roman" panose="02020603050405020304" pitchFamily="18" charset="0"/>
                <a:ea typeface="宋体" pitchFamily="2" charset="-122"/>
                <a:cs typeface="Times New Roman" panose="02020603050405020304" pitchFamily="18" charset="0"/>
              </a:rPr>
              <a:t>描述子不具备旋转不变性，理想的特征点描述子应该具备旋转不变性，使得图像在经过一定的旋转后仍然能够识别匹配中的特征点。</a:t>
            </a:r>
            <a:r>
              <a:rPr lang="en-US" altLang="zh-CN" kern="100" dirty="0">
                <a:effectLst/>
                <a:latin typeface="Times New Roman" panose="02020603050405020304" pitchFamily="18" charset="0"/>
                <a:ea typeface="宋体" pitchFamily="2" charset="-122"/>
              </a:rPr>
              <a:t>BRIEF</a:t>
            </a:r>
            <a:r>
              <a:rPr lang="zh-CN" altLang="zh-CN" kern="100" dirty="0">
                <a:effectLst/>
                <a:latin typeface="Times New Roman" panose="02020603050405020304" pitchFamily="18" charset="0"/>
                <a:ea typeface="宋体" pitchFamily="2" charset="-122"/>
                <a:cs typeface="Times New Roman" panose="02020603050405020304" pitchFamily="18" charset="0"/>
              </a:rPr>
              <a:t>描述符选取特征点点对的时候，是以当前特征点为原点，以水平方向为</a:t>
            </a:r>
            <a:r>
              <a:rPr lang="en-US" altLang="zh-CN" kern="100" dirty="0">
                <a:effectLst/>
                <a:latin typeface="Times New Roman" panose="02020603050405020304" pitchFamily="18" charset="0"/>
                <a:ea typeface="宋体" pitchFamily="2" charset="-122"/>
              </a:rPr>
              <a:t>X</a:t>
            </a:r>
            <a:r>
              <a:rPr lang="zh-CN" altLang="zh-CN" kern="100" dirty="0">
                <a:effectLst/>
                <a:latin typeface="Times New Roman" panose="02020603050405020304" pitchFamily="18" charset="0"/>
                <a:ea typeface="宋体" pitchFamily="2" charset="-122"/>
                <a:cs typeface="Times New Roman" panose="02020603050405020304" pitchFamily="18" charset="0"/>
              </a:rPr>
              <a:t>轴，以垂直方向为</a:t>
            </a:r>
            <a:r>
              <a:rPr lang="en-US" altLang="zh-CN" kern="100" dirty="0">
                <a:effectLst/>
                <a:latin typeface="Times New Roman" panose="02020603050405020304" pitchFamily="18" charset="0"/>
                <a:ea typeface="宋体" pitchFamily="2" charset="-122"/>
              </a:rPr>
              <a:t>Y</a:t>
            </a:r>
            <a:r>
              <a:rPr lang="zh-CN" altLang="zh-CN" kern="100" dirty="0">
                <a:effectLst/>
                <a:latin typeface="Times New Roman" panose="02020603050405020304" pitchFamily="18" charset="0"/>
                <a:ea typeface="宋体" pitchFamily="2" charset="-122"/>
                <a:cs typeface="Times New Roman" panose="02020603050405020304" pitchFamily="18" charset="0"/>
              </a:rPr>
              <a:t>轴建立坐标系。当图片发生旋转时，坐标系不变，同样的取点模式取出来的点却不一样，计算得到的描述符也不一样，这是不符合要求的。</a:t>
            </a:r>
            <a:r>
              <a:rPr lang="en-US" altLang="zh-CN" kern="100" dirty="0">
                <a:effectLst/>
                <a:latin typeface="Times New Roman" panose="02020603050405020304" pitchFamily="18" charset="0"/>
                <a:ea typeface="宋体" pitchFamily="2" charset="-122"/>
                <a:cs typeface="Times New Roman" panose="02020603050405020304" pitchFamily="18" charset="0"/>
              </a:rPr>
              <a:t>ORB</a:t>
            </a:r>
            <a:r>
              <a:rPr lang="zh-CN" altLang="en-US" kern="100" dirty="0">
                <a:effectLst/>
                <a:latin typeface="Times New Roman" panose="02020603050405020304" pitchFamily="18" charset="0"/>
                <a:ea typeface="宋体" pitchFamily="2" charset="-122"/>
                <a:cs typeface="Times New Roman" panose="02020603050405020304" pitchFamily="18" charset="0"/>
              </a:rPr>
              <a:t>在计算</a:t>
            </a:r>
            <a:r>
              <a:rPr lang="en-US" altLang="zh-CN" kern="100" dirty="0">
                <a:effectLst/>
                <a:latin typeface="Times New Roman" panose="02020603050405020304" pitchFamily="18" charset="0"/>
                <a:ea typeface="宋体" pitchFamily="2" charset="-122"/>
                <a:cs typeface="Times New Roman" panose="02020603050405020304" pitchFamily="18" charset="0"/>
              </a:rPr>
              <a:t>BRIEF</a:t>
            </a:r>
            <a:r>
              <a:rPr lang="zh-CN" altLang="en-US" kern="100" dirty="0">
                <a:effectLst/>
                <a:latin typeface="Times New Roman" panose="02020603050405020304" pitchFamily="18" charset="0"/>
                <a:ea typeface="宋体" pitchFamily="2" charset="-122"/>
                <a:cs typeface="Times New Roman" panose="02020603050405020304" pitchFamily="18" charset="0"/>
              </a:rPr>
              <a:t>描述符时建立的坐标系是以特征点为圆心，以特征点和取点区域的几何中心</a:t>
            </a:r>
            <a:r>
              <a:rPr lang="en-US" altLang="zh-CN" kern="100" dirty="0">
                <a:effectLst/>
                <a:latin typeface="Times New Roman" panose="02020603050405020304" pitchFamily="18" charset="0"/>
                <a:ea typeface="宋体" pitchFamily="2" charset="-122"/>
                <a:cs typeface="Times New Roman" panose="02020603050405020304" pitchFamily="18" charset="0"/>
              </a:rPr>
              <a:t>(</a:t>
            </a:r>
            <a:r>
              <a:rPr lang="zh-CN" altLang="en-US" kern="100" dirty="0">
                <a:effectLst/>
                <a:latin typeface="Times New Roman" panose="02020603050405020304" pitchFamily="18" charset="0"/>
                <a:ea typeface="宋体" pitchFamily="2" charset="-122"/>
                <a:cs typeface="Times New Roman" panose="02020603050405020304" pitchFamily="18" charset="0"/>
              </a:rPr>
              <a:t>形心</a:t>
            </a:r>
            <a:r>
              <a:rPr lang="en-US" altLang="zh-CN" kern="100" dirty="0">
                <a:effectLst/>
                <a:latin typeface="Times New Roman" panose="02020603050405020304" pitchFamily="18" charset="0"/>
                <a:ea typeface="宋体" pitchFamily="2" charset="-122"/>
                <a:cs typeface="Times New Roman" panose="02020603050405020304" pitchFamily="18" charset="0"/>
              </a:rPr>
              <a:t>)</a:t>
            </a:r>
            <a:r>
              <a:rPr lang="zh-CN" altLang="en-US" kern="100" dirty="0">
                <a:effectLst/>
                <a:latin typeface="Times New Roman" panose="02020603050405020304" pitchFamily="18" charset="0"/>
                <a:ea typeface="宋体" pitchFamily="2" charset="-122"/>
                <a:cs typeface="Times New Roman" panose="02020603050405020304" pitchFamily="18" charset="0"/>
              </a:rPr>
              <a:t>的连线为</a:t>
            </a:r>
            <a:r>
              <a:rPr lang="en-US" altLang="zh-CN" kern="100" dirty="0">
                <a:effectLst/>
                <a:latin typeface="Times New Roman" panose="02020603050405020304" pitchFamily="18" charset="0"/>
                <a:ea typeface="宋体" pitchFamily="2" charset="-122"/>
                <a:cs typeface="Times New Roman" panose="02020603050405020304" pitchFamily="18" charset="0"/>
              </a:rPr>
              <a:t>X</a:t>
            </a:r>
            <a:r>
              <a:rPr lang="zh-CN" altLang="en-US" kern="100" dirty="0">
                <a:effectLst/>
                <a:latin typeface="Times New Roman" panose="02020603050405020304" pitchFamily="18" charset="0"/>
                <a:ea typeface="宋体" pitchFamily="2" charset="-122"/>
                <a:cs typeface="Times New Roman" panose="02020603050405020304" pitchFamily="18" charset="0"/>
              </a:rPr>
              <a:t>轴建立二维坐标系。在不同的旋转角度下，以同一取点模式取出来的点是一致的。</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4.7.3  </a:t>
            </a:r>
            <a:r>
              <a:rPr lang="zh-CN" altLang="en-US" sz="2100" b="1" dirty="0">
                <a:solidFill>
                  <a:schemeClr val="tx1">
                    <a:lumMod val="75000"/>
                    <a:lumOff val="25000"/>
                  </a:schemeClr>
                </a:solidFill>
                <a:latin typeface="微软雅黑" panose="020B0503020204020204" pitchFamily="34" charset="-122"/>
              </a:rPr>
              <a:t>基于特征的配准方法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2" name="文本框 1"/>
          <p:cNvSpPr txBox="1"/>
          <p:nvPr/>
        </p:nvSpPr>
        <p:spPr>
          <a:xfrm>
            <a:off x="684362" y="1341562"/>
            <a:ext cx="7704856" cy="4616648"/>
          </a:xfrm>
          <a:prstGeom prst="rect">
            <a:avLst/>
          </a:prstGeom>
          <a:noFill/>
        </p:spPr>
        <p:txBody>
          <a:bodyPr wrap="square" rtlCol="0">
            <a:spAutoFit/>
          </a:bodyPr>
          <a:lstStyle/>
          <a:p>
            <a:r>
              <a:rPr lang="zh-CN" altLang="en-US" dirty="0"/>
              <a:t>         </a:t>
            </a:r>
            <a:r>
              <a:rPr lang="zh-CN" altLang="en-US" b="1" dirty="0"/>
              <a:t>基于特征匹配的配准方法是目前最常用的方法之一。</a:t>
            </a:r>
            <a:r>
              <a:rPr lang="zh-CN" altLang="en-US" dirty="0"/>
              <a:t>该算法只需要提取待配准图像中的点、线、边缘等特征信息，不需要其它辅助信息，在减少计算量、提高效率的同时，能够对图像灰度的变化有一定的鲁棒性。</a:t>
            </a:r>
            <a:endParaRPr lang="en-US" altLang="zh-CN" dirty="0"/>
          </a:p>
          <a:p>
            <a:endParaRPr lang="zh-CN" altLang="en-US" dirty="0"/>
          </a:p>
          <a:p>
            <a:r>
              <a:rPr lang="zh-CN" altLang="en-US" dirty="0"/>
              <a:t>         根据选取的特征信息的不同，可以将</a:t>
            </a:r>
            <a:r>
              <a:rPr lang="zh-CN" altLang="en-US" b="1" dirty="0"/>
              <a:t>基于特征的匹配方法划分为三类</a:t>
            </a:r>
            <a:r>
              <a:rPr lang="zh-CN" altLang="en-US" dirty="0"/>
              <a:t>，分别是基于特征点的匹配、基于特征区域的匹配、基于特征边缘的匹配。本节我们将采用基于特征点的匹配方法来实现图像特征点的匹配。</a:t>
            </a:r>
            <a:endParaRPr lang="en-US" altLang="zh-CN" dirty="0"/>
          </a:p>
          <a:p>
            <a:endParaRPr lang="zh-CN" altLang="en-US" dirty="0"/>
          </a:p>
          <a:p>
            <a:r>
              <a:rPr lang="zh-CN" altLang="en-US" dirty="0"/>
              <a:t>         基于特征点的匹配，一般所选取的特征点是相对于其取点区域表现突出的像素点。特征点往往容易被提取到，但是特征点所包含的信息相对较少，只能反映出其在图像中的位置坐标信息，所以在两幅图像中寻找匹配的特征点是关键所在。</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4.7.4  </a:t>
            </a:r>
            <a:r>
              <a:rPr lang="zh-CN" altLang="en-US" sz="2100" b="1" dirty="0">
                <a:solidFill>
                  <a:schemeClr val="tx1">
                    <a:lumMod val="75000"/>
                    <a:lumOff val="25000"/>
                  </a:schemeClr>
                </a:solidFill>
                <a:latin typeface="微软雅黑" panose="020B0503020204020204" pitchFamily="34" charset="-122"/>
              </a:rPr>
              <a:t>图像配准的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9" name="文本框 8"/>
          <p:cNvSpPr txBox="1"/>
          <p:nvPr/>
        </p:nvSpPr>
        <p:spPr>
          <a:xfrm>
            <a:off x="142957" y="1098233"/>
            <a:ext cx="7704856" cy="415498"/>
          </a:xfrm>
          <a:prstGeom prst="rect">
            <a:avLst/>
          </a:prstGeom>
          <a:noFill/>
        </p:spPr>
        <p:txBody>
          <a:bodyPr wrap="square">
            <a:spAutoFit/>
          </a:bodyPr>
          <a:lstStyle/>
          <a:p>
            <a:pPr indent="266700" algn="just"/>
            <a:r>
              <a:rPr lang="zh-CN" altLang="zh-CN" b="1" kern="100" dirty="0">
                <a:effectLst/>
                <a:latin typeface="Times New Roman" panose="02020603050405020304" pitchFamily="18" charset="0"/>
                <a:ea typeface="宋体" pitchFamily="2" charset="-122"/>
              </a:rPr>
              <a:t>实现图像配准使用的函数以及函数的参数说明如下：</a:t>
            </a:r>
            <a:endParaRPr lang="zh-CN" altLang="zh-CN" b="1" kern="100" dirty="0">
              <a:effectLst/>
              <a:latin typeface="Times New Roman" panose="02020603050405020304" pitchFamily="18" charset="0"/>
              <a:ea typeface="宋体" pitchFamily="2" charset="-122"/>
            </a:endParaRPr>
          </a:p>
        </p:txBody>
      </p:sp>
      <mc:AlternateContent xmlns:mc="http://schemas.openxmlformats.org/markup-compatibility/2006">
        <mc:Choice xmlns:a14="http://schemas.microsoft.com/office/drawing/2010/main" Requires="a14">
          <p:sp>
            <p:nvSpPr>
              <p:cNvPr id="13" name="文本框 12"/>
              <p:cNvSpPr txBox="1"/>
              <p:nvPr/>
            </p:nvSpPr>
            <p:spPr>
              <a:xfrm>
                <a:off x="455911" y="1524164"/>
                <a:ext cx="7704855" cy="4616648"/>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1. </a:t>
                </a:r>
                <a:r>
                  <a:rPr lang="zh-CN" altLang="zh-CN" kern="100" dirty="0">
                    <a:effectLst/>
                    <a:latin typeface="Times New Roman" panose="02020603050405020304" pitchFamily="18" charset="0"/>
                    <a:ea typeface="宋体" pitchFamily="2" charset="-122"/>
                  </a:rPr>
                  <a:t>我们使用</a:t>
                </a:r>
                <a:r>
                  <a:rPr lang="en-US" altLang="zh-CN" kern="100" dirty="0">
                    <a:effectLst/>
                    <a:latin typeface="Times New Roman" panose="02020603050405020304" pitchFamily="18" charset="0"/>
                    <a:ea typeface="宋体" pitchFamily="2" charset="-122"/>
                  </a:rPr>
                  <a:t>OpenCV</a:t>
                </a:r>
                <a:r>
                  <a:rPr lang="zh-CN" altLang="zh-CN" kern="100" dirty="0">
                    <a:effectLst/>
                    <a:latin typeface="Times New Roman" panose="02020603050405020304" pitchFamily="18" charset="0"/>
                    <a:ea typeface="宋体" pitchFamily="2" charset="-122"/>
                  </a:rPr>
                  <a:t>提供的函数</a:t>
                </a:r>
                <a:r>
                  <a:rPr lang="en-US" altLang="zh-CN" kern="100" dirty="0">
                    <a:effectLst/>
                    <a:latin typeface="Times New Roman" panose="02020603050405020304" pitchFamily="18" charset="0"/>
                    <a:ea typeface="宋体" pitchFamily="2" charset="-122"/>
                  </a:rPr>
                  <a:t>cv2.ORB_create()</a:t>
                </a:r>
                <a:r>
                  <a:rPr lang="zh-CN" altLang="zh-CN" kern="100" dirty="0">
                    <a:effectLst/>
                    <a:latin typeface="Times New Roman" panose="02020603050405020304" pitchFamily="18" charset="0"/>
                    <a:ea typeface="宋体" pitchFamily="2" charset="-122"/>
                  </a:rPr>
                  <a:t>来定位特征点并创建它们相应的</a:t>
                </a:r>
                <a:r>
                  <a:rPr lang="en-US" altLang="zh-CN" kern="100" dirty="0">
                    <a:effectLst/>
                    <a:latin typeface="Times New Roman" panose="02020603050405020304" pitchFamily="18" charset="0"/>
                    <a:ea typeface="宋体" pitchFamily="2" charset="-122"/>
                  </a:rPr>
                  <a:t>ORB</a:t>
                </a:r>
                <a:r>
                  <a:rPr lang="zh-CN" altLang="zh-CN" kern="100" dirty="0">
                    <a:effectLst/>
                    <a:latin typeface="Times New Roman" panose="02020603050405020304" pitchFamily="18" charset="0"/>
                    <a:ea typeface="宋体" pitchFamily="2" charset="-122"/>
                  </a:rPr>
                  <a:t>描述符。</a:t>
                </a:r>
                <a:r>
                  <a:rPr lang="en-US" altLang="zh-CN" kern="100" dirty="0">
                    <a:effectLst/>
                    <a:latin typeface="Times New Roman" panose="02020603050405020304" pitchFamily="18" charset="0"/>
                    <a:ea typeface="宋体" pitchFamily="2" charset="-122"/>
                  </a:rPr>
                  <a:t>cv2.ORB_create()</a:t>
                </a:r>
                <a:r>
                  <a:rPr lang="zh-CN" altLang="zh-CN" kern="100" dirty="0">
                    <a:effectLst/>
                    <a:latin typeface="Times New Roman" panose="02020603050405020304" pitchFamily="18" charset="0"/>
                    <a:ea typeface="宋体" pitchFamily="2" charset="-122"/>
                  </a:rPr>
                  <a:t>函数的调用语法为：</a:t>
                </a:r>
                <a:endParaRPr lang="zh-CN" altLang="zh-CN" kern="100" dirty="0">
                  <a:effectLst/>
                  <a:latin typeface="Times New Roman" panose="02020603050405020304" pitchFamily="18" charset="0"/>
                  <a:ea typeface="宋体" pitchFamily="2" charset="-122"/>
                </a:endParaRPr>
              </a:p>
              <a:p>
                <a:pPr indent="266700" algn="just"/>
                <a:r>
                  <a:rPr lang="en-US" altLang="zh-CN" kern="100" dirty="0">
                    <a:effectLst/>
                    <a:latin typeface="Times New Roman" panose="02020603050405020304" pitchFamily="18" charset="0"/>
                    <a:ea typeface="宋体" pitchFamily="2" charset="-122"/>
                  </a:rPr>
                  <a:t>orb=cv2.ORB_create(</a:t>
                </a:r>
                <a:r>
                  <a:rPr lang="en-US" altLang="zh-CN" kern="100" dirty="0" err="1">
                    <a:effectLst/>
                    <a:latin typeface="Times New Roman" panose="02020603050405020304" pitchFamily="18" charset="0"/>
                    <a:ea typeface="宋体" pitchFamily="2" charset="-122"/>
                  </a:rPr>
                  <a:t>nfeatures</a:t>
                </a:r>
                <a:r>
                  <a:rPr lang="en-US" altLang="zh-CN" kern="100" dirty="0">
                    <a:effectLst/>
                    <a:latin typeface="Times New Roman" panose="02020603050405020304" pitchFamily="18" charset="0"/>
                    <a:ea typeface="宋体" pitchFamily="2" charset="-122"/>
                  </a:rPr>
                  <a:t> = 500,scaleFactor = 1.2,nlevels = 8,edgeThreshold = 20,</a:t>
                </a:r>
                <a:endParaRPr lang="zh-CN" altLang="zh-CN" kern="100" dirty="0">
                  <a:effectLst/>
                  <a:latin typeface="Times New Roman" panose="02020603050405020304" pitchFamily="18" charset="0"/>
                  <a:ea typeface="宋体" pitchFamily="2" charset="-122"/>
                </a:endParaRPr>
              </a:p>
              <a:p>
                <a:pPr indent="266700" algn="just"/>
                <a:r>
                  <a:rPr lang="en-US" altLang="zh-CN" kern="100" dirty="0" err="1">
                    <a:effectLst/>
                    <a:latin typeface="Times New Roman" panose="02020603050405020304" pitchFamily="18" charset="0"/>
                    <a:ea typeface="宋体" pitchFamily="2" charset="-122"/>
                  </a:rPr>
                  <a:t>firstLevel</a:t>
                </a:r>
                <a:r>
                  <a:rPr lang="en-US" altLang="zh-CN" kern="100" dirty="0">
                    <a:effectLst/>
                    <a:latin typeface="Times New Roman" panose="02020603050405020304" pitchFamily="18" charset="0"/>
                    <a:ea typeface="宋体" pitchFamily="2" charset="-122"/>
                  </a:rPr>
                  <a:t> = 0,WTA_K = 2, </a:t>
                </a:r>
                <a:r>
                  <a:rPr lang="en-US" altLang="zh-CN" kern="100" dirty="0" err="1">
                    <a:effectLst/>
                    <a:latin typeface="Times New Roman" panose="02020603050405020304" pitchFamily="18" charset="0"/>
                    <a:ea typeface="宋体" pitchFamily="2" charset="-122"/>
                  </a:rPr>
                  <a:t>patchSize</a:t>
                </a:r>
                <a:r>
                  <a:rPr lang="en-US" altLang="zh-CN" kern="100" dirty="0">
                    <a:effectLst/>
                    <a:latin typeface="Times New Roman" panose="02020603050405020304" pitchFamily="18" charset="0"/>
                    <a:ea typeface="宋体" pitchFamily="2" charset="-122"/>
                  </a:rPr>
                  <a:t> = 20,fastThreshold = 20)</a:t>
                </a:r>
                <a:endParaRPr lang="zh-CN" altLang="zh-CN" kern="100" dirty="0">
                  <a:effectLst/>
                  <a:latin typeface="Times New Roman" panose="02020603050405020304" pitchFamily="18" charset="0"/>
                  <a:ea typeface="宋体" pitchFamily="2" charset="-122"/>
                </a:endParaRPr>
              </a:p>
              <a:p>
                <a:pPr indent="266700" algn="just"/>
                <a:endParaRPr lang="en-US" altLang="zh-CN" b="1" kern="100" dirty="0">
                  <a:effectLst/>
                  <a:latin typeface="Times New Roman" panose="02020603050405020304" pitchFamily="18" charset="0"/>
                  <a:ea typeface="宋体" pitchFamily="2" charset="-122"/>
                </a:endParaRPr>
              </a:p>
              <a:p>
                <a:pPr indent="266700" algn="just"/>
                <a:r>
                  <a:rPr lang="zh-CN" altLang="zh-CN" b="1" kern="100" dirty="0">
                    <a:effectLst/>
                    <a:latin typeface="Times New Roman" panose="02020603050405020304" pitchFamily="18" charset="0"/>
                    <a:ea typeface="宋体" pitchFamily="2" charset="-122"/>
                  </a:rPr>
                  <a:t>参数说明：</a:t>
                </a:r>
                <a:endParaRPr lang="zh-CN" altLang="zh-CN" b="1"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1800" kern="100" dirty="0">
                    <a:effectLst/>
                    <a:latin typeface="Times New Roman" panose="02020603050405020304" pitchFamily="18" charset="0"/>
                    <a:ea typeface="宋体" pitchFamily="2" charset="-122"/>
                  </a:rPr>
                  <a:t>orb</a:t>
                </a:r>
                <a:r>
                  <a:rPr lang="zh-CN" altLang="zh-CN" sz="1800" kern="100" dirty="0">
                    <a:effectLst/>
                    <a:latin typeface="Times New Roman" panose="02020603050405020304" pitchFamily="18" charset="0"/>
                    <a:ea typeface="宋体" pitchFamily="2" charset="-122"/>
                  </a:rPr>
                  <a:t>：表示生成的关键点。</a:t>
                </a:r>
                <a:endParaRPr lang="zh-CN" altLang="zh-CN" sz="18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nfeatures</a:t>
                </a:r>
                <a:r>
                  <a:rPr lang="zh-CN" altLang="zh-CN" sz="1800" kern="100" dirty="0">
                    <a:effectLst/>
                    <a:latin typeface="Times New Roman" panose="02020603050405020304" pitchFamily="18" charset="0"/>
                    <a:ea typeface="宋体" pitchFamily="2" charset="-122"/>
                  </a:rPr>
                  <a:t>：表示要查找的关键点个数。</a:t>
                </a:r>
                <a:r>
                  <a:rPr lang="en-US" altLang="zh-CN" sz="1800" kern="100" dirty="0" err="1">
                    <a:effectLst/>
                    <a:latin typeface="Times New Roman" panose="02020603050405020304" pitchFamily="18" charset="0"/>
                    <a:ea typeface="宋体" pitchFamily="2" charset="-122"/>
                  </a:rPr>
                  <a:t>nfeatures</a:t>
                </a:r>
                <a:r>
                  <a:rPr lang="zh-CN" altLang="zh-CN" sz="1800" kern="100" dirty="0">
                    <a:effectLst/>
                    <a:latin typeface="Times New Roman" panose="02020603050405020304" pitchFamily="18" charset="0"/>
                    <a:ea typeface="宋体" pitchFamily="2" charset="-122"/>
                  </a:rPr>
                  <a:t>数据为</a:t>
                </a:r>
                <a:r>
                  <a:rPr lang="en-US" altLang="zh-CN" sz="1800" kern="100" dirty="0">
                    <a:effectLst/>
                    <a:latin typeface="Times New Roman" panose="02020603050405020304" pitchFamily="18" charset="0"/>
                    <a:ea typeface="宋体" pitchFamily="2" charset="-122"/>
                  </a:rPr>
                  <a:t>int</a:t>
                </a:r>
                <a:r>
                  <a:rPr lang="zh-CN" altLang="zh-CN" sz="1800" kern="100" dirty="0">
                    <a:effectLst/>
                    <a:latin typeface="Times New Roman" panose="02020603050405020304" pitchFamily="18" charset="0"/>
                    <a:ea typeface="宋体" pitchFamily="2" charset="-122"/>
                  </a:rPr>
                  <a:t>型，默认值为</a:t>
                </a:r>
                <a:r>
                  <a:rPr lang="en-US" altLang="zh-CN" sz="1800" kern="100" dirty="0">
                    <a:effectLst/>
                    <a:latin typeface="Times New Roman" panose="02020603050405020304" pitchFamily="18" charset="0"/>
                    <a:ea typeface="宋体" pitchFamily="2" charset="-122"/>
                  </a:rPr>
                  <a:t>500</a:t>
                </a:r>
                <a:r>
                  <a:rPr lang="zh-CN" altLang="zh-CN" sz="1800" kern="100" dirty="0">
                    <a:effectLst/>
                    <a:latin typeface="Times New Roman" panose="02020603050405020304" pitchFamily="18" charset="0"/>
                    <a:ea typeface="宋体" pitchFamily="2" charset="-122"/>
                  </a:rPr>
                  <a:t>。</a:t>
                </a:r>
                <a:endParaRPr lang="zh-CN" altLang="zh-CN" sz="18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scaleFactor</a:t>
                </a:r>
                <a:r>
                  <a:rPr lang="zh-CN" altLang="zh-CN" sz="1800" kern="100" dirty="0">
                    <a:effectLst/>
                    <a:latin typeface="Times New Roman" panose="02020603050405020304" pitchFamily="18" charset="0"/>
                    <a:ea typeface="宋体" pitchFamily="2" charset="-122"/>
                  </a:rPr>
                  <a:t>：</a:t>
                </a:r>
                <a:r>
                  <a:rPr lang="zh-CN" altLang="zh-CN" sz="1800" kern="100" dirty="0">
                    <a:solidFill>
                      <a:srgbClr val="000000"/>
                    </a:solidFill>
                    <a:effectLst/>
                    <a:latin typeface="Times New Roman" panose="02020603050405020304" pitchFamily="18" charset="0"/>
                    <a:ea typeface="宋体" pitchFamily="2" charset="-122"/>
                  </a:rPr>
                  <a:t>表示金字塔抽取率，必须大于</a:t>
                </a:r>
                <a:r>
                  <a:rPr lang="en-US" altLang="zh-CN" sz="1800" kern="100" dirty="0">
                    <a:solidFill>
                      <a:srgbClr val="000000"/>
                    </a:solidFill>
                    <a:effectLst/>
                    <a:latin typeface="Times New Roman" panose="02020603050405020304" pitchFamily="18" charset="0"/>
                    <a:ea typeface="宋体" pitchFamily="2" charset="-122"/>
                  </a:rPr>
                  <a:t>1</a:t>
                </a:r>
                <a:r>
                  <a:rPr lang="zh-CN" altLang="zh-CN" sz="1800" kern="100" dirty="0">
                    <a:solidFill>
                      <a:srgbClr val="000000"/>
                    </a:solidFill>
                    <a:effectLst/>
                    <a:latin typeface="Times New Roman" panose="02020603050405020304" pitchFamily="18" charset="0"/>
                    <a:ea typeface="宋体" pitchFamily="2" charset="-122"/>
                  </a:rPr>
                  <a:t>。</a:t>
                </a:r>
                <a:r>
                  <a:rPr lang="en-US" altLang="zh-CN" sz="1800" kern="100" dirty="0">
                    <a:solidFill>
                      <a:srgbClr val="000000"/>
                    </a:solidFill>
                    <a:effectLst/>
                    <a:latin typeface="Times New Roman" panose="02020603050405020304" pitchFamily="18" charset="0"/>
                    <a:ea typeface="宋体" pitchFamily="2" charset="-122"/>
                  </a:rPr>
                  <a:t>ORB</a:t>
                </a:r>
                <a:r>
                  <a:rPr lang="zh-CN" altLang="zh-CN" sz="1800" kern="100" dirty="0">
                    <a:solidFill>
                      <a:srgbClr val="000000"/>
                    </a:solidFill>
                    <a:effectLst/>
                    <a:latin typeface="Times New Roman" panose="02020603050405020304" pitchFamily="18" charset="0"/>
                    <a:ea typeface="宋体" pitchFamily="2" charset="-122"/>
                  </a:rPr>
                  <a:t>使用图像金字塔来查找要素，因此必须提供金字塔中每个图层与金字塔级别数之间的比例因子。</a:t>
                </a:r>
                <a14:m>
                  <m:oMath xmlns:m="http://schemas.openxmlformats.org/officeDocument/2006/math">
                    <m:r>
                      <m:rPr>
                        <m:sty m:val="p"/>
                      </m:rPr>
                      <a:rPr lang="en-US" altLang="zh-CN" sz="1800" kern="100">
                        <a:solidFill>
                          <a:srgbClr val="000000"/>
                        </a:solidFill>
                        <a:effectLst/>
                        <a:latin typeface="Cambria Math" panose="02040503050406030204" pitchFamily="18" charset="0"/>
                        <a:ea typeface="宋体" pitchFamily="2" charset="-122"/>
                      </a:rPr>
                      <m:t>scaleFactor</m:t>
                    </m:r>
                    <m:r>
                      <a:rPr lang="en-US" altLang="zh-CN" sz="1800" kern="100">
                        <a:solidFill>
                          <a:srgbClr val="000000"/>
                        </a:solidFill>
                        <a:effectLst/>
                        <a:latin typeface="Cambria Math" panose="02040503050406030204" pitchFamily="18" charset="0"/>
                        <a:ea typeface="宋体" pitchFamily="2" charset="-122"/>
                      </a:rPr>
                      <m:t> = </m:t>
                    </m:r>
                    <m:r>
                      <a:rPr lang="en-US" altLang="zh-CN" sz="1800" kern="100">
                        <a:solidFill>
                          <a:srgbClr val="000000"/>
                        </a:solidFill>
                        <a:effectLst/>
                        <a:latin typeface="Cambria Math" panose="02040503050406030204" pitchFamily="18" charset="0"/>
                        <a:ea typeface="宋体" pitchFamily="2" charset="-122"/>
                      </a:rPr>
                      <m:t>2</m:t>
                    </m:r>
                  </m:oMath>
                </a14:m>
                <a:r>
                  <a:rPr lang="zh-CN" altLang="zh-CN" sz="1800" kern="100" dirty="0">
                    <a:solidFill>
                      <a:srgbClr val="000000"/>
                    </a:solidFill>
                    <a:effectLst/>
                    <a:latin typeface="Times New Roman" panose="02020603050405020304" pitchFamily="18" charset="0"/>
                    <a:ea typeface="宋体" pitchFamily="2" charset="-122"/>
                  </a:rPr>
                  <a:t>表示经典金字塔，金字塔中每个下一级别的像素比前一级低</a:t>
                </a:r>
                <a:r>
                  <a:rPr lang="en-US" altLang="zh-CN" sz="1800" kern="100" dirty="0">
                    <a:solidFill>
                      <a:srgbClr val="000000"/>
                    </a:solidFill>
                    <a:effectLst/>
                    <a:latin typeface="Times New Roman" panose="02020603050405020304" pitchFamily="18" charset="0"/>
                    <a:ea typeface="宋体" pitchFamily="2" charset="-122"/>
                  </a:rPr>
                  <a:t>4</a:t>
                </a:r>
                <a:r>
                  <a:rPr lang="zh-CN" altLang="zh-CN" sz="1800" kern="100" dirty="0">
                    <a:solidFill>
                      <a:srgbClr val="000000"/>
                    </a:solidFill>
                    <a:effectLst/>
                    <a:latin typeface="Times New Roman" panose="02020603050405020304" pitchFamily="18" charset="0"/>
                    <a:ea typeface="宋体" pitchFamily="2" charset="-122"/>
                  </a:rPr>
                  <a:t>倍。</a:t>
                </a:r>
                <a14:m>
                  <m:oMath xmlns:m="http://schemas.openxmlformats.org/officeDocument/2006/math">
                    <m:r>
                      <m:rPr>
                        <m:sty m:val="p"/>
                      </m:rPr>
                      <a:rPr lang="en-US" altLang="zh-CN" sz="1800" kern="100">
                        <a:solidFill>
                          <a:srgbClr val="000000"/>
                        </a:solidFill>
                        <a:effectLst/>
                        <a:latin typeface="Cambria Math" panose="02040503050406030204" pitchFamily="18" charset="0"/>
                        <a:ea typeface="宋体" pitchFamily="2" charset="-122"/>
                      </a:rPr>
                      <m:t>scaleFactor</m:t>
                    </m:r>
                  </m:oMath>
                </a14:m>
                <a:r>
                  <a:rPr lang="zh-CN" altLang="zh-CN" sz="1800" kern="100" dirty="0">
                    <a:effectLst/>
                    <a:latin typeface="Times New Roman" panose="02020603050405020304" pitchFamily="18" charset="0"/>
                    <a:ea typeface="宋体" pitchFamily="2" charset="-122"/>
                  </a:rPr>
                  <a:t>数据为</a:t>
                </a:r>
                <a:r>
                  <a:rPr lang="en-US" altLang="zh-CN" sz="1800" kern="100" dirty="0">
                    <a:effectLst/>
                    <a:latin typeface="Times New Roman" panose="02020603050405020304" pitchFamily="18" charset="0"/>
                    <a:ea typeface="宋体" pitchFamily="2" charset="-122"/>
                  </a:rPr>
                  <a:t>float</a:t>
                </a:r>
                <a:r>
                  <a:rPr lang="zh-CN" altLang="zh-CN" sz="1800" kern="100" dirty="0">
                    <a:effectLst/>
                    <a:latin typeface="Times New Roman" panose="02020603050405020304" pitchFamily="18" charset="0"/>
                    <a:ea typeface="宋体" pitchFamily="2" charset="-122"/>
                  </a:rPr>
                  <a:t>型，</a:t>
                </a:r>
                <a:r>
                  <a:rPr lang="zh-CN" altLang="zh-CN" sz="1800" kern="100" dirty="0">
                    <a:solidFill>
                      <a:srgbClr val="000000"/>
                    </a:solidFill>
                    <a:effectLst/>
                    <a:latin typeface="Times New Roman" panose="02020603050405020304" pitchFamily="18" charset="0"/>
                    <a:ea typeface="宋体" pitchFamily="2" charset="-122"/>
                  </a:rPr>
                  <a:t>默认值为</a:t>
                </a:r>
                <a:r>
                  <a:rPr lang="en-US" altLang="zh-CN" sz="1800" kern="100" dirty="0">
                    <a:solidFill>
                      <a:srgbClr val="000000"/>
                    </a:solidFill>
                    <a:effectLst/>
                    <a:latin typeface="Times New Roman" panose="02020603050405020304" pitchFamily="18" charset="0"/>
                    <a:ea typeface="宋体" pitchFamily="2" charset="-122"/>
                  </a:rPr>
                  <a:t>1.2</a:t>
                </a:r>
                <a:r>
                  <a:rPr lang="zh-CN" altLang="zh-CN" sz="1800" kern="100" dirty="0">
                    <a:solidFill>
                      <a:srgbClr val="000000"/>
                    </a:solidFill>
                    <a:effectLst/>
                    <a:latin typeface="Times New Roman" panose="02020603050405020304" pitchFamily="18" charset="0"/>
                    <a:ea typeface="宋体" pitchFamily="2" charset="-122"/>
                  </a:rPr>
                  <a:t>。</a:t>
                </a:r>
                <a:endParaRPr lang="zh-CN" altLang="zh-CN" sz="1800" kern="100" dirty="0">
                  <a:effectLst/>
                  <a:latin typeface="Times New Roman" panose="02020603050405020304" pitchFamily="18" charset="0"/>
                  <a:ea typeface="宋体" pitchFamily="2" charset="-122"/>
                </a:endParaRPr>
              </a:p>
            </p:txBody>
          </p:sp>
        </mc:Choice>
        <mc:Fallback>
          <p:sp>
            <p:nvSpPr>
              <p:cNvPr id="13" name="文本框 12"/>
              <p:cNvSpPr txBox="1">
                <a:spLocks noRot="1" noChangeAspect="1" noMove="1" noResize="1" noEditPoints="1" noAdjustHandles="1" noChangeArrowheads="1" noChangeShapeType="1" noTextEdit="1"/>
              </p:cNvSpPr>
              <p:nvPr/>
            </p:nvSpPr>
            <p:spPr>
              <a:xfrm>
                <a:off x="455911" y="1524164"/>
                <a:ext cx="7704855" cy="4616648"/>
              </a:xfrm>
              <a:prstGeom prst="rect">
                <a:avLst/>
              </a:prstGeom>
              <a:blipFill rotWithShape="1">
                <a:blip r:embed="rId1"/>
                <a:stretch>
                  <a:fillRect l="-8" t="-4" r="5" b="-75"/>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4.7.4  </a:t>
            </a:r>
            <a:r>
              <a:rPr lang="zh-CN" altLang="en-US" sz="2100" b="1" dirty="0">
                <a:solidFill>
                  <a:schemeClr val="tx1">
                    <a:lumMod val="75000"/>
                    <a:lumOff val="25000"/>
                  </a:schemeClr>
                </a:solidFill>
                <a:latin typeface="微软雅黑" panose="020B0503020204020204" pitchFamily="34" charset="-122"/>
              </a:rPr>
              <a:t>图像配准的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10" name="文本框 9"/>
          <p:cNvSpPr txBox="1"/>
          <p:nvPr/>
        </p:nvSpPr>
        <p:spPr>
          <a:xfrm>
            <a:off x="485795" y="1701602"/>
            <a:ext cx="8280920" cy="3970318"/>
          </a:xfrm>
          <a:prstGeom prst="rect">
            <a:avLst/>
          </a:prstGeom>
          <a:noFill/>
        </p:spPr>
        <p:txBody>
          <a:bodyPr wrap="square">
            <a:spAutoFit/>
          </a:bodyPr>
          <a:lstStyle/>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nlevels</a:t>
            </a:r>
            <a:r>
              <a:rPr lang="zh-CN" altLang="zh-CN" sz="1800" kern="100" dirty="0">
                <a:effectLst/>
                <a:latin typeface="Times New Roman" panose="02020603050405020304" pitchFamily="18" charset="0"/>
                <a:ea typeface="宋体" pitchFamily="2" charset="-122"/>
              </a:rPr>
              <a:t>：表示金字塔等级的数量。</a:t>
            </a:r>
            <a:r>
              <a:rPr lang="en-US" altLang="zh-CN" sz="1800" kern="100" dirty="0" err="1">
                <a:effectLst/>
                <a:latin typeface="Times New Roman" panose="02020603050405020304" pitchFamily="18" charset="0"/>
                <a:ea typeface="宋体" pitchFamily="2" charset="-122"/>
              </a:rPr>
              <a:t>nlevels</a:t>
            </a:r>
            <a:r>
              <a:rPr lang="zh-CN" altLang="zh-CN" sz="1800" kern="100" dirty="0">
                <a:effectLst/>
                <a:latin typeface="Times New Roman" panose="02020603050405020304" pitchFamily="18" charset="0"/>
                <a:ea typeface="宋体" pitchFamily="2" charset="-122"/>
              </a:rPr>
              <a:t>数据为</a:t>
            </a:r>
            <a:r>
              <a:rPr lang="en-US" altLang="zh-CN" sz="1800" kern="100" dirty="0">
                <a:effectLst/>
                <a:latin typeface="Times New Roman" panose="02020603050405020304" pitchFamily="18" charset="0"/>
                <a:ea typeface="宋体" pitchFamily="2" charset="-122"/>
              </a:rPr>
              <a:t>int</a:t>
            </a:r>
            <a:r>
              <a:rPr lang="zh-CN" altLang="zh-CN" sz="1800" kern="100" dirty="0">
                <a:effectLst/>
                <a:latin typeface="Times New Roman" panose="02020603050405020304" pitchFamily="18" charset="0"/>
                <a:ea typeface="宋体" pitchFamily="2" charset="-122"/>
              </a:rPr>
              <a:t>型，默认值为</a:t>
            </a:r>
            <a:r>
              <a:rPr lang="en-US" altLang="zh-CN" sz="1800" kern="100" dirty="0">
                <a:effectLst/>
                <a:latin typeface="Times New Roman" panose="02020603050405020304" pitchFamily="18" charset="0"/>
                <a:ea typeface="宋体" pitchFamily="2" charset="-122"/>
              </a:rPr>
              <a:t>8</a:t>
            </a:r>
            <a:r>
              <a:rPr lang="zh-CN" altLang="zh-CN" sz="1800" kern="100" dirty="0">
                <a:effectLst/>
                <a:latin typeface="Times New Roman" panose="02020603050405020304" pitchFamily="18" charset="0"/>
                <a:ea typeface="宋体" pitchFamily="2" charset="-122"/>
              </a:rPr>
              <a:t>。</a:t>
            </a:r>
            <a:endParaRPr lang="zh-CN" altLang="zh-CN" sz="18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edgeThreshold</a:t>
            </a:r>
            <a:r>
              <a:rPr lang="zh-CN" altLang="zh-CN" sz="1800" kern="100" dirty="0">
                <a:effectLst/>
                <a:latin typeface="Times New Roman" panose="02020603050405020304" pitchFamily="18" charset="0"/>
                <a:ea typeface="宋体" pitchFamily="2" charset="-122"/>
              </a:rPr>
              <a:t>：表示未检测要素边框的大小。由于关键点具有特定的像素大小，因此必须从搜索中排除图像的边缘。</a:t>
            </a:r>
            <a:r>
              <a:rPr lang="en-US" altLang="zh-CN" sz="1800" kern="100" dirty="0" err="1">
                <a:effectLst/>
                <a:latin typeface="Times New Roman" panose="02020603050405020304" pitchFamily="18" charset="0"/>
                <a:ea typeface="宋体" pitchFamily="2" charset="-122"/>
              </a:rPr>
              <a:t>edgeThreshold</a:t>
            </a:r>
            <a:r>
              <a:rPr lang="zh-CN" altLang="zh-CN" sz="1800" kern="100" dirty="0">
                <a:effectLst/>
                <a:latin typeface="Times New Roman" panose="02020603050405020304" pitchFamily="18" charset="0"/>
                <a:ea typeface="宋体" pitchFamily="2" charset="-122"/>
              </a:rPr>
              <a:t>的大小应该等于或大于</a:t>
            </a:r>
            <a:r>
              <a:rPr lang="en-US" altLang="zh-CN" sz="1800" kern="100" dirty="0" err="1">
                <a:effectLst/>
                <a:latin typeface="Times New Roman" panose="02020603050405020304" pitchFamily="18" charset="0"/>
                <a:ea typeface="宋体" pitchFamily="2" charset="-122"/>
              </a:rPr>
              <a:t>patchSize</a:t>
            </a:r>
            <a:r>
              <a:rPr lang="zh-CN" altLang="zh-CN" sz="1800" kern="100" dirty="0">
                <a:effectLst/>
                <a:latin typeface="Times New Roman" panose="02020603050405020304" pitchFamily="18" charset="0"/>
                <a:ea typeface="宋体" pitchFamily="2" charset="-122"/>
              </a:rPr>
              <a:t>参数。</a:t>
            </a:r>
            <a:r>
              <a:rPr lang="en-US" altLang="zh-CN" sz="1800" kern="100" dirty="0" err="1">
                <a:effectLst/>
                <a:latin typeface="Times New Roman" panose="02020603050405020304" pitchFamily="18" charset="0"/>
                <a:ea typeface="宋体" pitchFamily="2" charset="-122"/>
              </a:rPr>
              <a:t>edgeThreshold</a:t>
            </a:r>
            <a:r>
              <a:rPr lang="zh-CN" altLang="zh-CN" sz="1800" kern="100" dirty="0">
                <a:effectLst/>
                <a:latin typeface="Times New Roman" panose="02020603050405020304" pitchFamily="18" charset="0"/>
                <a:ea typeface="宋体" pitchFamily="2" charset="-122"/>
              </a:rPr>
              <a:t>数据为</a:t>
            </a:r>
            <a:r>
              <a:rPr lang="en-US" altLang="zh-CN" sz="1800" kern="100" dirty="0">
                <a:effectLst/>
                <a:latin typeface="Times New Roman" panose="02020603050405020304" pitchFamily="18" charset="0"/>
                <a:ea typeface="宋体" pitchFamily="2" charset="-122"/>
              </a:rPr>
              <a:t>int</a:t>
            </a:r>
            <a:r>
              <a:rPr lang="zh-CN" altLang="zh-CN" sz="1800" kern="100" dirty="0">
                <a:effectLst/>
                <a:latin typeface="Times New Roman" panose="02020603050405020304" pitchFamily="18" charset="0"/>
                <a:ea typeface="宋体" pitchFamily="2" charset="-122"/>
              </a:rPr>
              <a:t>型。</a:t>
            </a:r>
            <a:endParaRPr lang="zh-CN" altLang="zh-CN" sz="18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firstLevel</a:t>
            </a:r>
            <a:r>
              <a:rPr lang="zh-CN" altLang="zh-CN" sz="1800" kern="100" dirty="0">
                <a:effectLst/>
                <a:latin typeface="Times New Roman" panose="02020603050405020304" pitchFamily="18" charset="0"/>
                <a:ea typeface="宋体" pitchFamily="2" charset="-122"/>
              </a:rPr>
              <a:t>：表示应将哪个级别视为金字塔中的第一级别。它在当前实现中应为</a:t>
            </a:r>
            <a:r>
              <a:rPr lang="en-US" altLang="zh-CN" sz="1800" kern="100" dirty="0">
                <a:effectLst/>
                <a:latin typeface="Times New Roman" panose="02020603050405020304" pitchFamily="18" charset="0"/>
                <a:ea typeface="宋体" pitchFamily="2" charset="-122"/>
              </a:rPr>
              <a:t>0</a:t>
            </a:r>
            <a:r>
              <a:rPr lang="zh-CN" altLang="zh-CN" sz="1800" kern="100" dirty="0">
                <a:effectLst/>
                <a:latin typeface="Times New Roman" panose="02020603050405020304" pitchFamily="18" charset="0"/>
                <a:ea typeface="宋体" pitchFamily="2" charset="-122"/>
              </a:rPr>
              <a:t>，通常具有统一标度的金字塔等级被认为是第一级。</a:t>
            </a:r>
            <a:r>
              <a:rPr lang="en-US" altLang="zh-CN" sz="1800" kern="100" dirty="0" err="1">
                <a:effectLst/>
                <a:latin typeface="Times New Roman" panose="02020603050405020304" pitchFamily="18" charset="0"/>
                <a:ea typeface="宋体" pitchFamily="2" charset="-122"/>
              </a:rPr>
              <a:t>firstLevel</a:t>
            </a:r>
            <a:r>
              <a:rPr lang="zh-CN" altLang="zh-CN" sz="1800" kern="100" dirty="0">
                <a:effectLst/>
                <a:latin typeface="Times New Roman" panose="02020603050405020304" pitchFamily="18" charset="0"/>
                <a:ea typeface="宋体" pitchFamily="2" charset="-122"/>
              </a:rPr>
              <a:t>数据为</a:t>
            </a:r>
            <a:r>
              <a:rPr lang="en-US" altLang="zh-CN" sz="1800" kern="100" dirty="0">
                <a:effectLst/>
                <a:latin typeface="Times New Roman" panose="02020603050405020304" pitchFamily="18" charset="0"/>
                <a:ea typeface="宋体" pitchFamily="2" charset="-122"/>
              </a:rPr>
              <a:t>int</a:t>
            </a:r>
            <a:r>
              <a:rPr lang="zh-CN" altLang="zh-CN" sz="1800" kern="100" dirty="0">
                <a:effectLst/>
                <a:latin typeface="Times New Roman" panose="02020603050405020304" pitchFamily="18" charset="0"/>
                <a:ea typeface="宋体" pitchFamily="2" charset="-122"/>
              </a:rPr>
              <a:t>型，默认值为</a:t>
            </a:r>
            <a:r>
              <a:rPr lang="en-US" altLang="zh-CN" sz="1800" kern="100" dirty="0">
                <a:effectLst/>
                <a:latin typeface="Times New Roman" panose="02020603050405020304" pitchFamily="18" charset="0"/>
                <a:ea typeface="宋体" pitchFamily="2" charset="-122"/>
              </a:rPr>
              <a:t>0</a:t>
            </a:r>
            <a:r>
              <a:rPr lang="zh-CN" altLang="zh-CN" sz="1800" kern="100" dirty="0">
                <a:effectLst/>
                <a:latin typeface="Times New Roman" panose="02020603050405020304" pitchFamily="18" charset="0"/>
                <a:ea typeface="宋体" pitchFamily="2" charset="-122"/>
              </a:rPr>
              <a:t>。</a:t>
            </a:r>
            <a:endParaRPr lang="zh-CN" altLang="zh-CN" sz="18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1800" kern="100" dirty="0">
                <a:effectLst/>
                <a:latin typeface="Times New Roman" panose="02020603050405020304" pitchFamily="18" charset="0"/>
                <a:ea typeface="宋体" pitchFamily="2" charset="-122"/>
              </a:rPr>
              <a:t>WTA_K</a:t>
            </a:r>
            <a:r>
              <a:rPr lang="zh-CN" altLang="zh-CN" sz="1800" kern="100" dirty="0">
                <a:effectLst/>
                <a:latin typeface="Times New Roman" panose="02020603050405020304" pitchFamily="18" charset="0"/>
                <a:ea typeface="宋体" pitchFamily="2" charset="-122"/>
              </a:rPr>
              <a:t>：表示生成定向</a:t>
            </a:r>
            <a:r>
              <a:rPr lang="en-US" altLang="zh-CN" sz="1800" kern="100" dirty="0">
                <a:effectLst/>
                <a:latin typeface="Times New Roman" panose="02020603050405020304" pitchFamily="18" charset="0"/>
                <a:ea typeface="宋体" pitchFamily="2" charset="-122"/>
              </a:rPr>
              <a:t>BRIEF</a:t>
            </a:r>
            <a:r>
              <a:rPr lang="zh-CN" altLang="zh-CN" sz="1800" kern="100" dirty="0">
                <a:effectLst/>
                <a:latin typeface="Times New Roman" panose="02020603050405020304" pitchFamily="18" charset="0"/>
                <a:ea typeface="宋体" pitchFamily="2" charset="-122"/>
              </a:rPr>
              <a:t>描述符中的每个元素的随机像素数量。可能的取值为</a:t>
            </a:r>
            <a:r>
              <a:rPr lang="en-US" altLang="zh-CN" sz="1800" kern="100" dirty="0">
                <a:effectLst/>
                <a:latin typeface="Times New Roman" panose="02020603050405020304" pitchFamily="18" charset="0"/>
                <a:ea typeface="宋体" pitchFamily="2" charset="-122"/>
              </a:rPr>
              <a:t>2</a:t>
            </a:r>
            <a:r>
              <a:rPr lang="zh-CN" altLang="zh-CN" sz="1800" kern="100" dirty="0">
                <a:effectLst/>
                <a:latin typeface="Times New Roman" panose="02020603050405020304" pitchFamily="18" charset="0"/>
                <a:ea typeface="宋体" pitchFamily="2" charset="-122"/>
              </a:rPr>
              <a:t>，</a:t>
            </a:r>
            <a:r>
              <a:rPr lang="en-US" altLang="zh-CN" sz="1800" kern="100" dirty="0">
                <a:effectLst/>
                <a:latin typeface="Times New Roman" panose="02020603050405020304" pitchFamily="18" charset="0"/>
                <a:ea typeface="宋体" pitchFamily="2" charset="-122"/>
              </a:rPr>
              <a:t>3</a:t>
            </a:r>
            <a:r>
              <a:rPr lang="zh-CN" altLang="zh-CN" sz="1800" kern="100" dirty="0">
                <a:effectLst/>
                <a:latin typeface="Times New Roman" panose="02020603050405020304" pitchFamily="18" charset="0"/>
                <a:ea typeface="宋体" pitchFamily="2" charset="-122"/>
              </a:rPr>
              <a:t>，</a:t>
            </a:r>
            <a:r>
              <a:rPr lang="en-US" altLang="zh-CN" sz="1800" kern="100" dirty="0">
                <a:effectLst/>
                <a:latin typeface="Times New Roman" panose="02020603050405020304" pitchFamily="18" charset="0"/>
                <a:ea typeface="宋体" pitchFamily="2" charset="-122"/>
              </a:rPr>
              <a:t>4</a:t>
            </a:r>
            <a:r>
              <a:rPr lang="zh-CN" altLang="zh-CN" sz="1800" kern="100" dirty="0">
                <a:effectLst/>
                <a:latin typeface="Times New Roman" panose="02020603050405020304" pitchFamily="18" charset="0"/>
                <a:ea typeface="宋体" pitchFamily="2" charset="-122"/>
              </a:rPr>
              <a:t>，其中</a:t>
            </a:r>
            <a:r>
              <a:rPr lang="en-US" altLang="zh-CN" sz="1800" kern="100" dirty="0">
                <a:effectLst/>
                <a:latin typeface="Times New Roman" panose="02020603050405020304" pitchFamily="18" charset="0"/>
                <a:ea typeface="宋体" pitchFamily="2" charset="-122"/>
              </a:rPr>
              <a:t>2</a:t>
            </a:r>
            <a:r>
              <a:rPr lang="zh-CN" altLang="zh-CN" sz="1800" kern="100" dirty="0">
                <a:effectLst/>
                <a:latin typeface="Times New Roman" panose="02020603050405020304" pitchFamily="18" charset="0"/>
                <a:ea typeface="宋体" pitchFamily="2" charset="-122"/>
              </a:rPr>
              <a:t>为默认值。例如，值</a:t>
            </a:r>
            <a:r>
              <a:rPr lang="en-US" altLang="zh-CN" sz="1800" kern="100" dirty="0">
                <a:effectLst/>
                <a:latin typeface="Times New Roman" panose="02020603050405020304" pitchFamily="18" charset="0"/>
                <a:ea typeface="宋体" pitchFamily="2" charset="-122"/>
              </a:rPr>
              <a:t>3</a:t>
            </a:r>
            <a:r>
              <a:rPr lang="zh-CN" altLang="zh-CN" sz="1800" kern="100" dirty="0">
                <a:effectLst/>
                <a:latin typeface="Times New Roman" panose="02020603050405020304" pitchFamily="18" charset="0"/>
                <a:ea typeface="宋体" pitchFamily="2" charset="-122"/>
              </a:rPr>
              <a:t>意味着一次选择三个随机像素来比较它们的亮度，返回最亮像素的索引，由于有</a:t>
            </a:r>
            <a:r>
              <a:rPr lang="en-US" altLang="zh-CN" sz="1800" kern="100" dirty="0">
                <a:effectLst/>
                <a:latin typeface="Times New Roman" panose="02020603050405020304" pitchFamily="18" charset="0"/>
                <a:ea typeface="宋体" pitchFamily="2" charset="-122"/>
              </a:rPr>
              <a:t>3</a:t>
            </a:r>
            <a:r>
              <a:rPr lang="zh-CN" altLang="zh-CN" sz="1800" kern="100" dirty="0">
                <a:effectLst/>
                <a:latin typeface="Times New Roman" panose="02020603050405020304" pitchFamily="18" charset="0"/>
                <a:ea typeface="宋体" pitchFamily="2" charset="-122"/>
              </a:rPr>
              <a:t>个像素，因此返回的索引将为</a:t>
            </a:r>
            <a:r>
              <a:rPr lang="en-US" altLang="zh-CN" sz="1800" kern="100" dirty="0">
                <a:effectLst/>
                <a:latin typeface="Times New Roman" panose="02020603050405020304" pitchFamily="18" charset="0"/>
                <a:ea typeface="宋体" pitchFamily="2" charset="-122"/>
              </a:rPr>
              <a:t>0</a:t>
            </a:r>
            <a:r>
              <a:rPr lang="zh-CN" altLang="zh-CN" sz="1800" kern="100" dirty="0">
                <a:effectLst/>
                <a:latin typeface="Times New Roman" panose="02020603050405020304" pitchFamily="18" charset="0"/>
                <a:ea typeface="宋体" pitchFamily="2" charset="-122"/>
              </a:rPr>
              <a:t>，</a:t>
            </a:r>
            <a:r>
              <a:rPr lang="en-US" altLang="zh-CN" sz="1800" kern="100" dirty="0">
                <a:effectLst/>
                <a:latin typeface="Times New Roman" panose="02020603050405020304" pitchFamily="18" charset="0"/>
                <a:ea typeface="宋体" pitchFamily="2" charset="-122"/>
              </a:rPr>
              <a:t>1</a:t>
            </a:r>
            <a:r>
              <a:rPr lang="zh-CN" altLang="zh-CN" sz="1800" kern="100" dirty="0">
                <a:effectLst/>
                <a:latin typeface="Times New Roman" panose="02020603050405020304" pitchFamily="18" charset="0"/>
                <a:ea typeface="宋体" pitchFamily="2" charset="-122"/>
              </a:rPr>
              <a:t>或</a:t>
            </a:r>
            <a:r>
              <a:rPr lang="en-US" altLang="zh-CN" sz="1800" kern="100" dirty="0">
                <a:effectLst/>
                <a:latin typeface="Times New Roman" panose="02020603050405020304" pitchFamily="18" charset="0"/>
                <a:ea typeface="宋体" pitchFamily="2" charset="-122"/>
              </a:rPr>
              <a:t>2</a:t>
            </a:r>
            <a:r>
              <a:rPr lang="zh-CN" altLang="zh-CN" sz="1800" kern="100" dirty="0">
                <a:effectLst/>
                <a:latin typeface="Times New Roman" panose="02020603050405020304" pitchFamily="18" charset="0"/>
                <a:ea typeface="宋体" pitchFamily="2" charset="-122"/>
              </a:rPr>
              <a:t>。</a:t>
            </a:r>
            <a:endParaRPr lang="zh-CN" altLang="zh-CN" sz="18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patchSize</a:t>
            </a:r>
            <a:r>
              <a:rPr lang="zh-CN" altLang="zh-CN" sz="1800" kern="100" dirty="0">
                <a:effectLst/>
                <a:latin typeface="Times New Roman" panose="02020603050405020304" pitchFamily="18" charset="0"/>
                <a:ea typeface="宋体" pitchFamily="2" charset="-122"/>
              </a:rPr>
              <a:t>：表示面向简要描述符使用的补丁大小。当然，在较小的金字塔层上，由特征覆盖的感知图像区域将更大。</a:t>
            </a:r>
            <a:r>
              <a:rPr lang="en-US" altLang="zh-CN" sz="1800" kern="100" dirty="0" err="1">
                <a:effectLst/>
                <a:latin typeface="Times New Roman" panose="02020603050405020304" pitchFamily="18" charset="0"/>
                <a:ea typeface="宋体" pitchFamily="2" charset="-122"/>
              </a:rPr>
              <a:t>patchSize</a:t>
            </a:r>
            <a:r>
              <a:rPr lang="zh-CN" altLang="zh-CN" sz="1800" kern="100" dirty="0">
                <a:effectLst/>
                <a:latin typeface="Times New Roman" panose="02020603050405020304" pitchFamily="18" charset="0"/>
                <a:ea typeface="宋体" pitchFamily="2" charset="-122"/>
              </a:rPr>
              <a:t>数据为</a:t>
            </a:r>
            <a:r>
              <a:rPr lang="en-US" altLang="zh-CN" sz="1800" kern="100" dirty="0">
                <a:effectLst/>
                <a:latin typeface="Times New Roman" panose="02020603050405020304" pitchFamily="18" charset="0"/>
                <a:ea typeface="宋体" pitchFamily="2" charset="-122"/>
              </a:rPr>
              <a:t>int</a:t>
            </a:r>
            <a:r>
              <a:rPr lang="zh-CN" altLang="zh-CN" sz="1800" kern="100" dirty="0">
                <a:effectLst/>
                <a:latin typeface="Times New Roman" panose="02020603050405020304" pitchFamily="18" charset="0"/>
                <a:ea typeface="宋体" pitchFamily="2" charset="-122"/>
              </a:rPr>
              <a:t>型。</a:t>
            </a:r>
            <a:endParaRPr lang="zh-CN" altLang="zh-CN" sz="18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fastThreshold</a:t>
            </a:r>
            <a:r>
              <a:rPr lang="zh-CN" altLang="zh-CN" sz="1800" kern="100" dirty="0">
                <a:effectLst/>
                <a:latin typeface="Times New Roman" panose="02020603050405020304" pitchFamily="18" charset="0"/>
                <a:ea typeface="宋体" pitchFamily="2" charset="-122"/>
              </a:rPr>
              <a:t>：表示</a:t>
            </a:r>
            <a:r>
              <a:rPr lang="en-US" altLang="zh-CN" sz="1800" kern="100" dirty="0">
                <a:effectLst/>
                <a:latin typeface="Times New Roman" panose="02020603050405020304" pitchFamily="18" charset="0"/>
                <a:ea typeface="宋体" pitchFamily="2" charset="-122"/>
              </a:rPr>
              <a:t>FAST</a:t>
            </a:r>
            <a:r>
              <a:rPr lang="zh-CN" altLang="zh-CN" sz="1800" kern="100" dirty="0">
                <a:effectLst/>
                <a:latin typeface="Times New Roman" panose="02020603050405020304" pitchFamily="18" charset="0"/>
                <a:ea typeface="宋体" pitchFamily="2" charset="-122"/>
              </a:rPr>
              <a:t>算法检测要素的大小。</a:t>
            </a:r>
            <a:r>
              <a:rPr lang="en-US" altLang="zh-CN" sz="1800" kern="100" dirty="0" err="1">
                <a:effectLst/>
                <a:latin typeface="Times New Roman" panose="02020603050405020304" pitchFamily="18" charset="0"/>
                <a:ea typeface="宋体" pitchFamily="2" charset="-122"/>
              </a:rPr>
              <a:t>fastThreshold</a:t>
            </a:r>
            <a:r>
              <a:rPr lang="zh-CN" altLang="zh-CN" sz="1800" kern="100" dirty="0">
                <a:effectLst/>
                <a:latin typeface="Times New Roman" panose="02020603050405020304" pitchFamily="18" charset="0"/>
                <a:ea typeface="宋体" pitchFamily="2" charset="-122"/>
              </a:rPr>
              <a:t>数据为</a:t>
            </a:r>
            <a:r>
              <a:rPr lang="en-US" altLang="zh-CN" sz="1800" kern="100" dirty="0">
                <a:effectLst/>
                <a:latin typeface="Times New Roman" panose="02020603050405020304" pitchFamily="18" charset="0"/>
                <a:ea typeface="宋体" pitchFamily="2" charset="-122"/>
              </a:rPr>
              <a:t>int</a:t>
            </a:r>
            <a:r>
              <a:rPr lang="zh-CN" altLang="zh-CN" sz="1800" kern="100" dirty="0">
                <a:effectLst/>
                <a:latin typeface="Times New Roman" panose="02020603050405020304" pitchFamily="18" charset="0"/>
                <a:ea typeface="宋体" pitchFamily="2" charset="-122"/>
              </a:rPr>
              <a:t>型。</a:t>
            </a:r>
            <a:endParaRPr lang="zh-CN" altLang="zh-CN" sz="1800" kern="100" dirty="0">
              <a:effectLst/>
              <a:latin typeface="Times New Roman" panose="02020603050405020304" pitchFamily="18" charset="0"/>
              <a:ea typeface="宋体" pitchFamily="2" charset="-122"/>
            </a:endParaRPr>
          </a:p>
        </p:txBody>
      </p:sp>
      <p:sp>
        <p:nvSpPr>
          <p:cNvPr id="14" name="文本框 13"/>
          <p:cNvSpPr txBox="1"/>
          <p:nvPr/>
        </p:nvSpPr>
        <p:spPr>
          <a:xfrm>
            <a:off x="828378" y="1209149"/>
            <a:ext cx="4589754" cy="415498"/>
          </a:xfrm>
          <a:prstGeom prst="rect">
            <a:avLst/>
          </a:prstGeom>
          <a:noFill/>
        </p:spPr>
        <p:txBody>
          <a:bodyPr wrap="square">
            <a:spAutoFit/>
          </a:bodyPr>
          <a:lstStyle/>
          <a:p>
            <a:r>
              <a:rPr lang="zh-CN" altLang="en-US" b="1" dirty="0"/>
              <a:t>参数说明：</a:t>
            </a:r>
            <a:endParaRPr lang="zh-CN" altLang="en-US" b="1" dirty="0"/>
          </a:p>
        </p:txBody>
      </p:sp>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4.7.4  </a:t>
            </a:r>
            <a:r>
              <a:rPr lang="zh-CN" altLang="en-US" sz="2100" b="1" dirty="0">
                <a:solidFill>
                  <a:schemeClr val="tx1">
                    <a:lumMod val="75000"/>
                    <a:lumOff val="25000"/>
                  </a:schemeClr>
                </a:solidFill>
                <a:latin typeface="微软雅黑" panose="020B0503020204020204" pitchFamily="34" charset="-122"/>
              </a:rPr>
              <a:t>图像配准的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10" name="文本框 9"/>
          <p:cNvSpPr txBox="1"/>
          <p:nvPr/>
        </p:nvSpPr>
        <p:spPr>
          <a:xfrm>
            <a:off x="712183" y="1301397"/>
            <a:ext cx="7677035" cy="1061829"/>
          </a:xfrm>
          <a:prstGeom prst="rect">
            <a:avLst/>
          </a:prstGeom>
          <a:noFill/>
        </p:spPr>
        <p:txBody>
          <a:bodyPr wrap="square">
            <a:spAutoFit/>
          </a:bodyPr>
          <a:lstStyle/>
          <a:p>
            <a:pPr indent="266700" algn="just"/>
            <a:r>
              <a:rPr lang="en-US" altLang="zh-CN" kern="100" dirty="0">
                <a:solidFill>
                  <a:srgbClr val="000000"/>
                </a:solidFill>
                <a:effectLst/>
                <a:latin typeface="Times New Roman" panose="02020603050405020304" pitchFamily="18" charset="0"/>
                <a:ea typeface="宋体" pitchFamily="2" charset="-122"/>
              </a:rPr>
              <a:t>   2. ORB</a:t>
            </a:r>
            <a:r>
              <a:rPr lang="zh-CN" altLang="zh-CN" kern="100" dirty="0">
                <a:effectLst/>
                <a:latin typeface="Times New Roman" panose="02020603050405020304" pitchFamily="18" charset="0"/>
                <a:ea typeface="宋体" pitchFamily="2" charset="-122"/>
              </a:rPr>
              <a:t>算法中检测特征点和计算描述符的函数为</a:t>
            </a:r>
            <a:r>
              <a:rPr lang="en-US" altLang="zh-CN" kern="100" dirty="0" err="1">
                <a:effectLst/>
                <a:latin typeface="Times New Roman" panose="02020603050405020304" pitchFamily="18" charset="0"/>
                <a:ea typeface="宋体" pitchFamily="2" charset="-122"/>
              </a:rPr>
              <a:t>orb.detectAndCompute</a:t>
            </a:r>
            <a:r>
              <a:rPr lang="en-US" altLang="zh-CN" kern="100" dirty="0">
                <a:effectLst/>
                <a:latin typeface="Times New Roman" panose="02020603050405020304" pitchFamily="18" charset="0"/>
                <a:ea typeface="宋体" pitchFamily="2" charset="-122"/>
              </a:rPr>
              <a:t>()</a:t>
            </a:r>
            <a:r>
              <a:rPr lang="zh-CN" altLang="zh-CN" kern="100" dirty="0">
                <a:effectLst/>
                <a:latin typeface="Times New Roman" panose="02020603050405020304" pitchFamily="18" charset="0"/>
                <a:ea typeface="宋体" pitchFamily="2" charset="-122"/>
              </a:rPr>
              <a:t>，</a:t>
            </a:r>
            <a:r>
              <a:rPr lang="en-US" altLang="zh-CN" kern="100" dirty="0" err="1">
                <a:effectLst/>
                <a:latin typeface="Times New Roman" panose="02020603050405020304" pitchFamily="18" charset="0"/>
                <a:ea typeface="宋体" pitchFamily="2" charset="-122"/>
              </a:rPr>
              <a:t>orb.detectAndCompute</a:t>
            </a:r>
            <a:r>
              <a:rPr lang="en-US" altLang="zh-CN" kern="100" dirty="0">
                <a:effectLst/>
                <a:latin typeface="Times New Roman" panose="02020603050405020304" pitchFamily="18" charset="0"/>
                <a:ea typeface="宋体" pitchFamily="2" charset="-122"/>
              </a:rPr>
              <a:t>()</a:t>
            </a:r>
            <a:r>
              <a:rPr lang="zh-CN" altLang="zh-CN" kern="100" dirty="0">
                <a:effectLst/>
                <a:latin typeface="Times New Roman" panose="02020603050405020304" pitchFamily="18" charset="0"/>
                <a:ea typeface="宋体" pitchFamily="2" charset="-122"/>
              </a:rPr>
              <a:t>函数的调用语法为：</a:t>
            </a:r>
            <a:endParaRPr lang="zh-CN" altLang="zh-CN" kern="100" dirty="0">
              <a:effectLst/>
              <a:latin typeface="Times New Roman" panose="02020603050405020304" pitchFamily="18" charset="0"/>
              <a:ea typeface="宋体" pitchFamily="2" charset="-122"/>
            </a:endParaRPr>
          </a:p>
        </p:txBody>
      </p:sp>
      <p:sp>
        <p:nvSpPr>
          <p:cNvPr id="14" name="文本框 13"/>
          <p:cNvSpPr txBox="1"/>
          <p:nvPr/>
        </p:nvSpPr>
        <p:spPr>
          <a:xfrm>
            <a:off x="972394" y="2576822"/>
            <a:ext cx="7056784" cy="2354491"/>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kp1,des1=</a:t>
            </a:r>
            <a:r>
              <a:rPr lang="en-US" altLang="zh-CN" kern="100" dirty="0" err="1">
                <a:effectLst/>
                <a:latin typeface="Times New Roman" panose="02020603050405020304" pitchFamily="18" charset="0"/>
                <a:ea typeface="宋体" pitchFamily="2" charset="-122"/>
              </a:rPr>
              <a:t>orb.detectAndCompute</a:t>
            </a:r>
            <a:r>
              <a:rPr lang="en-US" altLang="zh-CN" kern="100" dirty="0">
                <a:effectLst/>
                <a:latin typeface="Times New Roman" panose="02020603050405020304" pitchFamily="18" charset="0"/>
                <a:ea typeface="宋体" pitchFamily="2" charset="-122"/>
              </a:rPr>
              <a:t>(</a:t>
            </a:r>
            <a:r>
              <a:rPr lang="en-US" altLang="zh-CN" kern="100" dirty="0" err="1">
                <a:effectLst/>
                <a:latin typeface="Times New Roman" panose="02020603050405020304" pitchFamily="18" charset="0"/>
                <a:ea typeface="宋体" pitchFamily="2" charset="-122"/>
              </a:rPr>
              <a:t>template,mask</a:t>
            </a:r>
            <a:r>
              <a:rPr lang="en-US" altLang="zh-CN" kern="100" dirty="0">
                <a:effectLst/>
                <a:latin typeface="Times New Roman" panose="02020603050405020304" pitchFamily="18" charset="0"/>
                <a:ea typeface="宋体" pitchFamily="2" charset="-122"/>
              </a:rPr>
              <a:t>)</a:t>
            </a:r>
            <a:endParaRPr lang="zh-CN" altLang="zh-CN" kern="100" dirty="0">
              <a:effectLst/>
              <a:latin typeface="Times New Roman" panose="02020603050405020304" pitchFamily="18" charset="0"/>
              <a:ea typeface="宋体" pitchFamily="2" charset="-122"/>
            </a:endParaRPr>
          </a:p>
          <a:p>
            <a:pPr indent="266700" algn="just"/>
            <a:r>
              <a:rPr lang="zh-CN" altLang="zh-CN" kern="100" dirty="0">
                <a:effectLst/>
                <a:latin typeface="Times New Roman" panose="02020603050405020304" pitchFamily="18" charset="0"/>
                <a:ea typeface="宋体" pitchFamily="2" charset="-122"/>
              </a:rPr>
              <a:t>参数说明：</a:t>
            </a:r>
            <a:endParaRPr lang="zh-CN" altLang="zh-CN"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kp1</a:t>
            </a:r>
            <a:r>
              <a:rPr lang="zh-CN" altLang="zh-CN" kern="100" dirty="0">
                <a:effectLst/>
                <a:latin typeface="Times New Roman" panose="02020603050405020304" pitchFamily="18" charset="0"/>
                <a:ea typeface="宋体" pitchFamily="2" charset="-122"/>
              </a:rPr>
              <a:t>：表示从模板图像中获得的特征点。</a:t>
            </a:r>
            <a:endParaRPr lang="zh-CN" altLang="zh-CN"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des1</a:t>
            </a:r>
            <a:r>
              <a:rPr lang="zh-CN" altLang="zh-CN" kern="100" dirty="0">
                <a:effectLst/>
                <a:latin typeface="Times New Roman" panose="02020603050405020304" pitchFamily="18" charset="0"/>
                <a:ea typeface="宋体" pitchFamily="2" charset="-122"/>
              </a:rPr>
              <a:t>：表示输出</a:t>
            </a:r>
            <a:r>
              <a:rPr lang="en-US" altLang="zh-CN" kern="100" dirty="0">
                <a:effectLst/>
                <a:latin typeface="Times New Roman" panose="02020603050405020304" pitchFamily="18" charset="0"/>
                <a:ea typeface="宋体" pitchFamily="2" charset="-122"/>
              </a:rPr>
              <a:t>ORB</a:t>
            </a:r>
            <a:r>
              <a:rPr lang="zh-CN" altLang="zh-CN" kern="100" dirty="0">
                <a:effectLst/>
                <a:latin typeface="Times New Roman" panose="02020603050405020304" pitchFamily="18" charset="0"/>
                <a:ea typeface="宋体" pitchFamily="2" charset="-122"/>
              </a:rPr>
              <a:t>算法计算的模板图像描述符。</a:t>
            </a:r>
            <a:endParaRPr lang="zh-CN" altLang="zh-CN"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template</a:t>
            </a:r>
            <a:r>
              <a:rPr lang="zh-CN" altLang="zh-CN" kern="100" dirty="0">
                <a:effectLst/>
                <a:latin typeface="Times New Roman" panose="02020603050405020304" pitchFamily="18" charset="0"/>
                <a:ea typeface="宋体" pitchFamily="2" charset="-122"/>
              </a:rPr>
              <a:t>：表示输入的模板图像。</a:t>
            </a:r>
            <a:endParaRPr lang="zh-CN" altLang="zh-CN"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a:solidFill>
                  <a:srgbClr val="000000"/>
                </a:solidFill>
                <a:effectLst/>
                <a:latin typeface="Times New Roman" panose="02020603050405020304" pitchFamily="18" charset="0"/>
                <a:ea typeface="宋体" pitchFamily="2" charset="-122"/>
              </a:rPr>
              <a:t>mask</a:t>
            </a:r>
            <a:r>
              <a:rPr lang="zh-CN" altLang="zh-CN" kern="100" dirty="0">
                <a:solidFill>
                  <a:srgbClr val="000000"/>
                </a:solidFill>
                <a:effectLst/>
                <a:latin typeface="Times New Roman" panose="02020603050405020304" pitchFamily="18" charset="0"/>
                <a:ea typeface="宋体" pitchFamily="2" charset="-122"/>
              </a:rPr>
              <a:t>：表示掩模。掩膜就是两幅图像之间进行的各种位运算操作。默认值为</a:t>
            </a:r>
            <a:r>
              <a:rPr lang="en-US" altLang="zh-CN" kern="100" dirty="0">
                <a:solidFill>
                  <a:srgbClr val="000000"/>
                </a:solidFill>
                <a:effectLst/>
                <a:latin typeface="Times New Roman" panose="02020603050405020304" pitchFamily="18" charset="0"/>
                <a:ea typeface="宋体" pitchFamily="2" charset="-122"/>
              </a:rPr>
              <a:t>None</a:t>
            </a:r>
            <a:r>
              <a:rPr lang="zh-CN" altLang="zh-CN" kern="100" dirty="0">
                <a:solidFill>
                  <a:srgbClr val="000000"/>
                </a:solidFill>
                <a:effectLst/>
                <a:latin typeface="Times New Roman" panose="02020603050405020304" pitchFamily="18" charset="0"/>
                <a:ea typeface="宋体" pitchFamily="2" charset="-122"/>
              </a:rPr>
              <a:t>。</a:t>
            </a:r>
            <a:endParaRPr lang="zh-CN" altLang="zh-CN" kern="100" dirty="0">
              <a:effectLst/>
              <a:latin typeface="Times New Roman" panose="0202060305040502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4.7.4  </a:t>
            </a:r>
            <a:r>
              <a:rPr lang="zh-CN" altLang="en-US" sz="2100" b="1" dirty="0">
                <a:solidFill>
                  <a:schemeClr val="tx1">
                    <a:lumMod val="75000"/>
                    <a:lumOff val="25000"/>
                  </a:schemeClr>
                </a:solidFill>
                <a:latin typeface="微软雅黑" panose="020B0503020204020204" pitchFamily="34" charset="-122"/>
              </a:rPr>
              <a:t>图像配准的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11" name="文本框 10"/>
          <p:cNvSpPr txBox="1"/>
          <p:nvPr/>
        </p:nvSpPr>
        <p:spPr>
          <a:xfrm>
            <a:off x="578212" y="1518588"/>
            <a:ext cx="7989163" cy="3646170"/>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3. OpenCV</a:t>
            </a:r>
            <a:r>
              <a:rPr lang="zh-CN" altLang="zh-CN" kern="100" dirty="0">
                <a:effectLst/>
                <a:latin typeface="Times New Roman" panose="02020603050405020304" pitchFamily="18" charset="0"/>
                <a:ea typeface="宋体" pitchFamily="2" charset="-122"/>
              </a:rPr>
              <a:t>提供了暴力</a:t>
            </a:r>
            <a:r>
              <a:rPr lang="en-US" altLang="zh-CN" kern="100" dirty="0">
                <a:effectLst/>
                <a:latin typeface="Times New Roman" panose="02020603050405020304" pitchFamily="18" charset="0"/>
                <a:ea typeface="宋体" pitchFamily="2" charset="-122"/>
              </a:rPr>
              <a:t>BF(Brute-Force)</a:t>
            </a:r>
            <a:r>
              <a:rPr lang="zh-CN" altLang="zh-CN" kern="100" dirty="0">
                <a:effectLst/>
                <a:latin typeface="Times New Roman" panose="02020603050405020304" pitchFamily="18" charset="0"/>
                <a:ea typeface="宋体" pitchFamily="2" charset="-122"/>
              </a:rPr>
              <a:t>匹配函数。</a:t>
            </a:r>
            <a:r>
              <a:rPr lang="en-US" altLang="zh-CN" kern="100" dirty="0">
                <a:effectLst/>
                <a:latin typeface="Times New Roman" panose="02020603050405020304" pitchFamily="18" charset="0"/>
                <a:ea typeface="宋体" pitchFamily="2" charset="-122"/>
              </a:rPr>
              <a:t>cv2.BFMatcher()</a:t>
            </a:r>
            <a:r>
              <a:rPr lang="zh-CN" altLang="zh-CN" kern="100" dirty="0">
                <a:effectLst/>
                <a:latin typeface="Times New Roman" panose="02020603050405020304" pitchFamily="18" charset="0"/>
                <a:ea typeface="宋体" pitchFamily="2" charset="-122"/>
              </a:rPr>
              <a:t>实现图像的匹配，函数的调用语法：</a:t>
            </a:r>
            <a:endParaRPr lang="zh-CN" altLang="zh-CN" kern="100" dirty="0">
              <a:effectLst/>
              <a:latin typeface="Times New Roman" panose="02020603050405020304" pitchFamily="18" charset="0"/>
              <a:ea typeface="宋体" pitchFamily="2" charset="-122"/>
            </a:endParaRPr>
          </a:p>
          <a:p>
            <a:pPr indent="266700" algn="just"/>
            <a:r>
              <a:rPr lang="en-US" altLang="zh-CN" kern="100" dirty="0">
                <a:effectLst/>
                <a:latin typeface="Times New Roman" panose="02020603050405020304" pitchFamily="18" charset="0"/>
                <a:ea typeface="宋体" pitchFamily="2" charset="-122"/>
              </a:rPr>
              <a:t>bf = cv2.BFMatcher(</a:t>
            </a:r>
            <a:r>
              <a:rPr lang="en-US" altLang="zh-CN" kern="100" dirty="0" err="1">
                <a:effectLst/>
                <a:latin typeface="Times New Roman" panose="02020603050405020304" pitchFamily="18" charset="0"/>
                <a:ea typeface="宋体" pitchFamily="2" charset="-122"/>
              </a:rPr>
              <a:t>normType, crossCheck</a:t>
            </a:r>
            <a:r>
              <a:rPr lang="en-US" altLang="zh-CN" kern="100" dirty="0">
                <a:effectLst/>
                <a:latin typeface="Times New Roman" panose="02020603050405020304" pitchFamily="18" charset="0"/>
                <a:ea typeface="宋体" pitchFamily="2" charset="-122"/>
              </a:rPr>
              <a:t>=False)</a:t>
            </a:r>
            <a:endParaRPr lang="en-US" altLang="zh-CN" kern="100" dirty="0">
              <a:effectLst/>
              <a:latin typeface="Times New Roman" panose="02020603050405020304" pitchFamily="18" charset="0"/>
              <a:ea typeface="宋体" pitchFamily="2" charset="-122"/>
            </a:endParaRPr>
          </a:p>
          <a:p>
            <a:pPr indent="266700" algn="just"/>
            <a:endParaRPr lang="zh-CN" altLang="zh-CN" kern="100" dirty="0">
              <a:effectLst/>
              <a:latin typeface="Times New Roman" panose="02020603050405020304" pitchFamily="18" charset="0"/>
              <a:ea typeface="宋体" pitchFamily="2" charset="-122"/>
            </a:endParaRPr>
          </a:p>
          <a:p>
            <a:pPr indent="266700" algn="just"/>
            <a:r>
              <a:rPr lang="zh-CN" altLang="zh-CN" b="1" kern="100" dirty="0">
                <a:effectLst/>
                <a:latin typeface="Times New Roman" panose="02020603050405020304" pitchFamily="18" charset="0"/>
                <a:ea typeface="宋体" pitchFamily="2" charset="-122"/>
              </a:rPr>
              <a:t>参数说明：</a:t>
            </a:r>
            <a:endParaRPr lang="zh-CN" altLang="zh-CN" b="1"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bf</a:t>
            </a:r>
            <a:r>
              <a:rPr lang="zh-CN" altLang="zh-CN" kern="100" dirty="0">
                <a:effectLst/>
                <a:latin typeface="Times New Roman" panose="02020603050405020304" pitchFamily="18" charset="0"/>
                <a:ea typeface="宋体" pitchFamily="2" charset="-122"/>
              </a:rPr>
              <a:t>：表示匹配结果。</a:t>
            </a:r>
            <a:endParaRPr lang="zh-CN" altLang="zh-CN"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err="1">
                <a:effectLst/>
                <a:latin typeface="Times New Roman" panose="02020603050405020304" pitchFamily="18" charset="0"/>
                <a:ea typeface="宋体" pitchFamily="2" charset="-122"/>
              </a:rPr>
              <a:t>normType</a:t>
            </a:r>
            <a:r>
              <a:rPr lang="zh-CN" altLang="zh-CN" kern="100" dirty="0">
                <a:effectLst/>
                <a:latin typeface="Times New Roman" panose="02020603050405020304" pitchFamily="18" charset="0"/>
                <a:ea typeface="宋体" pitchFamily="2" charset="-122"/>
              </a:rPr>
              <a:t>：表示使用的距离测量类型。默认值为</a:t>
            </a:r>
            <a:r>
              <a:rPr lang="en-US" altLang="zh-CN" kern="100" dirty="0">
                <a:effectLst/>
                <a:latin typeface="Times New Roman" panose="02020603050405020304" pitchFamily="18" charset="0"/>
                <a:ea typeface="宋体" pitchFamily="2" charset="-122"/>
              </a:rPr>
              <a:t>cv2.Norm_L2</a:t>
            </a:r>
            <a:r>
              <a:rPr lang="zh-CN" altLang="zh-CN" kern="100" dirty="0">
                <a:effectLst/>
                <a:latin typeface="Times New Roman" panose="02020603050405020304" pitchFamily="18" charset="0"/>
                <a:ea typeface="宋体" pitchFamily="2" charset="-122"/>
              </a:rPr>
              <a:t>，适用于</a:t>
            </a:r>
            <a:r>
              <a:rPr lang="en-US" altLang="zh-CN" kern="100" dirty="0">
                <a:effectLst/>
                <a:latin typeface="Times New Roman" panose="02020603050405020304" pitchFamily="18" charset="0"/>
                <a:ea typeface="宋体" pitchFamily="2" charset="-122"/>
              </a:rPr>
              <a:t>SIFT</a:t>
            </a:r>
            <a:r>
              <a:rPr lang="zh-CN" altLang="zh-CN"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SURF</a:t>
            </a:r>
            <a:r>
              <a:rPr lang="zh-CN" altLang="zh-CN" kern="100" dirty="0">
                <a:effectLst/>
                <a:latin typeface="Times New Roman" panose="02020603050405020304" pitchFamily="18" charset="0"/>
                <a:ea typeface="宋体" pitchFamily="2" charset="-122"/>
              </a:rPr>
              <a:t>方法，还有一个参数为</a:t>
            </a:r>
            <a:r>
              <a:rPr lang="en-US" altLang="zh-CN" kern="100" dirty="0">
                <a:effectLst/>
                <a:latin typeface="Times New Roman" panose="02020603050405020304" pitchFamily="18" charset="0"/>
                <a:ea typeface="宋体" pitchFamily="2" charset="-122"/>
              </a:rPr>
              <a:t>cv2.Norm_L1</a:t>
            </a:r>
            <a:r>
              <a:rPr lang="zh-CN" altLang="zh-CN" kern="100" dirty="0">
                <a:effectLst/>
                <a:latin typeface="Times New Roman" panose="02020603050405020304" pitchFamily="18" charset="0"/>
                <a:ea typeface="宋体" pitchFamily="2" charset="-122"/>
              </a:rPr>
              <a:t>。如果是</a:t>
            </a:r>
            <a:r>
              <a:rPr lang="en-US" altLang="zh-CN" kern="100" dirty="0">
                <a:effectLst/>
                <a:latin typeface="Times New Roman" panose="02020603050405020304" pitchFamily="18" charset="0"/>
                <a:ea typeface="宋体" pitchFamily="2" charset="-122"/>
              </a:rPr>
              <a:t>ORB</a:t>
            </a:r>
            <a:r>
              <a:rPr lang="zh-CN" altLang="zh-CN"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BRIEF</a:t>
            </a:r>
            <a:r>
              <a:rPr lang="zh-CN" altLang="zh-CN"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BRISK</a:t>
            </a:r>
            <a:r>
              <a:rPr lang="zh-CN" altLang="zh-CN" kern="100" dirty="0">
                <a:effectLst/>
                <a:latin typeface="Times New Roman" panose="02020603050405020304" pitchFamily="18" charset="0"/>
                <a:ea typeface="宋体" pitchFamily="2" charset="-122"/>
              </a:rPr>
              <a:t>算法等，要用</a:t>
            </a:r>
            <a:r>
              <a:rPr lang="en-US" altLang="zh-CN" kern="100" dirty="0">
                <a:effectLst/>
                <a:latin typeface="Times New Roman" panose="02020603050405020304" pitchFamily="18" charset="0"/>
                <a:ea typeface="宋体" pitchFamily="2" charset="-122"/>
              </a:rPr>
              <a:t>cv2.NORM_HAMMING</a:t>
            </a:r>
            <a:r>
              <a:rPr lang="zh-CN" altLang="zh-CN" kern="100" dirty="0">
                <a:effectLst/>
                <a:latin typeface="Times New Roman" panose="02020603050405020304" pitchFamily="18" charset="0"/>
                <a:ea typeface="宋体" pitchFamily="2" charset="-122"/>
              </a:rPr>
              <a:t>。</a:t>
            </a:r>
            <a:endParaRPr lang="zh-CN" altLang="zh-CN"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err="1">
                <a:effectLst/>
                <a:latin typeface="Times New Roman" panose="02020603050405020304" pitchFamily="18" charset="0"/>
                <a:ea typeface="宋体" pitchFamily="2" charset="-122"/>
              </a:rPr>
              <a:t>crossCheck</a:t>
            </a:r>
            <a:r>
              <a:rPr lang="zh-CN" altLang="zh-CN" kern="100" dirty="0">
                <a:effectLst/>
                <a:latin typeface="Times New Roman" panose="02020603050405020304" pitchFamily="18" charset="0"/>
                <a:ea typeface="宋体" pitchFamily="2" charset="-122"/>
              </a:rPr>
              <a:t>：表示匹配条件。默认值是</a:t>
            </a:r>
            <a:r>
              <a:rPr lang="en-US" altLang="zh-CN" kern="100" dirty="0">
                <a:effectLst/>
                <a:latin typeface="Times New Roman" panose="02020603050405020304" pitchFamily="18" charset="0"/>
                <a:ea typeface="宋体" pitchFamily="2" charset="-122"/>
              </a:rPr>
              <a:t>False</a:t>
            </a:r>
            <a:r>
              <a:rPr lang="zh-CN" altLang="zh-CN" kern="100" dirty="0">
                <a:effectLst/>
                <a:latin typeface="Times New Roman" panose="02020603050405020304" pitchFamily="18" charset="0"/>
                <a:ea typeface="宋体" pitchFamily="2" charset="-122"/>
              </a:rPr>
              <a:t>，如果设置为</a:t>
            </a:r>
            <a:r>
              <a:rPr lang="en-US" altLang="zh-CN" kern="100" dirty="0">
                <a:effectLst/>
                <a:latin typeface="Times New Roman" panose="02020603050405020304" pitchFamily="18" charset="0"/>
                <a:ea typeface="宋体" pitchFamily="2" charset="-122"/>
              </a:rPr>
              <a:t>True</a:t>
            </a:r>
            <a:r>
              <a:rPr lang="zh-CN" altLang="zh-CN" kern="100" dirty="0">
                <a:effectLst/>
                <a:latin typeface="Times New Roman" panose="02020603050405020304" pitchFamily="18" charset="0"/>
                <a:ea typeface="宋体" pitchFamily="2" charset="-122"/>
              </a:rPr>
              <a:t>，匹配条件会更加严格。</a:t>
            </a:r>
            <a:endParaRPr lang="zh-CN" altLang="zh-CN" kern="100" dirty="0">
              <a:effectLst/>
              <a:latin typeface="Times New Roman" panose="0202060305040502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4.7.4  </a:t>
            </a:r>
            <a:r>
              <a:rPr lang="zh-CN" altLang="en-US" sz="2100" b="1" dirty="0">
                <a:solidFill>
                  <a:schemeClr val="tx1">
                    <a:lumMod val="75000"/>
                    <a:lumOff val="25000"/>
                  </a:schemeClr>
                </a:solidFill>
                <a:latin typeface="微软雅黑" panose="020B0503020204020204" pitchFamily="34" charset="-122"/>
              </a:rPr>
              <a:t>图像配准的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9" name="文本框 8"/>
          <p:cNvSpPr txBox="1"/>
          <p:nvPr/>
        </p:nvSpPr>
        <p:spPr>
          <a:xfrm>
            <a:off x="734276" y="1485616"/>
            <a:ext cx="7677035" cy="4293483"/>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4. </a:t>
            </a:r>
            <a:r>
              <a:rPr lang="zh-CN" altLang="zh-CN" kern="100" dirty="0">
                <a:effectLst/>
                <a:latin typeface="Times New Roman" panose="02020603050405020304" pitchFamily="18" charset="0"/>
                <a:ea typeface="宋体" pitchFamily="2" charset="-122"/>
              </a:rPr>
              <a:t>计算法</a:t>
            </a:r>
            <a:r>
              <a:rPr lang="en-US" altLang="zh-CN" kern="100" dirty="0">
                <a:effectLst/>
                <a:latin typeface="Times New Roman" panose="02020603050405020304" pitchFamily="18" charset="0"/>
                <a:ea typeface="宋体" pitchFamily="2" charset="-122"/>
              </a:rPr>
              <a:t>ORB</a:t>
            </a:r>
            <a:r>
              <a:rPr lang="zh-CN" altLang="zh-CN" kern="100" dirty="0">
                <a:effectLst/>
                <a:latin typeface="Times New Roman" panose="02020603050405020304" pitchFamily="18" charset="0"/>
                <a:ea typeface="宋体" pitchFamily="2" charset="-122"/>
              </a:rPr>
              <a:t>算法配准描述符的函数</a:t>
            </a:r>
            <a:r>
              <a:rPr lang="en-US" altLang="zh-CN" kern="100" dirty="0" err="1">
                <a:effectLst/>
                <a:latin typeface="Times New Roman" panose="02020603050405020304" pitchFamily="18" charset="0"/>
                <a:ea typeface="宋体" pitchFamily="2" charset="-122"/>
              </a:rPr>
              <a:t>bf.match</a:t>
            </a:r>
            <a:r>
              <a:rPr lang="en-US" altLang="zh-CN" kern="100" dirty="0">
                <a:effectLst/>
                <a:latin typeface="Times New Roman" panose="02020603050405020304" pitchFamily="18" charset="0"/>
                <a:ea typeface="宋体" pitchFamily="2" charset="-122"/>
              </a:rPr>
              <a:t>()</a:t>
            </a:r>
            <a:r>
              <a:rPr lang="zh-CN" altLang="zh-CN" kern="100" dirty="0">
                <a:effectLst/>
                <a:latin typeface="Times New Roman" panose="02020603050405020304" pitchFamily="18" charset="0"/>
                <a:ea typeface="宋体" pitchFamily="2" charset="-122"/>
              </a:rPr>
              <a:t>，</a:t>
            </a:r>
            <a:r>
              <a:rPr lang="en-US" altLang="zh-CN" kern="100" dirty="0" err="1">
                <a:effectLst/>
                <a:latin typeface="Times New Roman" panose="02020603050405020304" pitchFamily="18" charset="0"/>
                <a:ea typeface="宋体" pitchFamily="2" charset="-122"/>
              </a:rPr>
              <a:t>bf.match</a:t>
            </a:r>
            <a:r>
              <a:rPr lang="en-US" altLang="zh-CN" kern="100" dirty="0">
                <a:effectLst/>
                <a:latin typeface="Times New Roman" panose="02020603050405020304" pitchFamily="18" charset="0"/>
                <a:ea typeface="宋体" pitchFamily="2" charset="-122"/>
              </a:rPr>
              <a:t>()</a:t>
            </a:r>
            <a:r>
              <a:rPr lang="zh-CN" altLang="zh-CN" kern="100" dirty="0">
                <a:effectLst/>
                <a:latin typeface="Times New Roman" panose="02020603050405020304" pitchFamily="18" charset="0"/>
                <a:ea typeface="宋体" pitchFamily="2" charset="-122"/>
              </a:rPr>
              <a:t>函数的调用语法：</a:t>
            </a:r>
            <a:endParaRPr lang="zh-CN" altLang="zh-CN" kern="100" dirty="0">
              <a:effectLst/>
              <a:latin typeface="Times New Roman" panose="02020603050405020304" pitchFamily="18" charset="0"/>
              <a:ea typeface="宋体" pitchFamily="2" charset="-122"/>
            </a:endParaRPr>
          </a:p>
          <a:p>
            <a:pPr indent="266700" algn="just"/>
            <a:r>
              <a:rPr lang="en-US" altLang="zh-CN" kern="100" dirty="0" err="1">
                <a:effectLst/>
                <a:latin typeface="Times New Roman" panose="02020603050405020304" pitchFamily="18" charset="0"/>
                <a:ea typeface="宋体" pitchFamily="2" charset="-122"/>
              </a:rPr>
              <a:t>mathces</a:t>
            </a:r>
            <a:r>
              <a:rPr lang="en-US" altLang="zh-CN" kern="100" dirty="0">
                <a:effectLst/>
                <a:latin typeface="Times New Roman" panose="02020603050405020304" pitchFamily="18" charset="0"/>
                <a:ea typeface="宋体" pitchFamily="2" charset="-122"/>
              </a:rPr>
              <a:t>=</a:t>
            </a:r>
            <a:r>
              <a:rPr lang="en-US" altLang="zh-CN" kern="100" dirty="0" err="1">
                <a:effectLst/>
                <a:latin typeface="Times New Roman" panose="02020603050405020304" pitchFamily="18" charset="0"/>
                <a:ea typeface="宋体" pitchFamily="2" charset="-122"/>
              </a:rPr>
              <a:t>bf.match</a:t>
            </a:r>
            <a:r>
              <a:rPr lang="en-US" altLang="zh-CN" kern="100" dirty="0">
                <a:effectLst/>
                <a:latin typeface="Times New Roman" panose="02020603050405020304" pitchFamily="18" charset="0"/>
                <a:ea typeface="宋体" pitchFamily="2" charset="-122"/>
              </a:rPr>
              <a:t>(des1,des2)</a:t>
            </a:r>
            <a:endParaRPr lang="zh-CN" altLang="zh-CN" kern="100" dirty="0">
              <a:effectLst/>
              <a:latin typeface="Times New Roman" panose="02020603050405020304" pitchFamily="18" charset="0"/>
              <a:ea typeface="宋体" pitchFamily="2" charset="-122"/>
            </a:endParaRPr>
          </a:p>
          <a:p>
            <a:pPr indent="266700" algn="just"/>
            <a:r>
              <a:rPr lang="zh-CN" altLang="zh-CN" kern="100" dirty="0">
                <a:effectLst/>
                <a:latin typeface="Times New Roman" panose="02020603050405020304" pitchFamily="18" charset="0"/>
                <a:ea typeface="宋体" pitchFamily="2" charset="-122"/>
              </a:rPr>
              <a:t>参数说明：</a:t>
            </a:r>
            <a:endParaRPr lang="zh-CN" altLang="zh-CN"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matches</a:t>
            </a:r>
            <a:r>
              <a:rPr lang="zh-CN" altLang="zh-CN" kern="100" dirty="0">
                <a:effectLst/>
                <a:latin typeface="Times New Roman" panose="02020603050405020304" pitchFamily="18" charset="0"/>
                <a:ea typeface="宋体" pitchFamily="2" charset="-122"/>
              </a:rPr>
              <a:t>：表示匹配的对象。</a:t>
            </a:r>
            <a:endParaRPr lang="zh-CN" altLang="zh-CN"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des1</a:t>
            </a:r>
            <a:r>
              <a:rPr lang="zh-CN" altLang="zh-CN" kern="100" dirty="0">
                <a:effectLst/>
                <a:latin typeface="Times New Roman" panose="02020603050405020304" pitchFamily="18" charset="0"/>
                <a:ea typeface="宋体" pitchFamily="2" charset="-122"/>
              </a:rPr>
              <a:t>：表示输出</a:t>
            </a:r>
            <a:r>
              <a:rPr lang="en-US" altLang="zh-CN" kern="100" dirty="0">
                <a:effectLst/>
                <a:latin typeface="Times New Roman" panose="02020603050405020304" pitchFamily="18" charset="0"/>
                <a:ea typeface="宋体" pitchFamily="2" charset="-122"/>
              </a:rPr>
              <a:t>ORB</a:t>
            </a:r>
            <a:r>
              <a:rPr lang="zh-CN" altLang="zh-CN" kern="100" dirty="0">
                <a:effectLst/>
                <a:latin typeface="Times New Roman" panose="02020603050405020304" pitchFamily="18" charset="0"/>
                <a:ea typeface="宋体" pitchFamily="2" charset="-122"/>
              </a:rPr>
              <a:t>算法计算的模板图像描述符。</a:t>
            </a:r>
            <a:endParaRPr lang="zh-CN" altLang="zh-CN"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des2</a:t>
            </a:r>
            <a:r>
              <a:rPr lang="zh-CN" altLang="zh-CN" kern="100" dirty="0">
                <a:effectLst/>
                <a:latin typeface="Times New Roman" panose="02020603050405020304" pitchFamily="18" charset="0"/>
                <a:ea typeface="宋体" pitchFamily="2" charset="-122"/>
              </a:rPr>
              <a:t>：表示输出</a:t>
            </a:r>
            <a:r>
              <a:rPr lang="en-US" altLang="zh-CN" kern="100" dirty="0">
                <a:effectLst/>
                <a:latin typeface="Times New Roman" panose="02020603050405020304" pitchFamily="18" charset="0"/>
                <a:ea typeface="宋体" pitchFamily="2" charset="-122"/>
              </a:rPr>
              <a:t>ORB</a:t>
            </a:r>
            <a:r>
              <a:rPr lang="zh-CN" altLang="zh-CN" kern="100" dirty="0">
                <a:effectLst/>
                <a:latin typeface="Times New Roman" panose="02020603050405020304" pitchFamily="18" charset="0"/>
                <a:ea typeface="宋体" pitchFamily="2" charset="-122"/>
              </a:rPr>
              <a:t>算法计算的目标图像描述符</a:t>
            </a:r>
            <a:endParaRPr lang="zh-CN" altLang="zh-CN" kern="100" dirty="0">
              <a:effectLst/>
              <a:latin typeface="Times New Roman" panose="02020603050405020304" pitchFamily="18" charset="0"/>
              <a:ea typeface="宋体" pitchFamily="2" charset="-122"/>
            </a:endParaRPr>
          </a:p>
          <a:p>
            <a:pPr indent="266700" algn="just"/>
            <a:endParaRPr lang="en-US" altLang="zh-CN" kern="100" dirty="0">
              <a:effectLst/>
              <a:latin typeface="Times New Roman" panose="02020603050405020304" pitchFamily="18" charset="0"/>
              <a:ea typeface="宋体" pitchFamily="2" charset="-122"/>
            </a:endParaRPr>
          </a:p>
          <a:p>
            <a:pPr indent="266700" algn="just"/>
            <a:r>
              <a:rPr lang="en-US" altLang="zh-CN" kern="100" dirty="0">
                <a:effectLst/>
                <a:latin typeface="Times New Roman" panose="02020603050405020304" pitchFamily="18" charset="0"/>
                <a:ea typeface="宋体" pitchFamily="2" charset="-122"/>
              </a:rPr>
              <a:t>5. </a:t>
            </a:r>
            <a:r>
              <a:rPr lang="zh-CN" altLang="zh-CN" kern="100" dirty="0">
                <a:effectLst/>
                <a:latin typeface="Times New Roman" panose="02020603050405020304" pitchFamily="18" charset="0"/>
                <a:ea typeface="宋体" pitchFamily="2" charset="-122"/>
              </a:rPr>
              <a:t>依据距离排序的函数</a:t>
            </a:r>
            <a:r>
              <a:rPr lang="en-US" altLang="zh-CN" kern="100" dirty="0">
                <a:effectLst/>
                <a:latin typeface="Times New Roman" panose="02020603050405020304" pitchFamily="18" charset="0"/>
                <a:ea typeface="宋体" pitchFamily="2" charset="-122"/>
              </a:rPr>
              <a:t>sorted()</a:t>
            </a:r>
            <a:r>
              <a:rPr lang="zh-CN" altLang="zh-CN"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sorted()</a:t>
            </a:r>
            <a:r>
              <a:rPr lang="zh-CN" altLang="zh-CN" kern="100" dirty="0">
                <a:effectLst/>
                <a:latin typeface="Times New Roman" panose="02020603050405020304" pitchFamily="18" charset="0"/>
                <a:ea typeface="宋体" pitchFamily="2" charset="-122"/>
              </a:rPr>
              <a:t>的调用语法为：</a:t>
            </a:r>
            <a:endParaRPr lang="zh-CN" altLang="zh-CN" kern="100" dirty="0">
              <a:effectLst/>
              <a:latin typeface="Times New Roman" panose="02020603050405020304" pitchFamily="18" charset="0"/>
              <a:ea typeface="宋体" pitchFamily="2" charset="-122"/>
            </a:endParaRPr>
          </a:p>
          <a:p>
            <a:pPr indent="266700" algn="just"/>
            <a:r>
              <a:rPr lang="en-US" altLang="zh-CN" kern="100" dirty="0" err="1">
                <a:effectLst/>
                <a:latin typeface="Times New Roman" panose="02020603050405020304" pitchFamily="18" charset="0"/>
                <a:ea typeface="宋体" pitchFamily="2" charset="-122"/>
              </a:rPr>
              <a:t>mathces</a:t>
            </a:r>
            <a:r>
              <a:rPr lang="en-US" altLang="zh-CN" kern="100" dirty="0">
                <a:effectLst/>
                <a:latin typeface="Times New Roman" panose="02020603050405020304" pitchFamily="18" charset="0"/>
                <a:ea typeface="宋体" pitchFamily="2" charset="-122"/>
              </a:rPr>
              <a:t>=sorted(</a:t>
            </a:r>
            <a:r>
              <a:rPr lang="en-US" altLang="zh-CN" kern="100" dirty="0" err="1">
                <a:effectLst/>
                <a:latin typeface="Times New Roman" panose="02020603050405020304" pitchFamily="18" charset="0"/>
                <a:ea typeface="宋体" pitchFamily="2" charset="-122"/>
              </a:rPr>
              <a:t>mathces,key</a:t>
            </a:r>
            <a:r>
              <a:rPr lang="en-US" altLang="zh-CN" kern="100" dirty="0">
                <a:effectLst/>
                <a:latin typeface="Times New Roman" panose="02020603050405020304" pitchFamily="18" charset="0"/>
                <a:ea typeface="宋体" pitchFamily="2" charset="-122"/>
              </a:rPr>
              <a:t>=lambda x:x.distance)</a:t>
            </a:r>
            <a:endParaRPr lang="zh-CN" altLang="zh-CN" kern="100" dirty="0">
              <a:effectLst/>
              <a:latin typeface="Times New Roman" panose="02020603050405020304" pitchFamily="18" charset="0"/>
              <a:ea typeface="宋体" pitchFamily="2" charset="-122"/>
            </a:endParaRPr>
          </a:p>
          <a:p>
            <a:pPr indent="266700" algn="just"/>
            <a:r>
              <a:rPr lang="zh-CN" altLang="zh-CN" kern="100" dirty="0">
                <a:effectLst/>
                <a:latin typeface="Times New Roman" panose="02020603050405020304" pitchFamily="18" charset="0"/>
                <a:ea typeface="宋体" pitchFamily="2" charset="-122"/>
              </a:rPr>
              <a:t>参数说明：</a:t>
            </a:r>
            <a:endParaRPr lang="zh-CN" altLang="zh-CN"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matches</a:t>
            </a:r>
            <a:r>
              <a:rPr lang="zh-CN" altLang="zh-CN" kern="100" dirty="0">
                <a:effectLst/>
                <a:latin typeface="Times New Roman" panose="02020603050405020304" pitchFamily="18" charset="0"/>
                <a:ea typeface="宋体" pitchFamily="2" charset="-122"/>
              </a:rPr>
              <a:t>：表示待排序的对象。</a:t>
            </a:r>
            <a:endParaRPr lang="zh-CN" altLang="zh-CN"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key=lambda x:x.distance</a:t>
            </a:r>
            <a:r>
              <a:rPr lang="zh-CN" altLang="zh-CN" kern="100" dirty="0">
                <a:effectLst/>
                <a:latin typeface="Times New Roman" panose="02020603050405020304" pitchFamily="18" charset="0"/>
                <a:ea typeface="宋体" pitchFamily="2" charset="-122"/>
              </a:rPr>
              <a:t>：表示待排序对象依据距离进行排序。</a:t>
            </a:r>
            <a:endParaRPr lang="zh-CN" altLang="zh-CN" kern="100" dirty="0">
              <a:effectLst/>
              <a:latin typeface="Times New Roman" panose="02020603050405020304" pitchFamily="18" charset="0"/>
              <a:ea typeface="宋体" pitchFamily="2" charset="-122"/>
            </a:endParaRPr>
          </a:p>
        </p:txBody>
      </p:sp>
      <p:sp>
        <p:nvSpPr>
          <p:cNvPr id="2" name="文本框 1"/>
          <p:cNvSpPr txBox="1"/>
          <p:nvPr/>
        </p:nvSpPr>
        <p:spPr>
          <a:xfrm>
            <a:off x="577850" y="6271260"/>
            <a:ext cx="6185535" cy="414020"/>
          </a:xfrm>
          <a:prstGeom prst="rect">
            <a:avLst/>
          </a:prstGeom>
          <a:noFill/>
        </p:spPr>
        <p:txBody>
          <a:bodyPr wrap="square" rtlCol="0">
            <a:spAutoFit/>
          </a:bodyPr>
          <a:p>
            <a:r>
              <a:rPr lang="zh-CN" altLang="en-US"/>
              <a:t>https://juejin.cn/post/7224439284589510716</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4.7.4  </a:t>
            </a:r>
            <a:r>
              <a:rPr lang="zh-CN" altLang="en-US" sz="2100" b="1" dirty="0">
                <a:solidFill>
                  <a:schemeClr val="tx1">
                    <a:lumMod val="75000"/>
                    <a:lumOff val="25000"/>
                  </a:schemeClr>
                </a:solidFill>
                <a:latin typeface="微软雅黑" panose="020B0503020204020204" pitchFamily="34" charset="-122"/>
              </a:rPr>
              <a:t>图像配准的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9" name="文本框 8"/>
          <p:cNvSpPr txBox="1"/>
          <p:nvPr/>
        </p:nvSpPr>
        <p:spPr>
          <a:xfrm>
            <a:off x="712183" y="1323710"/>
            <a:ext cx="7677035" cy="5262979"/>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6. OpenCV</a:t>
            </a:r>
            <a:r>
              <a:rPr lang="zh-CN" altLang="zh-CN" kern="100" dirty="0">
                <a:effectLst/>
                <a:latin typeface="Times New Roman" panose="02020603050405020304" pitchFamily="18" charset="0"/>
                <a:ea typeface="宋体" pitchFamily="2" charset="-122"/>
              </a:rPr>
              <a:t>提供了函数</a:t>
            </a:r>
            <a:r>
              <a:rPr lang="en-US" altLang="zh-CN" kern="100" dirty="0">
                <a:effectLst/>
                <a:latin typeface="Times New Roman" panose="02020603050405020304" pitchFamily="18" charset="0"/>
                <a:ea typeface="宋体" pitchFamily="2" charset="-122"/>
              </a:rPr>
              <a:t>cv2.drawMatches()</a:t>
            </a:r>
            <a:r>
              <a:rPr lang="zh-CN" altLang="zh-CN" kern="100" dirty="0">
                <a:effectLst/>
                <a:latin typeface="Times New Roman" panose="02020603050405020304" pitchFamily="18" charset="0"/>
                <a:ea typeface="宋体" pitchFamily="2" charset="-122"/>
              </a:rPr>
              <a:t>来画匹配关系，</a:t>
            </a:r>
            <a:r>
              <a:rPr lang="en-US" altLang="zh-CN" kern="100" dirty="0">
                <a:effectLst/>
                <a:latin typeface="Times New Roman" panose="02020603050405020304" pitchFamily="18" charset="0"/>
                <a:ea typeface="宋体" pitchFamily="2" charset="-122"/>
              </a:rPr>
              <a:t>cv2.drawMatches()</a:t>
            </a:r>
            <a:r>
              <a:rPr lang="zh-CN" altLang="zh-CN" kern="100" dirty="0">
                <a:effectLst/>
                <a:latin typeface="Times New Roman" panose="02020603050405020304" pitchFamily="18" charset="0"/>
                <a:ea typeface="宋体" pitchFamily="2" charset="-122"/>
              </a:rPr>
              <a:t>函数的调用语法为：</a:t>
            </a:r>
            <a:endParaRPr lang="zh-CN" altLang="zh-CN" kern="100" dirty="0">
              <a:effectLst/>
              <a:latin typeface="Times New Roman" panose="02020603050405020304" pitchFamily="18" charset="0"/>
              <a:ea typeface="宋体" pitchFamily="2" charset="-122"/>
            </a:endParaRPr>
          </a:p>
          <a:p>
            <a:pPr indent="266700" algn="l"/>
            <a:r>
              <a:rPr lang="en-US" altLang="zh-CN" kern="100" dirty="0">
                <a:effectLst/>
                <a:latin typeface="Times New Roman" panose="02020603050405020304" pitchFamily="18" charset="0"/>
                <a:ea typeface="宋体" pitchFamily="2" charset="-122"/>
              </a:rPr>
              <a:t>result= cv2.drawMatches(template,kp1,target,kp2,mathces[:40],</a:t>
            </a:r>
            <a:r>
              <a:rPr lang="en-US" altLang="zh-CN" kern="100" dirty="0" err="1">
                <a:effectLst/>
                <a:latin typeface="Times New Roman" panose="02020603050405020304" pitchFamily="18" charset="0"/>
                <a:ea typeface="宋体" pitchFamily="2" charset="-122"/>
              </a:rPr>
              <a:t>matchesMask,flags</a:t>
            </a:r>
            <a:r>
              <a:rPr lang="en-US" altLang="zh-CN" kern="100" dirty="0">
                <a:effectLst/>
                <a:latin typeface="Times New Roman" panose="02020603050405020304" pitchFamily="18" charset="0"/>
                <a:ea typeface="宋体" pitchFamily="2" charset="-122"/>
              </a:rPr>
              <a:t>=2)</a:t>
            </a:r>
            <a:endParaRPr lang="zh-CN" altLang="zh-CN" kern="100" dirty="0">
              <a:effectLst/>
              <a:latin typeface="Times New Roman" panose="02020603050405020304" pitchFamily="18" charset="0"/>
              <a:ea typeface="宋体" pitchFamily="2" charset="-122"/>
            </a:endParaRPr>
          </a:p>
          <a:p>
            <a:pPr indent="266700" algn="just"/>
            <a:r>
              <a:rPr lang="zh-CN" altLang="zh-CN" kern="100" dirty="0">
                <a:effectLst/>
                <a:latin typeface="Times New Roman" panose="02020603050405020304" pitchFamily="18" charset="0"/>
                <a:ea typeface="宋体" pitchFamily="2" charset="-122"/>
              </a:rPr>
              <a:t>参数说明：</a:t>
            </a:r>
            <a:endParaRPr lang="zh-CN" altLang="zh-CN"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result</a:t>
            </a:r>
            <a:r>
              <a:rPr lang="zh-CN" altLang="zh-CN" kern="100" dirty="0">
                <a:effectLst/>
                <a:latin typeface="Times New Roman" panose="02020603050405020304" pitchFamily="18" charset="0"/>
                <a:ea typeface="宋体" pitchFamily="2" charset="-122"/>
              </a:rPr>
              <a:t>：表示匹配结果的图像。</a:t>
            </a:r>
            <a:endParaRPr lang="zh-CN" altLang="zh-CN"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template</a:t>
            </a:r>
            <a:r>
              <a:rPr lang="zh-CN" altLang="zh-CN" kern="100" dirty="0">
                <a:effectLst/>
                <a:latin typeface="Times New Roman" panose="02020603050405020304" pitchFamily="18" charset="0"/>
                <a:ea typeface="宋体" pitchFamily="2" charset="-122"/>
              </a:rPr>
              <a:t>：表示输入的模板图像。</a:t>
            </a:r>
            <a:endParaRPr lang="zh-CN" altLang="zh-CN"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kp1</a:t>
            </a:r>
            <a:r>
              <a:rPr lang="zh-CN" altLang="zh-CN" kern="100" dirty="0">
                <a:effectLst/>
                <a:latin typeface="Times New Roman" panose="02020603050405020304" pitchFamily="18" charset="0"/>
                <a:ea typeface="宋体" pitchFamily="2" charset="-122"/>
              </a:rPr>
              <a:t>：表示模板图像的特征点。</a:t>
            </a:r>
            <a:endParaRPr lang="zh-CN" altLang="zh-CN"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target</a:t>
            </a:r>
            <a:r>
              <a:rPr lang="zh-CN" altLang="zh-CN" kern="100" dirty="0">
                <a:effectLst/>
                <a:latin typeface="Times New Roman" panose="02020603050405020304" pitchFamily="18" charset="0"/>
                <a:ea typeface="宋体" pitchFamily="2" charset="-122"/>
              </a:rPr>
              <a:t>：表示输入的目标图像。</a:t>
            </a:r>
            <a:endParaRPr lang="zh-CN" altLang="zh-CN"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kp2</a:t>
            </a:r>
            <a:r>
              <a:rPr lang="zh-CN" altLang="zh-CN" kern="100" dirty="0">
                <a:effectLst/>
                <a:latin typeface="Times New Roman" panose="02020603050405020304" pitchFamily="18" charset="0"/>
                <a:ea typeface="宋体" pitchFamily="2" charset="-122"/>
              </a:rPr>
              <a:t>：表示目标图像的特征点。</a:t>
            </a:r>
            <a:endParaRPr lang="zh-CN" altLang="zh-CN"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err="1">
                <a:effectLst/>
                <a:latin typeface="Times New Roman" panose="02020603050405020304" pitchFamily="18" charset="0"/>
                <a:ea typeface="宋体" pitchFamily="2" charset="-122"/>
              </a:rPr>
              <a:t>mathces</a:t>
            </a:r>
            <a:r>
              <a:rPr lang="en-US" altLang="zh-CN" kern="100" dirty="0">
                <a:effectLst/>
                <a:latin typeface="Times New Roman" panose="02020603050405020304" pitchFamily="18" charset="0"/>
                <a:ea typeface="宋体" pitchFamily="2" charset="-122"/>
              </a:rPr>
              <a:t>[:40]</a:t>
            </a:r>
            <a:r>
              <a:rPr lang="zh-CN" altLang="zh-CN" kern="100" dirty="0">
                <a:effectLst/>
                <a:latin typeface="Times New Roman" panose="02020603050405020304" pitchFamily="18" charset="0"/>
                <a:ea typeface="宋体" pitchFamily="2" charset="-122"/>
              </a:rPr>
              <a:t>：表示模板图像的特征点匹配目标图像的特征点</a:t>
            </a:r>
            <a:r>
              <a:rPr lang="en-US" altLang="zh-CN" kern="100" dirty="0">
                <a:effectLst/>
                <a:latin typeface="Times New Roman" panose="02020603050405020304" pitchFamily="18" charset="0"/>
                <a:ea typeface="宋体" pitchFamily="2" charset="-122"/>
              </a:rPr>
              <a:t>40</a:t>
            </a:r>
            <a:r>
              <a:rPr lang="zh-CN" altLang="zh-CN" kern="100" dirty="0">
                <a:effectLst/>
                <a:latin typeface="Times New Roman" panose="02020603050405020304" pitchFamily="18" charset="0"/>
                <a:ea typeface="宋体" pitchFamily="2" charset="-122"/>
              </a:rPr>
              <a:t>个。</a:t>
            </a:r>
            <a:endParaRPr lang="zh-CN" altLang="zh-CN"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err="1">
                <a:effectLst/>
                <a:latin typeface="Times New Roman" panose="02020603050405020304" pitchFamily="18" charset="0"/>
                <a:ea typeface="宋体" pitchFamily="2" charset="-122"/>
              </a:rPr>
              <a:t>matchesMask</a:t>
            </a:r>
            <a:r>
              <a:rPr lang="zh-CN" altLang="zh-CN" kern="100" dirty="0">
                <a:effectLst/>
                <a:latin typeface="Times New Roman" panose="02020603050405020304" pitchFamily="18" charset="0"/>
                <a:ea typeface="宋体" pitchFamily="2" charset="-122"/>
              </a:rPr>
              <a:t>：表示被画出的点。若为</a:t>
            </a:r>
            <a:r>
              <a:rPr lang="en-US" altLang="zh-CN" kern="100" dirty="0">
                <a:effectLst/>
                <a:latin typeface="Times New Roman" panose="02020603050405020304" pitchFamily="18" charset="0"/>
                <a:ea typeface="宋体" pitchFamily="2" charset="-122"/>
              </a:rPr>
              <a:t>None</a:t>
            </a:r>
            <a:r>
              <a:rPr lang="zh-CN" altLang="zh-CN" kern="100" dirty="0">
                <a:effectLst/>
                <a:latin typeface="Times New Roman" panose="02020603050405020304" pitchFamily="18" charset="0"/>
                <a:ea typeface="宋体" pitchFamily="2" charset="-122"/>
              </a:rPr>
              <a:t>表示画出所有匹配点。</a:t>
            </a:r>
            <a:endParaRPr lang="zh-CN" altLang="zh-CN" kern="100" dirty="0">
              <a:effectLst/>
              <a:latin typeface="Times New Roman" panose="02020603050405020304" pitchFamily="18" charset="0"/>
              <a:ea typeface="宋体" pitchFamily="2" charset="-122"/>
            </a:endParaRPr>
          </a:p>
          <a:p>
            <a:r>
              <a:rPr lang="en-US" altLang="zh-CN" kern="100" dirty="0">
                <a:effectLst/>
                <a:latin typeface="Times New Roman" panose="02020603050405020304" pitchFamily="18" charset="0"/>
                <a:ea typeface="宋体" pitchFamily="2" charset="-122"/>
              </a:rPr>
              <a:t>flags</a:t>
            </a:r>
            <a:r>
              <a:rPr lang="zh-CN" altLang="zh-CN" kern="100" dirty="0">
                <a:effectLst/>
                <a:latin typeface="Times New Roman" panose="02020603050405020304" pitchFamily="18" charset="0"/>
                <a:ea typeface="宋体" pitchFamily="2" charset="-122"/>
                <a:cs typeface="Times New Roman" panose="02020603050405020304" pitchFamily="18" charset="0"/>
              </a:rPr>
              <a:t>：表示匹配图像的个数。</a:t>
            </a:r>
            <a:endParaRPr lang="zh-CN" altLang="zh-CN" kern="100" dirty="0">
              <a:effectLst/>
              <a:latin typeface="Times New Roman" panose="0202060305040502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4.7.4  </a:t>
            </a:r>
            <a:r>
              <a:rPr lang="zh-CN" altLang="en-US" sz="2100" b="1" dirty="0">
                <a:solidFill>
                  <a:schemeClr val="tx1">
                    <a:lumMod val="75000"/>
                    <a:lumOff val="25000"/>
                  </a:schemeClr>
                </a:solidFill>
                <a:latin typeface="微软雅黑" panose="020B0503020204020204" pitchFamily="34" charset="-122"/>
              </a:rPr>
              <a:t>图像配准的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10" name="文本框 9"/>
          <p:cNvSpPr txBox="1"/>
          <p:nvPr/>
        </p:nvSpPr>
        <p:spPr>
          <a:xfrm>
            <a:off x="142957" y="1228837"/>
            <a:ext cx="8822325" cy="415498"/>
          </a:xfrm>
          <a:prstGeom prst="rect">
            <a:avLst/>
          </a:prstGeom>
          <a:noFill/>
        </p:spPr>
        <p:txBody>
          <a:bodyPr wrap="square">
            <a:spAutoFit/>
          </a:bodyPr>
          <a:lstStyle/>
          <a:p>
            <a:pPr indent="266700" algn="just"/>
            <a:r>
              <a:rPr lang="zh-CN" altLang="zh-CN" kern="100" dirty="0">
                <a:effectLst/>
                <a:latin typeface="Times New Roman" panose="02020603050405020304" pitchFamily="18" charset="0"/>
                <a:ea typeface="宋体" pitchFamily="2" charset="-122"/>
              </a:rPr>
              <a:t>利用</a:t>
            </a:r>
            <a:r>
              <a:rPr lang="en-US" altLang="zh-CN" kern="100" dirty="0">
                <a:effectLst/>
                <a:latin typeface="Times New Roman" panose="02020603050405020304" pitchFamily="18" charset="0"/>
                <a:ea typeface="宋体" pitchFamily="2" charset="-122"/>
              </a:rPr>
              <a:t>ORB</a:t>
            </a:r>
            <a:r>
              <a:rPr lang="zh-CN" altLang="zh-CN" kern="100" dirty="0">
                <a:effectLst/>
                <a:latin typeface="Times New Roman" panose="02020603050405020304" pitchFamily="18" charset="0"/>
                <a:ea typeface="宋体" pitchFamily="2" charset="-122"/>
              </a:rPr>
              <a:t>算法实现基于特征的配准方法，相应的代码如下：</a:t>
            </a:r>
            <a:endParaRPr lang="zh-CN" altLang="zh-CN" kern="100" dirty="0">
              <a:effectLst/>
              <a:latin typeface="Times New Roman" panose="02020603050405020304" pitchFamily="18" charset="0"/>
              <a:ea typeface="宋体" pitchFamily="2" charset="-122"/>
            </a:endParaRPr>
          </a:p>
        </p:txBody>
      </p:sp>
      <p:sp>
        <p:nvSpPr>
          <p:cNvPr id="9" name="文本框 8"/>
          <p:cNvSpPr txBox="1"/>
          <p:nvPr/>
        </p:nvSpPr>
        <p:spPr>
          <a:xfrm>
            <a:off x="204205" y="1785371"/>
            <a:ext cx="8844100" cy="4524315"/>
          </a:xfrm>
          <a:prstGeom prst="rect">
            <a:avLst/>
          </a:prstGeom>
          <a:noFill/>
        </p:spPr>
        <p:txBody>
          <a:bodyPr wrap="square">
            <a:spAutoFit/>
          </a:bodyPr>
          <a:lstStyle/>
          <a:p>
            <a:pPr indent="266700" algn="just"/>
            <a:r>
              <a:rPr lang="en-US" altLang="zh-CN" sz="1800" kern="100" dirty="0">
                <a:solidFill>
                  <a:srgbClr val="000000"/>
                </a:solidFill>
                <a:effectLst/>
                <a:latin typeface="Times New Roman" panose="02020603050405020304" pitchFamily="18" charset="0"/>
                <a:ea typeface="宋体" pitchFamily="2" charset="-122"/>
              </a:rPr>
              <a:t>import cv2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from matplotlib import </a:t>
            </a:r>
            <a:r>
              <a:rPr lang="en-US" altLang="zh-CN" sz="1800" kern="100" dirty="0" err="1">
                <a:solidFill>
                  <a:srgbClr val="000000"/>
                </a:solidFill>
                <a:effectLst/>
                <a:latin typeface="Times New Roman" panose="02020603050405020304" pitchFamily="18" charset="0"/>
                <a:ea typeface="宋体" pitchFamily="2" charset="-122"/>
              </a:rPr>
              <a:t>pyplot</a:t>
            </a:r>
            <a:r>
              <a:rPr lang="en-US" altLang="zh-CN" sz="1800" kern="100" dirty="0">
                <a:solidFill>
                  <a:srgbClr val="000000"/>
                </a:solidFill>
                <a:effectLst/>
                <a:latin typeface="Times New Roman" panose="02020603050405020304" pitchFamily="18" charset="0"/>
                <a:ea typeface="宋体" pitchFamily="2" charset="-122"/>
              </a:rPr>
              <a:t> as </a:t>
            </a:r>
            <a:r>
              <a:rPr lang="en-US" altLang="zh-CN" sz="1800" kern="100" dirty="0" err="1">
                <a:solidFill>
                  <a:srgbClr val="000000"/>
                </a:solidFill>
                <a:effectLst/>
                <a:latin typeface="Times New Roman" panose="02020603050405020304" pitchFamily="18" charset="0"/>
                <a:ea typeface="宋体" pitchFamily="2" charset="-122"/>
              </a:rPr>
              <a:t>plt</a:t>
            </a:r>
            <a:r>
              <a:rPr lang="en-US" altLang="zh-CN" sz="1800" kern="100" dirty="0">
                <a:solidFill>
                  <a:srgbClr val="000000"/>
                </a:solidFill>
                <a:effectLst/>
                <a:latin typeface="Times New Roman" panose="02020603050405020304" pitchFamily="18" charset="0"/>
                <a:ea typeface="宋体" pitchFamily="2" charset="-122"/>
              </a:rPr>
              <a:t>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template=cv2.imread('D:\ template.jpg',1) 		#</a:t>
            </a:r>
            <a:r>
              <a:rPr lang="zh-CN" altLang="zh-CN" sz="1800" kern="100" dirty="0">
                <a:solidFill>
                  <a:srgbClr val="000000"/>
                </a:solidFill>
                <a:effectLst/>
                <a:latin typeface="Times New Roman" panose="02020603050405020304" pitchFamily="18" charset="0"/>
                <a:ea typeface="宋体" pitchFamily="2" charset="-122"/>
              </a:rPr>
              <a:t>读取模板图像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target=cv2.imread('D:\ target.jpg',1) 		#</a:t>
            </a:r>
            <a:r>
              <a:rPr lang="zh-CN" altLang="zh-CN" sz="1800" kern="100" dirty="0">
                <a:solidFill>
                  <a:srgbClr val="000000"/>
                </a:solidFill>
                <a:effectLst/>
                <a:latin typeface="Times New Roman" panose="02020603050405020304" pitchFamily="18" charset="0"/>
                <a:ea typeface="宋体" pitchFamily="2" charset="-122"/>
              </a:rPr>
              <a:t>读取目标图像</a:t>
            </a:r>
            <a:r>
              <a:rPr lang="en-US" altLang="zh-CN" sz="1800" kern="100" dirty="0">
                <a:effectLst/>
                <a:latin typeface="Times New Roman" panose="02020603050405020304" pitchFamily="18" charset="0"/>
                <a:ea typeface="宋体" pitchFamily="2" charset="-122"/>
              </a:rPr>
              <a:t>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a:t>
            </a:r>
            <a:r>
              <a:rPr lang="zh-CN" altLang="zh-CN" sz="1800" kern="100" dirty="0">
                <a:solidFill>
                  <a:srgbClr val="000000"/>
                </a:solidFill>
                <a:effectLst/>
                <a:latin typeface="Times New Roman" panose="02020603050405020304" pitchFamily="18" charset="0"/>
                <a:ea typeface="宋体" pitchFamily="2" charset="-122"/>
              </a:rPr>
              <a:t>建立</a:t>
            </a:r>
            <a:r>
              <a:rPr lang="en-US" altLang="zh-CN" sz="1800" kern="100" dirty="0">
                <a:solidFill>
                  <a:srgbClr val="000000"/>
                </a:solidFill>
                <a:effectLst/>
                <a:latin typeface="Times New Roman" panose="02020603050405020304" pitchFamily="18" charset="0"/>
                <a:ea typeface="宋体" pitchFamily="2" charset="-122"/>
              </a:rPr>
              <a:t>ORB</a:t>
            </a:r>
            <a:r>
              <a:rPr lang="zh-CN" altLang="zh-CN" sz="1800" kern="100" dirty="0">
                <a:solidFill>
                  <a:srgbClr val="000000"/>
                </a:solidFill>
                <a:effectLst/>
                <a:latin typeface="Times New Roman" panose="02020603050405020304" pitchFamily="18" charset="0"/>
                <a:ea typeface="宋体" pitchFamily="2" charset="-122"/>
              </a:rPr>
              <a:t>特征检测器</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orb=cv2.ORB_create(</a:t>
            </a:r>
            <a:r>
              <a:rPr lang="en-US" altLang="zh-CN" sz="1800" kern="100" dirty="0" err="1">
                <a:solidFill>
                  <a:srgbClr val="000000"/>
                </a:solidFill>
                <a:effectLst/>
                <a:latin typeface="Times New Roman" panose="02020603050405020304" pitchFamily="18" charset="0"/>
                <a:ea typeface="宋体" pitchFamily="2" charset="-122"/>
              </a:rPr>
              <a:t>nfeatures</a:t>
            </a:r>
            <a:r>
              <a:rPr lang="en-US" altLang="zh-CN" sz="1800" kern="100" dirty="0">
                <a:solidFill>
                  <a:srgbClr val="000000"/>
                </a:solidFill>
                <a:effectLst/>
                <a:latin typeface="Times New Roman" panose="02020603050405020304" pitchFamily="18" charset="0"/>
                <a:ea typeface="宋体" pitchFamily="2" charset="-122"/>
              </a:rPr>
              <a:t> = 500,scaleFactor = 1.2,nlevels = 8,edgeThreshold = 20,</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firstLevel</a:t>
            </a:r>
            <a:r>
              <a:rPr lang="en-US" altLang="zh-CN" sz="1800" kern="100" dirty="0">
                <a:solidFill>
                  <a:srgbClr val="000000"/>
                </a:solidFill>
                <a:effectLst/>
                <a:latin typeface="Times New Roman" panose="02020603050405020304" pitchFamily="18" charset="0"/>
                <a:ea typeface="宋体" pitchFamily="2" charset="-122"/>
              </a:rPr>
              <a:t> = 0,WTA_K = 2 , </a:t>
            </a:r>
            <a:r>
              <a:rPr lang="en-US" altLang="zh-CN" sz="1800" kern="100" dirty="0" err="1">
                <a:solidFill>
                  <a:srgbClr val="000000"/>
                </a:solidFill>
                <a:effectLst/>
                <a:latin typeface="Times New Roman" panose="02020603050405020304" pitchFamily="18" charset="0"/>
                <a:ea typeface="宋体" pitchFamily="2" charset="-122"/>
              </a:rPr>
              <a:t>patchSize</a:t>
            </a:r>
            <a:r>
              <a:rPr lang="en-US" altLang="zh-CN" sz="1800" kern="100" dirty="0">
                <a:solidFill>
                  <a:srgbClr val="000000"/>
                </a:solidFill>
                <a:effectLst/>
                <a:latin typeface="Times New Roman" panose="02020603050405020304" pitchFamily="18" charset="0"/>
                <a:ea typeface="宋体" pitchFamily="2" charset="-122"/>
              </a:rPr>
              <a:t> = 20,fastThreshold = 20)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kp1,des1=</a:t>
            </a:r>
            <a:r>
              <a:rPr lang="en-US" altLang="zh-CN" sz="1800" kern="100" dirty="0" err="1">
                <a:solidFill>
                  <a:srgbClr val="000000"/>
                </a:solidFill>
                <a:effectLst/>
                <a:latin typeface="Times New Roman" panose="02020603050405020304" pitchFamily="18" charset="0"/>
                <a:ea typeface="宋体" pitchFamily="2" charset="-122"/>
              </a:rPr>
              <a:t>orb.detectAndCompute</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template,None</a:t>
            </a:r>
            <a:r>
              <a:rPr lang="en-US" altLang="zh-CN" sz="1800" kern="100" dirty="0">
                <a:solidFill>
                  <a:srgbClr val="000000"/>
                </a:solidFill>
                <a:effectLst/>
                <a:latin typeface="Times New Roman" panose="02020603050405020304" pitchFamily="18" charset="0"/>
                <a:ea typeface="宋体" pitchFamily="2" charset="-122"/>
              </a:rPr>
              <a:t>)      #</a:t>
            </a:r>
            <a:r>
              <a:rPr lang="zh-CN" altLang="zh-CN" sz="1800" kern="100" dirty="0">
                <a:solidFill>
                  <a:srgbClr val="000000"/>
                </a:solidFill>
                <a:effectLst/>
                <a:latin typeface="Times New Roman" panose="02020603050405020304" pitchFamily="18" charset="0"/>
                <a:ea typeface="宋体" pitchFamily="2" charset="-122"/>
              </a:rPr>
              <a:t>计算</a:t>
            </a:r>
            <a:r>
              <a:rPr lang="en-US" altLang="zh-CN" sz="1800" kern="100" dirty="0">
                <a:solidFill>
                  <a:srgbClr val="000000"/>
                </a:solidFill>
                <a:effectLst/>
                <a:latin typeface="Times New Roman" panose="02020603050405020304" pitchFamily="18" charset="0"/>
                <a:ea typeface="宋体" pitchFamily="2" charset="-122"/>
              </a:rPr>
              <a:t>template</a:t>
            </a:r>
            <a:r>
              <a:rPr lang="zh-CN" altLang="zh-CN" sz="1800" kern="100" dirty="0">
                <a:solidFill>
                  <a:srgbClr val="000000"/>
                </a:solidFill>
                <a:effectLst/>
                <a:latin typeface="Times New Roman" panose="02020603050405020304" pitchFamily="18" charset="0"/>
                <a:ea typeface="宋体" pitchFamily="2" charset="-122"/>
              </a:rPr>
              <a:t>中的特征点和描述符</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kp2,des2=</a:t>
            </a:r>
            <a:r>
              <a:rPr lang="en-US" altLang="zh-CN" sz="1800" kern="100" dirty="0" err="1">
                <a:solidFill>
                  <a:srgbClr val="000000"/>
                </a:solidFill>
                <a:effectLst/>
                <a:latin typeface="Times New Roman" panose="02020603050405020304" pitchFamily="18" charset="0"/>
                <a:ea typeface="宋体" pitchFamily="2" charset="-122"/>
              </a:rPr>
              <a:t>orb.detectAndCompute</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target,None</a:t>
            </a:r>
            <a:r>
              <a:rPr lang="en-US" altLang="zh-CN" sz="1800" kern="100" dirty="0">
                <a:solidFill>
                  <a:srgbClr val="000000"/>
                </a:solidFill>
                <a:effectLst/>
                <a:latin typeface="Times New Roman" panose="02020603050405020304" pitchFamily="18" charset="0"/>
                <a:ea typeface="宋体" pitchFamily="2" charset="-122"/>
              </a:rPr>
              <a:t>) </a:t>
            </a:r>
            <a:r>
              <a:rPr lang="en-US" altLang="zh-CN" sz="1800" kern="100" dirty="0">
                <a:solidFill>
                  <a:srgbClr val="000000"/>
                </a:solidFill>
                <a:latin typeface="Times New Roman" panose="02020603050405020304" pitchFamily="18" charset="0"/>
                <a:ea typeface="宋体" pitchFamily="2" charset="-122"/>
              </a:rPr>
              <a:t>          </a:t>
            </a:r>
            <a:r>
              <a:rPr lang="en-US" altLang="zh-CN" sz="1800" kern="100" dirty="0">
                <a:solidFill>
                  <a:srgbClr val="000000"/>
                </a:solidFill>
                <a:effectLst/>
                <a:latin typeface="Times New Roman" panose="02020603050405020304" pitchFamily="18" charset="0"/>
                <a:ea typeface="宋体" pitchFamily="2" charset="-122"/>
              </a:rPr>
              <a:t>#</a:t>
            </a:r>
            <a:r>
              <a:rPr lang="zh-CN" altLang="zh-CN" sz="1800" kern="100" dirty="0">
                <a:solidFill>
                  <a:srgbClr val="000000"/>
                </a:solidFill>
                <a:effectLst/>
                <a:latin typeface="Times New Roman" panose="02020603050405020304" pitchFamily="18" charset="0"/>
                <a:ea typeface="宋体" pitchFamily="2" charset="-122"/>
              </a:rPr>
              <a:t>计算</a:t>
            </a:r>
            <a:r>
              <a:rPr lang="en-US" altLang="zh-CN" sz="1800" kern="100" dirty="0">
                <a:solidFill>
                  <a:srgbClr val="000000"/>
                </a:solidFill>
                <a:effectLst/>
                <a:latin typeface="Times New Roman" panose="02020603050405020304" pitchFamily="18" charset="0"/>
                <a:ea typeface="宋体" pitchFamily="2" charset="-122"/>
              </a:rPr>
              <a:t>target</a:t>
            </a:r>
            <a:r>
              <a:rPr lang="zh-CN" altLang="zh-CN" sz="1800" kern="100" dirty="0">
                <a:solidFill>
                  <a:srgbClr val="000000"/>
                </a:solidFill>
                <a:effectLst/>
                <a:latin typeface="Times New Roman" panose="02020603050405020304" pitchFamily="18" charset="0"/>
                <a:ea typeface="宋体" pitchFamily="2" charset="-122"/>
              </a:rPr>
              <a:t>中的特征点和描述符</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a:t>
            </a:r>
            <a:r>
              <a:rPr lang="zh-CN" altLang="zh-CN" sz="1800" kern="100" dirty="0">
                <a:solidFill>
                  <a:srgbClr val="000000"/>
                </a:solidFill>
                <a:effectLst/>
                <a:latin typeface="Times New Roman" panose="02020603050405020304" pitchFamily="18" charset="0"/>
                <a:ea typeface="宋体" pitchFamily="2" charset="-122"/>
              </a:rPr>
              <a:t>建立配准关系</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bf = cv2.BFMatcher(cv2.NORM_HAMMING,crossCheck=True)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mathces</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bf.match</a:t>
            </a:r>
            <a:r>
              <a:rPr lang="en-US" altLang="zh-CN" sz="1800" kern="100" dirty="0">
                <a:solidFill>
                  <a:srgbClr val="000000"/>
                </a:solidFill>
                <a:effectLst/>
                <a:latin typeface="Times New Roman" panose="02020603050405020304" pitchFamily="18" charset="0"/>
                <a:ea typeface="宋体" pitchFamily="2" charset="-122"/>
              </a:rPr>
              <a:t>(des1,des2) 			#</a:t>
            </a:r>
            <a:r>
              <a:rPr lang="zh-CN" altLang="zh-CN" sz="1800" kern="100" dirty="0">
                <a:solidFill>
                  <a:srgbClr val="000000"/>
                </a:solidFill>
                <a:effectLst/>
                <a:latin typeface="Times New Roman" panose="02020603050405020304" pitchFamily="18" charset="0"/>
                <a:ea typeface="宋体" pitchFamily="2" charset="-122"/>
              </a:rPr>
              <a:t>配准描述符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mathces</a:t>
            </a:r>
            <a:r>
              <a:rPr lang="en-US" altLang="zh-CN" sz="1800" kern="100" dirty="0">
                <a:solidFill>
                  <a:srgbClr val="000000"/>
                </a:solidFill>
                <a:effectLst/>
                <a:latin typeface="Times New Roman" panose="02020603050405020304" pitchFamily="18" charset="0"/>
                <a:ea typeface="宋体" pitchFamily="2" charset="-122"/>
              </a:rPr>
              <a:t>=sorted(</a:t>
            </a:r>
            <a:r>
              <a:rPr lang="en-US" altLang="zh-CN" sz="1800" kern="100" dirty="0" err="1">
                <a:solidFill>
                  <a:srgbClr val="000000"/>
                </a:solidFill>
                <a:effectLst/>
                <a:latin typeface="Times New Roman" panose="02020603050405020304" pitchFamily="18" charset="0"/>
                <a:ea typeface="宋体" pitchFamily="2" charset="-122"/>
              </a:rPr>
              <a:t>mathces,key</a:t>
            </a:r>
            <a:r>
              <a:rPr lang="en-US" altLang="zh-CN" sz="1800" kern="100" dirty="0">
                <a:solidFill>
                  <a:srgbClr val="000000"/>
                </a:solidFill>
                <a:effectLst/>
                <a:latin typeface="Times New Roman" panose="02020603050405020304" pitchFamily="18" charset="0"/>
                <a:ea typeface="宋体" pitchFamily="2" charset="-122"/>
              </a:rPr>
              <a:t>=lambda x:x.distance) 	#</a:t>
            </a:r>
            <a:r>
              <a:rPr lang="zh-CN" altLang="zh-CN" sz="1800" kern="100" dirty="0">
                <a:solidFill>
                  <a:srgbClr val="000000"/>
                </a:solidFill>
                <a:effectLst/>
                <a:latin typeface="Times New Roman" panose="02020603050405020304" pitchFamily="18" charset="0"/>
                <a:ea typeface="宋体" pitchFamily="2" charset="-122"/>
              </a:rPr>
              <a:t>依据距离排序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a:t>
            </a:r>
            <a:r>
              <a:rPr lang="zh-CN" altLang="zh-CN" sz="1800" kern="100" dirty="0">
                <a:solidFill>
                  <a:srgbClr val="000000"/>
                </a:solidFill>
                <a:effectLst/>
                <a:latin typeface="Times New Roman" panose="02020603050405020304" pitchFamily="18" charset="0"/>
                <a:ea typeface="宋体" pitchFamily="2" charset="-122"/>
              </a:rPr>
              <a:t>画出配准关系</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result= cv2.drawMatches(template,kp1,target,kp2,mathces[:40],</a:t>
            </a:r>
            <a:r>
              <a:rPr lang="en-US" altLang="zh-CN" sz="1800" kern="100" dirty="0" err="1">
                <a:solidFill>
                  <a:srgbClr val="000000"/>
                </a:solidFill>
                <a:effectLst/>
                <a:latin typeface="Times New Roman" panose="02020603050405020304" pitchFamily="18" charset="0"/>
                <a:ea typeface="宋体" pitchFamily="2" charset="-122"/>
              </a:rPr>
              <a:t>None,flags</a:t>
            </a:r>
            <a:r>
              <a:rPr lang="en-US" altLang="zh-CN" sz="1800" kern="100" dirty="0">
                <a:solidFill>
                  <a:srgbClr val="000000"/>
                </a:solidFill>
                <a:effectLst/>
                <a:latin typeface="Times New Roman" panose="02020603050405020304" pitchFamily="18" charset="0"/>
                <a:ea typeface="宋体" pitchFamily="2" charset="-122"/>
              </a:rPr>
              <a:t>=2) </a:t>
            </a:r>
            <a:endParaRPr lang="zh-CN" altLang="zh-CN" sz="1800" kern="100" dirty="0">
              <a:effectLst/>
              <a:latin typeface="Times New Roman" panose="02020603050405020304" pitchFamily="18" charset="0"/>
              <a:ea typeface="宋体" pitchFamily="2" charset="-122"/>
            </a:endParaRPr>
          </a:p>
          <a:p>
            <a:r>
              <a:rPr lang="en-US" altLang="zh-CN" sz="1800" kern="100" dirty="0">
                <a:latin typeface="Times New Roman" panose="02020603050405020304" pitchFamily="18" charset="0"/>
                <a:ea typeface="宋体" pitchFamily="2" charset="-122"/>
              </a:rPr>
              <a:t>     </a:t>
            </a:r>
            <a:r>
              <a:rPr lang="en-US" altLang="zh-CN" sz="1800" kern="100" dirty="0" err="1">
                <a:effectLst/>
                <a:latin typeface="Times New Roman" panose="02020603050405020304" pitchFamily="18" charset="0"/>
                <a:ea typeface="宋体" pitchFamily="2" charset="-122"/>
              </a:rPr>
              <a:t>plt.imshow</a:t>
            </a:r>
            <a:r>
              <a:rPr lang="en-US" altLang="zh-CN" sz="1800" kern="100" dirty="0">
                <a:effectLst/>
                <a:latin typeface="Times New Roman" panose="02020603050405020304" pitchFamily="18" charset="0"/>
                <a:ea typeface="宋体" pitchFamily="2" charset="-122"/>
              </a:rPr>
              <a:t>(result),</a:t>
            </a:r>
            <a:r>
              <a:rPr lang="en-US" altLang="zh-CN" sz="1800" kern="100" dirty="0" err="1">
                <a:effectLst/>
                <a:latin typeface="Times New Roman" panose="02020603050405020304" pitchFamily="18" charset="0"/>
                <a:ea typeface="宋体" pitchFamily="2" charset="-122"/>
              </a:rPr>
              <a:t>plt.show</a:t>
            </a:r>
            <a:r>
              <a:rPr lang="en-US" altLang="zh-CN" sz="1800" kern="100" dirty="0">
                <a:effectLst/>
                <a:latin typeface="Times New Roman" panose="02020603050405020304" pitchFamily="18" charset="0"/>
                <a:ea typeface="宋体" pitchFamily="2" charset="-122"/>
              </a:rPr>
              <a:t>()	</a:t>
            </a:r>
            <a:endParaRPr lang="zh-CN" altLang="en-US" sz="1800" dirty="0"/>
          </a:p>
        </p:txBody>
      </p:sp>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4.7.4  </a:t>
            </a:r>
            <a:r>
              <a:rPr lang="zh-CN" altLang="en-US" sz="2100" b="1" dirty="0">
                <a:solidFill>
                  <a:schemeClr val="tx1">
                    <a:lumMod val="75000"/>
                    <a:lumOff val="25000"/>
                  </a:schemeClr>
                </a:solidFill>
                <a:latin typeface="微软雅黑" panose="020B0503020204020204" pitchFamily="34" charset="-122"/>
              </a:rPr>
              <a:t>图像配准的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9" name="文本框 8"/>
          <p:cNvSpPr txBox="1"/>
          <p:nvPr/>
        </p:nvSpPr>
        <p:spPr>
          <a:xfrm>
            <a:off x="744538" y="1203639"/>
            <a:ext cx="6276527" cy="461665"/>
          </a:xfrm>
          <a:prstGeom prst="rect">
            <a:avLst/>
          </a:prstGeom>
          <a:noFill/>
        </p:spPr>
        <p:txBody>
          <a:bodyPr wrap="square">
            <a:spAutoFit/>
          </a:bodyPr>
          <a:lstStyle/>
          <a:p>
            <a:r>
              <a:rPr lang="zh-CN" altLang="zh-CN" kern="100" dirty="0">
                <a:effectLst/>
                <a:latin typeface="Times New Roman" panose="02020603050405020304" pitchFamily="18" charset="0"/>
                <a:ea typeface="宋体" pitchFamily="2" charset="-122"/>
                <a:cs typeface="Times New Roman" panose="02020603050405020304" pitchFamily="18" charset="0"/>
              </a:rPr>
              <a:t>上述程序的运行结果如图</a:t>
            </a:r>
            <a:r>
              <a:rPr lang="en-US" altLang="zh-CN" kern="100" dirty="0">
                <a:effectLst/>
                <a:latin typeface="Times New Roman" panose="02020603050405020304" pitchFamily="18" charset="0"/>
                <a:ea typeface="宋体" pitchFamily="2" charset="-122"/>
              </a:rPr>
              <a:t>4.17</a:t>
            </a:r>
            <a:r>
              <a:rPr lang="zh-CN" altLang="zh-CN" kern="100" dirty="0">
                <a:effectLst/>
                <a:latin typeface="Times New Roman" panose="02020603050405020304" pitchFamily="18" charset="0"/>
                <a:ea typeface="宋体" pitchFamily="2" charset="-122"/>
                <a:cs typeface="Times New Roman" panose="02020603050405020304" pitchFamily="18" charset="0"/>
              </a:rPr>
              <a:t>所示</a:t>
            </a:r>
            <a:r>
              <a:rPr lang="zh-CN" altLang="zh-CN" sz="2400" kern="100" dirty="0">
                <a:effectLst/>
                <a:latin typeface="Times New Roman" panose="02020603050405020304" pitchFamily="18" charset="0"/>
                <a:ea typeface="宋体" pitchFamily="2" charset="-122"/>
                <a:cs typeface="Times New Roman" panose="02020603050405020304" pitchFamily="18" charset="0"/>
              </a:rPr>
              <a:t>：</a:t>
            </a:r>
            <a:endParaRPr lang="zh-CN" altLang="en-US" dirty="0"/>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rcRect l="6068" t="30278" r="7247" b="25025"/>
          <a:stretch>
            <a:fillRect/>
          </a:stretch>
        </p:blipFill>
        <p:spPr>
          <a:xfrm>
            <a:off x="1764482" y="1705885"/>
            <a:ext cx="6012482" cy="2325509"/>
          </a:xfrm>
          <a:prstGeom prst="rect">
            <a:avLst/>
          </a:prstGeom>
          <a:noFill/>
          <a:ln>
            <a:noFill/>
          </a:ln>
        </p:spPr>
      </p:pic>
      <p:sp>
        <p:nvSpPr>
          <p:cNvPr id="12" name="文本框 11"/>
          <p:cNvSpPr txBox="1"/>
          <p:nvPr/>
        </p:nvSpPr>
        <p:spPr>
          <a:xfrm>
            <a:off x="3085952" y="4155994"/>
            <a:ext cx="3080605" cy="338554"/>
          </a:xfrm>
          <a:prstGeom prst="rect">
            <a:avLst/>
          </a:prstGeom>
          <a:noFill/>
        </p:spPr>
        <p:txBody>
          <a:bodyPr wrap="square">
            <a:spAutoFit/>
          </a:bodyPr>
          <a:lstStyle/>
          <a:p>
            <a:r>
              <a:rPr lang="zh-CN" altLang="en-US" sz="1600" b="1" kern="0" dirty="0">
                <a:latin typeface="黑体" panose="02010609060101010101" pitchFamily="49" charset="-122"/>
                <a:ea typeface="黑体" panose="02010609060101010101" pitchFamily="49" charset="-122"/>
              </a:rPr>
              <a:t>图</a:t>
            </a:r>
            <a:r>
              <a:rPr lang="en-US" altLang="zh-CN" sz="1600" b="1" kern="0" dirty="0">
                <a:latin typeface="黑体" panose="02010609060101010101" pitchFamily="49" charset="-122"/>
                <a:ea typeface="黑体" panose="02010609060101010101" pitchFamily="49" charset="-122"/>
              </a:rPr>
              <a:t>4.17  </a:t>
            </a:r>
            <a:r>
              <a:rPr lang="zh-CN" altLang="en-US" sz="1600" b="1" kern="0" dirty="0">
                <a:latin typeface="黑体" panose="02010609060101010101" pitchFamily="49" charset="-122"/>
                <a:ea typeface="黑体" panose="02010609060101010101" pitchFamily="49" charset="-122"/>
              </a:rPr>
              <a:t>基于特征的配准效果图</a:t>
            </a:r>
            <a:endParaRPr lang="zh-CN" altLang="en-US" sz="1600" b="1" kern="0" dirty="0">
              <a:latin typeface="黑体" panose="02010609060101010101" pitchFamily="49" charset="-122"/>
              <a:ea typeface="黑体" panose="02010609060101010101" pitchFamily="49" charset="-122"/>
            </a:endParaRPr>
          </a:p>
        </p:txBody>
      </p:sp>
      <p:sp>
        <p:nvSpPr>
          <p:cNvPr id="13" name="文本框 12"/>
          <p:cNvSpPr txBox="1"/>
          <p:nvPr/>
        </p:nvSpPr>
        <p:spPr>
          <a:xfrm>
            <a:off x="413787" y="4619146"/>
            <a:ext cx="8424936" cy="1708160"/>
          </a:xfrm>
          <a:prstGeom prst="rect">
            <a:avLst/>
          </a:prstGeom>
          <a:noFill/>
        </p:spPr>
        <p:txBody>
          <a:bodyPr wrap="square">
            <a:spAutoFit/>
          </a:bodyPr>
          <a:lstStyle/>
          <a:p>
            <a:pPr indent="266700" algn="just"/>
            <a:r>
              <a:rPr lang="en-US" altLang="zh-CN" kern="100">
                <a:effectLst/>
                <a:latin typeface="Times New Roman" panose="02020603050405020304" pitchFamily="18" charset="0"/>
                <a:ea typeface="宋体" pitchFamily="2" charset="-122"/>
              </a:rPr>
              <a:t>   </a:t>
            </a:r>
            <a:r>
              <a:rPr lang="zh-CN" altLang="zh-CN" kern="100">
                <a:effectLst/>
                <a:latin typeface="Times New Roman" panose="02020603050405020304" pitchFamily="18" charset="0"/>
                <a:ea typeface="宋体" pitchFamily="2" charset="-122"/>
              </a:rPr>
              <a:t>首先</a:t>
            </a:r>
            <a:r>
              <a:rPr lang="zh-CN" altLang="zh-CN" kern="100" dirty="0">
                <a:effectLst/>
                <a:latin typeface="Times New Roman" panose="02020603050405020304" pitchFamily="18" charset="0"/>
                <a:ea typeface="宋体" pitchFamily="2" charset="-122"/>
              </a:rPr>
              <a:t>，通过函数</a:t>
            </a:r>
            <a:r>
              <a:rPr lang="en-US" altLang="zh-CN" kern="100" dirty="0">
                <a:effectLst/>
                <a:latin typeface="Times New Roman" panose="02020603050405020304" pitchFamily="18" charset="0"/>
                <a:ea typeface="宋体" pitchFamily="2" charset="-122"/>
              </a:rPr>
              <a:t>cv2.imread()</a:t>
            </a:r>
            <a:r>
              <a:rPr lang="zh-CN" altLang="zh-CN" kern="100" dirty="0">
                <a:effectLst/>
                <a:latin typeface="Times New Roman" panose="02020603050405020304" pitchFamily="18" charset="0"/>
                <a:ea typeface="宋体" pitchFamily="2" charset="-122"/>
              </a:rPr>
              <a:t>分别读取模板图像和目标图像。然后建立</a:t>
            </a:r>
            <a:r>
              <a:rPr lang="en-US" altLang="zh-CN" kern="100" dirty="0">
                <a:effectLst/>
                <a:latin typeface="Times New Roman" panose="02020603050405020304" pitchFamily="18" charset="0"/>
                <a:ea typeface="宋体" pitchFamily="2" charset="-122"/>
              </a:rPr>
              <a:t>ORB</a:t>
            </a:r>
            <a:r>
              <a:rPr lang="zh-CN" altLang="zh-CN" kern="100" dirty="0">
                <a:effectLst/>
                <a:latin typeface="Times New Roman" panose="02020603050405020304" pitchFamily="18" charset="0"/>
                <a:ea typeface="宋体" pitchFamily="2" charset="-122"/>
              </a:rPr>
              <a:t>特征检测器，通过</a:t>
            </a:r>
            <a:r>
              <a:rPr lang="en-US" altLang="zh-CN" kern="100" dirty="0">
                <a:effectLst/>
                <a:latin typeface="Times New Roman" panose="02020603050405020304" pitchFamily="18" charset="0"/>
                <a:ea typeface="宋体" pitchFamily="2" charset="-122"/>
              </a:rPr>
              <a:t>ORB</a:t>
            </a:r>
            <a:r>
              <a:rPr lang="zh-CN" altLang="zh-CN" kern="100" dirty="0">
                <a:effectLst/>
                <a:latin typeface="Times New Roman" panose="02020603050405020304" pitchFamily="18" charset="0"/>
                <a:ea typeface="宋体" pitchFamily="2" charset="-122"/>
              </a:rPr>
              <a:t>算法计算模板图像和目标图像的特征点和描述符。接着建立图像的配准关系，计算配准描述符并依据距离对描述符进行排序。最后，通过</a:t>
            </a:r>
            <a:r>
              <a:rPr lang="en-US" altLang="zh-CN" kern="100" dirty="0">
                <a:effectLst/>
                <a:latin typeface="Times New Roman" panose="02020603050405020304" pitchFamily="18" charset="0"/>
                <a:ea typeface="宋体" pitchFamily="2" charset="-122"/>
              </a:rPr>
              <a:t>cv2.drawMatches()</a:t>
            </a:r>
            <a:r>
              <a:rPr lang="zh-CN" altLang="zh-CN" kern="100" dirty="0">
                <a:effectLst/>
                <a:latin typeface="Times New Roman" panose="02020603050405020304" pitchFamily="18" charset="0"/>
                <a:ea typeface="宋体" pitchFamily="2" charset="-122"/>
              </a:rPr>
              <a:t>函数画出配准关系，输出配准结果图</a:t>
            </a:r>
            <a:r>
              <a:rPr lang="en-US" altLang="zh-CN" kern="100" dirty="0">
                <a:effectLst/>
                <a:latin typeface="Times New Roman" panose="02020603050405020304" pitchFamily="18" charset="0"/>
                <a:ea typeface="宋体" pitchFamily="2" charset="-122"/>
              </a:rPr>
              <a:t>4.17</a:t>
            </a:r>
            <a:r>
              <a:rPr lang="zh-CN" altLang="zh-CN" kern="100" dirty="0">
                <a:effectLst/>
                <a:latin typeface="Times New Roman" panose="02020603050405020304" pitchFamily="18" charset="0"/>
                <a:ea typeface="宋体" pitchFamily="2" charset="-122"/>
              </a:rPr>
              <a:t>。</a:t>
            </a:r>
            <a:endParaRPr lang="zh-CN" altLang="zh-CN" kern="100" dirty="0">
              <a:effectLst/>
              <a:latin typeface="Times New Roman" panose="0202060305040502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4.7.4  </a:t>
            </a:r>
            <a:r>
              <a:rPr lang="zh-CN" altLang="en-US" sz="2100" b="1" dirty="0">
                <a:solidFill>
                  <a:schemeClr val="tx1">
                    <a:lumMod val="75000"/>
                    <a:lumOff val="25000"/>
                  </a:schemeClr>
                </a:solidFill>
                <a:latin typeface="微软雅黑" panose="020B0503020204020204" pitchFamily="34" charset="-122"/>
              </a:rPr>
              <a:t>图像配准的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9" name="文本框 8"/>
          <p:cNvSpPr txBox="1"/>
          <p:nvPr/>
        </p:nvSpPr>
        <p:spPr>
          <a:xfrm>
            <a:off x="744855" y="1203325"/>
            <a:ext cx="7795895" cy="2030095"/>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sym typeface="+mn-ea"/>
              </a:rPr>
              <a:t>6. 单应性（Homography）变换：可以简单的理解为它用来描述物体在世界坐标系和像素坐标系之间的位置映射关系。对应的变换矩阵称为单应性矩阵。</a:t>
            </a:r>
            <a:endParaRPr lang="en-US" altLang="zh-CN" kern="100" dirty="0">
              <a:effectLst/>
              <a:latin typeface="Times New Roman" panose="02020603050405020304" pitchFamily="18" charset="0"/>
              <a:ea typeface="宋体" pitchFamily="2" charset="-122"/>
              <a:sym typeface="+mn-ea"/>
            </a:endParaRPr>
          </a:p>
          <a:p>
            <a:pPr indent="266700" algn="just"/>
            <a:r>
              <a:rPr lang="en-US" altLang="zh-CN" kern="100" dirty="0">
                <a:effectLst/>
                <a:latin typeface="Times New Roman" panose="02020603050405020304" pitchFamily="18" charset="0"/>
                <a:ea typeface="宋体" pitchFamily="2" charset="-122"/>
                <a:sym typeface="+mn-ea"/>
              </a:rPr>
              <a:t>OpenCV</a:t>
            </a:r>
            <a:r>
              <a:rPr lang="zh-CN" altLang="zh-CN" kern="100" dirty="0">
                <a:effectLst/>
                <a:latin typeface="Times New Roman" panose="02020603050405020304" pitchFamily="18" charset="0"/>
                <a:ea typeface="宋体" pitchFamily="2" charset="-122"/>
                <a:sym typeface="+mn-ea"/>
              </a:rPr>
              <a:t>提供了函数</a:t>
            </a:r>
            <a:r>
              <a:rPr lang="en-US" altLang="zh-CN" kern="100" dirty="0">
                <a:effectLst/>
                <a:latin typeface="Times New Roman" panose="02020603050405020304" pitchFamily="18" charset="0"/>
                <a:ea typeface="宋体" pitchFamily="2" charset="-122"/>
                <a:sym typeface="+mn-ea"/>
              </a:rPr>
              <a:t>cv2.findHomography()</a:t>
            </a:r>
            <a:r>
              <a:rPr lang="zh-CN" altLang="zh-CN" kern="100" dirty="0">
                <a:effectLst/>
                <a:latin typeface="Times New Roman" panose="02020603050405020304" pitchFamily="18" charset="0"/>
                <a:ea typeface="宋体" pitchFamily="2" charset="-122"/>
                <a:sym typeface="+mn-ea"/>
              </a:rPr>
              <a:t>来进行</a:t>
            </a:r>
            <a:r>
              <a:rPr lang="zh-CN" altLang="zh-CN" kern="100" dirty="0">
                <a:effectLst/>
                <a:latin typeface="Times New Roman" panose="02020603050405020304" pitchFamily="18" charset="0"/>
                <a:ea typeface="宋体" pitchFamily="2" charset="-122"/>
                <a:sym typeface="+mn-ea"/>
              </a:rPr>
              <a:t>变换，函数的调用语法为：</a:t>
            </a:r>
            <a:endParaRPr lang="zh-CN" altLang="zh-CN" kern="100" dirty="0">
              <a:effectLst/>
              <a:latin typeface="Times New Roman" panose="02020603050405020304" pitchFamily="18" charset="0"/>
              <a:ea typeface="宋体" pitchFamily="2" charset="-122"/>
              <a:sym typeface="+mn-ea"/>
            </a:endParaRPr>
          </a:p>
          <a:p>
            <a:pPr indent="266700" algn="just"/>
            <a:r>
              <a:rPr lang="zh-CN" altLang="en-US" dirty="0"/>
              <a:t>cv.findHomography(srcPoints, dstPoints, params[, mask]) </a:t>
            </a:r>
            <a:endParaRPr lang="zh-CN" altLang="en-US" dirty="0"/>
          </a:p>
        </p:txBody>
      </p:sp>
      <p:sp>
        <p:nvSpPr>
          <p:cNvPr id="13" name="文本框 12"/>
          <p:cNvSpPr txBox="1"/>
          <p:nvPr/>
        </p:nvSpPr>
        <p:spPr>
          <a:xfrm>
            <a:off x="468397" y="3213256"/>
            <a:ext cx="8424936" cy="3646170"/>
          </a:xfrm>
          <a:prstGeom prst="rect">
            <a:avLst/>
          </a:prstGeom>
          <a:noFill/>
        </p:spPr>
        <p:txBody>
          <a:bodyPr wrap="square">
            <a:spAutoFit/>
          </a:bodyPr>
          <a:lstStyle/>
          <a:p>
            <a:pPr indent="266700" algn="just"/>
            <a:r>
              <a:rPr lang="zh-CN" altLang="zh-CN" kern="100" dirty="0">
                <a:effectLst/>
                <a:latin typeface="Times New Roman" panose="02020603050405020304" pitchFamily="18" charset="0"/>
                <a:ea typeface="宋体" pitchFamily="2" charset="-122"/>
              </a:rPr>
              <a:t>参数说明：</a:t>
            </a:r>
            <a:endParaRPr lang="zh-CN" altLang="zh-CN" kern="100" dirty="0">
              <a:effectLst/>
              <a:latin typeface="Times New Roman" panose="02020603050405020304" pitchFamily="18" charset="0"/>
              <a:ea typeface="宋体" pitchFamily="2" charset="-122"/>
            </a:endParaRPr>
          </a:p>
          <a:p>
            <a:pPr indent="266700" algn="just"/>
            <a:r>
              <a:rPr lang="zh-CN" altLang="zh-CN" kern="100" dirty="0">
                <a:effectLst/>
                <a:latin typeface="Times New Roman" panose="02020603050405020304" pitchFamily="18" charset="0"/>
                <a:ea typeface="宋体" pitchFamily="2" charset="-122"/>
              </a:rPr>
              <a:t>srcpoints： 是源平面中的坐标矩阵，dstpoints： 是目标平面的坐标矩阵，类型是CV_32FC2或者float32型。</a:t>
            </a:r>
            <a:endParaRPr lang="zh-CN" altLang="zh-CN" kern="100" dirty="0">
              <a:effectLst/>
              <a:latin typeface="Times New Roman" panose="02020603050405020304" pitchFamily="18" charset="0"/>
              <a:ea typeface="宋体" pitchFamily="2" charset="-122"/>
            </a:endParaRPr>
          </a:p>
          <a:p>
            <a:pPr indent="266700" algn="just"/>
            <a:r>
              <a:rPr lang="zh-CN" altLang="zh-CN" kern="100" dirty="0">
                <a:effectLst/>
                <a:latin typeface="Times New Roman" panose="02020603050405020304" pitchFamily="18" charset="0"/>
                <a:ea typeface="宋体" pitchFamily="2" charset="-122"/>
              </a:rPr>
              <a:t>method： 是计算单应性矩阵的方法：0 -- 利用所有点的常规方法；RANSAC -- 随机抽样一致性方法；LMEDS -- 最小中指鲁棒算法 ；RHO - PROSAC -- 基于PROSAC的鲁棒算法。</a:t>
            </a:r>
            <a:endParaRPr lang="zh-CN" altLang="zh-CN" kern="100" dirty="0">
              <a:effectLst/>
              <a:latin typeface="Times New Roman" panose="02020603050405020304" pitchFamily="18" charset="0"/>
              <a:ea typeface="宋体" pitchFamily="2" charset="-122"/>
            </a:endParaRPr>
          </a:p>
          <a:p>
            <a:pPr indent="266700" algn="just"/>
            <a:r>
              <a:rPr lang="zh-CN" altLang="zh-CN" kern="100" dirty="0">
                <a:effectLst/>
                <a:latin typeface="Times New Roman" panose="02020603050405020304" pitchFamily="18" charset="0"/>
                <a:ea typeface="宋体" pitchFamily="2" charset="-122"/>
              </a:rPr>
              <a:t> ransacReprojThreshold：将点对视为内点的最大允许重投影错误阈值（仅用于RANSAC和RHO方法），该参数通常设置在1到10的范围内。</a:t>
            </a:r>
            <a:endParaRPr lang="zh-CN" altLang="zh-CN" kern="100" dirty="0">
              <a:effectLst/>
              <a:latin typeface="Times New Roman" panose="02020603050405020304" pitchFamily="18" charset="0"/>
              <a:ea typeface="宋体" pitchFamily="2" charset="-122"/>
            </a:endParaRPr>
          </a:p>
          <a:p>
            <a:pPr indent="266700" algn="just"/>
            <a:r>
              <a:rPr lang="zh-CN" altLang="zh-CN" kern="100" dirty="0">
                <a:effectLst/>
                <a:latin typeface="Times New Roman" panose="02020603050405020304" pitchFamily="18" charset="0"/>
                <a:ea typeface="宋体" pitchFamily="2" charset="-122"/>
              </a:rPr>
              <a:t>mask：可选输出掩码矩阵，通常由鲁棒算法（RANSAC或LMEDS）设置。请注意，输入掩码矩阵是不需要设置的。</a:t>
            </a:r>
            <a:endParaRPr lang="zh-CN" altLang="zh-CN" kern="100" dirty="0">
              <a:effectLst/>
              <a:latin typeface="Times New Roman" panose="02020603050405020304" pitchFamily="18" charset="0"/>
              <a:ea typeface="宋体" pitchFamily="2" charset="-122"/>
            </a:endParaRPr>
          </a:p>
          <a:p>
            <a:pPr indent="266700" algn="just"/>
            <a:r>
              <a:rPr lang="zh-CN" altLang="zh-CN" kern="100" dirty="0">
                <a:effectLst/>
                <a:latin typeface="Times New Roman" panose="02020603050405020304" pitchFamily="18" charset="0"/>
                <a:ea typeface="宋体" pitchFamily="2" charset="-122"/>
              </a:rPr>
              <a:t>maxIters：RANSAC算法的最大迭代次数，默认为2000.</a:t>
            </a:r>
            <a:endParaRPr lang="zh-CN" altLang="zh-CN" kern="100" dirty="0">
              <a:effectLst/>
              <a:latin typeface="Times New Roman" panose="0202060305040502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图像的</a:t>
            </a:r>
            <a:r>
              <a:rPr lang="zh-CN" altLang="en-US" sz="2100" b="1" dirty="0">
                <a:solidFill>
                  <a:schemeClr val="tx1">
                    <a:lumMod val="75000"/>
                    <a:lumOff val="25000"/>
                  </a:schemeClr>
                </a:solidFill>
                <a:latin typeface="微软雅黑" panose="020B0503020204020204" pitchFamily="34" charset="-122"/>
              </a:rPr>
              <a:t>拼接</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pic>
        <p:nvPicPr>
          <p:cNvPr id="3" name="图片 2"/>
          <p:cNvPicPr>
            <a:picLocks noChangeAspect="1"/>
          </p:cNvPicPr>
          <p:nvPr>
            <p:custDataLst>
              <p:tags r:id="rId1"/>
            </p:custDataLst>
          </p:nvPr>
        </p:nvPicPr>
        <p:blipFill>
          <a:blip r:embed="rId2"/>
          <a:stretch>
            <a:fillRect/>
          </a:stretch>
        </p:blipFill>
        <p:spPr>
          <a:xfrm>
            <a:off x="8255" y="1311275"/>
            <a:ext cx="9145270" cy="49688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图像的</a:t>
            </a:r>
            <a:r>
              <a:rPr lang="zh-CN" altLang="en-US" sz="2100" b="1" dirty="0">
                <a:solidFill>
                  <a:schemeClr val="tx1">
                    <a:lumMod val="75000"/>
                    <a:lumOff val="25000"/>
                  </a:schemeClr>
                </a:solidFill>
                <a:latin typeface="微软雅黑" panose="020B0503020204020204" pitchFamily="34" charset="-122"/>
              </a:rPr>
              <a:t>拼接</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pic>
        <p:nvPicPr>
          <p:cNvPr id="2" name="图片 1"/>
          <p:cNvPicPr>
            <a:picLocks noChangeAspect="1"/>
          </p:cNvPicPr>
          <p:nvPr>
            <p:custDataLst>
              <p:tags r:id="rId1"/>
            </p:custDataLst>
          </p:nvPr>
        </p:nvPicPr>
        <p:blipFill>
          <a:blip r:embed="rId2"/>
          <a:stretch>
            <a:fillRect/>
          </a:stretch>
        </p:blipFill>
        <p:spPr>
          <a:xfrm>
            <a:off x="108585" y="1341755"/>
            <a:ext cx="8864600" cy="5562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图像的</a:t>
            </a:r>
            <a:r>
              <a:rPr lang="zh-CN" altLang="en-US" sz="2100" b="1" dirty="0">
                <a:solidFill>
                  <a:schemeClr val="tx1">
                    <a:lumMod val="75000"/>
                    <a:lumOff val="25000"/>
                  </a:schemeClr>
                </a:solidFill>
                <a:latin typeface="微软雅黑" panose="020B0503020204020204" pitchFamily="34" charset="-122"/>
              </a:rPr>
              <a:t>拼接</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pic>
        <p:nvPicPr>
          <p:cNvPr id="3" name="图片 2"/>
          <p:cNvPicPr>
            <a:picLocks noChangeAspect="1"/>
          </p:cNvPicPr>
          <p:nvPr>
            <p:custDataLst>
              <p:tags r:id="rId1"/>
            </p:custDataLst>
          </p:nvPr>
        </p:nvPicPr>
        <p:blipFill>
          <a:blip r:embed="rId2"/>
          <a:stretch>
            <a:fillRect/>
          </a:stretch>
        </p:blipFill>
        <p:spPr>
          <a:xfrm>
            <a:off x="8255" y="1231900"/>
            <a:ext cx="9145270" cy="51066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图像的</a:t>
            </a:r>
            <a:r>
              <a:rPr lang="zh-CN" altLang="en-US" sz="2100" b="1" dirty="0">
                <a:solidFill>
                  <a:schemeClr val="tx1">
                    <a:lumMod val="75000"/>
                    <a:lumOff val="25000"/>
                  </a:schemeClr>
                </a:solidFill>
                <a:latin typeface="微软雅黑" panose="020B0503020204020204" pitchFamily="34" charset="-122"/>
              </a:rPr>
              <a:t>拼接</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pic>
        <p:nvPicPr>
          <p:cNvPr id="2" name="图片 1"/>
          <p:cNvPicPr>
            <a:picLocks noChangeAspect="1"/>
          </p:cNvPicPr>
          <p:nvPr>
            <p:custDataLst>
              <p:tags r:id="rId1"/>
            </p:custDataLst>
          </p:nvPr>
        </p:nvPicPr>
        <p:blipFill>
          <a:blip r:embed="rId2"/>
          <a:srcRect b="2018"/>
          <a:stretch>
            <a:fillRect/>
          </a:stretch>
        </p:blipFill>
        <p:spPr>
          <a:xfrm>
            <a:off x="0" y="1197610"/>
            <a:ext cx="9145270" cy="57035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图像的</a:t>
            </a:r>
            <a:r>
              <a:rPr lang="zh-CN" altLang="en-US" sz="2100" b="1" dirty="0">
                <a:solidFill>
                  <a:schemeClr val="tx1">
                    <a:lumMod val="75000"/>
                    <a:lumOff val="25000"/>
                  </a:schemeClr>
                </a:solidFill>
                <a:latin typeface="微软雅黑" panose="020B0503020204020204" pitchFamily="34" charset="-122"/>
              </a:rPr>
              <a:t>拼接</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pic>
        <p:nvPicPr>
          <p:cNvPr id="2" name="图片 1"/>
          <p:cNvPicPr>
            <a:picLocks noChangeAspect="1"/>
          </p:cNvPicPr>
          <p:nvPr>
            <p:custDataLst>
              <p:tags r:id="rId1"/>
            </p:custDataLst>
          </p:nvPr>
        </p:nvPicPr>
        <p:blipFill>
          <a:blip r:embed="rId2"/>
          <a:stretch>
            <a:fillRect/>
          </a:stretch>
        </p:blipFill>
        <p:spPr>
          <a:xfrm>
            <a:off x="1476375" y="1163955"/>
            <a:ext cx="6261735" cy="5680075"/>
          </a:xfrm>
          <a:prstGeom prst="rect">
            <a:avLst/>
          </a:prstGeom>
        </p:spPr>
      </p:pic>
      <p:sp>
        <p:nvSpPr>
          <p:cNvPr id="3" name="文本框 2"/>
          <p:cNvSpPr txBox="1"/>
          <p:nvPr/>
        </p:nvSpPr>
        <p:spPr>
          <a:xfrm>
            <a:off x="7813040" y="4935220"/>
            <a:ext cx="1305560" cy="414020"/>
          </a:xfrm>
          <a:prstGeom prst="rect">
            <a:avLst/>
          </a:prstGeom>
          <a:noFill/>
        </p:spPr>
        <p:txBody>
          <a:bodyPr wrap="square" rtlCol="0">
            <a:spAutoFit/>
          </a:bodyPr>
          <a:p>
            <a:r>
              <a:rPr lang="en-US" altLang="zh-CN"/>
              <a:t>640</a:t>
            </a:r>
            <a:r>
              <a:rPr lang="en-US" altLang="zh-CN"/>
              <a:t>x480</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图像的</a:t>
            </a:r>
            <a:r>
              <a:rPr lang="zh-CN" altLang="en-US" sz="2100" b="1" dirty="0">
                <a:solidFill>
                  <a:schemeClr val="tx1">
                    <a:lumMod val="75000"/>
                    <a:lumOff val="25000"/>
                  </a:schemeClr>
                </a:solidFill>
                <a:latin typeface="微软雅黑" panose="020B0503020204020204" pitchFamily="34" charset="-122"/>
              </a:rPr>
              <a:t>拼接</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pic>
        <p:nvPicPr>
          <p:cNvPr id="2" name="图片 1"/>
          <p:cNvPicPr>
            <a:picLocks noChangeAspect="1"/>
          </p:cNvPicPr>
          <p:nvPr>
            <p:custDataLst>
              <p:tags r:id="rId1"/>
            </p:custDataLst>
          </p:nvPr>
        </p:nvPicPr>
        <p:blipFill>
          <a:blip r:embed="rId2"/>
          <a:stretch>
            <a:fillRect/>
          </a:stretch>
        </p:blipFill>
        <p:spPr>
          <a:xfrm>
            <a:off x="540385" y="2637790"/>
            <a:ext cx="8268970" cy="4227830"/>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2974340" y="1125220"/>
            <a:ext cx="3302635" cy="889635"/>
          </a:xfrm>
          <a:prstGeom prst="rect">
            <a:avLst/>
          </a:prstGeom>
        </p:spPr>
      </p:pic>
      <p:sp>
        <p:nvSpPr>
          <p:cNvPr id="4" name="文本框 3"/>
          <p:cNvSpPr txBox="1"/>
          <p:nvPr/>
        </p:nvSpPr>
        <p:spPr>
          <a:xfrm>
            <a:off x="540385" y="2014855"/>
            <a:ext cx="6408420" cy="737235"/>
          </a:xfrm>
          <a:prstGeom prst="rect">
            <a:avLst/>
          </a:prstGeom>
          <a:noFill/>
        </p:spPr>
        <p:txBody>
          <a:bodyPr wrap="square" rtlCol="0">
            <a:spAutoFit/>
          </a:bodyPr>
          <a:p>
            <a:r>
              <a:rPr lang="zh-CN" altLang="en-US"/>
              <a:t>长度为变换后图像的长度</a:t>
            </a:r>
            <a:r>
              <a:rPr lang="en-US" altLang="zh-CN"/>
              <a:t>+</a:t>
            </a:r>
            <a:r>
              <a:rPr lang="zh-CN" altLang="en-US"/>
              <a:t>拼接后图像的长度</a:t>
            </a:r>
            <a:br>
              <a:rPr lang="zh-CN" altLang="en-US"/>
            </a:br>
            <a:r>
              <a:rPr lang="zh-CN" altLang="en-US"/>
              <a:t>高度为原图像的高度</a:t>
            </a:r>
            <a:r>
              <a:rPr lang="en-US" altLang="zh-CN"/>
              <a:t>+</a:t>
            </a:r>
            <a:r>
              <a:rPr lang="zh-CN" altLang="en-US"/>
              <a:t>超过原图像的</a:t>
            </a:r>
            <a:r>
              <a:rPr lang="zh-CN" altLang="en-US"/>
              <a:t>高度</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图像的</a:t>
            </a:r>
            <a:r>
              <a:rPr lang="zh-CN" altLang="en-US" sz="2100" b="1" dirty="0">
                <a:solidFill>
                  <a:schemeClr val="tx1">
                    <a:lumMod val="75000"/>
                    <a:lumOff val="25000"/>
                  </a:schemeClr>
                </a:solidFill>
                <a:latin typeface="微软雅黑" panose="020B0503020204020204" pitchFamily="34" charset="-122"/>
              </a:rPr>
              <a:t>拼接</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pic>
        <p:nvPicPr>
          <p:cNvPr id="2" name="图片 1"/>
          <p:cNvPicPr>
            <a:picLocks noChangeAspect="1"/>
          </p:cNvPicPr>
          <p:nvPr>
            <p:custDataLst>
              <p:tags r:id="rId1"/>
            </p:custDataLst>
          </p:nvPr>
        </p:nvPicPr>
        <p:blipFill>
          <a:blip r:embed="rId2"/>
          <a:stretch>
            <a:fillRect/>
          </a:stretch>
        </p:blipFill>
        <p:spPr>
          <a:xfrm>
            <a:off x="252095" y="1217295"/>
            <a:ext cx="8580120" cy="56451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图像的</a:t>
            </a:r>
            <a:r>
              <a:rPr lang="zh-CN" altLang="en-US" sz="2100" b="1" dirty="0">
                <a:solidFill>
                  <a:schemeClr val="tx1">
                    <a:lumMod val="75000"/>
                    <a:lumOff val="25000"/>
                  </a:schemeClr>
                </a:solidFill>
                <a:latin typeface="微软雅黑" panose="020B0503020204020204" pitchFamily="34" charset="-122"/>
              </a:rPr>
              <a:t>拼接</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pic>
        <p:nvPicPr>
          <p:cNvPr id="3" name="图片 2"/>
          <p:cNvPicPr>
            <a:picLocks noChangeAspect="1"/>
          </p:cNvPicPr>
          <p:nvPr>
            <p:custDataLst>
              <p:tags r:id="rId1"/>
            </p:custDataLst>
          </p:nvPr>
        </p:nvPicPr>
        <p:blipFill>
          <a:blip r:embed="rId2"/>
          <a:stretch>
            <a:fillRect/>
          </a:stretch>
        </p:blipFill>
        <p:spPr>
          <a:xfrm>
            <a:off x="358140" y="1197610"/>
            <a:ext cx="8428355" cy="55829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图像的</a:t>
            </a:r>
            <a:r>
              <a:rPr lang="zh-CN" altLang="en-US" sz="2100" b="1" dirty="0">
                <a:solidFill>
                  <a:schemeClr val="tx1">
                    <a:lumMod val="75000"/>
                    <a:lumOff val="25000"/>
                  </a:schemeClr>
                </a:solidFill>
                <a:latin typeface="微软雅黑" panose="020B0503020204020204" pitchFamily="34" charset="-122"/>
              </a:rPr>
              <a:t>拼接</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000" advClick="0" advTm="0"/>
    </mc:Choice>
    <mc:Fallback>
      <p:transition spd="slow" advClick="0" advTm="0"/>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ISPRING_PRESENTATION_TITLE" val="PowerPoint 演示文稿"/>
</p:tagLst>
</file>

<file path=ppt/theme/theme1.xml><?xml version="1.0" encoding="utf-8"?>
<a:theme xmlns:a="http://schemas.openxmlformats.org/drawingml/2006/main" name="Office 主题">
  <a:themeElements>
    <a:clrScheme name="自定义 81">
      <a:dk1>
        <a:sysClr val="windowText" lastClr="000000"/>
      </a:dk1>
      <a:lt1>
        <a:sysClr val="window" lastClr="FFFFFF"/>
      </a:lt1>
      <a:dk2>
        <a:srgbClr val="666666"/>
      </a:dk2>
      <a:lt2>
        <a:srgbClr val="D2D2D2"/>
      </a:lt2>
      <a:accent1>
        <a:srgbClr val="EF7768"/>
      </a:accent1>
      <a:accent2>
        <a:srgbClr val="C7C7C7"/>
      </a:accent2>
      <a:accent3>
        <a:srgbClr val="38B1BF"/>
      </a:accent3>
      <a:accent4>
        <a:srgbClr val="FF9933"/>
      </a:accent4>
      <a:accent5>
        <a:srgbClr val="7F7F7F"/>
      </a:accent5>
      <a:accent6>
        <a:srgbClr val="878787"/>
      </a:accent6>
      <a:hlink>
        <a:srgbClr val="006387"/>
      </a:hlink>
      <a:folHlink>
        <a:srgbClr val="8B8B8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5744</Words>
  <Application>WPS 演示</Application>
  <PresentationFormat>自定义</PresentationFormat>
  <Paragraphs>292</Paragraphs>
  <Slides>25</Slides>
  <Notes>58</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25</vt:i4>
      </vt:variant>
    </vt:vector>
  </HeadingPairs>
  <TitlesOfParts>
    <vt:vector size="46" baseType="lpstr">
      <vt:lpstr>Arial</vt:lpstr>
      <vt:lpstr>宋体</vt:lpstr>
      <vt:lpstr>Wingdings</vt:lpstr>
      <vt:lpstr>微软雅黑</vt:lpstr>
      <vt:lpstr>汉仪旗黑</vt:lpstr>
      <vt:lpstr>Tahoma</vt:lpstr>
      <vt:lpstr>微软雅黑</vt:lpstr>
      <vt:lpstr>Eras Bold ITC</vt:lpstr>
      <vt:lpstr>Times New Roman</vt:lpstr>
      <vt:lpstr>Cambria Math</vt:lpstr>
      <vt:lpstr>Calibri</vt:lpstr>
      <vt:lpstr>Helvetica Neue</vt:lpstr>
      <vt:lpstr>宋体</vt:lpstr>
      <vt:lpstr>Arial Unicode MS</vt:lpstr>
      <vt:lpstr>汉仪书宋二KW</vt:lpstr>
      <vt:lpstr>黑体</vt:lpstr>
      <vt:lpstr>苹方-简</vt:lpstr>
      <vt:lpstr>Kingsoft Math</vt:lpstr>
      <vt:lpstr>DejaVu Math TeX Gyre</vt:lpstr>
      <vt:lpstr>汉仪中黑KW</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keywords>更多模版：亮亮图文旗舰店https:/liangliangtuwen.tmall.com</cp:keywords>
  <dc:description>更多模版：亮亮图文旗舰店https://liangliangtuwen.tmall.com</dc:description>
  <dc:subject>亮亮图文旗舰店</dc:subject>
  <cp:lastModifiedBy>沉默家</cp:lastModifiedBy>
  <cp:revision>425</cp:revision>
  <dcterms:created xsi:type="dcterms:W3CDTF">2025-12-10T10:13:20Z</dcterms:created>
  <dcterms:modified xsi:type="dcterms:W3CDTF">2025-12-10T10:13:20Z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D838BDB07142D49DE324396985071C91_43</vt:lpwstr>
  </property>
  <property fmtid="{D5CDD505-2E9C-101B-9397-08002B2CF9AE}" pid="3" name="KSOProductBuildVer">
    <vt:lpwstr>2052-6.7.1.8828</vt:lpwstr>
  </property>
</Properties>
</file>