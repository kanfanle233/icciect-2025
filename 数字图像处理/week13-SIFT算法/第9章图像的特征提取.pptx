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Lst>
  <p:notesMasterIdLst>
    <p:notesMasterId r:id="rId5"/>
  </p:notesMasterIdLst>
  <p:handoutMasterIdLst>
    <p:handoutMasterId r:id="rId112"/>
  </p:handoutMasterIdLst>
  <p:sldIdLst>
    <p:sldId id="370" r:id="rId4"/>
    <p:sldId id="371" r:id="rId6"/>
    <p:sldId id="361" r:id="rId7"/>
    <p:sldId id="569" r:id="rId8"/>
    <p:sldId id="570" r:id="rId9"/>
    <p:sldId id="571" r:id="rId10"/>
    <p:sldId id="572" r:id="rId11"/>
    <p:sldId id="573" r:id="rId12"/>
    <p:sldId id="574" r:id="rId13"/>
    <p:sldId id="575" r:id="rId14"/>
    <p:sldId id="576" r:id="rId15"/>
    <p:sldId id="577" r:id="rId16"/>
    <p:sldId id="578" r:id="rId17"/>
    <p:sldId id="579" r:id="rId18"/>
    <p:sldId id="580" r:id="rId19"/>
    <p:sldId id="265" r:id="rId20"/>
    <p:sldId id="375" r:id="rId21"/>
    <p:sldId id="376" r:id="rId22"/>
    <p:sldId id="377" r:id="rId23"/>
    <p:sldId id="378" r:id="rId24"/>
    <p:sldId id="379" r:id="rId25"/>
    <p:sldId id="380" r:id="rId26"/>
    <p:sldId id="382" r:id="rId27"/>
    <p:sldId id="383" r:id="rId28"/>
    <p:sldId id="384" r:id="rId29"/>
    <p:sldId id="385" r:id="rId30"/>
    <p:sldId id="386" r:id="rId31"/>
    <p:sldId id="387" r:id="rId32"/>
    <p:sldId id="381" r:id="rId33"/>
    <p:sldId id="388" r:id="rId34"/>
    <p:sldId id="389" r:id="rId35"/>
    <p:sldId id="390" r:id="rId36"/>
    <p:sldId id="391" r:id="rId37"/>
    <p:sldId id="496" r:id="rId38"/>
    <p:sldId id="392" r:id="rId39"/>
    <p:sldId id="582" r:id="rId40"/>
    <p:sldId id="581" r:id="rId41"/>
    <p:sldId id="497" r:id="rId42"/>
    <p:sldId id="498" r:id="rId43"/>
    <p:sldId id="501" r:id="rId44"/>
    <p:sldId id="500" r:id="rId45"/>
    <p:sldId id="502" r:id="rId46"/>
    <p:sldId id="503" r:id="rId47"/>
    <p:sldId id="504" r:id="rId48"/>
    <p:sldId id="505" r:id="rId49"/>
    <p:sldId id="506" r:id="rId50"/>
    <p:sldId id="507" r:id="rId51"/>
    <p:sldId id="508" r:id="rId52"/>
    <p:sldId id="509" r:id="rId53"/>
    <p:sldId id="510" r:id="rId54"/>
    <p:sldId id="511" r:id="rId55"/>
    <p:sldId id="512" r:id="rId56"/>
    <p:sldId id="513" r:id="rId57"/>
    <p:sldId id="514" r:id="rId58"/>
    <p:sldId id="515" r:id="rId59"/>
    <p:sldId id="516" r:id="rId60"/>
    <p:sldId id="517" r:id="rId61"/>
    <p:sldId id="670" r:id="rId62"/>
    <p:sldId id="519" r:id="rId63"/>
    <p:sldId id="520" r:id="rId64"/>
    <p:sldId id="521" r:id="rId65"/>
    <p:sldId id="522" r:id="rId66"/>
    <p:sldId id="523" r:id="rId67"/>
    <p:sldId id="524" r:id="rId68"/>
    <p:sldId id="525" r:id="rId69"/>
    <p:sldId id="526" r:id="rId70"/>
    <p:sldId id="528" r:id="rId71"/>
    <p:sldId id="529" r:id="rId72"/>
    <p:sldId id="530" r:id="rId73"/>
    <p:sldId id="531" r:id="rId74"/>
    <p:sldId id="532" r:id="rId75"/>
    <p:sldId id="534" r:id="rId76"/>
    <p:sldId id="535" r:id="rId77"/>
    <p:sldId id="536" r:id="rId78"/>
    <p:sldId id="537" r:id="rId79"/>
    <p:sldId id="671" r:id="rId80"/>
    <p:sldId id="672" r:id="rId81"/>
    <p:sldId id="538" r:id="rId82"/>
    <p:sldId id="539" r:id="rId83"/>
    <p:sldId id="540" r:id="rId84"/>
    <p:sldId id="541" r:id="rId85"/>
    <p:sldId id="542" r:id="rId86"/>
    <p:sldId id="543" r:id="rId87"/>
    <p:sldId id="544" r:id="rId88"/>
    <p:sldId id="545" r:id="rId89"/>
    <p:sldId id="547" r:id="rId90"/>
    <p:sldId id="548" r:id="rId91"/>
    <p:sldId id="549" r:id="rId92"/>
    <p:sldId id="550" r:id="rId93"/>
    <p:sldId id="551" r:id="rId94"/>
    <p:sldId id="552" r:id="rId95"/>
    <p:sldId id="553" r:id="rId96"/>
    <p:sldId id="554" r:id="rId97"/>
    <p:sldId id="555" r:id="rId98"/>
    <p:sldId id="556" r:id="rId99"/>
    <p:sldId id="557" r:id="rId100"/>
    <p:sldId id="558" r:id="rId101"/>
    <p:sldId id="559" r:id="rId102"/>
    <p:sldId id="560" r:id="rId103"/>
    <p:sldId id="561" r:id="rId104"/>
    <p:sldId id="562" r:id="rId105"/>
    <p:sldId id="563" r:id="rId106"/>
    <p:sldId id="564" r:id="rId107"/>
    <p:sldId id="565" r:id="rId108"/>
    <p:sldId id="566" r:id="rId109"/>
    <p:sldId id="567" r:id="rId110"/>
    <p:sldId id="568" r:id="rId111"/>
  </p:sldIdLst>
  <p:sldSz cx="9145270" cy="6859270"/>
  <p:notesSz cx="6858000" cy="9144000"/>
  <p:custDataLst>
    <p:tags r:id="rId116"/>
  </p:custDataLst>
  <p:defaultTex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BF232D2-D19E-504B-87D8-3B003D6C7EDF}">
          <p14:sldIdLst>
            <p14:sldId id="370"/>
            <p14:sldId id="371"/>
            <p14:sldId id="361"/>
          </p14:sldIdLst>
        </p14:section>
        <p14:section name="9.1图像特征概述&#10;" id="{256AA047-7D52-614D-BB8A-31B1127BBDAB}">
          <p14:sldIdLst>
            <p14:sldId id="569"/>
            <p14:sldId id="570"/>
            <p14:sldId id="571"/>
            <p14:sldId id="572"/>
            <p14:sldId id="573"/>
            <p14:sldId id="574"/>
            <p14:sldId id="575"/>
            <p14:sldId id="576"/>
            <p14:sldId id="577"/>
            <p14:sldId id="578"/>
            <p14:sldId id="579"/>
            <p14:sldId id="580"/>
            <p14:sldId id="265"/>
            <p14:sldId id="375"/>
            <p14:sldId id="376"/>
            <p14:sldId id="377"/>
            <p14:sldId id="378"/>
            <p14:sldId id="379"/>
          </p14:sldIdLst>
        </p14:section>
        <p14:section name="9.2梯度方向直方图&#10;" id="{5AC34ACD-2792-0F40-9E22-083F73537789}">
          <p14:sldIdLst>
            <p14:sldId id="380"/>
            <p14:sldId id="382"/>
            <p14:sldId id="383"/>
            <p14:sldId id="384"/>
            <p14:sldId id="385"/>
            <p14:sldId id="386"/>
            <p14:sldId id="387"/>
            <p14:sldId id="381"/>
            <p14:sldId id="388"/>
            <p14:sldId id="389"/>
            <p14:sldId id="390"/>
            <p14:sldId id="391"/>
          </p14:sldIdLst>
        </p14:section>
        <p14:section name="9.3角点特征&#10;" id="{2F0C0DF1-BAEF-EB45-B153-1BE69423B04A}">
          <p14:sldIdLst>
            <p14:sldId id="496"/>
            <p14:sldId id="392"/>
            <p14:sldId id="582"/>
            <p14:sldId id="581"/>
            <p14:sldId id="497"/>
            <p14:sldId id="498"/>
            <p14:sldId id="501"/>
            <p14:sldId id="500"/>
            <p14:sldId id="502"/>
            <p14:sldId id="503"/>
            <p14:sldId id="504"/>
            <p14:sldId id="505"/>
            <p14:sldId id="506"/>
            <p14:sldId id="507"/>
            <p14:sldId id="508"/>
            <p14:sldId id="509"/>
            <p14:sldId id="510"/>
            <p14:sldId id="511"/>
            <p14:sldId id="512"/>
            <p14:sldId id="513"/>
            <p14:sldId id="514"/>
            <p14:sldId id="515"/>
            <p14:sldId id="516"/>
          </p14:sldIdLst>
        </p14:section>
        <p14:section name="9.4SIFT算法&#10;" id="{D7BB0C20-35C7-FA43-8EFA-A605228DFC38}">
          <p14:sldIdLst>
            <p14:sldId id="517"/>
            <p14:sldId id="670"/>
            <p14:sldId id="519"/>
            <p14:sldId id="520"/>
            <p14:sldId id="521"/>
            <p14:sldId id="522"/>
            <p14:sldId id="523"/>
            <p14:sldId id="524"/>
            <p14:sldId id="525"/>
            <p14:sldId id="526"/>
            <p14:sldId id="528"/>
            <p14:sldId id="529"/>
            <p14:sldId id="530"/>
            <p14:sldId id="531"/>
            <p14:sldId id="532"/>
          </p14:sldIdLst>
        </p14:section>
        <p14:section name="9.5局部二进制模式&#10;" id="{7BD211A0-9FB9-B14B-BEAE-56D2914FE2AD}">
          <p14:sldIdLst>
            <p14:sldId id="534"/>
            <p14:sldId id="535"/>
            <p14:sldId id="536"/>
            <p14:sldId id="537"/>
            <p14:sldId id="671"/>
            <p14:sldId id="672"/>
            <p14:sldId id="538"/>
            <p14:sldId id="539"/>
            <p14:sldId id="540"/>
            <p14:sldId id="541"/>
            <p14:sldId id="542"/>
            <p14:sldId id="543"/>
            <p14:sldId id="544"/>
          </p14:sldIdLst>
        </p14:section>
        <p14:section name="9.6 基于Gabor滤波器的图像纹理特征提取&#10;" id="{62B19479-C8EE-6A4B-BB8A-F5C1D96A03CC}">
          <p14:sldIdLst>
            <p14:sldId id="545"/>
            <p14:sldId id="547"/>
            <p14:sldId id="548"/>
            <p14:sldId id="549"/>
            <p14:sldId id="550"/>
            <p14:sldId id="551"/>
            <p14:sldId id="552"/>
            <p14:sldId id="553"/>
            <p14:sldId id="554"/>
          </p14:sldIdLst>
        </p14:section>
        <p14:section name="9.7数据降维算法&#10;" id="{14C7EE3C-8A4F-E942-B69F-50140FA6315E}">
          <p14:sldIdLst>
            <p14:sldId id="555"/>
            <p14:sldId id="556"/>
            <p14:sldId id="557"/>
            <p14:sldId id="558"/>
            <p14:sldId id="559"/>
            <p14:sldId id="560"/>
            <p14:sldId id="561"/>
            <p14:sldId id="562"/>
          </p14:sldIdLst>
        </p14:section>
        <p14:section name="9.8基于LBP特征的人脸识别&#10;" id="{02CB37D3-BE67-8446-9B69-321C391C715E}">
          <p14:sldIdLst>
            <p14:sldId id="563"/>
            <p14:sldId id="564"/>
            <p14:sldId id="565"/>
            <p14:sldId id="566"/>
            <p14:sldId id="567"/>
            <p14:sldId id="568"/>
          </p14:sldIdLst>
        </p14:section>
      </p14:sectionLst>
    </p:ext>
    <p:ext uri="{EFAFB233-063F-42B5-8137-9DF3F51BA10A}">
      <p15:sldGuideLst xmlns:p15="http://schemas.microsoft.com/office/powerpoint/2012/main">
        <p15:guide id="1" orient="horz" pos="2160" userDrawn="1">
          <p15:clr>
            <a:srgbClr val="A4A3A4"/>
          </p15:clr>
        </p15:guide>
        <p15:guide id="2" orient="horz" pos="3820" userDrawn="1">
          <p15:clr>
            <a:srgbClr val="A4A3A4"/>
          </p15:clr>
        </p15:guide>
        <p15:guide id="3" pos="2846" userDrawn="1">
          <p15:clr>
            <a:srgbClr val="A4A3A4"/>
          </p15:clr>
        </p15:guide>
        <p15:guide id="4" pos="5466" userDrawn="1">
          <p15:clr>
            <a:srgbClr val="A4A3A4"/>
          </p15:clr>
        </p15:guide>
        <p15:guide id="5" pos="4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7C7"/>
    <a:srgbClr val="8B8B8B"/>
    <a:srgbClr val="38B1BF"/>
    <a:srgbClr val="EF7768"/>
    <a:srgbClr val="FF9933"/>
    <a:srgbClr val="F5F5F5"/>
    <a:srgbClr val="00458E"/>
    <a:srgbClr val="B11212"/>
    <a:srgbClr val="022A4F"/>
    <a:srgbClr val="007A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42" autoAdjust="0"/>
    <p:restoredTop sz="88315" autoAdjust="0"/>
  </p:normalViewPr>
  <p:slideViewPr>
    <p:cSldViewPr showGuides="1">
      <p:cViewPr varScale="1">
        <p:scale>
          <a:sx n="112" d="100"/>
          <a:sy n="112" d="100"/>
        </p:scale>
        <p:origin x="1218" y="102"/>
      </p:cViewPr>
      <p:guideLst>
        <p:guide orient="horz" pos="2160"/>
        <p:guide orient="horz" pos="3820"/>
        <p:guide pos="2846"/>
        <p:guide pos="5466"/>
        <p:guide pos="449"/>
      </p:guideLst>
    </p:cSldViewPr>
  </p:slid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83" d="100"/>
          <a:sy n="83" d="100"/>
        </p:scale>
        <p:origin x="-3840" y="-96"/>
      </p:cViewPr>
      <p:guideLst>
        <p:guide orient="horz" pos="2880"/>
        <p:guide pos="2134"/>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6" Type="http://schemas.openxmlformats.org/officeDocument/2006/relationships/tags" Target="tags/tag19.xml"/><Relationship Id="rId115" Type="http://schemas.openxmlformats.org/officeDocument/2006/relationships/tableStyles" Target="tableStyles.xml"/><Relationship Id="rId114" Type="http://schemas.openxmlformats.org/officeDocument/2006/relationships/viewProps" Target="viewProps.xml"/><Relationship Id="rId113" Type="http://schemas.openxmlformats.org/officeDocument/2006/relationships/presProps" Target="presProps.xml"/><Relationship Id="rId112" Type="http://schemas.openxmlformats.org/officeDocument/2006/relationships/handoutMaster" Target="handoutMasters/handoutMaster1.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D1C15E6-6BD2-4E4B-B1D4-218C26E1B22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655EDCA-2189-4435-B38B-6F3C2C04435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17430C-5A66-4BD0-A971-34190B6C601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AC173A-3DA8-4893-B28A-1E15F55C330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r>
              <a:rPr lang="en-GB" altLang="zh-CN" dirty="0"/>
              <a:t>https://</a:t>
            </a:r>
            <a:r>
              <a:rPr lang="en-GB" altLang="zh-CN" dirty="0" err="1"/>
              <a:t>www.bilibili.com</a:t>
            </a:r>
            <a:r>
              <a:rPr lang="en-GB" altLang="zh-CN" dirty="0"/>
              <a:t>/video/BV1C24y1J73k?spm_id_from=333.788.player.switch&amp;vd_source=021ba0b5271dd183456e0c4b3d88a190&amp;p=4</a:t>
            </a:r>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p:cNvSpPr>
          <p:nvPr>
            <p:ph type="sldImg"/>
          </p:nvPr>
        </p:nvSpPr>
        <p:spPr/>
        <p:txBody>
          <a:bodyPr/>
          <a:lstStyle/>
          <a:p>
            <a:endParaRPr lang="zh-CN" altLang="en-US"/>
          </a:p>
        </p:txBody>
      </p:sp>
      <p:sp>
        <p:nvSpPr>
          <p:cNvPr id="19458" name="备注占位符 2"/>
          <p:cNvSpPr>
            <a:spLocks noGrp="1"/>
          </p:cNvSpPr>
          <p:nvPr>
            <p:ph type="body"/>
          </p:nvPr>
        </p:nvSpPr>
        <p:spPr/>
        <p:txBody>
          <a:bodyPr lIns="91440" tIns="45720" rIns="91440" bIns="45720" anchor="t" anchorCtr="0"/>
          <a:lstStyle/>
          <a:p>
            <a:pPr lvl="0"/>
            <a:endParaRPr lang="zh-CN" altLang="en-US"/>
          </a:p>
        </p:txBody>
      </p:sp>
      <p:sp>
        <p:nvSpPr>
          <p:cNvPr id="19459"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endParaRPr lang="zh-CN" altLang="en-US" sz="1200">
              <a:latin typeface="Calibri"/>
              <a:ea typeface="宋体"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p:cNvSpPr>
            <a:spLocks noGrp="1" noRot="1" noChangeAspect="1"/>
          </p:cNvSpPr>
          <p:nvPr>
            <p:ph type="sldImg"/>
          </p:nvPr>
        </p:nvSpPr>
        <p:spPr/>
        <p:txBody>
          <a:bodyPr/>
          <a:lstStyle/>
          <a:p>
            <a:endParaRPr lang="zh-CN" altLang="en-US"/>
          </a:p>
        </p:txBody>
      </p:sp>
      <p:sp>
        <p:nvSpPr>
          <p:cNvPr id="21506" name="备注占位符 2"/>
          <p:cNvSpPr>
            <a:spLocks noGrp="1"/>
          </p:cNvSpPr>
          <p:nvPr>
            <p:ph type="body"/>
          </p:nvPr>
        </p:nvSpPr>
        <p:spPr/>
        <p:txBody>
          <a:bodyPr lIns="91440" tIns="45720" rIns="91440" bIns="45720" anchor="t" anchorCtr="0"/>
          <a:lstStyle/>
          <a:p>
            <a:pPr lvl="0"/>
            <a:endParaRPr lang="zh-CN" altLang="en-US"/>
          </a:p>
        </p:txBody>
      </p:sp>
      <p:sp>
        <p:nvSpPr>
          <p:cNvPr id="21507"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endParaRPr lang="zh-CN" altLang="en-US" sz="1200">
              <a:latin typeface="Calibri"/>
              <a:ea typeface="宋体"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幻灯片图像占位符 1"/>
          <p:cNvSpPr>
            <a:spLocks noGrp="1" noRot="1" noChangeAspect="1"/>
          </p:cNvSpPr>
          <p:nvPr>
            <p:ph type="sldImg"/>
          </p:nvPr>
        </p:nvSpPr>
        <p:spPr/>
        <p:txBody>
          <a:bodyPr/>
          <a:lstStyle/>
          <a:p>
            <a:endParaRPr lang="zh-CN" altLang="en-US"/>
          </a:p>
        </p:txBody>
      </p:sp>
      <p:sp>
        <p:nvSpPr>
          <p:cNvPr id="23554" name="备注占位符 2"/>
          <p:cNvSpPr>
            <a:spLocks noGrp="1"/>
          </p:cNvSpPr>
          <p:nvPr>
            <p:ph type="body"/>
          </p:nvPr>
        </p:nvSpPr>
        <p:spPr/>
        <p:txBody>
          <a:bodyPr lIns="91440" tIns="45720" rIns="91440" bIns="45720" anchor="t" anchorCtr="0"/>
          <a:lstStyle/>
          <a:p>
            <a:pPr lvl="0"/>
            <a:endParaRPr lang="zh-CN" altLang="en-US"/>
          </a:p>
        </p:txBody>
      </p:sp>
      <p:sp>
        <p:nvSpPr>
          <p:cNvPr id="23555"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endParaRPr lang="zh-CN" altLang="en-US" sz="1200">
              <a:latin typeface="Calibri"/>
              <a:ea typeface="宋体"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p:cNvSpPr>
          <p:nvPr>
            <p:ph type="sldImg"/>
          </p:nvPr>
        </p:nvSpPr>
        <p:spPr/>
        <p:txBody>
          <a:bodyPr/>
          <a:lstStyle/>
          <a:p>
            <a:endParaRPr lang="zh-CN" altLang="en-US"/>
          </a:p>
        </p:txBody>
      </p:sp>
      <p:sp>
        <p:nvSpPr>
          <p:cNvPr id="25602" name="备注占位符 2"/>
          <p:cNvSpPr>
            <a:spLocks noGrp="1"/>
          </p:cNvSpPr>
          <p:nvPr>
            <p:ph type="body"/>
          </p:nvPr>
        </p:nvSpPr>
        <p:spPr/>
        <p:txBody>
          <a:bodyPr lIns="91440" tIns="45720" rIns="91440" bIns="45720" anchor="t" anchorCtr="0"/>
          <a:lstStyle/>
          <a:p>
            <a:pPr lvl="0"/>
            <a:endParaRPr lang="zh-CN" altLang="en-US"/>
          </a:p>
        </p:txBody>
      </p:sp>
      <p:sp>
        <p:nvSpPr>
          <p:cNvPr id="25603"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endParaRPr lang="zh-CN" altLang="en-US" sz="1200">
              <a:latin typeface="Calibri"/>
              <a:ea typeface="宋体"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p:cNvSpPr>
          <p:nvPr>
            <p:ph type="sldImg"/>
          </p:nvPr>
        </p:nvSpPr>
        <p:spPr/>
        <p:txBody>
          <a:bodyPr/>
          <a:lstStyle/>
          <a:p>
            <a:endParaRPr lang="zh-CN" altLang="en-US"/>
          </a:p>
        </p:txBody>
      </p:sp>
      <p:sp>
        <p:nvSpPr>
          <p:cNvPr id="27650" name="备注占位符 2"/>
          <p:cNvSpPr>
            <a:spLocks noGrp="1"/>
          </p:cNvSpPr>
          <p:nvPr>
            <p:ph type="body"/>
          </p:nvPr>
        </p:nvSpPr>
        <p:spPr/>
        <p:txBody>
          <a:bodyPr lIns="91440" tIns="45720" rIns="91440" bIns="45720" anchor="t" anchorCtr="0"/>
          <a:lstStyle/>
          <a:p>
            <a:pPr lvl="0"/>
            <a:endParaRPr lang="zh-CN" altLang="en-US"/>
          </a:p>
        </p:txBody>
      </p:sp>
      <p:sp>
        <p:nvSpPr>
          <p:cNvPr id="27651"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endParaRPr lang="zh-CN" altLang="en-US" sz="1200">
              <a:latin typeface="Calibri"/>
              <a:ea typeface="宋体"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幻灯片图像占位符 1"/>
          <p:cNvSpPr>
            <a:spLocks noGrp="1" noRot="1" noChangeAspect="1"/>
          </p:cNvSpPr>
          <p:nvPr>
            <p:ph type="sldImg"/>
          </p:nvPr>
        </p:nvSpPr>
        <p:spPr/>
        <p:txBody>
          <a:bodyPr/>
          <a:lstStyle/>
          <a:p>
            <a:endParaRPr lang="zh-CN" altLang="en-US"/>
          </a:p>
        </p:txBody>
      </p:sp>
      <p:sp>
        <p:nvSpPr>
          <p:cNvPr id="29698" name="备注占位符 2"/>
          <p:cNvSpPr>
            <a:spLocks noGrp="1"/>
          </p:cNvSpPr>
          <p:nvPr>
            <p:ph type="body"/>
          </p:nvPr>
        </p:nvSpPr>
        <p:spPr/>
        <p:txBody>
          <a:bodyPr lIns="91440" tIns="45720" rIns="91440" bIns="45720" anchor="t" anchorCtr="0"/>
          <a:lstStyle/>
          <a:p>
            <a:pPr lvl="0"/>
            <a:endParaRPr lang="zh-CN" altLang="en-US"/>
          </a:p>
        </p:txBody>
      </p:sp>
      <p:sp>
        <p:nvSpPr>
          <p:cNvPr id="29699"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endParaRPr lang="zh-CN" altLang="en-US" sz="1200">
              <a:latin typeface="Calibri"/>
              <a:ea typeface="宋体"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p:cNvSpPr>
          <p:nvPr>
            <p:ph type="sldImg"/>
          </p:nvPr>
        </p:nvSpPr>
        <p:spPr/>
        <p:txBody>
          <a:bodyPr/>
          <a:lstStyle/>
          <a:p>
            <a:endParaRPr lang="zh-CN" altLang="en-US"/>
          </a:p>
        </p:txBody>
      </p:sp>
      <p:sp>
        <p:nvSpPr>
          <p:cNvPr id="31746" name="备注占位符 2"/>
          <p:cNvSpPr>
            <a:spLocks noGrp="1"/>
          </p:cNvSpPr>
          <p:nvPr>
            <p:ph type="body"/>
          </p:nvPr>
        </p:nvSpPr>
        <p:spPr/>
        <p:txBody>
          <a:bodyPr lIns="91440" tIns="45720" rIns="91440" bIns="45720" anchor="t" anchorCtr="0"/>
          <a:lstStyle/>
          <a:p>
            <a:pPr lvl="0"/>
            <a:endParaRPr lang="zh-CN" altLang="en-US"/>
          </a:p>
        </p:txBody>
      </p:sp>
      <p:sp>
        <p:nvSpPr>
          <p:cNvPr id="31747"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endParaRPr lang="zh-CN" altLang="en-US" sz="1200">
              <a:latin typeface="Calibri"/>
              <a:ea typeface="宋体"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幻灯片图像占位符 1"/>
          <p:cNvSpPr>
            <a:spLocks noGrp="1" noRot="1" noChangeAspect="1"/>
          </p:cNvSpPr>
          <p:nvPr>
            <p:ph type="sldImg"/>
          </p:nvPr>
        </p:nvSpPr>
        <p:spPr/>
        <p:txBody>
          <a:bodyPr/>
          <a:lstStyle/>
          <a:p>
            <a:endParaRPr lang="zh-CN" altLang="en-US"/>
          </a:p>
        </p:txBody>
      </p:sp>
      <p:sp>
        <p:nvSpPr>
          <p:cNvPr id="33794" name="备注占位符 2"/>
          <p:cNvSpPr>
            <a:spLocks noGrp="1"/>
          </p:cNvSpPr>
          <p:nvPr>
            <p:ph type="body"/>
          </p:nvPr>
        </p:nvSpPr>
        <p:spPr/>
        <p:txBody>
          <a:bodyPr lIns="91440" tIns="45720" rIns="91440" bIns="45720" anchor="t" anchorCtr="0"/>
          <a:lstStyle/>
          <a:p>
            <a:pPr lvl="0"/>
            <a:endParaRPr lang="zh-CN" altLang="en-US"/>
          </a:p>
        </p:txBody>
      </p:sp>
      <p:sp>
        <p:nvSpPr>
          <p:cNvPr id="33795"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endParaRPr lang="zh-CN" altLang="en-US" sz="1200">
              <a:latin typeface="Calibri"/>
              <a:ea typeface="宋体"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幻灯片图像占位符 1"/>
          <p:cNvSpPr>
            <a:spLocks noGrp="1" noRot="1" noChangeAspect="1"/>
          </p:cNvSpPr>
          <p:nvPr>
            <p:ph type="sldImg"/>
          </p:nvPr>
        </p:nvSpPr>
        <p:spPr/>
        <p:txBody>
          <a:bodyPr/>
          <a:lstStyle/>
          <a:p>
            <a:endParaRPr lang="zh-CN" altLang="en-US"/>
          </a:p>
        </p:txBody>
      </p:sp>
      <p:sp>
        <p:nvSpPr>
          <p:cNvPr id="35842" name="备注占位符 2"/>
          <p:cNvSpPr>
            <a:spLocks noGrp="1"/>
          </p:cNvSpPr>
          <p:nvPr>
            <p:ph type="body"/>
          </p:nvPr>
        </p:nvSpPr>
        <p:spPr/>
        <p:txBody>
          <a:bodyPr lIns="91440" tIns="45720" rIns="91440" bIns="45720" anchor="t" anchorCtr="0"/>
          <a:lstStyle/>
          <a:p>
            <a:pPr lvl="0"/>
            <a:endParaRPr lang="zh-CN" altLang="en-US"/>
          </a:p>
        </p:txBody>
      </p:sp>
      <p:sp>
        <p:nvSpPr>
          <p:cNvPr id="35843"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endParaRPr lang="zh-CN" altLang="en-US" sz="1200">
              <a:latin typeface="Calibri"/>
              <a:ea typeface="宋体"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幻灯片图像占位符 1"/>
          <p:cNvSpPr>
            <a:spLocks noGrp="1" noRot="1" noChangeAspect="1"/>
          </p:cNvSpPr>
          <p:nvPr>
            <p:ph type="sldImg"/>
          </p:nvPr>
        </p:nvSpPr>
        <p:spPr/>
        <p:txBody>
          <a:bodyPr/>
          <a:lstStyle/>
          <a:p>
            <a:endParaRPr lang="zh-CN" altLang="en-US"/>
          </a:p>
        </p:txBody>
      </p:sp>
      <p:sp>
        <p:nvSpPr>
          <p:cNvPr id="35842" name="备注占位符 2"/>
          <p:cNvSpPr>
            <a:spLocks noGrp="1"/>
          </p:cNvSpPr>
          <p:nvPr>
            <p:ph type="body"/>
          </p:nvPr>
        </p:nvSpPr>
        <p:spPr/>
        <p:txBody>
          <a:bodyPr lIns="91440" tIns="45720" rIns="91440" bIns="45720" anchor="t" anchorCtr="0"/>
          <a:lstStyle/>
          <a:p>
            <a:pPr lvl="0"/>
            <a:endParaRPr lang="zh-CN" altLang="en-US"/>
          </a:p>
        </p:txBody>
      </p:sp>
      <p:sp>
        <p:nvSpPr>
          <p:cNvPr id="35843"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endParaRPr lang="zh-CN" altLang="en-US" sz="1200">
              <a:latin typeface="Calibri"/>
              <a:ea typeface="宋体"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1_标题幻灯片">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2_两栏内容">
    <p:bg>
      <p:bgPr>
        <a:solidFill>
          <a:srgbClr val="F5F5F5"/>
        </a:solidFill>
        <a:effectLst/>
      </p:bgPr>
    </p:bg>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3_两栏内容">
    <p:bg>
      <p:bgPr>
        <a:solidFill>
          <a:srgbClr val="F5F5F5"/>
        </a:solidFill>
        <a:effectLst/>
      </p:bgPr>
    </p:bg>
    <p:spTree>
      <p:nvGrpSpPr>
        <p:cNvPr id="1" name=""/>
        <p:cNvGrpSpPr/>
        <p:nvPr/>
      </p:nvGrpSpPr>
      <p:grpSpPr>
        <a:xfrm>
          <a:off x="0" y="0"/>
          <a:ext cx="0" cy="0"/>
          <a:chOff x="0" y="0"/>
          <a:chExt cx="0" cy="0"/>
        </a:xfrm>
      </p:grpSpPr>
      <p:sp>
        <p:nvSpPr>
          <p:cNvPr id="11" name="TextBox 15"/>
          <p:cNvSpPr txBox="1"/>
          <p:nvPr userDrawn="1"/>
        </p:nvSpPr>
        <p:spPr>
          <a:xfrm>
            <a:off x="8080932" y="405459"/>
            <a:ext cx="849913" cy="323165"/>
          </a:xfrm>
          <a:prstGeom prst="rect">
            <a:avLst/>
          </a:prstGeom>
          <a:noFill/>
        </p:spPr>
        <p:txBody>
          <a:bodyPr wrap="none" rtlCol="0">
            <a:spAutoFit/>
          </a:bodyPr>
          <a:lstStyle/>
          <a:p>
            <a:pPr algn="ct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第</a:t>
            </a:r>
            <a:r>
              <a:rPr lang="zh-CN" altLang="en-US" sz="1350" dirty="0">
                <a:solidFill>
                  <a:schemeClr val="tx1">
                    <a:lumMod val="50000"/>
                    <a:lumOff val="50000"/>
                  </a:schemeClr>
                </a:solidFill>
                <a:latin typeface="微软雅黑" panose="020B0503020204020204" pitchFamily="34" charset="-122"/>
                <a:ea typeface="微软雅黑" panose="020B0503020204020204" pitchFamily="34" charset="-122"/>
              </a:rPr>
              <a:t> </a:t>
            </a:r>
            <a:fld id="{2EEF1883-7A0E-4F66-9932-E581691AD397}" type="slidenum">
              <a:rPr lang="zh-CN" altLang="en-US" sz="1500" smtClean="0">
                <a:solidFill>
                  <a:schemeClr val="tx1">
                    <a:lumMod val="50000"/>
                    <a:lumOff val="50000"/>
                  </a:schemeClr>
                </a:solidFill>
                <a:latin typeface="微软雅黑" panose="020B0503020204020204" pitchFamily="34" charset="-122"/>
                <a:ea typeface="微软雅黑" panose="020B0503020204020204" pitchFamily="34" charset="-122"/>
              </a:rPr>
            </a:fld>
            <a:r>
              <a:rPr lang="zh-CN" altLang="en-US" sz="1350" dirty="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页</a:t>
            </a:r>
            <a:endParaRPr lang="zh-CN" altLang="en-US" sz="1200" b="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1_两栏内容">
    <p:bg>
      <p:bgPr>
        <a:solidFill>
          <a:srgbClr val="F5F5F5"/>
        </a:solidFill>
        <a:effectLst/>
      </p:bgPr>
    </p:bg>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8" name="그림 6" descr="0006.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681" y="3"/>
            <a:ext cx="9145588" cy="6694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pic>
        <p:nvPicPr>
          <p:cNvPr id="7"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9" y="4407925"/>
            <a:ext cx="7773750" cy="1362391"/>
          </a:xfrm>
        </p:spPr>
        <p:txBody>
          <a:bodyPr anchor="t"/>
          <a:lstStyle>
            <a:lvl1pPr algn="l">
              <a:defRPr sz="397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439" y="2907386"/>
            <a:ext cx="7773750" cy="1500534"/>
          </a:xfrm>
        </p:spPr>
        <p:txBody>
          <a:bodyPr anchor="b"/>
          <a:lstStyle>
            <a:lvl1pPr marL="0" indent="0">
              <a:buNone/>
              <a:defRPr sz="2025">
                <a:solidFill>
                  <a:schemeClr val="tx1">
                    <a:tint val="75000"/>
                  </a:schemeClr>
                </a:solidFill>
              </a:defRPr>
            </a:lvl1pPr>
            <a:lvl2pPr marL="457200" indent="0">
              <a:buNone/>
              <a:defRPr sz="1800">
                <a:solidFill>
                  <a:schemeClr val="tx1">
                    <a:tint val="75000"/>
                  </a:schemeClr>
                </a:solidFill>
              </a:defRPr>
            </a:lvl2pPr>
            <a:lvl3pPr marL="914400" indent="0">
              <a:buNone/>
              <a:defRPr sz="1575">
                <a:solidFill>
                  <a:schemeClr val="tx1">
                    <a:tint val="75000"/>
                  </a:schemeClr>
                </a:solidFill>
              </a:defRPr>
            </a:lvl3pPr>
            <a:lvl4pPr marL="1372235" indent="0">
              <a:buNone/>
              <a:defRPr sz="1425">
                <a:solidFill>
                  <a:schemeClr val="tx1">
                    <a:tint val="75000"/>
                  </a:schemeClr>
                </a:solidFill>
              </a:defRPr>
            </a:lvl4pPr>
            <a:lvl5pPr marL="1829435" indent="0">
              <a:buNone/>
              <a:defRPr sz="1425">
                <a:solidFill>
                  <a:schemeClr val="tx1">
                    <a:tint val="75000"/>
                  </a:schemeClr>
                </a:solidFill>
              </a:defRPr>
            </a:lvl5pPr>
            <a:lvl6pPr marL="2286635" indent="0">
              <a:buNone/>
              <a:defRPr sz="1425">
                <a:solidFill>
                  <a:schemeClr val="tx1">
                    <a:tint val="75000"/>
                  </a:schemeClr>
                </a:solidFill>
              </a:defRPr>
            </a:lvl6pPr>
            <a:lvl7pPr marL="2743835" indent="0">
              <a:buNone/>
              <a:defRPr sz="1425">
                <a:solidFill>
                  <a:schemeClr val="tx1">
                    <a:tint val="75000"/>
                  </a:schemeClr>
                </a:solidFill>
              </a:defRPr>
            </a:lvl7pPr>
            <a:lvl8pPr marL="3201035" indent="0">
              <a:buNone/>
              <a:defRPr sz="1425">
                <a:solidFill>
                  <a:schemeClr val="tx1">
                    <a:tint val="75000"/>
                  </a:schemeClr>
                </a:solidFill>
              </a:defRPr>
            </a:lvl8pPr>
            <a:lvl9pPr marL="3658235" indent="0">
              <a:buNone/>
              <a:defRPr sz="142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80" y="1600573"/>
            <a:ext cx="4039301" cy="4527011"/>
          </a:xfrm>
        </p:spPr>
        <p:txBody>
          <a:bodyPr/>
          <a:lstStyle>
            <a:lvl1pPr>
              <a:defRPr sz="2775"/>
            </a:lvl1pPr>
            <a:lvl2pPr>
              <a:defRPr sz="2400"/>
            </a:lvl2pPr>
            <a:lvl3pPr>
              <a:defRPr sz="2025"/>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9008" y="1600573"/>
            <a:ext cx="4039301" cy="4527011"/>
          </a:xfrm>
        </p:spPr>
        <p:txBody>
          <a:bodyPr/>
          <a:lstStyle>
            <a:lvl1pPr>
              <a:defRPr sz="2775"/>
            </a:lvl1pPr>
            <a:lvl2pPr>
              <a:defRPr sz="2400"/>
            </a:lvl2pPr>
            <a:lvl3pPr>
              <a:defRPr sz="2025"/>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79" y="1535469"/>
            <a:ext cx="4040890" cy="639911"/>
          </a:xfrm>
        </p:spPr>
        <p:txBody>
          <a:bodyPr anchor="b"/>
          <a:lstStyle>
            <a:lvl1pPr marL="0" indent="0">
              <a:buNone/>
              <a:defRPr sz="2400" b="1"/>
            </a:lvl1pPr>
            <a:lvl2pPr marL="457200" indent="0">
              <a:buNone/>
              <a:defRPr sz="2025" b="1"/>
            </a:lvl2pPr>
            <a:lvl3pPr marL="914400" indent="0">
              <a:buNone/>
              <a:defRPr sz="1800" b="1"/>
            </a:lvl3pPr>
            <a:lvl4pPr marL="1372235" indent="0">
              <a:buNone/>
              <a:defRPr sz="1575" b="1"/>
            </a:lvl4pPr>
            <a:lvl5pPr marL="1829435" indent="0">
              <a:buNone/>
              <a:defRPr sz="1575" b="1"/>
            </a:lvl5pPr>
            <a:lvl6pPr marL="2286635" indent="0">
              <a:buNone/>
              <a:defRPr sz="1575" b="1"/>
            </a:lvl6pPr>
            <a:lvl7pPr marL="2743835" indent="0">
              <a:buNone/>
              <a:defRPr sz="1575" b="1"/>
            </a:lvl7pPr>
            <a:lvl8pPr marL="3201035" indent="0">
              <a:buNone/>
              <a:defRPr sz="1575" b="1"/>
            </a:lvl8pPr>
            <a:lvl9pPr marL="3658235" indent="0">
              <a:buNone/>
              <a:defRPr sz="157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79" y="2175378"/>
            <a:ext cx="4040890" cy="3952203"/>
          </a:xfrm>
        </p:spPr>
        <p:txBody>
          <a:bodyPr/>
          <a:lstStyle>
            <a:lvl1pPr>
              <a:defRPr sz="2400"/>
            </a:lvl1pPr>
            <a:lvl2pPr>
              <a:defRPr sz="2025"/>
            </a:lvl2pPr>
            <a:lvl3pPr>
              <a:defRPr sz="1800"/>
            </a:lvl3pPr>
            <a:lvl4pPr>
              <a:defRPr sz="1575"/>
            </a:lvl4pPr>
            <a:lvl5pPr>
              <a:defRPr sz="1575"/>
            </a:lvl5pPr>
            <a:lvl6pPr>
              <a:defRPr sz="1575"/>
            </a:lvl6pPr>
            <a:lvl7pPr>
              <a:defRPr sz="1575"/>
            </a:lvl7pPr>
            <a:lvl8pPr>
              <a:defRPr sz="1575"/>
            </a:lvl8pPr>
            <a:lvl9pPr>
              <a:defRPr sz="157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836" y="1535469"/>
            <a:ext cx="4042477" cy="639911"/>
          </a:xfrm>
        </p:spPr>
        <p:txBody>
          <a:bodyPr anchor="b"/>
          <a:lstStyle>
            <a:lvl1pPr marL="0" indent="0">
              <a:buNone/>
              <a:defRPr sz="2400" b="1"/>
            </a:lvl1pPr>
            <a:lvl2pPr marL="457200" indent="0">
              <a:buNone/>
              <a:defRPr sz="2025" b="1"/>
            </a:lvl2pPr>
            <a:lvl3pPr marL="914400" indent="0">
              <a:buNone/>
              <a:defRPr sz="1800" b="1"/>
            </a:lvl3pPr>
            <a:lvl4pPr marL="1372235" indent="0">
              <a:buNone/>
              <a:defRPr sz="1575" b="1"/>
            </a:lvl4pPr>
            <a:lvl5pPr marL="1829435" indent="0">
              <a:buNone/>
              <a:defRPr sz="1575" b="1"/>
            </a:lvl5pPr>
            <a:lvl6pPr marL="2286635" indent="0">
              <a:buNone/>
              <a:defRPr sz="1575" b="1"/>
            </a:lvl6pPr>
            <a:lvl7pPr marL="2743835" indent="0">
              <a:buNone/>
              <a:defRPr sz="1575" b="1"/>
            </a:lvl7pPr>
            <a:lvl8pPr marL="3201035" indent="0">
              <a:buNone/>
              <a:defRPr sz="1575" b="1"/>
            </a:lvl8pPr>
            <a:lvl9pPr marL="3658235" indent="0">
              <a:buNone/>
              <a:defRPr sz="157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836" y="2175378"/>
            <a:ext cx="4042477" cy="3952203"/>
          </a:xfrm>
        </p:spPr>
        <p:txBody>
          <a:bodyPr/>
          <a:lstStyle>
            <a:lvl1pPr>
              <a:defRPr sz="2400"/>
            </a:lvl1pPr>
            <a:lvl2pPr>
              <a:defRPr sz="2025"/>
            </a:lvl2pPr>
            <a:lvl3pPr>
              <a:defRPr sz="1800"/>
            </a:lvl3pPr>
            <a:lvl4pPr>
              <a:defRPr sz="1575"/>
            </a:lvl4pPr>
            <a:lvl5pPr>
              <a:defRPr sz="1575"/>
            </a:lvl5pPr>
            <a:lvl6pPr>
              <a:defRPr sz="1575"/>
            </a:lvl6pPr>
            <a:lvl7pPr>
              <a:defRPr sz="1575"/>
            </a:lvl7pPr>
            <a:lvl8pPr>
              <a:defRPr sz="1575"/>
            </a:lvl8pPr>
            <a:lvl9pPr>
              <a:defRPr sz="157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2"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82" y="273114"/>
            <a:ext cx="3008836" cy="1162320"/>
          </a:xfrm>
        </p:spPr>
        <p:txBody>
          <a:bodyPr anchor="b"/>
          <a:lstStyle>
            <a:lvl1pPr algn="l">
              <a:defRPr sz="2025" b="1"/>
            </a:lvl1pPr>
          </a:lstStyle>
          <a:p>
            <a:r>
              <a:rPr lang="zh-CN" altLang="en-US"/>
              <a:t>单击此处编辑母版标题样式</a:t>
            </a:r>
            <a:endParaRPr lang="zh-CN" altLang="en-US"/>
          </a:p>
        </p:txBody>
      </p:sp>
      <p:sp>
        <p:nvSpPr>
          <p:cNvPr id="3" name="内容占位符 2"/>
          <p:cNvSpPr>
            <a:spLocks noGrp="1"/>
          </p:cNvSpPr>
          <p:nvPr>
            <p:ph idx="1"/>
          </p:nvPr>
        </p:nvSpPr>
        <p:spPr>
          <a:xfrm>
            <a:off x="3575672" y="273117"/>
            <a:ext cx="5112637" cy="5854469"/>
          </a:xfrm>
        </p:spPr>
        <p:txBody>
          <a:bodyPr/>
          <a:lstStyle>
            <a:lvl1pPr>
              <a:defRPr sz="3225"/>
            </a:lvl1pPr>
            <a:lvl2pPr>
              <a:defRPr sz="2775"/>
            </a:lvl2pPr>
            <a:lvl3pPr>
              <a:defRPr sz="2400"/>
            </a:lvl3pPr>
            <a:lvl4pPr>
              <a:defRPr sz="2025"/>
            </a:lvl4pPr>
            <a:lvl5pPr>
              <a:defRPr sz="2025"/>
            </a:lvl5pPr>
            <a:lvl6pPr>
              <a:defRPr sz="2025"/>
            </a:lvl6pPr>
            <a:lvl7pPr>
              <a:defRPr sz="2025"/>
            </a:lvl7pPr>
            <a:lvl8pPr>
              <a:defRPr sz="2025"/>
            </a:lvl8pPr>
            <a:lvl9pPr>
              <a:defRPr sz="202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82" y="1435437"/>
            <a:ext cx="3008836" cy="4692149"/>
          </a:xfrm>
        </p:spPr>
        <p:txBody>
          <a:bodyPr/>
          <a:lstStyle>
            <a:lvl1pPr marL="0" indent="0">
              <a:buNone/>
              <a:defRPr sz="1425"/>
            </a:lvl1pPr>
            <a:lvl2pPr marL="457200" indent="0">
              <a:buNone/>
              <a:defRPr sz="1200"/>
            </a:lvl2pPr>
            <a:lvl3pPr marL="914400" indent="0">
              <a:buNone/>
              <a:defRPr sz="975"/>
            </a:lvl3pPr>
            <a:lvl4pPr marL="1372235" indent="0">
              <a:buNone/>
              <a:defRPr sz="900"/>
            </a:lvl4pPr>
            <a:lvl5pPr marL="1829435" indent="0">
              <a:buNone/>
              <a:defRPr sz="900"/>
            </a:lvl5pPr>
            <a:lvl6pPr marL="2286635" indent="0">
              <a:buNone/>
              <a:defRPr sz="900"/>
            </a:lvl6pPr>
            <a:lvl7pPr marL="2743835" indent="0">
              <a:buNone/>
              <a:defRPr sz="900"/>
            </a:lvl7pPr>
            <a:lvl8pPr marL="3201035" indent="0">
              <a:buNone/>
              <a:defRPr sz="900"/>
            </a:lvl8pPr>
            <a:lvl9pPr marL="3658235"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599" y="4801713"/>
            <a:ext cx="5487353" cy="566870"/>
          </a:xfrm>
        </p:spPr>
        <p:txBody>
          <a:bodyPr anchor="b"/>
          <a:lstStyle>
            <a:lvl1pPr algn="l">
              <a:defRPr sz="202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599" y="612917"/>
            <a:ext cx="5487353" cy="4115753"/>
          </a:xfrm>
        </p:spPr>
        <p:txBody>
          <a:bodyPr/>
          <a:lstStyle>
            <a:lvl1pPr marL="0" indent="0">
              <a:buNone/>
              <a:defRPr sz="3225"/>
            </a:lvl1pPr>
            <a:lvl2pPr marL="457200" indent="0">
              <a:buNone/>
              <a:defRPr sz="2775"/>
            </a:lvl2pPr>
            <a:lvl3pPr marL="914400" indent="0">
              <a:buNone/>
              <a:defRPr sz="2400"/>
            </a:lvl3pPr>
            <a:lvl4pPr marL="1372235" indent="0">
              <a:buNone/>
              <a:defRPr sz="2025"/>
            </a:lvl4pPr>
            <a:lvl5pPr marL="1829435" indent="0">
              <a:buNone/>
              <a:defRPr sz="2025"/>
            </a:lvl5pPr>
            <a:lvl6pPr marL="2286635" indent="0">
              <a:buNone/>
              <a:defRPr sz="2025"/>
            </a:lvl6pPr>
            <a:lvl7pPr marL="2743835" indent="0">
              <a:buNone/>
              <a:defRPr sz="2025"/>
            </a:lvl7pPr>
            <a:lvl8pPr marL="3201035" indent="0">
              <a:buNone/>
              <a:defRPr sz="2025"/>
            </a:lvl8pPr>
            <a:lvl9pPr marL="3658235" indent="0">
              <a:buNone/>
              <a:defRPr sz="2025"/>
            </a:lvl9pPr>
          </a:lstStyle>
          <a:p>
            <a:endParaRPr lang="zh-CN" altLang="en-US"/>
          </a:p>
        </p:txBody>
      </p:sp>
      <p:sp>
        <p:nvSpPr>
          <p:cNvPr id="4" name="文本占位符 3"/>
          <p:cNvSpPr>
            <a:spLocks noGrp="1"/>
          </p:cNvSpPr>
          <p:nvPr>
            <p:ph type="body" sz="half" idx="2"/>
          </p:nvPr>
        </p:nvSpPr>
        <p:spPr>
          <a:xfrm>
            <a:off x="1792599" y="5368583"/>
            <a:ext cx="5487353" cy="805048"/>
          </a:xfrm>
        </p:spPr>
        <p:txBody>
          <a:bodyPr/>
          <a:lstStyle>
            <a:lvl1pPr marL="0" indent="0">
              <a:buNone/>
              <a:defRPr sz="1425"/>
            </a:lvl1pPr>
            <a:lvl2pPr marL="457200" indent="0">
              <a:buNone/>
              <a:defRPr sz="1200"/>
            </a:lvl2pPr>
            <a:lvl3pPr marL="914400" indent="0">
              <a:buNone/>
              <a:defRPr sz="975"/>
            </a:lvl3pPr>
            <a:lvl4pPr marL="1372235" indent="0">
              <a:buNone/>
              <a:defRPr sz="900"/>
            </a:lvl4pPr>
            <a:lvl5pPr marL="1829435" indent="0">
              <a:buNone/>
              <a:defRPr sz="900"/>
            </a:lvl5pPr>
            <a:lvl6pPr marL="2286635" indent="0">
              <a:buNone/>
              <a:defRPr sz="900"/>
            </a:lvl6pPr>
            <a:lvl7pPr marL="2743835" indent="0">
              <a:buNone/>
              <a:defRPr sz="900"/>
            </a:lvl7pPr>
            <a:lvl8pPr marL="3201035" indent="0">
              <a:buNone/>
              <a:defRPr sz="900"/>
            </a:lvl8pPr>
            <a:lvl9pPr marL="3658235"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pic>
        <p:nvPicPr>
          <p:cNvPr id="8"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anim calcmode="lin" valueType="num">
                                      <p:cBhvr>
                                        <p:cTn id="8" dur="2000" fill="hold"/>
                                        <p:tgtEl>
                                          <p:spTgt spid="8"/>
                                        </p:tgtEl>
                                        <p:attrNameLst>
                                          <p:attrName>ppt_w</p:attrName>
                                        </p:attrNameLst>
                                      </p:cBhvr>
                                      <p:tavLst>
                                        <p:tav tm="0" fmla="#ppt_w*sin(2.5*pi*$)">
                                          <p:val>
                                            <p:fltVal val="0"/>
                                          </p:val>
                                        </p:tav>
                                        <p:tav tm="100000">
                                          <p:val>
                                            <p:fltVal val="1"/>
                                          </p:val>
                                        </p:tav>
                                      </p:tavLst>
                                    </p:anim>
                                    <p:anim calcmode="lin" valueType="num">
                                      <p:cBhvr>
                                        <p:cTn id="9" dur="20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0552" y="274702"/>
            <a:ext cx="2057757"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80" y="274702"/>
            <a:ext cx="602084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pic>
        <p:nvPicPr>
          <p:cNvPr id="7"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slideLayout" Target="../slideLayouts/slideLayout13.xml"/><Relationship Id="rId7" Type="http://schemas.openxmlformats.org/officeDocument/2006/relationships/slideLayout" Target="../slideLayouts/slideLayout12.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2" Type="http://schemas.openxmlformats.org/officeDocument/2006/relationships/theme" Target="../theme/theme2.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slow" advClick="0" advTm="0">
    <p:wipe/>
  </p:transition>
  <p:txStyles>
    <p:titleStyle>
      <a:lvl1pPr algn="ctr" defTabSz="816610" rtl="0" eaLnBrk="1" latinLnBrk="0" hangingPunct="1">
        <a:spcBef>
          <a:spcPct val="0"/>
        </a:spcBef>
        <a:buNone/>
        <a:defRPr sz="3900" kern="1200">
          <a:solidFill>
            <a:schemeClr val="tx1"/>
          </a:solidFill>
          <a:latin typeface="+mj-lt"/>
          <a:ea typeface="+mj-ea"/>
          <a:cs typeface="+mj-cs"/>
        </a:defRPr>
      </a:lvl1pPr>
    </p:titleStyle>
    <p:bodyStyle>
      <a:lvl1pPr marL="306070" indent="-306070" algn="l" defTabSz="816610" rtl="0" eaLnBrk="1" latinLnBrk="0" hangingPunct="1">
        <a:spcBef>
          <a:spcPct val="20000"/>
        </a:spcBef>
        <a:buFont typeface="Arial" panose="020B0604020202090204" pitchFamily="34" charset="0"/>
        <a:buChar char="•"/>
        <a:defRPr sz="2850" kern="1200">
          <a:solidFill>
            <a:schemeClr val="tx1"/>
          </a:solidFill>
          <a:latin typeface="+mn-lt"/>
          <a:ea typeface="+mn-ea"/>
          <a:cs typeface="+mn-cs"/>
        </a:defRPr>
      </a:lvl1pPr>
      <a:lvl2pPr marL="663575" indent="-255270" algn="l" defTabSz="816610" rtl="0" eaLnBrk="1" latinLnBrk="0" hangingPunct="1">
        <a:spcBef>
          <a:spcPct val="20000"/>
        </a:spcBef>
        <a:buFont typeface="Arial" panose="020B0604020202090204" pitchFamily="34" charset="0"/>
        <a:buChar char="–"/>
        <a:defRPr sz="2475" kern="1200">
          <a:solidFill>
            <a:schemeClr val="tx1"/>
          </a:solidFill>
          <a:latin typeface="+mn-lt"/>
          <a:ea typeface="+mn-ea"/>
          <a:cs typeface="+mn-cs"/>
        </a:defRPr>
      </a:lvl2pPr>
      <a:lvl3pPr marL="1020445" indent="-203835" algn="l" defTabSz="816610" rtl="0" eaLnBrk="1" latinLnBrk="0" hangingPunct="1">
        <a:spcBef>
          <a:spcPct val="20000"/>
        </a:spcBef>
        <a:buFont typeface="Arial" panose="020B0604020202090204" pitchFamily="34" charset="0"/>
        <a:buChar char="•"/>
        <a:defRPr sz="2175" kern="1200">
          <a:solidFill>
            <a:schemeClr val="tx1"/>
          </a:solidFill>
          <a:latin typeface="+mn-lt"/>
          <a:ea typeface="+mn-ea"/>
          <a:cs typeface="+mn-cs"/>
        </a:defRPr>
      </a:lvl3pPr>
      <a:lvl4pPr marL="142875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4pPr>
      <a:lvl5pPr marL="183705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5pPr>
      <a:lvl6pPr marL="224536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6pPr>
      <a:lvl7pPr marL="265366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7pPr>
      <a:lvl8pPr marL="306197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8pPr>
      <a:lvl9pPr marL="347027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816610" rtl="0" eaLnBrk="1" latinLnBrk="0" hangingPunct="1">
        <a:defRPr sz="1575" kern="1200">
          <a:solidFill>
            <a:schemeClr val="tx1"/>
          </a:solidFill>
          <a:latin typeface="+mn-lt"/>
          <a:ea typeface="+mn-ea"/>
          <a:cs typeface="+mn-cs"/>
        </a:defRPr>
      </a:lvl1pPr>
      <a:lvl2pPr marL="408305" algn="l" defTabSz="816610" rtl="0" eaLnBrk="1" latinLnBrk="0" hangingPunct="1">
        <a:defRPr sz="1575" kern="1200">
          <a:solidFill>
            <a:schemeClr val="tx1"/>
          </a:solidFill>
          <a:latin typeface="+mn-lt"/>
          <a:ea typeface="+mn-ea"/>
          <a:cs typeface="+mn-cs"/>
        </a:defRPr>
      </a:lvl2pPr>
      <a:lvl3pPr marL="816610" algn="l" defTabSz="816610" rtl="0" eaLnBrk="1" latinLnBrk="0" hangingPunct="1">
        <a:defRPr sz="1575" kern="1200">
          <a:solidFill>
            <a:schemeClr val="tx1"/>
          </a:solidFill>
          <a:latin typeface="+mn-lt"/>
          <a:ea typeface="+mn-ea"/>
          <a:cs typeface="+mn-cs"/>
        </a:defRPr>
      </a:lvl3pPr>
      <a:lvl4pPr marL="1224915" algn="l" defTabSz="816610" rtl="0" eaLnBrk="1" latinLnBrk="0" hangingPunct="1">
        <a:defRPr sz="1575" kern="1200">
          <a:solidFill>
            <a:schemeClr val="tx1"/>
          </a:solidFill>
          <a:latin typeface="+mn-lt"/>
          <a:ea typeface="+mn-ea"/>
          <a:cs typeface="+mn-cs"/>
        </a:defRPr>
      </a:lvl4pPr>
      <a:lvl5pPr marL="1633220" algn="l" defTabSz="816610" rtl="0" eaLnBrk="1" latinLnBrk="0" hangingPunct="1">
        <a:defRPr sz="1575" kern="1200">
          <a:solidFill>
            <a:schemeClr val="tx1"/>
          </a:solidFill>
          <a:latin typeface="+mn-lt"/>
          <a:ea typeface="+mn-ea"/>
          <a:cs typeface="+mn-cs"/>
        </a:defRPr>
      </a:lvl5pPr>
      <a:lvl6pPr marL="2041525" algn="l" defTabSz="816610" rtl="0" eaLnBrk="1" latinLnBrk="0" hangingPunct="1">
        <a:defRPr sz="1575" kern="1200">
          <a:solidFill>
            <a:schemeClr val="tx1"/>
          </a:solidFill>
          <a:latin typeface="+mn-lt"/>
          <a:ea typeface="+mn-ea"/>
          <a:cs typeface="+mn-cs"/>
        </a:defRPr>
      </a:lvl6pPr>
      <a:lvl7pPr marL="2449830" algn="l" defTabSz="816610" rtl="0" eaLnBrk="1" latinLnBrk="0" hangingPunct="1">
        <a:defRPr sz="1575" kern="1200">
          <a:solidFill>
            <a:schemeClr val="tx1"/>
          </a:solidFill>
          <a:latin typeface="+mn-lt"/>
          <a:ea typeface="+mn-ea"/>
          <a:cs typeface="+mn-cs"/>
        </a:defRPr>
      </a:lvl7pPr>
      <a:lvl8pPr marL="2858135" algn="l" defTabSz="816610" rtl="0" eaLnBrk="1" latinLnBrk="0" hangingPunct="1">
        <a:defRPr sz="1575" kern="1200">
          <a:solidFill>
            <a:schemeClr val="tx1"/>
          </a:solidFill>
          <a:latin typeface="+mn-lt"/>
          <a:ea typeface="+mn-ea"/>
          <a:cs typeface="+mn-cs"/>
        </a:defRPr>
      </a:lvl8pPr>
      <a:lvl9pPr marL="3266440" algn="l" defTabSz="816610" rtl="0" eaLnBrk="1" latinLnBrk="0" hangingPunct="1">
        <a:defRPr sz="157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80" y="274702"/>
            <a:ext cx="8231029"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80" y="1600573"/>
            <a:ext cx="8231029"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80" y="6357824"/>
            <a:ext cx="2133971" cy="365210"/>
          </a:xfrm>
          <a:prstGeom prst="rect">
            <a:avLst/>
          </a:prstGeom>
        </p:spPr>
        <p:txBody>
          <a:bodyPr vert="horz" lIns="121917" tIns="60958" rIns="121917" bIns="60958" rtlCol="0" anchor="ctr"/>
          <a:lstStyle>
            <a:lvl1pPr algn="l">
              <a:defRPr sz="1200">
                <a:solidFill>
                  <a:schemeClr val="tx1">
                    <a:tint val="75000"/>
                  </a:schemeClr>
                </a:solidFill>
              </a:defRPr>
            </a:lvl1pPr>
          </a:lstStyle>
          <a:p>
            <a:pPr defTabSz="914400"/>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3124743" y="6357824"/>
            <a:ext cx="2896103" cy="365210"/>
          </a:xfrm>
          <a:prstGeom prst="rect">
            <a:avLst/>
          </a:prstGeom>
        </p:spPr>
        <p:txBody>
          <a:bodyPr vert="horz" lIns="121917" tIns="60958" rIns="121917" bIns="60958" rtlCol="0" anchor="ctr"/>
          <a:lstStyle>
            <a:lvl1pPr algn="ctr">
              <a:defRPr sz="1200">
                <a:solidFill>
                  <a:schemeClr val="tx1">
                    <a:tint val="75000"/>
                  </a:schemeClr>
                </a:solidFill>
              </a:defRPr>
            </a:lvl1pPr>
          </a:lstStyle>
          <a:p>
            <a:pPr defTabSz="914400"/>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4338" y="6357824"/>
            <a:ext cx="2133971" cy="365210"/>
          </a:xfrm>
          <a:prstGeom prst="rect">
            <a:avLst/>
          </a:prstGeom>
        </p:spPr>
        <p:txBody>
          <a:bodyPr vert="horz" lIns="121917" tIns="60958" rIns="121917" bIns="60958" rtlCol="0" anchor="ctr"/>
          <a:lstStyle>
            <a:lvl1pPr algn="r">
              <a:defRPr sz="1200">
                <a:solidFill>
                  <a:schemeClr val="tx1">
                    <a:tint val="75000"/>
                  </a:schemeClr>
                </a:solidFill>
              </a:defRPr>
            </a:lvl1pPr>
          </a:lstStyle>
          <a:p>
            <a:pPr defTabSz="914400"/>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ctr" defTabSz="914400" rtl="0" eaLnBrk="1" latinLnBrk="0" hangingPunct="1">
        <a:spcBef>
          <a:spcPct val="0"/>
        </a:spcBef>
        <a:buNone/>
        <a:defRPr sz="4425"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25"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775"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8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4pPr>
      <a:lvl5pPr marL="20580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5pPr>
      <a:lvl6pPr marL="25152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6pPr>
      <a:lvl7pPr marL="29724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7pPr>
      <a:lvl8pPr marL="34296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8pPr>
      <a:lvl9pPr marL="38868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2235" algn="l" defTabSz="914400" rtl="0" eaLnBrk="1" latinLnBrk="0" hangingPunct="1">
        <a:defRPr sz="1800" kern="1200">
          <a:solidFill>
            <a:schemeClr val="tx1"/>
          </a:solidFill>
          <a:latin typeface="+mn-lt"/>
          <a:ea typeface="+mn-ea"/>
          <a:cs typeface="+mn-cs"/>
        </a:defRPr>
      </a:lvl4pPr>
      <a:lvl5pPr marL="1829435" algn="l" defTabSz="914400" rtl="0" eaLnBrk="1" latinLnBrk="0" hangingPunct="1">
        <a:defRPr sz="1800" kern="1200">
          <a:solidFill>
            <a:schemeClr val="tx1"/>
          </a:solidFill>
          <a:latin typeface="+mn-lt"/>
          <a:ea typeface="+mn-ea"/>
          <a:cs typeface="+mn-cs"/>
        </a:defRPr>
      </a:lvl5pPr>
      <a:lvl6pPr marL="2286635" algn="l" defTabSz="914400" rtl="0" eaLnBrk="1" latinLnBrk="0" hangingPunct="1">
        <a:defRPr sz="1800" kern="1200">
          <a:solidFill>
            <a:schemeClr val="tx1"/>
          </a:solidFill>
          <a:latin typeface="+mn-lt"/>
          <a:ea typeface="+mn-ea"/>
          <a:cs typeface="+mn-cs"/>
        </a:defRPr>
      </a:lvl6pPr>
      <a:lvl7pPr marL="2743835"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4.xml"/><Relationship Id="rId4" Type="http://schemas.openxmlformats.org/officeDocument/2006/relationships/image" Target="../media/image5.png"/><Relationship Id="rId3" Type="http://schemas.openxmlformats.org/officeDocument/2006/relationships/tags" Target="../tags/tag3.xml"/><Relationship Id="rId2" Type="http://schemas.openxmlformats.org/officeDocument/2006/relationships/image" Target="../media/image4.png"/><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4.xml"/><Relationship Id="rId3" Type="http://schemas.openxmlformats.org/officeDocument/2006/relationships/tags" Target="../tags/tag5.xml"/><Relationship Id="rId2" Type="http://schemas.openxmlformats.org/officeDocument/2006/relationships/image" Target="../media/image6.png"/><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4.xml"/><Relationship Id="rId3" Type="http://schemas.openxmlformats.org/officeDocument/2006/relationships/image" Target="../media/image7.png"/><Relationship Id="rId2" Type="http://schemas.openxmlformats.org/officeDocument/2006/relationships/tags" Target="../tags/tag7.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4.xml"/><Relationship Id="rId3" Type="http://schemas.openxmlformats.org/officeDocument/2006/relationships/image" Target="../media/image8.png"/><Relationship Id="rId2" Type="http://schemas.openxmlformats.org/officeDocument/2006/relationships/tags" Target="../tags/tag9.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4.xml"/><Relationship Id="rId3" Type="http://schemas.openxmlformats.org/officeDocument/2006/relationships/image" Target="../media/image9.png"/><Relationship Id="rId2" Type="http://schemas.openxmlformats.org/officeDocument/2006/relationships/tags" Target="../tags/tag11.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4.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4.xml"/><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4.xml"/><Relationship Id="rId2" Type="http://schemas.openxmlformats.org/officeDocument/2006/relationships/image" Target="../media/image20.png"/><Relationship Id="rId1" Type="http://schemas.openxmlformats.org/officeDocument/2006/relationships/image" Target="../media/image19.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4.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4.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4.xml"/><Relationship Id="rId2" Type="http://schemas.openxmlformats.org/officeDocument/2006/relationships/image" Target="../media/image29.png"/><Relationship Id="rId1" Type="http://schemas.openxmlformats.org/officeDocument/2006/relationships/image" Target="../media/image28.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image" Target="../media/image30.jpe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4.xml"/><Relationship Id="rId1" Type="http://schemas.openxmlformats.org/officeDocument/2006/relationships/image" Target="../media/image31.e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4.xml"/><Relationship Id="rId2" Type="http://schemas.openxmlformats.org/officeDocument/2006/relationships/image" Target="../media/image33.png"/><Relationship Id="rId1" Type="http://schemas.openxmlformats.org/officeDocument/2006/relationships/image" Target="../media/image32.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4.xml"/><Relationship Id="rId1" Type="http://schemas.openxmlformats.org/officeDocument/2006/relationships/image" Target="../media/image34.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4.xml"/><Relationship Id="rId1" Type="http://schemas.openxmlformats.org/officeDocument/2006/relationships/image" Target="../media/image35.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4.xml"/><Relationship Id="rId1" Type="http://schemas.openxmlformats.org/officeDocument/2006/relationships/image" Target="../media/image36.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4.xml"/><Relationship Id="rId2" Type="http://schemas.openxmlformats.org/officeDocument/2006/relationships/image" Target="../media/image38.png"/><Relationship Id="rId1" Type="http://schemas.openxmlformats.org/officeDocument/2006/relationships/image" Target="../media/image37.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4.xml"/><Relationship Id="rId2" Type="http://schemas.openxmlformats.org/officeDocument/2006/relationships/image" Target="../media/image39.png"/><Relationship Id="rId1" Type="http://schemas.openxmlformats.org/officeDocument/2006/relationships/tags" Target="../tags/tag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4.xml"/><Relationship Id="rId2" Type="http://schemas.openxmlformats.org/officeDocument/2006/relationships/image" Target="../media/image41.png"/><Relationship Id="rId1" Type="http://schemas.openxmlformats.org/officeDocument/2006/relationships/image" Target="../media/image40.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62.xml"/><Relationship Id="rId4" Type="http://schemas.openxmlformats.org/officeDocument/2006/relationships/slideLayout" Target="../slideLayouts/slideLayout4.xml"/><Relationship Id="rId3" Type="http://schemas.openxmlformats.org/officeDocument/2006/relationships/image" Target="../media/image43.png"/><Relationship Id="rId2" Type="http://schemas.openxmlformats.org/officeDocument/2006/relationships/tags" Target="../tags/tag14.xml"/><Relationship Id="rId1" Type="http://schemas.openxmlformats.org/officeDocument/2006/relationships/image" Target="../media/image42.emf"/></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5" Type="http://schemas.openxmlformats.org/officeDocument/2006/relationships/notesSlide" Target="../notesSlides/notesSlide64.xml"/><Relationship Id="rId4" Type="http://schemas.openxmlformats.org/officeDocument/2006/relationships/slideLayout" Target="../slideLayouts/slideLayout4.xml"/><Relationship Id="rId3" Type="http://schemas.openxmlformats.org/officeDocument/2006/relationships/image" Target="../media/image45.png"/><Relationship Id="rId2" Type="http://schemas.openxmlformats.org/officeDocument/2006/relationships/tags" Target="../tags/tag15.xml"/><Relationship Id="rId1" Type="http://schemas.openxmlformats.org/officeDocument/2006/relationships/image" Target="../media/image44.emf"/></Relationships>
</file>

<file path=ppt/slides/_rels/slide66.xml.rels><?xml version="1.0" encoding="UTF-8" standalone="yes"?>
<Relationships xmlns="http://schemas.openxmlformats.org/package/2006/relationships"><Relationship Id="rId6" Type="http://schemas.openxmlformats.org/officeDocument/2006/relationships/notesSlide" Target="../notesSlides/notesSlide65.xml"/><Relationship Id="rId5" Type="http://schemas.openxmlformats.org/officeDocument/2006/relationships/slideLayout" Target="../slideLayouts/slideLayout4.xml"/><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6.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4.xml"/><Relationship Id="rId1" Type="http://schemas.openxmlformats.org/officeDocument/2006/relationships/image" Target="../media/image50.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4.xml"/><Relationship Id="rId2" Type="http://schemas.openxmlformats.org/officeDocument/2006/relationships/image" Target="../media/image52.png"/><Relationship Id="rId1" Type="http://schemas.openxmlformats.org/officeDocument/2006/relationships/image" Target="../media/image51.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5" Type="http://schemas.openxmlformats.org/officeDocument/2006/relationships/notesSlide" Target="../notesSlides/notesSlide72.xml"/><Relationship Id="rId4" Type="http://schemas.openxmlformats.org/officeDocument/2006/relationships/vmlDrawing" Target="../drawings/vmlDrawing1.vml"/><Relationship Id="rId3" Type="http://schemas.openxmlformats.org/officeDocument/2006/relationships/slideLayout" Target="../slideLayouts/slideLayout4.xml"/><Relationship Id="rId2" Type="http://schemas.openxmlformats.org/officeDocument/2006/relationships/image" Target="../media/image53.emf"/><Relationship Id="rId1" Type="http://schemas.openxmlformats.org/officeDocument/2006/relationships/oleObject" Target="../embeddings/oleObject1.bin"/></Relationships>
</file>

<file path=ppt/slides/_rels/slide74.xml.rels><?xml version="1.0" encoding="UTF-8" standalone="yes"?>
<Relationships xmlns="http://schemas.openxmlformats.org/package/2006/relationships"><Relationship Id="rId6" Type="http://schemas.openxmlformats.org/officeDocument/2006/relationships/notesSlide" Target="../notesSlides/notesSlide73.xml"/><Relationship Id="rId5" Type="http://schemas.openxmlformats.org/officeDocument/2006/relationships/vmlDrawing" Target="../drawings/vmlDrawing2.vml"/><Relationship Id="rId4" Type="http://schemas.openxmlformats.org/officeDocument/2006/relationships/slideLayout" Target="../slideLayouts/slideLayout4.xml"/><Relationship Id="rId3" Type="http://schemas.openxmlformats.org/officeDocument/2006/relationships/image" Target="../media/image55.png"/><Relationship Id="rId2" Type="http://schemas.openxmlformats.org/officeDocument/2006/relationships/image" Target="../media/image54.emf"/><Relationship Id="rId1" Type="http://schemas.openxmlformats.org/officeDocument/2006/relationships/oleObject" Target="../embeddings/oleObject2.bin"/></Relationships>
</file>

<file path=ppt/slides/_rels/slide75.xml.rels><?xml version="1.0" encoding="UTF-8" standalone="yes"?>
<Relationships xmlns="http://schemas.openxmlformats.org/package/2006/relationships"><Relationship Id="rId6" Type="http://schemas.openxmlformats.org/officeDocument/2006/relationships/notesSlide" Target="../notesSlides/notesSlide74.xml"/><Relationship Id="rId5" Type="http://schemas.openxmlformats.org/officeDocument/2006/relationships/vmlDrawing" Target="../drawings/vmlDrawing3.vml"/><Relationship Id="rId4" Type="http://schemas.openxmlformats.org/officeDocument/2006/relationships/slideLayout" Target="../slideLayouts/slideLayout4.xml"/><Relationship Id="rId3" Type="http://schemas.openxmlformats.org/officeDocument/2006/relationships/image" Target="../media/image57.emf"/><Relationship Id="rId2" Type="http://schemas.openxmlformats.org/officeDocument/2006/relationships/oleObject" Target="../embeddings/oleObject3.bin"/><Relationship Id="rId1" Type="http://schemas.openxmlformats.org/officeDocument/2006/relationships/image" Target="../media/image56.png"/></Relationships>
</file>

<file path=ppt/slides/_rels/slide76.xml.rels><?xml version="1.0" encoding="UTF-8" standalone="yes"?>
<Relationships xmlns="http://schemas.openxmlformats.org/package/2006/relationships"><Relationship Id="rId5" Type="http://schemas.openxmlformats.org/officeDocument/2006/relationships/notesSlide" Target="../notesSlides/notesSlide75.xml"/><Relationship Id="rId4" Type="http://schemas.openxmlformats.org/officeDocument/2006/relationships/slideLayout" Target="../slideLayouts/slideLayout4.xml"/><Relationship Id="rId3" Type="http://schemas.openxmlformats.org/officeDocument/2006/relationships/tags" Target="../tags/tag17.xml"/><Relationship Id="rId2" Type="http://schemas.openxmlformats.org/officeDocument/2006/relationships/image" Target="../media/image58.png"/><Relationship Id="rId1" Type="http://schemas.openxmlformats.org/officeDocument/2006/relationships/tags" Target="../tags/tag16.xml"/></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76.xml"/><Relationship Id="rId3" Type="http://schemas.openxmlformats.org/officeDocument/2006/relationships/slideLayout" Target="../slideLayouts/slideLayout4.xml"/><Relationship Id="rId2" Type="http://schemas.openxmlformats.org/officeDocument/2006/relationships/image" Target="../media/image59.png"/><Relationship Id="rId1" Type="http://schemas.openxmlformats.org/officeDocument/2006/relationships/tags" Target="../tags/tag1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83.xml"/><Relationship Id="rId3" Type="http://schemas.openxmlformats.org/officeDocument/2006/relationships/slideLayout" Target="../slideLayouts/slideLayout4.xml"/><Relationship Id="rId2" Type="http://schemas.openxmlformats.org/officeDocument/2006/relationships/image" Target="../media/image61.png"/><Relationship Id="rId1" Type="http://schemas.openxmlformats.org/officeDocument/2006/relationships/image" Target="../media/image60.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6" Type="http://schemas.openxmlformats.org/officeDocument/2006/relationships/notesSlide" Target="../notesSlides/notesSlide85.xml"/><Relationship Id="rId5" Type="http://schemas.openxmlformats.org/officeDocument/2006/relationships/slideLayout" Target="../slideLayouts/slideLayout4.xml"/><Relationship Id="rId4" Type="http://schemas.openxmlformats.org/officeDocument/2006/relationships/image" Target="../media/image65.png"/><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slides/_rels/slide87.xml.rels><?xml version="1.0" encoding="UTF-8" standalone="yes"?>
<Relationships xmlns="http://schemas.openxmlformats.org/package/2006/relationships"><Relationship Id="rId5" Type="http://schemas.openxmlformats.org/officeDocument/2006/relationships/notesSlide" Target="../notesSlides/notesSlide86.xml"/><Relationship Id="rId4" Type="http://schemas.openxmlformats.org/officeDocument/2006/relationships/slideLayout" Target="../slideLayouts/slideLayout4.xml"/><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image" Target="../media/image66.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4.xml"/><Relationship Id="rId1" Type="http://schemas.openxmlformats.org/officeDocument/2006/relationships/image" Target="../media/image69.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5" Type="http://schemas.openxmlformats.org/officeDocument/2006/relationships/notesSlide" Target="../notesSlides/notesSlide94.xml"/><Relationship Id="rId4" Type="http://schemas.openxmlformats.org/officeDocument/2006/relationships/slideLayout" Target="../slideLayouts/slideLayout4.xml"/><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image" Target="../media/image70.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6" Type="http://schemas.openxmlformats.org/officeDocument/2006/relationships/notesSlide" Target="../notesSlides/notesSlide100.xml"/><Relationship Id="rId5" Type="http://schemas.openxmlformats.org/officeDocument/2006/relationships/slideLayout" Target="../slideLayouts/slideLayout4.xml"/><Relationship Id="rId4" Type="http://schemas.openxmlformats.org/officeDocument/2006/relationships/image" Target="../media/image76.png"/><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73.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4" Type="http://schemas.openxmlformats.org/officeDocument/2006/relationships/notesSlide" Target="../notesSlides/notesSlide102.xml"/><Relationship Id="rId3" Type="http://schemas.openxmlformats.org/officeDocument/2006/relationships/slideLayout" Target="../slideLayouts/slideLayout4.xml"/><Relationship Id="rId2" Type="http://schemas.openxmlformats.org/officeDocument/2006/relationships/image" Target="../media/image78.emf"/><Relationship Id="rId1" Type="http://schemas.openxmlformats.org/officeDocument/2006/relationships/image" Target="../media/image77.emf"/></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4" Type="http://schemas.openxmlformats.org/officeDocument/2006/relationships/notesSlide" Target="../notesSlides/notesSlide106.xml"/><Relationship Id="rId3" Type="http://schemas.openxmlformats.org/officeDocument/2006/relationships/slideLayout" Target="../slideLayouts/slideLayout4.xml"/><Relationship Id="rId2" Type="http://schemas.openxmlformats.org/officeDocument/2006/relationships/image" Target="../media/image80.jpeg"/><Relationship Id="rId1" Type="http://schemas.openxmlformats.org/officeDocument/2006/relationships/image" Target="../media/image7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a:off x="3492346" y="1702544"/>
            <a:ext cx="2160896" cy="1862841"/>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grpSp>
        <p:nvGrpSpPr>
          <p:cNvPr id="3" name="组合 2"/>
          <p:cNvGrpSpPr/>
          <p:nvPr/>
        </p:nvGrpSpPr>
        <p:grpSpPr>
          <a:xfrm>
            <a:off x="1" y="5663237"/>
            <a:ext cx="9145587" cy="339684"/>
            <a:chOff x="1" y="6406814"/>
            <a:chExt cx="12190412" cy="452774"/>
          </a:xfrm>
        </p:grpSpPr>
        <p:sp>
          <p:nvSpPr>
            <p:cNvPr id="32" name="六边形 31"/>
            <p:cNvSpPr/>
            <p:nvPr/>
          </p:nvSpPr>
          <p:spPr>
            <a:xfrm>
              <a:off x="1" y="6406814"/>
              <a:ext cx="3041773" cy="452774"/>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3" name="六边形 32"/>
            <p:cNvSpPr/>
            <p:nvPr/>
          </p:nvSpPr>
          <p:spPr>
            <a:xfrm>
              <a:off x="3041775" y="6406814"/>
              <a:ext cx="3063750" cy="452774"/>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4" name="六边形 33"/>
            <p:cNvSpPr/>
            <p:nvPr/>
          </p:nvSpPr>
          <p:spPr>
            <a:xfrm>
              <a:off x="6095207" y="6406814"/>
              <a:ext cx="3047603" cy="452774"/>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5" name="六边形 34"/>
            <p:cNvSpPr/>
            <p:nvPr/>
          </p:nvSpPr>
          <p:spPr>
            <a:xfrm>
              <a:off x="9142810" y="6406814"/>
              <a:ext cx="3047603" cy="452774"/>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grpSp>
      <p:sp>
        <p:nvSpPr>
          <p:cNvPr id="36" name="六边形 35"/>
          <p:cNvSpPr/>
          <p:nvPr/>
        </p:nvSpPr>
        <p:spPr>
          <a:xfrm flipV="1">
            <a:off x="1" y="856667"/>
            <a:ext cx="2286397" cy="70072"/>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41" name="文本框 5"/>
          <p:cNvSpPr txBox="1"/>
          <p:nvPr/>
        </p:nvSpPr>
        <p:spPr>
          <a:xfrm>
            <a:off x="3708698" y="4437906"/>
            <a:ext cx="1467534" cy="288549"/>
          </a:xfrm>
          <a:prstGeom prst="rect">
            <a:avLst/>
          </a:prstGeom>
          <a:noFill/>
        </p:spPr>
        <p:txBody>
          <a:bodyPr wrap="none" lIns="68588" tIns="34294" rIns="68588" bIns="34294" rtlCol="0">
            <a:spAutoFit/>
          </a:bodyPr>
          <a:lstStyle/>
          <a:p>
            <a:pPr algn="ctr"/>
            <a:r>
              <a:rPr lang="zh-CN" altLang="en-US" sz="1425" dirty="0">
                <a:solidFill>
                  <a:schemeClr val="tx1">
                    <a:lumMod val="85000"/>
                    <a:lumOff val="15000"/>
                  </a:schemeClr>
                </a:solidFill>
                <a:latin typeface="微软雅黑" panose="020B0503020204020204" pitchFamily="34" charset="-122"/>
                <a:ea typeface="微软雅黑" panose="020B0503020204020204" pitchFamily="34" charset="-122"/>
              </a:rPr>
              <a:t>清华大学出版社</a:t>
            </a:r>
            <a:endParaRPr lang="en-US" altLang="zh-CN" sz="142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2" name="矩形 41"/>
          <p:cNvSpPr/>
          <p:nvPr/>
        </p:nvSpPr>
        <p:spPr>
          <a:xfrm>
            <a:off x="2844602" y="2268005"/>
            <a:ext cx="3601002" cy="761883"/>
          </a:xfrm>
          <a:prstGeom prst="rect">
            <a:avLst/>
          </a:prstGeom>
          <a:noFill/>
          <a:ln>
            <a:noFill/>
          </a:ln>
          <a:effectLst>
            <a:glow rad="1905000">
              <a:srgbClr val="F14124">
                <a:alpha val="40000"/>
              </a:srgbClr>
            </a:glow>
            <a:softEdge rad="1270000"/>
          </a:effectLst>
        </p:spPr>
        <p:txBody>
          <a:bodyPr wrap="none" lIns="68588" tIns="34294" rIns="68588" bIns="34294">
            <a:spAutoFit/>
          </a:bodyPr>
          <a:lstStyle/>
          <a:p>
            <a:pPr algn="ctr"/>
            <a:r>
              <a:rPr lang="zh-CN" altLang="en-US" sz="4500" b="1" dirty="0">
                <a:solidFill>
                  <a:schemeClr val="tx1">
                    <a:lumMod val="75000"/>
                    <a:lumOff val="25000"/>
                  </a:schemeClr>
                </a:solidFill>
                <a:latin typeface="微软雅黑" panose="020B0503020204020204" pitchFamily="34" charset="-122"/>
                <a:ea typeface="微软雅黑" panose="020B0503020204020204" pitchFamily="34" charset="-122"/>
              </a:rPr>
              <a:t>数字图像处理</a:t>
            </a:r>
            <a:endParaRPr lang="zh-CN" altLang="en-US" sz="4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9" name="六边形 18"/>
          <p:cNvSpPr/>
          <p:nvPr/>
        </p:nvSpPr>
        <p:spPr>
          <a:xfrm flipV="1">
            <a:off x="2282024" y="858642"/>
            <a:ext cx="2286397" cy="70072"/>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0" name="六边形 19"/>
          <p:cNvSpPr/>
          <p:nvPr/>
        </p:nvSpPr>
        <p:spPr>
          <a:xfrm flipV="1">
            <a:off x="4564048" y="858642"/>
            <a:ext cx="2286397" cy="70072"/>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1" name="六边形 20"/>
          <p:cNvSpPr/>
          <p:nvPr/>
        </p:nvSpPr>
        <p:spPr>
          <a:xfrm flipV="1">
            <a:off x="6859192" y="858642"/>
            <a:ext cx="2286397" cy="70072"/>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Tree>
  </p:cSld>
  <p:clrMapOvr>
    <a:masterClrMapping/>
  </p:clrMapOvr>
  <mc:AlternateContent xmlns:mc="http://schemas.openxmlformats.org/markup-compatibility/2006">
    <mc:Choice xmlns:p14="http://schemas.microsoft.com/office/powerpoint/2010/main" Requires="p14">
      <p:transition spd="slow" p14:dur="1600" advClick="0" advTm="0">
        <p:blinds dir="vert"/>
      </p:transition>
    </mc:Choice>
    <mc:Fallback>
      <p:transition spd="slow" advClick="0"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200"/>
                                        <p:tgtEl>
                                          <p:spTgt spid="36"/>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barn(outVertical)">
                                      <p:cBhvr>
                                        <p:cTn id="11" dur="1000"/>
                                        <p:tgtEl>
                                          <p:spTgt spid="42"/>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p:tgtEl>
                                          <p:spTgt spid="41"/>
                                        </p:tgtEl>
                                        <p:attrNameLst>
                                          <p:attrName>ppt_y</p:attrName>
                                        </p:attrNameLst>
                                      </p:cBhvr>
                                      <p:tavLst>
                                        <p:tav tm="0">
                                          <p:val>
                                            <p:strVal val="#ppt_y+#ppt_h*1.125000"/>
                                          </p:val>
                                        </p:tav>
                                        <p:tav tm="100000">
                                          <p:val>
                                            <p:strVal val="#ppt_y"/>
                                          </p:val>
                                        </p:tav>
                                      </p:tavLst>
                                    </p:anim>
                                    <p:animEffect transition="in" filter="wipe(up)">
                                      <p:cBhvr>
                                        <p:cTn id="16" dur="500"/>
                                        <p:tgtEl>
                                          <p:spTgt spid="4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1" grpId="0"/>
      <p:bldP spid="42" grpId="0"/>
      <p:bldP spid="19" grpId="0" animBg="1"/>
      <p:bldP spid="20" grpId="0" animBg="1"/>
      <p:bldP spid="2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标题层"/>
          <p:cNvSpPr txBox="1"/>
          <p:nvPr/>
        </p:nvSpPr>
        <p:spPr bwMode="auto">
          <a:xfrm>
            <a:off x="396331" y="1736931"/>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1</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71" name="直接连接符 70"/>
          <p:cNvCxnSpPr/>
          <p:nvPr/>
        </p:nvCxnSpPr>
        <p:spPr>
          <a:xfrm>
            <a:off x="1055760" y="1789898"/>
            <a:ext cx="0" cy="417566"/>
          </a:xfrm>
          <a:prstGeom prst="line">
            <a:avLst/>
          </a:prstGeom>
          <a:noFill/>
          <a:ln w="9525" cap="flat" cmpd="sng" algn="ctr">
            <a:solidFill>
              <a:schemeClr val="tx1">
                <a:lumMod val="65000"/>
                <a:lumOff val="35000"/>
              </a:schemeClr>
            </a:solidFill>
            <a:prstDash val="solid"/>
          </a:ln>
          <a:effectLst/>
        </p:spPr>
      </p:cxnSp>
      <p:sp>
        <p:nvSpPr>
          <p:cNvPr id="72" name="标题层"/>
          <p:cNvSpPr txBox="1"/>
          <p:nvPr/>
        </p:nvSpPr>
        <p:spPr bwMode="auto">
          <a:xfrm>
            <a:off x="1124230" y="1736931"/>
            <a:ext cx="3248690"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图像特征概述</a:t>
            </a:r>
            <a:endPar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90" name="标题层"/>
          <p:cNvSpPr txBox="1"/>
          <p:nvPr/>
        </p:nvSpPr>
        <p:spPr bwMode="auto">
          <a:xfrm>
            <a:off x="396331" y="2305368"/>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2</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91" name="直接连接符 90"/>
          <p:cNvCxnSpPr/>
          <p:nvPr/>
        </p:nvCxnSpPr>
        <p:spPr>
          <a:xfrm>
            <a:off x="1055760" y="2358335"/>
            <a:ext cx="0" cy="417566"/>
          </a:xfrm>
          <a:prstGeom prst="line">
            <a:avLst/>
          </a:prstGeom>
          <a:noFill/>
          <a:ln w="9525" cap="flat" cmpd="sng" algn="ctr">
            <a:solidFill>
              <a:schemeClr val="tx1">
                <a:lumMod val="65000"/>
                <a:lumOff val="35000"/>
              </a:schemeClr>
            </a:solidFill>
            <a:prstDash val="solid"/>
          </a:ln>
          <a:effectLst/>
        </p:spPr>
      </p:cxnSp>
      <p:sp>
        <p:nvSpPr>
          <p:cNvPr id="92" name="标题层"/>
          <p:cNvSpPr txBox="1"/>
          <p:nvPr/>
        </p:nvSpPr>
        <p:spPr bwMode="auto">
          <a:xfrm>
            <a:off x="1124230" y="2277666"/>
            <a:ext cx="3536723"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梯度方向直方图</a:t>
            </a:r>
            <a:endPar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95" name="标题层"/>
          <p:cNvSpPr txBox="1"/>
          <p:nvPr/>
        </p:nvSpPr>
        <p:spPr bwMode="auto">
          <a:xfrm>
            <a:off x="396331" y="2863031"/>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3</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96" name="直接连接符 95"/>
          <p:cNvCxnSpPr/>
          <p:nvPr/>
        </p:nvCxnSpPr>
        <p:spPr>
          <a:xfrm>
            <a:off x="1055760" y="2915998"/>
            <a:ext cx="0" cy="417566"/>
          </a:xfrm>
          <a:prstGeom prst="line">
            <a:avLst/>
          </a:prstGeom>
          <a:noFill/>
          <a:ln w="9525" cap="flat" cmpd="sng" algn="ctr">
            <a:solidFill>
              <a:schemeClr val="tx1">
                <a:lumMod val="65000"/>
                <a:lumOff val="35000"/>
              </a:schemeClr>
            </a:solidFill>
            <a:prstDash val="solid"/>
          </a:ln>
          <a:effectLst/>
        </p:spPr>
      </p:cxnSp>
      <p:sp>
        <p:nvSpPr>
          <p:cNvPr id="97" name="标题层"/>
          <p:cNvSpPr txBox="1"/>
          <p:nvPr/>
        </p:nvSpPr>
        <p:spPr bwMode="auto">
          <a:xfrm>
            <a:off x="1124229" y="2863031"/>
            <a:ext cx="4184795"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角点特征</a:t>
            </a:r>
            <a:endPar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100" name="标题层"/>
          <p:cNvSpPr txBox="1"/>
          <p:nvPr/>
        </p:nvSpPr>
        <p:spPr bwMode="auto">
          <a:xfrm>
            <a:off x="396331" y="3429794"/>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4</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101" name="直接连接符 100"/>
          <p:cNvCxnSpPr/>
          <p:nvPr/>
        </p:nvCxnSpPr>
        <p:spPr>
          <a:xfrm>
            <a:off x="1055760" y="3482761"/>
            <a:ext cx="0" cy="417566"/>
          </a:xfrm>
          <a:prstGeom prst="line">
            <a:avLst/>
          </a:prstGeom>
          <a:noFill/>
          <a:ln w="9525" cap="flat" cmpd="sng" algn="ctr">
            <a:solidFill>
              <a:schemeClr val="tx1">
                <a:lumMod val="65000"/>
                <a:lumOff val="35000"/>
              </a:schemeClr>
            </a:solidFill>
            <a:prstDash val="solid"/>
          </a:ln>
          <a:effectLst/>
        </p:spPr>
      </p:cxnSp>
      <p:sp>
        <p:nvSpPr>
          <p:cNvPr id="102" name="标题层"/>
          <p:cNvSpPr txBox="1"/>
          <p:nvPr/>
        </p:nvSpPr>
        <p:spPr bwMode="auto">
          <a:xfrm>
            <a:off x="1124230" y="3429794"/>
            <a:ext cx="3248690" cy="519511"/>
          </a:xfrm>
          <a:prstGeom prst="rect">
            <a:avLst/>
          </a:prstGeom>
          <a:noFill/>
          <a:effectLst/>
        </p:spPr>
        <p:txBody>
          <a:bodyPr wrap="square" lIns="91451" tIns="45725" rIns="91451" bIns="45725">
            <a:spAutoFit/>
          </a:bodyPr>
          <a:lstStyle/>
          <a:p>
            <a:pPr defTabSz="914400">
              <a:defRPr/>
            </a:pPr>
            <a:r>
              <a:rPr lang="en-US" altLang="zh-CN" sz="2775" b="1" dirty="0">
                <a:solidFill>
                  <a:prstClr val="black">
                    <a:lumMod val="65000"/>
                    <a:lumOff val="35000"/>
                  </a:prstClr>
                </a:solidFill>
                <a:latin typeface="微软雅黑" panose="020B0503020204020204" pitchFamily="34" charset="-122"/>
                <a:ea typeface="微软雅黑" panose="020B0503020204020204" pitchFamily="34" charset="-122"/>
              </a:rPr>
              <a:t>SIFT</a:t>
            </a: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算法</a:t>
            </a:r>
            <a:endPar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31" name="矩形 30"/>
          <p:cNvSpPr/>
          <p:nvPr/>
        </p:nvSpPr>
        <p:spPr>
          <a:xfrm>
            <a:off x="1" y="856667"/>
            <a:ext cx="9146778" cy="844410"/>
          </a:xfrm>
          <a:prstGeom prst="rect">
            <a:avLst/>
          </a:prstGeom>
          <a:solidFill>
            <a:srgbClr val="319095"/>
          </a:solidFill>
          <a:ln w="25400" cap="flat" cmpd="sng" algn="ctr">
            <a:noFill/>
            <a:prstDash val="solid"/>
          </a:ln>
          <a:effectLst>
            <a:outerShdw blurRad="50800" dist="38100" dir="5400000" algn="t" rotWithShape="0">
              <a:prstClr val="black">
                <a:alpha val="40000"/>
              </a:prstClr>
            </a:outerShdw>
          </a:effectLst>
        </p:spPr>
        <p:txBody>
          <a:bodyPr rtlCol="0" anchor="ctr"/>
          <a:lstStyle/>
          <a:p>
            <a:pPr algn="ctr" defTabSz="685800">
              <a:defRPr/>
            </a:pPr>
            <a:endParaRPr lang="zh-CN" altLang="en-US" sz="1350" kern="0">
              <a:solidFill>
                <a:prstClr val="white"/>
              </a:solidFill>
              <a:latin typeface="Calibri"/>
              <a:ea typeface="宋体"/>
            </a:endParaRPr>
          </a:p>
        </p:txBody>
      </p:sp>
      <p:sp>
        <p:nvSpPr>
          <p:cNvPr id="32" name="矩形 31"/>
          <p:cNvSpPr/>
          <p:nvPr/>
        </p:nvSpPr>
        <p:spPr>
          <a:xfrm>
            <a:off x="3845673" y="1015776"/>
            <a:ext cx="1454244" cy="600293"/>
          </a:xfrm>
          <a:prstGeom prst="rect">
            <a:avLst/>
          </a:prstGeom>
        </p:spPr>
        <p:txBody>
          <a:bodyPr wrap="none">
            <a:spAutoFit/>
          </a:bodyPr>
          <a:lstStyle/>
          <a:p>
            <a:pPr algn="ctr"/>
            <a:r>
              <a:rPr lang="zh-CN" altLang="en-US" sz="3300" b="1">
                <a:solidFill>
                  <a:prstClr val="white"/>
                </a:solidFill>
                <a:latin typeface="微软雅黑" panose="020B0503020204020204" pitchFamily="34" charset="-122"/>
                <a:ea typeface="微软雅黑" panose="020B0503020204020204" pitchFamily="34" charset="-122"/>
              </a:rPr>
              <a:t>第九章</a:t>
            </a:r>
            <a:endParaRPr lang="en-US" altLang="zh-CN" sz="3300" b="1" dirty="0">
              <a:solidFill>
                <a:prstClr val="white"/>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1" y="5819780"/>
            <a:ext cx="9145587" cy="183141"/>
            <a:chOff x="-42912" y="6615474"/>
            <a:chExt cx="12190412" cy="244114"/>
          </a:xfrm>
        </p:grpSpPr>
        <p:sp>
          <p:nvSpPr>
            <p:cNvPr id="24" name="六边形 23"/>
            <p:cNvSpPr/>
            <p:nvPr/>
          </p:nvSpPr>
          <p:spPr>
            <a:xfrm>
              <a:off x="-42912" y="6615474"/>
              <a:ext cx="3041773" cy="244114"/>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5" name="六边形 24"/>
            <p:cNvSpPr/>
            <p:nvPr/>
          </p:nvSpPr>
          <p:spPr>
            <a:xfrm>
              <a:off x="2998862" y="6615474"/>
              <a:ext cx="3063750" cy="244114"/>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6" name="六边形 25"/>
            <p:cNvSpPr/>
            <p:nvPr/>
          </p:nvSpPr>
          <p:spPr>
            <a:xfrm>
              <a:off x="6052294" y="6615474"/>
              <a:ext cx="3047603" cy="244114"/>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7" name="六边形 26"/>
            <p:cNvSpPr/>
            <p:nvPr/>
          </p:nvSpPr>
          <p:spPr>
            <a:xfrm>
              <a:off x="9099897" y="6615474"/>
              <a:ext cx="3047603" cy="244114"/>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grpSp>
      <p:sp>
        <p:nvSpPr>
          <p:cNvPr id="29" name="标题层"/>
          <p:cNvSpPr txBox="1"/>
          <p:nvPr/>
        </p:nvSpPr>
        <p:spPr bwMode="auto">
          <a:xfrm>
            <a:off x="396331" y="4005858"/>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5</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30" name="直接连接符 29"/>
          <p:cNvCxnSpPr/>
          <p:nvPr/>
        </p:nvCxnSpPr>
        <p:spPr>
          <a:xfrm>
            <a:off x="1055760" y="4058825"/>
            <a:ext cx="0" cy="417566"/>
          </a:xfrm>
          <a:prstGeom prst="line">
            <a:avLst/>
          </a:prstGeom>
          <a:noFill/>
          <a:ln w="9525" cap="flat" cmpd="sng" algn="ctr">
            <a:solidFill>
              <a:schemeClr val="tx1">
                <a:lumMod val="65000"/>
                <a:lumOff val="35000"/>
              </a:schemeClr>
            </a:solidFill>
            <a:prstDash val="solid"/>
          </a:ln>
          <a:effectLst/>
        </p:spPr>
      </p:cxnSp>
      <p:sp>
        <p:nvSpPr>
          <p:cNvPr id="33" name="标题层"/>
          <p:cNvSpPr txBox="1"/>
          <p:nvPr/>
        </p:nvSpPr>
        <p:spPr bwMode="auto">
          <a:xfrm>
            <a:off x="1124229" y="4028726"/>
            <a:ext cx="3248690"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局部二进制模式</a:t>
            </a:r>
            <a:endPar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34" name="标题层"/>
          <p:cNvSpPr txBox="1"/>
          <p:nvPr/>
        </p:nvSpPr>
        <p:spPr bwMode="auto">
          <a:xfrm>
            <a:off x="4375961" y="1719318"/>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6</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35" name="直接连接符 34"/>
          <p:cNvCxnSpPr/>
          <p:nvPr/>
        </p:nvCxnSpPr>
        <p:spPr>
          <a:xfrm>
            <a:off x="5035390" y="1772285"/>
            <a:ext cx="0" cy="417566"/>
          </a:xfrm>
          <a:prstGeom prst="line">
            <a:avLst/>
          </a:prstGeom>
          <a:noFill/>
          <a:ln w="9525" cap="flat" cmpd="sng" algn="ctr">
            <a:solidFill>
              <a:schemeClr val="tx1">
                <a:lumMod val="65000"/>
                <a:lumOff val="35000"/>
              </a:schemeClr>
            </a:solidFill>
            <a:prstDash val="solid"/>
          </a:ln>
          <a:effectLst/>
        </p:spPr>
      </p:cxnSp>
      <p:sp>
        <p:nvSpPr>
          <p:cNvPr id="36" name="标题层"/>
          <p:cNvSpPr txBox="1"/>
          <p:nvPr/>
        </p:nvSpPr>
        <p:spPr bwMode="auto">
          <a:xfrm>
            <a:off x="5103860" y="1632808"/>
            <a:ext cx="3429373" cy="1148914"/>
          </a:xfrm>
          <a:prstGeom prst="rect">
            <a:avLst/>
          </a:prstGeom>
          <a:noFill/>
          <a:effectLst/>
        </p:spPr>
        <p:txBody>
          <a:bodyPr wrap="square" lIns="91451" tIns="45725" rIns="91451" bIns="45725">
            <a:spAutoFit/>
          </a:bodyPr>
          <a:lstStyle/>
          <a:p>
            <a:pPr defTabSz="914400">
              <a:lnSpc>
                <a:spcPct val="130000"/>
              </a:lnSpc>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基于</a:t>
            </a:r>
            <a:r>
              <a:rPr lang="en-US" altLang="zh-CN" sz="2775" b="1" dirty="0">
                <a:solidFill>
                  <a:prstClr val="black">
                    <a:lumMod val="65000"/>
                    <a:lumOff val="35000"/>
                  </a:prstClr>
                </a:solidFill>
                <a:latin typeface="微软雅黑" panose="020B0503020204020204" pitchFamily="34" charset="-122"/>
                <a:ea typeface="微软雅黑" panose="020B0503020204020204" pitchFamily="34" charset="-122"/>
              </a:rPr>
              <a:t>Gabor</a:t>
            </a: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滤波器的图像纹理特征提取</a:t>
            </a:r>
            <a:endPar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28" name="标题层"/>
          <p:cNvSpPr txBox="1"/>
          <p:nvPr/>
        </p:nvSpPr>
        <p:spPr bwMode="auto">
          <a:xfrm>
            <a:off x="4375961" y="2860224"/>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7</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37" name="直接连接符 36"/>
          <p:cNvCxnSpPr/>
          <p:nvPr/>
        </p:nvCxnSpPr>
        <p:spPr>
          <a:xfrm>
            <a:off x="5035390" y="2913191"/>
            <a:ext cx="0" cy="417566"/>
          </a:xfrm>
          <a:prstGeom prst="line">
            <a:avLst/>
          </a:prstGeom>
          <a:noFill/>
          <a:ln w="9525" cap="flat" cmpd="sng" algn="ctr">
            <a:solidFill>
              <a:schemeClr val="tx1">
                <a:lumMod val="65000"/>
                <a:lumOff val="35000"/>
              </a:schemeClr>
            </a:solidFill>
            <a:prstDash val="solid"/>
          </a:ln>
          <a:effectLst/>
        </p:spPr>
      </p:cxnSp>
      <p:sp>
        <p:nvSpPr>
          <p:cNvPr id="38" name="标题层"/>
          <p:cNvSpPr txBox="1"/>
          <p:nvPr/>
        </p:nvSpPr>
        <p:spPr bwMode="auto">
          <a:xfrm>
            <a:off x="5103860" y="2860224"/>
            <a:ext cx="3752744"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数据降维算法</a:t>
            </a:r>
            <a:endPar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39" name="标题层"/>
          <p:cNvSpPr txBox="1"/>
          <p:nvPr/>
        </p:nvSpPr>
        <p:spPr bwMode="auto">
          <a:xfrm>
            <a:off x="4372370" y="3454902"/>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8</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40" name="直接连接符 39"/>
          <p:cNvCxnSpPr/>
          <p:nvPr/>
        </p:nvCxnSpPr>
        <p:spPr>
          <a:xfrm>
            <a:off x="5031799" y="3507869"/>
            <a:ext cx="0" cy="417566"/>
          </a:xfrm>
          <a:prstGeom prst="line">
            <a:avLst/>
          </a:prstGeom>
          <a:noFill/>
          <a:ln w="9525" cap="flat" cmpd="sng" algn="ctr">
            <a:solidFill>
              <a:schemeClr val="tx1">
                <a:lumMod val="65000"/>
                <a:lumOff val="35000"/>
              </a:schemeClr>
            </a:solidFill>
            <a:prstDash val="solid"/>
          </a:ln>
          <a:effectLst/>
        </p:spPr>
      </p:cxnSp>
      <p:sp>
        <p:nvSpPr>
          <p:cNvPr id="41" name="标题层"/>
          <p:cNvSpPr txBox="1"/>
          <p:nvPr/>
        </p:nvSpPr>
        <p:spPr bwMode="auto">
          <a:xfrm>
            <a:off x="5100269" y="3330757"/>
            <a:ext cx="3360955" cy="1148914"/>
          </a:xfrm>
          <a:prstGeom prst="rect">
            <a:avLst/>
          </a:prstGeom>
          <a:noFill/>
          <a:effectLst/>
        </p:spPr>
        <p:txBody>
          <a:bodyPr wrap="square" lIns="91451" tIns="45725" rIns="91451" bIns="45725">
            <a:spAutoFit/>
          </a:bodyPr>
          <a:lstStyle/>
          <a:p>
            <a:pPr defTabSz="914400">
              <a:lnSpc>
                <a:spcPct val="130000"/>
              </a:lnSpc>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基于</a:t>
            </a:r>
            <a:r>
              <a:rPr lang="en-US" altLang="zh-CN" sz="2775" b="1" dirty="0">
                <a:solidFill>
                  <a:prstClr val="black">
                    <a:lumMod val="65000"/>
                    <a:lumOff val="35000"/>
                  </a:prstClr>
                </a:solidFill>
                <a:latin typeface="微软雅黑" panose="020B0503020204020204" pitchFamily="34" charset="-122"/>
                <a:ea typeface="微软雅黑" panose="020B0503020204020204" pitchFamily="34" charset="-122"/>
              </a:rPr>
              <a:t>LBP</a:t>
            </a: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特征的人脸识别</a:t>
            </a:r>
            <a:endPar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
                                        </p:tgtEl>
                                        <p:attrNameLst>
                                          <p:attrName>ppt_y</p:attrName>
                                        </p:attrNameLst>
                                      </p:cBhvr>
                                      <p:tavLst>
                                        <p:tav tm="0">
                                          <p:val>
                                            <p:strVal val="#ppt_y"/>
                                          </p:val>
                                        </p:tav>
                                        <p:tav tm="100000">
                                          <p:val>
                                            <p:strVal val="#ppt_y"/>
                                          </p:val>
                                        </p:tav>
                                      </p:tavLst>
                                    </p:anim>
                                    <p:anim calcmode="lin" valueType="num">
                                      <p:cBhvr>
                                        <p:cTn id="9" dur="500" fill="hold"/>
                                        <p:tgtEl>
                                          <p:spTgt spid="3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
                                        </p:tgtEl>
                                      </p:cBhvr>
                                    </p:animEffect>
                                  </p:childTnLst>
                                </p:cTn>
                              </p:par>
                            </p:childTnLst>
                          </p:cTn>
                        </p:par>
                        <p:par>
                          <p:cTn id="12" fill="hold">
                            <p:stCondLst>
                              <p:cond delay="600"/>
                            </p:stCondLst>
                            <p:childTnLst>
                              <p:par>
                                <p:cTn id="13" presetID="47" presetClass="entr" presetSubtype="0" fill="hold" nodeType="after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fade">
                                      <p:cBhvr>
                                        <p:cTn id="15" dur="600"/>
                                        <p:tgtEl>
                                          <p:spTgt spid="71"/>
                                        </p:tgtEl>
                                      </p:cBhvr>
                                    </p:animEffect>
                                    <p:anim calcmode="lin" valueType="num">
                                      <p:cBhvr>
                                        <p:cTn id="16" dur="600" fill="hold"/>
                                        <p:tgtEl>
                                          <p:spTgt spid="71"/>
                                        </p:tgtEl>
                                        <p:attrNameLst>
                                          <p:attrName>ppt_x</p:attrName>
                                        </p:attrNameLst>
                                      </p:cBhvr>
                                      <p:tavLst>
                                        <p:tav tm="0">
                                          <p:val>
                                            <p:strVal val="#ppt_x"/>
                                          </p:val>
                                        </p:tav>
                                        <p:tav tm="100000">
                                          <p:val>
                                            <p:strVal val="#ppt_x"/>
                                          </p:val>
                                        </p:tav>
                                      </p:tavLst>
                                    </p:anim>
                                    <p:anim calcmode="lin" valueType="num">
                                      <p:cBhvr>
                                        <p:cTn id="17" dur="600" fill="hold"/>
                                        <p:tgtEl>
                                          <p:spTgt spid="71"/>
                                        </p:tgtEl>
                                        <p:attrNameLst>
                                          <p:attrName>ppt_y</p:attrName>
                                        </p:attrNameLst>
                                      </p:cBhvr>
                                      <p:tavLst>
                                        <p:tav tm="0">
                                          <p:val>
                                            <p:strVal val="#ppt_y-.1"/>
                                          </p:val>
                                        </p:tav>
                                        <p:tav tm="100000">
                                          <p:val>
                                            <p:strVal val="#ppt_y"/>
                                          </p:val>
                                        </p:tav>
                                      </p:tavLst>
                                    </p:anim>
                                  </p:childTnLst>
                                </p:cTn>
                              </p:par>
                            </p:childTnLst>
                          </p:cTn>
                        </p:par>
                        <p:par>
                          <p:cTn id="18" fill="hold">
                            <p:stCondLst>
                              <p:cond delay="1600"/>
                            </p:stCondLst>
                            <p:childTnLst>
                              <p:par>
                                <p:cTn id="19" presetID="2" presetClass="entr" presetSubtype="8" decel="52500" fill="hold" grpId="0" nodeType="afterEffect">
                                  <p:stCondLst>
                                    <p:cond delay="0"/>
                                  </p:stCondLst>
                                  <p:childTnLst>
                                    <p:set>
                                      <p:cBhvr>
                                        <p:cTn id="20" dur="1" fill="hold">
                                          <p:stCondLst>
                                            <p:cond delay="0"/>
                                          </p:stCondLst>
                                        </p:cTn>
                                        <p:tgtEl>
                                          <p:spTgt spid="70"/>
                                        </p:tgtEl>
                                        <p:attrNameLst>
                                          <p:attrName>style.visibility</p:attrName>
                                        </p:attrNameLst>
                                      </p:cBhvr>
                                      <p:to>
                                        <p:strVal val="visible"/>
                                      </p:to>
                                    </p:set>
                                    <p:anim calcmode="lin" valueType="num">
                                      <p:cBhvr additive="base">
                                        <p:cTn id="21" dur="400" fill="hold"/>
                                        <p:tgtEl>
                                          <p:spTgt spid="70"/>
                                        </p:tgtEl>
                                        <p:attrNameLst>
                                          <p:attrName>ppt_x</p:attrName>
                                        </p:attrNameLst>
                                      </p:cBhvr>
                                      <p:tavLst>
                                        <p:tav tm="0">
                                          <p:val>
                                            <p:strVal val="0-#ppt_w/2"/>
                                          </p:val>
                                        </p:tav>
                                        <p:tav tm="100000">
                                          <p:val>
                                            <p:strVal val="#ppt_x"/>
                                          </p:val>
                                        </p:tav>
                                      </p:tavLst>
                                    </p:anim>
                                    <p:anim calcmode="lin" valueType="num">
                                      <p:cBhvr additive="base">
                                        <p:cTn id="22" dur="400" fill="hold"/>
                                        <p:tgtEl>
                                          <p:spTgt spid="70"/>
                                        </p:tgtEl>
                                        <p:attrNameLst>
                                          <p:attrName>ppt_y</p:attrName>
                                        </p:attrNameLst>
                                      </p:cBhvr>
                                      <p:tavLst>
                                        <p:tav tm="0">
                                          <p:val>
                                            <p:strVal val="#ppt_y"/>
                                          </p:val>
                                        </p:tav>
                                        <p:tav tm="100000">
                                          <p:val>
                                            <p:strVal val="#ppt_y"/>
                                          </p:val>
                                        </p:tav>
                                      </p:tavLst>
                                    </p:anim>
                                  </p:childTnLst>
                                </p:cTn>
                              </p:par>
                              <p:par>
                                <p:cTn id="23" presetID="2" presetClass="entr" presetSubtype="2" decel="52500" fill="hold" grpId="0" nodeType="withEffect">
                                  <p:stCondLst>
                                    <p:cond delay="0"/>
                                  </p:stCondLst>
                                  <p:childTnLst>
                                    <p:set>
                                      <p:cBhvr>
                                        <p:cTn id="24" dur="1" fill="hold">
                                          <p:stCondLst>
                                            <p:cond delay="0"/>
                                          </p:stCondLst>
                                        </p:cTn>
                                        <p:tgtEl>
                                          <p:spTgt spid="72"/>
                                        </p:tgtEl>
                                        <p:attrNameLst>
                                          <p:attrName>style.visibility</p:attrName>
                                        </p:attrNameLst>
                                      </p:cBhvr>
                                      <p:to>
                                        <p:strVal val="visible"/>
                                      </p:to>
                                    </p:set>
                                    <p:anim calcmode="lin" valueType="num">
                                      <p:cBhvr additive="base">
                                        <p:cTn id="25" dur="400" fill="hold"/>
                                        <p:tgtEl>
                                          <p:spTgt spid="72"/>
                                        </p:tgtEl>
                                        <p:attrNameLst>
                                          <p:attrName>ppt_x</p:attrName>
                                        </p:attrNameLst>
                                      </p:cBhvr>
                                      <p:tavLst>
                                        <p:tav tm="0">
                                          <p:val>
                                            <p:strVal val="1+#ppt_w/2"/>
                                          </p:val>
                                        </p:tav>
                                        <p:tav tm="100000">
                                          <p:val>
                                            <p:strVal val="#ppt_x"/>
                                          </p:val>
                                        </p:tav>
                                      </p:tavLst>
                                    </p:anim>
                                    <p:anim calcmode="lin" valueType="num">
                                      <p:cBhvr additive="base">
                                        <p:cTn id="26" dur="400" fill="hold"/>
                                        <p:tgtEl>
                                          <p:spTgt spid="72"/>
                                        </p:tgtEl>
                                        <p:attrNameLst>
                                          <p:attrName>ppt_y</p:attrName>
                                        </p:attrNameLst>
                                      </p:cBhvr>
                                      <p:tavLst>
                                        <p:tav tm="0">
                                          <p:val>
                                            <p:strVal val="#ppt_y"/>
                                          </p:val>
                                        </p:tav>
                                        <p:tav tm="100000">
                                          <p:val>
                                            <p:strVal val="#ppt_y"/>
                                          </p:val>
                                        </p:tav>
                                      </p:tavLst>
                                    </p:anim>
                                  </p:childTnLst>
                                </p:cTn>
                              </p:par>
                            </p:childTnLst>
                          </p:cTn>
                        </p:par>
                        <p:par>
                          <p:cTn id="27" fill="hold">
                            <p:stCondLst>
                              <p:cond delay="2100"/>
                            </p:stCondLst>
                            <p:childTnLst>
                              <p:par>
                                <p:cTn id="28" presetID="47" presetClass="entr" presetSubtype="0" fill="hold" nodeType="afterEffect">
                                  <p:stCondLst>
                                    <p:cond delay="0"/>
                                  </p:stCondLst>
                                  <p:childTnLst>
                                    <p:set>
                                      <p:cBhvr>
                                        <p:cTn id="29" dur="1" fill="hold">
                                          <p:stCondLst>
                                            <p:cond delay="0"/>
                                          </p:stCondLst>
                                        </p:cTn>
                                        <p:tgtEl>
                                          <p:spTgt spid="91"/>
                                        </p:tgtEl>
                                        <p:attrNameLst>
                                          <p:attrName>style.visibility</p:attrName>
                                        </p:attrNameLst>
                                      </p:cBhvr>
                                      <p:to>
                                        <p:strVal val="visible"/>
                                      </p:to>
                                    </p:set>
                                    <p:animEffect transition="in" filter="fade">
                                      <p:cBhvr>
                                        <p:cTn id="30" dur="600"/>
                                        <p:tgtEl>
                                          <p:spTgt spid="91"/>
                                        </p:tgtEl>
                                      </p:cBhvr>
                                    </p:animEffect>
                                    <p:anim calcmode="lin" valueType="num">
                                      <p:cBhvr>
                                        <p:cTn id="31" dur="600" fill="hold"/>
                                        <p:tgtEl>
                                          <p:spTgt spid="91"/>
                                        </p:tgtEl>
                                        <p:attrNameLst>
                                          <p:attrName>ppt_x</p:attrName>
                                        </p:attrNameLst>
                                      </p:cBhvr>
                                      <p:tavLst>
                                        <p:tav tm="0">
                                          <p:val>
                                            <p:strVal val="#ppt_x"/>
                                          </p:val>
                                        </p:tav>
                                        <p:tav tm="100000">
                                          <p:val>
                                            <p:strVal val="#ppt_x"/>
                                          </p:val>
                                        </p:tav>
                                      </p:tavLst>
                                    </p:anim>
                                    <p:anim calcmode="lin" valueType="num">
                                      <p:cBhvr>
                                        <p:cTn id="32" dur="600" fill="hold"/>
                                        <p:tgtEl>
                                          <p:spTgt spid="91"/>
                                        </p:tgtEl>
                                        <p:attrNameLst>
                                          <p:attrName>ppt_y</p:attrName>
                                        </p:attrNameLst>
                                      </p:cBhvr>
                                      <p:tavLst>
                                        <p:tav tm="0">
                                          <p:val>
                                            <p:strVal val="#ppt_y-.1"/>
                                          </p:val>
                                        </p:tav>
                                        <p:tav tm="100000">
                                          <p:val>
                                            <p:strVal val="#ppt_y"/>
                                          </p:val>
                                        </p:tav>
                                      </p:tavLst>
                                    </p:anim>
                                  </p:childTnLst>
                                </p:cTn>
                              </p:par>
                            </p:childTnLst>
                          </p:cTn>
                        </p:par>
                        <p:par>
                          <p:cTn id="33" fill="hold">
                            <p:stCondLst>
                              <p:cond delay="3100"/>
                            </p:stCondLst>
                            <p:childTnLst>
                              <p:par>
                                <p:cTn id="34" presetID="2" presetClass="entr" presetSubtype="8" decel="52500" fill="hold" grpId="0" nodeType="afterEffect">
                                  <p:stCondLst>
                                    <p:cond delay="0"/>
                                  </p:stCondLst>
                                  <p:childTnLst>
                                    <p:set>
                                      <p:cBhvr>
                                        <p:cTn id="35" dur="1" fill="hold">
                                          <p:stCondLst>
                                            <p:cond delay="0"/>
                                          </p:stCondLst>
                                        </p:cTn>
                                        <p:tgtEl>
                                          <p:spTgt spid="90"/>
                                        </p:tgtEl>
                                        <p:attrNameLst>
                                          <p:attrName>style.visibility</p:attrName>
                                        </p:attrNameLst>
                                      </p:cBhvr>
                                      <p:to>
                                        <p:strVal val="visible"/>
                                      </p:to>
                                    </p:set>
                                    <p:anim calcmode="lin" valueType="num">
                                      <p:cBhvr additive="base">
                                        <p:cTn id="36" dur="400" fill="hold"/>
                                        <p:tgtEl>
                                          <p:spTgt spid="90"/>
                                        </p:tgtEl>
                                        <p:attrNameLst>
                                          <p:attrName>ppt_x</p:attrName>
                                        </p:attrNameLst>
                                      </p:cBhvr>
                                      <p:tavLst>
                                        <p:tav tm="0">
                                          <p:val>
                                            <p:strVal val="0-#ppt_w/2"/>
                                          </p:val>
                                        </p:tav>
                                        <p:tav tm="100000">
                                          <p:val>
                                            <p:strVal val="#ppt_x"/>
                                          </p:val>
                                        </p:tav>
                                      </p:tavLst>
                                    </p:anim>
                                    <p:anim calcmode="lin" valueType="num">
                                      <p:cBhvr additive="base">
                                        <p:cTn id="37" dur="400" fill="hold"/>
                                        <p:tgtEl>
                                          <p:spTgt spid="90"/>
                                        </p:tgtEl>
                                        <p:attrNameLst>
                                          <p:attrName>ppt_y</p:attrName>
                                        </p:attrNameLst>
                                      </p:cBhvr>
                                      <p:tavLst>
                                        <p:tav tm="0">
                                          <p:val>
                                            <p:strVal val="#ppt_y"/>
                                          </p:val>
                                        </p:tav>
                                        <p:tav tm="100000">
                                          <p:val>
                                            <p:strVal val="#ppt_y"/>
                                          </p:val>
                                        </p:tav>
                                      </p:tavLst>
                                    </p:anim>
                                  </p:childTnLst>
                                </p:cTn>
                              </p:par>
                              <p:par>
                                <p:cTn id="38" presetID="2" presetClass="entr" presetSubtype="2" decel="52500" fill="hold" grpId="0" nodeType="withEffect">
                                  <p:stCondLst>
                                    <p:cond delay="0"/>
                                  </p:stCondLst>
                                  <p:childTnLst>
                                    <p:set>
                                      <p:cBhvr>
                                        <p:cTn id="39" dur="1" fill="hold">
                                          <p:stCondLst>
                                            <p:cond delay="0"/>
                                          </p:stCondLst>
                                        </p:cTn>
                                        <p:tgtEl>
                                          <p:spTgt spid="92"/>
                                        </p:tgtEl>
                                        <p:attrNameLst>
                                          <p:attrName>style.visibility</p:attrName>
                                        </p:attrNameLst>
                                      </p:cBhvr>
                                      <p:to>
                                        <p:strVal val="visible"/>
                                      </p:to>
                                    </p:set>
                                    <p:anim calcmode="lin" valueType="num">
                                      <p:cBhvr additive="base">
                                        <p:cTn id="40" dur="400" fill="hold"/>
                                        <p:tgtEl>
                                          <p:spTgt spid="92"/>
                                        </p:tgtEl>
                                        <p:attrNameLst>
                                          <p:attrName>ppt_x</p:attrName>
                                        </p:attrNameLst>
                                      </p:cBhvr>
                                      <p:tavLst>
                                        <p:tav tm="0">
                                          <p:val>
                                            <p:strVal val="1+#ppt_w/2"/>
                                          </p:val>
                                        </p:tav>
                                        <p:tav tm="100000">
                                          <p:val>
                                            <p:strVal val="#ppt_x"/>
                                          </p:val>
                                        </p:tav>
                                      </p:tavLst>
                                    </p:anim>
                                    <p:anim calcmode="lin" valueType="num">
                                      <p:cBhvr additive="base">
                                        <p:cTn id="41" dur="400" fill="hold"/>
                                        <p:tgtEl>
                                          <p:spTgt spid="92"/>
                                        </p:tgtEl>
                                        <p:attrNameLst>
                                          <p:attrName>ppt_y</p:attrName>
                                        </p:attrNameLst>
                                      </p:cBhvr>
                                      <p:tavLst>
                                        <p:tav tm="0">
                                          <p:val>
                                            <p:strVal val="#ppt_y"/>
                                          </p:val>
                                        </p:tav>
                                        <p:tav tm="100000">
                                          <p:val>
                                            <p:strVal val="#ppt_y"/>
                                          </p:val>
                                        </p:tav>
                                      </p:tavLst>
                                    </p:anim>
                                  </p:childTnLst>
                                </p:cTn>
                              </p:par>
                            </p:childTnLst>
                          </p:cTn>
                        </p:par>
                        <p:par>
                          <p:cTn id="42" fill="hold">
                            <p:stCondLst>
                              <p:cond delay="3600"/>
                            </p:stCondLst>
                            <p:childTnLst>
                              <p:par>
                                <p:cTn id="43" presetID="47" presetClass="entr" presetSubtype="0" fill="hold" nodeType="afterEffect">
                                  <p:stCondLst>
                                    <p:cond delay="0"/>
                                  </p:stCondLst>
                                  <p:childTnLst>
                                    <p:set>
                                      <p:cBhvr>
                                        <p:cTn id="44" dur="1" fill="hold">
                                          <p:stCondLst>
                                            <p:cond delay="0"/>
                                          </p:stCondLst>
                                        </p:cTn>
                                        <p:tgtEl>
                                          <p:spTgt spid="96"/>
                                        </p:tgtEl>
                                        <p:attrNameLst>
                                          <p:attrName>style.visibility</p:attrName>
                                        </p:attrNameLst>
                                      </p:cBhvr>
                                      <p:to>
                                        <p:strVal val="visible"/>
                                      </p:to>
                                    </p:set>
                                    <p:animEffect transition="in" filter="fade">
                                      <p:cBhvr>
                                        <p:cTn id="45" dur="600"/>
                                        <p:tgtEl>
                                          <p:spTgt spid="96"/>
                                        </p:tgtEl>
                                      </p:cBhvr>
                                    </p:animEffect>
                                    <p:anim calcmode="lin" valueType="num">
                                      <p:cBhvr>
                                        <p:cTn id="46" dur="600" fill="hold"/>
                                        <p:tgtEl>
                                          <p:spTgt spid="96"/>
                                        </p:tgtEl>
                                        <p:attrNameLst>
                                          <p:attrName>ppt_x</p:attrName>
                                        </p:attrNameLst>
                                      </p:cBhvr>
                                      <p:tavLst>
                                        <p:tav tm="0">
                                          <p:val>
                                            <p:strVal val="#ppt_x"/>
                                          </p:val>
                                        </p:tav>
                                        <p:tav tm="100000">
                                          <p:val>
                                            <p:strVal val="#ppt_x"/>
                                          </p:val>
                                        </p:tav>
                                      </p:tavLst>
                                    </p:anim>
                                    <p:anim calcmode="lin" valueType="num">
                                      <p:cBhvr>
                                        <p:cTn id="47" dur="600" fill="hold"/>
                                        <p:tgtEl>
                                          <p:spTgt spid="96"/>
                                        </p:tgtEl>
                                        <p:attrNameLst>
                                          <p:attrName>ppt_y</p:attrName>
                                        </p:attrNameLst>
                                      </p:cBhvr>
                                      <p:tavLst>
                                        <p:tav tm="0">
                                          <p:val>
                                            <p:strVal val="#ppt_y-.1"/>
                                          </p:val>
                                        </p:tav>
                                        <p:tav tm="100000">
                                          <p:val>
                                            <p:strVal val="#ppt_y"/>
                                          </p:val>
                                        </p:tav>
                                      </p:tavLst>
                                    </p:anim>
                                  </p:childTnLst>
                                </p:cTn>
                              </p:par>
                            </p:childTnLst>
                          </p:cTn>
                        </p:par>
                        <p:par>
                          <p:cTn id="48" fill="hold">
                            <p:stCondLst>
                              <p:cond delay="4600"/>
                            </p:stCondLst>
                            <p:childTnLst>
                              <p:par>
                                <p:cTn id="49" presetID="2" presetClass="entr" presetSubtype="8" decel="52500" fill="hold" grpId="0" nodeType="afterEffect">
                                  <p:stCondLst>
                                    <p:cond delay="0"/>
                                  </p:stCondLst>
                                  <p:childTnLst>
                                    <p:set>
                                      <p:cBhvr>
                                        <p:cTn id="50" dur="1" fill="hold">
                                          <p:stCondLst>
                                            <p:cond delay="0"/>
                                          </p:stCondLst>
                                        </p:cTn>
                                        <p:tgtEl>
                                          <p:spTgt spid="95"/>
                                        </p:tgtEl>
                                        <p:attrNameLst>
                                          <p:attrName>style.visibility</p:attrName>
                                        </p:attrNameLst>
                                      </p:cBhvr>
                                      <p:to>
                                        <p:strVal val="visible"/>
                                      </p:to>
                                    </p:set>
                                    <p:anim calcmode="lin" valueType="num">
                                      <p:cBhvr additive="base">
                                        <p:cTn id="51" dur="400" fill="hold"/>
                                        <p:tgtEl>
                                          <p:spTgt spid="95"/>
                                        </p:tgtEl>
                                        <p:attrNameLst>
                                          <p:attrName>ppt_x</p:attrName>
                                        </p:attrNameLst>
                                      </p:cBhvr>
                                      <p:tavLst>
                                        <p:tav tm="0">
                                          <p:val>
                                            <p:strVal val="0-#ppt_w/2"/>
                                          </p:val>
                                        </p:tav>
                                        <p:tav tm="100000">
                                          <p:val>
                                            <p:strVal val="#ppt_x"/>
                                          </p:val>
                                        </p:tav>
                                      </p:tavLst>
                                    </p:anim>
                                    <p:anim calcmode="lin" valueType="num">
                                      <p:cBhvr additive="base">
                                        <p:cTn id="52" dur="400" fill="hold"/>
                                        <p:tgtEl>
                                          <p:spTgt spid="95"/>
                                        </p:tgtEl>
                                        <p:attrNameLst>
                                          <p:attrName>ppt_y</p:attrName>
                                        </p:attrNameLst>
                                      </p:cBhvr>
                                      <p:tavLst>
                                        <p:tav tm="0">
                                          <p:val>
                                            <p:strVal val="#ppt_y"/>
                                          </p:val>
                                        </p:tav>
                                        <p:tav tm="100000">
                                          <p:val>
                                            <p:strVal val="#ppt_y"/>
                                          </p:val>
                                        </p:tav>
                                      </p:tavLst>
                                    </p:anim>
                                  </p:childTnLst>
                                </p:cTn>
                              </p:par>
                              <p:par>
                                <p:cTn id="53" presetID="2" presetClass="entr" presetSubtype="2" decel="52500" fill="hold" grpId="0" nodeType="withEffect">
                                  <p:stCondLst>
                                    <p:cond delay="0"/>
                                  </p:stCondLst>
                                  <p:childTnLst>
                                    <p:set>
                                      <p:cBhvr>
                                        <p:cTn id="54" dur="1" fill="hold">
                                          <p:stCondLst>
                                            <p:cond delay="0"/>
                                          </p:stCondLst>
                                        </p:cTn>
                                        <p:tgtEl>
                                          <p:spTgt spid="97"/>
                                        </p:tgtEl>
                                        <p:attrNameLst>
                                          <p:attrName>style.visibility</p:attrName>
                                        </p:attrNameLst>
                                      </p:cBhvr>
                                      <p:to>
                                        <p:strVal val="visible"/>
                                      </p:to>
                                    </p:set>
                                    <p:anim calcmode="lin" valueType="num">
                                      <p:cBhvr additive="base">
                                        <p:cTn id="55" dur="400" fill="hold"/>
                                        <p:tgtEl>
                                          <p:spTgt spid="97"/>
                                        </p:tgtEl>
                                        <p:attrNameLst>
                                          <p:attrName>ppt_x</p:attrName>
                                        </p:attrNameLst>
                                      </p:cBhvr>
                                      <p:tavLst>
                                        <p:tav tm="0">
                                          <p:val>
                                            <p:strVal val="1+#ppt_w/2"/>
                                          </p:val>
                                        </p:tav>
                                        <p:tav tm="100000">
                                          <p:val>
                                            <p:strVal val="#ppt_x"/>
                                          </p:val>
                                        </p:tav>
                                      </p:tavLst>
                                    </p:anim>
                                    <p:anim calcmode="lin" valueType="num">
                                      <p:cBhvr additive="base">
                                        <p:cTn id="56" dur="400" fill="hold"/>
                                        <p:tgtEl>
                                          <p:spTgt spid="97"/>
                                        </p:tgtEl>
                                        <p:attrNameLst>
                                          <p:attrName>ppt_y</p:attrName>
                                        </p:attrNameLst>
                                      </p:cBhvr>
                                      <p:tavLst>
                                        <p:tav tm="0">
                                          <p:val>
                                            <p:strVal val="#ppt_y"/>
                                          </p:val>
                                        </p:tav>
                                        <p:tav tm="100000">
                                          <p:val>
                                            <p:strVal val="#ppt_y"/>
                                          </p:val>
                                        </p:tav>
                                      </p:tavLst>
                                    </p:anim>
                                  </p:childTnLst>
                                </p:cTn>
                              </p:par>
                            </p:childTnLst>
                          </p:cTn>
                        </p:par>
                        <p:par>
                          <p:cTn id="57" fill="hold">
                            <p:stCondLst>
                              <p:cond delay="5100"/>
                            </p:stCondLst>
                            <p:childTnLst>
                              <p:par>
                                <p:cTn id="58" presetID="47" presetClass="entr" presetSubtype="0" fill="hold" nodeType="afterEffect">
                                  <p:stCondLst>
                                    <p:cond delay="0"/>
                                  </p:stCondLst>
                                  <p:childTnLst>
                                    <p:set>
                                      <p:cBhvr>
                                        <p:cTn id="59" dur="1" fill="hold">
                                          <p:stCondLst>
                                            <p:cond delay="0"/>
                                          </p:stCondLst>
                                        </p:cTn>
                                        <p:tgtEl>
                                          <p:spTgt spid="101"/>
                                        </p:tgtEl>
                                        <p:attrNameLst>
                                          <p:attrName>style.visibility</p:attrName>
                                        </p:attrNameLst>
                                      </p:cBhvr>
                                      <p:to>
                                        <p:strVal val="visible"/>
                                      </p:to>
                                    </p:set>
                                    <p:animEffect transition="in" filter="fade">
                                      <p:cBhvr>
                                        <p:cTn id="60" dur="600"/>
                                        <p:tgtEl>
                                          <p:spTgt spid="101"/>
                                        </p:tgtEl>
                                      </p:cBhvr>
                                    </p:animEffect>
                                    <p:anim calcmode="lin" valueType="num">
                                      <p:cBhvr>
                                        <p:cTn id="61" dur="600" fill="hold"/>
                                        <p:tgtEl>
                                          <p:spTgt spid="101"/>
                                        </p:tgtEl>
                                        <p:attrNameLst>
                                          <p:attrName>ppt_x</p:attrName>
                                        </p:attrNameLst>
                                      </p:cBhvr>
                                      <p:tavLst>
                                        <p:tav tm="0">
                                          <p:val>
                                            <p:strVal val="#ppt_x"/>
                                          </p:val>
                                        </p:tav>
                                        <p:tav tm="100000">
                                          <p:val>
                                            <p:strVal val="#ppt_x"/>
                                          </p:val>
                                        </p:tav>
                                      </p:tavLst>
                                    </p:anim>
                                    <p:anim calcmode="lin" valueType="num">
                                      <p:cBhvr>
                                        <p:cTn id="62" dur="600" fill="hold"/>
                                        <p:tgtEl>
                                          <p:spTgt spid="101"/>
                                        </p:tgtEl>
                                        <p:attrNameLst>
                                          <p:attrName>ppt_y</p:attrName>
                                        </p:attrNameLst>
                                      </p:cBhvr>
                                      <p:tavLst>
                                        <p:tav tm="0">
                                          <p:val>
                                            <p:strVal val="#ppt_y-.1"/>
                                          </p:val>
                                        </p:tav>
                                        <p:tav tm="100000">
                                          <p:val>
                                            <p:strVal val="#ppt_y"/>
                                          </p:val>
                                        </p:tav>
                                      </p:tavLst>
                                    </p:anim>
                                  </p:childTnLst>
                                </p:cTn>
                              </p:par>
                            </p:childTnLst>
                          </p:cTn>
                        </p:par>
                        <p:par>
                          <p:cTn id="63" fill="hold">
                            <p:stCondLst>
                              <p:cond delay="6100"/>
                            </p:stCondLst>
                            <p:childTnLst>
                              <p:par>
                                <p:cTn id="64" presetID="2" presetClass="entr" presetSubtype="8" decel="52500" fill="hold" grpId="0" nodeType="afterEffect">
                                  <p:stCondLst>
                                    <p:cond delay="0"/>
                                  </p:stCondLst>
                                  <p:childTnLst>
                                    <p:set>
                                      <p:cBhvr>
                                        <p:cTn id="65" dur="1" fill="hold">
                                          <p:stCondLst>
                                            <p:cond delay="0"/>
                                          </p:stCondLst>
                                        </p:cTn>
                                        <p:tgtEl>
                                          <p:spTgt spid="100"/>
                                        </p:tgtEl>
                                        <p:attrNameLst>
                                          <p:attrName>style.visibility</p:attrName>
                                        </p:attrNameLst>
                                      </p:cBhvr>
                                      <p:to>
                                        <p:strVal val="visible"/>
                                      </p:to>
                                    </p:set>
                                    <p:anim calcmode="lin" valueType="num">
                                      <p:cBhvr additive="base">
                                        <p:cTn id="66" dur="400" fill="hold"/>
                                        <p:tgtEl>
                                          <p:spTgt spid="100"/>
                                        </p:tgtEl>
                                        <p:attrNameLst>
                                          <p:attrName>ppt_x</p:attrName>
                                        </p:attrNameLst>
                                      </p:cBhvr>
                                      <p:tavLst>
                                        <p:tav tm="0">
                                          <p:val>
                                            <p:strVal val="0-#ppt_w/2"/>
                                          </p:val>
                                        </p:tav>
                                        <p:tav tm="100000">
                                          <p:val>
                                            <p:strVal val="#ppt_x"/>
                                          </p:val>
                                        </p:tav>
                                      </p:tavLst>
                                    </p:anim>
                                    <p:anim calcmode="lin" valueType="num">
                                      <p:cBhvr additive="base">
                                        <p:cTn id="67" dur="400" fill="hold"/>
                                        <p:tgtEl>
                                          <p:spTgt spid="100"/>
                                        </p:tgtEl>
                                        <p:attrNameLst>
                                          <p:attrName>ppt_y</p:attrName>
                                        </p:attrNameLst>
                                      </p:cBhvr>
                                      <p:tavLst>
                                        <p:tav tm="0">
                                          <p:val>
                                            <p:strVal val="#ppt_y"/>
                                          </p:val>
                                        </p:tav>
                                        <p:tav tm="100000">
                                          <p:val>
                                            <p:strVal val="#ppt_y"/>
                                          </p:val>
                                        </p:tav>
                                      </p:tavLst>
                                    </p:anim>
                                  </p:childTnLst>
                                </p:cTn>
                              </p:par>
                              <p:par>
                                <p:cTn id="68" presetID="2" presetClass="entr" presetSubtype="2" decel="52500" fill="hold" grpId="0" nodeType="withEffect">
                                  <p:stCondLst>
                                    <p:cond delay="0"/>
                                  </p:stCondLst>
                                  <p:childTnLst>
                                    <p:set>
                                      <p:cBhvr>
                                        <p:cTn id="69" dur="1" fill="hold">
                                          <p:stCondLst>
                                            <p:cond delay="0"/>
                                          </p:stCondLst>
                                        </p:cTn>
                                        <p:tgtEl>
                                          <p:spTgt spid="102"/>
                                        </p:tgtEl>
                                        <p:attrNameLst>
                                          <p:attrName>style.visibility</p:attrName>
                                        </p:attrNameLst>
                                      </p:cBhvr>
                                      <p:to>
                                        <p:strVal val="visible"/>
                                      </p:to>
                                    </p:set>
                                    <p:anim calcmode="lin" valueType="num">
                                      <p:cBhvr additive="base">
                                        <p:cTn id="70" dur="400" fill="hold"/>
                                        <p:tgtEl>
                                          <p:spTgt spid="102"/>
                                        </p:tgtEl>
                                        <p:attrNameLst>
                                          <p:attrName>ppt_x</p:attrName>
                                        </p:attrNameLst>
                                      </p:cBhvr>
                                      <p:tavLst>
                                        <p:tav tm="0">
                                          <p:val>
                                            <p:strVal val="1+#ppt_w/2"/>
                                          </p:val>
                                        </p:tav>
                                        <p:tav tm="100000">
                                          <p:val>
                                            <p:strVal val="#ppt_x"/>
                                          </p:val>
                                        </p:tav>
                                      </p:tavLst>
                                    </p:anim>
                                    <p:anim calcmode="lin" valueType="num">
                                      <p:cBhvr additive="base">
                                        <p:cTn id="71" dur="400" fill="hold"/>
                                        <p:tgtEl>
                                          <p:spTgt spid="102"/>
                                        </p:tgtEl>
                                        <p:attrNameLst>
                                          <p:attrName>ppt_y</p:attrName>
                                        </p:attrNameLst>
                                      </p:cBhvr>
                                      <p:tavLst>
                                        <p:tav tm="0">
                                          <p:val>
                                            <p:strVal val="#ppt_y"/>
                                          </p:val>
                                        </p:tav>
                                        <p:tav tm="100000">
                                          <p:val>
                                            <p:strVal val="#ppt_y"/>
                                          </p:val>
                                        </p:tav>
                                      </p:tavLst>
                                    </p:anim>
                                  </p:childTnLst>
                                </p:cTn>
                              </p:par>
                            </p:childTnLst>
                          </p:cTn>
                        </p:par>
                        <p:par>
                          <p:cTn id="72" fill="hold">
                            <p:stCondLst>
                              <p:cond delay="6600"/>
                            </p:stCondLst>
                            <p:childTnLst>
                              <p:par>
                                <p:cTn id="73" presetID="47" presetClass="entr" presetSubtype="0" fill="hold" nodeType="after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600"/>
                                        <p:tgtEl>
                                          <p:spTgt spid="30"/>
                                        </p:tgtEl>
                                      </p:cBhvr>
                                    </p:animEffect>
                                    <p:anim calcmode="lin" valueType="num">
                                      <p:cBhvr>
                                        <p:cTn id="76" dur="600" fill="hold"/>
                                        <p:tgtEl>
                                          <p:spTgt spid="30"/>
                                        </p:tgtEl>
                                        <p:attrNameLst>
                                          <p:attrName>ppt_x</p:attrName>
                                        </p:attrNameLst>
                                      </p:cBhvr>
                                      <p:tavLst>
                                        <p:tav tm="0">
                                          <p:val>
                                            <p:strVal val="#ppt_x"/>
                                          </p:val>
                                        </p:tav>
                                        <p:tav tm="100000">
                                          <p:val>
                                            <p:strVal val="#ppt_x"/>
                                          </p:val>
                                        </p:tav>
                                      </p:tavLst>
                                    </p:anim>
                                    <p:anim calcmode="lin" valueType="num">
                                      <p:cBhvr>
                                        <p:cTn id="77" dur="600" fill="hold"/>
                                        <p:tgtEl>
                                          <p:spTgt spid="30"/>
                                        </p:tgtEl>
                                        <p:attrNameLst>
                                          <p:attrName>ppt_y</p:attrName>
                                        </p:attrNameLst>
                                      </p:cBhvr>
                                      <p:tavLst>
                                        <p:tav tm="0">
                                          <p:val>
                                            <p:strVal val="#ppt_y-.1"/>
                                          </p:val>
                                        </p:tav>
                                        <p:tav tm="100000">
                                          <p:val>
                                            <p:strVal val="#ppt_y"/>
                                          </p:val>
                                        </p:tav>
                                      </p:tavLst>
                                    </p:anim>
                                  </p:childTnLst>
                                </p:cTn>
                              </p:par>
                            </p:childTnLst>
                          </p:cTn>
                        </p:par>
                        <p:par>
                          <p:cTn id="78" fill="hold">
                            <p:stCondLst>
                              <p:cond delay="7600"/>
                            </p:stCondLst>
                            <p:childTnLst>
                              <p:par>
                                <p:cTn id="79" presetID="2" presetClass="entr" presetSubtype="8" decel="52500" fill="hold" grpId="0" nodeType="afterEffect">
                                  <p:stCondLst>
                                    <p:cond delay="0"/>
                                  </p:stCondLst>
                                  <p:childTnLst>
                                    <p:set>
                                      <p:cBhvr>
                                        <p:cTn id="80" dur="1" fill="hold">
                                          <p:stCondLst>
                                            <p:cond delay="0"/>
                                          </p:stCondLst>
                                        </p:cTn>
                                        <p:tgtEl>
                                          <p:spTgt spid="29"/>
                                        </p:tgtEl>
                                        <p:attrNameLst>
                                          <p:attrName>style.visibility</p:attrName>
                                        </p:attrNameLst>
                                      </p:cBhvr>
                                      <p:to>
                                        <p:strVal val="visible"/>
                                      </p:to>
                                    </p:set>
                                    <p:anim calcmode="lin" valueType="num">
                                      <p:cBhvr additive="base">
                                        <p:cTn id="81" dur="400" fill="hold"/>
                                        <p:tgtEl>
                                          <p:spTgt spid="29"/>
                                        </p:tgtEl>
                                        <p:attrNameLst>
                                          <p:attrName>ppt_x</p:attrName>
                                        </p:attrNameLst>
                                      </p:cBhvr>
                                      <p:tavLst>
                                        <p:tav tm="0">
                                          <p:val>
                                            <p:strVal val="0-#ppt_w/2"/>
                                          </p:val>
                                        </p:tav>
                                        <p:tav tm="100000">
                                          <p:val>
                                            <p:strVal val="#ppt_x"/>
                                          </p:val>
                                        </p:tav>
                                      </p:tavLst>
                                    </p:anim>
                                    <p:anim calcmode="lin" valueType="num">
                                      <p:cBhvr additive="base">
                                        <p:cTn id="82" dur="400" fill="hold"/>
                                        <p:tgtEl>
                                          <p:spTgt spid="29"/>
                                        </p:tgtEl>
                                        <p:attrNameLst>
                                          <p:attrName>ppt_y</p:attrName>
                                        </p:attrNameLst>
                                      </p:cBhvr>
                                      <p:tavLst>
                                        <p:tav tm="0">
                                          <p:val>
                                            <p:strVal val="#ppt_y"/>
                                          </p:val>
                                        </p:tav>
                                        <p:tav tm="100000">
                                          <p:val>
                                            <p:strVal val="#ppt_y"/>
                                          </p:val>
                                        </p:tav>
                                      </p:tavLst>
                                    </p:anim>
                                  </p:childTnLst>
                                </p:cTn>
                              </p:par>
                              <p:par>
                                <p:cTn id="83" presetID="2" presetClass="entr" presetSubtype="2" decel="52500" fill="hold" grpId="0" nodeType="withEffect">
                                  <p:stCondLst>
                                    <p:cond delay="0"/>
                                  </p:stCondLst>
                                  <p:childTnLst>
                                    <p:set>
                                      <p:cBhvr>
                                        <p:cTn id="84" dur="1" fill="hold">
                                          <p:stCondLst>
                                            <p:cond delay="0"/>
                                          </p:stCondLst>
                                        </p:cTn>
                                        <p:tgtEl>
                                          <p:spTgt spid="33"/>
                                        </p:tgtEl>
                                        <p:attrNameLst>
                                          <p:attrName>style.visibility</p:attrName>
                                        </p:attrNameLst>
                                      </p:cBhvr>
                                      <p:to>
                                        <p:strVal val="visible"/>
                                      </p:to>
                                    </p:set>
                                    <p:anim calcmode="lin" valueType="num">
                                      <p:cBhvr additive="base">
                                        <p:cTn id="85" dur="400" fill="hold"/>
                                        <p:tgtEl>
                                          <p:spTgt spid="33"/>
                                        </p:tgtEl>
                                        <p:attrNameLst>
                                          <p:attrName>ppt_x</p:attrName>
                                        </p:attrNameLst>
                                      </p:cBhvr>
                                      <p:tavLst>
                                        <p:tav tm="0">
                                          <p:val>
                                            <p:strVal val="1+#ppt_w/2"/>
                                          </p:val>
                                        </p:tav>
                                        <p:tav tm="100000">
                                          <p:val>
                                            <p:strVal val="#ppt_x"/>
                                          </p:val>
                                        </p:tav>
                                      </p:tavLst>
                                    </p:anim>
                                    <p:anim calcmode="lin" valueType="num">
                                      <p:cBhvr additive="base">
                                        <p:cTn id="86" dur="400" fill="hold"/>
                                        <p:tgtEl>
                                          <p:spTgt spid="33"/>
                                        </p:tgtEl>
                                        <p:attrNameLst>
                                          <p:attrName>ppt_y</p:attrName>
                                        </p:attrNameLst>
                                      </p:cBhvr>
                                      <p:tavLst>
                                        <p:tav tm="0">
                                          <p:val>
                                            <p:strVal val="#ppt_y"/>
                                          </p:val>
                                        </p:tav>
                                        <p:tav tm="100000">
                                          <p:val>
                                            <p:strVal val="#ppt_y"/>
                                          </p:val>
                                        </p:tav>
                                      </p:tavLst>
                                    </p:anim>
                                  </p:childTnLst>
                                </p:cTn>
                              </p:par>
                            </p:childTnLst>
                          </p:cTn>
                        </p:par>
                        <p:par>
                          <p:cTn id="87" fill="hold">
                            <p:stCondLst>
                              <p:cond delay="8100"/>
                            </p:stCondLst>
                            <p:childTnLst>
                              <p:par>
                                <p:cTn id="88" presetID="47" presetClass="entr" presetSubtype="0" fill="hold" nodeType="after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600"/>
                                        <p:tgtEl>
                                          <p:spTgt spid="35"/>
                                        </p:tgtEl>
                                      </p:cBhvr>
                                    </p:animEffect>
                                    <p:anim calcmode="lin" valueType="num">
                                      <p:cBhvr>
                                        <p:cTn id="91" dur="600" fill="hold"/>
                                        <p:tgtEl>
                                          <p:spTgt spid="35"/>
                                        </p:tgtEl>
                                        <p:attrNameLst>
                                          <p:attrName>ppt_x</p:attrName>
                                        </p:attrNameLst>
                                      </p:cBhvr>
                                      <p:tavLst>
                                        <p:tav tm="0">
                                          <p:val>
                                            <p:strVal val="#ppt_x"/>
                                          </p:val>
                                        </p:tav>
                                        <p:tav tm="100000">
                                          <p:val>
                                            <p:strVal val="#ppt_x"/>
                                          </p:val>
                                        </p:tav>
                                      </p:tavLst>
                                    </p:anim>
                                    <p:anim calcmode="lin" valueType="num">
                                      <p:cBhvr>
                                        <p:cTn id="92" dur="600" fill="hold"/>
                                        <p:tgtEl>
                                          <p:spTgt spid="35"/>
                                        </p:tgtEl>
                                        <p:attrNameLst>
                                          <p:attrName>ppt_y</p:attrName>
                                        </p:attrNameLst>
                                      </p:cBhvr>
                                      <p:tavLst>
                                        <p:tav tm="0">
                                          <p:val>
                                            <p:strVal val="#ppt_y-.1"/>
                                          </p:val>
                                        </p:tav>
                                        <p:tav tm="100000">
                                          <p:val>
                                            <p:strVal val="#ppt_y"/>
                                          </p:val>
                                        </p:tav>
                                      </p:tavLst>
                                    </p:anim>
                                  </p:childTnLst>
                                </p:cTn>
                              </p:par>
                            </p:childTnLst>
                          </p:cTn>
                        </p:par>
                        <p:par>
                          <p:cTn id="93" fill="hold">
                            <p:stCondLst>
                              <p:cond delay="9100"/>
                            </p:stCondLst>
                            <p:childTnLst>
                              <p:par>
                                <p:cTn id="94" presetID="2" presetClass="entr" presetSubtype="8" decel="52500" fill="hold" grpId="0" nodeType="afterEffect">
                                  <p:stCondLst>
                                    <p:cond delay="0"/>
                                  </p:stCondLst>
                                  <p:childTnLst>
                                    <p:set>
                                      <p:cBhvr>
                                        <p:cTn id="95" dur="1" fill="hold">
                                          <p:stCondLst>
                                            <p:cond delay="0"/>
                                          </p:stCondLst>
                                        </p:cTn>
                                        <p:tgtEl>
                                          <p:spTgt spid="34"/>
                                        </p:tgtEl>
                                        <p:attrNameLst>
                                          <p:attrName>style.visibility</p:attrName>
                                        </p:attrNameLst>
                                      </p:cBhvr>
                                      <p:to>
                                        <p:strVal val="visible"/>
                                      </p:to>
                                    </p:set>
                                    <p:anim calcmode="lin" valueType="num">
                                      <p:cBhvr additive="base">
                                        <p:cTn id="96" dur="400" fill="hold"/>
                                        <p:tgtEl>
                                          <p:spTgt spid="34"/>
                                        </p:tgtEl>
                                        <p:attrNameLst>
                                          <p:attrName>ppt_x</p:attrName>
                                        </p:attrNameLst>
                                      </p:cBhvr>
                                      <p:tavLst>
                                        <p:tav tm="0">
                                          <p:val>
                                            <p:strVal val="0-#ppt_w/2"/>
                                          </p:val>
                                        </p:tav>
                                        <p:tav tm="100000">
                                          <p:val>
                                            <p:strVal val="#ppt_x"/>
                                          </p:val>
                                        </p:tav>
                                      </p:tavLst>
                                    </p:anim>
                                    <p:anim calcmode="lin" valueType="num">
                                      <p:cBhvr additive="base">
                                        <p:cTn id="97" dur="400" fill="hold"/>
                                        <p:tgtEl>
                                          <p:spTgt spid="34"/>
                                        </p:tgtEl>
                                        <p:attrNameLst>
                                          <p:attrName>ppt_y</p:attrName>
                                        </p:attrNameLst>
                                      </p:cBhvr>
                                      <p:tavLst>
                                        <p:tav tm="0">
                                          <p:val>
                                            <p:strVal val="#ppt_y"/>
                                          </p:val>
                                        </p:tav>
                                        <p:tav tm="100000">
                                          <p:val>
                                            <p:strVal val="#ppt_y"/>
                                          </p:val>
                                        </p:tav>
                                      </p:tavLst>
                                    </p:anim>
                                  </p:childTnLst>
                                </p:cTn>
                              </p:par>
                              <p:par>
                                <p:cTn id="98" presetID="2" presetClass="entr" presetSubtype="2" decel="5250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 calcmode="lin" valueType="num">
                                      <p:cBhvr additive="base">
                                        <p:cTn id="100" dur="400" fill="hold"/>
                                        <p:tgtEl>
                                          <p:spTgt spid="36"/>
                                        </p:tgtEl>
                                        <p:attrNameLst>
                                          <p:attrName>ppt_x</p:attrName>
                                        </p:attrNameLst>
                                      </p:cBhvr>
                                      <p:tavLst>
                                        <p:tav tm="0">
                                          <p:val>
                                            <p:strVal val="1+#ppt_w/2"/>
                                          </p:val>
                                        </p:tav>
                                        <p:tav tm="100000">
                                          <p:val>
                                            <p:strVal val="#ppt_x"/>
                                          </p:val>
                                        </p:tav>
                                      </p:tavLst>
                                    </p:anim>
                                    <p:anim calcmode="lin" valueType="num">
                                      <p:cBhvr additive="base">
                                        <p:cTn id="101" dur="400" fill="hold"/>
                                        <p:tgtEl>
                                          <p:spTgt spid="36"/>
                                        </p:tgtEl>
                                        <p:attrNameLst>
                                          <p:attrName>ppt_y</p:attrName>
                                        </p:attrNameLst>
                                      </p:cBhvr>
                                      <p:tavLst>
                                        <p:tav tm="0">
                                          <p:val>
                                            <p:strVal val="#ppt_y"/>
                                          </p:val>
                                        </p:tav>
                                        <p:tav tm="100000">
                                          <p:val>
                                            <p:strVal val="#ppt_y"/>
                                          </p:val>
                                        </p:tav>
                                      </p:tavLst>
                                    </p:anim>
                                  </p:childTnLst>
                                </p:cTn>
                              </p:par>
                            </p:childTnLst>
                          </p:cTn>
                        </p:par>
                        <p:par>
                          <p:cTn id="102" fill="hold">
                            <p:stCondLst>
                              <p:cond delay="9600"/>
                            </p:stCondLst>
                            <p:childTnLst>
                              <p:par>
                                <p:cTn id="103" presetID="47" presetClass="entr" presetSubtype="0" fill="hold" nodeType="after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fade">
                                      <p:cBhvr>
                                        <p:cTn id="105" dur="600"/>
                                        <p:tgtEl>
                                          <p:spTgt spid="37"/>
                                        </p:tgtEl>
                                      </p:cBhvr>
                                    </p:animEffect>
                                    <p:anim calcmode="lin" valueType="num">
                                      <p:cBhvr>
                                        <p:cTn id="106" dur="600" fill="hold"/>
                                        <p:tgtEl>
                                          <p:spTgt spid="37"/>
                                        </p:tgtEl>
                                        <p:attrNameLst>
                                          <p:attrName>ppt_x</p:attrName>
                                        </p:attrNameLst>
                                      </p:cBhvr>
                                      <p:tavLst>
                                        <p:tav tm="0">
                                          <p:val>
                                            <p:strVal val="#ppt_x"/>
                                          </p:val>
                                        </p:tav>
                                        <p:tav tm="100000">
                                          <p:val>
                                            <p:strVal val="#ppt_x"/>
                                          </p:val>
                                        </p:tav>
                                      </p:tavLst>
                                    </p:anim>
                                    <p:anim calcmode="lin" valueType="num">
                                      <p:cBhvr>
                                        <p:cTn id="107" dur="600" fill="hold"/>
                                        <p:tgtEl>
                                          <p:spTgt spid="37"/>
                                        </p:tgtEl>
                                        <p:attrNameLst>
                                          <p:attrName>ppt_y</p:attrName>
                                        </p:attrNameLst>
                                      </p:cBhvr>
                                      <p:tavLst>
                                        <p:tav tm="0">
                                          <p:val>
                                            <p:strVal val="#ppt_y-.1"/>
                                          </p:val>
                                        </p:tav>
                                        <p:tav tm="100000">
                                          <p:val>
                                            <p:strVal val="#ppt_y"/>
                                          </p:val>
                                        </p:tav>
                                      </p:tavLst>
                                    </p:anim>
                                  </p:childTnLst>
                                </p:cTn>
                              </p:par>
                            </p:childTnLst>
                          </p:cTn>
                        </p:par>
                        <p:par>
                          <p:cTn id="108" fill="hold">
                            <p:stCondLst>
                              <p:cond delay="10600"/>
                            </p:stCondLst>
                            <p:childTnLst>
                              <p:par>
                                <p:cTn id="109" presetID="2" presetClass="entr" presetSubtype="8" decel="52500" fill="hold" grpId="0" nodeType="afterEffect">
                                  <p:stCondLst>
                                    <p:cond delay="0"/>
                                  </p:stCondLst>
                                  <p:childTnLst>
                                    <p:set>
                                      <p:cBhvr>
                                        <p:cTn id="110" dur="1" fill="hold">
                                          <p:stCondLst>
                                            <p:cond delay="0"/>
                                          </p:stCondLst>
                                        </p:cTn>
                                        <p:tgtEl>
                                          <p:spTgt spid="28"/>
                                        </p:tgtEl>
                                        <p:attrNameLst>
                                          <p:attrName>style.visibility</p:attrName>
                                        </p:attrNameLst>
                                      </p:cBhvr>
                                      <p:to>
                                        <p:strVal val="visible"/>
                                      </p:to>
                                    </p:set>
                                    <p:anim calcmode="lin" valueType="num">
                                      <p:cBhvr additive="base">
                                        <p:cTn id="111" dur="400" fill="hold"/>
                                        <p:tgtEl>
                                          <p:spTgt spid="28"/>
                                        </p:tgtEl>
                                        <p:attrNameLst>
                                          <p:attrName>ppt_x</p:attrName>
                                        </p:attrNameLst>
                                      </p:cBhvr>
                                      <p:tavLst>
                                        <p:tav tm="0">
                                          <p:val>
                                            <p:strVal val="0-#ppt_w/2"/>
                                          </p:val>
                                        </p:tav>
                                        <p:tav tm="100000">
                                          <p:val>
                                            <p:strVal val="#ppt_x"/>
                                          </p:val>
                                        </p:tav>
                                      </p:tavLst>
                                    </p:anim>
                                    <p:anim calcmode="lin" valueType="num">
                                      <p:cBhvr additive="base">
                                        <p:cTn id="112" dur="400" fill="hold"/>
                                        <p:tgtEl>
                                          <p:spTgt spid="28"/>
                                        </p:tgtEl>
                                        <p:attrNameLst>
                                          <p:attrName>ppt_y</p:attrName>
                                        </p:attrNameLst>
                                      </p:cBhvr>
                                      <p:tavLst>
                                        <p:tav tm="0">
                                          <p:val>
                                            <p:strVal val="#ppt_y"/>
                                          </p:val>
                                        </p:tav>
                                        <p:tav tm="100000">
                                          <p:val>
                                            <p:strVal val="#ppt_y"/>
                                          </p:val>
                                        </p:tav>
                                      </p:tavLst>
                                    </p:anim>
                                  </p:childTnLst>
                                </p:cTn>
                              </p:par>
                              <p:par>
                                <p:cTn id="113" presetID="2" presetClass="entr" presetSubtype="2" decel="5250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 calcmode="lin" valueType="num">
                                      <p:cBhvr additive="base">
                                        <p:cTn id="115" dur="400" fill="hold"/>
                                        <p:tgtEl>
                                          <p:spTgt spid="38"/>
                                        </p:tgtEl>
                                        <p:attrNameLst>
                                          <p:attrName>ppt_x</p:attrName>
                                        </p:attrNameLst>
                                      </p:cBhvr>
                                      <p:tavLst>
                                        <p:tav tm="0">
                                          <p:val>
                                            <p:strVal val="1+#ppt_w/2"/>
                                          </p:val>
                                        </p:tav>
                                        <p:tav tm="100000">
                                          <p:val>
                                            <p:strVal val="#ppt_x"/>
                                          </p:val>
                                        </p:tav>
                                      </p:tavLst>
                                    </p:anim>
                                    <p:anim calcmode="lin" valueType="num">
                                      <p:cBhvr additive="base">
                                        <p:cTn id="116" dur="400" fill="hold"/>
                                        <p:tgtEl>
                                          <p:spTgt spid="38"/>
                                        </p:tgtEl>
                                        <p:attrNameLst>
                                          <p:attrName>ppt_y</p:attrName>
                                        </p:attrNameLst>
                                      </p:cBhvr>
                                      <p:tavLst>
                                        <p:tav tm="0">
                                          <p:val>
                                            <p:strVal val="#ppt_y"/>
                                          </p:val>
                                        </p:tav>
                                        <p:tav tm="100000">
                                          <p:val>
                                            <p:strVal val="#ppt_y"/>
                                          </p:val>
                                        </p:tav>
                                      </p:tavLst>
                                    </p:anim>
                                  </p:childTnLst>
                                </p:cTn>
                              </p:par>
                            </p:childTnLst>
                          </p:cTn>
                        </p:par>
                        <p:par>
                          <p:cTn id="117" fill="hold">
                            <p:stCondLst>
                              <p:cond delay="11100"/>
                            </p:stCondLst>
                            <p:childTnLst>
                              <p:par>
                                <p:cTn id="118" presetID="47" presetClass="entr" presetSubtype="0" fill="hold" nodeType="afterEffect">
                                  <p:stCondLst>
                                    <p:cond delay="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600"/>
                                        <p:tgtEl>
                                          <p:spTgt spid="40"/>
                                        </p:tgtEl>
                                      </p:cBhvr>
                                    </p:animEffect>
                                    <p:anim calcmode="lin" valueType="num">
                                      <p:cBhvr>
                                        <p:cTn id="121" dur="600" fill="hold"/>
                                        <p:tgtEl>
                                          <p:spTgt spid="40"/>
                                        </p:tgtEl>
                                        <p:attrNameLst>
                                          <p:attrName>ppt_x</p:attrName>
                                        </p:attrNameLst>
                                      </p:cBhvr>
                                      <p:tavLst>
                                        <p:tav tm="0">
                                          <p:val>
                                            <p:strVal val="#ppt_x"/>
                                          </p:val>
                                        </p:tav>
                                        <p:tav tm="100000">
                                          <p:val>
                                            <p:strVal val="#ppt_x"/>
                                          </p:val>
                                        </p:tav>
                                      </p:tavLst>
                                    </p:anim>
                                    <p:anim calcmode="lin" valueType="num">
                                      <p:cBhvr>
                                        <p:cTn id="122" dur="600" fill="hold"/>
                                        <p:tgtEl>
                                          <p:spTgt spid="40"/>
                                        </p:tgtEl>
                                        <p:attrNameLst>
                                          <p:attrName>ppt_y</p:attrName>
                                        </p:attrNameLst>
                                      </p:cBhvr>
                                      <p:tavLst>
                                        <p:tav tm="0">
                                          <p:val>
                                            <p:strVal val="#ppt_y-.1"/>
                                          </p:val>
                                        </p:tav>
                                        <p:tav tm="100000">
                                          <p:val>
                                            <p:strVal val="#ppt_y"/>
                                          </p:val>
                                        </p:tav>
                                      </p:tavLst>
                                    </p:anim>
                                  </p:childTnLst>
                                </p:cTn>
                              </p:par>
                            </p:childTnLst>
                          </p:cTn>
                        </p:par>
                        <p:par>
                          <p:cTn id="123" fill="hold">
                            <p:stCondLst>
                              <p:cond delay="12100"/>
                            </p:stCondLst>
                            <p:childTnLst>
                              <p:par>
                                <p:cTn id="124" presetID="2" presetClass="entr" presetSubtype="8" decel="52500" fill="hold" grpId="0" nodeType="afterEffect">
                                  <p:stCondLst>
                                    <p:cond delay="0"/>
                                  </p:stCondLst>
                                  <p:childTnLst>
                                    <p:set>
                                      <p:cBhvr>
                                        <p:cTn id="125" dur="1" fill="hold">
                                          <p:stCondLst>
                                            <p:cond delay="0"/>
                                          </p:stCondLst>
                                        </p:cTn>
                                        <p:tgtEl>
                                          <p:spTgt spid="39"/>
                                        </p:tgtEl>
                                        <p:attrNameLst>
                                          <p:attrName>style.visibility</p:attrName>
                                        </p:attrNameLst>
                                      </p:cBhvr>
                                      <p:to>
                                        <p:strVal val="visible"/>
                                      </p:to>
                                    </p:set>
                                    <p:anim calcmode="lin" valueType="num">
                                      <p:cBhvr additive="base">
                                        <p:cTn id="126" dur="400" fill="hold"/>
                                        <p:tgtEl>
                                          <p:spTgt spid="39"/>
                                        </p:tgtEl>
                                        <p:attrNameLst>
                                          <p:attrName>ppt_x</p:attrName>
                                        </p:attrNameLst>
                                      </p:cBhvr>
                                      <p:tavLst>
                                        <p:tav tm="0">
                                          <p:val>
                                            <p:strVal val="0-#ppt_w/2"/>
                                          </p:val>
                                        </p:tav>
                                        <p:tav tm="100000">
                                          <p:val>
                                            <p:strVal val="#ppt_x"/>
                                          </p:val>
                                        </p:tav>
                                      </p:tavLst>
                                    </p:anim>
                                    <p:anim calcmode="lin" valueType="num">
                                      <p:cBhvr additive="base">
                                        <p:cTn id="127" dur="400" fill="hold"/>
                                        <p:tgtEl>
                                          <p:spTgt spid="39"/>
                                        </p:tgtEl>
                                        <p:attrNameLst>
                                          <p:attrName>ppt_y</p:attrName>
                                        </p:attrNameLst>
                                      </p:cBhvr>
                                      <p:tavLst>
                                        <p:tav tm="0">
                                          <p:val>
                                            <p:strVal val="#ppt_y"/>
                                          </p:val>
                                        </p:tav>
                                        <p:tav tm="100000">
                                          <p:val>
                                            <p:strVal val="#ppt_y"/>
                                          </p:val>
                                        </p:tav>
                                      </p:tavLst>
                                    </p:anim>
                                  </p:childTnLst>
                                </p:cTn>
                              </p:par>
                              <p:par>
                                <p:cTn id="128" presetID="2" presetClass="entr" presetSubtype="2" decel="52500" fill="hold" grpId="0" nodeType="withEffect">
                                  <p:stCondLst>
                                    <p:cond delay="0"/>
                                  </p:stCondLst>
                                  <p:childTnLst>
                                    <p:set>
                                      <p:cBhvr>
                                        <p:cTn id="129" dur="1" fill="hold">
                                          <p:stCondLst>
                                            <p:cond delay="0"/>
                                          </p:stCondLst>
                                        </p:cTn>
                                        <p:tgtEl>
                                          <p:spTgt spid="41"/>
                                        </p:tgtEl>
                                        <p:attrNameLst>
                                          <p:attrName>style.visibility</p:attrName>
                                        </p:attrNameLst>
                                      </p:cBhvr>
                                      <p:to>
                                        <p:strVal val="visible"/>
                                      </p:to>
                                    </p:set>
                                    <p:anim calcmode="lin" valueType="num">
                                      <p:cBhvr additive="base">
                                        <p:cTn id="130" dur="400" fill="hold"/>
                                        <p:tgtEl>
                                          <p:spTgt spid="41"/>
                                        </p:tgtEl>
                                        <p:attrNameLst>
                                          <p:attrName>ppt_x</p:attrName>
                                        </p:attrNameLst>
                                      </p:cBhvr>
                                      <p:tavLst>
                                        <p:tav tm="0">
                                          <p:val>
                                            <p:strVal val="1+#ppt_w/2"/>
                                          </p:val>
                                        </p:tav>
                                        <p:tav tm="100000">
                                          <p:val>
                                            <p:strVal val="#ppt_x"/>
                                          </p:val>
                                        </p:tav>
                                      </p:tavLst>
                                    </p:anim>
                                    <p:anim calcmode="lin" valueType="num">
                                      <p:cBhvr additive="base">
                                        <p:cTn id="131" dur="4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2" grpId="0"/>
      <p:bldP spid="90" grpId="0"/>
      <p:bldP spid="92" grpId="0"/>
      <p:bldP spid="95" grpId="0"/>
      <p:bldP spid="97" grpId="0"/>
      <p:bldP spid="100" grpId="0"/>
      <p:bldP spid="102" grpId="0"/>
      <p:bldP spid="32" grpId="0"/>
      <p:bldP spid="29" grpId="0"/>
      <p:bldP spid="33" grpId="0"/>
      <p:bldP spid="34" grpId="0"/>
      <p:bldP spid="36" grpId="0"/>
      <p:bldP spid="28" grpId="0"/>
      <p:bldP spid="38" grpId="0"/>
      <p:bldP spid="39" grpId="0"/>
      <p:bldP spid="4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圆角矩形 21"/>
          <p:cNvSpPr/>
          <p:nvPr/>
        </p:nvSpPr>
        <p:spPr>
          <a:xfrm>
            <a:off x="2548034" y="1881636"/>
            <a:ext cx="5434971" cy="972094"/>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endParaRPr lang="zh-CN" altLang="en-US" sz="1575"/>
          </a:p>
        </p:txBody>
      </p:sp>
      <p:sp>
        <p:nvSpPr>
          <p:cNvPr id="23" name="六边形 22"/>
          <p:cNvSpPr/>
          <p:nvPr/>
        </p:nvSpPr>
        <p:spPr>
          <a:xfrm>
            <a:off x="3187187" y="1743868"/>
            <a:ext cx="3978683" cy="337269"/>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350" dirty="0">
                <a:latin typeface="微软雅黑" panose="020B0503020204020204" pitchFamily="34" charset="-122"/>
                <a:ea typeface="微软雅黑" panose="020B0503020204020204" pitchFamily="34" charset="-122"/>
              </a:rPr>
              <a:t>学习目标</a:t>
            </a:r>
            <a:r>
              <a:rPr lang="en-US" altLang="zh-CN" sz="1350" dirty="0">
                <a:latin typeface="微软雅黑" panose="020B0503020204020204" pitchFamily="34" charset="-122"/>
                <a:ea typeface="微软雅黑" panose="020B0503020204020204" pitchFamily="34" charset="-122"/>
              </a:rPr>
              <a:t>1</a:t>
            </a:r>
            <a:endParaRPr lang="zh-CN" altLang="en-US" sz="1350" dirty="0">
              <a:latin typeface="微软雅黑" panose="020B0503020204020204" pitchFamily="34" charset="-122"/>
              <a:ea typeface="微软雅黑" panose="020B0503020204020204" pitchFamily="34" charset="-122"/>
            </a:endParaRPr>
          </a:p>
        </p:txBody>
      </p:sp>
      <p:sp>
        <p:nvSpPr>
          <p:cNvPr id="24" name="六边形 23"/>
          <p:cNvSpPr/>
          <p:nvPr/>
        </p:nvSpPr>
        <p:spPr>
          <a:xfrm>
            <a:off x="396330" y="3357786"/>
            <a:ext cx="1190654" cy="1026664"/>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800" dirty="0">
                <a:latin typeface="微软雅黑" panose="020B0503020204020204" pitchFamily="34" charset="-122"/>
                <a:ea typeface="微软雅黑" panose="020B0503020204020204" pitchFamily="34" charset="-122"/>
              </a:rPr>
              <a:t>学习目标</a:t>
            </a:r>
            <a:endParaRPr lang="zh-CN" altLang="en-US" sz="1800" dirty="0">
              <a:latin typeface="微软雅黑" panose="020B0503020204020204" pitchFamily="34" charset="-122"/>
              <a:ea typeface="微软雅黑" panose="020B0503020204020204" pitchFamily="34" charset="-122"/>
            </a:endParaRPr>
          </a:p>
        </p:txBody>
      </p:sp>
      <p:cxnSp>
        <p:nvCxnSpPr>
          <p:cNvPr id="25" name="直接箭头连接符 24"/>
          <p:cNvCxnSpPr>
            <a:stCxn id="24" idx="5"/>
            <a:endCxn id="22" idx="1"/>
          </p:cNvCxnSpPr>
          <p:nvPr/>
        </p:nvCxnSpPr>
        <p:spPr>
          <a:xfrm flipV="1">
            <a:off x="1330318" y="2367683"/>
            <a:ext cx="1217716" cy="990103"/>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24" idx="1"/>
            <a:endCxn id="29" idx="1"/>
          </p:cNvCxnSpPr>
          <p:nvPr/>
        </p:nvCxnSpPr>
        <p:spPr>
          <a:xfrm>
            <a:off x="1330318" y="4384450"/>
            <a:ext cx="1217716" cy="1181328"/>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893460" y="2122025"/>
            <a:ext cx="4871059" cy="392460"/>
          </a:xfrm>
          <a:prstGeom prst="rect">
            <a:avLst/>
          </a:prstGeom>
          <a:noFill/>
        </p:spPr>
        <p:txBody>
          <a:bodyPr wrap="square" lIns="68625" tIns="34312" rIns="68625" bIns="34312" rtlCol="0">
            <a:spAutoFit/>
          </a:bodyPr>
          <a:lstStyle/>
          <a:p>
            <a:pPr lvl="0"/>
            <a:r>
              <a:rPr lang="zh-CN" altLang="en-US" dirty="0"/>
              <a:t>了解图像的特征提取的基础知识</a:t>
            </a:r>
            <a:endParaRPr lang="zh-CN" altLang="zh-CN" dirty="0"/>
          </a:p>
        </p:txBody>
      </p:sp>
      <p:sp>
        <p:nvSpPr>
          <p:cNvPr id="29" name="圆角矩形 28"/>
          <p:cNvSpPr/>
          <p:nvPr/>
        </p:nvSpPr>
        <p:spPr>
          <a:xfrm>
            <a:off x="2548034" y="5079731"/>
            <a:ext cx="5434971" cy="972094"/>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endParaRPr lang="zh-CN" altLang="en-US" sz="1575"/>
          </a:p>
        </p:txBody>
      </p:sp>
      <p:sp>
        <p:nvSpPr>
          <p:cNvPr id="30" name="六边形 29"/>
          <p:cNvSpPr/>
          <p:nvPr/>
        </p:nvSpPr>
        <p:spPr>
          <a:xfrm>
            <a:off x="3187187" y="4941962"/>
            <a:ext cx="3978683" cy="337269"/>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350" dirty="0">
                <a:latin typeface="微软雅黑" panose="020B0503020204020204" pitchFamily="34" charset="-122"/>
                <a:ea typeface="微软雅黑" panose="020B0503020204020204" pitchFamily="34" charset="-122"/>
              </a:rPr>
              <a:t>学习目标</a:t>
            </a:r>
            <a:r>
              <a:rPr lang="en-US" altLang="zh-CN" sz="1350" dirty="0">
                <a:latin typeface="微软雅黑" panose="020B0503020204020204" pitchFamily="34" charset="-122"/>
                <a:ea typeface="微软雅黑" panose="020B0503020204020204" pitchFamily="34" charset="-122"/>
              </a:rPr>
              <a:t>3</a:t>
            </a:r>
            <a:endParaRPr lang="zh-CN" altLang="en-US" sz="1350" dirty="0">
              <a:latin typeface="微软雅黑" panose="020B0503020204020204" pitchFamily="34" charset="-122"/>
              <a:ea typeface="微软雅黑" panose="020B0503020204020204" pitchFamily="34" charset="-122"/>
            </a:endParaRPr>
          </a:p>
        </p:txBody>
      </p:sp>
      <p:sp>
        <p:nvSpPr>
          <p:cNvPr id="31" name="TextBox 30"/>
          <p:cNvSpPr txBox="1"/>
          <p:nvPr/>
        </p:nvSpPr>
        <p:spPr>
          <a:xfrm>
            <a:off x="2893461" y="5312662"/>
            <a:ext cx="4920678" cy="392460"/>
          </a:xfrm>
          <a:prstGeom prst="rect">
            <a:avLst/>
          </a:prstGeom>
          <a:noFill/>
        </p:spPr>
        <p:txBody>
          <a:bodyPr wrap="square" lIns="68625" tIns="34312" rIns="68625" bIns="34312" rtlCol="0">
            <a:spAutoFit/>
          </a:bodyPr>
          <a:lstStyle/>
          <a:p>
            <a:pPr lvl="0"/>
            <a:r>
              <a:rPr lang="zh-CN" altLang="en-US" dirty="0"/>
              <a:t>了解模式识别的概念和相关知识</a:t>
            </a:r>
            <a:endParaRPr lang="zh-CN" altLang="zh-CN" dirty="0"/>
          </a:p>
        </p:txBody>
      </p:sp>
      <p:cxnSp>
        <p:nvCxnSpPr>
          <p:cNvPr id="15" name="直接连接符 14"/>
          <p:cNvCxnSpPr/>
          <p:nvPr/>
        </p:nvCxnSpPr>
        <p:spPr>
          <a:xfrm>
            <a:off x="1" y="1539010"/>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16" name="TextBox 43"/>
          <p:cNvSpPr txBox="1">
            <a:spLocks noChangeArrowheads="1"/>
          </p:cNvSpPr>
          <p:nvPr/>
        </p:nvSpPr>
        <p:spPr bwMode="auto">
          <a:xfrm>
            <a:off x="1838129" y="776842"/>
            <a:ext cx="3061562" cy="58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pPr indent="304800" algn="just">
              <a:lnSpc>
                <a:spcPct val="150000"/>
              </a:lnSpc>
            </a:pPr>
            <a:r>
              <a:rPr lang="zh-CN" altLang="zh-CN" sz="2400" dirty="0">
                <a:latin typeface="Eras Bold ITC" panose="020B0907030504020204" pitchFamily="34" charset="0"/>
              </a:rPr>
              <a:t>本章学习目标</a:t>
            </a:r>
            <a:endParaRPr lang="zh-CN" altLang="zh-CN" sz="2400" dirty="0">
              <a:latin typeface="Eras Bold ITC" panose="020B0907030504020204" pitchFamily="34" charset="0"/>
            </a:endParaRPr>
          </a:p>
        </p:txBody>
      </p:sp>
      <p:sp>
        <p:nvSpPr>
          <p:cNvPr id="17" name="燕尾形 16"/>
          <p:cNvSpPr/>
          <p:nvPr/>
        </p:nvSpPr>
        <p:spPr>
          <a:xfrm>
            <a:off x="1190107" y="85666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18" name="TextBox 7"/>
          <p:cNvSpPr txBox="1"/>
          <p:nvPr/>
        </p:nvSpPr>
        <p:spPr>
          <a:xfrm>
            <a:off x="142957" y="992251"/>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34" name="圆角矩形 21"/>
          <p:cNvSpPr/>
          <p:nvPr/>
        </p:nvSpPr>
        <p:spPr>
          <a:xfrm>
            <a:off x="2551332" y="3393804"/>
            <a:ext cx="5434971" cy="972094"/>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endParaRPr lang="zh-CN" altLang="en-US" sz="1575"/>
          </a:p>
        </p:txBody>
      </p:sp>
      <p:sp>
        <p:nvSpPr>
          <p:cNvPr id="35" name="六边形 34"/>
          <p:cNvSpPr/>
          <p:nvPr/>
        </p:nvSpPr>
        <p:spPr>
          <a:xfrm>
            <a:off x="3190485" y="3256036"/>
            <a:ext cx="3978683" cy="337269"/>
          </a:xfrm>
          <a:prstGeom prst="hexago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350" dirty="0">
                <a:latin typeface="微软雅黑" panose="020B0503020204020204" pitchFamily="34" charset="-122"/>
                <a:ea typeface="微软雅黑" panose="020B0503020204020204" pitchFamily="34" charset="-122"/>
              </a:rPr>
              <a:t>学习目标</a:t>
            </a:r>
            <a:r>
              <a:rPr lang="en-US" altLang="zh-CN" sz="1350" dirty="0">
                <a:latin typeface="微软雅黑" panose="020B0503020204020204" pitchFamily="34" charset="-122"/>
                <a:ea typeface="微软雅黑" panose="020B0503020204020204" pitchFamily="34" charset="-122"/>
              </a:rPr>
              <a:t>2</a:t>
            </a:r>
            <a:endParaRPr lang="zh-CN" altLang="en-US" sz="1350" dirty="0">
              <a:latin typeface="微软雅黑" panose="020B0503020204020204" pitchFamily="34" charset="-122"/>
              <a:ea typeface="微软雅黑" panose="020B0503020204020204" pitchFamily="34" charset="-122"/>
            </a:endParaRPr>
          </a:p>
        </p:txBody>
      </p:sp>
      <p:cxnSp>
        <p:nvCxnSpPr>
          <p:cNvPr id="36" name="直接箭头连接符 35"/>
          <p:cNvCxnSpPr>
            <a:stCxn id="24" idx="0"/>
            <a:endCxn id="34" idx="1"/>
          </p:cNvCxnSpPr>
          <p:nvPr/>
        </p:nvCxnSpPr>
        <p:spPr>
          <a:xfrm>
            <a:off x="1586984" y="3871118"/>
            <a:ext cx="964348" cy="8733"/>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sp>
        <p:nvSpPr>
          <p:cNvPr id="37" name="TextBox 27"/>
          <p:cNvSpPr txBox="1"/>
          <p:nvPr/>
        </p:nvSpPr>
        <p:spPr>
          <a:xfrm>
            <a:off x="2896758" y="3634193"/>
            <a:ext cx="4871059" cy="392460"/>
          </a:xfrm>
          <a:prstGeom prst="rect">
            <a:avLst/>
          </a:prstGeom>
          <a:noFill/>
        </p:spPr>
        <p:txBody>
          <a:bodyPr wrap="square" lIns="68625" tIns="34312" rIns="68625" bIns="34312" rtlCol="0">
            <a:spAutoFit/>
          </a:bodyPr>
          <a:lstStyle/>
          <a:p>
            <a:pPr lvl="0"/>
            <a:r>
              <a:rPr lang="zh-CN" altLang="en-US" dirty="0"/>
              <a:t>了解图像的特征提取的基础知识</a:t>
            </a:r>
            <a:endParaRPr lang="zh-CN" altLang="zh-CN" dirty="0"/>
          </a:p>
        </p:txBody>
      </p:sp>
    </p:spTree>
  </p:cSld>
  <p:clrMapOvr>
    <a:masterClrMapping/>
  </p:clrMapOvr>
  <p:transition spd="slow" advClick="0" advTm="0">
    <p:push/>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randombar(horizontal)">
                                          <p:cBhvr>
                                            <p:cTn id="7" dur="500"/>
                                            <p:tgtEl>
                                              <p:spTgt spid="2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par>
                                    <p:cTn id="12" presetID="22" presetClass="entr" presetSubtype="8"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left)">
                                          <p:cBhvr>
                                            <p:cTn id="14" dur="500"/>
                                            <p:tgtEl>
                                              <p:spTgt spid="26"/>
                                            </p:tgtEl>
                                          </p:cBhvr>
                                        </p:animEffect>
                                      </p:childTnLst>
                                    </p:cTn>
                                  </p:par>
                                </p:childTnLst>
                              </p:cTn>
                            </p:par>
                            <p:par>
                              <p:cTn id="15" fill="hold">
                                <p:stCondLst>
                                  <p:cond delay="1000"/>
                                </p:stCondLst>
                                <p:childTnLst>
                                  <p:par>
                                    <p:cTn id="16" presetID="16" presetClass="entr" presetSubtype="37"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barn(outVertical)">
                                          <p:cBhvr>
                                            <p:cTn id="18" dur="500"/>
                                            <p:tgtEl>
                                              <p:spTgt spid="23"/>
                                            </p:tgtEl>
                                          </p:cBhvr>
                                        </p:animEffect>
                                      </p:childTnLst>
                                    </p:cTn>
                                  </p:par>
                                </p:childTnLst>
                              </p:cTn>
                            </p:par>
                            <p:par>
                              <p:cTn id="19" fill="hold">
                                <p:stCondLst>
                                  <p:cond delay="1500"/>
                                </p:stCondLst>
                                <p:childTnLst>
                                  <p:par>
                                    <p:cTn id="20" presetID="2" presetClass="entr" presetSubtype="1" fill="hold" grpId="0" nodeType="afterEffect" p14:presetBounceEnd="50000">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14:bounceEnd="50000">
                                          <p:cBhvr additive="base">
                                            <p:cTn id="22" dur="500" fill="hold"/>
                                            <p:tgtEl>
                                              <p:spTgt spid="22"/>
                                            </p:tgtEl>
                                            <p:attrNameLst>
                                              <p:attrName>ppt_x</p:attrName>
                                            </p:attrNameLst>
                                          </p:cBhvr>
                                          <p:tavLst>
                                            <p:tav tm="0">
                                              <p:val>
                                                <p:strVal val="#ppt_x"/>
                                              </p:val>
                                            </p:tav>
                                            <p:tav tm="100000">
                                              <p:val>
                                                <p:strVal val="#ppt_x"/>
                                              </p:val>
                                            </p:tav>
                                          </p:tavLst>
                                        </p:anim>
                                        <p:anim calcmode="lin" valueType="num" p14:bounceEnd="50000">
                                          <p:cBhvr additive="base">
                                            <p:cTn id="23" dur="500" fill="hold"/>
                                            <p:tgtEl>
                                              <p:spTgt spid="22"/>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1000"/>
                                            <p:tgtEl>
                                              <p:spTgt spid="28"/>
                                            </p:tgtEl>
                                          </p:cBhvr>
                                        </p:animEffect>
                                      </p:childTnLst>
                                    </p:cTn>
                                  </p:par>
                                </p:childTnLst>
                              </p:cTn>
                            </p:par>
                            <p:par>
                              <p:cTn id="28" fill="hold">
                                <p:stCondLst>
                                  <p:cond delay="3000"/>
                                </p:stCondLst>
                                <p:childTnLst>
                                  <p:par>
                                    <p:cTn id="29" presetID="16" presetClass="entr" presetSubtype="37"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arn(outVertical)">
                                          <p:cBhvr>
                                            <p:cTn id="31" dur="500"/>
                                            <p:tgtEl>
                                              <p:spTgt spid="30"/>
                                            </p:tgtEl>
                                          </p:cBhvr>
                                        </p:animEffect>
                                      </p:childTnLst>
                                    </p:cTn>
                                  </p:par>
                                </p:childTnLst>
                              </p:cTn>
                            </p:par>
                            <p:par>
                              <p:cTn id="32" fill="hold">
                                <p:stCondLst>
                                  <p:cond delay="3500"/>
                                </p:stCondLst>
                                <p:childTnLst>
                                  <p:par>
                                    <p:cTn id="33" presetID="2" presetClass="entr" presetSubtype="1" fill="hold" grpId="0" nodeType="afterEffect" p14:presetBounceEnd="50000">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14:bounceEnd="50000">
                                          <p:cBhvr additive="base">
                                            <p:cTn id="35" dur="500" fill="hold"/>
                                            <p:tgtEl>
                                              <p:spTgt spid="29"/>
                                            </p:tgtEl>
                                            <p:attrNameLst>
                                              <p:attrName>ppt_x</p:attrName>
                                            </p:attrNameLst>
                                          </p:cBhvr>
                                          <p:tavLst>
                                            <p:tav tm="0">
                                              <p:val>
                                                <p:strVal val="#ppt_x"/>
                                              </p:val>
                                            </p:tav>
                                            <p:tav tm="100000">
                                              <p:val>
                                                <p:strVal val="#ppt_x"/>
                                              </p:val>
                                            </p:tav>
                                          </p:tavLst>
                                        </p:anim>
                                        <p:anim calcmode="lin" valueType="num" p14:bounceEnd="50000">
                                          <p:cBhvr additive="base">
                                            <p:cTn id="36" dur="500" fill="hold"/>
                                            <p:tgtEl>
                                              <p:spTgt spid="29"/>
                                            </p:tgtEl>
                                            <p:attrNameLst>
                                              <p:attrName>ppt_y</p:attrName>
                                            </p:attrNameLst>
                                          </p:cBhvr>
                                          <p:tavLst>
                                            <p:tav tm="0">
                                              <p:val>
                                                <p:strVal val="0-#ppt_h/2"/>
                                              </p:val>
                                            </p:tav>
                                            <p:tav tm="100000">
                                              <p:val>
                                                <p:strVal val="#ppt_y"/>
                                              </p:val>
                                            </p:tav>
                                          </p:tavLst>
                                        </p:anim>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1000"/>
                                            <p:tgtEl>
                                              <p:spTgt spid="31"/>
                                            </p:tgtEl>
                                          </p:cBhvr>
                                        </p:animEffect>
                                      </p:childTnLst>
                                    </p:cTn>
                                  </p:par>
                                </p:childTnLst>
                              </p:cTn>
                            </p:par>
                            <p:par>
                              <p:cTn id="41" fill="hold">
                                <p:stCondLst>
                                  <p:cond delay="5000"/>
                                </p:stCondLst>
                                <p:childTnLst>
                                  <p:par>
                                    <p:cTn id="42" presetID="22" presetClass="entr" presetSubtype="8" fill="hold" nodeType="after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wipe(left)">
                                          <p:cBhvr>
                                            <p:cTn id="44" dur="500"/>
                                            <p:tgtEl>
                                              <p:spTgt spid="36"/>
                                            </p:tgtEl>
                                          </p:cBhvr>
                                        </p:animEffect>
                                      </p:childTnLst>
                                    </p:cTn>
                                  </p:par>
                                </p:childTnLst>
                              </p:cTn>
                            </p:par>
                            <p:par>
                              <p:cTn id="45" fill="hold">
                                <p:stCondLst>
                                  <p:cond delay="5500"/>
                                </p:stCondLst>
                                <p:childTnLst>
                                  <p:par>
                                    <p:cTn id="46" presetID="16" presetClass="entr" presetSubtype="37" fill="hold" grpId="0" nodeType="after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barn(outVertical)">
                                          <p:cBhvr>
                                            <p:cTn id="48" dur="500"/>
                                            <p:tgtEl>
                                              <p:spTgt spid="35"/>
                                            </p:tgtEl>
                                          </p:cBhvr>
                                        </p:animEffect>
                                      </p:childTnLst>
                                    </p:cTn>
                                  </p:par>
                                </p:childTnLst>
                              </p:cTn>
                            </p:par>
                            <p:par>
                              <p:cTn id="49" fill="hold">
                                <p:stCondLst>
                                  <p:cond delay="6000"/>
                                </p:stCondLst>
                                <p:childTnLst>
                                  <p:par>
                                    <p:cTn id="50" presetID="2" presetClass="entr" presetSubtype="1" fill="hold" grpId="0" nodeType="afterEffect" p14:presetBounceEnd="50000">
                                      <p:stCondLst>
                                        <p:cond delay="0"/>
                                      </p:stCondLst>
                                      <p:childTnLst>
                                        <p:set>
                                          <p:cBhvr>
                                            <p:cTn id="51" dur="1" fill="hold">
                                              <p:stCondLst>
                                                <p:cond delay="0"/>
                                              </p:stCondLst>
                                            </p:cTn>
                                            <p:tgtEl>
                                              <p:spTgt spid="34"/>
                                            </p:tgtEl>
                                            <p:attrNameLst>
                                              <p:attrName>style.visibility</p:attrName>
                                            </p:attrNameLst>
                                          </p:cBhvr>
                                          <p:to>
                                            <p:strVal val="visible"/>
                                          </p:to>
                                        </p:set>
                                        <p:anim calcmode="lin" valueType="num" p14:bounceEnd="50000">
                                          <p:cBhvr additive="base">
                                            <p:cTn id="52" dur="500" fill="hold"/>
                                            <p:tgtEl>
                                              <p:spTgt spid="34"/>
                                            </p:tgtEl>
                                            <p:attrNameLst>
                                              <p:attrName>ppt_x</p:attrName>
                                            </p:attrNameLst>
                                          </p:cBhvr>
                                          <p:tavLst>
                                            <p:tav tm="0">
                                              <p:val>
                                                <p:strVal val="#ppt_x"/>
                                              </p:val>
                                            </p:tav>
                                            <p:tav tm="100000">
                                              <p:val>
                                                <p:strVal val="#ppt_x"/>
                                              </p:val>
                                            </p:tav>
                                          </p:tavLst>
                                        </p:anim>
                                        <p:anim calcmode="lin" valueType="num" p14:bounceEnd="50000">
                                          <p:cBhvr additive="base">
                                            <p:cTn id="53" dur="500" fill="hold"/>
                                            <p:tgtEl>
                                              <p:spTgt spid="34"/>
                                            </p:tgtEl>
                                            <p:attrNameLst>
                                              <p:attrName>ppt_y</p:attrName>
                                            </p:attrNameLst>
                                          </p:cBhvr>
                                          <p:tavLst>
                                            <p:tav tm="0">
                                              <p:val>
                                                <p:strVal val="0-#ppt_h/2"/>
                                              </p:val>
                                            </p:tav>
                                            <p:tav tm="100000">
                                              <p:val>
                                                <p:strVal val="#ppt_y"/>
                                              </p:val>
                                            </p:tav>
                                          </p:tavLst>
                                        </p:anim>
                                      </p:childTnLst>
                                    </p:cTn>
                                  </p:par>
                                </p:childTnLst>
                              </p:cTn>
                            </p:par>
                            <p:par>
                              <p:cTn id="54" fill="hold">
                                <p:stCondLst>
                                  <p:cond delay="6500"/>
                                </p:stCondLst>
                                <p:childTnLst>
                                  <p:par>
                                    <p:cTn id="55" presetID="22" presetClass="entr" presetSubtype="8" fill="hold" grpId="0" nodeType="after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wipe(left)">
                                          <p:cBhvr>
                                            <p:cTn id="57"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8" grpId="0"/>
          <p:bldP spid="29" grpId="0" animBg="1"/>
          <p:bldP spid="30" grpId="0" animBg="1"/>
          <p:bldP spid="31" grpId="0"/>
          <p:bldP spid="34" grpId="0" animBg="1"/>
          <p:bldP spid="35" grpId="0" animBg="1"/>
          <p:bldP spid="3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randombar(horizontal)">
                                          <p:cBhvr>
                                            <p:cTn id="7" dur="500"/>
                                            <p:tgtEl>
                                              <p:spTgt spid="2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par>
                                    <p:cTn id="12" presetID="22" presetClass="entr" presetSubtype="8"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left)">
                                          <p:cBhvr>
                                            <p:cTn id="14" dur="500"/>
                                            <p:tgtEl>
                                              <p:spTgt spid="26"/>
                                            </p:tgtEl>
                                          </p:cBhvr>
                                        </p:animEffect>
                                      </p:childTnLst>
                                    </p:cTn>
                                  </p:par>
                                </p:childTnLst>
                              </p:cTn>
                            </p:par>
                            <p:par>
                              <p:cTn id="15" fill="hold">
                                <p:stCondLst>
                                  <p:cond delay="1000"/>
                                </p:stCondLst>
                                <p:childTnLst>
                                  <p:par>
                                    <p:cTn id="16" presetID="16" presetClass="entr" presetSubtype="37"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barn(outVertical)">
                                          <p:cBhvr>
                                            <p:cTn id="18" dur="500"/>
                                            <p:tgtEl>
                                              <p:spTgt spid="23"/>
                                            </p:tgtEl>
                                          </p:cBhvr>
                                        </p:animEffect>
                                      </p:childTnLst>
                                    </p:cTn>
                                  </p:par>
                                </p:childTnLst>
                              </p:cTn>
                            </p:par>
                            <p:par>
                              <p:cTn id="19" fill="hold">
                                <p:stCondLst>
                                  <p:cond delay="1500"/>
                                </p:stCondLst>
                                <p:childTnLst>
                                  <p:par>
                                    <p:cTn id="20" presetID="2" presetClass="entr" presetSubtype="1"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500" fill="hold"/>
                                            <p:tgtEl>
                                              <p:spTgt spid="22"/>
                                            </p:tgtEl>
                                            <p:attrNameLst>
                                              <p:attrName>ppt_x</p:attrName>
                                            </p:attrNameLst>
                                          </p:cBhvr>
                                          <p:tavLst>
                                            <p:tav tm="0">
                                              <p:val>
                                                <p:strVal val="#ppt_x"/>
                                              </p:val>
                                            </p:tav>
                                            <p:tav tm="100000">
                                              <p:val>
                                                <p:strVal val="#ppt_x"/>
                                              </p:val>
                                            </p:tav>
                                          </p:tavLst>
                                        </p:anim>
                                        <p:anim calcmode="lin" valueType="num">
                                          <p:cBhvr additive="base">
                                            <p:cTn id="23" dur="500" fill="hold"/>
                                            <p:tgtEl>
                                              <p:spTgt spid="22"/>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1000"/>
                                            <p:tgtEl>
                                              <p:spTgt spid="28"/>
                                            </p:tgtEl>
                                          </p:cBhvr>
                                        </p:animEffect>
                                      </p:childTnLst>
                                    </p:cTn>
                                  </p:par>
                                </p:childTnLst>
                              </p:cTn>
                            </p:par>
                            <p:par>
                              <p:cTn id="28" fill="hold">
                                <p:stCondLst>
                                  <p:cond delay="3000"/>
                                </p:stCondLst>
                                <p:childTnLst>
                                  <p:par>
                                    <p:cTn id="29" presetID="16" presetClass="entr" presetSubtype="37"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arn(outVertical)">
                                          <p:cBhvr>
                                            <p:cTn id="31" dur="500"/>
                                            <p:tgtEl>
                                              <p:spTgt spid="30"/>
                                            </p:tgtEl>
                                          </p:cBhvr>
                                        </p:animEffect>
                                      </p:childTnLst>
                                    </p:cTn>
                                  </p:par>
                                </p:childTnLst>
                              </p:cTn>
                            </p:par>
                            <p:par>
                              <p:cTn id="32" fill="hold">
                                <p:stCondLst>
                                  <p:cond delay="3500"/>
                                </p:stCondLst>
                                <p:childTnLst>
                                  <p:par>
                                    <p:cTn id="33" presetID="2" presetClass="entr" presetSubtype="1"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500" fill="hold"/>
                                            <p:tgtEl>
                                              <p:spTgt spid="29"/>
                                            </p:tgtEl>
                                            <p:attrNameLst>
                                              <p:attrName>ppt_x</p:attrName>
                                            </p:attrNameLst>
                                          </p:cBhvr>
                                          <p:tavLst>
                                            <p:tav tm="0">
                                              <p:val>
                                                <p:strVal val="#ppt_x"/>
                                              </p:val>
                                            </p:tav>
                                            <p:tav tm="100000">
                                              <p:val>
                                                <p:strVal val="#ppt_x"/>
                                              </p:val>
                                            </p:tav>
                                          </p:tavLst>
                                        </p:anim>
                                        <p:anim calcmode="lin" valueType="num">
                                          <p:cBhvr additive="base">
                                            <p:cTn id="36" dur="500" fill="hold"/>
                                            <p:tgtEl>
                                              <p:spTgt spid="29"/>
                                            </p:tgtEl>
                                            <p:attrNameLst>
                                              <p:attrName>ppt_y</p:attrName>
                                            </p:attrNameLst>
                                          </p:cBhvr>
                                          <p:tavLst>
                                            <p:tav tm="0">
                                              <p:val>
                                                <p:strVal val="0-#ppt_h/2"/>
                                              </p:val>
                                            </p:tav>
                                            <p:tav tm="100000">
                                              <p:val>
                                                <p:strVal val="#ppt_y"/>
                                              </p:val>
                                            </p:tav>
                                          </p:tavLst>
                                        </p:anim>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1000"/>
                                            <p:tgtEl>
                                              <p:spTgt spid="31"/>
                                            </p:tgtEl>
                                          </p:cBhvr>
                                        </p:animEffect>
                                      </p:childTnLst>
                                    </p:cTn>
                                  </p:par>
                                </p:childTnLst>
                              </p:cTn>
                            </p:par>
                            <p:par>
                              <p:cTn id="41" fill="hold">
                                <p:stCondLst>
                                  <p:cond delay="5000"/>
                                </p:stCondLst>
                                <p:childTnLst>
                                  <p:par>
                                    <p:cTn id="42" presetID="22" presetClass="entr" presetSubtype="8" fill="hold" nodeType="after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wipe(left)">
                                          <p:cBhvr>
                                            <p:cTn id="44" dur="500"/>
                                            <p:tgtEl>
                                              <p:spTgt spid="36"/>
                                            </p:tgtEl>
                                          </p:cBhvr>
                                        </p:animEffect>
                                      </p:childTnLst>
                                    </p:cTn>
                                  </p:par>
                                </p:childTnLst>
                              </p:cTn>
                            </p:par>
                            <p:par>
                              <p:cTn id="45" fill="hold">
                                <p:stCondLst>
                                  <p:cond delay="5500"/>
                                </p:stCondLst>
                                <p:childTnLst>
                                  <p:par>
                                    <p:cTn id="46" presetID="16" presetClass="entr" presetSubtype="37" fill="hold" grpId="0" nodeType="after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barn(outVertical)">
                                          <p:cBhvr>
                                            <p:cTn id="48" dur="500"/>
                                            <p:tgtEl>
                                              <p:spTgt spid="35"/>
                                            </p:tgtEl>
                                          </p:cBhvr>
                                        </p:animEffect>
                                      </p:childTnLst>
                                    </p:cTn>
                                  </p:par>
                                </p:childTnLst>
                              </p:cTn>
                            </p:par>
                            <p:par>
                              <p:cTn id="49" fill="hold">
                                <p:stCondLst>
                                  <p:cond delay="6000"/>
                                </p:stCondLst>
                                <p:childTnLst>
                                  <p:par>
                                    <p:cTn id="50" presetID="2" presetClass="entr" presetSubtype="1" fill="hold" grpId="0" nodeType="afterEffect">
                                      <p:stCondLst>
                                        <p:cond delay="0"/>
                                      </p:stCondLst>
                                      <p:childTnLst>
                                        <p:set>
                                          <p:cBhvr>
                                            <p:cTn id="51" dur="1" fill="hold">
                                              <p:stCondLst>
                                                <p:cond delay="0"/>
                                              </p:stCondLst>
                                            </p:cTn>
                                            <p:tgtEl>
                                              <p:spTgt spid="34"/>
                                            </p:tgtEl>
                                            <p:attrNameLst>
                                              <p:attrName>style.visibility</p:attrName>
                                            </p:attrNameLst>
                                          </p:cBhvr>
                                          <p:to>
                                            <p:strVal val="visible"/>
                                          </p:to>
                                        </p:set>
                                        <p:anim calcmode="lin" valueType="num">
                                          <p:cBhvr additive="base">
                                            <p:cTn id="52" dur="500" fill="hold"/>
                                            <p:tgtEl>
                                              <p:spTgt spid="34"/>
                                            </p:tgtEl>
                                            <p:attrNameLst>
                                              <p:attrName>ppt_x</p:attrName>
                                            </p:attrNameLst>
                                          </p:cBhvr>
                                          <p:tavLst>
                                            <p:tav tm="0">
                                              <p:val>
                                                <p:strVal val="#ppt_x"/>
                                              </p:val>
                                            </p:tav>
                                            <p:tav tm="100000">
                                              <p:val>
                                                <p:strVal val="#ppt_x"/>
                                              </p:val>
                                            </p:tav>
                                          </p:tavLst>
                                        </p:anim>
                                        <p:anim calcmode="lin" valueType="num">
                                          <p:cBhvr additive="base">
                                            <p:cTn id="53" dur="500" fill="hold"/>
                                            <p:tgtEl>
                                              <p:spTgt spid="34"/>
                                            </p:tgtEl>
                                            <p:attrNameLst>
                                              <p:attrName>ppt_y</p:attrName>
                                            </p:attrNameLst>
                                          </p:cBhvr>
                                          <p:tavLst>
                                            <p:tav tm="0">
                                              <p:val>
                                                <p:strVal val="0-#ppt_h/2"/>
                                              </p:val>
                                            </p:tav>
                                            <p:tav tm="100000">
                                              <p:val>
                                                <p:strVal val="#ppt_y"/>
                                              </p:val>
                                            </p:tav>
                                          </p:tavLst>
                                        </p:anim>
                                      </p:childTnLst>
                                    </p:cTn>
                                  </p:par>
                                </p:childTnLst>
                              </p:cTn>
                            </p:par>
                            <p:par>
                              <p:cTn id="54" fill="hold">
                                <p:stCondLst>
                                  <p:cond delay="6500"/>
                                </p:stCondLst>
                                <p:childTnLst>
                                  <p:par>
                                    <p:cTn id="55" presetID="22" presetClass="entr" presetSubtype="8" fill="hold" grpId="0" nodeType="after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wipe(left)">
                                          <p:cBhvr>
                                            <p:cTn id="57"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8" grpId="0"/>
          <p:bldP spid="29" grpId="0" animBg="1"/>
          <p:bldP spid="30" grpId="0" animBg="1"/>
          <p:bldP spid="31" grpId="0"/>
          <p:bldP spid="34" grpId="0" animBg="1"/>
          <p:bldP spid="35" grpId="0" animBg="1"/>
          <p:bldP spid="37"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18434"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18436"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8437" name="文本框 1"/>
          <p:cNvSpPr txBox="1"/>
          <p:nvPr/>
        </p:nvSpPr>
        <p:spPr>
          <a:xfrm>
            <a:off x="2124075" y="1520825"/>
            <a:ext cx="4670425" cy="414338"/>
          </a:xfrm>
          <a:prstGeom prst="rect">
            <a:avLst/>
          </a:prstGeom>
          <a:noFill/>
          <a:ln w="9525">
            <a:noFill/>
          </a:ln>
        </p:spPr>
        <p:txBody>
          <a:bodyPr wrap="square" anchor="t" anchorCtr="0">
            <a:spAutoFit/>
          </a:bodyPr>
          <a:lstStyle/>
          <a:p>
            <a:pPr algn="ctr"/>
            <a:r>
              <a:rPr lang="en-US" altLang="zh-CN">
                <a:latin typeface="Calibri"/>
                <a:ea typeface="宋体" pitchFamily="2" charset="-122"/>
              </a:rPr>
              <a:t>OpenCV</a:t>
            </a:r>
            <a:r>
              <a:rPr lang="zh-CN" altLang="en-US">
                <a:latin typeface="Calibri"/>
                <a:ea typeface="宋体" pitchFamily="2" charset="-122"/>
              </a:rPr>
              <a:t>特征的应用场景</a:t>
            </a:r>
            <a:endParaRPr lang="zh-CN" altLang="en-US">
              <a:latin typeface="Calibri"/>
              <a:ea typeface="宋体" pitchFamily="2" charset="-122"/>
            </a:endParaRPr>
          </a:p>
        </p:txBody>
      </p:sp>
      <p:sp>
        <p:nvSpPr>
          <p:cNvPr id="18438" name="文本框 2"/>
          <p:cNvSpPr txBox="1"/>
          <p:nvPr/>
        </p:nvSpPr>
        <p:spPr>
          <a:xfrm>
            <a:off x="1398588" y="2278063"/>
            <a:ext cx="5886450" cy="736600"/>
          </a:xfrm>
          <a:prstGeom prst="rect">
            <a:avLst/>
          </a:prstGeom>
          <a:noFill/>
          <a:ln w="9525">
            <a:noFill/>
          </a:ln>
        </p:spPr>
        <p:txBody>
          <a:bodyPr wrap="square" anchor="t" anchorCtr="0">
            <a:spAutoFit/>
          </a:bodyPr>
          <a:lstStyle/>
          <a:p>
            <a:pPr marL="342900" indent="-342900">
              <a:buFont typeface="Wingdings" panose="05000000000000000000" charset="0"/>
              <a:buChar char=""/>
            </a:pPr>
            <a:r>
              <a:rPr lang="zh-CN" altLang="en-US">
                <a:latin typeface="Calibri"/>
                <a:ea typeface="宋体" pitchFamily="2" charset="-122"/>
              </a:rPr>
              <a:t>图像搜索，如以图搜图</a:t>
            </a:r>
            <a:endParaRPr lang="zh-CN" altLang="en-US">
              <a:latin typeface="Calibri"/>
              <a:ea typeface="宋体" pitchFamily="2" charset="-122"/>
            </a:endParaRPr>
          </a:p>
          <a:p>
            <a:pPr marL="342900" indent="-342900">
              <a:buFont typeface="Wingdings" panose="05000000000000000000" charset="0"/>
              <a:buChar char=""/>
            </a:pPr>
            <a:endParaRPr lang="zh-CN" altLang="en-US">
              <a:latin typeface="Calibri"/>
              <a:ea typeface="宋体" pitchFamily="2" charset="-122"/>
            </a:endParaRPr>
          </a:p>
        </p:txBody>
      </p:sp>
    </p:spTree>
  </p:cSld>
  <p:clrMapOvr>
    <a:masterClrMapping/>
  </p:clrMapOvr>
  <p:transition spd="slow" advClick="0" advTm="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20482"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20484"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pic>
        <p:nvPicPr>
          <p:cNvPr id="20485" name="图片 1"/>
          <p:cNvPicPr>
            <a:picLocks noChangeAspect="1"/>
          </p:cNvPicPr>
          <p:nvPr>
            <p:custDataLst>
              <p:tags r:id="rId1"/>
            </p:custDataLst>
          </p:nvPr>
        </p:nvPicPr>
        <p:blipFill>
          <a:blip r:embed="rId2"/>
          <a:stretch>
            <a:fillRect/>
          </a:stretch>
        </p:blipFill>
        <p:spPr>
          <a:xfrm>
            <a:off x="9525" y="1557338"/>
            <a:ext cx="9144000" cy="5167312"/>
          </a:xfrm>
          <a:prstGeom prst="rect">
            <a:avLst/>
          </a:prstGeom>
          <a:noFill/>
          <a:ln w="9525">
            <a:noFill/>
          </a:ln>
        </p:spPr>
      </p:pic>
      <p:sp>
        <p:nvSpPr>
          <p:cNvPr id="20486" name="文本框 2"/>
          <p:cNvSpPr txBox="1"/>
          <p:nvPr/>
        </p:nvSpPr>
        <p:spPr>
          <a:xfrm>
            <a:off x="3048000" y="1163638"/>
            <a:ext cx="3048000" cy="414337"/>
          </a:xfrm>
          <a:prstGeom prst="rect">
            <a:avLst/>
          </a:prstGeom>
          <a:noFill/>
          <a:ln w="9525">
            <a:noFill/>
          </a:ln>
        </p:spPr>
        <p:txBody>
          <a:bodyPr wrap="square" anchor="t" anchorCtr="0">
            <a:spAutoFit/>
          </a:bodyPr>
          <a:lstStyle/>
          <a:p>
            <a:pPr algn="ctr"/>
            <a:r>
              <a:rPr lang="zh-CN" altLang="en-US">
                <a:latin typeface="Calibri"/>
                <a:ea typeface="宋体" pitchFamily="2" charset="-122"/>
              </a:rPr>
              <a:t>图像搜索</a:t>
            </a:r>
            <a:endParaRPr lang="zh-CN" altLang="en-US">
              <a:latin typeface="Calibri"/>
              <a:ea typeface="宋体" pitchFamily="2" charset="-122"/>
            </a:endParaRPr>
          </a:p>
        </p:txBody>
      </p:sp>
    </p:spTree>
  </p:cSld>
  <p:clrMapOvr>
    <a:masterClrMapping/>
  </p:clrMapOvr>
  <p:transition spd="slow" advClick="0" advTm="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22530"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22532"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pic>
        <p:nvPicPr>
          <p:cNvPr id="22533" name="图片 3"/>
          <p:cNvPicPr>
            <a:picLocks noChangeAspect="1"/>
          </p:cNvPicPr>
          <p:nvPr>
            <p:custDataLst>
              <p:tags r:id="rId1"/>
            </p:custDataLst>
          </p:nvPr>
        </p:nvPicPr>
        <p:blipFill>
          <a:blip r:embed="rId2"/>
          <a:stretch>
            <a:fillRect/>
          </a:stretch>
        </p:blipFill>
        <p:spPr>
          <a:xfrm>
            <a:off x="4429125" y="1203325"/>
            <a:ext cx="4437063" cy="5264150"/>
          </a:xfrm>
          <a:prstGeom prst="rect">
            <a:avLst/>
          </a:prstGeom>
          <a:noFill/>
          <a:ln w="9525">
            <a:noFill/>
          </a:ln>
        </p:spPr>
      </p:pic>
      <p:pic>
        <p:nvPicPr>
          <p:cNvPr id="22534" name="图片 4"/>
          <p:cNvPicPr>
            <a:picLocks noChangeAspect="1"/>
          </p:cNvPicPr>
          <p:nvPr>
            <p:custDataLst>
              <p:tags r:id="rId3"/>
            </p:custDataLst>
          </p:nvPr>
        </p:nvPicPr>
        <p:blipFill>
          <a:blip r:embed="rId4"/>
          <a:stretch>
            <a:fillRect/>
          </a:stretch>
        </p:blipFill>
        <p:spPr>
          <a:xfrm>
            <a:off x="396875" y="2133600"/>
            <a:ext cx="3422650" cy="3638550"/>
          </a:xfrm>
          <a:prstGeom prst="rect">
            <a:avLst/>
          </a:prstGeom>
          <a:noFill/>
          <a:ln w="9525">
            <a:noFill/>
          </a:ln>
        </p:spPr>
      </p:pic>
      <p:sp>
        <p:nvSpPr>
          <p:cNvPr id="22535" name="文本框 5"/>
          <p:cNvSpPr txBox="1"/>
          <p:nvPr/>
        </p:nvSpPr>
        <p:spPr>
          <a:xfrm>
            <a:off x="252413" y="6213475"/>
            <a:ext cx="6605587" cy="522288"/>
          </a:xfrm>
          <a:prstGeom prst="rect">
            <a:avLst/>
          </a:prstGeom>
          <a:noFill/>
          <a:ln w="9525">
            <a:noFill/>
          </a:ln>
        </p:spPr>
        <p:txBody>
          <a:bodyPr wrap="square" anchor="t" anchorCtr="0">
            <a:spAutoFit/>
          </a:bodyPr>
          <a:lstStyle/>
          <a:p>
            <a:r>
              <a:rPr lang="zh-CN" altLang="en-US" sz="1400">
                <a:latin typeface="Calibri"/>
                <a:ea typeface="宋体" pitchFamily="2" charset="-122"/>
              </a:rPr>
              <a:t>基于边缘计算的超市水果智能电子秤https://pdf.hanspub.org/mos2024133_1622571730.pdf</a:t>
            </a:r>
            <a:endParaRPr lang="zh-CN" altLang="en-US" sz="1400">
              <a:latin typeface="Calibri"/>
              <a:ea typeface="宋体" pitchFamily="2" charset="-122"/>
            </a:endParaRPr>
          </a:p>
        </p:txBody>
      </p:sp>
    </p:spTree>
  </p:cSld>
  <p:clrMapOvr>
    <a:masterClrMapping/>
  </p:clrMapOvr>
  <p:transition spd="slow" advClick="0" advTm="0">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24578"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24580"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4581" name="文本框 1"/>
          <p:cNvSpPr txBox="1"/>
          <p:nvPr/>
        </p:nvSpPr>
        <p:spPr>
          <a:xfrm>
            <a:off x="2124075" y="1520825"/>
            <a:ext cx="4670425" cy="414338"/>
          </a:xfrm>
          <a:prstGeom prst="rect">
            <a:avLst/>
          </a:prstGeom>
          <a:noFill/>
          <a:ln w="9525">
            <a:noFill/>
          </a:ln>
        </p:spPr>
        <p:txBody>
          <a:bodyPr wrap="square" anchor="t" anchorCtr="0">
            <a:spAutoFit/>
          </a:bodyPr>
          <a:lstStyle/>
          <a:p>
            <a:pPr algn="ctr"/>
            <a:r>
              <a:rPr lang="en-US" altLang="zh-CN">
                <a:latin typeface="Calibri"/>
                <a:ea typeface="宋体" pitchFamily="2" charset="-122"/>
              </a:rPr>
              <a:t>OpenCV</a:t>
            </a:r>
            <a:r>
              <a:rPr lang="zh-CN" altLang="en-US">
                <a:latin typeface="Calibri"/>
                <a:ea typeface="宋体" pitchFamily="2" charset="-122"/>
              </a:rPr>
              <a:t>特征的应用场景</a:t>
            </a:r>
            <a:endParaRPr lang="zh-CN" altLang="en-US">
              <a:latin typeface="Calibri"/>
              <a:ea typeface="宋体" pitchFamily="2" charset="-122"/>
            </a:endParaRPr>
          </a:p>
        </p:txBody>
      </p:sp>
      <p:sp>
        <p:nvSpPr>
          <p:cNvPr id="24582" name="文本框 2"/>
          <p:cNvSpPr txBox="1"/>
          <p:nvPr/>
        </p:nvSpPr>
        <p:spPr>
          <a:xfrm>
            <a:off x="1398588" y="2278063"/>
            <a:ext cx="5886450" cy="1384995"/>
          </a:xfrm>
          <a:prstGeom prst="rect">
            <a:avLst/>
          </a:prstGeom>
          <a:noFill/>
          <a:ln w="9525">
            <a:noFill/>
          </a:ln>
        </p:spPr>
        <p:txBody>
          <a:bodyPr wrap="square" anchor="t" anchorCtr="0">
            <a:spAutoFit/>
          </a:bodyPr>
          <a:lstStyle/>
          <a:p>
            <a:pPr marL="342900" indent="-342900">
              <a:buFont typeface="Wingdings" panose="05000000000000000000" charset="0"/>
              <a:buChar char=""/>
            </a:pPr>
            <a:r>
              <a:rPr lang="zh-CN" altLang="en-US" dirty="0">
                <a:latin typeface="Calibri"/>
                <a:ea typeface="宋体" pitchFamily="2" charset="-122"/>
              </a:rPr>
              <a:t>图像搜索，如以图搜图</a:t>
            </a:r>
            <a:endParaRPr lang="zh-CN" altLang="en-US" dirty="0">
              <a:latin typeface="Calibri"/>
              <a:ea typeface="宋体" pitchFamily="2" charset="-122"/>
            </a:endParaRPr>
          </a:p>
          <a:p>
            <a:pPr marL="342900" indent="-342900">
              <a:buFont typeface="Wingdings" panose="05000000000000000000" charset="0"/>
              <a:buChar char=""/>
            </a:pPr>
            <a:endParaRPr lang="zh-CN" altLang="en-US" dirty="0">
              <a:latin typeface="Calibri"/>
              <a:ea typeface="宋体" pitchFamily="2" charset="-122"/>
            </a:endParaRPr>
          </a:p>
          <a:p>
            <a:pPr marL="342900" indent="-342900">
              <a:buFont typeface="Wingdings" panose="05000000000000000000" charset="0"/>
              <a:buChar char=""/>
            </a:pPr>
            <a:r>
              <a:rPr lang="zh-CN" altLang="en-US" dirty="0">
                <a:latin typeface="Calibri"/>
                <a:ea typeface="宋体" pitchFamily="2" charset="-122"/>
              </a:rPr>
              <a:t>拼图游戏</a:t>
            </a:r>
            <a:endParaRPr lang="zh-CN" altLang="en-US" dirty="0">
              <a:latin typeface="Calibri"/>
              <a:ea typeface="宋体" pitchFamily="2" charset="-122"/>
            </a:endParaRPr>
          </a:p>
          <a:p>
            <a:endParaRPr lang="zh-CN" altLang="en-US" dirty="0">
              <a:latin typeface="Calibri"/>
              <a:ea typeface="宋体" pitchFamily="2" charset="-122"/>
            </a:endParaRPr>
          </a:p>
        </p:txBody>
      </p:sp>
    </p:spTree>
  </p:cSld>
  <p:clrMapOvr>
    <a:masterClrMapping/>
  </p:clrMapOvr>
  <p:transition spd="slow" advClick="0" advTm="0">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26626"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26628"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pic>
        <p:nvPicPr>
          <p:cNvPr id="26629" name="图片 1"/>
          <p:cNvPicPr>
            <a:picLocks noChangeAspect="1"/>
          </p:cNvPicPr>
          <p:nvPr>
            <p:custDataLst>
              <p:tags r:id="rId1"/>
            </p:custDataLst>
          </p:nvPr>
        </p:nvPicPr>
        <p:blipFill>
          <a:blip r:embed="rId2"/>
          <a:stretch>
            <a:fillRect/>
          </a:stretch>
        </p:blipFill>
        <p:spPr>
          <a:xfrm>
            <a:off x="2339975" y="1917700"/>
            <a:ext cx="4457700" cy="4318000"/>
          </a:xfrm>
          <a:prstGeom prst="rect">
            <a:avLst/>
          </a:prstGeom>
          <a:noFill/>
          <a:ln w="9525">
            <a:noFill/>
          </a:ln>
        </p:spPr>
      </p:pic>
      <p:sp>
        <p:nvSpPr>
          <p:cNvPr id="26630" name="文本框 2"/>
          <p:cNvSpPr txBox="1"/>
          <p:nvPr>
            <p:custDataLst>
              <p:tags r:id="rId3"/>
            </p:custDataLst>
          </p:nvPr>
        </p:nvSpPr>
        <p:spPr>
          <a:xfrm>
            <a:off x="3048000" y="1270000"/>
            <a:ext cx="3048000" cy="414338"/>
          </a:xfrm>
          <a:prstGeom prst="rect">
            <a:avLst/>
          </a:prstGeom>
          <a:noFill/>
          <a:ln w="9525">
            <a:noFill/>
          </a:ln>
        </p:spPr>
        <p:txBody>
          <a:bodyPr wrap="square" anchor="t" anchorCtr="0">
            <a:spAutoFit/>
          </a:bodyPr>
          <a:lstStyle/>
          <a:p>
            <a:pPr algn="ctr"/>
            <a:r>
              <a:rPr lang="zh-CN" altLang="en-US">
                <a:latin typeface="Calibri"/>
                <a:ea typeface="宋体" pitchFamily="2" charset="-122"/>
              </a:rPr>
              <a:t>拼图游戏</a:t>
            </a:r>
            <a:endParaRPr lang="zh-CN" altLang="en-US">
              <a:latin typeface="Calibri"/>
              <a:ea typeface="宋体" pitchFamily="2" charset="-122"/>
            </a:endParaRPr>
          </a:p>
        </p:txBody>
      </p:sp>
    </p:spTree>
  </p:cSld>
  <p:clrMapOvr>
    <a:masterClrMapping/>
  </p:clrMapOvr>
  <p:transition spd="slow" advClick="0" advTm="0">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28674"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28676"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8677" name="文本框 1"/>
          <p:cNvSpPr txBox="1"/>
          <p:nvPr/>
        </p:nvSpPr>
        <p:spPr>
          <a:xfrm>
            <a:off x="2124075" y="1520825"/>
            <a:ext cx="4670425" cy="414338"/>
          </a:xfrm>
          <a:prstGeom prst="rect">
            <a:avLst/>
          </a:prstGeom>
          <a:noFill/>
          <a:ln w="9525">
            <a:noFill/>
          </a:ln>
        </p:spPr>
        <p:txBody>
          <a:bodyPr wrap="square" anchor="t" anchorCtr="0">
            <a:spAutoFit/>
          </a:bodyPr>
          <a:lstStyle/>
          <a:p>
            <a:pPr algn="ctr"/>
            <a:r>
              <a:rPr lang="en-US" altLang="zh-CN">
                <a:latin typeface="Calibri"/>
                <a:ea typeface="宋体" pitchFamily="2" charset="-122"/>
              </a:rPr>
              <a:t>OpenCV</a:t>
            </a:r>
            <a:r>
              <a:rPr lang="zh-CN" altLang="en-US">
                <a:latin typeface="Calibri"/>
                <a:ea typeface="宋体" pitchFamily="2" charset="-122"/>
              </a:rPr>
              <a:t>特征的应用场景</a:t>
            </a:r>
            <a:endParaRPr lang="zh-CN" altLang="en-US">
              <a:latin typeface="Calibri"/>
              <a:ea typeface="宋体" pitchFamily="2" charset="-122"/>
            </a:endParaRPr>
          </a:p>
        </p:txBody>
      </p:sp>
      <p:sp>
        <p:nvSpPr>
          <p:cNvPr id="28678" name="文本框 2"/>
          <p:cNvSpPr txBox="1"/>
          <p:nvPr/>
        </p:nvSpPr>
        <p:spPr>
          <a:xfrm>
            <a:off x="1398588" y="2278063"/>
            <a:ext cx="5886450" cy="1706562"/>
          </a:xfrm>
          <a:prstGeom prst="rect">
            <a:avLst/>
          </a:prstGeom>
          <a:noFill/>
          <a:ln w="9525">
            <a:noFill/>
          </a:ln>
        </p:spPr>
        <p:txBody>
          <a:bodyPr wrap="square" anchor="t" anchorCtr="0">
            <a:spAutoFit/>
          </a:bodyPr>
          <a:lstStyle/>
          <a:p>
            <a:pPr marL="342900" indent="-342900">
              <a:buFont typeface="Wingdings" panose="05000000000000000000" charset="0"/>
              <a:buChar char=""/>
            </a:pPr>
            <a:r>
              <a:rPr lang="zh-CN" altLang="en-US">
                <a:latin typeface="Calibri"/>
                <a:ea typeface="宋体" pitchFamily="2" charset="-122"/>
              </a:rPr>
              <a:t>图像搜索，如以图搜图</a:t>
            </a:r>
            <a:endParaRPr lang="zh-CN" altLang="en-US">
              <a:latin typeface="Calibri"/>
              <a:ea typeface="宋体" pitchFamily="2" charset="-122"/>
            </a:endParaRPr>
          </a:p>
          <a:p>
            <a:pPr marL="342900" indent="-342900">
              <a:buFont typeface="Wingdings" panose="05000000000000000000" charset="0"/>
              <a:buChar char=""/>
            </a:pPr>
            <a:endParaRPr lang="zh-CN" altLang="en-US">
              <a:latin typeface="Calibri"/>
              <a:ea typeface="宋体" pitchFamily="2" charset="-122"/>
            </a:endParaRPr>
          </a:p>
          <a:p>
            <a:pPr marL="342900" indent="-342900">
              <a:buFont typeface="Wingdings" panose="05000000000000000000" charset="0"/>
              <a:buChar char=""/>
            </a:pPr>
            <a:r>
              <a:rPr lang="zh-CN" altLang="en-US">
                <a:latin typeface="Calibri"/>
                <a:ea typeface="宋体" pitchFamily="2" charset="-122"/>
              </a:rPr>
              <a:t>拼图游戏</a:t>
            </a:r>
            <a:endParaRPr lang="zh-CN" altLang="en-US">
              <a:latin typeface="Calibri"/>
              <a:ea typeface="宋体" pitchFamily="2" charset="-122"/>
            </a:endParaRPr>
          </a:p>
          <a:p>
            <a:pPr marL="342900" indent="-342900">
              <a:buFont typeface="Wingdings" panose="05000000000000000000" charset="0"/>
              <a:buChar char=""/>
            </a:pPr>
            <a:endParaRPr lang="zh-CN" altLang="en-US">
              <a:latin typeface="Calibri"/>
              <a:ea typeface="宋体" pitchFamily="2" charset="-122"/>
            </a:endParaRPr>
          </a:p>
          <a:p>
            <a:pPr marL="342900" indent="-342900">
              <a:buFont typeface="Wingdings" panose="05000000000000000000" charset="0"/>
              <a:buChar char=""/>
            </a:pPr>
            <a:r>
              <a:rPr lang="zh-CN" altLang="en-US">
                <a:latin typeface="Calibri"/>
                <a:ea typeface="宋体" pitchFamily="2" charset="-122"/>
              </a:rPr>
              <a:t>图像拼接，如将两张有关联的图拼接到一起</a:t>
            </a:r>
            <a:endParaRPr lang="zh-CN" altLang="en-US">
              <a:latin typeface="Calibri"/>
              <a:ea typeface="宋体" pitchFamily="2" charset="-122"/>
            </a:endParaRPr>
          </a:p>
        </p:txBody>
      </p:sp>
    </p:spTree>
  </p:cSld>
  <p:clrMapOvr>
    <a:masterClrMapping/>
  </p:clrMapOvr>
  <p:transition spd="slow" advClick="0" advTm="0">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30722"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30724"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30725" name="文本框 2"/>
          <p:cNvSpPr txBox="1"/>
          <p:nvPr>
            <p:custDataLst>
              <p:tags r:id="rId1"/>
            </p:custDataLst>
          </p:nvPr>
        </p:nvSpPr>
        <p:spPr>
          <a:xfrm>
            <a:off x="3048000" y="1270000"/>
            <a:ext cx="3048000" cy="414338"/>
          </a:xfrm>
          <a:prstGeom prst="rect">
            <a:avLst/>
          </a:prstGeom>
          <a:noFill/>
          <a:ln w="9525">
            <a:noFill/>
          </a:ln>
        </p:spPr>
        <p:txBody>
          <a:bodyPr wrap="square" anchor="t" anchorCtr="0">
            <a:spAutoFit/>
          </a:bodyPr>
          <a:lstStyle/>
          <a:p>
            <a:pPr algn="ctr"/>
            <a:r>
              <a:rPr lang="zh-CN" altLang="en-US">
                <a:latin typeface="Calibri"/>
                <a:ea typeface="宋体" pitchFamily="2" charset="-122"/>
              </a:rPr>
              <a:t>图像拼接</a:t>
            </a:r>
            <a:endParaRPr lang="zh-CN" altLang="en-US">
              <a:latin typeface="Calibri"/>
              <a:ea typeface="宋体" pitchFamily="2" charset="-122"/>
            </a:endParaRPr>
          </a:p>
        </p:txBody>
      </p:sp>
      <p:pic>
        <p:nvPicPr>
          <p:cNvPr id="30726" name="图片 3"/>
          <p:cNvPicPr>
            <a:picLocks noChangeAspect="1"/>
          </p:cNvPicPr>
          <p:nvPr>
            <p:custDataLst>
              <p:tags r:id="rId2"/>
            </p:custDataLst>
          </p:nvPr>
        </p:nvPicPr>
        <p:blipFill>
          <a:blip r:embed="rId3"/>
          <a:stretch>
            <a:fillRect/>
          </a:stretch>
        </p:blipFill>
        <p:spPr>
          <a:xfrm>
            <a:off x="0" y="2000250"/>
            <a:ext cx="9145588" cy="3649663"/>
          </a:xfrm>
          <a:prstGeom prst="rect">
            <a:avLst/>
          </a:prstGeom>
          <a:noFill/>
          <a:ln w="9525">
            <a:noFill/>
          </a:ln>
        </p:spPr>
      </p:pic>
      <p:sp>
        <p:nvSpPr>
          <p:cNvPr id="30727" name="文本框 4"/>
          <p:cNvSpPr txBox="1"/>
          <p:nvPr/>
        </p:nvSpPr>
        <p:spPr>
          <a:xfrm>
            <a:off x="514350" y="6180138"/>
            <a:ext cx="6972300" cy="368300"/>
          </a:xfrm>
          <a:prstGeom prst="rect">
            <a:avLst/>
          </a:prstGeom>
          <a:noFill/>
          <a:ln w="9525">
            <a:noFill/>
          </a:ln>
        </p:spPr>
        <p:txBody>
          <a:bodyPr wrap="square" anchor="t" anchorCtr="0">
            <a:spAutoFit/>
          </a:bodyPr>
          <a:lstStyle/>
          <a:p>
            <a:r>
              <a:rPr lang="zh-CN" altLang="en-US" sz="1800">
                <a:latin typeface="Calibri"/>
                <a:ea typeface="宋体" pitchFamily="2" charset="-122"/>
              </a:rPr>
              <a:t>https://blog.csdn.net/cy413026/article/details/133953874</a:t>
            </a:r>
            <a:endParaRPr lang="zh-CN" altLang="en-US" sz="1800">
              <a:latin typeface="Calibri"/>
              <a:ea typeface="宋体" pitchFamily="2" charset="-122"/>
            </a:endParaRPr>
          </a:p>
        </p:txBody>
      </p:sp>
    </p:spTree>
  </p:cSld>
  <p:clrMapOvr>
    <a:masterClrMapping/>
  </p:clrMapOvr>
  <p:transition spd="slow" advClick="0" advTm="0">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32770"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32772"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32773" name="文本框 2"/>
          <p:cNvSpPr txBox="1"/>
          <p:nvPr>
            <p:custDataLst>
              <p:tags r:id="rId1"/>
            </p:custDataLst>
          </p:nvPr>
        </p:nvSpPr>
        <p:spPr>
          <a:xfrm>
            <a:off x="3048000" y="1270000"/>
            <a:ext cx="3048000" cy="414338"/>
          </a:xfrm>
          <a:prstGeom prst="rect">
            <a:avLst/>
          </a:prstGeom>
          <a:noFill/>
          <a:ln w="9525">
            <a:noFill/>
          </a:ln>
        </p:spPr>
        <p:txBody>
          <a:bodyPr wrap="square" anchor="t" anchorCtr="0">
            <a:spAutoFit/>
          </a:bodyPr>
          <a:lstStyle/>
          <a:p>
            <a:pPr algn="ctr"/>
            <a:r>
              <a:rPr lang="zh-CN" altLang="en-US">
                <a:latin typeface="Calibri"/>
                <a:ea typeface="宋体" pitchFamily="2" charset="-122"/>
              </a:rPr>
              <a:t>图像拼接</a:t>
            </a:r>
            <a:endParaRPr lang="zh-CN" altLang="en-US">
              <a:latin typeface="Calibri"/>
              <a:ea typeface="宋体" pitchFamily="2" charset="-122"/>
            </a:endParaRPr>
          </a:p>
        </p:txBody>
      </p:sp>
      <p:pic>
        <p:nvPicPr>
          <p:cNvPr id="32774" name="图片 1"/>
          <p:cNvPicPr>
            <a:picLocks noChangeAspect="1"/>
          </p:cNvPicPr>
          <p:nvPr>
            <p:custDataLst>
              <p:tags r:id="rId2"/>
            </p:custDataLst>
          </p:nvPr>
        </p:nvPicPr>
        <p:blipFill>
          <a:blip r:embed="rId3"/>
          <a:stretch>
            <a:fillRect/>
          </a:stretch>
        </p:blipFill>
        <p:spPr>
          <a:xfrm>
            <a:off x="0" y="1990725"/>
            <a:ext cx="9145588" cy="3641725"/>
          </a:xfrm>
          <a:prstGeom prst="rect">
            <a:avLst/>
          </a:prstGeom>
          <a:noFill/>
          <a:ln w="9525">
            <a:noFill/>
          </a:ln>
        </p:spPr>
      </p:pic>
    </p:spTree>
  </p:cSld>
  <p:clrMapOvr>
    <a:masterClrMapping/>
  </p:clrMapOvr>
  <p:transition spd="slow" advClick="0" advTm="0">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34818"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34820"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34821" name="文本框 1"/>
          <p:cNvSpPr txBox="1"/>
          <p:nvPr>
            <p:custDataLst>
              <p:tags r:id="rId1"/>
            </p:custDataLst>
          </p:nvPr>
        </p:nvSpPr>
        <p:spPr>
          <a:xfrm>
            <a:off x="3048000" y="1270000"/>
            <a:ext cx="3048000" cy="414338"/>
          </a:xfrm>
          <a:prstGeom prst="rect">
            <a:avLst/>
          </a:prstGeom>
          <a:noFill/>
          <a:ln w="9525">
            <a:noFill/>
          </a:ln>
        </p:spPr>
        <p:txBody>
          <a:bodyPr wrap="square" anchor="t" anchorCtr="0">
            <a:spAutoFit/>
          </a:bodyPr>
          <a:lstStyle/>
          <a:p>
            <a:pPr algn="ctr"/>
            <a:r>
              <a:rPr lang="zh-CN" altLang="en-US">
                <a:latin typeface="Calibri"/>
                <a:ea typeface="宋体" pitchFamily="2" charset="-122"/>
              </a:rPr>
              <a:t>图像拼接</a:t>
            </a:r>
            <a:endParaRPr lang="zh-CN" altLang="en-US">
              <a:latin typeface="Calibri"/>
              <a:ea typeface="宋体" pitchFamily="2" charset="-122"/>
            </a:endParaRPr>
          </a:p>
        </p:txBody>
      </p:sp>
      <p:pic>
        <p:nvPicPr>
          <p:cNvPr id="34822" name="图片 3"/>
          <p:cNvPicPr>
            <a:picLocks noChangeAspect="1"/>
          </p:cNvPicPr>
          <p:nvPr>
            <p:custDataLst>
              <p:tags r:id="rId2"/>
            </p:custDataLst>
          </p:nvPr>
        </p:nvPicPr>
        <p:blipFill>
          <a:blip r:embed="rId3"/>
          <a:stretch>
            <a:fillRect/>
          </a:stretch>
        </p:blipFill>
        <p:spPr>
          <a:xfrm>
            <a:off x="396875" y="1773238"/>
            <a:ext cx="8420100" cy="4876800"/>
          </a:xfrm>
          <a:prstGeom prst="rect">
            <a:avLst/>
          </a:prstGeom>
          <a:noFill/>
          <a:ln w="9525">
            <a:noFill/>
          </a:ln>
        </p:spPr>
      </p:pic>
    </p:spTree>
  </p:cSld>
  <p:clrMapOvr>
    <a:masterClrMapping/>
  </p:clrMapOvr>
  <p:transition spd="slow" advClick="0" advTm="0">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34818"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34820"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34821" name="文本框 1"/>
          <p:cNvSpPr txBox="1"/>
          <p:nvPr>
            <p:custDataLst>
              <p:tags r:id="rId1"/>
            </p:custDataLst>
          </p:nvPr>
        </p:nvSpPr>
        <p:spPr>
          <a:xfrm>
            <a:off x="3048000" y="1270000"/>
            <a:ext cx="3048000" cy="414338"/>
          </a:xfrm>
          <a:prstGeom prst="rect">
            <a:avLst/>
          </a:prstGeom>
          <a:noFill/>
          <a:ln w="9525">
            <a:noFill/>
          </a:ln>
        </p:spPr>
        <p:txBody>
          <a:bodyPr wrap="square" anchor="t" anchorCtr="0">
            <a:spAutoFit/>
          </a:bodyPr>
          <a:lstStyle/>
          <a:p>
            <a:pPr algn="ctr"/>
            <a:r>
              <a:rPr lang="zh-CN" altLang="en-US" dirty="0">
                <a:latin typeface="Calibri"/>
                <a:ea typeface="宋体" pitchFamily="2" charset="-122"/>
              </a:rPr>
              <a:t>拼图方法</a:t>
            </a:r>
            <a:endParaRPr lang="zh-CN" altLang="en-US" dirty="0">
              <a:latin typeface="Calibri"/>
              <a:ea typeface="宋体" pitchFamily="2" charset="-122"/>
            </a:endParaRPr>
          </a:p>
        </p:txBody>
      </p:sp>
      <p:sp>
        <p:nvSpPr>
          <p:cNvPr id="2" name="文本框 1"/>
          <p:cNvSpPr txBox="1"/>
          <p:nvPr/>
        </p:nvSpPr>
        <p:spPr>
          <a:xfrm>
            <a:off x="1470212" y="2043953"/>
            <a:ext cx="2146742" cy="1975990"/>
          </a:xfrm>
          <a:prstGeom prst="rect">
            <a:avLst/>
          </a:prstGeom>
          <a:noFill/>
        </p:spPr>
        <p:txBody>
          <a:bodyPr wrap="none" rtlCol="0">
            <a:spAutoFit/>
          </a:bodyPr>
          <a:lstStyle/>
          <a:p>
            <a:pPr marL="342900" indent="-342900">
              <a:lnSpc>
                <a:spcPct val="150000"/>
              </a:lnSpc>
              <a:buFont typeface="Wingdings" panose="05000000000000000000" pitchFamily="2" charset="2"/>
              <a:buChar char="l"/>
            </a:pPr>
            <a:r>
              <a:rPr kumimoji="1" lang="zh-CN" altLang="en-US" dirty="0"/>
              <a:t>寻找特征</a:t>
            </a:r>
            <a:endParaRPr kumimoji="1" lang="en-US" altLang="zh-CN" dirty="0"/>
          </a:p>
          <a:p>
            <a:pPr marL="342900" indent="-342900">
              <a:lnSpc>
                <a:spcPct val="150000"/>
              </a:lnSpc>
              <a:buFont typeface="Wingdings" panose="05000000000000000000" pitchFamily="2" charset="2"/>
              <a:buChar char="l"/>
            </a:pPr>
            <a:r>
              <a:rPr kumimoji="1" lang="zh-CN" altLang="en-US" dirty="0"/>
              <a:t>特征是唯一的</a:t>
            </a:r>
            <a:endParaRPr kumimoji="1" lang="en-US" altLang="zh-CN" dirty="0"/>
          </a:p>
          <a:p>
            <a:pPr marL="342900" indent="-342900">
              <a:lnSpc>
                <a:spcPct val="150000"/>
              </a:lnSpc>
              <a:buFont typeface="Wingdings" panose="05000000000000000000" pitchFamily="2" charset="2"/>
              <a:buChar char="l"/>
            </a:pPr>
            <a:r>
              <a:rPr kumimoji="1" lang="zh-CN" altLang="en-US" dirty="0"/>
              <a:t>可追踪的</a:t>
            </a:r>
            <a:endParaRPr kumimoji="1" lang="en-US" altLang="zh-CN" dirty="0"/>
          </a:p>
          <a:p>
            <a:pPr marL="342900" indent="-342900">
              <a:lnSpc>
                <a:spcPct val="150000"/>
              </a:lnSpc>
              <a:buFont typeface="Wingdings" panose="05000000000000000000" pitchFamily="2" charset="2"/>
              <a:buChar char="l"/>
            </a:pPr>
            <a:r>
              <a:rPr kumimoji="1" lang="zh-CN" altLang="en-US" dirty="0"/>
              <a:t>能比较的</a:t>
            </a:r>
            <a:endParaRPr kumimoji="1" lang="zh-CN" altLang="en-US" dirty="0"/>
          </a:p>
        </p:txBody>
      </p:sp>
    </p:spTree>
  </p:cSld>
  <p:clrMapOvr>
    <a:masterClrMapping/>
  </p:clrMapOvr>
  <p:transition spd="slow" advClick="0" advTm="0">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rPr>
              <a:t>9.1</a:t>
            </a:r>
            <a:r>
              <a:rPr lang="zh-CN" altLang="en-US" b="1" dirty="0">
                <a:solidFill>
                  <a:schemeClr val="tx1">
                    <a:lumMod val="75000"/>
                    <a:lumOff val="25000"/>
                  </a:schemeClr>
                </a:solidFill>
                <a:latin typeface="微软雅黑" panose="020B0503020204020204" pitchFamily="34" charset="-122"/>
              </a:rPr>
              <a:t>图像特征概述</a:t>
            </a:r>
            <a:endParaRPr lang="en-US" altLang="zh-CN"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1441562" y="1341562"/>
            <a:ext cx="6262464" cy="5400384"/>
          </a:xfrm>
          <a:prstGeom prst="rect">
            <a:avLst/>
          </a:prstGeom>
        </p:spPr>
      </p:pic>
      <p:sp>
        <p:nvSpPr>
          <p:cNvPr id="3" name="矩形 2"/>
          <p:cNvSpPr/>
          <p:nvPr/>
        </p:nvSpPr>
        <p:spPr>
          <a:xfrm>
            <a:off x="2628578" y="1413570"/>
            <a:ext cx="648072" cy="1584176"/>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3311266" y="1413570"/>
            <a:ext cx="648072" cy="1584176"/>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p:cNvSpPr/>
          <p:nvPr/>
        </p:nvSpPr>
        <p:spPr>
          <a:xfrm>
            <a:off x="3996730" y="1413570"/>
            <a:ext cx="648072" cy="1584176"/>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p:cNvSpPr txBox="1"/>
          <p:nvPr/>
        </p:nvSpPr>
        <p:spPr>
          <a:xfrm>
            <a:off x="1421426" y="1125054"/>
            <a:ext cx="1531188" cy="415498"/>
          </a:xfrm>
          <a:prstGeom prst="rect">
            <a:avLst/>
          </a:prstGeom>
          <a:noFill/>
        </p:spPr>
        <p:txBody>
          <a:bodyPr wrap="none" rtlCol="0">
            <a:spAutoFit/>
          </a:bodyPr>
          <a:lstStyle/>
          <a:p>
            <a:r>
              <a:rPr kumimoji="1" lang="zh-CN" altLang="en-US" dirty="0">
                <a:highlight>
                  <a:srgbClr val="FFFF00"/>
                </a:highlight>
              </a:rPr>
              <a:t>平坦的区域</a:t>
            </a:r>
            <a:endParaRPr kumimoji="1" lang="zh-CN" altLang="en-US" dirty="0">
              <a:highlight>
                <a:srgbClr val="FFFF00"/>
              </a:highlight>
            </a:endParaRPr>
          </a:p>
        </p:txBody>
      </p:sp>
      <p:sp>
        <p:nvSpPr>
          <p:cNvPr id="8" name="文本框 7"/>
          <p:cNvSpPr txBox="1"/>
          <p:nvPr/>
        </p:nvSpPr>
        <p:spPr>
          <a:xfrm>
            <a:off x="3228942" y="1047027"/>
            <a:ext cx="723275" cy="415498"/>
          </a:xfrm>
          <a:prstGeom prst="rect">
            <a:avLst/>
          </a:prstGeom>
          <a:noFill/>
        </p:spPr>
        <p:txBody>
          <a:bodyPr wrap="none" rtlCol="0">
            <a:spAutoFit/>
          </a:bodyPr>
          <a:lstStyle/>
          <a:p>
            <a:r>
              <a:rPr kumimoji="1" lang="zh-CN" altLang="en-US" dirty="0">
                <a:highlight>
                  <a:srgbClr val="FFFF00"/>
                </a:highlight>
              </a:rPr>
              <a:t>边缘</a:t>
            </a:r>
            <a:endParaRPr kumimoji="1" lang="zh-CN" altLang="en-US" dirty="0">
              <a:highlight>
                <a:srgbClr val="FFFF00"/>
              </a:highlight>
            </a:endParaRPr>
          </a:p>
        </p:txBody>
      </p:sp>
      <p:sp>
        <p:nvSpPr>
          <p:cNvPr id="9" name="文本框 8"/>
          <p:cNvSpPr txBox="1"/>
          <p:nvPr/>
        </p:nvSpPr>
        <p:spPr>
          <a:xfrm>
            <a:off x="4521737" y="1047027"/>
            <a:ext cx="723275" cy="415498"/>
          </a:xfrm>
          <a:prstGeom prst="rect">
            <a:avLst/>
          </a:prstGeom>
          <a:noFill/>
        </p:spPr>
        <p:txBody>
          <a:bodyPr wrap="none" rtlCol="0">
            <a:spAutoFit/>
          </a:bodyPr>
          <a:lstStyle/>
          <a:p>
            <a:r>
              <a:rPr kumimoji="1" lang="zh-CN" altLang="en-US" dirty="0">
                <a:highlight>
                  <a:srgbClr val="FFFF00"/>
                </a:highlight>
              </a:rPr>
              <a:t>角点</a:t>
            </a:r>
            <a:endParaRPr kumimoji="1" lang="zh-CN" altLang="en-US" dirty="0">
              <a:highlight>
                <a:srgbClr val="FFFF00"/>
              </a:highlight>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rPr>
              <a:t>9.1</a:t>
            </a:r>
            <a:r>
              <a:rPr lang="zh-CN" altLang="en-US" b="1" dirty="0">
                <a:solidFill>
                  <a:schemeClr val="tx1">
                    <a:lumMod val="75000"/>
                    <a:lumOff val="25000"/>
                  </a:schemeClr>
                </a:solidFill>
                <a:latin typeface="微软雅黑" panose="020B0503020204020204" pitchFamily="34" charset="-122"/>
              </a:rPr>
              <a:t>图像特征概述</a:t>
            </a:r>
            <a:endParaRPr lang="en-US" altLang="zh-CN"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文本框 1"/>
          <p:cNvSpPr txBox="1"/>
          <p:nvPr/>
        </p:nvSpPr>
        <p:spPr>
          <a:xfrm>
            <a:off x="1614292" y="2421682"/>
            <a:ext cx="5917004" cy="1708160"/>
          </a:xfrm>
          <a:prstGeom prst="rect">
            <a:avLst/>
          </a:prstGeom>
          <a:noFill/>
        </p:spPr>
        <p:txBody>
          <a:bodyPr wrap="none" rtlCol="0">
            <a:spAutoFit/>
          </a:bodyPr>
          <a:lstStyle/>
          <a:p>
            <a:pPr algn="ctr"/>
            <a:r>
              <a:rPr kumimoji="1" lang="zh-CN" altLang="en-US" dirty="0"/>
              <a:t>总结</a:t>
            </a:r>
            <a:endParaRPr kumimoji="1" lang="en-US" altLang="zh-CN" dirty="0"/>
          </a:p>
          <a:p>
            <a:pPr algn="ctr"/>
            <a:endParaRPr kumimoji="1" lang="en-US" altLang="zh-CN" dirty="0"/>
          </a:p>
          <a:p>
            <a:pPr marL="342900" indent="-342900">
              <a:buFont typeface="Wingdings" panose="05000000000000000000" pitchFamily="2" charset="2"/>
              <a:buChar char="l"/>
            </a:pPr>
            <a:r>
              <a:rPr kumimoji="1" lang="zh-CN" altLang="en-US" dirty="0"/>
              <a:t>平坦部分很难找到它在原图中的位置</a:t>
            </a:r>
            <a:endParaRPr kumimoji="1" lang="en-US" altLang="zh-CN" dirty="0"/>
          </a:p>
          <a:p>
            <a:pPr marL="342900" indent="-342900">
              <a:buFont typeface="Wingdings" panose="05000000000000000000" pitchFamily="2" charset="2"/>
              <a:buChar char="l"/>
            </a:pPr>
            <a:r>
              <a:rPr kumimoji="1" lang="zh-CN" altLang="en-US" dirty="0"/>
              <a:t>边缘相比平坦要好找一些，但也不能一下确定</a:t>
            </a:r>
            <a:endParaRPr kumimoji="1" lang="en-US" altLang="zh-CN" dirty="0"/>
          </a:p>
          <a:p>
            <a:pPr marL="342900" indent="-342900">
              <a:buFont typeface="Wingdings" panose="05000000000000000000" pitchFamily="2" charset="2"/>
              <a:buChar char="l"/>
            </a:pPr>
            <a:r>
              <a:rPr kumimoji="1" lang="zh-CN" altLang="en-US" dirty="0"/>
              <a:t>角点可以一下就能找到其在原图的位置</a:t>
            </a:r>
            <a:endParaRPr kumimoji="1" lang="zh-CN" altLang="en-US" dirty="0"/>
          </a:p>
        </p:txBody>
      </p:sp>
    </p:spTree>
  </p:cSld>
  <p:clrMapOvr>
    <a:masterClrMapping/>
  </p:clrMapOvr>
  <p:transition spd="slow" advClick="0" advTm="0">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9.1</a:t>
            </a:r>
            <a:r>
              <a:rPr lang="zh-CN" altLang="en-US" sz="2100" b="1" dirty="0">
                <a:solidFill>
                  <a:schemeClr val="tx1">
                    <a:lumMod val="75000"/>
                    <a:lumOff val="25000"/>
                  </a:schemeClr>
                </a:solidFill>
                <a:latin typeface="微软雅黑" panose="020B0503020204020204" pitchFamily="34" charset="-122"/>
              </a:rPr>
              <a:t>图像特征概述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481952" y="1629594"/>
            <a:ext cx="7979274" cy="2677656"/>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a:t>
            </a:r>
            <a:r>
              <a:rPr lang="zh-CN" altLang="en-US"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特征是某一类对象区别于其他类对象的相应本质特点或特性，或是这些特点和特性的集合</a:t>
            </a:r>
            <a:r>
              <a:rPr lang="zh-CN" altLang="en-US" sz="2400" kern="100" dirty="0">
                <a:effectLst/>
                <a:latin typeface="Times New Roman" panose="02020603050405020304" pitchFamily="18" charset="0"/>
                <a:ea typeface="宋体" pitchFamily="2" charset="-122"/>
                <a:cs typeface="Times New Roman" panose="02020603050405020304" pitchFamily="18" charset="0"/>
              </a:rPr>
              <a:t>，是通过测量或处理能够抽取的数据。</a:t>
            </a:r>
            <a:endParaRPr lang="en-US" altLang="zh-CN" sz="2400" kern="100" dirty="0">
              <a:effectLst/>
              <a:latin typeface="Times New Roman" panose="02020603050405020304" pitchFamily="18" charset="0"/>
              <a:ea typeface="宋体" pitchFamily="2" charset="-122"/>
              <a:cs typeface="Times New Roman" panose="02020603050405020304" pitchFamily="18" charset="0"/>
            </a:endParaRPr>
          </a:p>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en-US" sz="2400" kern="100" dirty="0">
                <a:effectLst/>
                <a:latin typeface="Times New Roman" panose="02020603050405020304" pitchFamily="18" charset="0"/>
                <a:ea typeface="宋体" pitchFamily="2" charset="-122"/>
                <a:cs typeface="Times New Roman" panose="02020603050405020304" pitchFamily="18" charset="0"/>
              </a:rPr>
              <a:t>对于图像而言，每一幅图像都具有能够区别于其他类图像的自身特征，有些是可以直观地感受到的自然特征，如</a:t>
            </a:r>
            <a:r>
              <a:rPr lang="zh-CN" altLang="en-US"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亮度、边缘、纹理和色彩</a:t>
            </a:r>
            <a:r>
              <a:rPr lang="zh-CN" altLang="en-US" sz="2400" kern="100" dirty="0">
                <a:effectLst/>
                <a:latin typeface="Times New Roman" panose="02020603050405020304" pitchFamily="18" charset="0"/>
                <a:ea typeface="宋体" pitchFamily="2" charset="-122"/>
                <a:cs typeface="Times New Roman" panose="02020603050405020304" pitchFamily="18" charset="0"/>
              </a:rPr>
              <a:t>等；有些则是需要通过变换或处理才能得到的，</a:t>
            </a:r>
            <a:r>
              <a:rPr lang="zh-CN" altLang="en-US"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如矩、直方图以及主成份</a:t>
            </a:r>
            <a:r>
              <a:rPr lang="zh-CN" altLang="en-US" sz="2400" kern="100" dirty="0">
                <a:effectLst/>
                <a:latin typeface="Times New Roman" panose="02020603050405020304" pitchFamily="18" charset="0"/>
                <a:ea typeface="宋体" pitchFamily="2" charset="-122"/>
                <a:cs typeface="Times New Roman" panose="02020603050405020304" pitchFamily="18" charset="0"/>
              </a:rPr>
              <a:t>等。</a:t>
            </a:r>
            <a:endParaRPr lang="zh-CN" altLang="en-US" dirty="0"/>
          </a:p>
        </p:txBody>
      </p:sp>
      <p:sp>
        <p:nvSpPr>
          <p:cNvPr id="12" name="矩形: 圆角 11"/>
          <p:cNvSpPr/>
          <p:nvPr/>
        </p:nvSpPr>
        <p:spPr>
          <a:xfrm>
            <a:off x="1404442" y="5281284"/>
            <a:ext cx="1224402" cy="34988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800" b="1" kern="100" dirty="0">
                <a:solidFill>
                  <a:schemeClr val="tx1"/>
                </a:solidFill>
                <a:effectLst/>
                <a:latin typeface="Times New Roman" panose="02020603050405020304" pitchFamily="18" charset="0"/>
                <a:ea typeface="宋体" pitchFamily="2" charset="-122"/>
                <a:cs typeface="Times New Roman" panose="02020603050405020304" pitchFamily="18" charset="0"/>
              </a:rPr>
              <a:t>图像特征</a:t>
            </a:r>
            <a:endParaRPr lang="zh-CN" altLang="en-US" b="1" dirty="0">
              <a:solidFill>
                <a:schemeClr val="tx1"/>
              </a:solidFill>
            </a:endParaRPr>
          </a:p>
        </p:txBody>
      </p:sp>
      <p:sp>
        <p:nvSpPr>
          <p:cNvPr id="13" name="矩形: 圆角 12"/>
          <p:cNvSpPr/>
          <p:nvPr/>
        </p:nvSpPr>
        <p:spPr>
          <a:xfrm>
            <a:off x="3276650" y="5985930"/>
            <a:ext cx="1705468" cy="34988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800" kern="100" dirty="0">
                <a:effectLst/>
                <a:latin typeface="Times New Roman" panose="02020603050405020304" pitchFamily="18" charset="0"/>
                <a:ea typeface="宋体" pitchFamily="2" charset="-122"/>
              </a:rPr>
              <a:t>变换得到特征</a:t>
            </a:r>
            <a:endParaRPr lang="zh-CN" altLang="en-US" dirty="0">
              <a:solidFill>
                <a:schemeClr val="tx1"/>
              </a:solidFill>
            </a:endParaRPr>
          </a:p>
        </p:txBody>
      </p:sp>
      <p:sp>
        <p:nvSpPr>
          <p:cNvPr id="14" name="矩形: 圆角 13"/>
          <p:cNvSpPr/>
          <p:nvPr/>
        </p:nvSpPr>
        <p:spPr>
          <a:xfrm>
            <a:off x="3276650" y="4750850"/>
            <a:ext cx="1705468" cy="360832"/>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800" kern="100" dirty="0">
                <a:latin typeface="Times New Roman" panose="02020603050405020304" pitchFamily="18" charset="0"/>
                <a:ea typeface="宋体" pitchFamily="2" charset="-122"/>
                <a:cs typeface="Times New Roman" panose="02020603050405020304" pitchFamily="18" charset="0"/>
              </a:rPr>
              <a:t>直观</a:t>
            </a:r>
            <a:r>
              <a:rPr lang="zh-CN" altLang="en-US" sz="1800" kern="100" dirty="0">
                <a:effectLst/>
                <a:latin typeface="Times New Roman" panose="02020603050405020304" pitchFamily="18" charset="0"/>
                <a:ea typeface="宋体" pitchFamily="2" charset="-122"/>
                <a:cs typeface="Times New Roman" panose="02020603050405020304" pitchFamily="18" charset="0"/>
              </a:rPr>
              <a:t>自然特征</a:t>
            </a:r>
            <a:endParaRPr lang="zh-CN" altLang="en-US" dirty="0">
              <a:solidFill>
                <a:schemeClr val="tx1"/>
              </a:solidFill>
            </a:endParaRPr>
          </a:p>
        </p:txBody>
      </p:sp>
      <p:cxnSp>
        <p:nvCxnSpPr>
          <p:cNvPr id="15" name="直接箭头连接符 14"/>
          <p:cNvCxnSpPr>
            <a:stCxn id="12" idx="3"/>
            <a:endCxn id="13" idx="1"/>
          </p:cNvCxnSpPr>
          <p:nvPr/>
        </p:nvCxnSpPr>
        <p:spPr>
          <a:xfrm>
            <a:off x="2628844" y="5456228"/>
            <a:ext cx="647806" cy="70464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6" name="直接箭头连接符 15"/>
          <p:cNvCxnSpPr>
            <a:stCxn id="12" idx="3"/>
            <a:endCxn id="14" idx="1"/>
          </p:cNvCxnSpPr>
          <p:nvPr/>
        </p:nvCxnSpPr>
        <p:spPr>
          <a:xfrm flipV="1">
            <a:off x="2628844" y="4931266"/>
            <a:ext cx="647806" cy="524962"/>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6" name="TextBox 43"/>
          <p:cNvSpPr txBox="1">
            <a:spLocks noChangeArrowheads="1"/>
          </p:cNvSpPr>
          <p:nvPr/>
        </p:nvSpPr>
        <p:spPr bwMode="auto">
          <a:xfrm>
            <a:off x="863160" y="1197546"/>
            <a:ext cx="34216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9.1.1  </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什么是图像特征</a:t>
            </a:r>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3" name="矩形: 圆角 32"/>
          <p:cNvSpPr/>
          <p:nvPr/>
        </p:nvSpPr>
        <p:spPr>
          <a:xfrm>
            <a:off x="6012954" y="4365898"/>
            <a:ext cx="822852" cy="25388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600" kern="100" dirty="0">
                <a:effectLst/>
                <a:latin typeface="Times New Roman" panose="02020603050405020304" pitchFamily="18" charset="0"/>
                <a:ea typeface="宋体" pitchFamily="2" charset="-122"/>
                <a:cs typeface="Times New Roman" panose="02020603050405020304" pitchFamily="18" charset="0"/>
              </a:rPr>
              <a:t>亮度</a:t>
            </a:r>
            <a:endParaRPr lang="zh-CN" altLang="en-US" sz="1600" dirty="0">
              <a:solidFill>
                <a:schemeClr val="tx1"/>
              </a:solidFill>
            </a:endParaRPr>
          </a:p>
        </p:txBody>
      </p:sp>
      <p:sp>
        <p:nvSpPr>
          <p:cNvPr id="34" name="矩形: 圆角 33"/>
          <p:cNvSpPr/>
          <p:nvPr/>
        </p:nvSpPr>
        <p:spPr>
          <a:xfrm>
            <a:off x="6012954" y="4668962"/>
            <a:ext cx="822852" cy="2388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600" kern="100" dirty="0">
                <a:effectLst/>
                <a:latin typeface="Times New Roman" panose="02020603050405020304" pitchFamily="18" charset="0"/>
                <a:ea typeface="宋体" pitchFamily="2" charset="-122"/>
                <a:cs typeface="Times New Roman" panose="02020603050405020304" pitchFamily="18" charset="0"/>
              </a:rPr>
              <a:t>边缘</a:t>
            </a:r>
            <a:endParaRPr lang="zh-CN" altLang="en-US" sz="1600" dirty="0">
              <a:solidFill>
                <a:schemeClr val="tx1"/>
              </a:solidFill>
            </a:endParaRPr>
          </a:p>
        </p:txBody>
      </p:sp>
      <p:sp>
        <p:nvSpPr>
          <p:cNvPr id="35" name="矩形: 圆角 34"/>
          <p:cNvSpPr/>
          <p:nvPr/>
        </p:nvSpPr>
        <p:spPr>
          <a:xfrm>
            <a:off x="6012954" y="4947173"/>
            <a:ext cx="822852" cy="25388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600" kern="100" dirty="0">
                <a:latin typeface="Times New Roman" panose="02020603050405020304" pitchFamily="18" charset="0"/>
                <a:ea typeface="宋体" pitchFamily="2" charset="-122"/>
                <a:cs typeface="Times New Roman" panose="02020603050405020304" pitchFamily="18" charset="0"/>
              </a:rPr>
              <a:t>纹理</a:t>
            </a:r>
            <a:endParaRPr lang="zh-CN" altLang="en-US" sz="1600" kern="100" dirty="0">
              <a:latin typeface="Times New Roman" panose="02020603050405020304" pitchFamily="18" charset="0"/>
              <a:ea typeface="宋体" pitchFamily="2" charset="-122"/>
              <a:cs typeface="Times New Roman" panose="02020603050405020304" pitchFamily="18" charset="0"/>
            </a:endParaRPr>
          </a:p>
        </p:txBody>
      </p:sp>
      <p:sp>
        <p:nvSpPr>
          <p:cNvPr id="36" name="矩形: 圆角 35"/>
          <p:cNvSpPr/>
          <p:nvPr/>
        </p:nvSpPr>
        <p:spPr>
          <a:xfrm>
            <a:off x="6012954" y="5232874"/>
            <a:ext cx="822852" cy="2388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600" kern="100" dirty="0">
                <a:latin typeface="Times New Roman" panose="02020603050405020304" pitchFamily="18" charset="0"/>
                <a:ea typeface="宋体" pitchFamily="2" charset="-122"/>
                <a:cs typeface="Times New Roman" panose="02020603050405020304" pitchFamily="18" charset="0"/>
              </a:rPr>
              <a:t>色彩</a:t>
            </a:r>
            <a:endParaRPr lang="zh-CN" altLang="en-US" sz="1600" kern="100" dirty="0">
              <a:latin typeface="Times New Roman" panose="02020603050405020304" pitchFamily="18" charset="0"/>
              <a:ea typeface="宋体" pitchFamily="2" charset="-122"/>
              <a:cs typeface="Times New Roman" panose="02020603050405020304" pitchFamily="18" charset="0"/>
            </a:endParaRPr>
          </a:p>
        </p:txBody>
      </p:sp>
      <p:sp>
        <p:nvSpPr>
          <p:cNvPr id="37" name="矩形: 圆角 36"/>
          <p:cNvSpPr/>
          <p:nvPr/>
        </p:nvSpPr>
        <p:spPr>
          <a:xfrm>
            <a:off x="6012954" y="5749082"/>
            <a:ext cx="822852" cy="2388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600" kern="100" dirty="0">
                <a:effectLst/>
                <a:latin typeface="Times New Roman" panose="02020603050405020304" pitchFamily="18" charset="0"/>
                <a:ea typeface="宋体" pitchFamily="2" charset="-122"/>
                <a:cs typeface="Times New Roman" panose="02020603050405020304" pitchFamily="18" charset="0"/>
              </a:rPr>
              <a:t>矩</a:t>
            </a:r>
            <a:endParaRPr lang="zh-CN" altLang="en-US" sz="1600" dirty="0">
              <a:solidFill>
                <a:schemeClr val="tx1"/>
              </a:solidFill>
            </a:endParaRPr>
          </a:p>
        </p:txBody>
      </p:sp>
      <p:sp>
        <p:nvSpPr>
          <p:cNvPr id="38" name="矩形: 圆角 37"/>
          <p:cNvSpPr/>
          <p:nvPr/>
        </p:nvSpPr>
        <p:spPr>
          <a:xfrm>
            <a:off x="6012954" y="6027293"/>
            <a:ext cx="822852" cy="25388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600" kern="100" dirty="0">
                <a:effectLst/>
                <a:latin typeface="Times New Roman" panose="02020603050405020304" pitchFamily="18" charset="0"/>
                <a:ea typeface="宋体" pitchFamily="2" charset="-122"/>
                <a:cs typeface="Times New Roman" panose="02020603050405020304" pitchFamily="18" charset="0"/>
              </a:rPr>
              <a:t>直方图</a:t>
            </a:r>
            <a:endParaRPr lang="zh-CN" altLang="en-US" sz="1600" dirty="0">
              <a:solidFill>
                <a:schemeClr val="tx1"/>
              </a:solidFill>
            </a:endParaRPr>
          </a:p>
        </p:txBody>
      </p:sp>
      <p:sp>
        <p:nvSpPr>
          <p:cNvPr id="39" name="矩形: 圆角 38"/>
          <p:cNvSpPr/>
          <p:nvPr/>
        </p:nvSpPr>
        <p:spPr>
          <a:xfrm>
            <a:off x="6012954" y="6312994"/>
            <a:ext cx="822852" cy="2388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600" kern="100" dirty="0">
                <a:effectLst/>
                <a:latin typeface="Times New Roman" panose="02020603050405020304" pitchFamily="18" charset="0"/>
                <a:ea typeface="宋体" pitchFamily="2" charset="-122"/>
                <a:cs typeface="Times New Roman" panose="02020603050405020304" pitchFamily="18" charset="0"/>
              </a:rPr>
              <a:t>主成分</a:t>
            </a:r>
            <a:endParaRPr lang="zh-CN" altLang="en-US" sz="1600" dirty="0">
              <a:solidFill>
                <a:schemeClr val="tx1"/>
              </a:solidFill>
            </a:endParaRPr>
          </a:p>
        </p:txBody>
      </p:sp>
      <p:cxnSp>
        <p:nvCxnSpPr>
          <p:cNvPr id="40" name="直接箭头连接符 39"/>
          <p:cNvCxnSpPr>
            <a:stCxn id="14" idx="3"/>
            <a:endCxn id="33" idx="1"/>
          </p:cNvCxnSpPr>
          <p:nvPr/>
        </p:nvCxnSpPr>
        <p:spPr>
          <a:xfrm flipV="1">
            <a:off x="4982118" y="4492838"/>
            <a:ext cx="1030836" cy="438428"/>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43" name="直接箭头连接符 42"/>
          <p:cNvCxnSpPr>
            <a:stCxn id="14" idx="3"/>
            <a:endCxn id="36" idx="1"/>
          </p:cNvCxnSpPr>
          <p:nvPr/>
        </p:nvCxnSpPr>
        <p:spPr>
          <a:xfrm>
            <a:off x="4982118" y="4931266"/>
            <a:ext cx="1030836" cy="421032"/>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50" name="直接箭头连接符 49"/>
          <p:cNvCxnSpPr>
            <a:stCxn id="13" idx="3"/>
            <a:endCxn id="37" idx="1"/>
          </p:cNvCxnSpPr>
          <p:nvPr/>
        </p:nvCxnSpPr>
        <p:spPr>
          <a:xfrm flipV="1">
            <a:off x="4982118" y="5868506"/>
            <a:ext cx="1030836" cy="292368"/>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51" name="直接箭头连接符 50"/>
          <p:cNvCxnSpPr>
            <a:stCxn id="13" idx="3"/>
            <a:endCxn id="39" idx="1"/>
          </p:cNvCxnSpPr>
          <p:nvPr/>
        </p:nvCxnSpPr>
        <p:spPr>
          <a:xfrm>
            <a:off x="4982118" y="6160874"/>
            <a:ext cx="1030836" cy="271544"/>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cSld>
  <p:clrMapOvr>
    <a:masterClrMapping/>
  </p:clrMapOvr>
  <p:transition spd="slow" advClick="0" advTm="0">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rPr>
              <a:t>9.1</a:t>
            </a:r>
            <a:r>
              <a:rPr lang="zh-CN" altLang="en-US" b="1" dirty="0">
                <a:solidFill>
                  <a:schemeClr val="tx1">
                    <a:lumMod val="75000"/>
                    <a:lumOff val="25000"/>
                  </a:schemeClr>
                </a:solidFill>
                <a:latin typeface="微软雅黑" panose="020B0503020204020204" pitchFamily="34" charset="-122"/>
              </a:rPr>
              <a:t>图像特征概述</a:t>
            </a:r>
            <a:endParaRPr lang="en-US" altLang="zh-CN"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84362" y="1701602"/>
            <a:ext cx="8123290" cy="830997"/>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根据特征自身的特点可以将图像的特征分类为</a:t>
            </a:r>
            <a:r>
              <a:rPr lang="zh-CN" altLang="en-US"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颜色特征、边缘特征、角点特征、区域特征、纹理特征</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endParaRPr lang="zh-CN" altLang="en-US" dirty="0"/>
          </a:p>
        </p:txBody>
      </p:sp>
      <p:sp>
        <p:nvSpPr>
          <p:cNvPr id="26" name="TextBox 43"/>
          <p:cNvSpPr txBox="1">
            <a:spLocks noChangeArrowheads="1"/>
          </p:cNvSpPr>
          <p:nvPr/>
        </p:nvSpPr>
        <p:spPr bwMode="auto">
          <a:xfrm>
            <a:off x="1079184" y="1269554"/>
            <a:ext cx="34216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9.1.2  </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图像特征的分类</a:t>
            </a:r>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4" name="矩形: 圆角 23"/>
          <p:cNvSpPr/>
          <p:nvPr/>
        </p:nvSpPr>
        <p:spPr>
          <a:xfrm>
            <a:off x="3304282" y="2809633"/>
            <a:ext cx="2448272"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2000" kern="100" dirty="0">
                <a:solidFill>
                  <a:schemeClr val="tx1"/>
                </a:solidFill>
                <a:effectLst/>
                <a:latin typeface="Times New Roman" panose="02020603050405020304" pitchFamily="18" charset="0"/>
                <a:ea typeface="宋体" pitchFamily="2" charset="-122"/>
                <a:cs typeface="Times New Roman" panose="02020603050405020304" pitchFamily="18" charset="0"/>
              </a:rPr>
              <a:t>图像特征的分类</a:t>
            </a:r>
            <a:endParaRPr lang="zh-CN" altLang="en-US" dirty="0">
              <a:solidFill>
                <a:schemeClr val="tx1"/>
              </a:solidFill>
            </a:endParaRPr>
          </a:p>
        </p:txBody>
      </p:sp>
      <p:sp>
        <p:nvSpPr>
          <p:cNvPr id="25" name="矩形: 圆角 24"/>
          <p:cNvSpPr/>
          <p:nvPr/>
        </p:nvSpPr>
        <p:spPr>
          <a:xfrm>
            <a:off x="612354" y="4277704"/>
            <a:ext cx="1240721"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800" kern="100" dirty="0">
                <a:effectLst/>
                <a:latin typeface="Times New Roman" panose="02020603050405020304" pitchFamily="18" charset="0"/>
                <a:ea typeface="宋体" pitchFamily="2" charset="-122"/>
                <a:cs typeface="Times New Roman" panose="02020603050405020304" pitchFamily="18" charset="0"/>
              </a:rPr>
              <a:t>颜色特征</a:t>
            </a:r>
            <a:endParaRPr lang="zh-CN" altLang="en-US" dirty="0">
              <a:solidFill>
                <a:schemeClr val="tx1"/>
              </a:solidFill>
            </a:endParaRPr>
          </a:p>
        </p:txBody>
      </p:sp>
      <p:sp>
        <p:nvSpPr>
          <p:cNvPr id="27" name="矩形: 圆角 26"/>
          <p:cNvSpPr/>
          <p:nvPr/>
        </p:nvSpPr>
        <p:spPr>
          <a:xfrm>
            <a:off x="2251953" y="4277704"/>
            <a:ext cx="1240721"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800" kern="100" dirty="0">
                <a:effectLst/>
                <a:latin typeface="Times New Roman" panose="02020603050405020304" pitchFamily="18" charset="0"/>
                <a:ea typeface="宋体" pitchFamily="2" charset="-122"/>
                <a:cs typeface="Times New Roman" panose="02020603050405020304" pitchFamily="18" charset="0"/>
              </a:rPr>
              <a:t>边缘特征</a:t>
            </a:r>
            <a:endParaRPr lang="zh-CN" altLang="en-US" dirty="0">
              <a:solidFill>
                <a:schemeClr val="tx1"/>
              </a:solidFill>
            </a:endParaRPr>
          </a:p>
        </p:txBody>
      </p:sp>
      <p:sp>
        <p:nvSpPr>
          <p:cNvPr id="28" name="矩形: 圆角 27"/>
          <p:cNvSpPr/>
          <p:nvPr/>
        </p:nvSpPr>
        <p:spPr>
          <a:xfrm>
            <a:off x="3908137" y="4321801"/>
            <a:ext cx="1240721"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800" kern="100" dirty="0">
                <a:effectLst/>
                <a:latin typeface="Times New Roman" panose="02020603050405020304" pitchFamily="18" charset="0"/>
                <a:ea typeface="宋体" pitchFamily="2" charset="-122"/>
                <a:cs typeface="Times New Roman" panose="02020603050405020304" pitchFamily="18" charset="0"/>
              </a:rPr>
              <a:t>角点特征</a:t>
            </a:r>
            <a:endParaRPr lang="zh-CN" altLang="en-US" dirty="0">
              <a:solidFill>
                <a:schemeClr val="tx1"/>
              </a:solidFill>
            </a:endParaRPr>
          </a:p>
        </p:txBody>
      </p:sp>
      <p:cxnSp>
        <p:nvCxnSpPr>
          <p:cNvPr id="29" name="直接箭头连接符 28"/>
          <p:cNvCxnSpPr>
            <a:stCxn id="24" idx="2"/>
            <a:endCxn id="25" idx="0"/>
          </p:cNvCxnSpPr>
          <p:nvPr/>
        </p:nvCxnSpPr>
        <p:spPr>
          <a:xfrm flipH="1">
            <a:off x="1232715" y="3213770"/>
            <a:ext cx="3295703" cy="1063934"/>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30" name="直接箭头连接符 29"/>
          <p:cNvCxnSpPr>
            <a:stCxn id="24" idx="2"/>
            <a:endCxn id="27" idx="0"/>
          </p:cNvCxnSpPr>
          <p:nvPr/>
        </p:nvCxnSpPr>
        <p:spPr>
          <a:xfrm flipH="1">
            <a:off x="2872314" y="3213770"/>
            <a:ext cx="1656104" cy="1063934"/>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31" name="直接箭头连接符 30"/>
          <p:cNvCxnSpPr>
            <a:stCxn id="24" idx="2"/>
            <a:endCxn id="28" idx="0"/>
          </p:cNvCxnSpPr>
          <p:nvPr/>
        </p:nvCxnSpPr>
        <p:spPr>
          <a:xfrm>
            <a:off x="4528418" y="3213770"/>
            <a:ext cx="80" cy="110803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44" name="矩形: 圆角 43"/>
          <p:cNvSpPr/>
          <p:nvPr/>
        </p:nvSpPr>
        <p:spPr>
          <a:xfrm>
            <a:off x="5652914" y="4321801"/>
            <a:ext cx="1240721"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800" kern="100" dirty="0">
                <a:latin typeface="Times New Roman" panose="02020603050405020304" pitchFamily="18" charset="0"/>
                <a:ea typeface="宋体" pitchFamily="2" charset="-122"/>
                <a:cs typeface="Times New Roman" panose="02020603050405020304" pitchFamily="18" charset="0"/>
              </a:rPr>
              <a:t>区域</a:t>
            </a:r>
            <a:r>
              <a:rPr lang="zh-CN" altLang="en-US" sz="1800" kern="100" dirty="0">
                <a:effectLst/>
                <a:latin typeface="Times New Roman" panose="02020603050405020304" pitchFamily="18" charset="0"/>
                <a:ea typeface="宋体" pitchFamily="2" charset="-122"/>
                <a:cs typeface="Times New Roman" panose="02020603050405020304" pitchFamily="18" charset="0"/>
              </a:rPr>
              <a:t>特征</a:t>
            </a:r>
            <a:endParaRPr lang="zh-CN" altLang="en-US" dirty="0">
              <a:solidFill>
                <a:schemeClr val="tx1"/>
              </a:solidFill>
            </a:endParaRPr>
          </a:p>
        </p:txBody>
      </p:sp>
      <p:sp>
        <p:nvSpPr>
          <p:cNvPr id="45" name="矩形: 圆角 44"/>
          <p:cNvSpPr/>
          <p:nvPr/>
        </p:nvSpPr>
        <p:spPr>
          <a:xfrm>
            <a:off x="7364521" y="4321801"/>
            <a:ext cx="1240721"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800" kern="100" dirty="0">
                <a:latin typeface="Times New Roman" panose="02020603050405020304" pitchFamily="18" charset="0"/>
                <a:ea typeface="宋体" pitchFamily="2" charset="-122"/>
                <a:cs typeface="Times New Roman" panose="02020603050405020304" pitchFamily="18" charset="0"/>
              </a:rPr>
              <a:t>纹理</a:t>
            </a:r>
            <a:r>
              <a:rPr lang="zh-CN" altLang="en-US" sz="1800" kern="100" dirty="0">
                <a:effectLst/>
                <a:latin typeface="Times New Roman" panose="02020603050405020304" pitchFamily="18" charset="0"/>
                <a:ea typeface="宋体" pitchFamily="2" charset="-122"/>
                <a:cs typeface="Times New Roman" panose="02020603050405020304" pitchFamily="18" charset="0"/>
              </a:rPr>
              <a:t>特征</a:t>
            </a:r>
            <a:endParaRPr lang="zh-CN" altLang="en-US" dirty="0">
              <a:solidFill>
                <a:schemeClr val="tx1"/>
              </a:solidFill>
            </a:endParaRPr>
          </a:p>
        </p:txBody>
      </p:sp>
      <p:cxnSp>
        <p:nvCxnSpPr>
          <p:cNvPr id="52" name="直接箭头连接符 51"/>
          <p:cNvCxnSpPr>
            <a:stCxn id="24" idx="2"/>
            <a:endCxn id="44" idx="0"/>
          </p:cNvCxnSpPr>
          <p:nvPr/>
        </p:nvCxnSpPr>
        <p:spPr>
          <a:xfrm>
            <a:off x="4528418" y="3213770"/>
            <a:ext cx="1744857" cy="110803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53" name="直接箭头连接符 52"/>
          <p:cNvCxnSpPr>
            <a:stCxn id="24" idx="2"/>
            <a:endCxn id="45" idx="0"/>
          </p:cNvCxnSpPr>
          <p:nvPr/>
        </p:nvCxnSpPr>
        <p:spPr>
          <a:xfrm>
            <a:off x="4528418" y="3213770"/>
            <a:ext cx="3456464" cy="110803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cSld>
  <p:clrMapOvr>
    <a:masterClrMapping/>
  </p:clrMapOvr>
  <p:transition spd="slow" advClick="0" advTm="0">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rPr>
              <a:t>9.1</a:t>
            </a:r>
            <a:r>
              <a:rPr lang="zh-CN" altLang="en-US" b="1" dirty="0">
                <a:solidFill>
                  <a:schemeClr val="tx1">
                    <a:lumMod val="75000"/>
                    <a:lumOff val="25000"/>
                  </a:schemeClr>
                </a:solidFill>
                <a:latin typeface="微软雅黑" panose="020B0503020204020204" pitchFamily="34" charset="-122"/>
              </a:rPr>
              <a:t>图像特征概述</a:t>
            </a:r>
            <a:endParaRPr lang="en-US" altLang="zh-CN"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481952" y="1252159"/>
            <a:ext cx="8555338" cy="504369"/>
          </a:xfrm>
          <a:prstGeom prst="rect">
            <a:avLst/>
          </a:prstGeom>
          <a:noFill/>
        </p:spPr>
        <p:txBody>
          <a:bodyPr wrap="square">
            <a:spAutoFit/>
          </a:bodyPr>
          <a:lstStyle/>
          <a:p>
            <a:pPr marL="342900" indent="-342900" eaLnBrk="0" fontAlgn="base" hangingPunct="0">
              <a:lnSpc>
                <a:spcPct val="130000"/>
              </a:lnSpc>
              <a:spcBef>
                <a:spcPts val="2400"/>
              </a:spcBef>
              <a:spcAft>
                <a:spcPct val="0"/>
              </a:spcAft>
              <a:buFont typeface="Wingdings" panose="05000000000000000000" pitchFamily="2" charset="2"/>
              <a:buChar char="Ø"/>
              <a:defRPr/>
            </a:pPr>
            <a:r>
              <a:rPr kumimoji="1" lang="zh-CN" altLang="en-US" sz="2400" b="1" dirty="0">
                <a:solidFill>
                  <a:srgbClr val="000000"/>
                </a:solidFill>
                <a:latin typeface="黑体" panose="02010609060101010101" pitchFamily="49" charset="-122"/>
                <a:ea typeface="黑体" panose="02010609060101010101" pitchFamily="49" charset="-122"/>
                <a:cs typeface="+mj-cs"/>
              </a:rPr>
              <a:t>颜色特征</a:t>
            </a:r>
            <a:endParaRPr kumimoji="1" lang="en-US" altLang="zh-CN" sz="2400" b="1" dirty="0">
              <a:solidFill>
                <a:srgbClr val="000000"/>
              </a:solidFill>
              <a:latin typeface="黑体" panose="02010609060101010101" pitchFamily="49" charset="-122"/>
              <a:ea typeface="黑体" panose="02010609060101010101" pitchFamily="49" charset="-122"/>
              <a:cs typeface="+mj-cs"/>
            </a:endParaRPr>
          </a:p>
        </p:txBody>
      </p:sp>
      <p:sp>
        <p:nvSpPr>
          <p:cNvPr id="20" name="文本框 19"/>
          <p:cNvSpPr txBox="1"/>
          <p:nvPr/>
        </p:nvSpPr>
        <p:spPr>
          <a:xfrm>
            <a:off x="445448" y="1701602"/>
            <a:ext cx="8375818" cy="1569660"/>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颜色特征是一种全局特征，描述了图像或图像区域所对应的景物的表面性质。由于颜色对图像或图像区域的方向、大小等变化不敏感，所以颜色特征不能很好地捕捉图像中对象的局部特征。</a:t>
            </a:r>
            <a:endParaRPr lang="zh-CN" altLang="en-US" dirty="0"/>
          </a:p>
        </p:txBody>
      </p:sp>
      <p:sp>
        <p:nvSpPr>
          <p:cNvPr id="21" name="文本框 20"/>
          <p:cNvSpPr txBox="1"/>
          <p:nvPr/>
        </p:nvSpPr>
        <p:spPr>
          <a:xfrm>
            <a:off x="481952" y="3357786"/>
            <a:ext cx="8555338" cy="504369"/>
          </a:xfrm>
          <a:prstGeom prst="rect">
            <a:avLst/>
          </a:prstGeom>
          <a:noFill/>
        </p:spPr>
        <p:txBody>
          <a:bodyPr wrap="square">
            <a:spAutoFit/>
          </a:bodyPr>
          <a:lstStyle/>
          <a:p>
            <a:pPr marL="342900" indent="-342900" eaLnBrk="0" fontAlgn="base" hangingPunct="0">
              <a:lnSpc>
                <a:spcPct val="130000"/>
              </a:lnSpc>
              <a:spcBef>
                <a:spcPts val="2400"/>
              </a:spcBef>
              <a:spcAft>
                <a:spcPct val="0"/>
              </a:spcAft>
              <a:buFont typeface="Wingdings" panose="05000000000000000000" pitchFamily="2" charset="2"/>
              <a:buChar char="Ø"/>
              <a:defRPr/>
            </a:pPr>
            <a:r>
              <a:rPr kumimoji="1" lang="zh-CN" altLang="en-US" sz="2400" b="1" dirty="0">
                <a:solidFill>
                  <a:srgbClr val="000000"/>
                </a:solidFill>
                <a:latin typeface="黑体" panose="02010609060101010101" pitchFamily="49" charset="-122"/>
                <a:ea typeface="黑体" panose="02010609060101010101" pitchFamily="49" charset="-122"/>
                <a:cs typeface="+mj-cs"/>
              </a:rPr>
              <a:t>边缘特征</a:t>
            </a:r>
            <a:endParaRPr kumimoji="1" lang="en-US" altLang="zh-CN" sz="2400" b="1" dirty="0">
              <a:solidFill>
                <a:srgbClr val="000000"/>
              </a:solidFill>
              <a:latin typeface="黑体" panose="02010609060101010101" pitchFamily="49" charset="-122"/>
              <a:ea typeface="黑体" panose="02010609060101010101" pitchFamily="49" charset="-122"/>
              <a:cs typeface="+mj-cs"/>
            </a:endParaRPr>
          </a:p>
        </p:txBody>
      </p:sp>
      <p:sp>
        <p:nvSpPr>
          <p:cNvPr id="23" name="文本框 22"/>
          <p:cNvSpPr txBox="1"/>
          <p:nvPr/>
        </p:nvSpPr>
        <p:spPr>
          <a:xfrm>
            <a:off x="445448" y="3804350"/>
            <a:ext cx="8375818" cy="1569660"/>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边缘特征是组成两个图像区域之间边界</a:t>
            </a:r>
            <a:r>
              <a:rPr lang="en-US" altLang="zh-CN"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effectLst/>
                <a:latin typeface="Times New Roman" panose="02020603050405020304" pitchFamily="18" charset="0"/>
                <a:ea typeface="宋体" pitchFamily="2" charset="-122"/>
                <a:cs typeface="Times New Roman" panose="02020603050405020304" pitchFamily="18" charset="0"/>
              </a:rPr>
              <a:t>或边缘</a:t>
            </a:r>
            <a:r>
              <a:rPr lang="en-US" altLang="zh-CN"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effectLst/>
                <a:latin typeface="Times New Roman" panose="02020603050405020304" pitchFamily="18" charset="0"/>
                <a:ea typeface="宋体" pitchFamily="2" charset="-122"/>
                <a:cs typeface="Times New Roman" panose="02020603050405020304" pitchFamily="18" charset="0"/>
              </a:rPr>
              <a:t>的像素。一般一个边缘的形状可以是任意的，还可能包括交叉点。在实践中边缘一般被定义为图像中拥有大的梯度的点组成的子集。</a:t>
            </a:r>
            <a:endParaRPr lang="zh-CN" altLang="en-US" dirty="0"/>
          </a:p>
        </p:txBody>
      </p:sp>
    </p:spTree>
  </p:cSld>
  <p:clrMapOvr>
    <a:masterClrMapping/>
  </p:clrMapOvr>
  <p:transition spd="slow" advClick="0" advTm="0">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rPr>
              <a:t>9.1</a:t>
            </a:r>
            <a:r>
              <a:rPr lang="zh-CN" altLang="en-US" b="1" dirty="0">
                <a:solidFill>
                  <a:schemeClr val="tx1">
                    <a:lumMod val="75000"/>
                    <a:lumOff val="25000"/>
                  </a:schemeClr>
                </a:solidFill>
                <a:latin typeface="微软雅黑" panose="020B0503020204020204" pitchFamily="34" charset="-122"/>
              </a:rPr>
              <a:t>图像特征概述</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396330" y="1252159"/>
            <a:ext cx="8555338" cy="504369"/>
          </a:xfrm>
          <a:prstGeom prst="rect">
            <a:avLst/>
          </a:prstGeom>
          <a:noFill/>
        </p:spPr>
        <p:txBody>
          <a:bodyPr wrap="square">
            <a:spAutoFit/>
          </a:bodyPr>
          <a:lstStyle/>
          <a:p>
            <a:pPr marL="342900" indent="-342900" eaLnBrk="0" fontAlgn="base" hangingPunct="0">
              <a:lnSpc>
                <a:spcPct val="130000"/>
              </a:lnSpc>
              <a:spcBef>
                <a:spcPts val="2400"/>
              </a:spcBef>
              <a:spcAft>
                <a:spcPct val="0"/>
              </a:spcAft>
              <a:buFont typeface="Wingdings" panose="05000000000000000000" pitchFamily="2" charset="2"/>
              <a:buChar char="Ø"/>
              <a:defRPr/>
            </a:pPr>
            <a:r>
              <a:rPr kumimoji="1" lang="zh-CN" altLang="en-US" sz="2400" b="1" dirty="0">
                <a:solidFill>
                  <a:srgbClr val="000000"/>
                </a:solidFill>
                <a:latin typeface="黑体" panose="02010609060101010101" pitchFamily="49" charset="-122"/>
                <a:ea typeface="黑体" panose="02010609060101010101" pitchFamily="49" charset="-122"/>
                <a:cs typeface="+mj-cs"/>
              </a:rPr>
              <a:t>角点特征</a:t>
            </a:r>
            <a:endParaRPr kumimoji="1" lang="en-US" altLang="zh-CN" sz="2400" b="1" dirty="0">
              <a:solidFill>
                <a:srgbClr val="000000"/>
              </a:solidFill>
              <a:latin typeface="黑体" panose="02010609060101010101" pitchFamily="49" charset="-122"/>
              <a:ea typeface="黑体" panose="02010609060101010101" pitchFamily="49" charset="-122"/>
              <a:cs typeface="+mj-cs"/>
            </a:endParaRPr>
          </a:p>
        </p:txBody>
      </p:sp>
      <p:sp>
        <p:nvSpPr>
          <p:cNvPr id="20" name="文本框 19"/>
          <p:cNvSpPr txBox="1"/>
          <p:nvPr/>
        </p:nvSpPr>
        <p:spPr>
          <a:xfrm>
            <a:off x="373440" y="1701602"/>
            <a:ext cx="8303810" cy="1569660"/>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角是图像中点似的特征，在局部它有二维结构。早期的算法首先进行边缘检测，然后分析边缘的走向来寻找边缘突然转向</a:t>
            </a:r>
            <a:r>
              <a:rPr lang="en-US" altLang="zh-CN"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effectLst/>
                <a:latin typeface="Times New Roman" panose="02020603050405020304" pitchFamily="18" charset="0"/>
                <a:ea typeface="宋体" pitchFamily="2" charset="-122"/>
                <a:cs typeface="Times New Roman" panose="02020603050405020304" pitchFamily="18" charset="0"/>
              </a:rPr>
              <a:t>角</a:t>
            </a:r>
            <a:r>
              <a:rPr lang="en-US" altLang="zh-CN"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effectLst/>
                <a:latin typeface="Times New Roman" panose="02020603050405020304" pitchFamily="18" charset="0"/>
                <a:ea typeface="宋体" pitchFamily="2" charset="-122"/>
                <a:cs typeface="Times New Roman" panose="02020603050405020304" pitchFamily="18" charset="0"/>
              </a:rPr>
              <a:t>。后来发展的算法不再需要边缘检测这个步骤，而是可以直接在图像梯度中寻找高度曲率而确定角点特征。</a:t>
            </a:r>
            <a:endParaRPr lang="zh-CN" altLang="en-US" dirty="0"/>
          </a:p>
        </p:txBody>
      </p:sp>
      <p:sp>
        <p:nvSpPr>
          <p:cNvPr id="21" name="文本框 20"/>
          <p:cNvSpPr txBox="1"/>
          <p:nvPr/>
        </p:nvSpPr>
        <p:spPr>
          <a:xfrm>
            <a:off x="396330" y="3357786"/>
            <a:ext cx="8555338" cy="504369"/>
          </a:xfrm>
          <a:prstGeom prst="rect">
            <a:avLst/>
          </a:prstGeom>
          <a:noFill/>
        </p:spPr>
        <p:txBody>
          <a:bodyPr wrap="square">
            <a:spAutoFit/>
          </a:bodyPr>
          <a:lstStyle/>
          <a:p>
            <a:pPr marL="342900" indent="-342900" eaLnBrk="0" fontAlgn="base" hangingPunct="0">
              <a:lnSpc>
                <a:spcPct val="130000"/>
              </a:lnSpc>
              <a:spcBef>
                <a:spcPts val="2400"/>
              </a:spcBef>
              <a:spcAft>
                <a:spcPct val="0"/>
              </a:spcAft>
              <a:buFont typeface="Wingdings" panose="05000000000000000000" pitchFamily="2" charset="2"/>
              <a:buChar char="Ø"/>
              <a:defRPr/>
            </a:pPr>
            <a:r>
              <a:rPr kumimoji="1" lang="zh-CN" altLang="en-US" sz="2400" b="1" dirty="0">
                <a:solidFill>
                  <a:srgbClr val="000000"/>
                </a:solidFill>
                <a:latin typeface="黑体" panose="02010609060101010101" pitchFamily="49" charset="-122"/>
                <a:ea typeface="黑体" panose="02010609060101010101" pitchFamily="49" charset="-122"/>
                <a:cs typeface="+mj-cs"/>
              </a:rPr>
              <a:t>区域特征</a:t>
            </a:r>
            <a:endParaRPr kumimoji="1" lang="en-US" altLang="zh-CN" sz="2400" b="1" dirty="0">
              <a:solidFill>
                <a:srgbClr val="000000"/>
              </a:solidFill>
              <a:latin typeface="黑体" panose="02010609060101010101" pitchFamily="49" charset="-122"/>
              <a:ea typeface="黑体" panose="02010609060101010101" pitchFamily="49" charset="-122"/>
              <a:cs typeface="+mj-cs"/>
            </a:endParaRPr>
          </a:p>
        </p:txBody>
      </p:sp>
      <p:sp>
        <p:nvSpPr>
          <p:cNvPr id="23" name="文本框 22"/>
          <p:cNvSpPr txBox="1"/>
          <p:nvPr/>
        </p:nvSpPr>
        <p:spPr>
          <a:xfrm>
            <a:off x="373440" y="3789834"/>
            <a:ext cx="8375818" cy="1938992"/>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区域特征描写一个图像中的一个区域性的结构，但是区域也可能仅由一个像素组成，因此许多区域检测也可以用来检测角。一个区域监测器检测图像中一个对于角监测器来说太平滑的区域。区域检测可以被想象为把一张图像缩小，然后在缩小的图像上进行角检测。</a:t>
            </a:r>
            <a:endParaRPr lang="zh-CN" altLang="en-US" dirty="0"/>
          </a:p>
        </p:txBody>
      </p:sp>
    </p:spTree>
  </p:cSld>
  <p:clrMapOvr>
    <a:masterClrMapping/>
  </p:clrMapOvr>
  <p:transition spd="slow" advClick="0" advTm="0">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rPr>
              <a:t>9.1</a:t>
            </a:r>
            <a:r>
              <a:rPr lang="zh-CN" altLang="en-US" b="1" dirty="0">
                <a:solidFill>
                  <a:schemeClr val="tx1">
                    <a:lumMod val="75000"/>
                    <a:lumOff val="25000"/>
                  </a:schemeClr>
                </a:solidFill>
                <a:latin typeface="微软雅黑" panose="020B0503020204020204" pitchFamily="34" charset="-122"/>
              </a:rPr>
              <a:t>图像特征概述</a:t>
            </a:r>
            <a:endParaRPr lang="en-US" altLang="zh-CN"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396330" y="1252159"/>
            <a:ext cx="8555338" cy="527709"/>
          </a:xfrm>
          <a:prstGeom prst="rect">
            <a:avLst/>
          </a:prstGeom>
          <a:noFill/>
        </p:spPr>
        <p:txBody>
          <a:bodyPr wrap="square">
            <a:spAutoFit/>
          </a:bodyPr>
          <a:lstStyle/>
          <a:p>
            <a:pPr marL="342900" indent="-342900" eaLnBrk="0" fontAlgn="base" hangingPunct="0">
              <a:lnSpc>
                <a:spcPct val="130000"/>
              </a:lnSpc>
              <a:spcBef>
                <a:spcPts val="2400"/>
              </a:spcBef>
              <a:spcAft>
                <a:spcPct val="0"/>
              </a:spcAft>
              <a:buFont typeface="Wingdings" panose="05000000000000000000" pitchFamily="2" charset="2"/>
              <a:buChar char="Ø"/>
              <a:defRPr/>
            </a:pPr>
            <a:r>
              <a:rPr kumimoji="1" lang="zh-CN" altLang="en-US" sz="2400" b="1" dirty="0">
                <a:solidFill>
                  <a:srgbClr val="000000"/>
                </a:solidFill>
                <a:cs typeface="+mj-cs"/>
              </a:rPr>
              <a:t> </a:t>
            </a:r>
            <a:r>
              <a:rPr kumimoji="1" lang="zh-CN" altLang="en-US" sz="2400" b="1" dirty="0">
                <a:solidFill>
                  <a:srgbClr val="000000"/>
                </a:solidFill>
                <a:latin typeface="黑体" panose="02010609060101010101" pitchFamily="49" charset="-122"/>
                <a:ea typeface="黑体" panose="02010609060101010101" pitchFamily="49" charset="-122"/>
                <a:cs typeface="+mj-cs"/>
              </a:rPr>
              <a:t>纹理特征</a:t>
            </a:r>
            <a:endParaRPr kumimoji="1" lang="en-US" altLang="zh-CN" sz="2400" b="1" dirty="0">
              <a:solidFill>
                <a:srgbClr val="000000"/>
              </a:solidFill>
              <a:latin typeface="黑体" panose="02010609060101010101" pitchFamily="49" charset="-122"/>
              <a:ea typeface="黑体" panose="02010609060101010101" pitchFamily="49" charset="-122"/>
              <a:cs typeface="+mj-cs"/>
            </a:endParaRPr>
          </a:p>
        </p:txBody>
      </p:sp>
      <p:sp>
        <p:nvSpPr>
          <p:cNvPr id="20" name="文本框 19"/>
          <p:cNvSpPr txBox="1"/>
          <p:nvPr/>
        </p:nvSpPr>
        <p:spPr>
          <a:xfrm>
            <a:off x="373440" y="1766447"/>
            <a:ext cx="8303810" cy="1938992"/>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图像的纹理特征一般是</a:t>
            </a:r>
            <a:r>
              <a:rPr lang="zh-CN" altLang="en-US"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指图像的灰度或则和色彩在空间上有规律的变化或者重复</a:t>
            </a:r>
            <a:r>
              <a:rPr lang="zh-CN" altLang="en-US" sz="2400" kern="100" dirty="0">
                <a:effectLst/>
                <a:latin typeface="Times New Roman" panose="02020603050405020304" pitchFamily="18" charset="0"/>
                <a:ea typeface="宋体" pitchFamily="2" charset="-122"/>
                <a:cs typeface="Times New Roman" panose="02020603050405020304" pitchFamily="18" charset="0"/>
              </a:rPr>
              <a:t>。纹理特征也是一种全局特征，它也描述了图像或图像区域所对应景物的表面性质。但由于纹理只是一种物体表面的特性，并不能完全反映出物体的本质属性，所以仅仅利用纹理特征是无法获得高层次图像内容的。</a:t>
            </a:r>
            <a:endParaRPr lang="zh-CN" altLang="en-US" dirty="0"/>
          </a:p>
        </p:txBody>
      </p:sp>
    </p:spTree>
  </p:cSld>
  <p:clrMapOvr>
    <a:masterClrMapping/>
  </p:clrMapOvr>
  <p:transition spd="slow" advClick="0" advTm="0">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9.1</a:t>
            </a:r>
            <a:r>
              <a:rPr lang="zh-CN" altLang="en-US" sz="2100" b="1" dirty="0">
                <a:solidFill>
                  <a:schemeClr val="tx1">
                    <a:lumMod val="75000"/>
                    <a:lumOff val="25000"/>
                  </a:schemeClr>
                </a:solidFill>
                <a:latin typeface="微软雅黑" panose="020B0503020204020204" pitchFamily="34" charset="-122"/>
              </a:rPr>
              <a:t>图像特征概述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12354" y="1629594"/>
            <a:ext cx="8280920" cy="1938992"/>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图像的特征提取是为了后续的图像的识别和理解做准备，因此图像的特征提取方法应该具体问题具体分析。然而，还是有一些可供遵循的普遍原则，能够作为我们在特征提取实践中的指导。</a:t>
            </a:r>
            <a:endParaRPr lang="en-US" altLang="zh-CN" sz="2400" kern="100" dirty="0">
              <a:effectLst/>
              <a:latin typeface="Times New Roman" panose="02020603050405020304" pitchFamily="18" charset="0"/>
              <a:ea typeface="宋体" pitchFamily="2" charset="-122"/>
              <a:cs typeface="Times New Roman" panose="02020603050405020304" pitchFamily="18" charset="0"/>
            </a:endParaRPr>
          </a:p>
          <a:p>
            <a:r>
              <a:rPr lang="en-US" altLang="zh-CN" sz="2400" kern="100" dirty="0">
                <a:latin typeface="Times New Roman" panose="02020603050405020304" pitchFamily="18" charset="0"/>
                <a:ea typeface="宋体" pitchFamily="2" charset="-122"/>
                <a:cs typeface="Times New Roman" panose="02020603050405020304" pitchFamily="18" charset="0"/>
              </a:rPr>
              <a:t>     </a:t>
            </a:r>
            <a:endParaRPr lang="zh-CN" altLang="en-US" dirty="0"/>
          </a:p>
        </p:txBody>
      </p:sp>
      <p:sp>
        <p:nvSpPr>
          <p:cNvPr id="26" name="TextBox 43"/>
          <p:cNvSpPr txBox="1">
            <a:spLocks noChangeArrowheads="1"/>
          </p:cNvSpPr>
          <p:nvPr/>
        </p:nvSpPr>
        <p:spPr bwMode="auto">
          <a:xfrm>
            <a:off x="1007176" y="1197546"/>
            <a:ext cx="34216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9.1.3  </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特征提取的原则</a:t>
            </a:r>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8" name="内容占位符 2"/>
          <p:cNvSpPr txBox="1">
            <a:spLocks noChangeArrowheads="1"/>
          </p:cNvSpPr>
          <p:nvPr/>
        </p:nvSpPr>
        <p:spPr bwMode="auto">
          <a:xfrm>
            <a:off x="-2267966" y="3141762"/>
            <a:ext cx="10801199" cy="384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599815" marR="0" lvl="0" indent="-342900" algn="l" defTabSz="914400" rtl="0" eaLnBrk="0" fontAlgn="base" latinLnBrk="0" hangingPunct="0">
              <a:lnSpc>
                <a:spcPct val="130000"/>
              </a:lnSpc>
              <a:spcBef>
                <a:spcPct val="20000"/>
              </a:spcBef>
              <a:spcAft>
                <a:spcPct val="0"/>
              </a:spcAft>
              <a:buClr>
                <a:srgbClr val="3333CC"/>
              </a:buClr>
              <a:buSzTx/>
              <a:buFont typeface="Wingdings" panose="05000000000000000000" pitchFamily="2" charset="2"/>
              <a:buChar char="n"/>
              <a:defRPr/>
            </a:pPr>
            <a:r>
              <a:rPr kumimoji="1" lang="zh-CN" altLang="en-US" b="0" i="0" u="none" strike="noStrike" kern="1200" cap="none" spc="0" normalizeH="0" baseline="0" noProof="0" dirty="0">
                <a:ln>
                  <a:noFill/>
                </a:ln>
                <a:solidFill>
                  <a:srgbClr val="FF0000"/>
                </a:solidFill>
                <a:effectLst/>
                <a:uLnTx/>
                <a:uFillTx/>
                <a:latin typeface="Times New Roman" panose="02020603050405020304"/>
                <a:ea typeface="宋体"/>
                <a:cs typeface="+mn-cs"/>
              </a:rPr>
              <a:t>所选取的特征应对噪声和不相关转换不敏感</a:t>
            </a:r>
            <a:endParaRPr kumimoji="1" lang="en-US" altLang="zh-CN" b="0" i="0" u="none" strike="noStrike" kern="1200" cap="none" spc="0" normalizeH="0" baseline="0" noProof="0" dirty="0">
              <a:ln>
                <a:noFill/>
              </a:ln>
              <a:solidFill>
                <a:srgbClr val="FF0000"/>
              </a:solidFill>
              <a:effectLst/>
              <a:uLnTx/>
              <a:uFillTx/>
              <a:latin typeface="Times New Roman" panose="02020603050405020304"/>
              <a:ea typeface="宋体"/>
              <a:cs typeface="+mn-cs"/>
            </a:endParaRPr>
          </a:p>
          <a:p>
            <a:pPr marL="3599815" marR="0" lvl="0" indent="-342900" algn="l" defTabSz="914400" rtl="0" eaLnBrk="0" fontAlgn="base" latinLnBrk="0" hangingPunct="0">
              <a:lnSpc>
                <a:spcPct val="130000"/>
              </a:lnSpc>
              <a:spcBef>
                <a:spcPct val="20000"/>
              </a:spcBef>
              <a:spcAft>
                <a:spcPct val="0"/>
              </a:spcAft>
              <a:buClr>
                <a:srgbClr val="3333CC"/>
              </a:buClr>
              <a:buSzTx/>
              <a:buFont typeface="Wingdings" panose="05000000000000000000" pitchFamily="2" charset="2"/>
              <a:buChar char="n"/>
              <a:defRPr/>
            </a:pPr>
            <a:r>
              <a:rPr kumimoji="1" lang="zh-CN" altLang="en-US" b="0" i="0" u="none" strike="noStrike" kern="1200" cap="none" spc="0" normalizeH="0" baseline="0" noProof="0" dirty="0">
                <a:ln>
                  <a:noFill/>
                </a:ln>
                <a:solidFill>
                  <a:srgbClr val="FF0000"/>
                </a:solidFill>
                <a:effectLst/>
                <a:uLnTx/>
                <a:uFillTx/>
                <a:latin typeface="Times New Roman" panose="02020603050405020304"/>
                <a:ea typeface="宋体"/>
                <a:cs typeface="+mn-cs"/>
              </a:rPr>
              <a:t>所选择的特征不仅能够真实的反映和描述图像而且应该能够将这个类别的图像和其他类别的图像区别开来</a:t>
            </a:r>
            <a:endParaRPr kumimoji="1" lang="en-US" altLang="zh-CN" b="0" i="0" u="none" strike="noStrike" kern="1200" cap="none" spc="0" normalizeH="0" baseline="0" noProof="0" dirty="0">
              <a:ln>
                <a:noFill/>
              </a:ln>
              <a:solidFill>
                <a:srgbClr val="FF0000"/>
              </a:solidFill>
              <a:effectLst/>
              <a:uLnTx/>
              <a:uFillTx/>
              <a:latin typeface="Times New Roman" panose="02020603050405020304"/>
              <a:ea typeface="宋体"/>
              <a:cs typeface="+mn-cs"/>
            </a:endParaRPr>
          </a:p>
          <a:p>
            <a:pPr marL="3599815" marR="0" lvl="0" indent="-342900" algn="l" defTabSz="914400" rtl="0" eaLnBrk="0" fontAlgn="base" latinLnBrk="0" hangingPunct="0">
              <a:lnSpc>
                <a:spcPct val="130000"/>
              </a:lnSpc>
              <a:spcBef>
                <a:spcPct val="20000"/>
              </a:spcBef>
              <a:spcAft>
                <a:spcPct val="0"/>
              </a:spcAft>
              <a:buClr>
                <a:srgbClr val="3333CC"/>
              </a:buClr>
              <a:buSzTx/>
              <a:buFont typeface="Wingdings" panose="05000000000000000000" pitchFamily="2" charset="2"/>
              <a:buChar char="n"/>
              <a:defRPr/>
            </a:pPr>
            <a:r>
              <a:rPr kumimoji="1" lang="zh-CN" altLang="en-US" b="0" i="0" u="none" strike="noStrike" kern="1200" cap="none" spc="0" normalizeH="0" baseline="0" noProof="0" dirty="0">
                <a:ln>
                  <a:noFill/>
                </a:ln>
                <a:solidFill>
                  <a:srgbClr val="FF0000"/>
                </a:solidFill>
                <a:effectLst/>
                <a:uLnTx/>
                <a:uFillTx/>
                <a:latin typeface="Times New Roman" panose="02020603050405020304"/>
                <a:ea typeface="宋体"/>
                <a:cs typeface="+mn-cs"/>
              </a:rPr>
              <a:t>所选取的特征要有合理的计算量</a:t>
            </a:r>
            <a:endParaRPr kumimoji="1" lang="en-US" altLang="zh-CN" b="0" i="0" u="none" strike="noStrike" kern="1200" cap="none" spc="0" normalizeH="0" baseline="0" noProof="0" dirty="0">
              <a:ln>
                <a:noFill/>
              </a:ln>
              <a:solidFill>
                <a:srgbClr val="000000"/>
              </a:solidFill>
              <a:effectLst/>
              <a:uLnTx/>
              <a:uFillTx/>
              <a:latin typeface="Times New Roman" panose="02020603050405020304"/>
              <a:ea typeface="宋体"/>
              <a:cs typeface="+mn-cs"/>
            </a:endParaRPr>
          </a:p>
        </p:txBody>
      </p:sp>
    </p:spTree>
  </p:cSld>
  <p:clrMapOvr>
    <a:masterClrMapping/>
  </p:clrMapOvr>
  <p:transition spd="slow" advClick="0" advTm="0">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583157" y="1269554"/>
            <a:ext cx="7979274" cy="1938992"/>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梯度方向直方图最初是用于人体检测的特征描述子，后来又被广泛应用于目标检测、人脸识别等其他任务中。该方法通过统计图像梯度的方向信息来建立梯度方向直方图梯度方向直方图是在由像素点组成的细胞单元上进行计算的。</a:t>
            </a:r>
            <a:endParaRPr lang="zh-CN" altLang="en-US" dirty="0"/>
          </a:p>
        </p:txBody>
      </p:sp>
    </p:spTree>
  </p:cSld>
  <p:clrMapOvr>
    <a:masterClrMapping/>
  </p:clrMapOvr>
  <p:transition spd="slow" advClick="0" advTm="0">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481952" y="1665954"/>
            <a:ext cx="8555338" cy="527709"/>
          </a:xfrm>
          <a:prstGeom prst="rect">
            <a:avLst/>
          </a:prstGeom>
          <a:noFill/>
        </p:spPr>
        <p:txBody>
          <a:bodyPr wrap="square">
            <a:spAutoFit/>
          </a:bodyPr>
          <a:lstStyle/>
          <a:p>
            <a:pPr marL="342900" indent="-342900" eaLnBrk="0" fontAlgn="base" hangingPunct="0">
              <a:lnSpc>
                <a:spcPct val="130000"/>
              </a:lnSpc>
              <a:spcBef>
                <a:spcPts val="2400"/>
              </a:spcBef>
              <a:spcAft>
                <a:spcPct val="0"/>
              </a:spcAft>
              <a:buFont typeface="Wingdings" panose="05000000000000000000" pitchFamily="2" charset="2"/>
              <a:buChar char="Ø"/>
              <a:defRPr/>
            </a:pPr>
            <a:r>
              <a:rPr kumimoji="1" lang="zh-CN" altLang="en-US" sz="2400" b="1" dirty="0">
                <a:solidFill>
                  <a:srgbClr val="000000"/>
                </a:solidFill>
                <a:cs typeface="+mj-cs"/>
              </a:rPr>
              <a:t> 特征描述子</a:t>
            </a:r>
            <a:endParaRPr kumimoji="1" lang="en-US" altLang="zh-CN" sz="2400" b="1" dirty="0">
              <a:solidFill>
                <a:srgbClr val="000000"/>
              </a:solidFill>
              <a:cs typeface="+mj-cs"/>
            </a:endParaRPr>
          </a:p>
        </p:txBody>
      </p:sp>
      <p:sp>
        <p:nvSpPr>
          <p:cNvPr id="20" name="文本框 19"/>
          <p:cNvSpPr txBox="1"/>
          <p:nvPr/>
        </p:nvSpPr>
        <p:spPr>
          <a:xfrm>
            <a:off x="445448" y="2229465"/>
            <a:ext cx="8375818" cy="1200329"/>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特征描述子是图像的一种表现形式，</a:t>
            </a:r>
            <a:r>
              <a:rPr lang="zh-CN" altLang="en-US"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是指通过提取图像中的有用信息，并去掉无用的信息来得到图像的简化形式，</a:t>
            </a:r>
            <a:r>
              <a:rPr lang="zh-CN" altLang="en-US" sz="2400" kern="100" dirty="0">
                <a:effectLst/>
                <a:latin typeface="Times New Roman" panose="02020603050405020304" pitchFamily="18" charset="0"/>
                <a:ea typeface="宋体" pitchFamily="2" charset="-122"/>
                <a:cs typeface="Times New Roman" panose="02020603050405020304" pitchFamily="18" charset="0"/>
              </a:rPr>
              <a:t>从而通过这个简化形式来表示这个图像。</a:t>
            </a:r>
            <a:endParaRPr lang="zh-CN" altLang="en-US" dirty="0"/>
          </a:p>
        </p:txBody>
      </p:sp>
      <p:sp>
        <p:nvSpPr>
          <p:cNvPr id="10" name="TextBox 43"/>
          <p:cNvSpPr txBox="1">
            <a:spLocks noChangeArrowheads="1"/>
          </p:cNvSpPr>
          <p:nvPr/>
        </p:nvSpPr>
        <p:spPr bwMode="auto">
          <a:xfrm>
            <a:off x="540346" y="1239937"/>
            <a:ext cx="43204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9.2.1  </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梯度方向直方图的计算</a:t>
            </a:r>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spd="slow" advClick="0" advTm="0">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12354" y="1665954"/>
            <a:ext cx="5184576" cy="527709"/>
          </a:xfrm>
          <a:prstGeom prst="rect">
            <a:avLst/>
          </a:prstGeom>
          <a:noFill/>
        </p:spPr>
        <p:txBody>
          <a:bodyPr wrap="square">
            <a:spAutoFit/>
          </a:bodyPr>
          <a:lstStyle/>
          <a:p>
            <a:pPr marL="342900" indent="-342900" eaLnBrk="0" fontAlgn="base" hangingPunct="0">
              <a:lnSpc>
                <a:spcPct val="130000"/>
              </a:lnSpc>
              <a:spcBef>
                <a:spcPts val="2400"/>
              </a:spcBef>
              <a:spcAft>
                <a:spcPct val="0"/>
              </a:spcAft>
              <a:buFont typeface="Wingdings" panose="05000000000000000000" pitchFamily="2" charset="2"/>
              <a:buChar char="Ø"/>
              <a:defRPr/>
            </a:pPr>
            <a:r>
              <a:rPr kumimoji="1" lang="zh-CN" altLang="en-US" sz="2400" b="1" dirty="0">
                <a:solidFill>
                  <a:srgbClr val="000000"/>
                </a:solidFill>
                <a:cs typeface="+mj-cs"/>
              </a:rPr>
              <a:t> 梯度方向直方图计算过程</a:t>
            </a:r>
            <a:endParaRPr kumimoji="1" lang="en-US" altLang="zh-CN" sz="2400" b="1" dirty="0">
              <a:solidFill>
                <a:srgbClr val="000000"/>
              </a:solidFill>
              <a:cs typeface="+mj-cs"/>
            </a:endParaRPr>
          </a:p>
        </p:txBody>
      </p:sp>
      <p:sp>
        <p:nvSpPr>
          <p:cNvPr id="20" name="文本框 19"/>
          <p:cNvSpPr txBox="1"/>
          <p:nvPr/>
        </p:nvSpPr>
        <p:spPr>
          <a:xfrm>
            <a:off x="445448" y="2248049"/>
            <a:ext cx="8375818" cy="461665"/>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en-US" altLang="zh-CN" sz="2400" kern="100" dirty="0">
                <a:effectLst/>
                <a:latin typeface="Times New Roman" panose="02020603050405020304" pitchFamily="18" charset="0"/>
                <a:ea typeface="宋体" pitchFamily="2" charset="-122"/>
                <a:cs typeface="Times New Roman" panose="02020603050405020304" pitchFamily="18" charset="0"/>
              </a:rPr>
              <a:t>1</a:t>
            </a:r>
            <a:r>
              <a:rPr lang="zh-CN" altLang="en-US" sz="2400" kern="100" dirty="0">
                <a:effectLst/>
                <a:latin typeface="Times New Roman" panose="02020603050405020304" pitchFamily="18" charset="0"/>
                <a:ea typeface="宋体" pitchFamily="2" charset="-122"/>
                <a:cs typeface="Times New Roman" panose="02020603050405020304" pitchFamily="18" charset="0"/>
              </a:rPr>
              <a:t>）预处理</a:t>
            </a:r>
            <a:endParaRPr lang="zh-CN" altLang="en-US" dirty="0"/>
          </a:p>
        </p:txBody>
      </p:sp>
      <p:sp>
        <p:nvSpPr>
          <p:cNvPr id="10" name="TextBox 43"/>
          <p:cNvSpPr txBox="1">
            <a:spLocks noChangeArrowheads="1"/>
          </p:cNvSpPr>
          <p:nvPr/>
        </p:nvSpPr>
        <p:spPr bwMode="auto">
          <a:xfrm>
            <a:off x="612354" y="1269554"/>
            <a:ext cx="43204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9.2.1  </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梯度方向直方图的计算</a:t>
            </a:r>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内容占位符 2"/>
          <p:cNvSpPr txBox="1">
            <a:spLocks noChangeArrowheads="1"/>
          </p:cNvSpPr>
          <p:nvPr/>
        </p:nvSpPr>
        <p:spPr bwMode="auto">
          <a:xfrm>
            <a:off x="-2399319" y="2691130"/>
            <a:ext cx="11364601" cy="2970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599815" marR="0" lvl="0" indent="-342900" algn="l" defTabSz="914400" rtl="0" eaLnBrk="0" fontAlgn="base" latinLnBrk="0" hangingPunct="0">
              <a:lnSpc>
                <a:spcPct val="130000"/>
              </a:lnSpc>
              <a:spcBef>
                <a:spcPct val="20000"/>
              </a:spcBef>
              <a:spcAft>
                <a:spcPct val="0"/>
              </a:spcAft>
              <a:buClr>
                <a:srgbClr val="3333CC"/>
              </a:buClr>
              <a:buSzTx/>
              <a:buFont typeface="Wingdings" panose="05000000000000000000" pitchFamily="2" charset="2"/>
              <a:buChar char="n"/>
              <a:defRPr/>
            </a:pPr>
            <a:r>
              <a:rPr kumimoji="1" lang="zh-CN" altLang="en-US" b="0" i="0" u="none" strike="noStrike" kern="1200" cap="none" spc="0" normalizeH="0" baseline="0" noProof="0" dirty="0">
                <a:ln>
                  <a:noFill/>
                </a:ln>
                <a:effectLst/>
                <a:uLnTx/>
                <a:uFillTx/>
                <a:latin typeface="Times New Roman" panose="02020603050405020304"/>
                <a:ea typeface="宋体"/>
                <a:cs typeface="+mn-cs"/>
              </a:rPr>
              <a:t>设定检测窗口</a:t>
            </a:r>
            <a:r>
              <a:rPr lang="zh-CN" altLang="en-US" dirty="0">
                <a:latin typeface="Times New Roman" panose="02020603050405020304"/>
                <a:ea typeface="宋体"/>
              </a:rPr>
              <a:t>，</a:t>
            </a:r>
            <a:r>
              <a:rPr kumimoji="1" lang="zh-CN" altLang="en-US" b="0" i="0" u="none" strike="noStrike" kern="1200" cap="none" spc="0" normalizeH="0" baseline="0" noProof="0" dirty="0">
                <a:ln>
                  <a:noFill/>
                </a:ln>
                <a:effectLst/>
                <a:uLnTx/>
                <a:uFillTx/>
                <a:latin typeface="Times New Roman" panose="02020603050405020304"/>
                <a:ea typeface="宋体"/>
                <a:cs typeface="+mn-cs"/>
              </a:rPr>
              <a:t>检测窗口的大小可以是任意大小，但是有固定比例。</a:t>
            </a:r>
            <a:endParaRPr kumimoji="1" lang="en-US" altLang="zh-CN" b="0" i="0" u="none" strike="noStrike" kern="1200" cap="none" spc="0" normalizeH="0" baseline="0" noProof="0" dirty="0">
              <a:ln>
                <a:noFill/>
              </a:ln>
              <a:effectLst/>
              <a:uLnTx/>
              <a:uFillTx/>
              <a:latin typeface="Times New Roman" panose="02020603050405020304"/>
              <a:ea typeface="宋体"/>
              <a:cs typeface="+mn-cs"/>
            </a:endParaRPr>
          </a:p>
          <a:p>
            <a:pPr marL="3599815" marR="0" lvl="0" indent="-342900" algn="l" defTabSz="914400" rtl="0" eaLnBrk="0" fontAlgn="base" latinLnBrk="0" hangingPunct="0">
              <a:lnSpc>
                <a:spcPct val="130000"/>
              </a:lnSpc>
              <a:spcBef>
                <a:spcPct val="20000"/>
              </a:spcBef>
              <a:spcAft>
                <a:spcPct val="0"/>
              </a:spcAft>
              <a:buClr>
                <a:srgbClr val="3333CC"/>
              </a:buClr>
              <a:buSzTx/>
              <a:buFont typeface="Wingdings" panose="05000000000000000000" pitchFamily="2" charset="2"/>
              <a:buChar char="n"/>
              <a:defRPr/>
            </a:pPr>
            <a:r>
              <a:rPr kumimoji="1" lang="zh-CN" altLang="en-US" b="0" i="0" u="none" strike="noStrike" kern="1200" cap="none" spc="0" normalizeH="0" baseline="0" noProof="0" dirty="0">
                <a:ln>
                  <a:noFill/>
                </a:ln>
                <a:effectLst/>
                <a:uLnTx/>
                <a:uFillTx/>
                <a:latin typeface="Times New Roman" panose="02020603050405020304"/>
                <a:ea typeface="宋体"/>
                <a:cs typeface="+mn-cs"/>
              </a:rPr>
              <a:t>输入图像转化为灰度图像</a:t>
            </a:r>
            <a:endParaRPr kumimoji="1" lang="en-US" altLang="zh-CN" b="0" i="0" u="none" strike="noStrike" kern="1200" cap="none" spc="0" normalizeH="0" baseline="0" noProof="0" dirty="0">
              <a:ln>
                <a:noFill/>
              </a:ln>
              <a:effectLst/>
              <a:uLnTx/>
              <a:uFillTx/>
              <a:latin typeface="Times New Roman" panose="02020603050405020304"/>
              <a:ea typeface="宋体"/>
              <a:cs typeface="+mn-cs"/>
            </a:endParaRPr>
          </a:p>
          <a:p>
            <a:pPr marL="3599815" marR="0" lvl="0" indent="-342900" algn="l" defTabSz="914400" rtl="0" eaLnBrk="0" fontAlgn="base" latinLnBrk="0" hangingPunct="0">
              <a:lnSpc>
                <a:spcPct val="130000"/>
              </a:lnSpc>
              <a:spcBef>
                <a:spcPct val="20000"/>
              </a:spcBef>
              <a:spcAft>
                <a:spcPct val="0"/>
              </a:spcAft>
              <a:buClr>
                <a:srgbClr val="3333CC"/>
              </a:buClr>
              <a:buSzTx/>
              <a:buFont typeface="Wingdings" panose="05000000000000000000" pitchFamily="2" charset="2"/>
              <a:buChar char="n"/>
              <a:defRPr/>
            </a:pPr>
            <a:r>
              <a:rPr kumimoji="1" lang="zh-CN" altLang="en-US" b="0" i="0" u="none" strike="noStrike" kern="1200" cap="none" spc="0" normalizeH="0" baseline="0" noProof="0" dirty="0">
                <a:ln>
                  <a:noFill/>
                </a:ln>
                <a:effectLst/>
                <a:uLnTx/>
                <a:uFillTx/>
                <a:latin typeface="Times New Roman" panose="02020603050405020304"/>
                <a:ea typeface="宋体"/>
                <a:cs typeface="+mn-cs"/>
              </a:rPr>
              <a:t>整个图像进行标准化</a:t>
            </a:r>
            <a:r>
              <a:rPr kumimoji="1" lang="en-US" altLang="zh-CN" b="0" i="0" u="none" strike="noStrike" kern="1200" cap="none" spc="0" normalizeH="0" baseline="0" noProof="0" dirty="0">
                <a:ln>
                  <a:noFill/>
                </a:ln>
                <a:effectLst/>
                <a:uLnTx/>
                <a:uFillTx/>
                <a:latin typeface="Times New Roman" panose="02020603050405020304"/>
                <a:ea typeface="宋体"/>
                <a:cs typeface="+mn-cs"/>
              </a:rPr>
              <a:t>(</a:t>
            </a:r>
            <a:r>
              <a:rPr kumimoji="1" lang="zh-CN" altLang="en-US" b="0" i="0" u="none" strike="noStrike" kern="1200" cap="none" spc="0" normalizeH="0" baseline="0" noProof="0" dirty="0">
                <a:ln>
                  <a:noFill/>
                </a:ln>
                <a:effectLst/>
                <a:uLnTx/>
                <a:uFillTx/>
                <a:latin typeface="Times New Roman" panose="02020603050405020304"/>
                <a:ea typeface="宋体"/>
                <a:cs typeface="+mn-cs"/>
              </a:rPr>
              <a:t>归一化</a:t>
            </a:r>
            <a:r>
              <a:rPr kumimoji="1" lang="en-US" altLang="zh-CN" b="0" i="0" u="none" strike="noStrike" kern="1200" cap="none" spc="0" normalizeH="0" baseline="0" noProof="0" dirty="0">
                <a:ln>
                  <a:noFill/>
                </a:ln>
                <a:effectLst/>
                <a:uLnTx/>
                <a:uFillTx/>
                <a:latin typeface="Times New Roman" panose="02020603050405020304"/>
                <a:ea typeface="宋体"/>
                <a:cs typeface="+mn-cs"/>
              </a:rPr>
              <a:t>)</a:t>
            </a:r>
            <a:r>
              <a:rPr kumimoji="1" lang="zh-CN" altLang="en-US" b="0" i="0" u="none" strike="noStrike" kern="1200" cap="none" spc="0" normalizeH="0" baseline="0" noProof="0" dirty="0">
                <a:ln>
                  <a:noFill/>
                </a:ln>
                <a:effectLst/>
                <a:uLnTx/>
                <a:uFillTx/>
                <a:latin typeface="Times New Roman" panose="02020603050405020304"/>
                <a:ea typeface="宋体"/>
                <a:cs typeface="+mn-cs"/>
              </a:rPr>
              <a:t>使用</a:t>
            </a:r>
            <a:r>
              <a:rPr kumimoji="1" lang="en-US" altLang="zh-CN" b="0" i="0" u="none" strike="noStrike" kern="1200" cap="none" spc="0" normalizeH="0" baseline="0" noProof="0" dirty="0">
                <a:ln>
                  <a:noFill/>
                </a:ln>
                <a:effectLst/>
                <a:uLnTx/>
                <a:uFillTx/>
                <a:latin typeface="Times New Roman" panose="02020603050405020304"/>
                <a:ea typeface="宋体"/>
                <a:cs typeface="+mn-cs"/>
              </a:rPr>
              <a:t>3.6</a:t>
            </a:r>
            <a:r>
              <a:rPr kumimoji="1" lang="zh-CN" altLang="en-US" b="0" i="0" u="none" strike="noStrike" kern="1200" cap="none" spc="0" normalizeH="0" baseline="0" noProof="0" dirty="0">
                <a:ln>
                  <a:noFill/>
                </a:ln>
                <a:effectLst/>
                <a:uLnTx/>
                <a:uFillTx/>
                <a:latin typeface="Times New Roman" panose="02020603050405020304"/>
                <a:ea typeface="宋体"/>
                <a:cs typeface="+mn-cs"/>
              </a:rPr>
              <a:t>节介绍的伽马变换来完成颜色空间的标准化。伽马校正法的公式如</a:t>
            </a:r>
            <a:r>
              <a:rPr kumimoji="1" lang="en-US" altLang="zh-CN" b="0" i="0" u="none" strike="noStrike" kern="1200" cap="none" spc="0" normalizeH="0" baseline="0" noProof="0" dirty="0">
                <a:ln>
                  <a:noFill/>
                </a:ln>
                <a:effectLst/>
                <a:uLnTx/>
                <a:uFillTx/>
                <a:latin typeface="Times New Roman" panose="02020603050405020304"/>
                <a:ea typeface="宋体"/>
                <a:cs typeface="+mn-cs"/>
              </a:rPr>
              <a:t>(9-1)</a:t>
            </a:r>
            <a:r>
              <a:rPr kumimoji="1" lang="zh-CN" altLang="en-US" b="0" i="0" u="none" strike="noStrike" kern="1200" cap="none" spc="0" normalizeH="0" baseline="0" noProof="0" dirty="0">
                <a:ln>
                  <a:noFill/>
                </a:ln>
                <a:effectLst/>
                <a:uLnTx/>
                <a:uFillTx/>
                <a:latin typeface="Times New Roman" panose="02020603050405020304"/>
                <a:ea typeface="宋体"/>
                <a:cs typeface="+mn-cs"/>
              </a:rPr>
              <a:t>所示。</a:t>
            </a:r>
            <a:endParaRPr kumimoji="1" lang="en-US" altLang="zh-CN" b="0" i="0" u="none" strike="noStrike" kern="1200" cap="none" spc="0" normalizeH="0" baseline="0" noProof="0" dirty="0">
              <a:ln>
                <a:noFill/>
              </a:ln>
              <a:effectLst/>
              <a:uLnTx/>
              <a:uFillTx/>
              <a:latin typeface="Times New Roman" panose="02020603050405020304"/>
              <a:ea typeface="宋体"/>
              <a:cs typeface="+mn-cs"/>
            </a:endParaRPr>
          </a:p>
        </p:txBody>
      </p:sp>
      <mc:AlternateContent xmlns:mc="http://schemas.openxmlformats.org/markup-compatibility/2006">
        <mc:Choice xmlns:a14="http://schemas.microsoft.com/office/drawing/2010/main" Requires="a14">
          <p:sp>
            <p:nvSpPr>
              <p:cNvPr id="13" name="文本框 12"/>
              <p:cNvSpPr txBox="1"/>
              <p:nvPr/>
            </p:nvSpPr>
            <p:spPr>
              <a:xfrm>
                <a:off x="2592990" y="5632425"/>
                <a:ext cx="6156268" cy="461665"/>
              </a:xfrm>
              <a:prstGeom prst="rect">
                <a:avLst/>
              </a:prstGeom>
              <a:noFill/>
            </p:spPr>
            <p:txBody>
              <a:bodyPr wrap="square">
                <a:spAutoFit/>
              </a:bodyPr>
              <a:lstStyle/>
              <a:p>
                <a14:m>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𝑈</m:t>
                    </m:r>
                    <m:d>
                      <m:dPr>
                        <m:ctrlPr>
                          <a:rPr kumimoji="0" lang="zh-CN" altLang="zh-CN" sz="24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ctrlPr>
                      </m:d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𝑥</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𝑦</m:t>
                        </m:r>
                      </m:e>
                    </m:d>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m:t>
                    </m:r>
                    <m:sSup>
                      <m:sSupPr>
                        <m:ctrlPr>
                          <a:rPr kumimoji="0" lang="zh-CN" altLang="zh-CN" sz="24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ctrlPr>
                      </m:sSup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𝐼</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𝑥</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𝑦</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m:t>
                        </m:r>
                      </m:e>
                      <m: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𝑔𝑎𝑚𝑚𝑎</m:t>
                        </m:r>
                      </m:sup>
                    </m:sSup>
                  </m:oMath>
                </a14:m>
                <a:r>
                  <a:rPr kumimoji="0" lang="en-US" altLang="zh-CN" sz="2400" b="0" i="0" u="none" strike="noStrike" kern="1200" cap="none" spc="0" normalizeH="0" baseline="0" noProof="0" dirty="0">
                    <a:ln>
                      <a:noFill/>
                    </a:ln>
                    <a:solidFill>
                      <a:prstClr val="black"/>
                    </a:solidFill>
                    <a:effectLst/>
                    <a:uLnTx/>
                    <a:uFillTx/>
                    <a:latin typeface="Times New Roman" panose="02020603050405020304"/>
                    <a:ea typeface="宋体"/>
                  </a:rPr>
                  <a:t>                      (9-1)</a:t>
                </a:r>
                <a:endParaRPr lang="zh-CN" altLang="en-US" sz="2400" dirty="0"/>
              </a:p>
            </p:txBody>
          </p:sp>
        </mc:Choice>
        <mc:Fallback>
          <p:sp>
            <p:nvSpPr>
              <p:cNvPr id="13" name="文本框 12"/>
              <p:cNvSpPr txBox="1">
                <a:spLocks noRot="1" noChangeAspect="1" noMove="1" noResize="1" noEditPoints="1" noAdjustHandles="1" noChangeArrowheads="1" noChangeShapeType="1" noTextEdit="1"/>
              </p:cNvSpPr>
              <p:nvPr/>
            </p:nvSpPr>
            <p:spPr>
              <a:xfrm>
                <a:off x="2592990" y="5632425"/>
                <a:ext cx="6156268" cy="461665"/>
              </a:xfrm>
              <a:prstGeom prst="rect">
                <a:avLst/>
              </a:prstGeom>
              <a:blipFill rotWithShape="1">
                <a:blip r:embed="rId1"/>
                <a:stretch>
                  <a:fillRect l="-5" t="-132" r="4" b="-2614"/>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0" name="文本框 19"/>
          <p:cNvSpPr txBox="1"/>
          <p:nvPr/>
        </p:nvSpPr>
        <p:spPr>
          <a:xfrm>
            <a:off x="445448" y="1158637"/>
            <a:ext cx="8375818" cy="830997"/>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en-US" altLang="zh-CN" sz="2400" kern="100" dirty="0">
                <a:effectLst/>
                <a:latin typeface="Times New Roman" panose="02020603050405020304" pitchFamily="18" charset="0"/>
                <a:ea typeface="宋体" pitchFamily="2" charset="-122"/>
                <a:cs typeface="Times New Roman" panose="02020603050405020304" pitchFamily="18" charset="0"/>
              </a:rPr>
              <a:t>2</a:t>
            </a:r>
            <a:r>
              <a:rPr lang="zh-CN" altLang="en-US" sz="2400" kern="100" dirty="0">
                <a:effectLst/>
                <a:latin typeface="Times New Roman" panose="02020603050405020304" pitchFamily="18" charset="0"/>
                <a:ea typeface="宋体" pitchFamily="2" charset="-122"/>
                <a:cs typeface="Times New Roman" panose="02020603050405020304" pitchFamily="18" charset="0"/>
              </a:rPr>
              <a:t>）计算图像中每个像素点的梯度</a:t>
            </a:r>
            <a:r>
              <a:rPr lang="en-US" altLang="zh-CN"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effectLst/>
                <a:latin typeface="Times New Roman" panose="02020603050405020304" pitchFamily="18" charset="0"/>
                <a:ea typeface="宋体" pitchFamily="2" charset="-122"/>
                <a:cs typeface="Times New Roman" panose="02020603050405020304" pitchFamily="18" charset="0"/>
              </a:rPr>
              <a:t>包括幅值和方向</a:t>
            </a:r>
            <a:r>
              <a:rPr lang="en-US" altLang="zh-CN"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effectLst/>
                <a:latin typeface="Times New Roman" panose="02020603050405020304" pitchFamily="18" charset="0"/>
                <a:ea typeface="宋体" pitchFamily="2" charset="-122"/>
                <a:cs typeface="Times New Roman" panose="02020603050405020304" pitchFamily="18" charset="0"/>
              </a:rPr>
              <a:t>，捕获轮廓信息</a:t>
            </a:r>
            <a:r>
              <a:rPr lang="zh-CN" altLang="en-US" sz="2400" kern="100" dirty="0">
                <a:latin typeface="Times New Roman" panose="02020603050405020304" pitchFamily="18" charset="0"/>
                <a:ea typeface="宋体" pitchFamily="2" charset="-122"/>
                <a:cs typeface="Times New Roman" panose="02020603050405020304" pitchFamily="18" charset="0"/>
              </a:rPr>
              <a:t>。</a:t>
            </a:r>
            <a:endParaRPr lang="zh-CN" altLang="en-US" dirty="0"/>
          </a:p>
        </p:txBody>
      </p:sp>
      <p:sp>
        <p:nvSpPr>
          <p:cNvPr id="9" name="内容占位符 2"/>
          <p:cNvSpPr txBox="1">
            <a:spLocks noChangeArrowheads="1"/>
          </p:cNvSpPr>
          <p:nvPr/>
        </p:nvSpPr>
        <p:spPr bwMode="auto">
          <a:xfrm>
            <a:off x="-2772022" y="1961133"/>
            <a:ext cx="11436609" cy="384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256915" marR="0" lvl="0" indent="0" algn="l" defTabSz="914400" rtl="0" eaLnBrk="0" fontAlgn="base" latinLnBrk="0" hangingPunct="0">
              <a:lnSpc>
                <a:spcPct val="130000"/>
              </a:lnSpc>
              <a:spcBef>
                <a:spcPct val="20000"/>
              </a:spcBef>
              <a:spcAft>
                <a:spcPct val="0"/>
              </a:spcAft>
              <a:buClr>
                <a:srgbClr val="3333CC"/>
              </a:buClr>
              <a:buSzTx/>
              <a:defRPr/>
            </a:pPr>
            <a:r>
              <a:rPr kumimoji="1" lang="zh-CN" altLang="en-US" b="0" i="0" u="none" strike="noStrike" kern="1200" cap="none" spc="0" normalizeH="0" baseline="0" noProof="0" dirty="0">
                <a:ln>
                  <a:noFill/>
                </a:ln>
                <a:effectLst/>
                <a:uLnTx/>
                <a:uFillTx/>
                <a:latin typeface="Times New Roman" panose="02020603050405020304"/>
                <a:ea typeface="宋体"/>
                <a:cs typeface="+mn-cs"/>
              </a:rPr>
              <a:t>          输入图像中像素点</a:t>
            </a:r>
            <a:r>
              <a:rPr kumimoji="1" lang="en-US" altLang="zh-CN" b="0" i="0" u="none" strike="noStrike" kern="1200" cap="none" spc="0" normalizeH="0" baseline="0" noProof="0" dirty="0">
                <a:ln>
                  <a:noFill/>
                </a:ln>
                <a:effectLst/>
                <a:uLnTx/>
                <a:uFillTx/>
                <a:latin typeface="Times New Roman" panose="02020603050405020304"/>
                <a:ea typeface="宋体"/>
                <a:cs typeface="+mn-cs"/>
              </a:rPr>
              <a:t>(</a:t>
            </a:r>
            <a:r>
              <a:rPr kumimoji="1" lang="en-US" altLang="zh-CN" b="0" i="0" u="none" strike="noStrike" kern="1200" cap="none" spc="0" normalizeH="0" baseline="0" noProof="0" dirty="0" err="1">
                <a:ln>
                  <a:noFill/>
                </a:ln>
                <a:effectLst/>
                <a:uLnTx/>
                <a:uFillTx/>
                <a:latin typeface="Times New Roman" panose="02020603050405020304"/>
                <a:ea typeface="宋体"/>
                <a:cs typeface="+mn-cs"/>
              </a:rPr>
              <a:t>x,y</a:t>
            </a:r>
            <a:r>
              <a:rPr kumimoji="1" lang="en-US" altLang="zh-CN" b="0" i="0" u="none" strike="noStrike" kern="1200" cap="none" spc="0" normalizeH="0" baseline="0" noProof="0" dirty="0">
                <a:ln>
                  <a:noFill/>
                </a:ln>
                <a:effectLst/>
                <a:uLnTx/>
                <a:uFillTx/>
                <a:latin typeface="Times New Roman" panose="02020603050405020304"/>
                <a:ea typeface="宋体"/>
                <a:cs typeface="+mn-cs"/>
              </a:rPr>
              <a:t>)</a:t>
            </a:r>
            <a:r>
              <a:rPr kumimoji="1" lang="zh-CN" altLang="en-US" b="0" i="0" u="none" strike="noStrike" kern="1200" cap="none" spc="0" normalizeH="0" baseline="0" noProof="0" dirty="0">
                <a:ln>
                  <a:noFill/>
                </a:ln>
                <a:effectLst/>
                <a:uLnTx/>
                <a:uFillTx/>
                <a:latin typeface="Times New Roman" panose="02020603050405020304"/>
                <a:ea typeface="宋体"/>
                <a:cs typeface="+mn-cs"/>
              </a:rPr>
              <a:t>的梯度计算如公式</a:t>
            </a:r>
            <a:r>
              <a:rPr kumimoji="1" lang="en-US" altLang="zh-CN" b="0" i="0" u="none" strike="noStrike" kern="1200" cap="none" spc="0" normalizeH="0" baseline="0" noProof="0" dirty="0">
                <a:ln>
                  <a:noFill/>
                </a:ln>
                <a:effectLst/>
                <a:uLnTx/>
                <a:uFillTx/>
                <a:latin typeface="Times New Roman" panose="02020603050405020304"/>
                <a:ea typeface="宋体"/>
                <a:cs typeface="+mn-cs"/>
              </a:rPr>
              <a:t>(9-2)</a:t>
            </a:r>
            <a:r>
              <a:rPr kumimoji="1" lang="zh-CN" altLang="en-US" b="0" i="0" u="none" strike="noStrike" kern="1200" cap="none" spc="0" normalizeH="0" baseline="0" noProof="0" dirty="0">
                <a:ln>
                  <a:noFill/>
                </a:ln>
                <a:effectLst/>
                <a:uLnTx/>
                <a:uFillTx/>
                <a:latin typeface="Times New Roman" panose="02020603050405020304"/>
                <a:ea typeface="宋体"/>
                <a:cs typeface="+mn-cs"/>
              </a:rPr>
              <a:t>，</a:t>
            </a:r>
            <a:r>
              <a:rPr kumimoji="1" lang="en-US" altLang="zh-CN" b="0" i="0" u="none" strike="noStrike" kern="1200" cap="none" spc="0" normalizeH="0" baseline="0" noProof="0" dirty="0">
                <a:ln>
                  <a:noFill/>
                </a:ln>
                <a:effectLst/>
                <a:uLnTx/>
                <a:uFillTx/>
                <a:latin typeface="Times New Roman" panose="02020603050405020304"/>
                <a:ea typeface="宋体"/>
                <a:cs typeface="+mn-cs"/>
              </a:rPr>
              <a:t>(9-3)</a:t>
            </a:r>
            <a:r>
              <a:rPr kumimoji="1" lang="zh-CN" altLang="en-US" b="0" i="0" u="none" strike="noStrike" kern="1200" cap="none" spc="0" normalizeH="0" baseline="0" noProof="0" dirty="0">
                <a:ln>
                  <a:noFill/>
                </a:ln>
                <a:effectLst/>
                <a:uLnTx/>
                <a:uFillTx/>
                <a:latin typeface="Times New Roman" panose="02020603050405020304"/>
                <a:ea typeface="宋体"/>
                <a:cs typeface="+mn-cs"/>
              </a:rPr>
              <a:t>所示。</a:t>
            </a:r>
            <a:endParaRPr kumimoji="1" lang="en-US" altLang="zh-CN" b="0" i="0" u="none" strike="noStrike" kern="1200" cap="none" spc="0" normalizeH="0" baseline="0" noProof="0" dirty="0">
              <a:ln>
                <a:noFill/>
              </a:ln>
              <a:effectLst/>
              <a:uLnTx/>
              <a:uFillTx/>
              <a:latin typeface="Times New Roman" panose="02020603050405020304"/>
              <a:ea typeface="宋体"/>
              <a:cs typeface="+mn-cs"/>
            </a:endParaRPr>
          </a:p>
        </p:txBody>
      </p:sp>
      <mc:AlternateContent xmlns:mc="http://schemas.openxmlformats.org/markup-compatibility/2006">
        <mc:Choice xmlns:a14="http://schemas.microsoft.com/office/drawing/2010/main" Requires="a14">
          <p:sp>
            <p:nvSpPr>
              <p:cNvPr id="13" name="文本框 12"/>
              <p:cNvSpPr txBox="1"/>
              <p:nvPr/>
            </p:nvSpPr>
            <p:spPr>
              <a:xfrm>
                <a:off x="1611663" y="2781722"/>
                <a:ext cx="7383177" cy="461665"/>
              </a:xfrm>
              <a:prstGeom prst="rect">
                <a:avLst/>
              </a:prstGeom>
              <a:noFill/>
            </p:spPr>
            <p:txBody>
              <a:bodyPr wrap="square">
                <a:spAutoFit/>
              </a:bodyPr>
              <a:lstStyle/>
              <a:p>
                <a14:m>
                  <m:oMath xmlns:m="http://schemas.openxmlformats.org/officeDocument/2006/math">
                    <m:sSub>
                      <m:sSubPr>
                        <m:ctrlPr>
                          <a:rPr lang="zh-CN" altLang="en-US" sz="2400" i="1" smtClean="0">
                            <a:solidFill>
                              <a:srgbClr val="836967"/>
                            </a:solidFill>
                            <a:latin typeface="Cambria Math" panose="02040503050406030204" pitchFamily="18" charset="0"/>
                          </a:rPr>
                        </m:ctrlPr>
                      </m:sSubPr>
                      <m:e>
                        <m:r>
                          <a:rPr lang="zh-CN" altLang="en-US" sz="2400" i="1">
                            <a:latin typeface="Cambria Math" panose="02040503050406030204" pitchFamily="18" charset="0"/>
                          </a:rPr>
                          <m:t>𝐺</m:t>
                        </m:r>
                      </m:e>
                      <m:sub>
                        <m:r>
                          <a:rPr lang="zh-CN" altLang="en-US" sz="2400" i="1">
                            <a:latin typeface="Cambria Math" panose="02040503050406030204" pitchFamily="18" charset="0"/>
                          </a:rPr>
                          <m:t>𝑥</m:t>
                        </m:r>
                      </m:sub>
                    </m:sSub>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e>
                    </m:d>
                    <m:r>
                      <a:rPr lang="zh-CN" altLang="en-US" sz="2400" i="0">
                        <a:latin typeface="Cambria Math" panose="02040503050406030204" pitchFamily="18" charset="0"/>
                      </a:rPr>
                      <m:t>=</m:t>
                    </m:r>
                    <m:r>
                      <a:rPr lang="zh-CN" altLang="en-US" sz="2400" i="1">
                        <a:latin typeface="Cambria Math" panose="02040503050406030204" pitchFamily="18" charset="0"/>
                      </a:rPr>
                      <m:t>𝐻</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0">
                            <a:latin typeface="Cambria Math" panose="02040503050406030204" pitchFamily="18" charset="0"/>
                          </a:rPr>
                          <m:t>1</m:t>
                        </m:r>
                        <m:r>
                          <a:rPr lang="zh-CN" altLang="en-US" sz="2400" i="0">
                            <a:latin typeface="Cambria Math" panose="02040503050406030204" pitchFamily="18" charset="0"/>
                          </a:rPr>
                          <m:t>,</m:t>
                        </m:r>
                        <m:r>
                          <a:rPr lang="zh-CN" altLang="en-US" sz="2400" i="1">
                            <a:latin typeface="Cambria Math" panose="02040503050406030204" pitchFamily="18" charset="0"/>
                          </a:rPr>
                          <m:t>𝑦</m:t>
                        </m:r>
                      </m:e>
                    </m:d>
                    <m:r>
                      <a:rPr lang="zh-CN" altLang="en-US" sz="2400" i="0">
                        <a:latin typeface="Cambria Math" panose="02040503050406030204" pitchFamily="18" charset="0"/>
                      </a:rPr>
                      <m:t>−</m:t>
                    </m:r>
                    <m:r>
                      <a:rPr lang="zh-CN" altLang="en-US" sz="2400" i="1">
                        <a:latin typeface="Cambria Math" panose="02040503050406030204" pitchFamily="18" charset="0"/>
                      </a:rPr>
                      <m:t>𝐻</m:t>
                    </m:r>
                    <m:d>
                      <m:dPr>
                        <m:sepChr m:val=","/>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e>
                        <m:r>
                          <a:rPr lang="zh-CN" altLang="en-US" sz="2400" i="0">
                            <a:latin typeface="Cambria Math" panose="02040503050406030204" pitchFamily="18" charset="0"/>
                          </a:rPr>
                          <m:t>−</m:t>
                        </m:r>
                        <m:r>
                          <a:rPr lang="zh-CN" altLang="en-US" sz="2400" i="0">
                            <a:latin typeface="Cambria Math" panose="02040503050406030204" pitchFamily="18" charset="0"/>
                          </a:rPr>
                          <m:t>1</m:t>
                        </m:r>
                        <m:r>
                          <a:rPr lang="zh-CN" altLang="en-US" sz="2400" i="1">
                            <a:latin typeface="Cambria Math" panose="02040503050406030204" pitchFamily="18" charset="0"/>
                          </a:rPr>
                          <m:t>𝑦</m:t>
                        </m:r>
                      </m:e>
                    </m:d>
                  </m:oMath>
                </a14:m>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(9-2)</a:t>
                </a:r>
                <a:endParaRPr lang="zh-CN" altLang="en-US" sz="2400" dirty="0">
                  <a:latin typeface="Times New Roman" panose="02020603050405020304" pitchFamily="18" charset="0"/>
                  <a:cs typeface="Times New Roman" panose="02020603050405020304" pitchFamily="18" charset="0"/>
                </a:endParaRPr>
              </a:p>
            </p:txBody>
          </p:sp>
        </mc:Choice>
        <mc:Fallback>
          <p:sp>
            <p:nvSpPr>
              <p:cNvPr id="13" name="文本框 12"/>
              <p:cNvSpPr txBox="1">
                <a:spLocks noRot="1" noChangeAspect="1" noMove="1" noResize="1" noEditPoints="1" noAdjustHandles="1" noChangeArrowheads="1" noChangeShapeType="1" noTextEdit="1"/>
              </p:cNvSpPr>
              <p:nvPr/>
            </p:nvSpPr>
            <p:spPr>
              <a:xfrm>
                <a:off x="1611663" y="2781722"/>
                <a:ext cx="7383177" cy="461665"/>
              </a:xfrm>
              <a:prstGeom prst="rect">
                <a:avLst/>
              </a:prstGeom>
              <a:blipFill rotWithShape="1">
                <a:blip r:embed="rId1"/>
                <a:stretch>
                  <a:fillRect t="-91" r="1" b="-26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1548458" y="3285778"/>
                <a:ext cx="6874223" cy="490840"/>
              </a:xfrm>
              <a:prstGeom prst="rect">
                <a:avLst/>
              </a:prstGeom>
              <a:noFill/>
            </p:spPr>
            <p:txBody>
              <a:bodyPr wrap="square">
                <a:spAutoFit/>
              </a:bodyPr>
              <a:lstStyle/>
              <a:p>
                <a14:m>
                  <m:oMath xmlns:m="http://schemas.openxmlformats.org/officeDocument/2006/math">
                    <m:sSub>
                      <m:sSubPr>
                        <m:ctrlPr>
                          <a:rPr lang="zh-CN" altLang="en-US" sz="2400" i="1" smtClean="0">
                            <a:solidFill>
                              <a:srgbClr val="836967"/>
                            </a:solidFill>
                            <a:latin typeface="Cambria Math" panose="02040503050406030204" pitchFamily="18" charset="0"/>
                          </a:rPr>
                        </m:ctrlPr>
                      </m:sSubPr>
                      <m:e>
                        <m:r>
                          <a:rPr lang="zh-CN" altLang="en-US" sz="2400" i="1">
                            <a:latin typeface="Cambria Math" panose="02040503050406030204" pitchFamily="18" charset="0"/>
                          </a:rPr>
                          <m:t>𝐺</m:t>
                        </m:r>
                      </m:e>
                      <m:sub>
                        <m:r>
                          <a:rPr lang="zh-CN" altLang="en-US" sz="2400" i="1">
                            <a:latin typeface="Cambria Math" panose="02040503050406030204" pitchFamily="18" charset="0"/>
                          </a:rPr>
                          <m:t>𝑦</m:t>
                        </m:r>
                      </m:sub>
                    </m:sSub>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e>
                    </m:d>
                    <m:r>
                      <a:rPr lang="zh-CN" altLang="en-US" sz="2400" i="0">
                        <a:latin typeface="Cambria Math" panose="02040503050406030204" pitchFamily="18" charset="0"/>
                      </a:rPr>
                      <m:t>=</m:t>
                    </m:r>
                    <m:r>
                      <a:rPr lang="zh-CN" altLang="en-US" sz="2400" i="1">
                        <a:latin typeface="Cambria Math" panose="02040503050406030204" pitchFamily="18" charset="0"/>
                      </a:rPr>
                      <m:t>𝐻</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r>
                          <a:rPr lang="zh-CN" altLang="en-US" sz="2400" i="0">
                            <a:latin typeface="Cambria Math" panose="02040503050406030204" pitchFamily="18" charset="0"/>
                          </a:rPr>
                          <m:t>+</m:t>
                        </m:r>
                        <m:r>
                          <a:rPr lang="zh-CN" altLang="en-US" sz="2400" i="0">
                            <a:latin typeface="Cambria Math" panose="02040503050406030204" pitchFamily="18" charset="0"/>
                          </a:rPr>
                          <m:t>1</m:t>
                        </m:r>
                      </m:e>
                    </m:d>
                    <m:r>
                      <a:rPr lang="zh-CN" altLang="en-US" sz="2400" i="0">
                        <a:latin typeface="Cambria Math" panose="02040503050406030204" pitchFamily="18" charset="0"/>
                      </a:rPr>
                      <m:t>−</m:t>
                    </m:r>
                    <m:r>
                      <a:rPr lang="zh-CN" altLang="en-US" sz="2400" i="1">
                        <a:latin typeface="Cambria Math" panose="02040503050406030204" pitchFamily="18" charset="0"/>
                      </a:rPr>
                      <m:t>𝐻</m:t>
                    </m:r>
                    <m:d>
                      <m:dPr>
                        <m:sepChr m:val=","/>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e>
                        <m:r>
                          <a:rPr lang="zh-CN" altLang="en-US" sz="2400" i="1">
                            <a:latin typeface="Cambria Math" panose="02040503050406030204" pitchFamily="18" charset="0"/>
                          </a:rPr>
                          <m:t>𝑦</m:t>
                        </m:r>
                        <m:r>
                          <a:rPr lang="zh-CN" altLang="en-US" sz="2400" i="0">
                            <a:latin typeface="Cambria Math" panose="02040503050406030204" pitchFamily="18" charset="0"/>
                          </a:rPr>
                          <m:t>−</m:t>
                        </m:r>
                        <m:r>
                          <a:rPr lang="zh-CN" altLang="en-US" sz="2400" i="0">
                            <a:latin typeface="Cambria Math" panose="02040503050406030204" pitchFamily="18" charset="0"/>
                          </a:rPr>
                          <m:t>1</m:t>
                        </m:r>
                      </m:e>
                    </m:d>
                  </m:oMath>
                </a14:m>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(9-3)</a:t>
                </a:r>
                <a:endParaRPr lang="zh-CN" altLang="en-US" sz="2400" dirty="0">
                  <a:latin typeface="Times New Roman" panose="02020603050405020304" pitchFamily="18" charset="0"/>
                  <a:cs typeface="Times New Roman" panose="02020603050405020304" pitchFamily="18" charset="0"/>
                </a:endParaRPr>
              </a:p>
            </p:txBody>
          </p:sp>
        </mc:Choice>
        <mc:Fallback>
          <p:sp>
            <p:nvSpPr>
              <p:cNvPr id="16" name="文本框 15"/>
              <p:cNvSpPr txBox="1">
                <a:spLocks noRot="1" noChangeAspect="1" noMove="1" noResize="1" noEditPoints="1" noAdjustHandles="1" noChangeArrowheads="1" noChangeShapeType="1" noTextEdit="1"/>
              </p:cNvSpPr>
              <p:nvPr/>
            </p:nvSpPr>
            <p:spPr>
              <a:xfrm>
                <a:off x="1548458" y="3285778"/>
                <a:ext cx="6874223" cy="490840"/>
              </a:xfrm>
              <a:prstGeom prst="rect">
                <a:avLst/>
              </a:prstGeom>
              <a:blipFill rotWithShape="1">
                <a:blip r:embed="rId2"/>
                <a:stretch>
                  <a:fillRect l="-5" t="-59" r="1" b="5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481001" y="3856474"/>
                <a:ext cx="8052233" cy="1229504"/>
              </a:xfrm>
              <a:prstGeom prst="rect">
                <a:avLst/>
              </a:prstGeom>
              <a:noFill/>
            </p:spPr>
            <p:txBody>
              <a:bodyPr wrap="square">
                <a:spAutoFit/>
              </a:bodyPr>
              <a:lstStyle/>
              <a:p>
                <a:pPr indent="266700" algn="just"/>
                <a:r>
                  <a:rPr lang="en-US" altLang="zh-CN" sz="2400" kern="100" dirty="0">
                    <a:effectLst/>
                    <a:latin typeface="Times New Roman" panose="02020603050405020304" pitchFamily="18" charset="0"/>
                    <a:ea typeface="宋体" pitchFamily="2" charset="-122"/>
                  </a:rPr>
                  <a:t>       </a:t>
                </a:r>
                <a:r>
                  <a:rPr lang="zh-CN" altLang="zh-CN" sz="2400" kern="100" dirty="0">
                    <a:effectLst/>
                    <a:latin typeface="Times New Roman" panose="02020603050405020304" pitchFamily="18" charset="0"/>
                    <a:ea typeface="宋体" pitchFamily="2" charset="-122"/>
                  </a:rPr>
                  <a:t>其中，</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itchFamily="2" charset="-122"/>
                          </a:rPr>
                          <m:t>𝐺</m:t>
                        </m:r>
                      </m:e>
                      <m:sub>
                        <m:r>
                          <a:rPr lang="en-US" altLang="zh-CN" sz="2400" i="1" kern="100">
                            <a:effectLst/>
                            <a:latin typeface="Cambria Math" panose="02040503050406030204" pitchFamily="18" charset="0"/>
                            <a:ea typeface="宋体" pitchFamily="2" charset="-122"/>
                          </a:rPr>
                          <m:t>𝑥</m:t>
                        </m:r>
                      </m:sub>
                    </m:sSub>
                    <m:d>
                      <m:dPr>
                        <m:ctrlPr>
                          <a:rPr lang="zh-CN" altLang="zh-CN" sz="2400" i="1" kern="100">
                            <a:effectLst/>
                            <a:latin typeface="Cambria Math" panose="02040503050406030204" pitchFamily="18" charset="0"/>
                            <a:ea typeface="Cambria Math" panose="02040503050406030204" pitchFamily="18" charset="0"/>
                          </a:rPr>
                        </m:ctrlPr>
                      </m:dPr>
                      <m:e>
                        <m:r>
                          <a:rPr lang="en-US" altLang="zh-CN" sz="2400" i="1" kern="100">
                            <a:effectLst/>
                            <a:latin typeface="Cambria Math" panose="02040503050406030204" pitchFamily="18" charset="0"/>
                            <a:ea typeface="宋体" pitchFamily="2" charset="-122"/>
                          </a:rPr>
                          <m:t>𝑥</m:t>
                        </m:r>
                        <m:r>
                          <a:rPr lang="en-US" altLang="zh-CN" sz="2400"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𝑦</m:t>
                        </m:r>
                      </m:e>
                    </m:d>
                  </m:oMath>
                </a14:m>
                <a:r>
                  <a:rPr lang="zh-CN" altLang="zh-CN" sz="2400" kern="100" dirty="0">
                    <a:effectLst/>
                    <a:latin typeface="Times New Roman" panose="02020603050405020304" pitchFamily="18" charset="0"/>
                    <a:ea typeface="宋体" pitchFamily="2" charset="-122"/>
                  </a:rPr>
                  <a:t>和</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itchFamily="2" charset="-122"/>
                          </a:rPr>
                          <m:t>𝐺</m:t>
                        </m:r>
                      </m:e>
                      <m:sub>
                        <m:r>
                          <a:rPr lang="en-US" altLang="zh-CN" sz="2400" i="1" kern="100">
                            <a:effectLst/>
                            <a:latin typeface="Cambria Math" panose="02040503050406030204" pitchFamily="18" charset="0"/>
                            <a:ea typeface="宋体" pitchFamily="2" charset="-122"/>
                          </a:rPr>
                          <m:t>𝑦</m:t>
                        </m:r>
                      </m:sub>
                    </m:sSub>
                    <m:d>
                      <m:dPr>
                        <m:ctrlPr>
                          <a:rPr lang="zh-CN" altLang="zh-CN" sz="2400" i="1" kern="100">
                            <a:effectLst/>
                            <a:latin typeface="Cambria Math" panose="02040503050406030204" pitchFamily="18" charset="0"/>
                            <a:ea typeface="Cambria Math" panose="02040503050406030204" pitchFamily="18" charset="0"/>
                          </a:rPr>
                        </m:ctrlPr>
                      </m:dPr>
                      <m:e>
                        <m:r>
                          <a:rPr lang="en-US" altLang="zh-CN" sz="2400" i="1" kern="100">
                            <a:effectLst/>
                            <a:latin typeface="Cambria Math" panose="02040503050406030204" pitchFamily="18" charset="0"/>
                            <a:ea typeface="宋体" pitchFamily="2" charset="-122"/>
                          </a:rPr>
                          <m:t>𝑥</m:t>
                        </m:r>
                        <m:r>
                          <a:rPr lang="en-US" altLang="zh-CN" sz="2400"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𝑦</m:t>
                        </m:r>
                      </m:e>
                    </m:d>
                  </m:oMath>
                </a14:m>
                <a:r>
                  <a:rPr lang="zh-CN" altLang="zh-CN" sz="2400" kern="100" dirty="0">
                    <a:effectLst/>
                    <a:latin typeface="Times New Roman" panose="02020603050405020304" pitchFamily="18" charset="0"/>
                    <a:ea typeface="宋体" pitchFamily="2" charset="-122"/>
                  </a:rPr>
                  <a:t>分别表示输入图像中像素点</a:t>
                </a:r>
                <a14:m>
                  <m:oMath xmlns:m="http://schemas.openxmlformats.org/officeDocument/2006/math">
                    <m:r>
                      <a:rPr lang="en-US" altLang="zh-CN" sz="2400"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𝑥</m:t>
                    </m:r>
                    <m:r>
                      <a:rPr lang="en-US" altLang="zh-CN" sz="2400"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𝑦</m:t>
                    </m:r>
                    <m:r>
                      <a:rPr lang="en-US" altLang="zh-CN" sz="2400" kern="100">
                        <a:effectLst/>
                        <a:latin typeface="Cambria Math" panose="02040503050406030204" pitchFamily="18" charset="0"/>
                        <a:ea typeface="宋体" pitchFamily="2" charset="-122"/>
                      </a:rPr>
                      <m:t>)</m:t>
                    </m:r>
                  </m:oMath>
                </a14:m>
                <a:r>
                  <a:rPr lang="zh-CN" altLang="zh-CN" sz="2400" kern="100" dirty="0">
                    <a:effectLst/>
                    <a:latin typeface="Times New Roman" panose="02020603050405020304" pitchFamily="18" charset="0"/>
                    <a:ea typeface="宋体" pitchFamily="2" charset="-122"/>
                  </a:rPr>
                  <a:t>的水平和竖直方向的梯度，</a:t>
                </a:r>
                <a14:m>
                  <m:oMath xmlns:m="http://schemas.openxmlformats.org/officeDocument/2006/math">
                    <m:r>
                      <a:rPr lang="en-US" altLang="zh-CN" sz="2400" i="1" kern="100">
                        <a:effectLst/>
                        <a:latin typeface="Cambria Math" panose="02040503050406030204" pitchFamily="18" charset="0"/>
                        <a:ea typeface="宋体" pitchFamily="2" charset="-122"/>
                      </a:rPr>
                      <m:t>𝐻</m:t>
                    </m:r>
                    <m:d>
                      <m:dPr>
                        <m:ctrlPr>
                          <a:rPr lang="zh-CN" altLang="zh-CN" sz="2400" i="1" kern="100">
                            <a:effectLst/>
                            <a:latin typeface="Cambria Math" panose="02040503050406030204" pitchFamily="18" charset="0"/>
                            <a:ea typeface="Cambria Math" panose="02040503050406030204" pitchFamily="18" charset="0"/>
                          </a:rPr>
                        </m:ctrlPr>
                      </m:dPr>
                      <m:e>
                        <m:r>
                          <a:rPr lang="en-US" altLang="zh-CN" sz="2400" i="1" kern="100">
                            <a:effectLst/>
                            <a:latin typeface="Cambria Math" panose="02040503050406030204" pitchFamily="18" charset="0"/>
                            <a:ea typeface="宋体" pitchFamily="2" charset="-122"/>
                          </a:rPr>
                          <m:t>𝑥</m:t>
                        </m:r>
                        <m:r>
                          <a:rPr lang="en-US" altLang="zh-CN" sz="2400"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𝑦</m:t>
                        </m:r>
                      </m:e>
                    </m:d>
                  </m:oMath>
                </a14:m>
                <a:r>
                  <a:rPr lang="zh-CN" altLang="zh-CN" sz="2400" kern="100" dirty="0">
                    <a:effectLst/>
                    <a:latin typeface="Times New Roman" panose="02020603050405020304" pitchFamily="18" charset="0"/>
                    <a:ea typeface="宋体" pitchFamily="2" charset="-122"/>
                  </a:rPr>
                  <a:t>表示输入图像中像素点的像素值。</a:t>
                </a:r>
                <a:endParaRPr lang="zh-CN" altLang="zh-CN" sz="2400" kern="100" dirty="0">
                  <a:effectLst/>
                  <a:latin typeface="Times New Roman" panose="02020603050405020304" pitchFamily="18" charset="0"/>
                  <a:ea typeface="宋体" pitchFamily="2" charset="-122"/>
                </a:endParaRPr>
              </a:p>
            </p:txBody>
          </p:sp>
        </mc:Choice>
        <mc:Fallback>
          <p:sp>
            <p:nvSpPr>
              <p:cNvPr id="18" name="文本框 17"/>
              <p:cNvSpPr txBox="1">
                <a:spLocks noRot="1" noChangeAspect="1" noMove="1" noResize="1" noEditPoints="1" noAdjustHandles="1" noChangeArrowheads="1" noChangeShapeType="1" noTextEdit="1"/>
              </p:cNvSpPr>
              <p:nvPr/>
            </p:nvSpPr>
            <p:spPr>
              <a:xfrm>
                <a:off x="481001" y="3856474"/>
                <a:ext cx="8052233" cy="1229504"/>
              </a:xfrm>
              <a:prstGeom prst="rect">
                <a:avLst/>
              </a:prstGeom>
              <a:blipFill rotWithShape="1">
                <a:blip r:embed="rId3"/>
                <a:stretch>
                  <a:fillRect l="-4" t="-10" r="1" b="-3904"/>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13" name="文本框 12"/>
              <p:cNvSpPr txBox="1"/>
              <p:nvPr/>
            </p:nvSpPr>
            <p:spPr>
              <a:xfrm>
                <a:off x="482773" y="1341562"/>
                <a:ext cx="8266485" cy="830997"/>
              </a:xfrm>
              <a:prstGeom prst="rect">
                <a:avLst/>
              </a:prstGeom>
              <a:noFill/>
            </p:spPr>
            <p:txBody>
              <a:bodyPr wrap="square">
                <a:spAutoFit/>
              </a:bodyPr>
              <a:lstStyle/>
              <a:p>
                <a:r>
                  <a:rPr lang="en-US" altLang="zh-CN" sz="2400" kern="100" dirty="0">
                    <a:latin typeface="Times New Roman" panose="02020603050405020304" pitchFamily="18" charset="0"/>
                    <a:ea typeface="宋体" pitchFamily="2" charset="-122"/>
                  </a:rPr>
                  <a:t>     </a:t>
                </a:r>
                <a:r>
                  <a:rPr lang="zh-CN" altLang="zh-CN" sz="2400" kern="100" dirty="0">
                    <a:latin typeface="Times New Roman" panose="02020603050405020304" pitchFamily="18" charset="0"/>
                    <a:ea typeface="宋体" pitchFamily="2" charset="-122"/>
                  </a:rPr>
                  <a:t>输入图像中像素点</a:t>
                </a:r>
                <a14:m>
                  <m:oMath xmlns:m="http://schemas.openxmlformats.org/officeDocument/2006/math">
                    <m:r>
                      <a:rPr lang="en-US" altLang="zh-CN" sz="2400" kern="100">
                        <a:latin typeface="Cambria Math" panose="02040503050406030204" pitchFamily="18" charset="0"/>
                        <a:ea typeface="宋体" pitchFamily="2" charset="-122"/>
                      </a:rPr>
                      <m:t>(</m:t>
                    </m:r>
                    <m:r>
                      <a:rPr lang="en-US" altLang="zh-CN" sz="2400" kern="100">
                        <a:latin typeface="Cambria Math" panose="02040503050406030204" pitchFamily="18" charset="0"/>
                        <a:ea typeface="宋体" pitchFamily="2" charset="-122"/>
                      </a:rPr>
                      <m:t>𝑥</m:t>
                    </m:r>
                    <m:r>
                      <a:rPr lang="en-US" altLang="zh-CN" sz="2400" kern="100">
                        <a:latin typeface="Cambria Math" panose="02040503050406030204" pitchFamily="18" charset="0"/>
                        <a:ea typeface="宋体" pitchFamily="2" charset="-122"/>
                      </a:rPr>
                      <m:t>,</m:t>
                    </m:r>
                    <m:r>
                      <a:rPr lang="en-US" altLang="zh-CN" sz="2400" kern="100">
                        <a:latin typeface="Cambria Math" panose="02040503050406030204" pitchFamily="18" charset="0"/>
                        <a:ea typeface="宋体" pitchFamily="2" charset="-122"/>
                      </a:rPr>
                      <m:t>𝑦</m:t>
                    </m:r>
                    <m:r>
                      <a:rPr lang="en-US" altLang="zh-CN" sz="2400" kern="100">
                        <a:latin typeface="Cambria Math" panose="02040503050406030204" pitchFamily="18" charset="0"/>
                        <a:ea typeface="宋体" pitchFamily="2" charset="-122"/>
                      </a:rPr>
                      <m:t>)</m:t>
                    </m:r>
                  </m:oMath>
                </a14:m>
                <a:r>
                  <a:rPr lang="zh-CN" altLang="zh-CN" sz="2400" kern="100" dirty="0">
                    <a:latin typeface="Times New Roman" panose="02020603050405020304" pitchFamily="18" charset="0"/>
                    <a:ea typeface="宋体" pitchFamily="2" charset="-122"/>
                  </a:rPr>
                  <a:t>处的梯度幅值和梯度方向的计算如公式</a:t>
                </a:r>
                <a:r>
                  <a:rPr lang="en-US" altLang="zh-CN" sz="2400" kern="100" dirty="0">
                    <a:latin typeface="Times New Roman" panose="02020603050405020304" pitchFamily="18" charset="0"/>
                    <a:ea typeface="宋体" pitchFamily="2" charset="-122"/>
                  </a:rPr>
                  <a:t>(9-4)</a:t>
                </a:r>
                <a:r>
                  <a:rPr lang="zh-CN" altLang="zh-CN" sz="2400" kern="100" dirty="0">
                    <a:latin typeface="Times New Roman" panose="02020603050405020304" pitchFamily="18" charset="0"/>
                    <a:ea typeface="宋体" pitchFamily="2" charset="-122"/>
                  </a:rPr>
                  <a:t>，</a:t>
                </a:r>
                <a:r>
                  <a:rPr lang="en-US" altLang="zh-CN" sz="2400" kern="100" dirty="0">
                    <a:latin typeface="Times New Roman" panose="02020603050405020304" pitchFamily="18" charset="0"/>
                    <a:ea typeface="宋体" pitchFamily="2" charset="-122"/>
                  </a:rPr>
                  <a:t>(9-5)</a:t>
                </a:r>
                <a:r>
                  <a:rPr lang="zh-CN" altLang="zh-CN" sz="2400" kern="100" dirty="0">
                    <a:latin typeface="Times New Roman" panose="02020603050405020304" pitchFamily="18" charset="0"/>
                    <a:ea typeface="宋体" pitchFamily="2" charset="-122"/>
                  </a:rPr>
                  <a:t>所示。</a:t>
                </a:r>
                <a:endParaRPr lang="zh-CN" altLang="zh-CN" sz="2400" kern="100" dirty="0">
                  <a:latin typeface="Times New Roman" panose="02020603050405020304" pitchFamily="18" charset="0"/>
                  <a:ea typeface="宋体" pitchFamily="2" charset="-122"/>
                </a:endParaRPr>
              </a:p>
            </p:txBody>
          </p:sp>
        </mc:Choice>
        <mc:Fallback>
          <p:sp>
            <p:nvSpPr>
              <p:cNvPr id="13" name="文本框 12"/>
              <p:cNvSpPr txBox="1">
                <a:spLocks noRot="1" noChangeAspect="1" noMove="1" noResize="1" noEditPoints="1" noAdjustHandles="1" noChangeArrowheads="1" noChangeShapeType="1" noTextEdit="1"/>
              </p:cNvSpPr>
              <p:nvPr/>
            </p:nvSpPr>
            <p:spPr>
              <a:xfrm>
                <a:off x="482773" y="1341562"/>
                <a:ext cx="8266485" cy="830997"/>
              </a:xfrm>
              <a:prstGeom prst="rect">
                <a:avLst/>
              </a:prstGeom>
              <a:blipFill rotWithShape="1">
                <a:blip r:embed="rId1"/>
                <a:stretch>
                  <a:fillRect l="-2" t="-53" r="3" b="-10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1506475" y="2277666"/>
                <a:ext cx="4589754" cy="84388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𝐺</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e>
                      </m:d>
                      <m:r>
                        <a:rPr lang="zh-CN" altLang="en-US" sz="2400" i="0">
                          <a:latin typeface="Cambria Math" panose="02040503050406030204" pitchFamily="18" charset="0"/>
                        </a:rPr>
                        <m:t>=</m:t>
                      </m:r>
                      <m:rad>
                        <m:radPr>
                          <m:degHide m:val="on"/>
                          <m:ctrlPr>
                            <a:rPr lang="zh-CN" altLang="en-US" sz="2400" i="1">
                              <a:solidFill>
                                <a:srgbClr val="836967"/>
                              </a:solidFill>
                              <a:latin typeface="Cambria Math" panose="02040503050406030204" pitchFamily="18" charset="0"/>
                            </a:rPr>
                          </m:ctrlPr>
                        </m:radPr>
                        <m:deg/>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𝐺</m:t>
                              </m:r>
                            </m:e>
                            <m:sub>
                              <m:r>
                                <a:rPr lang="zh-CN" altLang="en-US" sz="2400" i="1">
                                  <a:latin typeface="Cambria Math" panose="02040503050406030204" pitchFamily="18" charset="0"/>
                                </a:rPr>
                                <m:t>𝑥</m:t>
                              </m:r>
                            </m:sub>
                          </m:sSub>
                          <m:sSup>
                            <m:sSupPr>
                              <m:ctrlPr>
                                <a:rPr lang="zh-CN" altLang="en-US" sz="2400" i="1">
                                  <a:solidFill>
                                    <a:srgbClr val="836967"/>
                                  </a:solidFill>
                                  <a:latin typeface="Cambria Math" panose="02040503050406030204" pitchFamily="18" charset="0"/>
                                </a:rPr>
                              </m:ctrlPr>
                            </m:sSupPr>
                            <m:e>
                              <m:d>
                                <m:dPr>
                                  <m:sepChr m:val=","/>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e>
                                  <m:r>
                                    <a:rPr lang="zh-CN" altLang="en-US" sz="2400" i="1">
                                      <a:latin typeface="Cambria Math" panose="02040503050406030204" pitchFamily="18" charset="0"/>
                                    </a:rPr>
                                    <m:t>𝑦</m:t>
                                  </m:r>
                                </m:e>
                              </m:d>
                            </m:e>
                            <m:sup>
                              <m:r>
                                <a:rPr lang="zh-CN" altLang="en-US" sz="2400" i="0">
                                  <a:latin typeface="Cambria Math" panose="02040503050406030204" pitchFamily="18" charset="0"/>
                                </a:rPr>
                                <m:t>2</m:t>
                              </m:r>
                            </m:sup>
                          </m:sSup>
                          <m:r>
                            <a:rPr lang="zh-CN" altLang="en-US" sz="2400" i="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𝐺</m:t>
                              </m:r>
                            </m:e>
                            <m:sub>
                              <m:r>
                                <a:rPr lang="zh-CN" altLang="en-US" sz="2400" i="1">
                                  <a:latin typeface="Cambria Math" panose="02040503050406030204" pitchFamily="18" charset="0"/>
                                </a:rPr>
                                <m:t>𝑦</m:t>
                              </m:r>
                            </m:sub>
                          </m:sSub>
                          <m:sSup>
                            <m:sSupPr>
                              <m:ctrlPr>
                                <a:rPr lang="zh-CN" altLang="en-US" sz="2400" i="1">
                                  <a:solidFill>
                                    <a:srgbClr val="836967"/>
                                  </a:solidFill>
                                  <a:latin typeface="Cambria Math" panose="02040503050406030204" pitchFamily="18" charset="0"/>
                                </a:rPr>
                              </m:ctrlPr>
                            </m:sSupPr>
                            <m:e>
                              <m:d>
                                <m:dPr>
                                  <m:sepChr m:val=","/>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e>
                                  <m:r>
                                    <a:rPr lang="zh-CN" altLang="en-US" sz="2400" i="1">
                                      <a:latin typeface="Cambria Math" panose="02040503050406030204" pitchFamily="18" charset="0"/>
                                    </a:rPr>
                                    <m:t>𝑦</m:t>
                                  </m:r>
                                </m:e>
                              </m:d>
                            </m:e>
                            <m:sup>
                              <m:r>
                                <a:rPr lang="zh-CN" altLang="en-US" sz="2400" i="0">
                                  <a:latin typeface="Cambria Math" panose="02040503050406030204" pitchFamily="18" charset="0"/>
                                </a:rPr>
                                <m:t>2</m:t>
                              </m:r>
                            </m:sup>
                          </m:sSup>
                        </m:e>
                      </m:rad>
                    </m:oMath>
                  </m:oMathPara>
                </a14:m>
                <a:endParaRPr lang="zh-CN" altLang="en-US" sz="2400" dirty="0"/>
              </a:p>
            </p:txBody>
          </p:sp>
        </mc:Choice>
        <mc:Fallback>
          <p:sp>
            <p:nvSpPr>
              <p:cNvPr id="14" name="文本框 13"/>
              <p:cNvSpPr txBox="1">
                <a:spLocks noRot="1" noChangeAspect="1" noMove="1" noResize="1" noEditPoints="1" noAdjustHandles="1" noChangeArrowheads="1" noChangeShapeType="1" noTextEdit="1"/>
              </p:cNvSpPr>
              <p:nvPr/>
            </p:nvSpPr>
            <p:spPr>
              <a:xfrm>
                <a:off x="1506475" y="2277666"/>
                <a:ext cx="4589754" cy="843885"/>
              </a:xfrm>
              <a:prstGeom prst="rect">
                <a:avLst/>
              </a:prstGeom>
              <a:blipFill rotWithShape="1">
                <a:blip r:embed="rId2"/>
                <a:stretch>
                  <a:fillRect l="-6" t="-66" r="5" b="62"/>
                </a:stretch>
              </a:blipFill>
            </p:spPr>
            <p:txBody>
              <a:bodyPr/>
              <a:lstStyle/>
              <a:p>
                <a:r>
                  <a:rPr lang="zh-CN" altLang="en-US">
                    <a:noFill/>
                  </a:rPr>
                  <a:t> </a:t>
                </a:r>
              </a:p>
            </p:txBody>
          </p:sp>
        </mc:Fallback>
      </mc:AlternateContent>
      <p:pic>
        <p:nvPicPr>
          <p:cNvPr id="7" name="图片 6"/>
          <p:cNvPicPr>
            <a:picLocks noChangeAspect="1"/>
          </p:cNvPicPr>
          <p:nvPr/>
        </p:nvPicPr>
        <p:blipFill>
          <a:blip r:embed="rId3"/>
          <a:stretch>
            <a:fillRect/>
          </a:stretch>
        </p:blipFill>
        <p:spPr>
          <a:xfrm>
            <a:off x="-2916038" y="3067309"/>
            <a:ext cx="13435378" cy="1010557"/>
          </a:xfrm>
          <a:prstGeom prst="rect">
            <a:avLst/>
          </a:prstGeom>
        </p:spPr>
      </p:pic>
      <p:sp>
        <p:nvSpPr>
          <p:cNvPr id="23" name="文本框 22"/>
          <p:cNvSpPr txBox="1"/>
          <p:nvPr/>
        </p:nvSpPr>
        <p:spPr>
          <a:xfrm>
            <a:off x="7165082" y="2349674"/>
            <a:ext cx="6236562" cy="461665"/>
          </a:xfrm>
          <a:prstGeom prst="rect">
            <a:avLst/>
          </a:prstGeom>
          <a:noFill/>
        </p:spPr>
        <p:txBody>
          <a:bodyPr wrap="square">
            <a:spAutoFit/>
          </a:bodyPr>
          <a:lstStyle/>
          <a:p>
            <a:r>
              <a:rPr lang="en-US" altLang="zh-CN" sz="2400" dirty="0">
                <a:latin typeface="Times New Roman" panose="02020603050405020304"/>
                <a:ea typeface="宋体"/>
              </a:rPr>
              <a:t>(9-4)</a:t>
            </a:r>
            <a:endParaRPr lang="zh-CN" altLang="en-US" sz="2400" dirty="0"/>
          </a:p>
        </p:txBody>
      </p:sp>
      <p:sp>
        <p:nvSpPr>
          <p:cNvPr id="24" name="文本框 23"/>
          <p:cNvSpPr txBox="1"/>
          <p:nvPr/>
        </p:nvSpPr>
        <p:spPr>
          <a:xfrm>
            <a:off x="7172050" y="3400177"/>
            <a:ext cx="6236562" cy="461665"/>
          </a:xfrm>
          <a:prstGeom prst="rect">
            <a:avLst/>
          </a:prstGeom>
          <a:noFill/>
        </p:spPr>
        <p:txBody>
          <a:bodyPr wrap="square">
            <a:spAutoFit/>
          </a:bodyPr>
          <a:lstStyle/>
          <a:p>
            <a:r>
              <a:rPr lang="en-US" altLang="zh-CN" sz="2400" dirty="0">
                <a:latin typeface="Times New Roman" panose="02020603050405020304"/>
                <a:ea typeface="宋体"/>
              </a:rPr>
              <a:t>(9-5)</a:t>
            </a:r>
            <a:endParaRPr lang="zh-CN" altLang="en-US" sz="2400" dirty="0"/>
          </a:p>
        </p:txBody>
      </p:sp>
    </p:spTree>
  </p:cSld>
  <p:clrMapOvr>
    <a:masterClrMapping/>
  </p:clrMapOvr>
  <p:transition spd="slow" advClick="0" advTm="0">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0" name="文本框 19"/>
          <p:cNvSpPr txBox="1"/>
          <p:nvPr/>
        </p:nvSpPr>
        <p:spPr>
          <a:xfrm>
            <a:off x="445448" y="1197546"/>
            <a:ext cx="8375818" cy="461665"/>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en-US" altLang="zh-CN" sz="2400" kern="100" dirty="0">
                <a:latin typeface="Times New Roman" panose="02020603050405020304" pitchFamily="18" charset="0"/>
                <a:ea typeface="宋体" pitchFamily="2" charset="-122"/>
                <a:cs typeface="Times New Roman" panose="02020603050405020304" pitchFamily="18" charset="0"/>
              </a:rPr>
              <a:t>3</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latin typeface="Times New Roman" panose="02020603050405020304" pitchFamily="18" charset="0"/>
                <a:ea typeface="宋体" pitchFamily="2" charset="-122"/>
                <a:cs typeface="Times New Roman" panose="02020603050405020304" pitchFamily="18" charset="0"/>
              </a:rPr>
              <a:t>计算每个细胞单元的梯度方向直方图</a:t>
            </a:r>
            <a:endParaRPr lang="zh-CN" altLang="en-US" dirty="0"/>
          </a:p>
        </p:txBody>
      </p:sp>
      <p:sp>
        <p:nvSpPr>
          <p:cNvPr id="18" name="文本框 17"/>
          <p:cNvSpPr txBox="1"/>
          <p:nvPr/>
        </p:nvSpPr>
        <p:spPr>
          <a:xfrm>
            <a:off x="445448" y="1581393"/>
            <a:ext cx="8052233" cy="1200329"/>
          </a:xfrm>
          <a:prstGeom prst="rect">
            <a:avLst/>
          </a:prstGeom>
          <a:noFill/>
        </p:spPr>
        <p:txBody>
          <a:bodyPr wrap="square">
            <a:spAutoFit/>
          </a:bodyPr>
          <a:lstStyle/>
          <a:p>
            <a:pPr indent="266700" algn="just"/>
            <a:r>
              <a:rPr lang="en-US" altLang="zh-CN" sz="2400" kern="100" dirty="0">
                <a:effectLst/>
                <a:latin typeface="Times New Roman" panose="02020603050405020304" pitchFamily="18" charset="0"/>
                <a:ea typeface="宋体" pitchFamily="2" charset="-122"/>
              </a:rPr>
              <a:t>       </a:t>
            </a:r>
            <a:r>
              <a:rPr lang="zh-CN" altLang="en-US" sz="2400" kern="100" dirty="0">
                <a:latin typeface="Times New Roman" panose="02020603050405020304" pitchFamily="18" charset="0"/>
              </a:rPr>
              <a:t>首先我们将图像分成若干个细胞单元。然后假设我们采用</a:t>
            </a:r>
            <a:r>
              <a:rPr lang="en-US" altLang="zh-CN" sz="2400" kern="100" dirty="0">
                <a:latin typeface="Times New Roman" panose="02020603050405020304" pitchFamily="18" charset="0"/>
              </a:rPr>
              <a:t>9</a:t>
            </a:r>
            <a:r>
              <a:rPr lang="zh-CN" altLang="en-US" sz="2400" kern="100" dirty="0">
                <a:latin typeface="Times New Roman" panose="02020603050405020304" pitchFamily="18" charset="0"/>
              </a:rPr>
              <a:t>个</a:t>
            </a:r>
            <a:r>
              <a:rPr lang="en-US" altLang="zh-CN" sz="2400" kern="100" dirty="0">
                <a:latin typeface="Times New Roman" panose="02020603050405020304" pitchFamily="18" charset="0"/>
              </a:rPr>
              <a:t>bin</a:t>
            </a:r>
            <a:r>
              <a:rPr lang="zh-CN" altLang="en-US" sz="2400" kern="100" dirty="0">
                <a:latin typeface="Times New Roman" panose="02020603050405020304" pitchFamily="18" charset="0"/>
              </a:rPr>
              <a:t>的直方图来统计这个细胞单元的梯度信息，那么计算每个细胞单元的梯度方向直方图过程示意图如图所示。</a:t>
            </a:r>
            <a:endParaRPr lang="zh-CN" altLang="zh-CN" sz="2400" kern="100" dirty="0">
              <a:effectLst/>
              <a:latin typeface="Times New Roman" panose="02020603050405020304" pitchFamily="18" charset="0"/>
              <a:ea typeface="宋体" pitchFamily="2" charset="-122"/>
            </a:endParaRPr>
          </a:p>
        </p:txBody>
      </p:sp>
      <p:pic>
        <p:nvPicPr>
          <p:cNvPr id="3" name="图片 2"/>
          <p:cNvPicPr>
            <a:picLocks noChangeAspect="1"/>
          </p:cNvPicPr>
          <p:nvPr/>
        </p:nvPicPr>
        <p:blipFill rotWithShape="1">
          <a:blip r:embed="rId1"/>
          <a:srcRect b="6784"/>
          <a:stretch>
            <a:fillRect/>
          </a:stretch>
        </p:blipFill>
        <p:spPr>
          <a:xfrm>
            <a:off x="1684856" y="2864756"/>
            <a:ext cx="5573415" cy="3085318"/>
          </a:xfrm>
          <a:prstGeom prst="rect">
            <a:avLst/>
          </a:prstGeom>
        </p:spPr>
      </p:pic>
    </p:spTree>
  </p:cSld>
  <p:clrMapOvr>
    <a:masterClrMapping/>
  </p:clrMapOvr>
  <p:transition spd="slow" advClick="0" advTm="0">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0" name="文本框 19"/>
          <p:cNvSpPr txBox="1"/>
          <p:nvPr/>
        </p:nvSpPr>
        <p:spPr>
          <a:xfrm>
            <a:off x="445448" y="1197546"/>
            <a:ext cx="8254692" cy="1200329"/>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en-US" altLang="zh-CN" sz="2400" kern="100" dirty="0">
                <a:effectLst/>
                <a:latin typeface="Times New Roman" panose="02020603050405020304" pitchFamily="18" charset="0"/>
                <a:ea typeface="宋体" pitchFamily="2" charset="-122"/>
                <a:cs typeface="Times New Roman" panose="02020603050405020304" pitchFamily="18" charset="0"/>
              </a:rPr>
              <a:t>4</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latin typeface="Times New Roman" panose="02020603050405020304" pitchFamily="18" charset="0"/>
                <a:ea typeface="宋体" pitchFamily="2" charset="-122"/>
                <a:cs typeface="Times New Roman" panose="02020603050405020304" pitchFamily="18" charset="0"/>
              </a:rPr>
              <a:t>将每几个细胞单元组成一个更大的块，将</a:t>
            </a:r>
            <a:r>
              <a:rPr lang="en-US" altLang="zh-CN" sz="2400" kern="100" dirty="0">
                <a:latin typeface="Times New Roman" panose="02020603050405020304" pitchFamily="18" charset="0"/>
                <a:ea typeface="宋体" pitchFamily="2" charset="-122"/>
                <a:cs typeface="Times New Roman" panose="02020603050405020304" pitchFamily="18" charset="0"/>
              </a:rPr>
              <a:t>block</a:t>
            </a:r>
            <a:r>
              <a:rPr lang="zh-CN" altLang="en-US" sz="2400" kern="100" dirty="0">
                <a:latin typeface="Times New Roman" panose="02020603050405020304" pitchFamily="18" charset="0"/>
                <a:ea typeface="宋体" pitchFamily="2" charset="-122"/>
                <a:cs typeface="Times New Roman" panose="02020603050405020304" pitchFamily="18" charset="0"/>
              </a:rPr>
              <a:t>内所有细胞单元的特征向量串联起来并归一化，得到该</a:t>
            </a:r>
            <a:r>
              <a:rPr lang="en-US" altLang="zh-CN" sz="2400" kern="100" dirty="0">
                <a:latin typeface="Times New Roman" panose="02020603050405020304" pitchFamily="18" charset="0"/>
                <a:ea typeface="宋体" pitchFamily="2" charset="-122"/>
                <a:cs typeface="Times New Roman" panose="02020603050405020304" pitchFamily="18" charset="0"/>
              </a:rPr>
              <a:t>block</a:t>
            </a:r>
            <a:r>
              <a:rPr lang="zh-CN" altLang="en-US" sz="2400" kern="100" dirty="0">
                <a:latin typeface="Times New Roman" panose="02020603050405020304" pitchFamily="18" charset="0"/>
                <a:ea typeface="宋体" pitchFamily="2" charset="-122"/>
                <a:cs typeface="Times New Roman" panose="02020603050405020304" pitchFamily="18" charset="0"/>
              </a:rPr>
              <a:t>的</a:t>
            </a:r>
            <a:r>
              <a:rPr lang="en-US" altLang="zh-CN" sz="2400" kern="100" dirty="0">
                <a:latin typeface="Times New Roman" panose="02020603050405020304" pitchFamily="18" charset="0"/>
                <a:ea typeface="宋体" pitchFamily="2" charset="-122"/>
                <a:cs typeface="Times New Roman" panose="02020603050405020304" pitchFamily="18" charset="0"/>
              </a:rPr>
              <a:t>HOG</a:t>
            </a:r>
            <a:r>
              <a:rPr lang="zh-CN" altLang="en-US" sz="2400" kern="100" dirty="0">
                <a:latin typeface="Times New Roman" panose="02020603050405020304" pitchFamily="18" charset="0"/>
                <a:ea typeface="宋体" pitchFamily="2" charset="-122"/>
                <a:cs typeface="Times New Roman" panose="02020603050405020304" pitchFamily="18" charset="0"/>
              </a:rPr>
              <a:t>描述符。</a:t>
            </a:r>
            <a:endParaRPr lang="zh-CN" altLang="en-US" dirty="0"/>
          </a:p>
        </p:txBody>
      </p:sp>
      <p:sp>
        <p:nvSpPr>
          <p:cNvPr id="11" name="文本框 10"/>
          <p:cNvSpPr txBox="1"/>
          <p:nvPr/>
        </p:nvSpPr>
        <p:spPr>
          <a:xfrm>
            <a:off x="445448" y="2349674"/>
            <a:ext cx="8254692" cy="830997"/>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en-US" altLang="zh-CN" sz="2400" kern="100" dirty="0">
                <a:effectLst/>
                <a:latin typeface="Times New Roman" panose="02020603050405020304" pitchFamily="18" charset="0"/>
                <a:ea typeface="宋体" pitchFamily="2" charset="-122"/>
                <a:cs typeface="Times New Roman" panose="02020603050405020304" pitchFamily="18" charset="0"/>
              </a:rPr>
              <a:t>5</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latin typeface="Times New Roman" panose="02020603050405020304" pitchFamily="18" charset="0"/>
                <a:ea typeface="宋体" pitchFamily="2" charset="-122"/>
                <a:cs typeface="Times New Roman" panose="02020603050405020304" pitchFamily="18" charset="0"/>
              </a:rPr>
              <a:t>将输入图像内所有</a:t>
            </a:r>
            <a:r>
              <a:rPr lang="en-US" altLang="zh-CN" sz="2400" kern="100" dirty="0">
                <a:latin typeface="Times New Roman" panose="02020603050405020304" pitchFamily="18" charset="0"/>
                <a:ea typeface="宋体" pitchFamily="2" charset="-122"/>
                <a:cs typeface="Times New Roman" panose="02020603050405020304" pitchFamily="18" charset="0"/>
              </a:rPr>
              <a:t>block</a:t>
            </a:r>
            <a:r>
              <a:rPr lang="zh-CN" altLang="en-US" sz="2400" kern="100" dirty="0">
                <a:latin typeface="Times New Roman" panose="02020603050405020304" pitchFamily="18" charset="0"/>
                <a:ea typeface="宋体" pitchFamily="2" charset="-122"/>
                <a:cs typeface="Times New Roman" panose="02020603050405020304" pitchFamily="18" charset="0"/>
              </a:rPr>
              <a:t>的</a:t>
            </a:r>
            <a:r>
              <a:rPr lang="en-US" altLang="zh-CN" sz="2400" kern="100" dirty="0">
                <a:latin typeface="Times New Roman" panose="02020603050405020304" pitchFamily="18" charset="0"/>
                <a:ea typeface="宋体" pitchFamily="2" charset="-122"/>
                <a:cs typeface="Times New Roman" panose="02020603050405020304" pitchFamily="18" charset="0"/>
              </a:rPr>
              <a:t>HOG</a:t>
            </a:r>
            <a:r>
              <a:rPr lang="zh-CN" altLang="en-US" sz="2400" kern="100" dirty="0">
                <a:latin typeface="Times New Roman" panose="02020603050405020304" pitchFamily="18" charset="0"/>
                <a:ea typeface="宋体" pitchFamily="2" charset="-122"/>
                <a:cs typeface="Times New Roman" panose="02020603050405020304" pitchFamily="18" charset="0"/>
              </a:rPr>
              <a:t>描述符串联起来，得到用来判断图像类别的特征向量。</a:t>
            </a:r>
            <a:endParaRPr lang="zh-CN" altLang="en-US" dirty="0"/>
          </a:p>
        </p:txBody>
      </p:sp>
    </p:spTree>
  </p:cSld>
  <p:clrMapOvr>
    <a:masterClrMapping/>
  </p:clrMapOvr>
  <p:transition spd="slow" advClick="0" advTm="0">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12354" y="1629594"/>
            <a:ext cx="8280920" cy="830997"/>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a:t>
            </a:r>
            <a:r>
              <a:rPr lang="en-US" altLang="zh-CN" sz="2400" kern="100" dirty="0" err="1">
                <a:effectLst/>
                <a:latin typeface="Times New Roman" panose="02020603050405020304" pitchFamily="18" charset="0"/>
                <a:ea typeface="宋体" pitchFamily="2" charset="-122"/>
                <a:cs typeface="Times New Roman" panose="02020603050405020304" pitchFamily="18" charset="0"/>
              </a:rPr>
              <a:t>Opencv</a:t>
            </a:r>
            <a:r>
              <a:rPr lang="zh-CN" altLang="en-US" sz="2400" kern="100" dirty="0">
                <a:effectLst/>
                <a:latin typeface="Times New Roman" panose="02020603050405020304" pitchFamily="18" charset="0"/>
                <a:ea typeface="宋体" pitchFamily="2" charset="-122"/>
                <a:cs typeface="Times New Roman" panose="02020603050405020304" pitchFamily="18" charset="0"/>
              </a:rPr>
              <a:t>提供了</a:t>
            </a:r>
            <a:r>
              <a:rPr lang="en-US" altLang="zh-CN" sz="2400" kern="100" dirty="0">
                <a:effectLst/>
                <a:latin typeface="Times New Roman" panose="02020603050405020304" pitchFamily="18" charset="0"/>
                <a:ea typeface="宋体" pitchFamily="2" charset="-122"/>
                <a:cs typeface="Times New Roman" panose="02020603050405020304" pitchFamily="18" charset="0"/>
              </a:rPr>
              <a:t>cv2.HOGDescriptor()</a:t>
            </a:r>
            <a:r>
              <a:rPr lang="zh-CN" altLang="en-US" sz="2400" kern="100" dirty="0">
                <a:effectLst/>
                <a:latin typeface="Times New Roman" panose="02020603050405020304" pitchFamily="18" charset="0"/>
                <a:ea typeface="宋体" pitchFamily="2" charset="-122"/>
                <a:cs typeface="Times New Roman" panose="02020603050405020304" pitchFamily="18" charset="0"/>
              </a:rPr>
              <a:t>函数来定义计算梯度方向直方图的有关参数，该函数调用语法为：</a:t>
            </a:r>
            <a:endParaRPr lang="en-US" altLang="zh-CN" sz="2400" kern="100" dirty="0">
              <a:solidFill>
                <a:srgbClr val="000000"/>
              </a:solidFill>
              <a:latin typeface="Times New Roman" panose="02020603050405020304" pitchFamily="18" charset="0"/>
              <a:ea typeface="宋体" pitchFamily="2" charset="-122"/>
              <a:cs typeface="Times New Roman" panose="02020603050405020304" pitchFamily="18" charset="0"/>
            </a:endParaRPr>
          </a:p>
        </p:txBody>
      </p:sp>
      <p:sp>
        <p:nvSpPr>
          <p:cNvPr id="26" name="TextBox 43"/>
          <p:cNvSpPr txBox="1">
            <a:spLocks noChangeArrowheads="1"/>
          </p:cNvSpPr>
          <p:nvPr/>
        </p:nvSpPr>
        <p:spPr bwMode="auto">
          <a:xfrm>
            <a:off x="972394" y="1239937"/>
            <a:ext cx="69334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9.2.2</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梯度方向直方图的</a:t>
            </a:r>
            <a:r>
              <a:rPr lang="en-US" altLang="zh-CN" sz="2400" b="1" dirty="0" err="1">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Python+Opencv</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实现</a:t>
            </a:r>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文本框 11"/>
          <p:cNvSpPr txBox="1"/>
          <p:nvPr/>
        </p:nvSpPr>
        <p:spPr>
          <a:xfrm>
            <a:off x="684362" y="2511688"/>
            <a:ext cx="8064896" cy="2862322"/>
          </a:xfrm>
          <a:prstGeom prst="rect">
            <a:avLst/>
          </a:prstGeom>
          <a:solidFill>
            <a:srgbClr val="C7C7C7"/>
          </a:solidFill>
        </p:spPr>
        <p:txBody>
          <a:bodyPr wrap="square">
            <a:spAutoFit/>
          </a:bodyPr>
          <a:lstStyle/>
          <a:p>
            <a:pPr marL="342900" marR="0" lvl="0" indent="-342900" algn="l" defTabSz="108839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hog=cv2.HOGDescriptor(</a:t>
            </a:r>
            <a:r>
              <a:rPr kumimoji="0" lang="en-US" altLang="zh-CN" sz="2000" b="0" i="0" u="none" strike="noStrike" kern="100" cap="none" spc="0" normalizeH="0" baseline="0" noProof="0" dirty="0" err="1">
                <a:ln>
                  <a:noFill/>
                </a:ln>
                <a:solidFill>
                  <a:srgbClr val="000000"/>
                </a:solidFill>
                <a:effectLst/>
                <a:uLnTx/>
                <a:uFillTx/>
                <a:latin typeface="Times New Roman" panose="02020603050405020304" pitchFamily="18" charset="0"/>
                <a:ea typeface="宋体" pitchFamily="2" charset="-122"/>
                <a:cs typeface="+mn-cs"/>
              </a:rPr>
              <a:t>winSize,blockSize,blockStride,cellSize,nbins</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a:t>
            </a:r>
            <a:endParaRPr lang="en-US" altLang="zh-CN" sz="2000" kern="100" dirty="0">
              <a:solidFill>
                <a:srgbClr val="000000"/>
              </a:solidFill>
              <a:latin typeface="Times New Roman" panose="02020603050405020304" pitchFamily="18" charset="0"/>
              <a:ea typeface="宋体" pitchFamily="2" charset="-122"/>
            </a:endParaRPr>
          </a:p>
          <a:p>
            <a:pPr marL="0" marR="0" lvl="0" indent="0" algn="l" defTabSz="1088390" rtl="0" eaLnBrk="1" fontAlgn="auto" latinLnBrk="0" hangingPunct="1">
              <a:lnSpc>
                <a:spcPct val="100000"/>
              </a:lnSpc>
              <a:spcBef>
                <a:spcPts val="0"/>
              </a:spcBef>
              <a:spcAft>
                <a:spcPts val="0"/>
              </a:spcAft>
              <a:buClrTx/>
              <a:buSzTx/>
              <a:buFontTx/>
              <a:buNone/>
              <a:defRPr/>
            </a:pPr>
            <a:r>
              <a:rPr lang="zh-CN" altLang="en-US" sz="2000" kern="100" dirty="0">
                <a:solidFill>
                  <a:srgbClr val="000000"/>
                </a:solidFill>
                <a:latin typeface="Times New Roman" panose="02020603050405020304" pitchFamily="18" charset="0"/>
                <a:ea typeface="宋体" pitchFamily="2" charset="-122"/>
              </a:rPr>
              <a:t>     </a:t>
            </a:r>
            <a:endParaRPr lang="en-US" altLang="zh-CN" sz="2000" kern="100" dirty="0">
              <a:solidFill>
                <a:srgbClr val="000000"/>
              </a:solidFill>
              <a:latin typeface="Times New Roman" panose="02020603050405020304" pitchFamily="18" charset="0"/>
              <a:ea typeface="宋体" pitchFamily="2" charset="-122"/>
            </a:endParaRPr>
          </a:p>
          <a:p>
            <a:pPr marL="0" marR="0" lvl="0" indent="0" algn="l" defTabSz="1088390" rtl="0" eaLnBrk="1" fontAlgn="auto" latinLnBrk="0" hangingPunct="1">
              <a:lnSpc>
                <a:spcPct val="100000"/>
              </a:lnSpc>
              <a:spcBef>
                <a:spcPts val="0"/>
              </a:spcBef>
              <a:spcAft>
                <a:spcPts val="0"/>
              </a:spcAft>
              <a:buClrTx/>
              <a:buSzTx/>
              <a:buFontTx/>
              <a:buNone/>
              <a:defRPr/>
            </a:pPr>
            <a:r>
              <a:rPr lang="en-US" altLang="zh-CN" sz="2000" kern="100" dirty="0">
                <a:solidFill>
                  <a:srgbClr val="000000"/>
                </a:solidFill>
                <a:latin typeface="Times New Roman" panose="02020603050405020304" pitchFamily="18" charset="0"/>
                <a:ea typeface="宋体" pitchFamily="2" charset="-122"/>
              </a:rPr>
              <a:t>     </a:t>
            </a:r>
            <a:r>
              <a:rPr lang="zh-CN" altLang="en-US" sz="2000" kern="100" dirty="0">
                <a:solidFill>
                  <a:srgbClr val="000000"/>
                </a:solidFill>
                <a:latin typeface="Times New Roman" panose="02020603050405020304" pitchFamily="18" charset="0"/>
                <a:ea typeface="宋体" pitchFamily="2" charset="-122"/>
              </a:rPr>
              <a:t>参数说明：</a:t>
            </a:r>
            <a:endParaRPr kumimoji="0" lang="en-US"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宋体" pitchFamily="2" charset="-122"/>
              <a:cs typeface="+mn-cs"/>
            </a:endParaRPr>
          </a:p>
          <a:p>
            <a:pPr marL="342900" marR="0" lvl="0" indent="-342900" algn="l"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hog</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：表示输出</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HOG</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描述器。</a:t>
            </a:r>
            <a:endParaRPr kumimoji="0" lang="zh-CN"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宋体" pitchFamily="2" charset="-122"/>
              <a:cs typeface="+mn-cs"/>
            </a:endParaRPr>
          </a:p>
          <a:p>
            <a:pPr marL="342900" marR="0" lvl="0" indent="-342900" algn="l"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000" b="0" i="0" u="none" strike="noStrike" kern="100" cap="none" spc="0" normalizeH="0" baseline="0" noProof="0" dirty="0" err="1">
                <a:ln>
                  <a:noFill/>
                </a:ln>
                <a:solidFill>
                  <a:srgbClr val="000000"/>
                </a:solidFill>
                <a:effectLst/>
                <a:uLnTx/>
                <a:uFillTx/>
                <a:latin typeface="Times New Roman" panose="02020603050405020304" pitchFamily="18" charset="0"/>
                <a:ea typeface="宋体" pitchFamily="2" charset="-122"/>
                <a:cs typeface="+mn-cs"/>
              </a:rPr>
              <a:t>winSize</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：表示检测窗口大小。</a:t>
            </a:r>
            <a:endParaRPr kumimoji="0" lang="zh-CN"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宋体" pitchFamily="2" charset="-122"/>
              <a:cs typeface="+mn-cs"/>
            </a:endParaRPr>
          </a:p>
          <a:p>
            <a:pPr marL="342900" marR="0" lvl="0" indent="-342900" algn="l"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000" b="0" i="0" u="none" strike="noStrike" kern="100" cap="none" spc="0" normalizeH="0" baseline="0" noProof="0" dirty="0" err="1">
                <a:ln>
                  <a:noFill/>
                </a:ln>
                <a:solidFill>
                  <a:srgbClr val="000000"/>
                </a:solidFill>
                <a:effectLst/>
                <a:uLnTx/>
                <a:uFillTx/>
                <a:latin typeface="Times New Roman" panose="02020603050405020304" pitchFamily="18" charset="0"/>
                <a:ea typeface="宋体" pitchFamily="2" charset="-122"/>
                <a:cs typeface="+mn-cs"/>
              </a:rPr>
              <a:t>blockSize</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：表示</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block</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大小。</a:t>
            </a:r>
            <a:endParaRPr kumimoji="0" lang="zh-CN"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宋体" pitchFamily="2" charset="-122"/>
              <a:cs typeface="+mn-cs"/>
            </a:endParaRPr>
          </a:p>
          <a:p>
            <a:pPr marL="342900" marR="0" lvl="0" indent="-342900" algn="l"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000" b="0" i="0" u="none" strike="noStrike" kern="100" cap="none" spc="0" normalizeH="0" baseline="0" noProof="0" dirty="0" err="1">
                <a:ln>
                  <a:noFill/>
                </a:ln>
                <a:solidFill>
                  <a:srgbClr val="000000"/>
                </a:solidFill>
                <a:effectLst/>
                <a:uLnTx/>
                <a:uFillTx/>
                <a:latin typeface="Times New Roman" panose="02020603050405020304" pitchFamily="18" charset="0"/>
                <a:ea typeface="宋体" pitchFamily="2" charset="-122"/>
                <a:cs typeface="+mn-cs"/>
              </a:rPr>
              <a:t>blockStride</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：表示</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block</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移动的步长</a:t>
            </a:r>
            <a:r>
              <a:rPr kumimoji="0" lang="zh-CN"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宋体" pitchFamily="2" charset="-122"/>
                <a:cs typeface="+mn-cs"/>
              </a:rPr>
              <a:t>。</a:t>
            </a:r>
            <a:endParaRPr kumimoji="0" lang="zh-CN"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宋体" pitchFamily="2" charset="-122"/>
              <a:cs typeface="+mn-cs"/>
            </a:endParaRPr>
          </a:p>
          <a:p>
            <a:pPr marL="342900" marR="0" lvl="0" indent="-342900" algn="l"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000" b="0" i="0" u="none" strike="noStrike" kern="100" cap="none" spc="0" normalizeH="0" baseline="0" noProof="0" dirty="0" err="1">
                <a:ln>
                  <a:noFill/>
                </a:ln>
                <a:solidFill>
                  <a:srgbClr val="000000"/>
                </a:solidFill>
                <a:effectLst/>
                <a:uLnTx/>
                <a:uFillTx/>
                <a:latin typeface="Times New Roman" panose="02020603050405020304" pitchFamily="18" charset="0"/>
                <a:ea typeface="宋体" pitchFamily="2" charset="-122"/>
                <a:cs typeface="+mn-cs"/>
              </a:rPr>
              <a:t>cellSize</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：表示细胞单元的大小</a:t>
            </a:r>
            <a:r>
              <a:rPr kumimoji="0" lang="zh-CN"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宋体" pitchFamily="2" charset="-122"/>
                <a:cs typeface="+mn-cs"/>
              </a:rPr>
              <a:t>。</a:t>
            </a:r>
            <a:endParaRPr kumimoji="0" lang="zh-CN"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宋体" pitchFamily="2" charset="-122"/>
              <a:cs typeface="+mn-cs"/>
            </a:endParaRPr>
          </a:p>
          <a:p>
            <a:pPr marL="342900" marR="0" lvl="0" indent="-342900" algn="l"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000" b="0" i="0" u="none" strike="noStrike" kern="100" cap="none" spc="0" normalizeH="0" baseline="0" noProof="0" dirty="0" err="1">
                <a:ln>
                  <a:noFill/>
                </a:ln>
                <a:solidFill>
                  <a:srgbClr val="000000"/>
                </a:solidFill>
                <a:effectLst/>
                <a:uLnTx/>
                <a:uFillTx/>
                <a:latin typeface="Times New Roman" panose="02020603050405020304" pitchFamily="18" charset="0"/>
                <a:ea typeface="宋体" pitchFamily="2" charset="-122"/>
                <a:cs typeface="+mn-cs"/>
              </a:rPr>
              <a:t>nbins</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：表示</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bin</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的取值。</a:t>
            </a:r>
            <a:endParaRPr kumimoji="0" lang="zh-CN"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宋体" pitchFamily="2" charset="-122"/>
              <a:cs typeface="+mn-cs"/>
            </a:endParaRPr>
          </a:p>
        </p:txBody>
      </p:sp>
    </p:spTree>
  </p:cSld>
  <p:clrMapOvr>
    <a:masterClrMapping/>
  </p:clrMapOvr>
  <p:transition spd="slow" advClick="0" advTm="0">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12354" y="1158637"/>
            <a:ext cx="8280920" cy="830997"/>
          </a:xfrm>
          <a:prstGeom prst="rect">
            <a:avLst/>
          </a:prstGeom>
          <a:noFill/>
        </p:spPr>
        <p:txBody>
          <a:bodyPr wrap="square">
            <a:spAutoFit/>
          </a:bodyPr>
          <a:lstStyle/>
          <a:p>
            <a:r>
              <a:rPr lang="zh-CN" altLang="en-US" sz="2400" kern="100" dirty="0">
                <a:latin typeface="Times New Roman" panose="02020603050405020304" pitchFamily="18" charset="0"/>
                <a:ea typeface="宋体" pitchFamily="2" charset="-122"/>
                <a:cs typeface="Times New Roman" panose="02020603050405020304" pitchFamily="18" charset="0"/>
              </a:rPr>
              <a:t>     </a:t>
            </a:r>
            <a:r>
              <a:rPr lang="zh-CN" altLang="en-US" sz="2400" kern="100" dirty="0">
                <a:effectLst/>
                <a:latin typeface="Times New Roman" panose="02020603050405020304" pitchFamily="18" charset="0"/>
                <a:ea typeface="宋体" pitchFamily="2" charset="-122"/>
                <a:cs typeface="Times New Roman" panose="02020603050405020304" pitchFamily="18" charset="0"/>
              </a:rPr>
              <a:t>将有关参数定义完成后，使用</a:t>
            </a:r>
            <a:r>
              <a:rPr lang="en-US" altLang="zh-CN" sz="2400" kern="100" dirty="0" err="1">
                <a:effectLst/>
                <a:latin typeface="Times New Roman" panose="02020603050405020304" pitchFamily="18" charset="0"/>
                <a:ea typeface="宋体" pitchFamily="2" charset="-122"/>
                <a:cs typeface="Times New Roman" panose="02020603050405020304" pitchFamily="18" charset="0"/>
              </a:rPr>
              <a:t>hog.compute</a:t>
            </a:r>
            <a:r>
              <a:rPr lang="en-US" altLang="zh-CN"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effectLst/>
                <a:latin typeface="Times New Roman" panose="02020603050405020304" pitchFamily="18" charset="0"/>
                <a:ea typeface="宋体" pitchFamily="2" charset="-122"/>
                <a:cs typeface="Times New Roman" panose="02020603050405020304" pitchFamily="18" charset="0"/>
              </a:rPr>
              <a:t>函数来计算图像的梯度方向直方图，该函数调用语法为：</a:t>
            </a:r>
            <a:r>
              <a:rPr lang="en-US" altLang="zh-CN" sz="2400" kern="100" dirty="0">
                <a:latin typeface="Times New Roman" panose="02020603050405020304" pitchFamily="18" charset="0"/>
                <a:ea typeface="宋体" pitchFamily="2" charset="-122"/>
                <a:cs typeface="Times New Roman" panose="02020603050405020304" pitchFamily="18" charset="0"/>
              </a:rPr>
              <a:t>     </a:t>
            </a:r>
            <a:endParaRPr lang="zh-CN" altLang="en-US" dirty="0"/>
          </a:p>
        </p:txBody>
      </p:sp>
      <p:sp>
        <p:nvSpPr>
          <p:cNvPr id="9" name="文本框 8"/>
          <p:cNvSpPr txBox="1"/>
          <p:nvPr/>
        </p:nvSpPr>
        <p:spPr>
          <a:xfrm>
            <a:off x="756370" y="2061642"/>
            <a:ext cx="7848872" cy="2923877"/>
          </a:xfrm>
          <a:prstGeom prst="rect">
            <a:avLst/>
          </a:prstGeom>
          <a:solidFill>
            <a:srgbClr val="C7C7C7"/>
          </a:solidFill>
        </p:spPr>
        <p:txBody>
          <a:bodyPr wrap="square">
            <a:spAutoFit/>
          </a:bodyPr>
          <a:lstStyle/>
          <a:p>
            <a:pPr marL="342900" indent="-342900" algn="just">
              <a:buFont typeface="Wingdings" panose="05000000000000000000" pitchFamily="2" charset="2"/>
              <a:buChar char="l"/>
            </a:pPr>
            <a:r>
              <a:rPr lang="en-US" altLang="zh-CN" sz="2000" kern="100" dirty="0" err="1">
                <a:solidFill>
                  <a:srgbClr val="000000"/>
                </a:solidFill>
                <a:latin typeface="Times New Roman" panose="02020603050405020304" pitchFamily="18" charset="0"/>
                <a:ea typeface="宋体" pitchFamily="2" charset="-122"/>
              </a:rPr>
              <a:t>test_hog</a:t>
            </a:r>
            <a:r>
              <a:rPr lang="en-US" altLang="zh-CN" sz="2000" kern="100" dirty="0">
                <a:solidFill>
                  <a:srgbClr val="000000"/>
                </a:solidFill>
                <a:latin typeface="Times New Roman" panose="02020603050405020304" pitchFamily="18" charset="0"/>
                <a:ea typeface="宋体" pitchFamily="2" charset="-122"/>
              </a:rPr>
              <a:t>=</a:t>
            </a:r>
            <a:r>
              <a:rPr lang="en-US" altLang="zh-CN" sz="2000" kern="100" dirty="0" err="1">
                <a:solidFill>
                  <a:srgbClr val="000000"/>
                </a:solidFill>
                <a:latin typeface="Times New Roman" panose="02020603050405020304" pitchFamily="18" charset="0"/>
                <a:ea typeface="宋体" pitchFamily="2" charset="-122"/>
              </a:rPr>
              <a:t>hog.compute</a:t>
            </a:r>
            <a:r>
              <a:rPr lang="en-US" altLang="zh-CN" sz="2000" kern="100" dirty="0">
                <a:solidFill>
                  <a:srgbClr val="000000"/>
                </a:solidFill>
                <a:latin typeface="Times New Roman" panose="02020603050405020304" pitchFamily="18" charset="0"/>
                <a:ea typeface="宋体" pitchFamily="2" charset="-122"/>
              </a:rPr>
              <a:t>(</a:t>
            </a:r>
            <a:r>
              <a:rPr lang="en-US" altLang="zh-CN" sz="2000" kern="100" dirty="0" err="1">
                <a:solidFill>
                  <a:srgbClr val="000000"/>
                </a:solidFill>
                <a:latin typeface="Times New Roman" panose="02020603050405020304" pitchFamily="18" charset="0"/>
                <a:ea typeface="宋体" pitchFamily="2" charset="-122"/>
              </a:rPr>
              <a:t>img,winStride,padding</a:t>
            </a:r>
            <a:r>
              <a:rPr lang="en-US" altLang="zh-CN" sz="2000" kern="100" dirty="0">
                <a:solidFill>
                  <a:srgbClr val="000000"/>
                </a:solidFill>
                <a:latin typeface="Times New Roman" panose="02020603050405020304" pitchFamily="18" charset="0"/>
                <a:ea typeface="宋体" pitchFamily="2" charset="-122"/>
              </a:rPr>
              <a:t>).reshape((-1,))</a:t>
            </a:r>
            <a:endParaRPr lang="en-US" altLang="zh-CN" sz="2000" kern="100" dirty="0">
              <a:solidFill>
                <a:srgbClr val="000000"/>
              </a:solidFill>
              <a:latin typeface="Times New Roman" panose="02020603050405020304" pitchFamily="18" charset="0"/>
              <a:ea typeface="宋体" pitchFamily="2" charset="-122"/>
            </a:endParaRPr>
          </a:p>
          <a:p>
            <a:pPr algn="just"/>
            <a:endParaRPr lang="en-US" altLang="zh-CN" sz="2000" kern="100" dirty="0">
              <a:solidFill>
                <a:srgbClr val="000000"/>
              </a:solidFill>
              <a:latin typeface="Times New Roman" panose="02020603050405020304" pitchFamily="18" charset="0"/>
              <a:ea typeface="宋体" pitchFamily="2" charset="-122"/>
            </a:endParaRPr>
          </a:p>
          <a:p>
            <a:pPr indent="266700" algn="just"/>
            <a:r>
              <a:rPr lang="en-US" altLang="zh-CN" sz="2000" kern="100" dirty="0">
                <a:solidFill>
                  <a:srgbClr val="000000"/>
                </a:solidFill>
                <a:latin typeface="Times New Roman" panose="02020603050405020304" pitchFamily="18" charset="0"/>
                <a:ea typeface="宋体" pitchFamily="2" charset="-122"/>
              </a:rPr>
              <a:t> </a:t>
            </a:r>
            <a:r>
              <a:rPr lang="zh-CN" altLang="en-US" sz="2000" kern="100" dirty="0">
                <a:solidFill>
                  <a:srgbClr val="000000"/>
                </a:solidFill>
                <a:latin typeface="Times New Roman" panose="02020603050405020304" pitchFamily="18" charset="0"/>
                <a:ea typeface="宋体" pitchFamily="2" charset="-122"/>
              </a:rPr>
              <a:t>参数说明：</a:t>
            </a:r>
            <a:endParaRPr lang="zh-CN" altLang="zh-CN" sz="2000" kern="100" dirty="0">
              <a:solidFill>
                <a:srgbClr val="000000"/>
              </a:solidFill>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err="1">
                <a:solidFill>
                  <a:srgbClr val="000000"/>
                </a:solidFill>
                <a:latin typeface="Times New Roman" panose="02020603050405020304" pitchFamily="18" charset="0"/>
                <a:ea typeface="宋体" pitchFamily="2" charset="-122"/>
              </a:rPr>
              <a:t>test_hog</a:t>
            </a:r>
            <a:r>
              <a:rPr lang="zh-CN" altLang="zh-CN" sz="2000" kern="100" dirty="0">
                <a:solidFill>
                  <a:srgbClr val="000000"/>
                </a:solidFill>
                <a:latin typeface="Times New Roman" panose="02020603050405020304" pitchFamily="18" charset="0"/>
                <a:ea typeface="宋体" pitchFamily="2" charset="-122"/>
              </a:rPr>
              <a:t>：表示输出图像的特征向量。</a:t>
            </a:r>
            <a:endParaRPr lang="zh-CN" altLang="zh-CN" sz="2000" kern="100" dirty="0">
              <a:solidFill>
                <a:srgbClr val="000000"/>
              </a:solidFill>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err="1">
                <a:solidFill>
                  <a:srgbClr val="000000"/>
                </a:solidFill>
                <a:latin typeface="Times New Roman" panose="02020603050405020304" pitchFamily="18" charset="0"/>
                <a:ea typeface="宋体" pitchFamily="2" charset="-122"/>
              </a:rPr>
              <a:t>img</a:t>
            </a:r>
            <a:r>
              <a:rPr lang="zh-CN" altLang="zh-CN" sz="2000" kern="100" dirty="0">
                <a:solidFill>
                  <a:srgbClr val="000000"/>
                </a:solidFill>
                <a:latin typeface="Times New Roman" panose="02020603050405020304" pitchFamily="18" charset="0"/>
                <a:ea typeface="宋体" pitchFamily="2" charset="-122"/>
              </a:rPr>
              <a:t>：表示输入原始图像。</a:t>
            </a:r>
            <a:endParaRPr lang="zh-CN" altLang="zh-CN" sz="2000" kern="100" dirty="0">
              <a:solidFill>
                <a:srgbClr val="000000"/>
              </a:solidFill>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err="1">
                <a:solidFill>
                  <a:srgbClr val="000000"/>
                </a:solidFill>
                <a:latin typeface="Times New Roman" panose="02020603050405020304" pitchFamily="18" charset="0"/>
                <a:ea typeface="宋体" pitchFamily="2" charset="-122"/>
              </a:rPr>
              <a:t>winStride</a:t>
            </a:r>
            <a:r>
              <a:rPr lang="en-US" altLang="zh-CN" sz="2000" kern="100" dirty="0">
                <a:solidFill>
                  <a:srgbClr val="000000"/>
                </a:solidFill>
                <a:latin typeface="Times New Roman" panose="02020603050405020304" pitchFamily="18" charset="0"/>
                <a:ea typeface="宋体" pitchFamily="2" charset="-122"/>
              </a:rPr>
              <a:t>: </a:t>
            </a:r>
            <a:r>
              <a:rPr lang="zh-CN" altLang="zh-CN" sz="2000" kern="100" dirty="0">
                <a:solidFill>
                  <a:srgbClr val="000000"/>
                </a:solidFill>
                <a:latin typeface="Times New Roman" panose="02020603050405020304" pitchFamily="18" charset="0"/>
                <a:ea typeface="宋体" pitchFamily="2" charset="-122"/>
              </a:rPr>
              <a:t>表示检测窗口滑动的步长。</a:t>
            </a:r>
            <a:endParaRPr lang="en-US" altLang="zh-CN" sz="2000" kern="100" dirty="0">
              <a:solidFill>
                <a:srgbClr val="000000"/>
              </a:solidFill>
              <a:latin typeface="Times New Roman" panose="02020603050405020304" pitchFamily="18" charset="0"/>
              <a:ea typeface="宋体" pitchFamily="2" charset="-122"/>
            </a:endParaRPr>
          </a:p>
          <a:p>
            <a:pPr marL="342900" indent="-342900" algn="just">
              <a:buFont typeface="Wingdings" panose="05000000000000000000" pitchFamily="2" charset="2"/>
              <a:buChar char=""/>
            </a:pPr>
            <a:r>
              <a:rPr lang="en-US" altLang="zh-CN" sz="2000" kern="100" dirty="0">
                <a:solidFill>
                  <a:srgbClr val="000000"/>
                </a:solidFill>
                <a:latin typeface="Times New Roman" panose="02020603050405020304" pitchFamily="18" charset="0"/>
                <a:ea typeface="宋体" pitchFamily="2" charset="-122"/>
              </a:rPr>
              <a:t>padding</a:t>
            </a:r>
            <a:r>
              <a:rPr lang="zh-CN" altLang="zh-CN" sz="2000" kern="100" dirty="0">
                <a:solidFill>
                  <a:srgbClr val="000000"/>
                </a:solidFill>
                <a:latin typeface="Times New Roman" panose="02020603050405020304" pitchFamily="18" charset="0"/>
                <a:ea typeface="宋体" pitchFamily="2" charset="-122"/>
              </a:rPr>
              <a:t>：表示填充。即该参数用于图像的周围填充像素点处理边界。</a:t>
            </a:r>
            <a:endParaRPr lang="zh-CN" altLang="en-US" sz="2000" kern="100" dirty="0">
              <a:solidFill>
                <a:srgbClr val="000000"/>
              </a:solidFill>
              <a:latin typeface="Times New Roman" panose="02020603050405020304" pitchFamily="18" charset="0"/>
              <a:ea typeface="宋体" pitchFamily="2" charset="-122"/>
            </a:endParaRPr>
          </a:p>
          <a:p>
            <a:pPr lvl="0" algn="just"/>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12354" y="1197546"/>
            <a:ext cx="8280920" cy="461665"/>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计算图像梯度方向直方图的实现代码如下：</a:t>
            </a:r>
            <a:r>
              <a:rPr lang="en-US" altLang="zh-CN" sz="2400" kern="100" dirty="0">
                <a:latin typeface="Times New Roman" panose="02020603050405020304" pitchFamily="18" charset="0"/>
                <a:ea typeface="宋体" pitchFamily="2" charset="-122"/>
                <a:cs typeface="Times New Roman" panose="02020603050405020304" pitchFamily="18" charset="0"/>
              </a:rPr>
              <a:t>  </a:t>
            </a:r>
            <a:endParaRPr lang="zh-CN" altLang="en-US" dirty="0"/>
          </a:p>
        </p:txBody>
      </p:sp>
      <p:sp>
        <p:nvSpPr>
          <p:cNvPr id="11" name="文本框 10"/>
          <p:cNvSpPr txBox="1"/>
          <p:nvPr/>
        </p:nvSpPr>
        <p:spPr>
          <a:xfrm>
            <a:off x="684362" y="1701602"/>
            <a:ext cx="7848872" cy="3785652"/>
          </a:xfrm>
          <a:prstGeom prst="rect">
            <a:avLst/>
          </a:prstGeom>
          <a:solidFill>
            <a:srgbClr val="C7C7C7"/>
          </a:solidFill>
        </p:spPr>
        <p:txBody>
          <a:bodyPr wrap="square">
            <a:spAutoFit/>
          </a:bodyPr>
          <a:lstStyle/>
          <a:p>
            <a:pPr indent="266700"/>
            <a:r>
              <a:rPr lang="en-US" altLang="zh-CN" sz="2000" kern="100" dirty="0">
                <a:solidFill>
                  <a:srgbClr val="000000"/>
                </a:solidFill>
                <a:effectLst/>
                <a:latin typeface="Times New Roman" panose="02020603050405020304" pitchFamily="18" charset="0"/>
                <a:ea typeface="宋体" pitchFamily="2" charset="-122"/>
              </a:rPr>
              <a:t>import </a:t>
            </a:r>
            <a:r>
              <a:rPr lang="en-US" altLang="zh-CN" sz="2000" kern="100" dirty="0" err="1">
                <a:solidFill>
                  <a:srgbClr val="000000"/>
                </a:solidFill>
                <a:effectLst/>
                <a:latin typeface="Times New Roman" panose="02020603050405020304" pitchFamily="18" charset="0"/>
                <a:ea typeface="宋体" pitchFamily="2" charset="-122"/>
              </a:rPr>
              <a:t>numpy</a:t>
            </a:r>
            <a:r>
              <a:rPr lang="en-US" altLang="zh-CN" sz="2000" kern="100" dirty="0">
                <a:solidFill>
                  <a:srgbClr val="000000"/>
                </a:solidFill>
                <a:effectLst/>
                <a:latin typeface="Times New Roman" panose="02020603050405020304" pitchFamily="18" charset="0"/>
                <a:ea typeface="宋体" pitchFamily="2" charset="-122"/>
              </a:rPr>
              <a:t> as np</a:t>
            </a:r>
            <a:endParaRPr lang="zh-CN" altLang="zh-CN" sz="2000" kern="100" dirty="0">
              <a:effectLst/>
              <a:latin typeface="Times New Roman" panose="02020603050405020304" pitchFamily="18" charset="0"/>
              <a:ea typeface="宋体" pitchFamily="2" charset="-122"/>
            </a:endParaRPr>
          </a:p>
          <a:p>
            <a:pPr indent="266700"/>
            <a:r>
              <a:rPr lang="en-US" altLang="zh-CN" sz="2000" kern="100" dirty="0">
                <a:solidFill>
                  <a:srgbClr val="000000"/>
                </a:solidFill>
                <a:effectLst/>
                <a:latin typeface="Times New Roman" panose="02020603050405020304" pitchFamily="18" charset="0"/>
                <a:ea typeface="宋体" pitchFamily="2" charset="-122"/>
              </a:rPr>
              <a:t>import cv2</a:t>
            </a:r>
            <a:endParaRPr lang="zh-CN" altLang="zh-CN" sz="2000" kern="100" dirty="0">
              <a:effectLst/>
              <a:latin typeface="Times New Roman" panose="02020603050405020304" pitchFamily="18" charset="0"/>
              <a:ea typeface="宋体" pitchFamily="2" charset="-122"/>
            </a:endParaRPr>
          </a:p>
          <a:p>
            <a:pPr indent="266700"/>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=cv2.imread(</a:t>
            </a:r>
            <a:r>
              <a:rPr lang="en-US" altLang="zh-CN" sz="2000" kern="100" dirty="0" err="1">
                <a:solidFill>
                  <a:srgbClr val="000000"/>
                </a:solidFill>
                <a:effectLst/>
                <a:latin typeface="Times New Roman" panose="02020603050405020304" pitchFamily="18" charset="0"/>
                <a:ea typeface="宋体" pitchFamily="2" charset="-122"/>
              </a:rPr>
              <a:t>r'C</a:t>
            </a:r>
            <a:r>
              <a:rPr lang="en-US" altLang="zh-CN" sz="2000" kern="100" dirty="0">
                <a:solidFill>
                  <a:srgbClr val="000000"/>
                </a:solidFill>
                <a:effectLst/>
                <a:latin typeface="Times New Roman" panose="02020603050405020304" pitchFamily="18" charset="0"/>
                <a:ea typeface="宋体" pitchFamily="2" charset="-122"/>
              </a:rPr>
              <a:t>:\Users\</a:t>
            </a:r>
            <a:r>
              <a:rPr lang="en-US" altLang="zh-CN" sz="2000" kern="100" dirty="0" err="1">
                <a:solidFill>
                  <a:srgbClr val="000000"/>
                </a:solidFill>
                <a:effectLst/>
                <a:latin typeface="Times New Roman" panose="02020603050405020304" pitchFamily="18" charset="0"/>
                <a:ea typeface="宋体" pitchFamily="2" charset="-122"/>
              </a:rPr>
              <a:t>lenovo</a:t>
            </a:r>
            <a:r>
              <a:rPr lang="en-US" altLang="zh-CN" sz="2000" kern="100" dirty="0">
                <a:solidFill>
                  <a:srgbClr val="000000"/>
                </a:solidFill>
                <a:effectLst/>
                <a:latin typeface="Times New Roman" panose="02020603050405020304" pitchFamily="18" charset="0"/>
                <a:ea typeface="宋体" pitchFamily="2" charset="-122"/>
              </a:rPr>
              <a:t>\Desktop\car.jpg’)</a:t>
            </a:r>
            <a:r>
              <a:rPr lang="en-US" altLang="zh-CN" sz="2000" kern="100" dirty="0">
                <a:solidFill>
                  <a:srgbClr val="000000"/>
                </a:solidFill>
                <a:latin typeface="Times New Roman" panose="02020603050405020304" pitchFamily="18" charset="0"/>
                <a:ea typeface="宋体" pitchFamily="2" charset="-122"/>
              </a:rPr>
              <a:t>  </a:t>
            </a:r>
            <a:r>
              <a:rPr lang="en-US" altLang="zh-CN" sz="2000" kern="100" dirty="0">
                <a:solidFill>
                  <a:srgbClr val="000000"/>
                </a:solidFill>
                <a:effectLst/>
                <a:latin typeface="Times New Roman" panose="02020603050405020304" pitchFamily="18" charset="0"/>
                <a:ea typeface="宋体" pitchFamily="2" charset="-122"/>
              </a:rPr>
              <a:t>#</a:t>
            </a:r>
            <a:r>
              <a:rPr lang="zh-CN" altLang="zh-CN" sz="2000" kern="100" dirty="0">
                <a:solidFill>
                  <a:srgbClr val="000000"/>
                </a:solidFill>
                <a:effectLst/>
                <a:latin typeface="Times New Roman" panose="02020603050405020304" pitchFamily="18" charset="0"/>
                <a:ea typeface="宋体" pitchFamily="2" charset="-122"/>
              </a:rPr>
              <a:t>读入原始图像</a:t>
            </a:r>
            <a:endParaRPr lang="zh-CN" altLang="zh-CN" sz="2000" kern="100" dirty="0">
              <a:effectLst/>
              <a:latin typeface="Times New Roman" panose="02020603050405020304" pitchFamily="18" charset="0"/>
              <a:ea typeface="宋体" pitchFamily="2" charset="-122"/>
            </a:endParaRPr>
          </a:p>
          <a:p>
            <a:pPr indent="266700"/>
            <a:r>
              <a:rPr lang="en-US" altLang="zh-CN" sz="2000" kern="100" dirty="0" err="1">
                <a:solidFill>
                  <a:srgbClr val="000000"/>
                </a:solidFill>
                <a:effectLst/>
                <a:latin typeface="Times New Roman" panose="02020603050405020304" pitchFamily="18" charset="0"/>
                <a:ea typeface="宋体" pitchFamily="2" charset="-122"/>
              </a:rPr>
              <a:t>winSize</a:t>
            </a:r>
            <a:r>
              <a:rPr lang="en-US" altLang="zh-CN" sz="2000" kern="100" dirty="0">
                <a:solidFill>
                  <a:srgbClr val="000000"/>
                </a:solidFill>
                <a:effectLst/>
                <a:latin typeface="Times New Roman" panose="02020603050405020304" pitchFamily="18" charset="0"/>
                <a:ea typeface="宋体" pitchFamily="2" charset="-122"/>
              </a:rPr>
              <a:t> = (64,128)              #cv2.HOGDescriptor</a:t>
            </a:r>
            <a:r>
              <a:rPr lang="zh-CN" altLang="zh-CN" sz="2000" kern="100" dirty="0">
                <a:solidFill>
                  <a:srgbClr val="000000"/>
                </a:solidFill>
                <a:effectLst/>
                <a:latin typeface="Times New Roman" panose="02020603050405020304" pitchFamily="18" charset="0"/>
                <a:ea typeface="宋体" pitchFamily="2" charset="-122"/>
              </a:rPr>
              <a:t>函数中的参数设定</a:t>
            </a:r>
            <a:endParaRPr lang="en-US" altLang="zh-CN" sz="2000" kern="100" dirty="0">
              <a:solidFill>
                <a:srgbClr val="000000"/>
              </a:solidFill>
              <a:effectLst/>
              <a:latin typeface="Times New Roman" panose="02020603050405020304" pitchFamily="18" charset="0"/>
              <a:ea typeface="宋体" pitchFamily="2" charset="-122"/>
            </a:endParaRPr>
          </a:p>
          <a:p>
            <a:pPr indent="266700"/>
            <a:r>
              <a:rPr lang="en-US" altLang="zh-CN" sz="2000" kern="100" dirty="0" err="1">
                <a:solidFill>
                  <a:srgbClr val="000000"/>
                </a:solidFill>
                <a:effectLst/>
                <a:latin typeface="Times New Roman" panose="02020603050405020304" pitchFamily="18" charset="0"/>
                <a:ea typeface="宋体" pitchFamily="2" charset="-122"/>
              </a:rPr>
              <a:t>blockSize</a:t>
            </a:r>
            <a:r>
              <a:rPr lang="en-US" altLang="zh-CN" sz="2000" kern="100" dirty="0">
                <a:solidFill>
                  <a:srgbClr val="000000"/>
                </a:solidFill>
                <a:effectLst/>
                <a:latin typeface="Times New Roman" panose="02020603050405020304" pitchFamily="18" charset="0"/>
                <a:ea typeface="宋体" pitchFamily="2" charset="-122"/>
              </a:rPr>
              <a:t> = (8,8)</a:t>
            </a:r>
            <a:endParaRPr lang="zh-CN" altLang="zh-CN" sz="2000" kern="100" dirty="0">
              <a:effectLst/>
              <a:latin typeface="Times New Roman" panose="02020603050405020304" pitchFamily="18" charset="0"/>
              <a:ea typeface="宋体" pitchFamily="2" charset="-122"/>
            </a:endParaRPr>
          </a:p>
          <a:p>
            <a:pPr indent="266700"/>
            <a:r>
              <a:rPr lang="en-US" altLang="zh-CN" sz="2000" kern="100" dirty="0" err="1">
                <a:solidFill>
                  <a:srgbClr val="000000"/>
                </a:solidFill>
                <a:effectLst/>
                <a:latin typeface="Times New Roman" panose="02020603050405020304" pitchFamily="18" charset="0"/>
                <a:ea typeface="宋体" pitchFamily="2" charset="-122"/>
              </a:rPr>
              <a:t>blockStride</a:t>
            </a:r>
            <a:r>
              <a:rPr lang="en-US" altLang="zh-CN" sz="2000" kern="100" dirty="0">
                <a:solidFill>
                  <a:srgbClr val="000000"/>
                </a:solidFill>
                <a:effectLst/>
                <a:latin typeface="Times New Roman" panose="02020603050405020304" pitchFamily="18" charset="0"/>
                <a:ea typeface="宋体" pitchFamily="2" charset="-122"/>
              </a:rPr>
              <a:t> = (8,8)</a:t>
            </a:r>
            <a:endParaRPr lang="zh-CN" altLang="zh-CN" sz="2000" kern="100" dirty="0">
              <a:effectLst/>
              <a:latin typeface="Times New Roman" panose="02020603050405020304" pitchFamily="18" charset="0"/>
              <a:ea typeface="宋体" pitchFamily="2" charset="-122"/>
            </a:endParaRPr>
          </a:p>
          <a:p>
            <a:pPr indent="266700"/>
            <a:r>
              <a:rPr lang="en-US" altLang="zh-CN" sz="2000" kern="100" dirty="0" err="1">
                <a:solidFill>
                  <a:srgbClr val="000000"/>
                </a:solidFill>
                <a:effectLst/>
                <a:latin typeface="Times New Roman" panose="02020603050405020304" pitchFamily="18" charset="0"/>
                <a:ea typeface="宋体" pitchFamily="2" charset="-122"/>
              </a:rPr>
              <a:t>cellSize</a:t>
            </a:r>
            <a:r>
              <a:rPr lang="en-US" altLang="zh-CN" sz="2000" kern="100" dirty="0">
                <a:solidFill>
                  <a:srgbClr val="000000"/>
                </a:solidFill>
                <a:effectLst/>
                <a:latin typeface="Times New Roman" panose="02020603050405020304" pitchFamily="18" charset="0"/>
                <a:ea typeface="宋体" pitchFamily="2" charset="-122"/>
              </a:rPr>
              <a:t> = (8,8)</a:t>
            </a:r>
            <a:endParaRPr lang="zh-CN" altLang="zh-CN" sz="2000" kern="100" dirty="0">
              <a:effectLst/>
              <a:latin typeface="Times New Roman" panose="02020603050405020304" pitchFamily="18" charset="0"/>
              <a:ea typeface="宋体" pitchFamily="2" charset="-122"/>
            </a:endParaRPr>
          </a:p>
          <a:p>
            <a:pPr indent="266700"/>
            <a:r>
              <a:rPr lang="en-US" altLang="zh-CN" sz="2000" kern="100" dirty="0" err="1">
                <a:solidFill>
                  <a:srgbClr val="000000"/>
                </a:solidFill>
                <a:effectLst/>
                <a:latin typeface="Times New Roman" panose="02020603050405020304" pitchFamily="18" charset="0"/>
                <a:ea typeface="宋体" pitchFamily="2" charset="-122"/>
              </a:rPr>
              <a:t>nbins</a:t>
            </a:r>
            <a:r>
              <a:rPr lang="en-US" altLang="zh-CN" sz="2000" kern="100" dirty="0">
                <a:solidFill>
                  <a:srgbClr val="000000"/>
                </a:solidFill>
                <a:effectLst/>
                <a:latin typeface="Times New Roman" panose="02020603050405020304" pitchFamily="18" charset="0"/>
                <a:ea typeface="宋体" pitchFamily="2" charset="-122"/>
              </a:rPr>
              <a:t> = 9</a:t>
            </a:r>
            <a:r>
              <a:rPr lang="en-US" altLang="zh-CN" sz="2000" kern="100" dirty="0">
                <a:latin typeface="Times New Roman" panose="02020603050405020304" pitchFamily="18" charset="0"/>
                <a:ea typeface="宋体" pitchFamily="2" charset="-122"/>
              </a:rPr>
              <a:t>                              </a:t>
            </a:r>
            <a:r>
              <a:rPr lang="en-US" altLang="zh-CN" sz="2000" kern="100" dirty="0">
                <a:solidFill>
                  <a:srgbClr val="000000"/>
                </a:solidFill>
                <a:effectLst/>
                <a:latin typeface="Times New Roman" panose="02020603050405020304" pitchFamily="18" charset="0"/>
                <a:ea typeface="宋体" pitchFamily="2" charset="-122"/>
              </a:rPr>
              <a:t>#</a:t>
            </a:r>
            <a:r>
              <a:rPr lang="zh-CN" altLang="zh-CN" sz="2000" kern="100" dirty="0">
                <a:solidFill>
                  <a:srgbClr val="000000"/>
                </a:solidFill>
                <a:effectLst/>
                <a:latin typeface="Times New Roman" panose="02020603050405020304" pitchFamily="18" charset="0"/>
                <a:ea typeface="宋体" pitchFamily="2" charset="-122"/>
              </a:rPr>
              <a:t>定义计算梯度方向直方图的有关参数</a:t>
            </a:r>
            <a:endParaRPr lang="zh-CN" altLang="zh-CN" sz="2000" kern="100" dirty="0">
              <a:effectLst/>
              <a:latin typeface="Times New Roman" panose="02020603050405020304" pitchFamily="18" charset="0"/>
              <a:ea typeface="宋体" pitchFamily="2" charset="-122"/>
            </a:endParaRPr>
          </a:p>
          <a:p>
            <a:pPr indent="266700"/>
            <a:r>
              <a:rPr lang="en-US" altLang="zh-CN" sz="2000" kern="100" dirty="0">
                <a:solidFill>
                  <a:srgbClr val="000000"/>
                </a:solidFill>
                <a:effectLst/>
                <a:latin typeface="Times New Roman" panose="02020603050405020304" pitchFamily="18" charset="0"/>
                <a:ea typeface="宋体" pitchFamily="2" charset="-122"/>
              </a:rPr>
              <a:t>hog=cv2.HOGDescriptor(</a:t>
            </a:r>
            <a:r>
              <a:rPr lang="en-US" altLang="zh-CN" sz="2000" kern="100" dirty="0" err="1">
                <a:solidFill>
                  <a:srgbClr val="000000"/>
                </a:solidFill>
                <a:effectLst/>
                <a:latin typeface="Times New Roman" panose="02020603050405020304" pitchFamily="18" charset="0"/>
                <a:ea typeface="宋体" pitchFamily="2" charset="-122"/>
              </a:rPr>
              <a:t>winSize,blockSize,blockStride,cellSize,nbins</a:t>
            </a:r>
            <a:r>
              <a:rPr lang="en-US" altLang="zh-CN" sz="2000" kern="100" dirty="0">
                <a:solidFill>
                  <a:srgbClr val="000000"/>
                </a:solidFill>
                <a:effectLst/>
                <a:latin typeface="Times New Roman" panose="02020603050405020304" pitchFamily="18" charset="0"/>
                <a:ea typeface="宋体" pitchFamily="2" charset="-122"/>
              </a:rPr>
              <a:t>)</a:t>
            </a:r>
            <a:endParaRPr lang="zh-CN" altLang="zh-CN" sz="2000" kern="100" dirty="0">
              <a:effectLst/>
              <a:latin typeface="Times New Roman" panose="02020603050405020304" pitchFamily="18" charset="0"/>
              <a:ea typeface="宋体" pitchFamily="2" charset="-122"/>
            </a:endParaRPr>
          </a:p>
          <a:p>
            <a:pPr indent="266700"/>
            <a:r>
              <a:rPr lang="en-US" altLang="zh-CN" sz="2000" kern="100" dirty="0" err="1">
                <a:solidFill>
                  <a:srgbClr val="000000"/>
                </a:solidFill>
                <a:effectLst/>
                <a:latin typeface="Times New Roman" panose="02020603050405020304" pitchFamily="18" charset="0"/>
                <a:ea typeface="宋体" pitchFamily="2" charset="-122"/>
              </a:rPr>
              <a:t>winStride</a:t>
            </a:r>
            <a:r>
              <a:rPr lang="en-US" altLang="zh-CN" sz="2000" kern="100" dirty="0">
                <a:solidFill>
                  <a:srgbClr val="000000"/>
                </a:solidFill>
                <a:effectLst/>
                <a:latin typeface="Times New Roman" panose="02020603050405020304" pitchFamily="18" charset="0"/>
                <a:ea typeface="宋体" pitchFamily="2" charset="-122"/>
              </a:rPr>
              <a:t> = (8,8)			</a:t>
            </a:r>
            <a:endParaRPr lang="en-US" altLang="zh-CN" sz="2000" kern="100" dirty="0">
              <a:solidFill>
                <a:srgbClr val="000000"/>
              </a:solidFill>
              <a:effectLst/>
              <a:latin typeface="Times New Roman" panose="02020603050405020304" pitchFamily="18" charset="0"/>
              <a:ea typeface="宋体" pitchFamily="2" charset="-122"/>
            </a:endParaRPr>
          </a:p>
          <a:p>
            <a:pPr indent="266700"/>
            <a:r>
              <a:rPr lang="en-US" altLang="zh-CN" sz="2000" kern="100" dirty="0">
                <a:solidFill>
                  <a:srgbClr val="000000"/>
                </a:solidFill>
                <a:effectLst/>
                <a:latin typeface="Times New Roman" panose="02020603050405020304" pitchFamily="18" charset="0"/>
                <a:ea typeface="宋体" pitchFamily="2" charset="-122"/>
              </a:rPr>
              <a:t>padding = (8,8)</a:t>
            </a:r>
            <a:r>
              <a:rPr lang="en-US" altLang="zh-CN" sz="2000" kern="100" dirty="0">
                <a:latin typeface="Times New Roman" panose="02020603050405020304" pitchFamily="18" charset="0"/>
                <a:ea typeface="宋体" pitchFamily="2" charset="-122"/>
              </a:rPr>
              <a:t>                    </a:t>
            </a:r>
            <a:r>
              <a:rPr lang="en-US" altLang="zh-CN" sz="2000" kern="100" dirty="0">
                <a:solidFill>
                  <a:srgbClr val="000000"/>
                </a:solidFill>
                <a:effectLst/>
                <a:latin typeface="Times New Roman" panose="02020603050405020304" pitchFamily="18" charset="0"/>
                <a:ea typeface="宋体" pitchFamily="2" charset="-122"/>
              </a:rPr>
              <a:t>#</a:t>
            </a:r>
            <a:r>
              <a:rPr lang="zh-CN" altLang="zh-CN" sz="2000" kern="100" dirty="0">
                <a:solidFill>
                  <a:srgbClr val="000000"/>
                </a:solidFill>
                <a:effectLst/>
                <a:latin typeface="Times New Roman" panose="02020603050405020304" pitchFamily="18" charset="0"/>
                <a:ea typeface="宋体" pitchFamily="2" charset="-122"/>
              </a:rPr>
              <a:t>计算图像的梯度方向直方图</a:t>
            </a:r>
            <a:endParaRPr lang="zh-CN" altLang="zh-CN" sz="2000" kern="100" dirty="0">
              <a:effectLst/>
              <a:latin typeface="Times New Roman" panose="02020603050405020304" pitchFamily="18" charset="0"/>
              <a:ea typeface="宋体" pitchFamily="2" charset="-122"/>
            </a:endParaRPr>
          </a:p>
          <a:p>
            <a:pPr indent="266700"/>
            <a:endParaRPr lang="zh-CN" altLang="zh-CN" sz="20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12354" y="1197546"/>
            <a:ext cx="8280920" cy="461665"/>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计算图像梯度方向直方图的实现代码如下：</a:t>
            </a:r>
            <a:r>
              <a:rPr lang="en-US" altLang="zh-CN" sz="2400" kern="100" dirty="0">
                <a:latin typeface="Times New Roman" panose="02020603050405020304" pitchFamily="18" charset="0"/>
                <a:ea typeface="宋体" pitchFamily="2" charset="-122"/>
                <a:cs typeface="Times New Roman" panose="02020603050405020304" pitchFamily="18" charset="0"/>
              </a:rPr>
              <a:t>  </a:t>
            </a:r>
            <a:endParaRPr lang="zh-CN" altLang="en-US" dirty="0"/>
          </a:p>
        </p:txBody>
      </p:sp>
      <p:sp>
        <p:nvSpPr>
          <p:cNvPr id="11" name="文本框 10"/>
          <p:cNvSpPr txBox="1"/>
          <p:nvPr/>
        </p:nvSpPr>
        <p:spPr>
          <a:xfrm>
            <a:off x="729532" y="1674307"/>
            <a:ext cx="8208912" cy="1323439"/>
          </a:xfrm>
          <a:prstGeom prst="rect">
            <a:avLst/>
          </a:prstGeom>
          <a:solidFill>
            <a:srgbClr val="C7C7C7"/>
          </a:solidFill>
        </p:spPr>
        <p:txBody>
          <a:bodyPr wrap="square">
            <a:spAutoFit/>
          </a:bodyPr>
          <a:lstStyle/>
          <a:p>
            <a:pPr indent="266700"/>
            <a:r>
              <a:rPr lang="en-US" altLang="zh-CN" sz="2000" kern="100" dirty="0" err="1">
                <a:solidFill>
                  <a:srgbClr val="000000"/>
                </a:solidFill>
                <a:effectLst/>
                <a:latin typeface="Times New Roman" panose="02020603050405020304" pitchFamily="18" charset="0"/>
                <a:ea typeface="宋体" pitchFamily="2" charset="-122"/>
              </a:rPr>
              <a:t>test_hog</a:t>
            </a:r>
            <a:r>
              <a:rPr lang="en-US" altLang="zh-CN" sz="2000" kern="100" dirty="0">
                <a:solidFill>
                  <a:srgbClr val="000000"/>
                </a:solidFill>
                <a:effectLst/>
                <a:latin typeface="Times New Roman" panose="02020603050405020304" pitchFamily="18" charset="0"/>
                <a:ea typeface="宋体" pitchFamily="2" charset="-122"/>
              </a:rPr>
              <a:t> = </a:t>
            </a:r>
            <a:r>
              <a:rPr lang="en-US" altLang="zh-CN" sz="2000" kern="100" dirty="0" err="1">
                <a:solidFill>
                  <a:srgbClr val="000000"/>
                </a:solidFill>
                <a:effectLst/>
                <a:latin typeface="Times New Roman" panose="02020603050405020304" pitchFamily="18" charset="0"/>
                <a:ea typeface="宋体" pitchFamily="2" charset="-122"/>
              </a:rPr>
              <a:t>hog.compute</a:t>
            </a:r>
            <a:r>
              <a:rPr lang="en-US" altLang="zh-CN" sz="2000" kern="100" dirty="0">
                <a:solidFill>
                  <a:srgbClr val="000000"/>
                </a:solidFill>
                <a:effectLst/>
                <a:latin typeface="Times New Roman" panose="02020603050405020304" pitchFamily="18" charset="0"/>
                <a:ea typeface="宋体" pitchFamily="2" charset="-122"/>
              </a:rPr>
              <a:t>(</a:t>
            </a:r>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 </a:t>
            </a:r>
            <a:r>
              <a:rPr lang="en-US" altLang="zh-CN" sz="2000" kern="100" dirty="0" err="1">
                <a:solidFill>
                  <a:srgbClr val="000000"/>
                </a:solidFill>
                <a:effectLst/>
                <a:latin typeface="Times New Roman" panose="02020603050405020304" pitchFamily="18" charset="0"/>
                <a:ea typeface="宋体" pitchFamily="2" charset="-122"/>
              </a:rPr>
              <a:t>winStride</a:t>
            </a:r>
            <a:r>
              <a:rPr lang="en-US" altLang="zh-CN" sz="2000" kern="100" dirty="0">
                <a:solidFill>
                  <a:srgbClr val="000000"/>
                </a:solidFill>
                <a:effectLst/>
                <a:latin typeface="Times New Roman" panose="02020603050405020304" pitchFamily="18" charset="0"/>
                <a:ea typeface="宋体" pitchFamily="2" charset="-122"/>
              </a:rPr>
              <a:t>, padding).reshape((-1,))</a:t>
            </a:r>
            <a:endParaRPr lang="en-US" altLang="zh-CN" sz="2000" kern="100" dirty="0">
              <a:solidFill>
                <a:srgbClr val="000000"/>
              </a:solidFill>
              <a:effectLst/>
              <a:latin typeface="Times New Roman" panose="02020603050405020304" pitchFamily="18" charset="0"/>
              <a:ea typeface="宋体" pitchFamily="2" charset="-122"/>
            </a:endParaRPr>
          </a:p>
          <a:p>
            <a:pPr indent="266700"/>
            <a:r>
              <a:rPr lang="en-US" altLang="zh-CN" sz="2000" kern="100" dirty="0">
                <a:solidFill>
                  <a:srgbClr val="000000"/>
                </a:solidFill>
                <a:effectLst/>
                <a:latin typeface="Times New Roman" panose="02020603050405020304" pitchFamily="18" charset="0"/>
                <a:ea typeface="宋体" pitchFamily="2" charset="-122"/>
              </a:rPr>
              <a:t>#</a:t>
            </a:r>
            <a:r>
              <a:rPr lang="zh-CN" altLang="en-US" sz="2000" kern="100" dirty="0">
                <a:solidFill>
                  <a:srgbClr val="000000"/>
                </a:solidFill>
                <a:effectLst/>
                <a:latin typeface="Times New Roman" panose="02020603050405020304" pitchFamily="18" charset="0"/>
                <a:ea typeface="宋体" pitchFamily="2" charset="-122"/>
              </a:rPr>
              <a:t>画出梯度方向直方图</a:t>
            </a:r>
            <a:endParaRPr lang="zh-CN" altLang="en-US" sz="2000" kern="100" dirty="0">
              <a:solidFill>
                <a:srgbClr val="000000"/>
              </a:solidFill>
              <a:effectLst/>
              <a:latin typeface="Times New Roman" panose="02020603050405020304" pitchFamily="18" charset="0"/>
              <a:ea typeface="宋体" pitchFamily="2" charset="-122"/>
            </a:endParaRPr>
          </a:p>
          <a:p>
            <a:pPr indent="266700"/>
            <a:r>
              <a:rPr lang="en-US" altLang="zh-CN" sz="2000" kern="100" dirty="0" err="1">
                <a:solidFill>
                  <a:srgbClr val="000000"/>
                </a:solidFill>
                <a:effectLst/>
                <a:latin typeface="Times New Roman" panose="02020603050405020304" pitchFamily="18" charset="0"/>
                <a:ea typeface="宋体" pitchFamily="2" charset="-122"/>
              </a:rPr>
              <a:t>plt.show</a:t>
            </a:r>
            <a:r>
              <a:rPr lang="en-US" altLang="zh-CN" sz="2000" kern="100" dirty="0">
                <a:solidFill>
                  <a:srgbClr val="000000"/>
                </a:solidFill>
                <a:effectLst/>
                <a:latin typeface="Times New Roman" panose="02020603050405020304" pitchFamily="18" charset="0"/>
                <a:ea typeface="宋体" pitchFamily="2" charset="-122"/>
              </a:rPr>
              <a:t>()</a:t>
            </a:r>
            <a:endParaRPr lang="en-US" altLang="zh-CN" sz="2000" kern="100" dirty="0">
              <a:solidFill>
                <a:srgbClr val="000000"/>
              </a:solidFill>
              <a:effectLst/>
              <a:latin typeface="Times New Roman" panose="02020603050405020304" pitchFamily="18" charset="0"/>
              <a:ea typeface="宋体" pitchFamily="2" charset="-122"/>
            </a:endParaRPr>
          </a:p>
          <a:p>
            <a:pPr indent="266700"/>
            <a:r>
              <a:rPr lang="en-US" altLang="zh-CN" sz="2000" kern="100" dirty="0">
                <a:solidFill>
                  <a:srgbClr val="000000"/>
                </a:solidFill>
                <a:effectLst/>
                <a:latin typeface="Times New Roman" panose="02020603050405020304" pitchFamily="18" charset="0"/>
                <a:ea typeface="宋体" pitchFamily="2" charset="-122"/>
              </a:rPr>
              <a:t>print(</a:t>
            </a:r>
            <a:r>
              <a:rPr lang="en-US" altLang="zh-CN" sz="2000" kern="100" dirty="0" err="1">
                <a:solidFill>
                  <a:srgbClr val="000000"/>
                </a:solidFill>
                <a:effectLst/>
                <a:latin typeface="Times New Roman" panose="02020603050405020304" pitchFamily="18" charset="0"/>
                <a:ea typeface="宋体" pitchFamily="2" charset="-122"/>
              </a:rPr>
              <a:t>test_hog</a:t>
            </a:r>
            <a:r>
              <a:rPr lang="en-US" altLang="zh-CN" sz="2000" kern="100" dirty="0">
                <a:solidFill>
                  <a:srgbClr val="000000"/>
                </a:solidFill>
                <a:effectLst/>
                <a:latin typeface="Times New Roman" panose="02020603050405020304" pitchFamily="18" charset="0"/>
                <a:ea typeface="宋体" pitchFamily="2" charset="-122"/>
              </a:rPr>
              <a:t>)	#</a:t>
            </a:r>
            <a:r>
              <a:rPr lang="zh-CN" altLang="en-US" sz="2000" kern="100" dirty="0">
                <a:solidFill>
                  <a:srgbClr val="000000"/>
                </a:solidFill>
                <a:effectLst/>
                <a:latin typeface="Times New Roman" panose="02020603050405020304" pitchFamily="18" charset="0"/>
                <a:ea typeface="宋体" pitchFamily="2" charset="-122"/>
              </a:rPr>
              <a:t>输出图像的特征向量</a:t>
            </a:r>
            <a:endParaRPr lang="zh-CN" altLang="en-US" sz="2000" kern="100" dirty="0">
              <a:solidFill>
                <a:srgbClr val="000000"/>
              </a:solidFill>
              <a:effectLst/>
              <a:latin typeface="Times New Roman" panose="02020603050405020304" pitchFamily="18" charset="0"/>
              <a:ea typeface="宋体" pitchFamily="2" charset="-122"/>
            </a:endParaRPr>
          </a:p>
        </p:txBody>
      </p:sp>
      <p:sp>
        <p:nvSpPr>
          <p:cNvPr id="9" name="文本框 8"/>
          <p:cNvSpPr txBox="1"/>
          <p:nvPr/>
        </p:nvSpPr>
        <p:spPr>
          <a:xfrm>
            <a:off x="612354" y="3112145"/>
            <a:ext cx="4589754" cy="461665"/>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上述程序的运行结果如下：</a:t>
            </a:r>
            <a:endParaRPr lang="zh-CN" altLang="zh-CN" sz="2400" kern="100" dirty="0">
              <a:effectLst/>
              <a:latin typeface="Times New Roman" panose="02020603050405020304" pitchFamily="18" charset="0"/>
              <a:ea typeface="宋体" pitchFamily="2" charset="-122"/>
            </a:endParaRPr>
          </a:p>
        </p:txBody>
      </p:sp>
      <p:sp>
        <p:nvSpPr>
          <p:cNvPr id="12" name="文本框 11"/>
          <p:cNvSpPr txBox="1"/>
          <p:nvPr/>
        </p:nvSpPr>
        <p:spPr>
          <a:xfrm>
            <a:off x="684362" y="3605748"/>
            <a:ext cx="8280920" cy="400110"/>
          </a:xfrm>
          <a:prstGeom prst="rect">
            <a:avLst/>
          </a:prstGeom>
          <a:solidFill>
            <a:srgbClr val="C7C7C7"/>
          </a:solidFill>
        </p:spPr>
        <p:txBody>
          <a:bodyPr wrap="square">
            <a:spAutoFit/>
          </a:bodyPr>
          <a:lstStyle/>
          <a:p>
            <a:r>
              <a:rPr lang="en-US" altLang="zh-CN" sz="2000" kern="100" dirty="0">
                <a:solidFill>
                  <a:srgbClr val="000000"/>
                </a:solidFill>
                <a:effectLst/>
                <a:latin typeface="Times New Roman" panose="02020603050405020304" pitchFamily="18" charset="0"/>
                <a:ea typeface="宋体" pitchFamily="2" charset="-122"/>
              </a:rPr>
              <a:t>    [0.45742327 0.45742327 0.34655488…0.37620687 0.37620687 0.37620687]</a:t>
            </a:r>
            <a:endParaRPr lang="zh-CN" altLang="en-US" sz="2000" dirty="0"/>
          </a:p>
        </p:txBody>
      </p:sp>
    </p:spTree>
  </p:cSld>
  <p:clrMapOvr>
    <a:masterClrMapping/>
  </p:clrMapOvr>
  <p:transition spd="slow" advClick="0" advTm="0">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84362" y="1197546"/>
            <a:ext cx="7848872" cy="830997"/>
          </a:xfrm>
          <a:prstGeom prst="rect">
            <a:avLst/>
          </a:prstGeom>
          <a:noFill/>
        </p:spPr>
        <p:txBody>
          <a:bodyPr wrap="square">
            <a:spAutoFit/>
          </a:bodyPr>
          <a:lstStyle/>
          <a:p>
            <a:r>
              <a:rPr lang="zh-CN" altLang="en-US" sz="2400" kern="100" dirty="0">
                <a:latin typeface="Times New Roman" panose="02020603050405020304" pitchFamily="18" charset="0"/>
                <a:ea typeface="宋体" pitchFamily="2" charset="-122"/>
                <a:cs typeface="Times New Roman" panose="02020603050405020304" pitchFamily="18" charset="0"/>
              </a:rPr>
              <a:t>     </a:t>
            </a:r>
            <a:r>
              <a:rPr lang="zh-CN" altLang="en-US" sz="2400" kern="100" dirty="0">
                <a:effectLst/>
                <a:latin typeface="Times New Roman" panose="02020603050405020304" pitchFamily="18" charset="0"/>
                <a:ea typeface="宋体" pitchFamily="2" charset="-122"/>
                <a:cs typeface="Times New Roman" panose="02020603050405020304" pitchFamily="18" charset="0"/>
              </a:rPr>
              <a:t>用于程序的</a:t>
            </a:r>
            <a:r>
              <a:rPr lang="zh-CN" altLang="en-US" sz="2400" kern="100" dirty="0">
                <a:latin typeface="Times New Roman" panose="02020603050405020304" pitchFamily="18" charset="0"/>
                <a:ea typeface="宋体" pitchFamily="2" charset="-122"/>
                <a:cs typeface="Times New Roman" panose="02020603050405020304" pitchFamily="18" charset="0"/>
              </a:rPr>
              <a:t>原始图像</a:t>
            </a:r>
            <a:r>
              <a:rPr lang="en-US" altLang="zh-CN" sz="2400" kern="100" dirty="0">
                <a:latin typeface="Times New Roman" panose="02020603050405020304" pitchFamily="18" charset="0"/>
                <a:ea typeface="宋体" pitchFamily="2" charset="-122"/>
                <a:cs typeface="Times New Roman" panose="02020603050405020304" pitchFamily="18" charset="0"/>
              </a:rPr>
              <a:t>9.2(a)</a:t>
            </a:r>
            <a:r>
              <a:rPr lang="zh-CN" altLang="en-US" sz="2400" kern="100" dirty="0">
                <a:latin typeface="Times New Roman" panose="02020603050405020304" pitchFamily="18" charset="0"/>
                <a:ea typeface="宋体" pitchFamily="2" charset="-122"/>
                <a:cs typeface="Times New Roman" panose="02020603050405020304" pitchFamily="18" charset="0"/>
              </a:rPr>
              <a:t>和该图像的梯度方向直方图</a:t>
            </a:r>
            <a:r>
              <a:rPr lang="en-US" altLang="zh-CN" sz="2400" kern="100" dirty="0">
                <a:latin typeface="Times New Roman" panose="02020603050405020304" pitchFamily="18" charset="0"/>
                <a:ea typeface="宋体" pitchFamily="2" charset="-122"/>
                <a:cs typeface="Times New Roman" panose="02020603050405020304" pitchFamily="18" charset="0"/>
              </a:rPr>
              <a:t>9.2(b)</a:t>
            </a:r>
            <a:r>
              <a:rPr lang="zh-CN" altLang="en-US" sz="2400" kern="100" dirty="0">
                <a:latin typeface="Times New Roman" panose="02020603050405020304" pitchFamily="18" charset="0"/>
                <a:ea typeface="宋体" pitchFamily="2" charset="-122"/>
                <a:cs typeface="Times New Roman" panose="02020603050405020304" pitchFamily="18" charset="0"/>
              </a:rPr>
              <a:t>展示如下所示：</a:t>
            </a:r>
            <a:endParaRPr lang="zh-CN" altLang="en-US" dirty="0"/>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72394" y="2133650"/>
            <a:ext cx="3600400" cy="2395197"/>
          </a:xfrm>
          <a:prstGeom prst="rect">
            <a:avLst/>
          </a:prstGeom>
          <a:noFill/>
          <a:ln>
            <a:noFill/>
          </a:ln>
        </p:spPr>
      </p:pic>
      <p:pic>
        <p:nvPicPr>
          <p:cNvPr id="13" name="图片 12"/>
          <p:cNvPicPr>
            <a:picLocks noChangeAspect="1"/>
          </p:cNvPicPr>
          <p:nvPr/>
        </p:nvPicPr>
        <p:blipFill>
          <a:blip r:embed="rId2"/>
          <a:stretch>
            <a:fillRect/>
          </a:stretch>
        </p:blipFill>
        <p:spPr>
          <a:xfrm>
            <a:off x="5126152" y="2133650"/>
            <a:ext cx="3422816" cy="2437252"/>
          </a:xfrm>
          <a:prstGeom prst="rect">
            <a:avLst/>
          </a:prstGeom>
        </p:spPr>
      </p:pic>
      <p:sp>
        <p:nvSpPr>
          <p:cNvPr id="14" name="文本框 13"/>
          <p:cNvSpPr txBox="1"/>
          <p:nvPr/>
        </p:nvSpPr>
        <p:spPr>
          <a:xfrm>
            <a:off x="1569442" y="4572630"/>
            <a:ext cx="1851224" cy="369332"/>
          </a:xfrm>
          <a:prstGeom prst="rect">
            <a:avLst/>
          </a:prstGeom>
          <a:noFill/>
        </p:spPr>
        <p:txBody>
          <a:bodyPr wrap="square">
            <a:spAutoFit/>
          </a:bodyPr>
          <a:lstStyle/>
          <a:p>
            <a:r>
              <a:rPr lang="zh-CN" altLang="en-US" sz="1800" kern="100" dirty="0">
                <a:latin typeface="Times New Roman" panose="02020603050405020304" pitchFamily="18" charset="0"/>
                <a:ea typeface="宋体" pitchFamily="2" charset="-122"/>
                <a:cs typeface="Times New Roman" panose="02020603050405020304" pitchFamily="18" charset="0"/>
              </a:rPr>
              <a:t>（</a:t>
            </a:r>
            <a:r>
              <a:rPr lang="en-US" altLang="zh-CN" sz="1800" kern="100" dirty="0">
                <a:latin typeface="Times New Roman" panose="02020603050405020304" pitchFamily="18" charset="0"/>
                <a:ea typeface="宋体" pitchFamily="2" charset="-122"/>
                <a:cs typeface="Times New Roman" panose="02020603050405020304" pitchFamily="18" charset="0"/>
              </a:rPr>
              <a:t>a</a:t>
            </a:r>
            <a:r>
              <a:rPr lang="zh-CN" altLang="en-US" sz="1800" kern="100" dirty="0">
                <a:latin typeface="Times New Roman" panose="02020603050405020304" pitchFamily="18" charset="0"/>
                <a:ea typeface="宋体" pitchFamily="2" charset="-122"/>
                <a:cs typeface="Times New Roman" panose="02020603050405020304" pitchFamily="18" charset="0"/>
              </a:rPr>
              <a:t>）原始图像</a:t>
            </a:r>
            <a:endParaRPr lang="zh-CN" altLang="en-US" sz="1800" dirty="0"/>
          </a:p>
        </p:txBody>
      </p:sp>
      <p:sp>
        <p:nvSpPr>
          <p:cNvPr id="15" name="文本框 14"/>
          <p:cNvSpPr txBox="1"/>
          <p:nvPr/>
        </p:nvSpPr>
        <p:spPr>
          <a:xfrm>
            <a:off x="5868938" y="4572630"/>
            <a:ext cx="2160240" cy="369332"/>
          </a:xfrm>
          <a:prstGeom prst="rect">
            <a:avLst/>
          </a:prstGeom>
          <a:noFill/>
        </p:spPr>
        <p:txBody>
          <a:bodyPr wrap="square">
            <a:spAutoFit/>
          </a:bodyPr>
          <a:lstStyle/>
          <a:p>
            <a:r>
              <a:rPr lang="zh-CN" altLang="en-US" sz="1800" kern="100" dirty="0">
                <a:latin typeface="Times New Roman" panose="02020603050405020304" pitchFamily="18" charset="0"/>
                <a:ea typeface="宋体" pitchFamily="2" charset="-122"/>
                <a:cs typeface="Times New Roman" panose="02020603050405020304" pitchFamily="18" charset="0"/>
              </a:rPr>
              <a:t>（</a:t>
            </a:r>
            <a:r>
              <a:rPr lang="en-US" altLang="zh-CN" sz="1800" kern="100" dirty="0">
                <a:latin typeface="Times New Roman" panose="02020603050405020304" pitchFamily="18" charset="0"/>
                <a:ea typeface="宋体" pitchFamily="2" charset="-122"/>
                <a:cs typeface="Times New Roman" panose="02020603050405020304" pitchFamily="18" charset="0"/>
              </a:rPr>
              <a:t>b</a:t>
            </a:r>
            <a:r>
              <a:rPr lang="zh-CN" altLang="en-US" sz="1800" kern="100" dirty="0">
                <a:latin typeface="Times New Roman" panose="02020603050405020304" pitchFamily="18" charset="0"/>
                <a:ea typeface="宋体" pitchFamily="2" charset="-122"/>
                <a:cs typeface="Times New Roman" panose="02020603050405020304" pitchFamily="18" charset="0"/>
              </a:rPr>
              <a:t>）梯度直方图</a:t>
            </a:r>
            <a:endParaRPr lang="zh-CN" altLang="en-US" sz="1800" dirty="0"/>
          </a:p>
        </p:txBody>
      </p:sp>
      <p:sp>
        <p:nvSpPr>
          <p:cNvPr id="16" name="文本框 15"/>
          <p:cNvSpPr txBox="1"/>
          <p:nvPr/>
        </p:nvSpPr>
        <p:spPr>
          <a:xfrm>
            <a:off x="1236800" y="4941962"/>
            <a:ext cx="6792378" cy="461665"/>
          </a:xfrm>
          <a:prstGeom prst="rect">
            <a:avLst/>
          </a:prstGeom>
          <a:noFill/>
        </p:spPr>
        <p:txBody>
          <a:bodyPr wrap="square">
            <a:spAutoFit/>
          </a:bodyPr>
          <a:lstStyle/>
          <a:p>
            <a:pPr indent="266700" algn="ctr"/>
            <a:r>
              <a:rPr lang="zh-CN" altLang="zh-CN" sz="2400" kern="100" dirty="0">
                <a:solidFill>
                  <a:srgbClr val="000000"/>
                </a:solidFill>
                <a:effectLst/>
                <a:latin typeface="Times New Roman" panose="02020603050405020304" pitchFamily="18" charset="0"/>
                <a:ea typeface="宋体" pitchFamily="2" charset="-122"/>
              </a:rPr>
              <a:t>图</a:t>
            </a:r>
            <a:r>
              <a:rPr lang="en-US" altLang="zh-CN" sz="2400" kern="100" dirty="0">
                <a:solidFill>
                  <a:srgbClr val="000000"/>
                </a:solidFill>
                <a:effectLst/>
                <a:latin typeface="Times New Roman" panose="02020603050405020304" pitchFamily="18" charset="0"/>
                <a:ea typeface="宋体" pitchFamily="2" charset="-122"/>
              </a:rPr>
              <a:t>9.2  </a:t>
            </a:r>
            <a:r>
              <a:rPr lang="zh-CN" altLang="zh-CN" sz="2400" kern="100" dirty="0">
                <a:solidFill>
                  <a:srgbClr val="000000"/>
                </a:solidFill>
                <a:effectLst/>
                <a:latin typeface="Times New Roman" panose="02020603050405020304" pitchFamily="18" charset="0"/>
                <a:ea typeface="宋体" pitchFamily="2" charset="-122"/>
              </a:rPr>
              <a:t>原始图像和该图像的梯度方向直方图</a:t>
            </a:r>
            <a:endParaRPr lang="zh-CN" altLang="zh-CN" sz="32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3"/>
          <p:cNvSpPr txBox="1">
            <a:spLocks noChangeArrowheads="1"/>
          </p:cNvSpPr>
          <p:nvPr/>
        </p:nvSpPr>
        <p:spPr bwMode="auto">
          <a:xfrm>
            <a:off x="3042102" y="3075851"/>
            <a:ext cx="306138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pPr algn="ctr"/>
            <a:r>
              <a:rPr lang="en-US" altLang="zh-CN" sz="4000" b="1" dirty="0">
                <a:solidFill>
                  <a:schemeClr val="tx1">
                    <a:lumMod val="75000"/>
                    <a:lumOff val="25000"/>
                  </a:schemeClr>
                </a:solidFill>
                <a:latin typeface="微软雅黑" panose="020B0503020204020204" pitchFamily="34" charset="-122"/>
              </a:rPr>
              <a:t>9.3</a:t>
            </a:r>
            <a:r>
              <a:rPr lang="zh-CN" altLang="en-US" sz="4000" b="1" dirty="0">
                <a:solidFill>
                  <a:schemeClr val="tx1">
                    <a:lumMod val="75000"/>
                    <a:lumOff val="25000"/>
                  </a:schemeClr>
                </a:solidFill>
                <a:latin typeface="微软雅黑" panose="020B0503020204020204" pitchFamily="34" charset="-122"/>
              </a:rPr>
              <a:t>角点特征</a:t>
            </a:r>
            <a:endParaRPr lang="en-US" altLang="zh-CN" sz="4000" b="1" dirty="0">
              <a:solidFill>
                <a:schemeClr val="tx1">
                  <a:lumMod val="75000"/>
                  <a:lumOff val="25000"/>
                </a:schemeClr>
              </a:solidFill>
              <a:latin typeface="微软雅黑" panose="020B0503020204020204" pitchFamily="34" charset="-122"/>
            </a:endParaRPr>
          </a:p>
        </p:txBody>
      </p:sp>
    </p:spTree>
  </p:cSld>
  <p:clrMapOvr>
    <a:masterClrMapping/>
  </p:clrMapOvr>
  <p:transition spd="slow" advClick="0" advTm="0">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4" name="内容占位符 2"/>
          <p:cNvSpPr txBox="1">
            <a:spLocks noChangeArrowheads="1"/>
          </p:cNvSpPr>
          <p:nvPr/>
        </p:nvSpPr>
        <p:spPr bwMode="auto">
          <a:xfrm>
            <a:off x="252314" y="1125538"/>
            <a:ext cx="8229600" cy="3844925"/>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cs typeface="+mj-cs"/>
              </a:rPr>
              <a:t>角点检测</a:t>
            </a:r>
            <a:endParaRPr lang="zh-CN" altLang="en-US"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zh-CN" altLang="en-US" sz="2400" kern="100" dirty="0">
                <a:effectLst/>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角点检测是计算机视觉系统中用来获得图像特征的一种方法，广泛应用于</a:t>
            </a:r>
            <a:r>
              <a:rPr lang="zh-CN" altLang="en-US" kern="100" dirty="0">
                <a:solidFill>
                  <a:srgbClr val="FF0000"/>
                </a:solidFill>
                <a:latin typeface="Times New Roman" panose="02020603050405020304" pitchFamily="18" charset="0"/>
                <a:ea typeface="宋体" pitchFamily="2" charset="-122"/>
                <a:cs typeface="Times New Roman" panose="02020603050405020304" pitchFamily="18" charset="0"/>
              </a:rPr>
              <a:t>运动检测、图像匹配、视频跟踪、三维建模和目标识别</a:t>
            </a:r>
            <a:r>
              <a:rPr lang="zh-CN" altLang="en-US" kern="100" dirty="0">
                <a:latin typeface="Times New Roman" panose="02020603050405020304" pitchFamily="18" charset="0"/>
                <a:ea typeface="宋体" pitchFamily="2" charset="-122"/>
                <a:cs typeface="Times New Roman" panose="02020603050405020304" pitchFamily="18" charset="0"/>
              </a:rPr>
              <a:t>等领域中。</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431800" indent="0" algn="l">
              <a:defRPr/>
            </a:pPr>
            <a:endParaRPr lang="en-US" altLang="zh-CN" dirty="0">
              <a:solidFill>
                <a:srgbClr val="FF0000"/>
              </a:solidFill>
              <a:cs typeface="+mj-cs"/>
            </a:endParaRPr>
          </a:p>
        </p:txBody>
      </p:sp>
      <p:sp>
        <p:nvSpPr>
          <p:cNvPr id="25" name="内容占位符 2"/>
          <p:cNvSpPr txBox="1">
            <a:spLocks noChangeArrowheads="1"/>
          </p:cNvSpPr>
          <p:nvPr/>
        </p:nvSpPr>
        <p:spPr bwMode="auto">
          <a:xfrm>
            <a:off x="252314" y="2781722"/>
            <a:ext cx="8229600" cy="3844925"/>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cs typeface="+mj-cs"/>
              </a:rPr>
              <a:t>角点定义</a:t>
            </a:r>
            <a:endParaRPr lang="zh-CN" altLang="en-US"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zh-CN" altLang="en-US" sz="2400" kern="100" dirty="0">
                <a:effectLst/>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角点通常被定义为两条边的交点，或者说，角点的局部邻域</a:t>
            </a:r>
            <a:r>
              <a:rPr lang="zh-CN" altLang="en-US" kern="100" dirty="0">
                <a:solidFill>
                  <a:srgbClr val="FF0000"/>
                </a:solidFill>
                <a:latin typeface="Times New Roman" panose="02020603050405020304" pitchFamily="18" charset="0"/>
                <a:ea typeface="宋体" pitchFamily="2" charset="-122"/>
                <a:cs typeface="Times New Roman" panose="02020603050405020304" pitchFamily="18" charset="0"/>
              </a:rPr>
              <a:t>应该具有两个不同区域，且这两个区域具有不同方向</a:t>
            </a:r>
            <a:r>
              <a:rPr lang="zh-CN" altLang="en-US" kern="100" dirty="0">
                <a:latin typeface="Times New Roman" panose="02020603050405020304" pitchFamily="18" charset="0"/>
                <a:ea typeface="宋体" pitchFamily="2" charset="-122"/>
                <a:cs typeface="Times New Roman" panose="02020603050405020304" pitchFamily="18" charset="0"/>
              </a:rPr>
              <a:t>。</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431800" indent="0" algn="l">
              <a:defRPr/>
            </a:pPr>
            <a:endParaRPr lang="en-US" altLang="zh-CN" dirty="0">
              <a:solidFill>
                <a:srgbClr val="FF0000"/>
              </a:solidFill>
              <a:cs typeface="+mj-cs"/>
            </a:endParaRPr>
          </a:p>
        </p:txBody>
      </p:sp>
      <p:sp>
        <p:nvSpPr>
          <p:cNvPr id="28" name="内容占位符 2"/>
          <p:cNvSpPr txBox="1">
            <a:spLocks noChangeArrowheads="1"/>
          </p:cNvSpPr>
          <p:nvPr/>
        </p:nvSpPr>
        <p:spPr bwMode="auto">
          <a:xfrm>
            <a:off x="252314" y="4193381"/>
            <a:ext cx="8229600" cy="384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cs typeface="+mj-cs"/>
              </a:rPr>
              <a:t>检测方法</a:t>
            </a:r>
            <a:endParaRPr lang="zh-CN" altLang="en-US" sz="1600" b="1" dirty="0">
              <a:latin typeface="黑体" panose="02010609060101010101" pitchFamily="49" charset="-122"/>
              <a:ea typeface="黑体" panose="02010609060101010101" pitchFamily="49" charset="-122"/>
            </a:endParaRPr>
          </a:p>
          <a:p>
            <a:pPr marL="431800" indent="0" algn="l">
              <a:lnSpc>
                <a:spcPct val="100000"/>
              </a:lnSpc>
              <a:defRPr/>
            </a:pPr>
            <a:r>
              <a:rPr lang="zh-CN" altLang="en-US" dirty="0">
                <a:solidFill>
                  <a:srgbClr val="000000"/>
                </a:solidFill>
                <a:cs typeface="+mj-cs"/>
              </a:rPr>
              <a:t>    </a:t>
            </a:r>
            <a:r>
              <a:rPr lang="zh-CN" altLang="en-US" dirty="0">
                <a:cs typeface="+mj-cs"/>
              </a:rPr>
              <a:t>角点检测常见的方法有：</a:t>
            </a:r>
            <a:endParaRPr lang="en-US" altLang="zh-CN" dirty="0">
              <a:cs typeface="+mj-cs"/>
            </a:endParaRPr>
          </a:p>
          <a:p>
            <a:pPr marL="3599815" algn="l">
              <a:buClr>
                <a:srgbClr val="0070C0"/>
              </a:buClr>
              <a:buFont typeface="Wingdings" panose="05000000000000000000" pitchFamily="2" charset="2"/>
              <a:buChar char="n"/>
              <a:defRPr/>
            </a:pPr>
            <a:r>
              <a:rPr lang="en-US" altLang="zh-CN" sz="2000" dirty="0">
                <a:solidFill>
                  <a:srgbClr val="FF0000"/>
                </a:solidFill>
                <a:latin typeface="Times New Roman" panose="02020603050405020304" pitchFamily="18" charset="0"/>
                <a:cs typeface="Times New Roman" panose="02020603050405020304" pitchFamily="18" charset="0"/>
              </a:rPr>
              <a:t>Harris</a:t>
            </a:r>
            <a:r>
              <a:rPr lang="zh-CN" altLang="en-US" sz="2000" dirty="0">
                <a:solidFill>
                  <a:srgbClr val="FF0000"/>
                </a:solidFill>
                <a:latin typeface="Times New Roman" panose="02020603050405020304" pitchFamily="18" charset="0"/>
                <a:cs typeface="Times New Roman" panose="02020603050405020304" pitchFamily="18" charset="0"/>
              </a:rPr>
              <a:t>角点检测</a:t>
            </a:r>
            <a:endParaRPr lang="en-US" altLang="zh-CN" sz="2000" dirty="0">
              <a:solidFill>
                <a:srgbClr val="FF0000"/>
              </a:solidFill>
              <a:latin typeface="Times New Roman" panose="02020603050405020304" pitchFamily="18" charset="0"/>
              <a:cs typeface="Times New Roman" panose="02020603050405020304" pitchFamily="18" charset="0"/>
            </a:endParaRPr>
          </a:p>
          <a:p>
            <a:pPr marL="3599815" algn="l">
              <a:buClr>
                <a:srgbClr val="0070C0"/>
              </a:buClr>
              <a:buFont typeface="Wingdings" panose="05000000000000000000" pitchFamily="2" charset="2"/>
              <a:buChar char="n"/>
              <a:defRPr/>
            </a:pPr>
            <a:r>
              <a:rPr lang="en-US" altLang="zh-CN" sz="2000" dirty="0">
                <a:solidFill>
                  <a:srgbClr val="FF0000"/>
                </a:solidFill>
                <a:latin typeface="Times New Roman" panose="02020603050405020304" pitchFamily="18" charset="0"/>
                <a:cs typeface="Times New Roman" panose="02020603050405020304" pitchFamily="18" charset="0"/>
              </a:rPr>
              <a:t>Shi-</a:t>
            </a:r>
            <a:r>
              <a:rPr lang="en-US" altLang="zh-CN" sz="2000" dirty="0" err="1">
                <a:solidFill>
                  <a:srgbClr val="FF0000"/>
                </a:solidFill>
                <a:latin typeface="Times New Roman" panose="02020603050405020304" pitchFamily="18" charset="0"/>
                <a:cs typeface="Times New Roman" panose="02020603050405020304" pitchFamily="18" charset="0"/>
              </a:rPr>
              <a:t>Tomasi</a:t>
            </a:r>
            <a:r>
              <a:rPr lang="zh-CN" altLang="en-US" sz="2000" dirty="0">
                <a:solidFill>
                  <a:srgbClr val="FF0000"/>
                </a:solidFill>
                <a:latin typeface="Times New Roman" panose="02020603050405020304" pitchFamily="18" charset="0"/>
                <a:cs typeface="Times New Roman" panose="02020603050405020304" pitchFamily="18" charset="0"/>
              </a:rPr>
              <a:t>角点检测</a:t>
            </a:r>
            <a:endParaRPr lang="en-US" altLang="zh-CN" sz="2000" dirty="0">
              <a:solidFill>
                <a:srgbClr val="FF0000"/>
              </a:solidFill>
              <a:latin typeface="Times New Roman" panose="02020603050405020304" pitchFamily="18" charset="0"/>
              <a:cs typeface="Times New Roman" panose="02020603050405020304" pitchFamily="18" charset="0"/>
            </a:endParaRPr>
          </a:p>
          <a:p>
            <a:pPr marL="3599815" algn="l">
              <a:buClr>
                <a:srgbClr val="0070C0"/>
              </a:buClr>
              <a:buFont typeface="Wingdings" panose="05000000000000000000" pitchFamily="2" charset="2"/>
              <a:buChar char="n"/>
              <a:defRPr/>
            </a:pPr>
            <a:r>
              <a:rPr lang="en-US" altLang="zh-CN" sz="2000" dirty="0">
                <a:solidFill>
                  <a:srgbClr val="FF0000"/>
                </a:solidFill>
                <a:latin typeface="Times New Roman" panose="02020603050405020304" pitchFamily="18" charset="0"/>
                <a:cs typeface="Times New Roman" panose="02020603050405020304" pitchFamily="18" charset="0"/>
              </a:rPr>
              <a:t>FAST</a:t>
            </a:r>
            <a:r>
              <a:rPr lang="zh-CN" altLang="en-US" sz="2000" dirty="0">
                <a:solidFill>
                  <a:srgbClr val="FF0000"/>
                </a:solidFill>
                <a:latin typeface="Times New Roman" panose="02020603050405020304" pitchFamily="18" charset="0"/>
                <a:cs typeface="Times New Roman" panose="02020603050405020304" pitchFamily="18" charset="0"/>
              </a:rPr>
              <a:t>角点检测等</a:t>
            </a:r>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p:transition spd="slow" advClick="0" advTm="0">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0" name="文本框 19"/>
          <p:cNvSpPr txBox="1"/>
          <p:nvPr/>
        </p:nvSpPr>
        <p:spPr>
          <a:xfrm>
            <a:off x="445687" y="1575693"/>
            <a:ext cx="8375334" cy="1200329"/>
          </a:xfrm>
          <a:prstGeom prst="rect">
            <a:avLst/>
          </a:prstGeom>
          <a:noFill/>
        </p:spPr>
        <p:txBody>
          <a:bodyPr wrap="square">
            <a:spAutoFit/>
          </a:bodyPr>
          <a:lstStyle/>
          <a:p>
            <a:pPr algn="just"/>
            <a:r>
              <a:rPr lang="en-US" altLang="zh-CN" sz="2400" kern="100" dirty="0">
                <a:cs typeface="Times New Roman" panose="02020603050405020304" pitchFamily="18" charset="0"/>
              </a:rPr>
              <a:t>Harris</a:t>
            </a:r>
            <a:r>
              <a:rPr lang="zh-CN" altLang="en-US" sz="2400" kern="100" dirty="0">
                <a:cs typeface="Times New Roman" panose="02020603050405020304" pitchFamily="18" charset="0"/>
              </a:rPr>
              <a:t>角点检测算法的思想就是用一个小窗口在图像中移动，然后通过考察这个小窗口内图像灰度的平均变换值来确定角点。</a:t>
            </a:r>
            <a:endParaRPr lang="zh-CN" altLang="en-US" sz="2400" dirty="0"/>
          </a:p>
        </p:txBody>
      </p:sp>
      <p:sp>
        <p:nvSpPr>
          <p:cNvPr id="10" name="TextBox 43"/>
          <p:cNvSpPr txBox="1">
            <a:spLocks noChangeArrowheads="1"/>
          </p:cNvSpPr>
          <p:nvPr/>
        </p:nvSpPr>
        <p:spPr bwMode="auto">
          <a:xfrm>
            <a:off x="540579" y="1142092"/>
            <a:ext cx="36208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微软雅黑" panose="020B0503020204020204" pitchFamily="34" charset="-122"/>
              </a:rPr>
              <a:t>9.3.1Harris</a:t>
            </a:r>
            <a:r>
              <a:rPr lang="zh-CN" altLang="en-US" sz="2400" b="1" dirty="0">
                <a:solidFill>
                  <a:schemeClr val="tx1">
                    <a:lumMod val="75000"/>
                    <a:lumOff val="25000"/>
                  </a:schemeClr>
                </a:solidFill>
                <a:latin typeface="微软雅黑" panose="020B0503020204020204" pitchFamily="34" charset="-122"/>
              </a:rPr>
              <a:t>角点检测</a:t>
            </a:r>
            <a:endParaRPr lang="en-US" altLang="zh-CN" sz="2400" b="1" dirty="0">
              <a:solidFill>
                <a:schemeClr val="tx1">
                  <a:lumMod val="75000"/>
                  <a:lumOff val="25000"/>
                </a:schemeClr>
              </a:solidFill>
              <a:latin typeface="微软雅黑" panose="020B0503020204020204" pitchFamily="34" charset="-122"/>
            </a:endParaRPr>
          </a:p>
        </p:txBody>
      </p:sp>
      <p:pic>
        <p:nvPicPr>
          <p:cNvPr id="18434" name="Picture 2" descr="【理解】经典角点检测算法--Harris角点_harris角点检测算法-CSDN博客"/>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762" y="2884524"/>
            <a:ext cx="8375334" cy="39528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advClick="0" advTm="0">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0" name="TextBox 43"/>
          <p:cNvSpPr txBox="1">
            <a:spLocks noChangeArrowheads="1"/>
          </p:cNvSpPr>
          <p:nvPr/>
        </p:nvSpPr>
        <p:spPr bwMode="auto">
          <a:xfrm>
            <a:off x="540579" y="1142092"/>
            <a:ext cx="36208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微软雅黑" panose="020B0503020204020204" pitchFamily="34" charset="-122"/>
              </a:rPr>
              <a:t>9.3.1Harris</a:t>
            </a:r>
            <a:r>
              <a:rPr lang="zh-CN" altLang="en-US" sz="2400" b="1" dirty="0">
                <a:solidFill>
                  <a:schemeClr val="tx1">
                    <a:lumMod val="75000"/>
                    <a:lumOff val="25000"/>
                  </a:schemeClr>
                </a:solidFill>
                <a:latin typeface="微软雅黑" panose="020B0503020204020204" pitchFamily="34" charset="-122"/>
              </a:rPr>
              <a:t>角点检测</a:t>
            </a:r>
            <a:endParaRPr lang="en-US" altLang="zh-CN" sz="2400" b="1" dirty="0">
              <a:solidFill>
                <a:schemeClr val="tx1">
                  <a:lumMod val="75000"/>
                  <a:lumOff val="25000"/>
                </a:schemeClr>
              </a:solidFill>
              <a:latin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内容占位符 2"/>
              <p:cNvSpPr txBox="1">
                <a:spLocks noChangeArrowheads="1"/>
              </p:cNvSpPr>
              <p:nvPr/>
            </p:nvSpPr>
            <p:spPr bwMode="auto">
              <a:xfrm>
                <a:off x="463615" y="1761479"/>
                <a:ext cx="8229600" cy="1524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en-US" altLang="zh-CN" b="1" dirty="0">
                    <a:solidFill>
                      <a:srgbClr val="000000"/>
                    </a:solidFill>
                    <a:cs typeface="+mj-cs"/>
                  </a:rPr>
                  <a:t>Harris</a:t>
                </a:r>
                <a:r>
                  <a:rPr lang="zh-CN" altLang="en-US" b="1" dirty="0">
                    <a:solidFill>
                      <a:srgbClr val="000000"/>
                    </a:solidFill>
                    <a:cs typeface="+mj-cs"/>
                  </a:rPr>
                  <a:t>角点检测算法步骤</a:t>
                </a:r>
                <a:endParaRPr lang="zh-CN" altLang="en-US" sz="1600" b="1" dirty="0">
                  <a:latin typeface="黑体" panose="02010609060101010101" pitchFamily="49" charset="-122"/>
                  <a:ea typeface="黑体" panose="02010609060101010101" pitchFamily="49" charset="-122"/>
                </a:endParaRPr>
              </a:p>
              <a:p>
                <a:pPr marL="457200" indent="-457200" algn="l">
                  <a:lnSpc>
                    <a:spcPct val="100000"/>
                  </a:lnSpc>
                  <a:buFont typeface="+mj-ea"/>
                  <a:buAutoNum type="circleNumDbPlain"/>
                  <a:defRPr/>
                </a:pPr>
                <a:r>
                  <a:rPr lang="zh-CN" altLang="zh-CN" kern="100" dirty="0">
                    <a:effectLst/>
                    <a:latin typeface="Times New Roman" panose="02020603050405020304" pitchFamily="18" charset="0"/>
                    <a:ea typeface="宋体" pitchFamily="2" charset="-122"/>
                  </a:rPr>
                  <a:t>计算图像</a:t>
                </a:r>
                <a14:m>
                  <m:oMath xmlns:m="http://schemas.openxmlformats.org/officeDocument/2006/math">
                    <m:r>
                      <a:rPr lang="en-US" altLang="zh-CN" i="1" kern="100">
                        <a:effectLst/>
                        <a:latin typeface="Cambria Math" panose="02040503050406030204" pitchFamily="18" charset="0"/>
                        <a:ea typeface="宋体" pitchFamily="2" charset="-122"/>
                      </a:rPr>
                      <m:t>𝐼</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𝑥</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𝑦</m:t>
                    </m:r>
                    <m:r>
                      <a:rPr lang="en-US" altLang="zh-CN" i="1"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在</a:t>
                </a:r>
                <a:r>
                  <a:rPr lang="en-US" altLang="zh-CN" kern="100" dirty="0">
                    <a:effectLst/>
                    <a:latin typeface="Times New Roman" panose="02020603050405020304" pitchFamily="18" charset="0"/>
                    <a:ea typeface="宋体" pitchFamily="2" charset="-122"/>
                  </a:rPr>
                  <a:t>X</a:t>
                </a:r>
                <a:r>
                  <a:rPr lang="zh-CN" altLang="zh-CN" kern="100" dirty="0">
                    <a:effectLst/>
                    <a:latin typeface="Times New Roman" panose="02020603050405020304" pitchFamily="18" charset="0"/>
                    <a:ea typeface="宋体" pitchFamily="2" charset="-122"/>
                  </a:rPr>
                  <a:t>和</a:t>
                </a:r>
                <a:r>
                  <a:rPr lang="en-US" altLang="zh-CN" kern="100" dirty="0">
                    <a:effectLst/>
                    <a:latin typeface="Times New Roman" panose="02020603050405020304" pitchFamily="18" charset="0"/>
                    <a:ea typeface="宋体" pitchFamily="2" charset="-122"/>
                  </a:rPr>
                  <a:t>Y</a:t>
                </a:r>
                <a:r>
                  <a:rPr lang="zh-CN" altLang="zh-CN" kern="100" dirty="0">
                    <a:effectLst/>
                    <a:latin typeface="Times New Roman" panose="02020603050405020304" pitchFamily="18" charset="0"/>
                    <a:ea typeface="宋体" pitchFamily="2" charset="-122"/>
                  </a:rPr>
                  <a:t>两个方向上的梯度</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𝐼</m:t>
                        </m:r>
                      </m:e>
                      <m:sub>
                        <m:r>
                          <a:rPr lang="en-US" altLang="zh-CN" i="1" kern="100">
                            <a:effectLst/>
                            <a:latin typeface="Cambria Math" panose="02040503050406030204" pitchFamily="18" charset="0"/>
                            <a:ea typeface="宋体" pitchFamily="2" charset="-122"/>
                          </a:rPr>
                          <m:t>𝑥</m:t>
                        </m:r>
                      </m:sub>
                    </m:sSub>
                  </m:oMath>
                </a14:m>
                <a:r>
                  <a:rPr lang="zh-CN" altLang="zh-CN" kern="100" dirty="0">
                    <a:effectLst/>
                    <a:latin typeface="Times New Roman" panose="02020603050405020304" pitchFamily="18" charset="0"/>
                    <a:ea typeface="宋体" pitchFamily="2" charset="-122"/>
                  </a:rPr>
                  <a:t>，</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𝐼</m:t>
                        </m:r>
                      </m:e>
                      <m:sub>
                        <m:r>
                          <a:rPr lang="en-US" altLang="zh-CN" i="1" kern="100">
                            <a:effectLst/>
                            <a:latin typeface="Cambria Math" panose="02040503050406030204" pitchFamily="18" charset="0"/>
                            <a:ea typeface="宋体" pitchFamily="2" charset="-122"/>
                          </a:rPr>
                          <m:t>𝑦</m:t>
                        </m:r>
                      </m:sub>
                    </m:sSub>
                  </m:oMath>
                </a14:m>
                <a:r>
                  <a:rPr lang="zh-CN" altLang="zh-CN" kern="100" dirty="0">
                    <a:effectLst/>
                    <a:latin typeface="Times New Roman" panose="02020603050405020304" pitchFamily="18" charset="0"/>
                    <a:ea typeface="宋体" pitchFamily="2" charset="-122"/>
                  </a:rPr>
                  <a:t>，计算公式如</a:t>
                </a:r>
                <a:r>
                  <a:rPr lang="en-US" altLang="zh-CN" kern="100" dirty="0">
                    <a:effectLst/>
                    <a:latin typeface="Times New Roman" panose="02020603050405020304" pitchFamily="18" charset="0"/>
                    <a:ea typeface="宋体" pitchFamily="2" charset="-122"/>
                  </a:rPr>
                  <a:t>(9-6)</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(9-7)</a:t>
                </a:r>
                <a:r>
                  <a:rPr lang="zh-CN" altLang="zh-CN" kern="100" dirty="0">
                    <a:effectLst/>
                    <a:latin typeface="Times New Roman" panose="02020603050405020304" pitchFamily="18" charset="0"/>
                    <a:ea typeface="宋体" pitchFamily="2" charset="-122"/>
                  </a:rPr>
                  <a:t>所示。</a:t>
                </a:r>
                <a:endParaRPr lang="zh-CN" altLang="zh-CN" kern="100" dirty="0">
                  <a:effectLst/>
                  <a:latin typeface="Times New Roman" panose="02020603050405020304" pitchFamily="18" charset="0"/>
                  <a:ea typeface="宋体" pitchFamily="2" charset="-122"/>
                </a:endParaRPr>
              </a:p>
            </p:txBody>
          </p:sp>
        </mc:Choice>
        <mc:Fallback>
          <p:sp>
            <p:nvSpPr>
              <p:cNvPr id="9" name="内容占位符 2"/>
              <p:cNvSpPr txBox="1">
                <a:spLocks noRot="1" noChangeAspect="1" noMove="1" noResize="1" noEditPoints="1" noAdjustHandles="1" noChangeArrowheads="1" noChangeShapeType="1" noTextEdit="1"/>
              </p:cNvSpPr>
              <p:nvPr/>
            </p:nvSpPr>
            <p:spPr bwMode="auto">
              <a:xfrm>
                <a:off x="463615" y="1761479"/>
                <a:ext cx="8229600" cy="1524295"/>
              </a:xfrm>
              <a:prstGeom prst="rect">
                <a:avLst/>
              </a:prstGeom>
              <a:blipFill rotWithShape="1">
                <a:blip r:embed="rId1"/>
                <a:stretch>
                  <a:fillRect l="-1" t="-41" r="1" b="1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2277306" y="3142337"/>
                <a:ext cx="6333557" cy="635367"/>
              </a:xfrm>
              <a:prstGeom prst="rect">
                <a:avLst/>
              </a:prstGeom>
              <a:noFill/>
            </p:spPr>
            <p:txBody>
              <a:bodyPr wrap="square">
                <a:spAutoFit/>
              </a:bodyPr>
              <a:lstStyle/>
              <a:p>
                <a14:m>
                  <m:oMath xmlns:m="http://schemas.openxmlformats.org/officeDocument/2006/math">
                    <m:sSub>
                      <m:sSubPr>
                        <m:ctrlPr>
                          <a:rPr lang="zh-CN" altLang="en-US" sz="2400" i="1" smtClean="0">
                            <a:solidFill>
                              <a:srgbClr val="836967"/>
                            </a:solidFill>
                            <a:latin typeface="Cambria Math" panose="02040503050406030204" pitchFamily="18" charset="0"/>
                          </a:rPr>
                        </m:ctrlPr>
                      </m:sSubPr>
                      <m:e>
                        <m:r>
                          <a:rPr lang="zh-CN" altLang="en-US" sz="2400" i="1">
                            <a:latin typeface="Cambria Math" panose="02040503050406030204" pitchFamily="18" charset="0"/>
                          </a:rPr>
                          <m:t>𝐼</m:t>
                        </m:r>
                      </m:e>
                      <m:sub>
                        <m:r>
                          <a:rPr lang="zh-CN" altLang="en-US" sz="2400" i="1">
                            <a:latin typeface="Cambria Math" panose="02040503050406030204" pitchFamily="18" charset="0"/>
                          </a:rPr>
                          <m:t>𝑥</m:t>
                        </m:r>
                      </m:sub>
                    </m:sSub>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0">
                            <a:latin typeface="Cambria Math" panose="02040503050406030204" pitchFamily="18" charset="0"/>
                          </a:rPr>
                          <m:t>𝜕</m:t>
                        </m:r>
                        <m:r>
                          <a:rPr lang="zh-CN" altLang="en-US" sz="2400" i="1">
                            <a:latin typeface="Cambria Math" panose="02040503050406030204" pitchFamily="18" charset="0"/>
                          </a:rPr>
                          <m:t>𝐼</m:t>
                        </m:r>
                      </m:num>
                      <m:den>
                        <m:r>
                          <a:rPr lang="zh-CN" altLang="en-US" sz="2400" i="0">
                            <a:latin typeface="Cambria Math" panose="02040503050406030204" pitchFamily="18" charset="0"/>
                          </a:rPr>
                          <m:t>𝜕</m:t>
                        </m:r>
                        <m:r>
                          <a:rPr lang="zh-CN" altLang="en-US" sz="2400" i="1">
                            <a:latin typeface="Cambria Math" panose="02040503050406030204" pitchFamily="18" charset="0"/>
                          </a:rPr>
                          <m:t>𝑥</m:t>
                        </m:r>
                      </m:den>
                    </m:f>
                    <m:r>
                      <a:rPr lang="zh-CN" altLang="en-US" sz="2400" i="0">
                        <a:latin typeface="Cambria Math" panose="02040503050406030204" pitchFamily="18" charset="0"/>
                      </a:rPr>
                      <m:t>=</m:t>
                    </m:r>
                    <m:r>
                      <a:rPr lang="zh-CN" altLang="en-US" sz="2400" i="1">
                        <a:latin typeface="Cambria Math" panose="02040503050406030204" pitchFamily="18" charset="0"/>
                      </a:rPr>
                      <m:t>𝐼</m:t>
                    </m:r>
                    <m:r>
                      <a:rPr lang="zh-CN" altLang="en-US" sz="2400" i="0">
                        <a:latin typeface="Cambria Math" panose="02040503050406030204" pitchFamily="18" charset="0"/>
                      </a:rPr>
                      <m:t>∗</m:t>
                    </m:r>
                    <m:d>
                      <m:dPr>
                        <m:ctrlPr>
                          <a:rPr lang="zh-CN" altLang="en-US" sz="2400" i="1">
                            <a:solidFill>
                              <a:srgbClr val="836967"/>
                            </a:solidFill>
                            <a:latin typeface="Cambria Math" panose="02040503050406030204" pitchFamily="18" charset="0"/>
                          </a:rPr>
                        </m:ctrlPr>
                      </m:dPr>
                      <m:e>
                        <m:m>
                          <m:mPr>
                            <m:mcs>
                              <m:mc>
                                <m:mcPr>
                                  <m:count m:val="3"/>
                                  <m:mcJc m:val="center"/>
                                </m:mcPr>
                              </m:mc>
                            </m:mcs>
                            <m:plcHide m:val="on"/>
                            <m:ctrlPr>
                              <a:rPr lang="zh-CN" altLang="en-US" sz="2400" i="1">
                                <a:solidFill>
                                  <a:srgbClr val="836967"/>
                                </a:solidFill>
                                <a:latin typeface="Cambria Math" panose="02040503050406030204" pitchFamily="18" charset="0"/>
                              </a:rPr>
                            </m:ctrlPr>
                          </m:mPr>
                          <m:mr>
                            <m:e>
                              <m:r>
                                <a:rPr lang="zh-CN" altLang="en-US" sz="2400" i="0">
                                  <a:latin typeface="Cambria Math" panose="02040503050406030204" pitchFamily="18" charset="0"/>
                                </a:rPr>
                                <m:t>−</m:t>
                              </m:r>
                              <m:r>
                                <a:rPr lang="zh-CN" altLang="en-US" sz="2400" i="0">
                                  <a:latin typeface="Cambria Math" panose="02040503050406030204" pitchFamily="18" charset="0"/>
                                </a:rPr>
                                <m:t>1</m:t>
                              </m:r>
                            </m:e>
                            <m:e>
                              <m:r>
                                <a:rPr lang="zh-CN" altLang="en-US" sz="2400" i="0">
                                  <a:latin typeface="Cambria Math" panose="02040503050406030204" pitchFamily="18" charset="0"/>
                                </a:rPr>
                                <m:t>0</m:t>
                              </m:r>
                            </m:e>
                            <m:e>
                              <m:r>
                                <a:rPr lang="zh-CN" altLang="en-US" sz="2400" i="0">
                                  <a:latin typeface="Cambria Math" panose="02040503050406030204" pitchFamily="18" charset="0"/>
                                </a:rPr>
                                <m:t>1</m:t>
                              </m:r>
                            </m:e>
                          </m:mr>
                        </m:m>
                      </m:e>
                    </m:d>
                  </m:oMath>
                </a14:m>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(9-6)</a:t>
                </a:r>
                <a:r>
                  <a:rPr lang="zh-CN" altLang="en-US"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2277306" y="3142337"/>
                <a:ext cx="6333557" cy="635367"/>
              </a:xfrm>
              <a:prstGeom prst="rect">
                <a:avLst/>
              </a:prstGeom>
              <a:blipFill rotWithShape="1">
                <a:blip r:embed="rId2"/>
                <a:stretch>
                  <a:fillRect l="-3" t="-56" r="4"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2274159" y="3718401"/>
                <a:ext cx="5877305" cy="635367"/>
              </a:xfrm>
              <a:prstGeom prst="rect">
                <a:avLst/>
              </a:prstGeom>
              <a:noFill/>
            </p:spPr>
            <p:txBody>
              <a:bodyPr wrap="square">
                <a:spAutoFit/>
              </a:bodyPr>
              <a:lstStyle/>
              <a:p>
                <a14:m>
                  <m:oMath xmlns:m="http://schemas.openxmlformats.org/officeDocument/2006/math">
                    <m:sSub>
                      <m:sSubPr>
                        <m:ctrlPr>
                          <a:rPr lang="zh-CN" altLang="en-US" sz="2400" i="1" smtClean="0">
                            <a:solidFill>
                              <a:srgbClr val="836967"/>
                            </a:solidFill>
                            <a:latin typeface="Cambria Math" panose="02040503050406030204" pitchFamily="18" charset="0"/>
                          </a:rPr>
                        </m:ctrlPr>
                      </m:sSubPr>
                      <m:e>
                        <m:r>
                          <a:rPr lang="zh-CN" altLang="en-US" sz="2400" i="1">
                            <a:latin typeface="Cambria Math" panose="02040503050406030204" pitchFamily="18" charset="0"/>
                          </a:rPr>
                          <m:t>𝐼</m:t>
                        </m:r>
                      </m:e>
                      <m:sub>
                        <m:r>
                          <a:rPr lang="zh-CN" altLang="en-US" sz="2400" i="1">
                            <a:latin typeface="Cambria Math" panose="02040503050406030204" pitchFamily="18" charset="0"/>
                          </a:rPr>
                          <m:t>𝑦</m:t>
                        </m:r>
                      </m:sub>
                    </m:sSub>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0">
                            <a:latin typeface="Cambria Math" panose="02040503050406030204" pitchFamily="18" charset="0"/>
                          </a:rPr>
                          <m:t>𝜕</m:t>
                        </m:r>
                        <m:r>
                          <a:rPr lang="zh-CN" altLang="en-US" sz="2400" i="1">
                            <a:latin typeface="Cambria Math" panose="02040503050406030204" pitchFamily="18" charset="0"/>
                          </a:rPr>
                          <m:t>𝐼</m:t>
                        </m:r>
                      </m:num>
                      <m:den>
                        <m:r>
                          <a:rPr lang="zh-CN" altLang="en-US" sz="2400" i="0">
                            <a:latin typeface="Cambria Math" panose="02040503050406030204" pitchFamily="18" charset="0"/>
                          </a:rPr>
                          <m:t>𝜕</m:t>
                        </m:r>
                        <m:r>
                          <a:rPr lang="zh-CN" altLang="en-US" sz="2400" i="1">
                            <a:latin typeface="Cambria Math" panose="02040503050406030204" pitchFamily="18" charset="0"/>
                          </a:rPr>
                          <m:t>𝑥</m:t>
                        </m:r>
                      </m:den>
                    </m:f>
                    <m:r>
                      <a:rPr lang="zh-CN" altLang="en-US" sz="2400" i="0">
                        <a:latin typeface="Cambria Math" panose="02040503050406030204" pitchFamily="18" charset="0"/>
                      </a:rPr>
                      <m:t>=</m:t>
                    </m:r>
                    <m:r>
                      <a:rPr lang="zh-CN" altLang="en-US" sz="2400" i="1">
                        <a:latin typeface="Cambria Math" panose="02040503050406030204" pitchFamily="18" charset="0"/>
                      </a:rPr>
                      <m:t>𝐼</m:t>
                    </m:r>
                    <m:r>
                      <a:rPr lang="zh-CN" altLang="en-US" sz="2400" i="0">
                        <a:latin typeface="Cambria Math" panose="02040503050406030204" pitchFamily="18" charset="0"/>
                      </a:rPr>
                      <m:t>∗</m:t>
                    </m:r>
                    <m:sSup>
                      <m:sSupPr>
                        <m:ctrlPr>
                          <a:rPr lang="zh-CN" altLang="en-US" sz="2400" i="1">
                            <a:solidFill>
                              <a:srgbClr val="836967"/>
                            </a:solidFill>
                            <a:latin typeface="Cambria Math" panose="02040503050406030204" pitchFamily="18" charset="0"/>
                          </a:rPr>
                        </m:ctrlPr>
                      </m:sSupPr>
                      <m:e>
                        <m:d>
                          <m:dPr>
                            <m:ctrlPr>
                              <a:rPr lang="zh-CN" altLang="en-US" sz="2400" i="1">
                                <a:solidFill>
                                  <a:srgbClr val="836967"/>
                                </a:solidFill>
                                <a:latin typeface="Cambria Math" panose="02040503050406030204" pitchFamily="18" charset="0"/>
                              </a:rPr>
                            </m:ctrlPr>
                          </m:dPr>
                          <m:e>
                            <m:m>
                              <m:mPr>
                                <m:mcs>
                                  <m:mc>
                                    <m:mcPr>
                                      <m:count m:val="3"/>
                                      <m:mcJc m:val="center"/>
                                    </m:mcPr>
                                  </m:mc>
                                </m:mcs>
                                <m:plcHide m:val="on"/>
                                <m:ctrlPr>
                                  <a:rPr lang="zh-CN" altLang="en-US" sz="2400" i="1">
                                    <a:solidFill>
                                      <a:srgbClr val="836967"/>
                                    </a:solidFill>
                                    <a:latin typeface="Cambria Math" panose="02040503050406030204" pitchFamily="18" charset="0"/>
                                  </a:rPr>
                                </m:ctrlPr>
                              </m:mPr>
                              <m:mr>
                                <m:e>
                                  <m:r>
                                    <a:rPr lang="zh-CN" altLang="en-US" sz="2400" i="0">
                                      <a:latin typeface="Cambria Math" panose="02040503050406030204" pitchFamily="18" charset="0"/>
                                    </a:rPr>
                                    <m:t>−</m:t>
                                  </m:r>
                                  <m:r>
                                    <a:rPr lang="zh-CN" altLang="en-US" sz="2400" i="0">
                                      <a:latin typeface="Cambria Math" panose="02040503050406030204" pitchFamily="18" charset="0"/>
                                    </a:rPr>
                                    <m:t>1</m:t>
                                  </m:r>
                                </m:e>
                                <m:e>
                                  <m:r>
                                    <a:rPr lang="zh-CN" altLang="en-US" sz="2400" i="0">
                                      <a:latin typeface="Cambria Math" panose="02040503050406030204" pitchFamily="18" charset="0"/>
                                    </a:rPr>
                                    <m:t>0</m:t>
                                  </m:r>
                                </m:e>
                                <m:e>
                                  <m:r>
                                    <a:rPr lang="zh-CN" altLang="en-US" sz="2400" i="0">
                                      <a:latin typeface="Cambria Math" panose="02040503050406030204" pitchFamily="18" charset="0"/>
                                    </a:rPr>
                                    <m:t>1</m:t>
                                  </m:r>
                                </m:e>
                              </m:mr>
                            </m:m>
                          </m:e>
                        </m:d>
                      </m:e>
                      <m:sup>
                        <m:r>
                          <a:rPr lang="zh-CN" altLang="en-US" sz="2400" i="1">
                            <a:latin typeface="Cambria Math" panose="02040503050406030204" pitchFamily="18" charset="0"/>
                          </a:rPr>
                          <m:t>𝑇</m:t>
                        </m:r>
                      </m:sup>
                    </m:sSup>
                  </m:oMath>
                </a14:m>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(9-7)</a:t>
                </a:r>
                <a:endParaRPr lang="zh-CN" altLang="en-US" sz="2400" dirty="0">
                  <a:latin typeface="Times New Roman" panose="02020603050405020304" pitchFamily="18" charset="0"/>
                  <a:cs typeface="Times New Roman" panose="02020603050405020304" pitchFamily="18" charset="0"/>
                </a:endParaRPr>
              </a:p>
            </p:txBody>
          </p:sp>
        </mc:Choice>
        <mc:Fallback>
          <p:sp>
            <p:nvSpPr>
              <p:cNvPr id="14" name="文本框 13"/>
              <p:cNvSpPr txBox="1">
                <a:spLocks noRot="1" noChangeAspect="1" noMove="1" noResize="1" noEditPoints="1" noAdjustHandles="1" noChangeArrowheads="1" noChangeShapeType="1" noTextEdit="1"/>
              </p:cNvSpPr>
              <p:nvPr/>
            </p:nvSpPr>
            <p:spPr>
              <a:xfrm>
                <a:off x="2274159" y="3718401"/>
                <a:ext cx="5877305" cy="635367"/>
              </a:xfrm>
              <a:prstGeom prst="rect">
                <a:avLst/>
              </a:prstGeom>
              <a:blipFill rotWithShape="1">
                <a:blip r:embed="rId3"/>
                <a:stretch>
                  <a:fillRect l="-4" t="-75" r="10" b="33"/>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9" name="内容占位符 2"/>
          <p:cNvSpPr txBox="1">
            <a:spLocks noChangeArrowheads="1"/>
          </p:cNvSpPr>
          <p:nvPr/>
        </p:nvSpPr>
        <p:spPr bwMode="auto">
          <a:xfrm>
            <a:off x="450893" y="1172898"/>
            <a:ext cx="8229600" cy="384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en-US" altLang="zh-CN"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Harris</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角点检测算法步骤</a:t>
            </a:r>
            <a:endParaRPr lang="zh-CN" altLang="en-US" sz="1600" b="1" dirty="0">
              <a:latin typeface="Times New Roman" panose="02020603050405020304" pitchFamily="18" charset="0"/>
              <a:ea typeface="黑体" panose="02010609060101010101" pitchFamily="49" charset="-122"/>
              <a:cs typeface="Times New Roman" panose="02020603050405020304" pitchFamily="18" charset="0"/>
            </a:endParaRPr>
          </a:p>
          <a:p>
            <a:pPr marL="360045" indent="-457200" algn="l">
              <a:lnSpc>
                <a:spcPct val="100000"/>
              </a:lnSpc>
              <a:buFont typeface="+mj-ea"/>
              <a:buAutoNum type="circleNumDbPlain" startAt="2"/>
              <a:defRPr/>
            </a:pPr>
            <a:r>
              <a:rPr lang="zh-CN" altLang="en-US" kern="100" dirty="0">
                <a:latin typeface="Times New Roman" panose="02020603050405020304" pitchFamily="18" charset="0"/>
                <a:cs typeface="Times New Roman" panose="02020603050405020304" pitchFamily="18" charset="0"/>
              </a:rPr>
              <a:t>计算像素点的自相关矩阵</a:t>
            </a:r>
            <a:r>
              <a:rPr lang="en-US" altLang="zh-CN" kern="100" dirty="0">
                <a:latin typeface="Times New Roman" panose="02020603050405020304" pitchFamily="18" charset="0"/>
                <a:cs typeface="Times New Roman" panose="02020603050405020304" pitchFamily="18" charset="0"/>
              </a:rPr>
              <a:t>M</a:t>
            </a:r>
            <a:r>
              <a:rPr lang="zh-CN" altLang="en-US"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M</a:t>
            </a:r>
            <a:r>
              <a:rPr lang="zh-CN" altLang="en-US" kern="100" dirty="0">
                <a:latin typeface="Times New Roman" panose="02020603050405020304" pitchFamily="18" charset="0"/>
                <a:cs typeface="Times New Roman" panose="02020603050405020304" pitchFamily="18" charset="0"/>
              </a:rPr>
              <a:t>的计算公式如</a:t>
            </a:r>
            <a:r>
              <a:rPr lang="en-US" altLang="zh-CN" kern="100" dirty="0">
                <a:latin typeface="Times New Roman" panose="02020603050405020304" pitchFamily="18" charset="0"/>
                <a:cs typeface="Times New Roman" panose="02020603050405020304" pitchFamily="18" charset="0"/>
              </a:rPr>
              <a:t>(9-8)</a:t>
            </a:r>
            <a:r>
              <a:rPr lang="zh-CN" altLang="en-US" kern="100" dirty="0">
                <a:latin typeface="Times New Roman" panose="02020603050405020304" pitchFamily="18" charset="0"/>
                <a:cs typeface="Times New Roman" panose="02020603050405020304" pitchFamily="18" charset="0"/>
              </a:rPr>
              <a:t>所示。</a:t>
            </a:r>
            <a:endParaRPr lang="en-US" altLang="zh-CN" kern="100" dirty="0">
              <a:effectLst/>
              <a:latin typeface="Times New Roman" panose="02020603050405020304" pitchFamily="18" charset="0"/>
              <a:ea typeface="宋体" pitchFamily="2" charset="-122"/>
              <a:cs typeface="Times New Roman" panose="02020603050405020304" pitchFamily="18" charset="0"/>
            </a:endParaRPr>
          </a:p>
          <a:p>
            <a:pPr marL="889000" indent="-457200" algn="l">
              <a:lnSpc>
                <a:spcPct val="100000"/>
              </a:lnSpc>
              <a:buFont typeface="+mj-ea"/>
              <a:buAutoNum type="circleNumDbPlain" startAt="2"/>
              <a:defRPr/>
            </a:pPr>
            <a:endParaRPr lang="zh-CN" altLang="zh-CN" kern="100" dirty="0">
              <a:effectLst/>
              <a:latin typeface="Times New Roman" panose="02020603050405020304" pitchFamily="18" charset="0"/>
              <a:ea typeface="宋体" pitchFamily="2" charset="-122"/>
              <a:cs typeface="Times New Roman" panose="02020603050405020304" pitchFamily="18" charset="0"/>
            </a:endParaRPr>
          </a:p>
          <a:p>
            <a:pPr marL="889000" indent="-457200" algn="l">
              <a:lnSpc>
                <a:spcPct val="100000"/>
              </a:lnSpc>
              <a:buFont typeface="+mj-ea"/>
              <a:buAutoNum type="circleNumDbPlain" startAt="2"/>
              <a:defRPr/>
            </a:pPr>
            <a:endParaRPr lang="en-US" altLang="zh-CN" dirty="0">
              <a:solidFill>
                <a:srgbClr val="0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文本框 11"/>
              <p:cNvSpPr txBox="1"/>
              <p:nvPr/>
            </p:nvSpPr>
            <p:spPr>
              <a:xfrm>
                <a:off x="2106158" y="2421682"/>
                <a:ext cx="6427076" cy="957250"/>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𝑀</m:t>
                    </m:r>
                    <m:r>
                      <a:rPr lang="zh-CN" altLang="en-US" sz="2400" i="0">
                        <a:latin typeface="Cambria Math" panose="02040503050406030204" pitchFamily="18" charset="0"/>
                      </a:rPr>
                      <m:t>=</m:t>
                    </m:r>
                    <m:nary>
                      <m:naryPr>
                        <m:chr m:val="∑"/>
                        <m:limLoc m:val="undOvr"/>
                        <m:supHide m:val="on"/>
                        <m:ctrlPr>
                          <a:rPr lang="zh-CN" altLang="en-US" sz="2400" i="1">
                            <a:latin typeface="Cambria Math" panose="02040503050406030204" pitchFamily="18" charset="0"/>
                          </a:rPr>
                        </m:ctrlPr>
                      </m:naryPr>
                      <m:sub>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sub>
                      <m:sup/>
                      <m:e>
                        <m:r>
                          <a:rPr lang="zh-CN" altLang="en-US" sz="2400" i="1">
                            <a:latin typeface="Cambria Math" panose="02040503050406030204" pitchFamily="18" charset="0"/>
                          </a:rPr>
                          <m:t>𝑤</m:t>
                        </m:r>
                        <m:d>
                          <m:dPr>
                            <m:sepChr m:val=","/>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e>
                            <m:r>
                              <a:rPr lang="zh-CN" altLang="en-US" sz="2400" i="1">
                                <a:latin typeface="Cambria Math" panose="02040503050406030204" pitchFamily="18" charset="0"/>
                              </a:rPr>
                              <m:t>𝑦</m:t>
                            </m:r>
                          </m:e>
                        </m:d>
                        <m:d>
                          <m:dPr>
                            <m:begChr m:val="["/>
                            <m:endChr m:val="]"/>
                            <m:ctrlPr>
                              <a:rPr lang="zh-CN" altLang="en-US" sz="2400" i="1">
                                <a:solidFill>
                                  <a:srgbClr val="836967"/>
                                </a:solidFill>
                                <a:latin typeface="Cambria Math" panose="02040503050406030204" pitchFamily="18" charset="0"/>
                              </a:rPr>
                            </m:ctrlPr>
                          </m:dPr>
                          <m:e>
                            <m:m>
                              <m:mPr>
                                <m:mcs>
                                  <m:mc>
                                    <m:mcPr>
                                      <m:count m:val="2"/>
                                      <m:mcJc m:val="center"/>
                                    </m:mcPr>
                                  </m:mc>
                                </m:mcs>
                                <m:plcHide m:val="on"/>
                                <m:ctrlPr>
                                  <a:rPr lang="zh-CN" altLang="en-US" sz="2400" i="1">
                                    <a:solidFill>
                                      <a:srgbClr val="836967"/>
                                    </a:solidFill>
                                    <a:latin typeface="Cambria Math" panose="02040503050406030204" pitchFamily="18" charset="0"/>
                                  </a:rPr>
                                </m:ctrlPr>
                              </m:mPr>
                              <m:mr>
                                <m:e>
                                  <m:sSubSup>
                                    <m:sSubSupPr>
                                      <m:ctrlPr>
                                        <a:rPr lang="zh-CN" altLang="en-US" sz="2400" i="1">
                                          <a:solidFill>
                                            <a:srgbClr val="836967"/>
                                          </a:solidFill>
                                          <a:latin typeface="Cambria Math" panose="02040503050406030204" pitchFamily="18" charset="0"/>
                                        </a:rPr>
                                      </m:ctrlPr>
                                    </m:sSubSupPr>
                                    <m:e>
                                      <m:r>
                                        <a:rPr lang="zh-CN" altLang="en-US" sz="2400" i="1">
                                          <a:latin typeface="Cambria Math" panose="02040503050406030204" pitchFamily="18" charset="0"/>
                                        </a:rPr>
                                        <m:t>𝐼</m:t>
                                      </m:r>
                                    </m:e>
                                    <m:sub>
                                      <m:r>
                                        <a:rPr lang="zh-CN" altLang="en-US" sz="2400" i="1">
                                          <a:latin typeface="Cambria Math" panose="02040503050406030204" pitchFamily="18" charset="0"/>
                                        </a:rPr>
                                        <m:t>𝑥</m:t>
                                      </m:r>
                                    </m:sub>
                                    <m:sup>
                                      <m:r>
                                        <a:rPr lang="zh-CN" altLang="en-US" sz="2400" i="0">
                                          <a:latin typeface="Cambria Math" panose="02040503050406030204" pitchFamily="18" charset="0"/>
                                        </a:rPr>
                                        <m:t>2</m:t>
                                      </m:r>
                                    </m:sup>
                                  </m:sSubSup>
                                </m:e>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𝐼</m:t>
                                      </m:r>
                                    </m:e>
                                    <m:sub>
                                      <m:r>
                                        <a:rPr lang="zh-CN" altLang="en-US" sz="2400" i="1">
                                          <a:latin typeface="Cambria Math" panose="02040503050406030204" pitchFamily="18" charset="0"/>
                                        </a:rPr>
                                        <m:t>𝑥</m:t>
                                      </m:r>
                                    </m:sub>
                                  </m:sSub>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𝐼</m:t>
                                      </m:r>
                                    </m:e>
                                    <m:sub>
                                      <m:r>
                                        <a:rPr lang="zh-CN" altLang="en-US" sz="2400" i="1">
                                          <a:latin typeface="Cambria Math" panose="02040503050406030204" pitchFamily="18" charset="0"/>
                                        </a:rPr>
                                        <m:t>𝑦</m:t>
                                      </m:r>
                                    </m:sub>
                                  </m:sSub>
                                </m:e>
                              </m:mr>
                              <m:mr>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𝐼</m:t>
                                      </m:r>
                                    </m:e>
                                    <m:sub>
                                      <m:r>
                                        <a:rPr lang="zh-CN" altLang="en-US" sz="2400" i="1">
                                          <a:latin typeface="Cambria Math" panose="02040503050406030204" pitchFamily="18" charset="0"/>
                                        </a:rPr>
                                        <m:t>𝑥</m:t>
                                      </m:r>
                                    </m:sub>
                                  </m:sSub>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𝐼</m:t>
                                      </m:r>
                                    </m:e>
                                    <m:sub>
                                      <m:r>
                                        <a:rPr lang="zh-CN" altLang="en-US" sz="2400" i="1">
                                          <a:latin typeface="Cambria Math" panose="02040503050406030204" pitchFamily="18" charset="0"/>
                                        </a:rPr>
                                        <m:t>𝑦</m:t>
                                      </m:r>
                                    </m:sub>
                                  </m:sSub>
                                </m:e>
                                <m:e>
                                  <m:sSubSup>
                                    <m:sSubSupPr>
                                      <m:ctrlPr>
                                        <a:rPr lang="zh-CN" altLang="en-US" sz="2400" i="1">
                                          <a:solidFill>
                                            <a:srgbClr val="836967"/>
                                          </a:solidFill>
                                          <a:latin typeface="Cambria Math" panose="02040503050406030204" pitchFamily="18" charset="0"/>
                                        </a:rPr>
                                      </m:ctrlPr>
                                    </m:sSubSupPr>
                                    <m:e>
                                      <m:r>
                                        <a:rPr lang="zh-CN" altLang="en-US" sz="2400" i="1">
                                          <a:latin typeface="Cambria Math" panose="02040503050406030204" pitchFamily="18" charset="0"/>
                                        </a:rPr>
                                        <m:t>𝐼</m:t>
                                      </m:r>
                                    </m:e>
                                    <m:sub>
                                      <m:r>
                                        <a:rPr lang="zh-CN" altLang="en-US" sz="2400" i="1">
                                          <a:latin typeface="Cambria Math" panose="02040503050406030204" pitchFamily="18" charset="0"/>
                                        </a:rPr>
                                        <m:t>𝑦</m:t>
                                      </m:r>
                                    </m:sub>
                                    <m:sup>
                                      <m:r>
                                        <a:rPr lang="zh-CN" altLang="en-US" sz="2400" i="0">
                                          <a:latin typeface="Cambria Math" panose="02040503050406030204" pitchFamily="18" charset="0"/>
                                        </a:rPr>
                                        <m:t>2</m:t>
                                      </m:r>
                                    </m:sup>
                                  </m:sSubSup>
                                </m:e>
                              </m:mr>
                            </m:m>
                          </m:e>
                        </m:d>
                      </m:e>
                    </m:nary>
                  </m:oMath>
                </a14:m>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(9-8)</a:t>
                </a:r>
                <a:endParaRPr lang="zh-CN" altLang="en-US" sz="2400" dirty="0">
                  <a:latin typeface="Times New Roman" panose="02020603050405020304" pitchFamily="18" charset="0"/>
                  <a:cs typeface="Times New Roman" panose="02020603050405020304" pitchFamily="18" charset="0"/>
                </a:endParaRPr>
              </a:p>
            </p:txBody>
          </p:sp>
        </mc:Choice>
        <mc:Fallback>
          <p:sp>
            <p:nvSpPr>
              <p:cNvPr id="12" name="文本框 11"/>
              <p:cNvSpPr txBox="1">
                <a:spLocks noRot="1" noChangeAspect="1" noMove="1" noResize="1" noEditPoints="1" noAdjustHandles="1" noChangeArrowheads="1" noChangeShapeType="1" noTextEdit="1"/>
              </p:cNvSpPr>
              <p:nvPr/>
            </p:nvSpPr>
            <p:spPr>
              <a:xfrm>
                <a:off x="2106158" y="2421682"/>
                <a:ext cx="6427076" cy="957250"/>
              </a:xfrm>
              <a:prstGeom prst="rect">
                <a:avLst/>
              </a:prstGeom>
              <a:blipFill rotWithShape="1">
                <a:blip r:embed="rId1"/>
                <a:stretch>
                  <a:fillRect l="-8" t="-45" r="2" b="10"/>
                </a:stretch>
              </a:blipFill>
            </p:spPr>
            <p:txBody>
              <a:bodyPr/>
              <a:lstStyle/>
              <a:p>
                <a:r>
                  <a:rPr lang="zh-CN" altLang="en-US">
                    <a:noFill/>
                  </a:rPr>
                  <a:t> </a:t>
                </a:r>
              </a:p>
            </p:txBody>
          </p:sp>
        </mc:Fallback>
      </mc:AlternateContent>
      <p:sp>
        <p:nvSpPr>
          <p:cNvPr id="15" name="文本框 14"/>
          <p:cNvSpPr txBox="1"/>
          <p:nvPr/>
        </p:nvSpPr>
        <p:spPr>
          <a:xfrm>
            <a:off x="87611" y="3531311"/>
            <a:ext cx="8592882" cy="1523494"/>
          </a:xfrm>
          <a:prstGeom prst="rect">
            <a:avLst/>
          </a:prstGeom>
          <a:noFill/>
        </p:spPr>
        <p:txBody>
          <a:bodyPr wrap="square">
            <a:spAutoFit/>
          </a:bodyPr>
          <a:lstStyle/>
          <a:p>
            <a:pPr marL="431800" algn="l">
              <a:lnSpc>
                <a:spcPct val="100000"/>
              </a:lnSpc>
              <a:defRPr/>
            </a:pPr>
            <a:r>
              <a:rPr lang="zh-CN" altLang="en-US" sz="2400" kern="100" dirty="0">
                <a:latin typeface="Times New Roman" panose="02020603050405020304" pitchFamily="18" charset="0"/>
                <a:cs typeface="Times New Roman" panose="02020603050405020304" pitchFamily="18" charset="0"/>
              </a:rPr>
              <a:t>     其中，</a:t>
            </a:r>
            <a:r>
              <a:rPr lang="en-US" altLang="zh-CN" sz="2400" kern="100" dirty="0">
                <a:latin typeface="Times New Roman" panose="02020603050405020304" pitchFamily="18" charset="0"/>
                <a:cs typeface="Times New Roman" panose="02020603050405020304" pitchFamily="18" charset="0"/>
              </a:rPr>
              <a:t>w(</a:t>
            </a:r>
            <a:r>
              <a:rPr lang="en-US" altLang="zh-CN" sz="2400" kern="100" dirty="0" err="1">
                <a:latin typeface="Times New Roman" panose="02020603050405020304" pitchFamily="18" charset="0"/>
                <a:cs typeface="Times New Roman" panose="02020603050405020304" pitchFamily="18" charset="0"/>
              </a:rPr>
              <a:t>x,y</a:t>
            </a:r>
            <a:r>
              <a:rPr lang="en-US" altLang="zh-CN" sz="2400" kern="100" dirty="0">
                <a:latin typeface="Times New Roman" panose="02020603050405020304" pitchFamily="18" charset="0"/>
                <a:cs typeface="Times New Roman" panose="02020603050405020304" pitchFamily="18" charset="0"/>
              </a:rPr>
              <a:t>)</a:t>
            </a:r>
            <a:r>
              <a:rPr lang="zh-CN" altLang="en-US" sz="2400" kern="100" dirty="0">
                <a:latin typeface="Times New Roman" panose="02020603050405020304" pitchFamily="18" charset="0"/>
                <a:cs typeface="Times New Roman" panose="02020603050405020304" pitchFamily="18" charset="0"/>
              </a:rPr>
              <a:t>为窗口函数，一般为高斯函数。</a:t>
            </a:r>
            <a:endParaRPr lang="zh-CN" altLang="en-US" sz="2400" kern="100" dirty="0">
              <a:latin typeface="Times New Roman" panose="02020603050405020304" pitchFamily="18" charset="0"/>
              <a:cs typeface="Times New Roman" panose="02020603050405020304" pitchFamily="18" charset="0"/>
            </a:endParaRPr>
          </a:p>
          <a:p>
            <a:pPr marL="431800" algn="l">
              <a:lnSpc>
                <a:spcPct val="100000"/>
              </a:lnSpc>
              <a:defRPr/>
            </a:pPr>
            <a:r>
              <a:rPr lang="zh-CN" altLang="en-US" sz="2400" kern="100" dirty="0">
                <a:latin typeface="Times New Roman" panose="02020603050405020304" pitchFamily="18" charset="0"/>
                <a:cs typeface="Times New Roman" panose="02020603050405020304" pitchFamily="18" charset="0"/>
              </a:rPr>
              <a:t>     应用角点响应函数，计算每个角点的响应值</a:t>
            </a:r>
            <a:r>
              <a:rPr lang="en-US" altLang="zh-CN" sz="2400" kern="100" dirty="0">
                <a:latin typeface="Times New Roman" panose="02020603050405020304" pitchFamily="18" charset="0"/>
                <a:cs typeface="Times New Roman" panose="02020603050405020304" pitchFamily="18" charset="0"/>
              </a:rPr>
              <a:t>R</a:t>
            </a:r>
            <a:r>
              <a:rPr lang="zh-CN" altLang="en-US" sz="2400" kern="100" dirty="0">
                <a:latin typeface="Times New Roman" panose="02020603050405020304" pitchFamily="18" charset="0"/>
                <a:cs typeface="Times New Roman" panose="02020603050405020304" pitchFamily="18" charset="0"/>
              </a:rPr>
              <a:t>。角点响应函数如公式</a:t>
            </a:r>
            <a:r>
              <a:rPr lang="en-US" altLang="zh-CN" sz="2400" kern="100" dirty="0">
                <a:latin typeface="Times New Roman" panose="02020603050405020304" pitchFamily="18" charset="0"/>
                <a:cs typeface="Times New Roman" panose="02020603050405020304" pitchFamily="18" charset="0"/>
              </a:rPr>
              <a:t>(9-9)</a:t>
            </a:r>
            <a:r>
              <a:rPr lang="zh-CN" altLang="en-US" sz="2400" kern="100" dirty="0">
                <a:latin typeface="Times New Roman" panose="02020603050405020304" pitchFamily="18" charset="0"/>
                <a:cs typeface="Times New Roman" panose="02020603050405020304" pitchFamily="18" charset="0"/>
              </a:rPr>
              <a:t>所示。</a:t>
            </a:r>
            <a:endParaRPr lang="zh-CN" altLang="en-US" sz="2400" kern="100" dirty="0">
              <a:latin typeface="Times New Roman" panose="02020603050405020304" pitchFamily="18" charset="0"/>
              <a:cs typeface="Times New Roman" panose="02020603050405020304" pitchFamily="18" charset="0"/>
            </a:endParaRPr>
          </a:p>
          <a:p>
            <a:pPr marL="431800" algn="l">
              <a:lnSpc>
                <a:spcPct val="100000"/>
              </a:lnSpc>
              <a:defRPr/>
            </a:pPr>
            <a:endParaRPr lang="en-US" altLang="zh-CN" kern="100" dirty="0">
              <a:effectLst/>
              <a:latin typeface="Times New Roman" panose="02020603050405020304" pitchFamily="18" charset="0"/>
              <a:ea typeface="宋体"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7" name="文本框 16"/>
              <p:cNvSpPr txBox="1"/>
              <p:nvPr/>
            </p:nvSpPr>
            <p:spPr>
              <a:xfrm>
                <a:off x="2268538" y="4797946"/>
                <a:ext cx="6091279" cy="461665"/>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𝑅</m:t>
                    </m:r>
                    <m:r>
                      <a:rPr lang="zh-CN" altLang="en-US" sz="2400" i="0">
                        <a:latin typeface="Cambria Math" panose="02040503050406030204" pitchFamily="18" charset="0"/>
                      </a:rPr>
                      <m:t>=</m:t>
                    </m:r>
                    <m:r>
                      <a:rPr lang="zh-CN" altLang="en-US" sz="2400" i="1">
                        <a:latin typeface="Cambria Math" panose="02040503050406030204" pitchFamily="18" charset="0"/>
                      </a:rPr>
                      <m:t>𝑑𝑒𝑡𝑀</m:t>
                    </m:r>
                    <m:r>
                      <a:rPr lang="zh-CN" altLang="en-US" sz="2400" i="0">
                        <a:latin typeface="Cambria Math" panose="02040503050406030204" pitchFamily="18" charset="0"/>
                      </a:rPr>
                      <m:t>−</m:t>
                    </m:r>
                    <m:r>
                      <a:rPr lang="zh-CN" altLang="en-US" sz="2400" i="1">
                        <a:latin typeface="Cambria Math" panose="02040503050406030204" pitchFamily="18" charset="0"/>
                      </a:rPr>
                      <m:t>𝑘</m:t>
                    </m:r>
                    <m:sSup>
                      <m:sSupPr>
                        <m:ctrlPr>
                          <a:rPr lang="zh-CN" altLang="en-US" sz="2400" i="1">
                            <a:solidFill>
                              <a:srgbClr val="836967"/>
                            </a:solidFill>
                            <a:latin typeface="Cambria Math" panose="02040503050406030204" pitchFamily="18" charset="0"/>
                          </a:rPr>
                        </m:ctrlPr>
                      </m:sSupPr>
                      <m:e>
                        <m:d>
                          <m:dPr>
                            <m:ctrlPr>
                              <a:rPr lang="zh-CN" altLang="en-US" sz="2400" i="1">
                                <a:latin typeface="Cambria Math" panose="02040503050406030204" pitchFamily="18" charset="0"/>
                              </a:rPr>
                            </m:ctrlPr>
                          </m:dPr>
                          <m:e>
                            <m:r>
                              <a:rPr lang="zh-CN" altLang="en-US" sz="2400" i="1">
                                <a:latin typeface="Cambria Math" panose="02040503050406030204" pitchFamily="18" charset="0"/>
                              </a:rPr>
                              <m:t>𝑡𝑟𝑎𝑐𝑒𝑀</m:t>
                            </m:r>
                          </m:e>
                        </m:d>
                      </m:e>
                      <m:sup>
                        <m:r>
                          <a:rPr lang="zh-CN" altLang="en-US" sz="2400" i="0">
                            <a:latin typeface="Cambria Math" panose="02040503050406030204" pitchFamily="18" charset="0"/>
                          </a:rPr>
                          <m:t>2</m:t>
                        </m:r>
                      </m:sup>
                    </m:sSup>
                  </m:oMath>
                </a14:m>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(9-9)</a:t>
                </a:r>
                <a:endParaRPr lang="zh-CN" altLang="en-US" sz="2400" dirty="0">
                  <a:latin typeface="Times New Roman" panose="02020603050405020304" pitchFamily="18" charset="0"/>
                  <a:cs typeface="Times New Roman" panose="02020603050405020304" pitchFamily="18" charset="0"/>
                </a:endParaRPr>
              </a:p>
            </p:txBody>
          </p:sp>
        </mc:Choice>
        <mc:Fallback>
          <p:sp>
            <p:nvSpPr>
              <p:cNvPr id="17" name="文本框 16"/>
              <p:cNvSpPr txBox="1">
                <a:spLocks noRot="1" noChangeAspect="1" noMove="1" noResize="1" noEditPoints="1" noAdjustHandles="1" noChangeArrowheads="1" noChangeShapeType="1" noTextEdit="1"/>
              </p:cNvSpPr>
              <p:nvPr/>
            </p:nvSpPr>
            <p:spPr>
              <a:xfrm>
                <a:off x="2268538" y="4797946"/>
                <a:ext cx="6091279" cy="461665"/>
              </a:xfrm>
              <a:prstGeom prst="rect">
                <a:avLst/>
              </a:prstGeom>
              <a:blipFill rotWithShape="1">
                <a:blip r:embed="rId2"/>
                <a:stretch>
                  <a:fillRect l="-5" t="-113" r="1" b="-26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612354" y="5335101"/>
                <a:ext cx="7920880" cy="830997"/>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cs typeface="Times New Roman" panose="02020603050405020304" pitchFamily="18" charset="0"/>
                  </a:rPr>
                  <a:t>其中</a:t>
                </a:r>
                <a14:m>
                  <m:oMath xmlns:m="http://schemas.openxmlformats.org/officeDocument/2006/math">
                    <m:r>
                      <a:rPr lang="en-US" altLang="zh-CN" sz="2400" i="1" kern="100">
                        <a:effectLst/>
                        <a:latin typeface="Cambria Math" panose="02040503050406030204" pitchFamily="18" charset="0"/>
                        <a:ea typeface="宋体" pitchFamily="2" charset="-122"/>
                      </a:rPr>
                      <m:t>𝑑𝑒𝑡𝑀</m:t>
                    </m:r>
                  </m:oMath>
                </a14:m>
                <a:r>
                  <a:rPr lang="zh-CN" altLang="zh-CN" sz="2400" kern="100" dirty="0">
                    <a:effectLst/>
                    <a:latin typeface="Times New Roman" panose="02020603050405020304" pitchFamily="18" charset="0"/>
                    <a:ea typeface="宋体" pitchFamily="2" charset="-122"/>
                    <a:cs typeface="Times New Roman" panose="02020603050405020304" pitchFamily="18" charset="0"/>
                  </a:rPr>
                  <a:t>是矩阵</a:t>
                </a:r>
                <a14:m>
                  <m:oMath xmlns:m="http://schemas.openxmlformats.org/officeDocument/2006/math">
                    <m:r>
                      <a:rPr lang="en-US" altLang="zh-CN" sz="2400" i="1" kern="100">
                        <a:effectLst/>
                        <a:latin typeface="Cambria Math" panose="02040503050406030204" pitchFamily="18" charset="0"/>
                        <a:ea typeface="宋体" pitchFamily="2" charset="-122"/>
                      </a:rPr>
                      <m:t>𝑀</m:t>
                    </m:r>
                  </m:oMath>
                </a14:m>
                <a:r>
                  <a:rPr lang="zh-CN" altLang="zh-CN" sz="2400" kern="100" dirty="0">
                    <a:effectLst/>
                    <a:latin typeface="Times New Roman" panose="02020603050405020304" pitchFamily="18" charset="0"/>
                    <a:ea typeface="宋体" pitchFamily="2" charset="-122"/>
                    <a:cs typeface="Times New Roman" panose="02020603050405020304" pitchFamily="18" charset="0"/>
                  </a:rPr>
                  <a:t>的行列式，</a:t>
                </a:r>
                <a14:m>
                  <m:oMath xmlns:m="http://schemas.openxmlformats.org/officeDocument/2006/math">
                    <m:r>
                      <a:rPr lang="en-US" altLang="zh-CN" sz="2400" i="1" kern="100">
                        <a:effectLst/>
                        <a:latin typeface="Cambria Math" panose="02040503050406030204" pitchFamily="18" charset="0"/>
                        <a:ea typeface="宋体" pitchFamily="2" charset="-122"/>
                      </a:rPr>
                      <m:t>𝑡𝑟𝑎𝑐𝑒𝑀</m:t>
                    </m:r>
                  </m:oMath>
                </a14:m>
                <a:r>
                  <a:rPr lang="zh-CN" altLang="zh-CN" sz="2400" kern="100" dirty="0">
                    <a:effectLst/>
                    <a:latin typeface="Times New Roman" panose="02020603050405020304" pitchFamily="18" charset="0"/>
                    <a:ea typeface="宋体" pitchFamily="2" charset="-122"/>
                    <a:cs typeface="Times New Roman" panose="02020603050405020304" pitchFamily="18" charset="0"/>
                  </a:rPr>
                  <a:t>是矩阵</a:t>
                </a:r>
                <a14:m>
                  <m:oMath xmlns:m="http://schemas.openxmlformats.org/officeDocument/2006/math">
                    <m:r>
                      <a:rPr lang="en-US" altLang="zh-CN" sz="2400" i="1" kern="100">
                        <a:effectLst/>
                        <a:latin typeface="Cambria Math" panose="02040503050406030204" pitchFamily="18" charset="0"/>
                        <a:ea typeface="宋体" pitchFamily="2" charset="-122"/>
                      </a:rPr>
                      <m:t>𝑀</m:t>
                    </m:r>
                  </m:oMath>
                </a14:m>
                <a:r>
                  <a:rPr lang="zh-CN" altLang="zh-CN" sz="2400" kern="100" dirty="0">
                    <a:effectLst/>
                    <a:latin typeface="Times New Roman" panose="02020603050405020304" pitchFamily="18" charset="0"/>
                    <a:ea typeface="宋体" pitchFamily="2" charset="-122"/>
                    <a:cs typeface="Times New Roman" panose="02020603050405020304" pitchFamily="18" charset="0"/>
                  </a:rPr>
                  <a:t>的迹，</a:t>
                </a:r>
                <a:r>
                  <a:rPr lang="en-US" altLang="zh-CN" sz="2400" kern="100" dirty="0">
                    <a:effectLst/>
                    <a:latin typeface="Times New Roman" panose="02020603050405020304" pitchFamily="18" charset="0"/>
                    <a:ea typeface="宋体" pitchFamily="2" charset="-122"/>
                    <a:cs typeface="Times New Roman" panose="02020603050405020304" pitchFamily="18" charset="0"/>
                  </a:rPr>
                  <a:t>k</a:t>
                </a:r>
                <a:r>
                  <a:rPr lang="zh-CN" altLang="zh-CN" sz="2400" kern="100" dirty="0">
                    <a:effectLst/>
                    <a:latin typeface="Times New Roman" panose="02020603050405020304" pitchFamily="18" charset="0"/>
                    <a:ea typeface="宋体" pitchFamily="2" charset="-122"/>
                    <a:cs typeface="Times New Roman" panose="02020603050405020304" pitchFamily="18" charset="0"/>
                  </a:rPr>
                  <a:t>为修正值，是一个常数，通常情况下取值范围是</a:t>
                </a:r>
                <a:r>
                  <a:rPr lang="en-US" altLang="zh-CN" sz="2400" kern="100" dirty="0">
                    <a:effectLst/>
                    <a:latin typeface="Times New Roman" panose="02020603050405020304" pitchFamily="18" charset="0"/>
                    <a:ea typeface="宋体" pitchFamily="2" charset="-122"/>
                    <a:cs typeface="Times New Roman" panose="02020603050405020304" pitchFamily="18" charset="0"/>
                  </a:rPr>
                  <a:t>0.04~0.06</a:t>
                </a:r>
                <a:r>
                  <a:rPr lang="zh-CN" altLang="zh-CN" sz="2400" kern="100" dirty="0">
                    <a:effectLst/>
                    <a:latin typeface="Times New Roman" panose="02020603050405020304" pitchFamily="18" charset="0"/>
                    <a:ea typeface="宋体" pitchFamily="2" charset="-122"/>
                    <a:cs typeface="Times New Roman" panose="02020603050405020304" pitchFamily="18" charset="0"/>
                  </a:rPr>
                  <a:t>。</a:t>
                </a:r>
                <a:endParaRPr lang="zh-CN" altLang="zh-CN" sz="2400" kern="100" dirty="0">
                  <a:effectLst/>
                  <a:latin typeface="Times New Roman" panose="02020603050405020304" pitchFamily="18" charset="0"/>
                  <a:ea typeface="宋体" pitchFamily="2" charset="-122"/>
                  <a:cs typeface="Times New Roman" panose="02020603050405020304" pitchFamily="18" charset="0"/>
                </a:endParaRPr>
              </a:p>
            </p:txBody>
          </p:sp>
        </mc:Choice>
        <mc:Fallback>
          <p:sp>
            <p:nvSpPr>
              <p:cNvPr id="19" name="文本框 18"/>
              <p:cNvSpPr txBox="1">
                <a:spLocks noRot="1" noChangeAspect="1" noMove="1" noResize="1" noEditPoints="1" noAdjustHandles="1" noChangeArrowheads="1" noChangeShapeType="1" noTextEdit="1"/>
              </p:cNvSpPr>
              <p:nvPr/>
            </p:nvSpPr>
            <p:spPr>
              <a:xfrm>
                <a:off x="612354" y="5335101"/>
                <a:ext cx="7920880" cy="830997"/>
              </a:xfrm>
              <a:prstGeom prst="rect">
                <a:avLst/>
              </a:prstGeom>
              <a:blipFill rotWithShape="1">
                <a:blip r:embed="rId3"/>
                <a:stretch>
                  <a:fillRect l="-3" t="-56" r="-1362" b="-1040"/>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9" name="内容占位符 2"/>
          <p:cNvSpPr txBox="1">
            <a:spLocks noChangeArrowheads="1"/>
          </p:cNvSpPr>
          <p:nvPr/>
        </p:nvSpPr>
        <p:spPr bwMode="auto">
          <a:xfrm>
            <a:off x="450893" y="1172898"/>
            <a:ext cx="8229600" cy="384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en-US" altLang="zh-CN"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Harris</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角点检测算法步骤</a:t>
            </a:r>
            <a:endPar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457200" indent="-457200" algn="l">
              <a:lnSpc>
                <a:spcPct val="100000"/>
              </a:lnSpc>
              <a:buFont typeface="+mj-ea"/>
              <a:buAutoNum type="circleNumDbPlain" startAt="3"/>
              <a:defRPr/>
            </a:pPr>
            <a:r>
              <a:rPr lang="zh-CN" altLang="en-US" kern="100" dirty="0">
                <a:latin typeface="Times New Roman" panose="02020603050405020304" pitchFamily="18" charset="0"/>
              </a:rPr>
              <a:t>算出响应值</a:t>
            </a:r>
            <a:r>
              <a:rPr lang="en-US" altLang="zh-CN" kern="100" dirty="0">
                <a:latin typeface="Times New Roman" panose="02020603050405020304" pitchFamily="18" charset="0"/>
              </a:rPr>
              <a:t>R</a:t>
            </a:r>
            <a:r>
              <a:rPr lang="zh-CN" altLang="en-US" kern="100" dirty="0">
                <a:latin typeface="Times New Roman" panose="02020603050405020304" pitchFamily="18" charset="0"/>
              </a:rPr>
              <a:t>后，根据</a:t>
            </a:r>
            <a:r>
              <a:rPr lang="en-US" altLang="zh-CN" kern="100" dirty="0">
                <a:latin typeface="Times New Roman" panose="02020603050405020304" pitchFamily="18" charset="0"/>
              </a:rPr>
              <a:t>R</a:t>
            </a:r>
            <a:r>
              <a:rPr lang="zh-CN" altLang="en-US" kern="100" dirty="0">
                <a:latin typeface="Times New Roman" panose="02020603050405020304" pitchFamily="18" charset="0"/>
              </a:rPr>
              <a:t>与阈值</a:t>
            </a:r>
            <a:r>
              <a:rPr lang="en-US" altLang="zh-CN" kern="100" dirty="0">
                <a:latin typeface="Times New Roman" panose="02020603050405020304" pitchFamily="18" charset="0"/>
              </a:rPr>
              <a:t>T</a:t>
            </a:r>
            <a:r>
              <a:rPr lang="zh-CN" altLang="en-US" kern="100" dirty="0">
                <a:latin typeface="Times New Roman" panose="02020603050405020304" pitchFamily="18" charset="0"/>
              </a:rPr>
              <a:t>的比较来判断是否为角点，判断准则如下</a:t>
            </a:r>
            <a:r>
              <a:rPr lang="en-US" altLang="zh-CN" kern="100" dirty="0">
                <a:latin typeface="Times New Roman" panose="02020603050405020304" pitchFamily="18" charset="0"/>
              </a:rPr>
              <a:t>:</a:t>
            </a:r>
            <a:endParaRPr lang="en-US" altLang="zh-CN" kern="100" dirty="0">
              <a:effectLst/>
              <a:latin typeface="Times New Roman" panose="02020603050405020304" pitchFamily="18" charset="0"/>
              <a:ea typeface="宋体" pitchFamily="2" charset="-122"/>
            </a:endParaRPr>
          </a:p>
          <a:p>
            <a:pPr marL="889000" indent="-457200" algn="l">
              <a:lnSpc>
                <a:spcPct val="100000"/>
              </a:lnSpc>
              <a:buFont typeface="+mj-ea"/>
              <a:buAutoNum type="circleNumDbPlain" startAt="3"/>
              <a:defRPr/>
            </a:pPr>
            <a:endParaRPr lang="zh-CN" altLang="zh-CN" kern="100" dirty="0">
              <a:effectLst/>
              <a:latin typeface="Times New Roman" panose="02020603050405020304" pitchFamily="18" charset="0"/>
              <a:ea typeface="宋体" pitchFamily="2" charset="-122"/>
            </a:endParaRPr>
          </a:p>
          <a:p>
            <a:pPr marL="889000" indent="-457200" algn="l">
              <a:lnSpc>
                <a:spcPct val="100000"/>
              </a:lnSpc>
              <a:buFont typeface="+mj-ea"/>
              <a:buAutoNum type="circleNumDbPlain" startAt="3"/>
              <a:defRPr/>
            </a:pPr>
            <a:endParaRPr lang="en-US" altLang="zh-CN" dirty="0">
              <a:solidFill>
                <a:srgbClr val="000000"/>
              </a:solidFill>
              <a:cs typeface="+mj-cs"/>
            </a:endParaRPr>
          </a:p>
        </p:txBody>
      </p:sp>
      <p:sp>
        <p:nvSpPr>
          <p:cNvPr id="15" name="文本框 14"/>
          <p:cNvSpPr txBox="1"/>
          <p:nvPr/>
        </p:nvSpPr>
        <p:spPr>
          <a:xfrm>
            <a:off x="468338" y="2493690"/>
            <a:ext cx="7992888" cy="1892826"/>
          </a:xfrm>
          <a:prstGeom prst="rect">
            <a:avLst/>
          </a:prstGeom>
          <a:noFill/>
        </p:spPr>
        <p:txBody>
          <a:bodyPr wrap="square">
            <a:spAutoFit/>
          </a:bodyPr>
          <a:lstStyle/>
          <a:p>
            <a:pPr marL="431800" algn="l">
              <a:lnSpc>
                <a:spcPct val="100000"/>
              </a:lnSpc>
              <a:defRPr/>
            </a:pPr>
            <a:r>
              <a:rPr lang="zh-CN" altLang="en-US" sz="2400" kern="100" dirty="0">
                <a:latin typeface="Times New Roman" panose="02020603050405020304" pitchFamily="18" charset="0"/>
              </a:rPr>
              <a:t>当</a:t>
            </a:r>
            <a:r>
              <a:rPr lang="en-US" altLang="zh-CN" sz="2400" kern="100" dirty="0">
                <a:latin typeface="Times New Roman" panose="02020603050405020304" pitchFamily="18" charset="0"/>
              </a:rPr>
              <a:t>|R|</a:t>
            </a:r>
            <a:r>
              <a:rPr lang="zh-CN" altLang="en-US" sz="2400" kern="100" dirty="0">
                <a:latin typeface="Times New Roman" panose="02020603050405020304" pitchFamily="18" charset="0"/>
              </a:rPr>
              <a:t>很小且</a:t>
            </a:r>
            <a:r>
              <a:rPr lang="en-US" altLang="zh-CN" sz="2400" kern="100" dirty="0">
                <a:latin typeface="Times New Roman" panose="02020603050405020304" pitchFamily="18" charset="0"/>
              </a:rPr>
              <a:t>R&lt;T</a:t>
            </a:r>
            <a:r>
              <a:rPr lang="zh-CN" altLang="en-US" sz="2400" kern="100" dirty="0">
                <a:latin typeface="Times New Roman" panose="02020603050405020304" pitchFamily="18" charset="0"/>
              </a:rPr>
              <a:t>时，认为该点处于图像的平坦区域。</a:t>
            </a:r>
            <a:endParaRPr lang="zh-CN" altLang="en-US" sz="2400" kern="100" dirty="0">
              <a:latin typeface="Times New Roman" panose="02020603050405020304" pitchFamily="18" charset="0"/>
            </a:endParaRPr>
          </a:p>
          <a:p>
            <a:pPr marL="431800" algn="l">
              <a:lnSpc>
                <a:spcPct val="100000"/>
              </a:lnSpc>
              <a:defRPr/>
            </a:pPr>
            <a:r>
              <a:rPr lang="zh-CN" altLang="en-US" sz="2400" kern="100" dirty="0">
                <a:latin typeface="Times New Roman" panose="02020603050405020304" pitchFamily="18" charset="0"/>
              </a:rPr>
              <a:t>当</a:t>
            </a:r>
            <a:r>
              <a:rPr lang="en-US" altLang="zh-CN" sz="2400" kern="100" dirty="0">
                <a:latin typeface="Times New Roman" panose="02020603050405020304" pitchFamily="18" charset="0"/>
              </a:rPr>
              <a:t>R&lt;0</a:t>
            </a:r>
            <a:r>
              <a:rPr lang="zh-CN" altLang="en-US" sz="2400" kern="100" dirty="0">
                <a:latin typeface="Times New Roman" panose="02020603050405020304" pitchFamily="18" charset="0"/>
              </a:rPr>
              <a:t>且</a:t>
            </a:r>
            <a:r>
              <a:rPr lang="en-US" altLang="zh-CN" sz="2400" kern="100" dirty="0">
                <a:latin typeface="Times New Roman" panose="02020603050405020304" pitchFamily="18" charset="0"/>
              </a:rPr>
              <a:t>R&lt;T</a:t>
            </a:r>
            <a:r>
              <a:rPr lang="zh-CN" altLang="en-US" sz="2400" kern="100" dirty="0">
                <a:latin typeface="Times New Roman" panose="02020603050405020304" pitchFamily="18" charset="0"/>
              </a:rPr>
              <a:t>时，认为该点处于图像的边缘区。</a:t>
            </a:r>
            <a:endParaRPr lang="zh-CN" altLang="en-US" sz="2400" kern="100" dirty="0">
              <a:latin typeface="Times New Roman" panose="02020603050405020304" pitchFamily="18" charset="0"/>
            </a:endParaRPr>
          </a:p>
          <a:p>
            <a:pPr marL="431800" algn="l">
              <a:lnSpc>
                <a:spcPct val="100000"/>
              </a:lnSpc>
              <a:defRPr/>
            </a:pPr>
            <a:r>
              <a:rPr lang="zh-CN" altLang="en-US" sz="2400" b="1" kern="100" dirty="0">
                <a:latin typeface="Times New Roman" panose="02020603050405020304" pitchFamily="18" charset="0"/>
              </a:rPr>
              <a:t>当</a:t>
            </a:r>
            <a:r>
              <a:rPr lang="en-US" altLang="zh-CN" sz="2400" b="1" kern="100" dirty="0">
                <a:latin typeface="Times New Roman" panose="02020603050405020304" pitchFamily="18" charset="0"/>
              </a:rPr>
              <a:t>R&gt;0</a:t>
            </a:r>
            <a:r>
              <a:rPr lang="zh-CN" altLang="en-US" sz="2400" b="1" kern="100" dirty="0">
                <a:latin typeface="Times New Roman" panose="02020603050405020304" pitchFamily="18" charset="0"/>
              </a:rPr>
              <a:t>且</a:t>
            </a:r>
            <a:r>
              <a:rPr lang="en-US" altLang="zh-CN" sz="2400" b="1" kern="100" dirty="0">
                <a:latin typeface="Times New Roman" panose="02020603050405020304" pitchFamily="18" charset="0"/>
              </a:rPr>
              <a:t>R&gt;T</a:t>
            </a:r>
            <a:r>
              <a:rPr lang="zh-CN" altLang="en-US" sz="2400" b="1" kern="100" dirty="0">
                <a:latin typeface="Times New Roman" panose="02020603050405020304" pitchFamily="18" charset="0"/>
              </a:rPr>
              <a:t>时</a:t>
            </a:r>
            <a:r>
              <a:rPr lang="zh-CN" altLang="en-US" sz="2400" kern="100" dirty="0">
                <a:latin typeface="Times New Roman" panose="02020603050405020304" pitchFamily="18" charset="0"/>
              </a:rPr>
              <a:t>，认为该点位置为图像的</a:t>
            </a:r>
            <a:r>
              <a:rPr lang="zh-CN" altLang="en-US" sz="2400" b="1" kern="100" dirty="0">
                <a:latin typeface="Times New Roman" panose="02020603050405020304" pitchFamily="18" charset="0"/>
              </a:rPr>
              <a:t>角点</a:t>
            </a:r>
            <a:r>
              <a:rPr lang="zh-CN" altLang="en-US" sz="2400" kern="100" dirty="0">
                <a:latin typeface="Times New Roman" panose="02020603050405020304" pitchFamily="18" charset="0"/>
              </a:rPr>
              <a:t>。</a:t>
            </a:r>
            <a:endParaRPr lang="zh-CN" altLang="en-US" sz="2400" kern="100" dirty="0">
              <a:latin typeface="Times New Roman" panose="02020603050405020304" pitchFamily="18" charset="0"/>
            </a:endParaRPr>
          </a:p>
          <a:p>
            <a:pPr marL="431800" algn="l">
              <a:lnSpc>
                <a:spcPct val="100000"/>
              </a:lnSpc>
              <a:defRPr/>
            </a:pPr>
            <a:endParaRPr lang="zh-CN" altLang="en-US" sz="2400" kern="100" dirty="0">
              <a:latin typeface="Times New Roman" panose="02020603050405020304" pitchFamily="18" charset="0"/>
            </a:endParaRPr>
          </a:p>
          <a:p>
            <a:pPr marL="431800" algn="l">
              <a:lnSpc>
                <a:spcPct val="100000"/>
              </a:lnSpc>
              <a:defRPr/>
            </a:pPr>
            <a:endParaRPr lang="en-US" altLang="zh-CN"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9" name="文本框 8"/>
          <p:cNvSpPr txBox="1"/>
          <p:nvPr/>
        </p:nvSpPr>
        <p:spPr>
          <a:xfrm>
            <a:off x="540346" y="2565698"/>
            <a:ext cx="8208912" cy="3539430"/>
          </a:xfrm>
          <a:prstGeom prst="rect">
            <a:avLst/>
          </a:prstGeom>
          <a:solidFill>
            <a:srgbClr val="C7C7C7"/>
          </a:solidFill>
        </p:spPr>
        <p:txBody>
          <a:bodyPr wrap="square">
            <a:spAutoFit/>
          </a:bodyPr>
          <a:lstStyle/>
          <a:p>
            <a:pPr marL="342900" indent="-342900" algn="just">
              <a:buFont typeface="Wingdings" panose="05000000000000000000" pitchFamily="2" charset="2"/>
              <a:buChar char="l"/>
            </a:pPr>
            <a:r>
              <a:rPr lang="en-US" altLang="zh-CN" sz="2000" kern="100" dirty="0" err="1">
                <a:solidFill>
                  <a:srgbClr val="000000"/>
                </a:solidFill>
                <a:latin typeface="Times New Roman" panose="02020603050405020304" pitchFamily="18" charset="0"/>
                <a:ea typeface="宋体" pitchFamily="2" charset="-122"/>
              </a:rPr>
              <a:t>dw</a:t>
            </a:r>
            <a:r>
              <a:rPr lang="en-US" altLang="zh-CN" sz="2000" kern="100" dirty="0">
                <a:solidFill>
                  <a:srgbClr val="000000"/>
                </a:solidFill>
                <a:latin typeface="Times New Roman" panose="02020603050405020304" pitchFamily="18" charset="0"/>
              </a:rPr>
              <a:t>=cv2.cornerHarris(</a:t>
            </a:r>
            <a:r>
              <a:rPr lang="en-US" altLang="zh-CN" sz="2000" kern="100" dirty="0" err="1">
                <a:solidFill>
                  <a:srgbClr val="000000"/>
                </a:solidFill>
                <a:latin typeface="Times New Roman" panose="02020603050405020304" pitchFamily="18" charset="0"/>
              </a:rPr>
              <a:t>img</a:t>
            </a:r>
            <a:r>
              <a:rPr lang="en-US" altLang="zh-CN" sz="2000" kern="100" dirty="0">
                <a:solidFill>
                  <a:srgbClr val="000000"/>
                </a:solidFill>
                <a:latin typeface="Times New Roman" panose="02020603050405020304" pitchFamily="18" charset="0"/>
              </a:rPr>
              <a:t>, </a:t>
            </a:r>
            <a:r>
              <a:rPr lang="en-US" altLang="zh-CN" sz="2000" kern="100" dirty="0" err="1">
                <a:solidFill>
                  <a:srgbClr val="000000"/>
                </a:solidFill>
                <a:latin typeface="Times New Roman" panose="02020603050405020304" pitchFamily="18" charset="0"/>
              </a:rPr>
              <a:t>blockSize</a:t>
            </a:r>
            <a:r>
              <a:rPr lang="en-US" altLang="zh-CN" sz="2000" kern="100" dirty="0">
                <a:solidFill>
                  <a:srgbClr val="000000"/>
                </a:solidFill>
                <a:latin typeface="Times New Roman" panose="02020603050405020304" pitchFamily="18" charset="0"/>
              </a:rPr>
              <a:t>, </a:t>
            </a:r>
            <a:r>
              <a:rPr lang="en-US" altLang="zh-CN" sz="2000" kern="100" dirty="0" err="1">
                <a:solidFill>
                  <a:srgbClr val="000000"/>
                </a:solidFill>
                <a:latin typeface="Times New Roman" panose="02020603050405020304" pitchFamily="18" charset="0"/>
              </a:rPr>
              <a:t>ksize</a:t>
            </a:r>
            <a:r>
              <a:rPr lang="en-US" altLang="zh-CN" sz="2000" kern="100" dirty="0">
                <a:solidFill>
                  <a:srgbClr val="000000"/>
                </a:solidFill>
                <a:latin typeface="Times New Roman" panose="02020603050405020304" pitchFamily="18" charset="0"/>
              </a:rPr>
              <a:t>, k)</a:t>
            </a:r>
            <a:endParaRPr lang="en-US" altLang="zh-CN" sz="2000" kern="100" dirty="0">
              <a:solidFill>
                <a:srgbClr val="000000"/>
              </a:solidFill>
              <a:latin typeface="Times New Roman" panose="02020603050405020304" pitchFamily="18" charset="0"/>
              <a:ea typeface="宋体" pitchFamily="2" charset="-122"/>
            </a:endParaRPr>
          </a:p>
          <a:p>
            <a:pPr indent="266700" algn="just"/>
            <a:r>
              <a:rPr lang="zh-CN" altLang="en-US" sz="2000" kern="100" dirty="0">
                <a:solidFill>
                  <a:srgbClr val="000000"/>
                </a:solidFill>
                <a:latin typeface="Times New Roman" panose="02020603050405020304" pitchFamily="18" charset="0"/>
                <a:ea typeface="宋体" pitchFamily="2" charset="-122"/>
              </a:rPr>
              <a:t> </a:t>
            </a:r>
            <a:endParaRPr lang="en-US" altLang="zh-CN" sz="2000" kern="100" dirty="0">
              <a:solidFill>
                <a:srgbClr val="000000"/>
              </a:solidFill>
              <a:latin typeface="Times New Roman" panose="02020603050405020304" pitchFamily="18" charset="0"/>
              <a:ea typeface="宋体" pitchFamily="2" charset="-122"/>
            </a:endParaRPr>
          </a:p>
          <a:p>
            <a:pPr indent="266700" algn="just"/>
            <a:r>
              <a:rPr lang="zh-CN" altLang="en-US" sz="2000" kern="100" dirty="0">
                <a:solidFill>
                  <a:srgbClr val="000000"/>
                </a:solidFill>
                <a:latin typeface="Times New Roman" panose="02020603050405020304" pitchFamily="18" charset="0"/>
                <a:ea typeface="宋体" pitchFamily="2" charset="-122"/>
              </a:rPr>
              <a:t>参数说明</a:t>
            </a:r>
            <a:endParaRPr lang="zh-CN" altLang="zh-CN" sz="2000" kern="100" dirty="0">
              <a:solidFill>
                <a:srgbClr val="000000"/>
              </a:solidFill>
              <a:latin typeface="Times New Roman" panose="02020603050405020304" pitchFamily="18" charset="0"/>
              <a:ea typeface="宋体" pitchFamily="2" charset="-122"/>
            </a:endParaRPr>
          </a:p>
          <a:p>
            <a:pPr marL="342900" indent="-342900" algn="just">
              <a:buFont typeface="Wingdings" panose="05000000000000000000" pitchFamily="2" charset="2"/>
              <a:buChar char=""/>
            </a:pPr>
            <a:r>
              <a:rPr lang="en-US" altLang="zh-CN" sz="2000" kern="100" dirty="0" err="1">
                <a:solidFill>
                  <a:srgbClr val="000000"/>
                </a:solidFill>
                <a:latin typeface="Times New Roman" panose="02020603050405020304" pitchFamily="18" charset="0"/>
              </a:rPr>
              <a:t>dw</a:t>
            </a:r>
            <a:r>
              <a:rPr lang="zh-CN" altLang="zh-CN" sz="2000" kern="100" dirty="0">
                <a:solidFill>
                  <a:srgbClr val="000000"/>
                </a:solidFill>
                <a:latin typeface="Times New Roman" panose="02020603050405020304" pitchFamily="18" charset="0"/>
              </a:rPr>
              <a:t>：</a:t>
            </a:r>
            <a:r>
              <a:rPr lang="zh-CN" altLang="en-US" sz="2000" kern="100" dirty="0">
                <a:solidFill>
                  <a:srgbClr val="000000"/>
                </a:solidFill>
                <a:latin typeface="Times New Roman" panose="02020603050405020304" pitchFamily="18" charset="0"/>
              </a:rPr>
              <a:t>表示输出图像</a:t>
            </a:r>
            <a:r>
              <a:rPr lang="zh-CN" altLang="zh-CN" sz="2000" kern="100" dirty="0">
                <a:solidFill>
                  <a:srgbClr val="000000"/>
                </a:solidFill>
                <a:latin typeface="Times New Roman" panose="02020603050405020304" pitchFamily="18" charset="0"/>
              </a:rPr>
              <a:t>。</a:t>
            </a:r>
            <a:r>
              <a:rPr lang="zh-CN" altLang="en-US" sz="2000" kern="100" dirty="0">
                <a:solidFill>
                  <a:srgbClr val="000000"/>
                </a:solidFill>
                <a:latin typeface="Times New Roman" panose="02020603050405020304" pitchFamily="18" charset="0"/>
              </a:rPr>
              <a:t>该图像为一幅浮点值图像，浮点值越高，越有可能是角点。</a:t>
            </a:r>
            <a:endParaRPr lang="zh-CN" altLang="zh-CN" sz="2000" kern="100" dirty="0">
              <a:solidFill>
                <a:srgbClr val="000000"/>
              </a:solidFill>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err="1">
                <a:solidFill>
                  <a:srgbClr val="000000"/>
                </a:solidFill>
                <a:latin typeface="Times New Roman" panose="02020603050405020304" pitchFamily="18" charset="0"/>
                <a:ea typeface="宋体" pitchFamily="2" charset="-122"/>
              </a:rPr>
              <a:t>img</a:t>
            </a:r>
            <a:r>
              <a:rPr lang="zh-CN" altLang="zh-CN" sz="2000" kern="100" dirty="0">
                <a:solidFill>
                  <a:srgbClr val="000000"/>
                </a:solidFill>
                <a:latin typeface="Times New Roman" panose="02020603050405020304" pitchFamily="18" charset="0"/>
                <a:ea typeface="宋体" pitchFamily="2" charset="-122"/>
              </a:rPr>
              <a:t>：表示输入原始图像。</a:t>
            </a:r>
            <a:endParaRPr lang="zh-CN" altLang="zh-CN" sz="2000" kern="100" dirty="0">
              <a:solidFill>
                <a:srgbClr val="000000"/>
              </a:solidFill>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err="1">
                <a:solidFill>
                  <a:srgbClr val="000000"/>
                </a:solidFill>
                <a:latin typeface="Times New Roman" panose="02020603050405020304" pitchFamily="18" charset="0"/>
              </a:rPr>
              <a:t>blockSize</a:t>
            </a:r>
            <a:r>
              <a:rPr lang="zh-CN" altLang="en-US" sz="2000" kern="100" dirty="0">
                <a:solidFill>
                  <a:srgbClr val="000000"/>
                </a:solidFill>
                <a:latin typeface="Times New Roman" panose="02020603050405020304" pitchFamily="18" charset="0"/>
              </a:rPr>
              <a:t>：</a:t>
            </a:r>
            <a:r>
              <a:rPr lang="zh-CN" altLang="zh-CN" sz="2000" kern="100" dirty="0">
                <a:solidFill>
                  <a:srgbClr val="000000"/>
                </a:solidFill>
                <a:latin typeface="Times New Roman" panose="02020603050405020304" pitchFamily="18" charset="0"/>
                <a:ea typeface="宋体" pitchFamily="2" charset="-122"/>
              </a:rPr>
              <a:t>表示</a:t>
            </a:r>
            <a:r>
              <a:rPr lang="zh-CN" altLang="en-US" sz="2000" kern="100" dirty="0">
                <a:solidFill>
                  <a:srgbClr val="000000"/>
                </a:solidFill>
                <a:latin typeface="Times New Roman" panose="02020603050405020304" pitchFamily="18" charset="0"/>
                <a:ea typeface="宋体" pitchFamily="2" charset="-122"/>
              </a:rPr>
              <a:t>角点检测时，扫描原图像的窗口大小</a:t>
            </a:r>
            <a:r>
              <a:rPr lang="zh-CN" altLang="zh-CN" sz="2000" kern="100" dirty="0">
                <a:solidFill>
                  <a:srgbClr val="000000"/>
                </a:solidFill>
                <a:latin typeface="Times New Roman" panose="02020603050405020304" pitchFamily="18" charset="0"/>
                <a:ea typeface="宋体" pitchFamily="2" charset="-122"/>
              </a:rPr>
              <a:t>。</a:t>
            </a:r>
            <a:endParaRPr lang="en-US" altLang="zh-CN" sz="2000" kern="100" dirty="0">
              <a:solidFill>
                <a:srgbClr val="000000"/>
              </a:solidFill>
              <a:latin typeface="Times New Roman" panose="02020603050405020304" pitchFamily="18" charset="0"/>
              <a:ea typeface="宋体" pitchFamily="2" charset="-122"/>
            </a:endParaRPr>
          </a:p>
          <a:p>
            <a:pPr marL="342900" indent="-342900" algn="just">
              <a:buFont typeface="Wingdings" panose="05000000000000000000" pitchFamily="2" charset="2"/>
              <a:buChar char=""/>
            </a:pPr>
            <a:r>
              <a:rPr lang="en-US" altLang="zh-CN" sz="2000" kern="100" dirty="0" err="1">
                <a:solidFill>
                  <a:srgbClr val="000000"/>
                </a:solidFill>
                <a:latin typeface="Times New Roman" panose="02020603050405020304" pitchFamily="18" charset="0"/>
              </a:rPr>
              <a:t>ksize</a:t>
            </a:r>
            <a:r>
              <a:rPr lang="zh-CN" altLang="zh-CN" sz="2000" kern="100" dirty="0">
                <a:solidFill>
                  <a:srgbClr val="000000"/>
                </a:solidFill>
                <a:latin typeface="Times New Roman" panose="02020603050405020304" pitchFamily="18" charset="0"/>
                <a:ea typeface="宋体" pitchFamily="2" charset="-122"/>
              </a:rPr>
              <a:t>：表示</a:t>
            </a:r>
            <a:r>
              <a:rPr lang="en-US" altLang="zh-CN" sz="2000" kern="100" dirty="0">
                <a:solidFill>
                  <a:srgbClr val="000000"/>
                </a:solidFill>
                <a:latin typeface="Times New Roman" panose="02020603050405020304" pitchFamily="18" charset="0"/>
                <a:ea typeface="宋体" pitchFamily="2" charset="-122"/>
              </a:rPr>
              <a:t>Sobel</a:t>
            </a:r>
            <a:r>
              <a:rPr lang="zh-CN" altLang="en-US" sz="2000" kern="100" dirty="0">
                <a:solidFill>
                  <a:srgbClr val="000000"/>
                </a:solidFill>
                <a:latin typeface="Times New Roman" panose="02020603050405020304" pitchFamily="18" charset="0"/>
                <a:ea typeface="宋体" pitchFamily="2" charset="-122"/>
              </a:rPr>
              <a:t>的卷积核大小。该参数的值为</a:t>
            </a:r>
            <a:r>
              <a:rPr lang="en-US" altLang="zh-CN" sz="2000" kern="100" dirty="0">
                <a:solidFill>
                  <a:srgbClr val="000000"/>
                </a:solidFill>
                <a:latin typeface="Times New Roman" panose="02020603050405020304" pitchFamily="18" charset="0"/>
                <a:ea typeface="宋体" pitchFamily="2" charset="-122"/>
              </a:rPr>
              <a:t>3-31</a:t>
            </a:r>
            <a:r>
              <a:rPr lang="zh-CN" altLang="en-US" sz="2000" kern="100" dirty="0">
                <a:solidFill>
                  <a:srgbClr val="000000"/>
                </a:solidFill>
                <a:latin typeface="Times New Roman" panose="02020603050405020304" pitchFamily="18" charset="0"/>
                <a:ea typeface="宋体" pitchFamily="2" charset="-122"/>
              </a:rPr>
              <a:t>之间的奇数</a:t>
            </a:r>
            <a:endParaRPr lang="en-US" altLang="zh-CN" sz="2000" kern="100" dirty="0">
              <a:solidFill>
                <a:srgbClr val="000000"/>
              </a:solidFill>
              <a:latin typeface="Times New Roman" panose="02020603050405020304" pitchFamily="18" charset="0"/>
              <a:ea typeface="宋体" pitchFamily="2" charset="-122"/>
            </a:endParaRPr>
          </a:p>
          <a:p>
            <a:pPr marL="342900" indent="-342900" algn="just">
              <a:buFont typeface="Wingdings" panose="05000000000000000000" pitchFamily="2" charset="2"/>
              <a:buChar char=""/>
            </a:pPr>
            <a:r>
              <a:rPr lang="en-US" altLang="zh-CN" sz="2000" kern="100" dirty="0">
                <a:solidFill>
                  <a:srgbClr val="000000"/>
                </a:solidFill>
                <a:latin typeface="Times New Roman" panose="02020603050405020304" pitchFamily="18" charset="0"/>
                <a:ea typeface="宋体" pitchFamily="2" charset="-122"/>
              </a:rPr>
              <a:t>k</a:t>
            </a:r>
            <a:r>
              <a:rPr lang="zh-CN" altLang="en-US" sz="2000" kern="100" dirty="0">
                <a:solidFill>
                  <a:srgbClr val="000000"/>
                </a:solidFill>
                <a:latin typeface="Times New Roman" panose="02020603050405020304" pitchFamily="18" charset="0"/>
                <a:ea typeface="宋体" pitchFamily="2" charset="-122"/>
              </a:rPr>
              <a:t>：表示自由参数</a:t>
            </a:r>
            <a:r>
              <a:rPr lang="en-US" altLang="zh-CN" sz="2000" kern="100" dirty="0">
                <a:solidFill>
                  <a:srgbClr val="000000"/>
                </a:solidFill>
                <a:latin typeface="Times New Roman" panose="02020603050405020304" pitchFamily="18" charset="0"/>
                <a:ea typeface="宋体" pitchFamily="2" charset="-122"/>
              </a:rPr>
              <a:t>k</a:t>
            </a:r>
            <a:r>
              <a:rPr lang="zh-CN" altLang="zh-CN" sz="2000" kern="100" dirty="0">
                <a:solidFill>
                  <a:srgbClr val="000000"/>
                </a:solidFill>
                <a:latin typeface="Times New Roman" panose="02020603050405020304" pitchFamily="18" charset="0"/>
                <a:ea typeface="宋体" pitchFamily="2" charset="-122"/>
              </a:rPr>
              <a:t>。</a:t>
            </a:r>
            <a:r>
              <a:rPr lang="zh-CN" altLang="en-US" sz="2000" kern="100" dirty="0">
                <a:solidFill>
                  <a:srgbClr val="000000"/>
                </a:solidFill>
                <a:latin typeface="Times New Roman" panose="02020603050405020304" pitchFamily="18" charset="0"/>
                <a:ea typeface="宋体" pitchFamily="2" charset="-122"/>
              </a:rPr>
              <a:t>该参数用于</a:t>
            </a:r>
            <a:r>
              <a:rPr lang="en-US" altLang="zh-CN" sz="2000" kern="100" dirty="0">
                <a:solidFill>
                  <a:srgbClr val="000000"/>
                </a:solidFill>
                <a:latin typeface="Times New Roman" panose="02020603050405020304" pitchFamily="18" charset="0"/>
                <a:ea typeface="宋体" pitchFamily="2" charset="-122"/>
              </a:rPr>
              <a:t>Harris</a:t>
            </a:r>
            <a:r>
              <a:rPr lang="zh-CN" altLang="en-US" sz="2000" kern="100" dirty="0">
                <a:solidFill>
                  <a:srgbClr val="000000"/>
                </a:solidFill>
                <a:latin typeface="Times New Roman" panose="02020603050405020304" pitchFamily="18" charset="0"/>
                <a:ea typeface="宋体" pitchFamily="2" charset="-122"/>
              </a:rPr>
              <a:t>角点检测方程，其取值范围为</a:t>
            </a:r>
            <a:r>
              <a:rPr lang="en-US" altLang="zh-CN" sz="2000" kern="100" dirty="0">
                <a:solidFill>
                  <a:srgbClr val="000000"/>
                </a:solidFill>
                <a:latin typeface="Times New Roman" panose="02020603050405020304" pitchFamily="18" charset="0"/>
                <a:ea typeface="宋体" pitchFamily="2" charset="-122"/>
              </a:rPr>
              <a:t>0.04-0.06</a:t>
            </a:r>
            <a:r>
              <a:rPr lang="zh-CN" altLang="en-US" sz="2000" kern="100" dirty="0">
                <a:solidFill>
                  <a:srgbClr val="000000"/>
                </a:solidFill>
                <a:latin typeface="Times New Roman" panose="02020603050405020304" pitchFamily="18" charset="0"/>
                <a:ea typeface="宋体" pitchFamily="2" charset="-122"/>
              </a:rPr>
              <a:t>。</a:t>
            </a:r>
            <a:endParaRPr lang="zh-CN" altLang="en-US" sz="2000" kern="100" dirty="0">
              <a:solidFill>
                <a:srgbClr val="000000"/>
              </a:solidFill>
              <a:latin typeface="Times New Roman" panose="02020603050405020304" pitchFamily="18" charset="0"/>
              <a:ea typeface="宋体" pitchFamily="2" charset="-122"/>
            </a:endParaRPr>
          </a:p>
          <a:p>
            <a:pPr lvl="0" algn="just"/>
            <a:endParaRPr lang="zh-CN" altLang="zh-CN" sz="2400" kern="100" dirty="0">
              <a:effectLst/>
              <a:latin typeface="Times New Roman" panose="02020603050405020304" pitchFamily="18" charset="0"/>
              <a:ea typeface="宋体" pitchFamily="2" charset="-122"/>
            </a:endParaRPr>
          </a:p>
        </p:txBody>
      </p:sp>
      <p:sp>
        <p:nvSpPr>
          <p:cNvPr id="8" name="内容占位符 2"/>
          <p:cNvSpPr txBox="1">
            <a:spLocks noChangeArrowheads="1"/>
          </p:cNvSpPr>
          <p:nvPr/>
        </p:nvSpPr>
        <p:spPr bwMode="auto">
          <a:xfrm>
            <a:off x="423611" y="1197546"/>
            <a:ext cx="8541672" cy="1347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使用</a:t>
            </a:r>
            <a:r>
              <a:rPr lang="en-US" altLang="zh-CN"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Python+Opencv</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实现</a:t>
            </a:r>
            <a:r>
              <a:rPr lang="en-US" altLang="zh-CN"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Harris</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角点检测</a:t>
            </a:r>
            <a:endParaRPr lang="zh-CN" altLang="en-US" sz="1600" b="1" dirty="0">
              <a:latin typeface="Times New Roman" panose="02020603050405020304" pitchFamily="18" charset="0"/>
              <a:ea typeface="黑体" panose="02010609060101010101" pitchFamily="49" charset="-122"/>
              <a:cs typeface="Times New Roman" panose="02020603050405020304" pitchFamily="18" charset="0"/>
            </a:endParaRPr>
          </a:p>
          <a:p>
            <a:pPr marL="431800" indent="0" algn="l">
              <a:lnSpc>
                <a:spcPct val="100000"/>
              </a:lnSpc>
              <a:defRPr/>
            </a:pPr>
            <a:r>
              <a:rPr lang="en-US" altLang="zh-CN" kern="100" dirty="0" err="1">
                <a:latin typeface="Times New Roman" panose="02020603050405020304" pitchFamily="18" charset="0"/>
                <a:cs typeface="Times New Roman" panose="02020603050405020304" pitchFamily="18" charset="0"/>
              </a:rPr>
              <a:t>Opencv</a:t>
            </a:r>
            <a:r>
              <a:rPr lang="zh-CN" altLang="en-US" kern="100" dirty="0">
                <a:latin typeface="Times New Roman" panose="02020603050405020304" pitchFamily="18" charset="0"/>
                <a:cs typeface="Times New Roman" panose="02020603050405020304" pitchFamily="18" charset="0"/>
              </a:rPr>
              <a:t>提供了</a:t>
            </a:r>
            <a:r>
              <a:rPr lang="en-US" altLang="zh-CN" kern="100" dirty="0">
                <a:latin typeface="Times New Roman" panose="02020603050405020304" pitchFamily="18" charset="0"/>
                <a:cs typeface="Times New Roman" panose="02020603050405020304" pitchFamily="18" charset="0"/>
              </a:rPr>
              <a:t>cv2.cornerHarris()</a:t>
            </a:r>
            <a:r>
              <a:rPr lang="zh-CN" altLang="en-US" kern="100" dirty="0">
                <a:latin typeface="Times New Roman" panose="02020603050405020304" pitchFamily="18" charset="0"/>
                <a:cs typeface="Times New Roman" panose="02020603050405020304" pitchFamily="18" charset="0"/>
              </a:rPr>
              <a:t>函数来实现</a:t>
            </a:r>
            <a:r>
              <a:rPr lang="en-US" altLang="zh-CN" kern="100" dirty="0">
                <a:latin typeface="Times New Roman" panose="02020603050405020304" pitchFamily="18" charset="0"/>
                <a:cs typeface="Times New Roman" panose="02020603050405020304" pitchFamily="18" charset="0"/>
              </a:rPr>
              <a:t>Harris</a:t>
            </a:r>
            <a:r>
              <a:rPr lang="zh-CN" altLang="en-US" kern="100" dirty="0">
                <a:latin typeface="Times New Roman" panose="02020603050405020304" pitchFamily="18" charset="0"/>
                <a:cs typeface="Times New Roman" panose="02020603050405020304" pitchFamily="18" charset="0"/>
              </a:rPr>
              <a:t>角点检测该函数的调用语法为：</a:t>
            </a:r>
            <a:endParaRPr lang="zh-CN" altLang="en-US" kern="100" dirty="0">
              <a:latin typeface="Times New Roman" panose="02020603050405020304" pitchFamily="18" charset="0"/>
              <a:cs typeface="Times New Roman" panose="02020603050405020304" pitchFamily="18" charset="0"/>
            </a:endParaRPr>
          </a:p>
        </p:txBody>
      </p:sp>
    </p:spTree>
  </p:cSld>
  <p:clrMapOvr>
    <a:masterClrMapping/>
  </p:clrMapOvr>
  <p:transition spd="slow" advClick="0" advTm="0">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423611" y="1214626"/>
            <a:ext cx="8298366" cy="1347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31800" indent="0" algn="l">
              <a:lnSpc>
                <a:spcPct val="100000"/>
              </a:lnSpc>
              <a:defRPr/>
            </a:pPr>
            <a:r>
              <a:rPr lang="zh-CN" altLang="en-US" b="1" kern="100" dirty="0">
                <a:latin typeface="Times New Roman" panose="02020603050405020304" pitchFamily="18" charset="0"/>
              </a:rPr>
              <a:t>角点检测实现代码如下</a:t>
            </a:r>
            <a:r>
              <a:rPr lang="zh-CN" altLang="en-US" kern="100" dirty="0">
                <a:latin typeface="Times New Roman" panose="02020603050405020304" pitchFamily="18" charset="0"/>
              </a:rPr>
              <a:t>：</a:t>
            </a:r>
            <a:endParaRPr lang="zh-CN" altLang="en-US" kern="100" dirty="0">
              <a:latin typeface="Times New Roman" panose="02020603050405020304" pitchFamily="18" charset="0"/>
            </a:endParaRPr>
          </a:p>
          <a:p>
            <a:pPr marL="431800" indent="0" algn="l">
              <a:lnSpc>
                <a:spcPct val="100000"/>
              </a:lnSpc>
              <a:defRPr/>
            </a:pPr>
            <a:endParaRPr lang="en-US" altLang="zh-CN" kern="100" dirty="0">
              <a:effectLst/>
              <a:latin typeface="Times New Roman" panose="02020603050405020304" pitchFamily="18" charset="0"/>
              <a:ea typeface="宋体" pitchFamily="2" charset="-122"/>
            </a:endParaRPr>
          </a:p>
        </p:txBody>
      </p:sp>
      <p:sp>
        <p:nvSpPr>
          <p:cNvPr id="10" name="文本框 9"/>
          <p:cNvSpPr txBox="1"/>
          <p:nvPr/>
        </p:nvSpPr>
        <p:spPr>
          <a:xfrm>
            <a:off x="612354" y="1758274"/>
            <a:ext cx="8208912" cy="3471720"/>
          </a:xfrm>
          <a:prstGeom prst="rect">
            <a:avLst/>
          </a:prstGeom>
          <a:solidFill>
            <a:srgbClr val="C7C7C7"/>
          </a:solidFill>
        </p:spPr>
        <p:txBody>
          <a:bodyPr wrap="square">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import cv2</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import </a:t>
            </a:r>
            <a:r>
              <a:rPr lang="en-US" altLang="zh-CN" sz="1800" kern="100" dirty="0" err="1">
                <a:solidFill>
                  <a:srgbClr val="000000"/>
                </a:solidFill>
                <a:effectLst/>
                <a:latin typeface="Times New Roman" panose="02020603050405020304" pitchFamily="18" charset="0"/>
                <a:ea typeface="宋体" pitchFamily="2" charset="-122"/>
              </a:rPr>
              <a:t>numpy</a:t>
            </a:r>
            <a:r>
              <a:rPr lang="en-US" altLang="zh-CN" sz="1800" kern="100" dirty="0">
                <a:solidFill>
                  <a:srgbClr val="000000"/>
                </a:solidFill>
                <a:effectLst/>
                <a:latin typeface="Times New Roman" panose="02020603050405020304" pitchFamily="18" charset="0"/>
                <a:ea typeface="宋体" pitchFamily="2" charset="-122"/>
              </a:rPr>
              <a:t> as np</a:t>
            </a:r>
            <a:endParaRPr lang="zh-CN" altLang="zh-CN" sz="1800" kern="100" dirty="0">
              <a:effectLst/>
              <a:latin typeface="Times New Roman" panose="02020603050405020304" pitchFamily="18" charset="0"/>
              <a:ea typeface="宋体" pitchFamily="2" charset="-122"/>
            </a:endParaRPr>
          </a:p>
          <a:p>
            <a:pPr indent="266700" algn="just">
              <a:lnSpc>
                <a:spcPct val="120000"/>
              </a:lnSpc>
            </a:pPr>
            <a:r>
              <a:rPr lang="en-US" altLang="zh-CN" sz="1800" kern="100" dirty="0">
                <a:effectLst/>
                <a:latin typeface="Times New Roman" panose="02020603050405020304" pitchFamily="18" charset="0"/>
                <a:ea typeface="宋体" pitchFamily="2" charset="-122"/>
              </a:rPr>
              <a:t>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=cv2.imread(</a:t>
            </a:r>
            <a:r>
              <a:rPr lang="en-US" altLang="zh-CN" sz="1800" kern="100" dirty="0" err="1">
                <a:solidFill>
                  <a:srgbClr val="000000"/>
                </a:solidFill>
                <a:effectLst/>
                <a:latin typeface="Times New Roman" panose="02020603050405020304" pitchFamily="18" charset="0"/>
                <a:ea typeface="宋体" pitchFamily="2" charset="-122"/>
              </a:rPr>
              <a:t>r'C</a:t>
            </a:r>
            <a:r>
              <a:rPr lang="en-US" altLang="zh-CN" sz="1800" kern="100" dirty="0">
                <a:solidFill>
                  <a:srgbClr val="000000"/>
                </a:solidFill>
                <a:effectLst/>
                <a:latin typeface="Times New Roman" panose="02020603050405020304" pitchFamily="18" charset="0"/>
                <a:ea typeface="宋体" pitchFamily="2" charset="-122"/>
              </a:rPr>
              <a:t>:\Users\</a:t>
            </a:r>
            <a:r>
              <a:rPr lang="en-US" altLang="zh-CN" sz="1800" kern="100" dirty="0" err="1">
                <a:solidFill>
                  <a:srgbClr val="000000"/>
                </a:solidFill>
                <a:effectLst/>
                <a:latin typeface="Times New Roman" panose="02020603050405020304" pitchFamily="18" charset="0"/>
                <a:ea typeface="宋体" pitchFamily="2" charset="-122"/>
              </a:rPr>
              <a:t>lenovo</a:t>
            </a:r>
            <a:r>
              <a:rPr lang="en-US" altLang="zh-CN" sz="1800" kern="100" dirty="0">
                <a:solidFill>
                  <a:srgbClr val="000000"/>
                </a:solidFill>
                <a:effectLst/>
                <a:latin typeface="Times New Roman" panose="02020603050405020304" pitchFamily="18" charset="0"/>
                <a:ea typeface="宋体" pitchFamily="2" charset="-122"/>
              </a:rPr>
              <a:t>\Desktop\xiangqi.jpg’)  </a:t>
            </a:r>
            <a:r>
              <a:rPr lang="en-US" altLang="zh-CN" sz="1800" kern="100" dirty="0">
                <a:solidFill>
                  <a:srgbClr val="000000"/>
                </a:solidFill>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读入原始图像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src</a:t>
            </a:r>
            <a:r>
              <a:rPr lang="en-US" altLang="zh-CN" sz="1800" kern="100" dirty="0">
                <a:solidFill>
                  <a:srgbClr val="000000"/>
                </a:solidFill>
                <a:effectLst/>
                <a:latin typeface="Times New Roman" panose="02020603050405020304" pitchFamily="18" charset="0"/>
                <a:ea typeface="宋体" pitchFamily="2" charset="-122"/>
              </a:rPr>
              <a:t>=cv2.imread(</a:t>
            </a:r>
            <a:r>
              <a:rPr lang="en-US" altLang="zh-CN" sz="1800" kern="100" dirty="0" err="1">
                <a:solidFill>
                  <a:srgbClr val="000000"/>
                </a:solidFill>
                <a:effectLst/>
                <a:latin typeface="Times New Roman" panose="02020603050405020304" pitchFamily="18" charset="0"/>
                <a:ea typeface="宋体" pitchFamily="2" charset="-122"/>
              </a:rPr>
              <a:t>r'C</a:t>
            </a:r>
            <a:r>
              <a:rPr lang="en-US" altLang="zh-CN" sz="1800" kern="100" dirty="0">
                <a:solidFill>
                  <a:srgbClr val="000000"/>
                </a:solidFill>
                <a:effectLst/>
                <a:latin typeface="Times New Roman" panose="02020603050405020304" pitchFamily="18" charset="0"/>
                <a:ea typeface="宋体" pitchFamily="2" charset="-122"/>
              </a:rPr>
              <a:t>:\Users\</a:t>
            </a:r>
            <a:r>
              <a:rPr lang="en-US" altLang="zh-CN" sz="1800" kern="100" dirty="0" err="1">
                <a:solidFill>
                  <a:srgbClr val="000000"/>
                </a:solidFill>
                <a:effectLst/>
                <a:latin typeface="Times New Roman" panose="02020603050405020304" pitchFamily="18" charset="0"/>
                <a:ea typeface="宋体" pitchFamily="2" charset="-122"/>
              </a:rPr>
              <a:t>lenovo</a:t>
            </a:r>
            <a:r>
              <a:rPr lang="en-US" altLang="zh-CN" sz="1800" kern="100" dirty="0">
                <a:solidFill>
                  <a:srgbClr val="000000"/>
                </a:solidFill>
                <a:effectLst/>
                <a:latin typeface="Times New Roman" panose="02020603050405020304" pitchFamily="18" charset="0"/>
                <a:ea typeface="宋体" pitchFamily="2" charset="-122"/>
              </a:rPr>
              <a:t>\Desktop\xiangqi.jpg’)	    #</a:t>
            </a:r>
            <a:r>
              <a:rPr lang="zh-CN" altLang="zh-CN" sz="1800" kern="100" dirty="0">
                <a:solidFill>
                  <a:srgbClr val="000000"/>
                </a:solidFill>
                <a:effectLst/>
                <a:latin typeface="Times New Roman" panose="02020603050405020304" pitchFamily="18" charset="0"/>
                <a:ea typeface="宋体" pitchFamily="2" charset="-122"/>
              </a:rPr>
              <a:t>读入原始图像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gray = cv2.cvtColor(</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cv2.COLOR_BGR2GRAY)        #</a:t>
            </a:r>
            <a:r>
              <a:rPr lang="zh-CN" altLang="zh-CN" sz="1800" kern="100" dirty="0">
                <a:solidFill>
                  <a:srgbClr val="000000"/>
                </a:solidFill>
                <a:effectLst/>
                <a:latin typeface="Times New Roman" panose="02020603050405020304" pitchFamily="18" charset="0"/>
                <a:ea typeface="宋体" pitchFamily="2" charset="-122"/>
              </a:rPr>
              <a:t>将原始图像灰度化</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gray=np.float32(gray)</a:t>
            </a:r>
            <a:r>
              <a:rPr lang="en-US" altLang="zh-CN" sz="1800" kern="100" dirty="0">
                <a:solidFill>
                  <a:srgbClr val="000000"/>
                </a:solidFill>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将灰度化的原图像的数据类型转换为</a:t>
            </a:r>
            <a:r>
              <a:rPr lang="en-US" altLang="zh-CN" sz="1800" kern="100" dirty="0">
                <a:solidFill>
                  <a:srgbClr val="000000"/>
                </a:solidFill>
                <a:effectLst/>
                <a:latin typeface="Times New Roman" panose="02020603050405020304" pitchFamily="18" charset="0"/>
                <a:ea typeface="宋体" pitchFamily="2" charset="-122"/>
              </a:rPr>
              <a:t>float32</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dst</a:t>
            </a:r>
            <a:r>
              <a:rPr lang="en-US" altLang="zh-CN" sz="1800" kern="100" dirty="0">
                <a:solidFill>
                  <a:srgbClr val="000000"/>
                </a:solidFill>
                <a:effectLst/>
                <a:latin typeface="Times New Roman" panose="02020603050405020304" pitchFamily="18" charset="0"/>
                <a:ea typeface="宋体" pitchFamily="2" charset="-122"/>
              </a:rPr>
              <a:t>=cv2.cornerHarris(gray, 2, 3,0.04)	                       #Harris</a:t>
            </a:r>
            <a:r>
              <a:rPr lang="zh-CN" altLang="zh-CN" sz="1800" kern="100" dirty="0">
                <a:solidFill>
                  <a:srgbClr val="000000"/>
                </a:solidFill>
                <a:effectLst/>
                <a:latin typeface="Times New Roman" panose="02020603050405020304" pitchFamily="18" charset="0"/>
                <a:ea typeface="宋体" pitchFamily="2" charset="-122"/>
              </a:rPr>
              <a:t>角点检测</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dst</a:t>
            </a:r>
            <a:r>
              <a:rPr lang="en-US" altLang="zh-CN" sz="1800" kern="100" dirty="0">
                <a:solidFill>
                  <a:srgbClr val="000000"/>
                </a:solidFill>
                <a:effectLst/>
                <a:latin typeface="Times New Roman" panose="02020603050405020304" pitchFamily="18" charset="0"/>
                <a:ea typeface="宋体" pitchFamily="2" charset="-122"/>
              </a:rPr>
              <a:t> &gt; 0.01 * </a:t>
            </a:r>
            <a:r>
              <a:rPr lang="en-US" altLang="zh-CN" sz="1800" kern="100" dirty="0" err="1">
                <a:solidFill>
                  <a:srgbClr val="000000"/>
                </a:solidFill>
                <a:effectLst/>
                <a:latin typeface="Times New Roman" panose="02020603050405020304" pitchFamily="18" charset="0"/>
                <a:ea typeface="宋体" pitchFamily="2" charset="-122"/>
              </a:rPr>
              <a:t>dst.max</a:t>
            </a:r>
            <a:r>
              <a:rPr lang="en-US" altLang="zh-CN" sz="1800" kern="100" dirty="0">
                <a:solidFill>
                  <a:srgbClr val="000000"/>
                </a:solidFill>
                <a:effectLst/>
                <a:latin typeface="Times New Roman" panose="02020603050405020304" pitchFamily="18" charset="0"/>
                <a:ea typeface="宋体" pitchFamily="2" charset="-122"/>
              </a:rPr>
              <a:t>()] = [0, 0, 255]   #</a:t>
            </a:r>
            <a:r>
              <a:rPr lang="zh-CN" altLang="zh-CN" sz="1800" kern="100" dirty="0">
                <a:solidFill>
                  <a:srgbClr val="000000"/>
                </a:solidFill>
                <a:effectLst/>
                <a:latin typeface="Times New Roman" panose="02020603050405020304" pitchFamily="18" charset="0"/>
                <a:ea typeface="宋体" pitchFamily="2" charset="-122"/>
              </a:rPr>
              <a:t>将</a:t>
            </a:r>
            <a:r>
              <a:rPr lang="en-US" altLang="zh-CN" sz="1800" kern="100" dirty="0">
                <a:solidFill>
                  <a:srgbClr val="000000"/>
                </a:solidFill>
                <a:effectLst/>
                <a:latin typeface="Times New Roman" panose="02020603050405020304" pitchFamily="18" charset="0"/>
                <a:ea typeface="宋体" pitchFamily="2" charset="-122"/>
              </a:rPr>
              <a:t>Harris</a:t>
            </a:r>
            <a:r>
              <a:rPr lang="zh-CN" altLang="zh-CN" sz="1800" kern="100" dirty="0">
                <a:solidFill>
                  <a:srgbClr val="000000"/>
                </a:solidFill>
                <a:effectLst/>
                <a:latin typeface="Times New Roman" panose="02020603050405020304" pitchFamily="18" charset="0"/>
                <a:ea typeface="宋体" pitchFamily="2" charset="-122"/>
              </a:rPr>
              <a:t>角点检测的结果画在图像上</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cv2.imshow('Edge Image', </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a:solidFill>
                  <a:srgbClr val="000000"/>
                </a:solidFill>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输出</a:t>
            </a:r>
            <a:r>
              <a:rPr lang="en-US" altLang="zh-CN" sz="1800" kern="100" dirty="0">
                <a:solidFill>
                  <a:srgbClr val="000000"/>
                </a:solidFill>
                <a:effectLst/>
                <a:latin typeface="Times New Roman" panose="02020603050405020304" pitchFamily="18" charset="0"/>
                <a:ea typeface="宋体" pitchFamily="2" charset="-122"/>
              </a:rPr>
              <a:t>Harris</a:t>
            </a:r>
            <a:r>
              <a:rPr lang="zh-CN" altLang="zh-CN" sz="1800" kern="100" dirty="0">
                <a:solidFill>
                  <a:srgbClr val="000000"/>
                </a:solidFill>
                <a:effectLst/>
                <a:latin typeface="Times New Roman" panose="02020603050405020304" pitchFamily="18" charset="0"/>
                <a:ea typeface="宋体" pitchFamily="2" charset="-122"/>
              </a:rPr>
              <a:t>角点检测结果图</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cv2.imshow('Original Image',</a:t>
            </a:r>
            <a:r>
              <a:rPr lang="en-US" altLang="zh-CN" sz="1800" kern="100" dirty="0" err="1">
                <a:solidFill>
                  <a:srgbClr val="000000"/>
                </a:solidFill>
                <a:effectLst/>
                <a:latin typeface="Times New Roman" panose="02020603050405020304" pitchFamily="18" charset="0"/>
                <a:ea typeface="宋体" pitchFamily="2" charset="-122"/>
              </a:rPr>
              <a:t>src</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a:solidFill>
                  <a:srgbClr val="000000"/>
                </a:solidFill>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输出原始图像</a:t>
            </a:r>
            <a:endParaRPr lang="en-US" altLang="zh-CN" sz="1800" kern="100" dirty="0">
              <a:solidFill>
                <a:srgbClr val="000000"/>
              </a:solidFill>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cv2.waitKey(0)</a:t>
            </a:r>
            <a:endParaRPr lang="zh-CN" altLang="zh-CN" sz="20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212532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423611" y="1214626"/>
            <a:ext cx="8298366" cy="453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31800" indent="0" algn="l">
              <a:lnSpc>
                <a:spcPct val="100000"/>
              </a:lnSpc>
              <a:defRPr/>
            </a:pPr>
            <a:r>
              <a:rPr lang="zh-CN" altLang="en-US" b="1" kern="100" dirty="0">
                <a:latin typeface="Times New Roman" panose="02020603050405020304" pitchFamily="18" charset="0"/>
              </a:rPr>
              <a:t>程序的运行结果如图</a:t>
            </a:r>
            <a:r>
              <a:rPr lang="en-US" altLang="zh-CN" b="1" kern="100" dirty="0">
                <a:latin typeface="Times New Roman" panose="02020603050405020304" pitchFamily="18" charset="0"/>
              </a:rPr>
              <a:t>9.3</a:t>
            </a:r>
            <a:r>
              <a:rPr lang="zh-CN" altLang="en-US" b="1" kern="100" dirty="0">
                <a:latin typeface="Times New Roman" panose="02020603050405020304" pitchFamily="18" charset="0"/>
              </a:rPr>
              <a:t>所示。</a:t>
            </a:r>
            <a:endParaRPr lang="zh-CN" altLang="en-US" b="1" kern="100" dirty="0">
              <a:latin typeface="Times New Roman" panose="02020603050405020304" pitchFamily="18" charset="0"/>
            </a:endParaRPr>
          </a:p>
        </p:txBody>
      </p:sp>
      <p:pic>
        <p:nvPicPr>
          <p:cNvPr id="3" name="图片 2"/>
          <p:cNvPicPr>
            <a:picLocks noChangeAspect="1"/>
          </p:cNvPicPr>
          <p:nvPr/>
        </p:nvPicPr>
        <p:blipFill rotWithShape="1">
          <a:blip r:embed="rId1"/>
          <a:srcRect l="-1215" t="-1" r="1215" b="398"/>
          <a:stretch>
            <a:fillRect/>
          </a:stretch>
        </p:blipFill>
        <p:spPr>
          <a:xfrm>
            <a:off x="1188418" y="1701602"/>
            <a:ext cx="3019598" cy="3340845"/>
          </a:xfrm>
          <a:prstGeom prst="rect">
            <a:avLst/>
          </a:prstGeom>
        </p:spPr>
      </p:pic>
      <p:pic>
        <p:nvPicPr>
          <p:cNvPr id="5" name="图片 4"/>
          <p:cNvPicPr>
            <a:picLocks noChangeAspect="1"/>
          </p:cNvPicPr>
          <p:nvPr/>
        </p:nvPicPr>
        <p:blipFill>
          <a:blip r:embed="rId2"/>
          <a:stretch>
            <a:fillRect/>
          </a:stretch>
        </p:blipFill>
        <p:spPr>
          <a:xfrm>
            <a:off x="5039672" y="1718430"/>
            <a:ext cx="2917498" cy="3295540"/>
          </a:xfrm>
          <a:prstGeom prst="rect">
            <a:avLst/>
          </a:prstGeom>
        </p:spPr>
      </p:pic>
      <p:sp>
        <p:nvSpPr>
          <p:cNvPr id="13" name="文本框 12"/>
          <p:cNvSpPr txBox="1"/>
          <p:nvPr/>
        </p:nvSpPr>
        <p:spPr>
          <a:xfrm>
            <a:off x="2004961" y="5013970"/>
            <a:ext cx="1415705" cy="369332"/>
          </a:xfrm>
          <a:prstGeom prst="rect">
            <a:avLst/>
          </a:prstGeom>
          <a:noFill/>
        </p:spPr>
        <p:txBody>
          <a:bodyPr wrap="square">
            <a:spAutoFit/>
          </a:bodyPr>
          <a:lstStyle/>
          <a:p>
            <a:r>
              <a:rPr lang="en-US" altLang="zh-CN" sz="1800" dirty="0">
                <a:solidFill>
                  <a:srgbClr val="000000"/>
                </a:solidFill>
                <a:effectLst/>
                <a:latin typeface="宋体" pitchFamily="2" charset="-122"/>
                <a:cs typeface="宋体" pitchFamily="2" charset="-122"/>
              </a:rPr>
              <a:t>(</a:t>
            </a:r>
            <a:r>
              <a:rPr lang="en-US" altLang="zh-CN" sz="1800" dirty="0">
                <a:solidFill>
                  <a:srgbClr val="000000"/>
                </a:solidFill>
                <a:effectLst/>
                <a:latin typeface="Times New Roman" panose="02020603050405020304" pitchFamily="18" charset="0"/>
                <a:ea typeface="宋体" pitchFamily="2" charset="-122"/>
              </a:rPr>
              <a:t>a</a:t>
            </a:r>
            <a:r>
              <a:rPr lang="en-US" altLang="zh-CN" sz="1800" dirty="0">
                <a:solidFill>
                  <a:srgbClr val="000000"/>
                </a:solidFill>
                <a:effectLst/>
                <a:latin typeface="宋体" pitchFamily="2" charset="-122"/>
                <a:cs typeface="宋体" pitchFamily="2" charset="-122"/>
              </a:rPr>
              <a:t>)</a:t>
            </a:r>
            <a:r>
              <a:rPr lang="zh-CN" altLang="zh-CN" sz="1800" dirty="0">
                <a:solidFill>
                  <a:srgbClr val="000000"/>
                </a:solidFill>
                <a:effectLst/>
                <a:ea typeface="宋体" pitchFamily="2" charset="-122"/>
                <a:cs typeface="宋体" pitchFamily="2" charset="-122"/>
              </a:rPr>
              <a:t>原图像</a:t>
            </a:r>
            <a:endParaRPr lang="zh-CN" altLang="en-US" sz="1800" dirty="0"/>
          </a:p>
        </p:txBody>
      </p:sp>
      <p:sp>
        <p:nvSpPr>
          <p:cNvPr id="15" name="文本框 14"/>
          <p:cNvSpPr txBox="1"/>
          <p:nvPr/>
        </p:nvSpPr>
        <p:spPr>
          <a:xfrm>
            <a:off x="5220866" y="5013970"/>
            <a:ext cx="2808312" cy="369332"/>
          </a:xfrm>
          <a:prstGeom prst="rect">
            <a:avLst/>
          </a:prstGeom>
          <a:noFill/>
        </p:spPr>
        <p:txBody>
          <a:bodyPr wrap="square">
            <a:spAutoFit/>
          </a:bodyPr>
          <a:lstStyle/>
          <a:p>
            <a:r>
              <a:rPr lang="en-US" altLang="zh-CN" sz="1800" dirty="0">
                <a:solidFill>
                  <a:srgbClr val="000000"/>
                </a:solidFill>
                <a:effectLst/>
                <a:latin typeface="宋体" pitchFamily="2" charset="-122"/>
                <a:cs typeface="宋体" pitchFamily="2" charset="-122"/>
              </a:rPr>
              <a:t>(</a:t>
            </a:r>
            <a:r>
              <a:rPr lang="en-US" altLang="zh-CN" sz="1800" dirty="0">
                <a:solidFill>
                  <a:srgbClr val="000000"/>
                </a:solidFill>
                <a:effectLst/>
                <a:latin typeface="Times New Roman" panose="02020603050405020304" pitchFamily="18" charset="0"/>
                <a:ea typeface="宋体" pitchFamily="2" charset="-122"/>
              </a:rPr>
              <a:t>b</a:t>
            </a:r>
            <a:r>
              <a:rPr lang="en-US" altLang="zh-CN" sz="1800" dirty="0">
                <a:solidFill>
                  <a:srgbClr val="000000"/>
                </a:solidFill>
                <a:effectLst/>
                <a:latin typeface="宋体" pitchFamily="2" charset="-122"/>
                <a:cs typeface="宋体" pitchFamily="2" charset="-122"/>
              </a:rPr>
              <a:t>)</a:t>
            </a:r>
            <a:r>
              <a:rPr lang="en-US" altLang="zh-CN" sz="1800" dirty="0">
                <a:effectLst/>
                <a:latin typeface="Times New Roman" panose="02020603050405020304" pitchFamily="18" charset="0"/>
                <a:ea typeface="宋体" pitchFamily="2" charset="-122"/>
              </a:rPr>
              <a:t>Harris</a:t>
            </a:r>
            <a:r>
              <a:rPr lang="zh-CN" altLang="zh-CN" sz="1800" dirty="0">
                <a:solidFill>
                  <a:srgbClr val="000000"/>
                </a:solidFill>
                <a:effectLst/>
                <a:ea typeface="宋体" pitchFamily="2" charset="-122"/>
                <a:cs typeface="宋体" pitchFamily="2" charset="-122"/>
              </a:rPr>
              <a:t>角点检测</a:t>
            </a:r>
            <a:r>
              <a:rPr lang="zh-CN" altLang="zh-CN" sz="1800" dirty="0">
                <a:effectLst/>
                <a:ea typeface="宋体" pitchFamily="2" charset="-122"/>
                <a:cs typeface="宋体" pitchFamily="2" charset="-122"/>
              </a:rPr>
              <a:t>结果图</a:t>
            </a:r>
            <a:endParaRPr lang="zh-CN" altLang="en-US" sz="1800" dirty="0"/>
          </a:p>
        </p:txBody>
      </p:sp>
      <p:sp>
        <p:nvSpPr>
          <p:cNvPr id="17" name="文本框 16"/>
          <p:cNvSpPr txBox="1"/>
          <p:nvPr/>
        </p:nvSpPr>
        <p:spPr>
          <a:xfrm>
            <a:off x="1980506" y="5446018"/>
            <a:ext cx="4829452" cy="461665"/>
          </a:xfrm>
          <a:prstGeom prst="rect">
            <a:avLst/>
          </a:prstGeom>
          <a:noFill/>
        </p:spPr>
        <p:txBody>
          <a:bodyPr wrap="square">
            <a:spAutoFit/>
          </a:bodyPr>
          <a:lstStyle/>
          <a:p>
            <a:pPr indent="266700" algn="ct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altLang="zh-CN" sz="2400" kern="0" dirty="0">
                <a:solidFill>
                  <a:srgbClr val="000000"/>
                </a:solidFill>
                <a:effectLst/>
                <a:latin typeface="Times New Roman" panose="02020603050405020304" pitchFamily="18" charset="0"/>
                <a:ea typeface="宋体" pitchFamily="2" charset="-122"/>
                <a:cs typeface="Times New Roman" panose="02020603050405020304" pitchFamily="18" charset="0"/>
              </a:rPr>
              <a:t>图</a:t>
            </a:r>
            <a:r>
              <a:rPr lang="en-US" altLang="zh-CN" sz="2400" kern="0" dirty="0">
                <a:solidFill>
                  <a:srgbClr val="000000"/>
                </a:solidFill>
                <a:effectLst/>
                <a:latin typeface="Times New Roman" panose="02020603050405020304" pitchFamily="18" charset="0"/>
                <a:ea typeface="宋体" pitchFamily="2" charset="-122"/>
                <a:cs typeface="Times New Roman" panose="02020603050405020304" pitchFamily="18" charset="0"/>
              </a:rPr>
              <a:t>9.3  </a:t>
            </a:r>
            <a:r>
              <a:rPr lang="en-US" altLang="zh-CN" sz="2400" kern="100" dirty="0">
                <a:solidFill>
                  <a:srgbClr val="000000"/>
                </a:solidFill>
                <a:effectLst/>
                <a:latin typeface="Times New Roman" panose="02020603050405020304" pitchFamily="18" charset="0"/>
                <a:ea typeface="宋体" pitchFamily="2" charset="-122"/>
                <a:cs typeface="Times New Roman" panose="02020603050405020304" pitchFamily="18" charset="0"/>
              </a:rPr>
              <a:t>Harris</a:t>
            </a:r>
            <a:r>
              <a:rPr lang="zh-CN" altLang="zh-CN" sz="2400" kern="0" dirty="0">
                <a:solidFill>
                  <a:srgbClr val="000000"/>
                </a:solidFill>
                <a:effectLst/>
                <a:latin typeface="Times New Roman" panose="02020603050405020304" pitchFamily="18" charset="0"/>
                <a:ea typeface="宋体" pitchFamily="2" charset="-122"/>
                <a:cs typeface="Times New Roman" panose="02020603050405020304" pitchFamily="18" charset="0"/>
              </a:rPr>
              <a:t>角点检测运行结果图</a:t>
            </a:r>
            <a:endParaRPr lang="zh-CN" altLang="zh-CN" sz="2400" kern="100" dirty="0">
              <a:effectLst/>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0" name="文本框 19"/>
          <p:cNvSpPr txBox="1"/>
          <p:nvPr/>
        </p:nvSpPr>
        <p:spPr>
          <a:xfrm>
            <a:off x="445687" y="1575693"/>
            <a:ext cx="8375334" cy="1200329"/>
          </a:xfrm>
          <a:prstGeom prst="rect">
            <a:avLst/>
          </a:prstGeom>
          <a:noFill/>
        </p:spPr>
        <p:txBody>
          <a:bodyPr wrap="square">
            <a:spAutoFit/>
          </a:bodyPr>
          <a:lstStyle/>
          <a:p>
            <a:r>
              <a:rPr lang="zh-CN" altLang="en-US" sz="2400" kern="100" dirty="0">
                <a:cs typeface="Times New Roman" panose="02020603050405020304" pitchFamily="18" charset="0"/>
              </a:rPr>
              <a:t>      </a:t>
            </a:r>
            <a:r>
              <a:rPr lang="zh-CN" altLang="en-US" sz="2400" kern="100" dirty="0">
                <a:latin typeface="Times New Roman" panose="02020603050405020304" pitchFamily="18" charset="0"/>
                <a:cs typeface="Times New Roman" panose="02020603050405020304" pitchFamily="18" charset="0"/>
              </a:rPr>
              <a:t>下面的代码基于</a:t>
            </a:r>
            <a:r>
              <a:rPr lang="en-US" altLang="zh-CN" sz="2400" kern="100" dirty="0">
                <a:latin typeface="Times New Roman" panose="02020603050405020304" pitchFamily="18" charset="0"/>
                <a:cs typeface="Times New Roman" panose="02020603050405020304" pitchFamily="18" charset="0"/>
              </a:rPr>
              <a:t>OpenCV</a:t>
            </a:r>
            <a:r>
              <a:rPr lang="zh-CN" altLang="en-US" sz="2400" kern="100" dirty="0">
                <a:latin typeface="Times New Roman" panose="02020603050405020304" pitchFamily="18" charset="0"/>
                <a:cs typeface="Times New Roman" panose="02020603050405020304" pitchFamily="18" charset="0"/>
              </a:rPr>
              <a:t>中提供的基于</a:t>
            </a:r>
            <a:r>
              <a:rPr lang="en-US" altLang="zh-CN" sz="2400" kern="100" dirty="0">
                <a:latin typeface="Times New Roman" panose="02020603050405020304" pitchFamily="18" charset="0"/>
                <a:cs typeface="Times New Roman" panose="02020603050405020304" pitchFamily="18" charset="0"/>
              </a:rPr>
              <a:t>Harris</a:t>
            </a:r>
            <a:r>
              <a:rPr lang="zh-CN" altLang="en-US" sz="2400" kern="100" dirty="0">
                <a:latin typeface="Times New Roman" panose="02020603050405020304" pitchFamily="18" charset="0"/>
                <a:cs typeface="Times New Roman" panose="02020603050405020304" pitchFamily="18" charset="0"/>
              </a:rPr>
              <a:t>角点的人脸检测分类器进行人脸检测。只需要一行代码即可调用</a:t>
            </a:r>
            <a:r>
              <a:rPr lang="en-US" altLang="zh-CN" sz="2400" kern="100" dirty="0">
                <a:latin typeface="Times New Roman" panose="02020603050405020304" pitchFamily="18" charset="0"/>
                <a:cs typeface="Times New Roman" panose="02020603050405020304" pitchFamily="18" charset="0"/>
              </a:rPr>
              <a:t>OpenCV</a:t>
            </a:r>
            <a:r>
              <a:rPr lang="zh-CN" altLang="en-US" sz="2400" kern="100" dirty="0">
                <a:latin typeface="Times New Roman" panose="02020603050405020304" pitchFamily="18" charset="0"/>
                <a:cs typeface="Times New Roman" panose="02020603050405020304" pitchFamily="18" charset="0"/>
              </a:rPr>
              <a:t>中提供的基于</a:t>
            </a:r>
            <a:r>
              <a:rPr lang="en-US" altLang="zh-CN" sz="2400" kern="100" dirty="0">
                <a:latin typeface="Times New Roman" panose="02020603050405020304" pitchFamily="18" charset="0"/>
                <a:cs typeface="Times New Roman" panose="02020603050405020304" pitchFamily="18" charset="0"/>
              </a:rPr>
              <a:t>Harris</a:t>
            </a:r>
            <a:r>
              <a:rPr lang="zh-CN" altLang="en-US" sz="2400" kern="100" dirty="0">
                <a:latin typeface="Times New Roman" panose="02020603050405020304" pitchFamily="18" charset="0"/>
                <a:cs typeface="Times New Roman" panose="02020603050405020304" pitchFamily="18" charset="0"/>
              </a:rPr>
              <a:t>角点的人脸检测分类器。</a:t>
            </a:r>
            <a:endParaRPr lang="zh-CN" altLang="en-US" sz="2400" dirty="0">
              <a:latin typeface="Times New Roman" panose="02020603050405020304" pitchFamily="18" charset="0"/>
              <a:cs typeface="Times New Roman" panose="02020603050405020304" pitchFamily="18" charset="0"/>
            </a:endParaRPr>
          </a:p>
        </p:txBody>
      </p:sp>
      <p:sp>
        <p:nvSpPr>
          <p:cNvPr id="10" name="TextBox 43"/>
          <p:cNvSpPr txBox="1">
            <a:spLocks noChangeArrowheads="1"/>
          </p:cNvSpPr>
          <p:nvPr/>
        </p:nvSpPr>
        <p:spPr bwMode="auto">
          <a:xfrm>
            <a:off x="540579" y="1142092"/>
            <a:ext cx="36208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9.3.2  Harris</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角点检测</a:t>
            </a:r>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6" name="文本框 15"/>
          <p:cNvSpPr txBox="1"/>
          <p:nvPr/>
        </p:nvSpPr>
        <p:spPr>
          <a:xfrm>
            <a:off x="576349" y="2777419"/>
            <a:ext cx="8123551" cy="3748719"/>
          </a:xfrm>
          <a:prstGeom prst="rect">
            <a:avLst/>
          </a:prstGeom>
          <a:solidFill>
            <a:srgbClr val="C7C7C7"/>
          </a:solidFill>
        </p:spPr>
        <p:txBody>
          <a:bodyPr wrap="square">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import cv2</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def </a:t>
            </a:r>
            <a:r>
              <a:rPr lang="en-US" altLang="zh-CN" sz="1800" kern="100" dirty="0" err="1">
                <a:solidFill>
                  <a:srgbClr val="000000"/>
                </a:solidFill>
                <a:effectLst/>
                <a:latin typeface="Times New Roman" panose="02020603050405020304" pitchFamily="18" charset="0"/>
                <a:ea typeface="宋体" pitchFamily="2" charset="-122"/>
              </a:rPr>
              <a:t>detect_face</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 </a:t>
            </a:r>
            <a:r>
              <a:rPr lang="zh-CN" altLang="zh-CN" sz="1800" kern="100" dirty="0">
                <a:solidFill>
                  <a:srgbClr val="000000"/>
                </a:solidFill>
                <a:effectLst/>
                <a:latin typeface="Times New Roman" panose="02020603050405020304" pitchFamily="18" charset="0"/>
                <a:ea typeface="宋体" pitchFamily="2" charset="-122"/>
              </a:rPr>
              <a:t>转换为灰度图像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gray = cv2.cvtColor(</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cv2.COLOR_BGR2GRAY)</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 </a:t>
            </a:r>
            <a:r>
              <a:rPr lang="zh-CN" altLang="zh-CN" sz="1800" kern="100" dirty="0">
                <a:solidFill>
                  <a:srgbClr val="000000"/>
                </a:solidFill>
                <a:effectLst/>
                <a:latin typeface="Times New Roman" panose="02020603050405020304" pitchFamily="18" charset="0"/>
                <a:ea typeface="宋体" pitchFamily="2" charset="-122"/>
              </a:rPr>
              <a:t>加载</a:t>
            </a:r>
            <a:r>
              <a:rPr lang="en-US" altLang="zh-CN" sz="1800" kern="100" dirty="0">
                <a:solidFill>
                  <a:srgbClr val="000000"/>
                </a:solidFill>
                <a:effectLst/>
                <a:latin typeface="Times New Roman" panose="02020603050405020304" pitchFamily="18" charset="0"/>
                <a:ea typeface="宋体" pitchFamily="2" charset="-122"/>
              </a:rPr>
              <a:t>OpenCV</a:t>
            </a:r>
            <a:r>
              <a:rPr lang="zh-CN" altLang="zh-CN" sz="1800" kern="100" dirty="0">
                <a:solidFill>
                  <a:srgbClr val="000000"/>
                </a:solidFill>
                <a:effectLst/>
                <a:latin typeface="Times New Roman" panose="02020603050405020304" pitchFamily="18" charset="0"/>
                <a:ea typeface="宋体" pitchFamily="2" charset="-122"/>
              </a:rPr>
              <a:t>人脸检测分类器</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face_cascade</a:t>
            </a:r>
            <a:r>
              <a:rPr lang="en-US" altLang="zh-CN" sz="1800" kern="100" dirty="0">
                <a:solidFill>
                  <a:srgbClr val="000000"/>
                </a:solidFill>
                <a:effectLst/>
                <a:latin typeface="Times New Roman" panose="02020603050405020304" pitchFamily="18" charset="0"/>
                <a:ea typeface="宋体" pitchFamily="2" charset="-122"/>
              </a:rPr>
              <a:t> = cv2.CascadeClassifier('./haarcascade_frontalface_default.xml')</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 </a:t>
            </a:r>
            <a:r>
              <a:rPr lang="zh-CN" altLang="zh-CN" sz="1800" kern="100" dirty="0">
                <a:solidFill>
                  <a:srgbClr val="000000"/>
                </a:solidFill>
                <a:effectLst/>
                <a:latin typeface="Times New Roman" panose="02020603050405020304" pitchFamily="18" charset="0"/>
                <a:ea typeface="宋体" pitchFamily="2" charset="-122"/>
              </a:rPr>
              <a:t>检测多尺度图像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faces = </a:t>
            </a:r>
            <a:r>
              <a:rPr lang="en-US" altLang="zh-CN" sz="1800" kern="100" dirty="0" err="1">
                <a:solidFill>
                  <a:srgbClr val="000000"/>
                </a:solidFill>
                <a:effectLst/>
                <a:latin typeface="Times New Roman" panose="02020603050405020304" pitchFamily="18" charset="0"/>
                <a:ea typeface="宋体" pitchFamily="2" charset="-122"/>
              </a:rPr>
              <a:t>face_cascade.detectMultiScale</a:t>
            </a:r>
            <a:r>
              <a:rPr lang="en-US" altLang="zh-CN" sz="1800" kern="100" dirty="0">
                <a:solidFill>
                  <a:srgbClr val="000000"/>
                </a:solidFill>
                <a:effectLst/>
                <a:latin typeface="Times New Roman" panose="02020603050405020304" pitchFamily="18" charset="0"/>
                <a:ea typeface="宋体" pitchFamily="2" charset="-122"/>
              </a:rPr>
              <a:t>(gray, 1.2, 3)</a:t>
            </a:r>
            <a:endParaRPr lang="zh-CN" altLang="zh-CN" sz="1800" kern="100" dirty="0">
              <a:effectLst/>
              <a:latin typeface="Times New Roman" panose="02020603050405020304" pitchFamily="18" charset="0"/>
              <a:ea typeface="宋体" pitchFamily="2" charset="-122"/>
            </a:endParaRPr>
          </a:p>
          <a:p>
            <a:pPr indent="266700" algn="just">
              <a:lnSpc>
                <a:spcPct val="120000"/>
              </a:lnSpc>
            </a:pPr>
            <a:r>
              <a:rPr lang="en-US" altLang="zh-CN" sz="1800" kern="100" dirty="0">
                <a:solidFill>
                  <a:srgbClr val="000000"/>
                </a:solidFill>
                <a:effectLst/>
                <a:latin typeface="Times New Roman" panose="02020603050405020304" pitchFamily="18" charset="0"/>
                <a:ea typeface="宋体" pitchFamily="2" charset="-122"/>
              </a:rPr>
              <a:t>    # </a:t>
            </a:r>
            <a:r>
              <a:rPr lang="zh-CN" altLang="zh-CN" sz="1800" kern="100" dirty="0">
                <a:solidFill>
                  <a:srgbClr val="000000"/>
                </a:solidFill>
                <a:effectLst/>
                <a:latin typeface="Times New Roman" panose="02020603050405020304" pitchFamily="18" charset="0"/>
                <a:ea typeface="宋体" pitchFamily="2" charset="-122"/>
              </a:rPr>
              <a:t>检测失败，返回</a:t>
            </a:r>
            <a:r>
              <a:rPr lang="en-US" altLang="zh-CN" sz="1800" kern="100" dirty="0">
                <a:solidFill>
                  <a:srgbClr val="000000"/>
                </a:solidFill>
                <a:effectLst/>
                <a:latin typeface="Times New Roman" panose="02020603050405020304" pitchFamily="18" charset="0"/>
                <a:ea typeface="宋体" pitchFamily="2" charset="-122"/>
              </a:rPr>
              <a:t>None</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if </a:t>
            </a:r>
            <a:r>
              <a:rPr lang="en-US" altLang="zh-CN" sz="1800" kern="100" dirty="0" err="1">
                <a:solidFill>
                  <a:srgbClr val="000000"/>
                </a:solidFill>
                <a:effectLst/>
                <a:latin typeface="Times New Roman" panose="02020603050405020304" pitchFamily="18" charset="0"/>
                <a:ea typeface="宋体" pitchFamily="2" charset="-122"/>
              </a:rPr>
              <a:t>len</a:t>
            </a:r>
            <a:r>
              <a:rPr lang="en-US" altLang="zh-CN" sz="1800" kern="100" dirty="0">
                <a:solidFill>
                  <a:srgbClr val="000000"/>
                </a:solidFill>
                <a:effectLst/>
                <a:latin typeface="Times New Roman" panose="02020603050405020304" pitchFamily="18" charset="0"/>
                <a:ea typeface="宋体" pitchFamily="2" charset="-122"/>
              </a:rPr>
              <a:t>(faces) == 0:</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return None, None</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(x, y, w, h) = faces[0]</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a:t>
            </a:r>
            <a:r>
              <a:rPr lang="zh-CN" altLang="zh-CN" sz="1800" kern="100" dirty="0">
                <a:solidFill>
                  <a:srgbClr val="000000"/>
                </a:solidFill>
                <a:effectLst/>
                <a:latin typeface="Times New Roman" panose="02020603050405020304" pitchFamily="18" charset="0"/>
                <a:ea typeface="宋体" pitchFamily="2" charset="-122"/>
              </a:rPr>
              <a:t>返回人脸坐标</a:t>
            </a:r>
            <a:endParaRPr lang="zh-CN" altLang="zh-CN" sz="1800" kern="100" dirty="0">
              <a:effectLst/>
              <a:latin typeface="Times New Roman" panose="02020603050405020304" pitchFamily="18" charset="0"/>
              <a:ea typeface="宋体" pitchFamily="2" charset="-122"/>
            </a:endParaRPr>
          </a:p>
          <a:p>
            <a:r>
              <a:rPr lang="en-US" altLang="zh-CN" sz="1800" kern="100" dirty="0">
                <a:effectLst/>
                <a:latin typeface="Times New Roman" panose="02020603050405020304" pitchFamily="18" charset="0"/>
                <a:ea typeface="宋体" pitchFamily="2" charset="-122"/>
              </a:rPr>
              <a:t>    return gray[</a:t>
            </a:r>
            <a:r>
              <a:rPr lang="en-US" altLang="zh-CN" sz="1800" kern="100" dirty="0" err="1">
                <a:effectLst/>
                <a:latin typeface="Times New Roman" panose="02020603050405020304" pitchFamily="18" charset="0"/>
                <a:ea typeface="宋体" pitchFamily="2" charset="-122"/>
              </a:rPr>
              <a:t>y:y</a:t>
            </a:r>
            <a:r>
              <a:rPr lang="en-US" altLang="zh-CN" sz="1800" kern="100" dirty="0">
                <a:effectLst/>
                <a:latin typeface="Times New Roman" panose="02020603050405020304" pitchFamily="18" charset="0"/>
                <a:ea typeface="宋体" pitchFamily="2" charset="-122"/>
              </a:rPr>
              <a:t> + w, x:x + h], faces[0]</a:t>
            </a:r>
            <a:endParaRPr lang="zh-CN" altLang="zh-CN" sz="20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6" name="文本框 15"/>
          <p:cNvSpPr txBox="1"/>
          <p:nvPr/>
        </p:nvSpPr>
        <p:spPr>
          <a:xfrm>
            <a:off x="612354" y="1413570"/>
            <a:ext cx="7992888" cy="4678204"/>
          </a:xfrm>
          <a:prstGeom prst="rect">
            <a:avLst/>
          </a:prstGeom>
          <a:solidFill>
            <a:srgbClr val="C7C7C7"/>
          </a:solidFill>
        </p:spPr>
        <p:txBody>
          <a:bodyPr wrap="square">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 </a:t>
            </a:r>
            <a:r>
              <a:rPr lang="zh-CN" altLang="en-US" sz="1800" kern="100" dirty="0">
                <a:solidFill>
                  <a:srgbClr val="000000"/>
                </a:solidFill>
                <a:effectLst/>
                <a:latin typeface="Times New Roman" panose="02020603050405020304" pitchFamily="18" charset="0"/>
                <a:ea typeface="宋体" pitchFamily="2" charset="-122"/>
              </a:rPr>
              <a:t>根据给定的</a:t>
            </a:r>
            <a:r>
              <a:rPr lang="en-US" altLang="zh-CN" sz="1800" kern="100" dirty="0">
                <a:solidFill>
                  <a:srgbClr val="000000"/>
                </a:solidFill>
                <a:effectLst/>
                <a:latin typeface="Times New Roman" panose="02020603050405020304" pitchFamily="18" charset="0"/>
                <a:ea typeface="宋体" pitchFamily="2" charset="-122"/>
              </a:rPr>
              <a:t>(x</a:t>
            </a:r>
            <a:r>
              <a:rPr lang="zh-CN" altLang="en-US" sz="1800" kern="100" dirty="0">
                <a:solidFill>
                  <a:srgbClr val="000000"/>
                </a:solidFill>
                <a:effectLst/>
                <a:latin typeface="Times New Roman" panose="02020603050405020304" pitchFamily="18" charset="0"/>
                <a:ea typeface="宋体" pitchFamily="2" charset="-122"/>
              </a:rPr>
              <a:t>，</a:t>
            </a:r>
            <a:r>
              <a:rPr lang="en-US" altLang="zh-CN" sz="1800" kern="100" dirty="0">
                <a:solidFill>
                  <a:srgbClr val="000000"/>
                </a:solidFill>
                <a:effectLst/>
                <a:latin typeface="Times New Roman" panose="02020603050405020304" pitchFamily="18" charset="0"/>
                <a:ea typeface="宋体" pitchFamily="2" charset="-122"/>
              </a:rPr>
              <a:t>y)</a:t>
            </a:r>
            <a:r>
              <a:rPr lang="zh-CN" altLang="en-US" sz="1800" kern="100" dirty="0">
                <a:solidFill>
                  <a:srgbClr val="000000"/>
                </a:solidFill>
                <a:effectLst/>
                <a:latin typeface="Times New Roman" panose="02020603050405020304" pitchFamily="18" charset="0"/>
                <a:ea typeface="宋体" pitchFamily="2" charset="-122"/>
              </a:rPr>
              <a:t>坐标和宽度高度在图像上绘制矩形</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def </a:t>
            </a:r>
            <a:r>
              <a:rPr lang="en-US" altLang="zh-CN" sz="1800" kern="100" dirty="0" err="1">
                <a:solidFill>
                  <a:srgbClr val="000000"/>
                </a:solidFill>
                <a:effectLst/>
                <a:latin typeface="Times New Roman" panose="02020603050405020304" pitchFamily="18" charset="0"/>
                <a:ea typeface="宋体" pitchFamily="2" charset="-122"/>
              </a:rPr>
              <a:t>draw_rectangle</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rect</a:t>
            </a:r>
            <a:r>
              <a:rPr lang="en-US" altLang="zh-CN" sz="1800" kern="100" dirty="0">
                <a:solidFill>
                  <a:srgbClr val="000000"/>
                </a:solidFill>
                <a:effectLst/>
                <a:latin typeface="Times New Roman" panose="02020603050405020304" pitchFamily="18" charset="0"/>
                <a:ea typeface="宋体" pitchFamily="2" charset="-122"/>
              </a:rPr>
              <a:t>):</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(x, y, w, h) = </a:t>
            </a:r>
            <a:r>
              <a:rPr lang="en-US" altLang="zh-CN" sz="1800" kern="100" dirty="0" err="1">
                <a:solidFill>
                  <a:srgbClr val="000000"/>
                </a:solidFill>
                <a:effectLst/>
                <a:latin typeface="Times New Roman" panose="02020603050405020304" pitchFamily="18" charset="0"/>
                <a:ea typeface="宋体" pitchFamily="2" charset="-122"/>
              </a:rPr>
              <a:t>rect</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cv2.rectangle(</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(x, y), (x + w, y + h), (128, 128, 0), 5)</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spcBef>
                <a:spcPts val="600"/>
              </a:spcBef>
            </a:pPr>
            <a:r>
              <a:rPr lang="en-US" altLang="zh-CN" sz="1800" kern="100" dirty="0">
                <a:solidFill>
                  <a:srgbClr val="000000"/>
                </a:solidFill>
                <a:effectLst/>
                <a:latin typeface="Times New Roman" panose="02020603050405020304" pitchFamily="18" charset="0"/>
                <a:ea typeface="宋体" pitchFamily="2" charset="-122"/>
              </a:rPr>
              <a:t># </a:t>
            </a:r>
            <a:r>
              <a:rPr lang="zh-CN" altLang="en-US" sz="1800" kern="100" dirty="0">
                <a:solidFill>
                  <a:srgbClr val="000000"/>
                </a:solidFill>
                <a:effectLst/>
                <a:latin typeface="Times New Roman" panose="02020603050405020304" pitchFamily="18" charset="0"/>
                <a:ea typeface="宋体" pitchFamily="2" charset="-122"/>
              </a:rPr>
              <a:t>检测人脸并附加外框</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def detect(</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img_copy</a:t>
            </a:r>
            <a:r>
              <a:rPr lang="en-US" altLang="zh-CN" sz="1800" kern="100" dirty="0">
                <a:solidFill>
                  <a:srgbClr val="000000"/>
                </a:solidFill>
                <a:effectLst/>
                <a:latin typeface="Times New Roman" panose="02020603050405020304" pitchFamily="18" charset="0"/>
                <a:ea typeface="宋体" pitchFamily="2" charset="-122"/>
              </a:rPr>
              <a:t> = </a:t>
            </a:r>
            <a:r>
              <a:rPr lang="en-US" altLang="zh-CN" sz="1800" kern="100" dirty="0" err="1">
                <a:solidFill>
                  <a:srgbClr val="000000"/>
                </a:solidFill>
                <a:effectLst/>
                <a:latin typeface="Times New Roman" panose="02020603050405020304" pitchFamily="18" charset="0"/>
                <a:ea typeface="宋体" pitchFamily="2" charset="-122"/>
              </a:rPr>
              <a:t>img.copy</a:t>
            </a:r>
            <a:r>
              <a:rPr lang="en-US" altLang="zh-CN" sz="1800" kern="100" dirty="0">
                <a:solidFill>
                  <a:srgbClr val="000000"/>
                </a:solidFill>
                <a:effectLst/>
                <a:latin typeface="Times New Roman" panose="02020603050405020304" pitchFamily="18" charset="0"/>
                <a:ea typeface="宋体" pitchFamily="2" charset="-122"/>
              </a:rPr>
              <a:t>()               # </a:t>
            </a:r>
            <a:r>
              <a:rPr lang="zh-CN" altLang="en-US" sz="1800" kern="100" dirty="0">
                <a:solidFill>
                  <a:srgbClr val="000000"/>
                </a:solidFill>
                <a:effectLst/>
                <a:latin typeface="Times New Roman" panose="02020603050405020304" pitchFamily="18" charset="0"/>
                <a:ea typeface="宋体" pitchFamily="2" charset="-122"/>
              </a:rPr>
              <a:t>复制</a:t>
            </a:r>
            <a:r>
              <a:rPr lang="en-US" altLang="zh-CN" sz="1800" kern="100" dirty="0" err="1">
                <a:solidFill>
                  <a:srgbClr val="000000"/>
                </a:solidFill>
                <a:effectLst/>
                <a:latin typeface="Times New Roman" panose="02020603050405020304" pitchFamily="18" charset="0"/>
                <a:ea typeface="宋体" pitchFamily="2" charset="-122"/>
              </a:rPr>
              <a:t>img</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face, </a:t>
            </a:r>
            <a:r>
              <a:rPr lang="en-US" altLang="zh-CN" sz="1800" kern="100" dirty="0" err="1">
                <a:solidFill>
                  <a:srgbClr val="000000"/>
                </a:solidFill>
                <a:effectLst/>
                <a:latin typeface="Times New Roman" panose="02020603050405020304" pitchFamily="18" charset="0"/>
                <a:ea typeface="宋体" pitchFamily="2" charset="-122"/>
              </a:rPr>
              <a:t>rect</a:t>
            </a:r>
            <a:r>
              <a:rPr lang="en-US" altLang="zh-CN" sz="1800" kern="100" dirty="0">
                <a:solidFill>
                  <a:srgbClr val="000000"/>
                </a:solidFill>
                <a:effectLst/>
                <a:latin typeface="Times New Roman" panose="02020603050405020304" pitchFamily="18" charset="0"/>
                <a:ea typeface="宋体" pitchFamily="2" charset="-122"/>
              </a:rPr>
              <a:t> = </a:t>
            </a:r>
            <a:r>
              <a:rPr lang="en-US" altLang="zh-CN" sz="1800" kern="100" dirty="0" err="1">
                <a:solidFill>
                  <a:srgbClr val="000000"/>
                </a:solidFill>
                <a:effectLst/>
                <a:latin typeface="Times New Roman" panose="02020603050405020304" pitchFamily="18" charset="0"/>
                <a:ea typeface="宋体" pitchFamily="2" charset="-122"/>
              </a:rPr>
              <a:t>detect_face</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 </a:t>
            </a:r>
            <a:r>
              <a:rPr lang="zh-CN" altLang="en-US" sz="1800" kern="100" dirty="0">
                <a:solidFill>
                  <a:srgbClr val="000000"/>
                </a:solidFill>
                <a:effectLst/>
                <a:latin typeface="Times New Roman" panose="02020603050405020304" pitchFamily="18" charset="0"/>
                <a:ea typeface="宋体" pitchFamily="2" charset="-122"/>
              </a:rPr>
              <a:t>检测人脸</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zh-CN" altLang="en-US"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draw_rectangle</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img_copy</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rect</a:t>
            </a:r>
            <a:r>
              <a:rPr lang="en-US" altLang="zh-CN" sz="1800" kern="100" dirty="0">
                <a:solidFill>
                  <a:srgbClr val="000000"/>
                </a:solidFill>
                <a:effectLst/>
                <a:latin typeface="Times New Roman" panose="02020603050405020304" pitchFamily="18" charset="0"/>
                <a:ea typeface="宋体" pitchFamily="2" charset="-122"/>
              </a:rPr>
              <a:t>)  # </a:t>
            </a:r>
            <a:r>
              <a:rPr lang="zh-CN" altLang="en-US" sz="1800" kern="100" dirty="0">
                <a:solidFill>
                  <a:srgbClr val="000000"/>
                </a:solidFill>
                <a:effectLst/>
                <a:latin typeface="Times New Roman" panose="02020603050405020304" pitchFamily="18" charset="0"/>
                <a:ea typeface="宋体" pitchFamily="2" charset="-122"/>
              </a:rPr>
              <a:t>绘制外框</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zh-CN" altLang="en-US" sz="1800" kern="100" dirty="0">
                <a:solidFill>
                  <a:srgbClr val="000000"/>
                </a:solidFill>
                <a:effectLst/>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return </a:t>
            </a:r>
            <a:r>
              <a:rPr lang="en-US" altLang="zh-CN" sz="1800" kern="100" dirty="0" err="1">
                <a:solidFill>
                  <a:srgbClr val="000000"/>
                </a:solidFill>
                <a:effectLst/>
                <a:latin typeface="Times New Roman" panose="02020603050405020304" pitchFamily="18" charset="0"/>
                <a:ea typeface="宋体" pitchFamily="2" charset="-122"/>
              </a:rPr>
              <a:t>img_copy</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spcBef>
                <a:spcPts val="600"/>
              </a:spcBef>
            </a:pPr>
            <a:r>
              <a:rPr lang="en-US" altLang="zh-CN" sz="1800" kern="100" dirty="0">
                <a:solidFill>
                  <a:srgbClr val="000000"/>
                </a:solidFill>
                <a:effectLst/>
                <a:latin typeface="Times New Roman" panose="02020603050405020304" pitchFamily="18" charset="0"/>
                <a:ea typeface="宋体" pitchFamily="2" charset="-122"/>
              </a:rPr>
              <a:t># </a:t>
            </a:r>
            <a:r>
              <a:rPr lang="zh-CN" altLang="en-US" sz="1800" kern="100" dirty="0">
                <a:solidFill>
                  <a:srgbClr val="000000"/>
                </a:solidFill>
                <a:effectLst/>
                <a:latin typeface="Times New Roman" panose="02020603050405020304" pitchFamily="18" charset="0"/>
                <a:ea typeface="宋体" pitchFamily="2" charset="-122"/>
              </a:rPr>
              <a:t>加载测试图像</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test_img1 = cv2.imread("aobama.jpg")</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img1 = detect(test_img1)</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cv2.imshow("img1", img1)</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cv2.waitKey(0)</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cv2.destroyAllWindows()</a:t>
            </a:r>
            <a:endParaRPr lang="en-US" altLang="zh-CN" sz="18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0" name="文本框 19"/>
          <p:cNvSpPr txBox="1"/>
          <p:nvPr/>
        </p:nvSpPr>
        <p:spPr>
          <a:xfrm>
            <a:off x="445932" y="1197546"/>
            <a:ext cx="8375334" cy="461665"/>
          </a:xfrm>
          <a:prstGeom prst="rect">
            <a:avLst/>
          </a:prstGeom>
          <a:noFill/>
        </p:spPr>
        <p:txBody>
          <a:bodyPr wrap="square">
            <a:spAutoFit/>
          </a:bodyPr>
          <a:lstStyle/>
          <a:p>
            <a:r>
              <a:rPr lang="zh-CN" altLang="en-US" sz="2400" b="1" kern="100" dirty="0">
                <a:latin typeface="Times New Roman" panose="02020603050405020304" pitchFamily="18" charset="0"/>
                <a:cs typeface="Times New Roman" panose="02020603050405020304" pitchFamily="18" charset="0"/>
              </a:rPr>
              <a:t>      检测效果如图</a:t>
            </a:r>
            <a:r>
              <a:rPr lang="en-US" altLang="zh-CN" sz="2400" b="1" kern="100" dirty="0">
                <a:latin typeface="Times New Roman" panose="02020603050405020304" pitchFamily="18" charset="0"/>
                <a:cs typeface="Times New Roman" panose="02020603050405020304" pitchFamily="18" charset="0"/>
              </a:rPr>
              <a:t>9.4</a:t>
            </a:r>
            <a:r>
              <a:rPr lang="zh-CN" altLang="en-US" sz="2400" b="1" kern="100" dirty="0">
                <a:latin typeface="Times New Roman" panose="02020603050405020304" pitchFamily="18" charset="0"/>
                <a:cs typeface="Times New Roman" panose="02020603050405020304" pitchFamily="18" charset="0"/>
              </a:rPr>
              <a:t>所示</a:t>
            </a:r>
            <a:r>
              <a:rPr lang="zh-CN" altLang="en-US" sz="2400" kern="1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132634" y="1773609"/>
            <a:ext cx="2736304" cy="3866071"/>
          </a:xfrm>
          <a:prstGeom prst="rect">
            <a:avLst/>
          </a:prstGeom>
        </p:spPr>
      </p:pic>
      <p:sp>
        <p:nvSpPr>
          <p:cNvPr id="11" name="文本框 10"/>
          <p:cNvSpPr txBox="1"/>
          <p:nvPr/>
        </p:nvSpPr>
        <p:spPr>
          <a:xfrm>
            <a:off x="1931694" y="5632425"/>
            <a:ext cx="4801340"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9.4  </a:t>
            </a:r>
            <a:r>
              <a:rPr lang="zh-CN"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人脸检测效果图</a:t>
            </a:r>
            <a:endParaRPr lang="zh-CN" altLang="zh-CN" sz="2400" kern="100" dirty="0">
              <a:effectLst/>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spd="slow" advClick="0" advTm="0">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0" name="文本框 19"/>
          <p:cNvSpPr txBox="1"/>
          <p:nvPr/>
        </p:nvSpPr>
        <p:spPr>
          <a:xfrm>
            <a:off x="445687" y="1575693"/>
            <a:ext cx="8375334" cy="830997"/>
          </a:xfrm>
          <a:prstGeom prst="rect">
            <a:avLst/>
          </a:prstGeom>
          <a:noFill/>
        </p:spPr>
        <p:txBody>
          <a:bodyPr wrap="square">
            <a:spAutoFit/>
          </a:bodyPr>
          <a:lstStyle/>
          <a:p>
            <a:r>
              <a:rPr lang="zh-CN" altLang="en-US" kern="100" dirty="0">
                <a:cs typeface="Times New Roman" panose="02020603050405020304" pitchFamily="18" charset="0"/>
              </a:rPr>
              <a:t>      </a:t>
            </a:r>
            <a:r>
              <a:rPr lang="en-US" altLang="zh-CN" sz="2400" b="1" kern="100" dirty="0">
                <a:latin typeface="Times New Roman" panose="02020603050405020304" pitchFamily="18" charset="0"/>
                <a:cs typeface="Times New Roman" panose="02020603050405020304" pitchFamily="18" charset="0"/>
              </a:rPr>
              <a:t>Shi-</a:t>
            </a:r>
            <a:r>
              <a:rPr lang="en-US" altLang="zh-CN" sz="2400" b="1" kern="100" dirty="0" err="1">
                <a:latin typeface="Times New Roman" panose="02020603050405020304" pitchFamily="18" charset="0"/>
                <a:cs typeface="Times New Roman" panose="02020603050405020304" pitchFamily="18" charset="0"/>
              </a:rPr>
              <a:t>Tomasi</a:t>
            </a:r>
            <a:r>
              <a:rPr lang="zh-CN" altLang="en-US" sz="2400" b="1" kern="100" dirty="0">
                <a:latin typeface="Times New Roman" panose="02020603050405020304" pitchFamily="18" charset="0"/>
                <a:cs typeface="Times New Roman" panose="02020603050405020304" pitchFamily="18" charset="0"/>
              </a:rPr>
              <a:t>算法是</a:t>
            </a:r>
            <a:r>
              <a:rPr lang="en-US" altLang="zh-CN" sz="2400" b="1" kern="100" dirty="0">
                <a:latin typeface="Times New Roman" panose="02020603050405020304" pitchFamily="18" charset="0"/>
                <a:cs typeface="Times New Roman" panose="02020603050405020304" pitchFamily="18" charset="0"/>
              </a:rPr>
              <a:t>Harris</a:t>
            </a:r>
            <a:r>
              <a:rPr lang="zh-CN" altLang="en-US" sz="2400" b="1" kern="100" dirty="0">
                <a:latin typeface="Times New Roman" panose="02020603050405020304" pitchFamily="18" charset="0"/>
                <a:cs typeface="Times New Roman" panose="02020603050405020304" pitchFamily="18" charset="0"/>
              </a:rPr>
              <a:t>算法的改进</a:t>
            </a:r>
            <a:r>
              <a:rPr lang="zh-CN" altLang="en-US" sz="2400" kern="100" dirty="0">
                <a:latin typeface="Times New Roman" panose="02020603050405020304" pitchFamily="18" charset="0"/>
                <a:cs typeface="Times New Roman" panose="02020603050405020304" pitchFamily="18" charset="0"/>
              </a:rPr>
              <a:t>，即</a:t>
            </a:r>
            <a:r>
              <a:rPr lang="en-US" altLang="zh-CN" sz="2400" kern="100" dirty="0">
                <a:latin typeface="Times New Roman" panose="02020603050405020304" pitchFamily="18" charset="0"/>
                <a:cs typeface="Times New Roman" panose="02020603050405020304" pitchFamily="18" charset="0"/>
              </a:rPr>
              <a:t>Shi-</a:t>
            </a:r>
            <a:r>
              <a:rPr lang="en-US" altLang="zh-CN" sz="2400" kern="100" dirty="0" err="1">
                <a:latin typeface="Times New Roman" panose="02020603050405020304" pitchFamily="18" charset="0"/>
                <a:cs typeface="Times New Roman" panose="02020603050405020304" pitchFamily="18" charset="0"/>
              </a:rPr>
              <a:t>Tomasi</a:t>
            </a:r>
            <a:r>
              <a:rPr lang="zh-CN" altLang="en-US" sz="2400" kern="100" dirty="0">
                <a:latin typeface="Times New Roman" panose="02020603050405020304" pitchFamily="18" charset="0"/>
                <a:cs typeface="Times New Roman" panose="02020603050405020304" pitchFamily="18" charset="0"/>
              </a:rPr>
              <a:t>算法将角点响应函数改进为公式</a:t>
            </a:r>
            <a:r>
              <a:rPr lang="en-US" altLang="zh-CN" sz="2400" kern="100" dirty="0">
                <a:latin typeface="Times New Roman" panose="02020603050405020304" pitchFamily="18" charset="0"/>
                <a:cs typeface="Times New Roman" panose="02020603050405020304" pitchFamily="18" charset="0"/>
              </a:rPr>
              <a:t>(9-10)</a:t>
            </a:r>
            <a:r>
              <a:rPr lang="zh-CN" altLang="en-US" sz="2400" kern="1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10" name="TextBox 43"/>
          <p:cNvSpPr txBox="1">
            <a:spLocks noChangeArrowheads="1"/>
          </p:cNvSpPr>
          <p:nvPr/>
        </p:nvSpPr>
        <p:spPr bwMode="auto">
          <a:xfrm>
            <a:off x="540579" y="1142092"/>
            <a:ext cx="41762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9.3.3  Shi-</a:t>
            </a:r>
            <a:r>
              <a:rPr lang="en-US" altLang="zh-CN" sz="2400" b="1" dirty="0" err="1">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Tomasi</a:t>
            </a:r>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角点检测</a:t>
            </a:r>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7" name="图片 16"/>
          <p:cNvPicPr>
            <a:picLocks noChangeAspect="1"/>
          </p:cNvPicPr>
          <p:nvPr/>
        </p:nvPicPr>
        <p:blipFill>
          <a:blip r:embed="rId1"/>
          <a:stretch>
            <a:fillRect/>
          </a:stretch>
        </p:blipFill>
        <p:spPr>
          <a:xfrm>
            <a:off x="-1835918" y="2421682"/>
            <a:ext cx="12427348" cy="469159"/>
          </a:xfrm>
          <a:prstGeom prst="rect">
            <a:avLst/>
          </a:prstGeom>
        </p:spPr>
      </p:pic>
      <p:sp>
        <p:nvSpPr>
          <p:cNvPr id="29" name="文本框 28"/>
          <p:cNvSpPr txBox="1"/>
          <p:nvPr/>
        </p:nvSpPr>
        <p:spPr>
          <a:xfrm>
            <a:off x="6863435" y="2421682"/>
            <a:ext cx="1093735" cy="461665"/>
          </a:xfrm>
          <a:prstGeom prst="rect">
            <a:avLst/>
          </a:prstGeom>
          <a:noFill/>
        </p:spPr>
        <p:txBody>
          <a:bodyPr wrap="square">
            <a:spAutoFit/>
          </a:bodyPr>
          <a:lstStyle/>
          <a:p>
            <a:r>
              <a:rPr lang="en-US" altLang="zh-CN" sz="2400" dirty="0">
                <a:effectLst/>
                <a:latin typeface="宋体" pitchFamily="2" charset="-122"/>
                <a:cs typeface="宋体" pitchFamily="2" charset="-122"/>
              </a:rPr>
              <a:t>(</a:t>
            </a:r>
            <a:r>
              <a:rPr lang="en-US" altLang="zh-CN" sz="2400" dirty="0">
                <a:effectLst/>
                <a:latin typeface="Times New Roman" panose="02020603050405020304" pitchFamily="18" charset="0"/>
                <a:ea typeface="宋体" pitchFamily="2" charset="-122"/>
              </a:rPr>
              <a:t>9-10</a:t>
            </a:r>
            <a:r>
              <a:rPr lang="en-US" altLang="zh-CN" sz="2400" dirty="0">
                <a:effectLst/>
                <a:latin typeface="宋体" pitchFamily="2" charset="-122"/>
                <a:cs typeface="宋体" pitchFamily="2" charset="-122"/>
              </a:rPr>
              <a:t>)</a:t>
            </a:r>
            <a:endParaRPr lang="zh-CN" altLang="en-US" sz="2400" dirty="0"/>
          </a:p>
        </p:txBody>
      </p:sp>
      <p:sp>
        <p:nvSpPr>
          <p:cNvPr id="31" name="文本框 30"/>
          <p:cNvSpPr txBox="1"/>
          <p:nvPr/>
        </p:nvSpPr>
        <p:spPr>
          <a:xfrm>
            <a:off x="396330" y="2925738"/>
            <a:ext cx="8292123" cy="1569660"/>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zh-CN" sz="2400" kern="100" dirty="0">
                <a:effectLst/>
                <a:latin typeface="Times New Roman" panose="02020603050405020304" pitchFamily="18" charset="0"/>
                <a:ea typeface="宋体" pitchFamily="2" charset="-122"/>
                <a:cs typeface="Times New Roman" panose="02020603050405020304" pitchFamily="18" charset="0"/>
              </a:rPr>
              <a:t>当该点的</a:t>
            </a:r>
            <a:r>
              <a:rPr lang="en-US" altLang="zh-CN" sz="2400" kern="100" dirty="0">
                <a:effectLst/>
                <a:latin typeface="Times New Roman" panose="02020603050405020304" pitchFamily="18" charset="0"/>
                <a:ea typeface="宋体" pitchFamily="2" charset="-122"/>
              </a:rPr>
              <a:t>R</a:t>
            </a:r>
            <a:r>
              <a:rPr lang="zh-CN" altLang="zh-CN" sz="2400" kern="100" dirty="0">
                <a:effectLst/>
                <a:latin typeface="Times New Roman" panose="02020603050405020304" pitchFamily="18" charset="0"/>
                <a:ea typeface="宋体" pitchFamily="2" charset="-122"/>
                <a:cs typeface="Times New Roman" panose="02020603050405020304" pitchFamily="18" charset="0"/>
              </a:rPr>
              <a:t>值大于阈值</a:t>
            </a:r>
            <a:r>
              <a:rPr lang="en-US" altLang="zh-CN" sz="2400" kern="100" dirty="0">
                <a:effectLst/>
                <a:latin typeface="Times New Roman" panose="02020603050405020304" pitchFamily="18" charset="0"/>
                <a:ea typeface="宋体" pitchFamily="2" charset="-122"/>
              </a:rPr>
              <a:t>T</a:t>
            </a:r>
            <a:r>
              <a:rPr lang="zh-CN" altLang="zh-CN" sz="2400" kern="100" dirty="0">
                <a:effectLst/>
                <a:latin typeface="Times New Roman" panose="02020603050405020304" pitchFamily="18" charset="0"/>
                <a:ea typeface="宋体" pitchFamily="2" charset="-122"/>
                <a:cs typeface="Times New Roman" panose="02020603050405020304" pitchFamily="18" charset="0"/>
              </a:rPr>
              <a:t>时，则会保留该点，将保留下来的角点，根据</a:t>
            </a:r>
            <a:r>
              <a:rPr lang="en-US" altLang="zh-CN" sz="2400" kern="100" dirty="0">
                <a:effectLst/>
                <a:latin typeface="Times New Roman" panose="02020603050405020304" pitchFamily="18" charset="0"/>
                <a:ea typeface="宋体" pitchFamily="2" charset="-122"/>
              </a:rPr>
              <a:t>R</a:t>
            </a:r>
            <a:r>
              <a:rPr lang="zh-CN" altLang="zh-CN" sz="2400" kern="100" dirty="0">
                <a:effectLst/>
                <a:latin typeface="Times New Roman" panose="02020603050405020304" pitchFamily="18" charset="0"/>
                <a:ea typeface="宋体" pitchFamily="2" charset="-122"/>
                <a:cs typeface="Times New Roman" panose="02020603050405020304" pitchFamily="18" charset="0"/>
              </a:rPr>
              <a:t>值进行降序排列，取</a:t>
            </a:r>
            <a:r>
              <a:rPr lang="en-US" altLang="zh-CN" sz="2400" kern="100" dirty="0">
                <a:effectLst/>
                <a:latin typeface="Times New Roman" panose="02020603050405020304" pitchFamily="18" charset="0"/>
                <a:ea typeface="宋体" pitchFamily="2" charset="-122"/>
              </a:rPr>
              <a:t>R</a:t>
            </a:r>
            <a:r>
              <a:rPr lang="zh-CN" altLang="zh-CN" sz="2400" kern="100" dirty="0">
                <a:effectLst/>
                <a:latin typeface="Times New Roman" panose="02020603050405020304" pitchFamily="18" charset="0"/>
                <a:ea typeface="宋体" pitchFamily="2" charset="-122"/>
                <a:cs typeface="Times New Roman" panose="02020603050405020304" pitchFamily="18" charset="0"/>
              </a:rPr>
              <a:t>值最大的角点，将其最小欧式距离之内的角点都舍弃。按照这个方式返回</a:t>
            </a:r>
            <a:r>
              <a:rPr lang="en-US" altLang="zh-CN" sz="2400" kern="100" dirty="0">
                <a:effectLst/>
                <a:latin typeface="Times New Roman" panose="02020603050405020304" pitchFamily="18" charset="0"/>
                <a:ea typeface="宋体" pitchFamily="2" charset="-122"/>
              </a:rPr>
              <a:t>N</a:t>
            </a:r>
            <a:r>
              <a:rPr lang="zh-CN" altLang="zh-CN" sz="2400" kern="100" dirty="0">
                <a:effectLst/>
                <a:latin typeface="Times New Roman" panose="02020603050405020304" pitchFamily="18" charset="0"/>
                <a:ea typeface="宋体" pitchFamily="2" charset="-122"/>
                <a:cs typeface="Times New Roman" panose="02020603050405020304" pitchFamily="18" charset="0"/>
              </a:rPr>
              <a:t>个</a:t>
            </a:r>
            <a:r>
              <a:rPr lang="en-US" altLang="zh-CN"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cs typeface="Times New Roman" panose="02020603050405020304" pitchFamily="18" charset="0"/>
              </a:rPr>
              <a:t>自己设定的参数</a:t>
            </a:r>
            <a:r>
              <a:rPr lang="en-US" altLang="zh-CN"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cs typeface="Times New Roman" panose="02020603050405020304" pitchFamily="18" charset="0"/>
              </a:rPr>
              <a:t>最佳角点</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endParaRPr lang="zh-CN" altLang="en-US" dirty="0"/>
          </a:p>
        </p:txBody>
      </p:sp>
    </p:spTree>
  </p:cSld>
  <p:clrMapOvr>
    <a:masterClrMapping/>
  </p:clrMapOvr>
  <p:transition spd="slow" advClick="0" advTm="0">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482189" y="1125538"/>
            <a:ext cx="8554843" cy="520848"/>
          </a:xfrm>
          <a:prstGeom prst="rect">
            <a:avLst/>
          </a:prstGeom>
          <a:noFill/>
        </p:spPr>
        <p:txBody>
          <a:bodyPr wrap="square">
            <a:spAutoFit/>
          </a:bodyPr>
          <a:lstStyle/>
          <a:p>
            <a:pPr marL="342900" indent="-342900">
              <a:lnSpc>
                <a:spcPct val="130000"/>
              </a:lnSpc>
              <a:spcBef>
                <a:spcPts val="2400"/>
              </a:spcBef>
              <a:buFont typeface="Wingdings" panose="05000000000000000000" pitchFamily="2" charset="2"/>
              <a:buChar char="Ø"/>
              <a:defRPr/>
            </a:pP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Python+Opencv</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实现</a:t>
            </a:r>
            <a: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Shi-</a:t>
            </a:r>
            <a:r>
              <a:rPr lang="en-US" altLang="zh-CN" sz="24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Tomasi</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角点检测</a:t>
            </a:r>
            <a:endPar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文本框 19"/>
          <p:cNvSpPr txBox="1"/>
          <p:nvPr/>
        </p:nvSpPr>
        <p:spPr>
          <a:xfrm>
            <a:off x="445687" y="1557586"/>
            <a:ext cx="8375334" cy="830997"/>
          </a:xfrm>
          <a:prstGeom prst="rect">
            <a:avLst/>
          </a:prstGeom>
          <a:noFill/>
        </p:spPr>
        <p:txBody>
          <a:bodyPr wrap="square">
            <a:spAutoFit/>
          </a:bodyPr>
          <a:lstStyle/>
          <a:p>
            <a:r>
              <a:rPr lang="zh-CN" altLang="en-US" sz="2400" kern="100" dirty="0">
                <a:cs typeface="Times New Roman" panose="02020603050405020304" pitchFamily="18" charset="0"/>
              </a:rPr>
              <a:t>      </a:t>
            </a:r>
            <a:r>
              <a:rPr lang="en-US" altLang="zh-CN" sz="2400" kern="100" dirty="0" err="1">
                <a:latin typeface="Times New Roman" panose="02020603050405020304" pitchFamily="18" charset="0"/>
                <a:cs typeface="Times New Roman" panose="02020603050405020304" pitchFamily="18" charset="0"/>
              </a:rPr>
              <a:t>Opencv</a:t>
            </a:r>
            <a:r>
              <a:rPr lang="zh-CN" altLang="en-US" sz="2400" kern="100" dirty="0">
                <a:latin typeface="Times New Roman" panose="02020603050405020304" pitchFamily="18" charset="0"/>
                <a:cs typeface="Times New Roman" panose="02020603050405020304" pitchFamily="18" charset="0"/>
              </a:rPr>
              <a:t>提供了</a:t>
            </a:r>
            <a:r>
              <a:rPr lang="en-US" altLang="zh-CN" sz="2400" kern="100" dirty="0">
                <a:latin typeface="Times New Roman" panose="02020603050405020304" pitchFamily="18" charset="0"/>
                <a:cs typeface="Times New Roman" panose="02020603050405020304" pitchFamily="18" charset="0"/>
              </a:rPr>
              <a:t>cv2. </a:t>
            </a:r>
            <a:r>
              <a:rPr lang="en-US" altLang="zh-CN" sz="2400" kern="100" dirty="0" err="1">
                <a:latin typeface="Times New Roman" panose="02020603050405020304" pitchFamily="18" charset="0"/>
                <a:cs typeface="Times New Roman" panose="02020603050405020304" pitchFamily="18" charset="0"/>
              </a:rPr>
              <a:t>goodFeaturesToTrack</a:t>
            </a:r>
            <a:r>
              <a:rPr lang="en-US" altLang="zh-CN" sz="2400" kern="100" dirty="0">
                <a:latin typeface="Times New Roman" panose="02020603050405020304" pitchFamily="18" charset="0"/>
                <a:cs typeface="Times New Roman" panose="02020603050405020304" pitchFamily="18" charset="0"/>
              </a:rPr>
              <a:t>()</a:t>
            </a:r>
            <a:r>
              <a:rPr lang="zh-CN" altLang="en-US" sz="2400" kern="100" dirty="0">
                <a:latin typeface="Times New Roman" panose="02020603050405020304" pitchFamily="18" charset="0"/>
                <a:cs typeface="Times New Roman" panose="02020603050405020304" pitchFamily="18" charset="0"/>
              </a:rPr>
              <a:t>函数实现</a:t>
            </a:r>
            <a:r>
              <a:rPr lang="en-US" altLang="zh-CN" sz="2400" kern="100" dirty="0">
                <a:latin typeface="Times New Roman" panose="02020603050405020304" pitchFamily="18" charset="0"/>
                <a:cs typeface="Times New Roman" panose="02020603050405020304" pitchFamily="18" charset="0"/>
              </a:rPr>
              <a:t>Shi-</a:t>
            </a:r>
            <a:r>
              <a:rPr lang="en-US" altLang="zh-CN" sz="2400" kern="100" dirty="0" err="1">
                <a:latin typeface="Times New Roman" panose="02020603050405020304" pitchFamily="18" charset="0"/>
                <a:cs typeface="Times New Roman" panose="02020603050405020304" pitchFamily="18" charset="0"/>
              </a:rPr>
              <a:t>Tomasi</a:t>
            </a:r>
            <a:r>
              <a:rPr lang="zh-CN" altLang="en-US" sz="2400" kern="100" dirty="0">
                <a:latin typeface="Times New Roman" panose="02020603050405020304" pitchFamily="18" charset="0"/>
                <a:cs typeface="Times New Roman" panose="02020603050405020304" pitchFamily="18" charset="0"/>
              </a:rPr>
              <a:t>角点检测，该函数调用语法为：</a:t>
            </a:r>
            <a:endParaRPr lang="zh-CN" altLang="en-US" sz="2400" dirty="0">
              <a:latin typeface="Times New Roman" panose="02020603050405020304" pitchFamily="18" charset="0"/>
              <a:cs typeface="Times New Roman" panose="02020603050405020304" pitchFamily="18" charset="0"/>
            </a:endParaRPr>
          </a:p>
        </p:txBody>
      </p:sp>
      <p:sp>
        <p:nvSpPr>
          <p:cNvPr id="9" name="文本框 8"/>
          <p:cNvSpPr txBox="1"/>
          <p:nvPr/>
        </p:nvSpPr>
        <p:spPr>
          <a:xfrm>
            <a:off x="540346" y="2421682"/>
            <a:ext cx="7992888" cy="646331"/>
          </a:xfrm>
          <a:prstGeom prst="rect">
            <a:avLst/>
          </a:prstGeom>
          <a:solidFill>
            <a:srgbClr val="C7C7C7"/>
          </a:solidFill>
        </p:spPr>
        <p:txBody>
          <a:bodyPr wrap="square">
            <a:spAutoFit/>
          </a:bodyPr>
          <a:lstStyle/>
          <a:p>
            <a:pPr marL="323850" indent="-285750" algn="just">
              <a:buFont typeface="Wingdings" panose="05000000000000000000" pitchFamily="2" charset="2"/>
              <a:buChar char="l"/>
            </a:pPr>
            <a:r>
              <a:rPr lang="en-US" altLang="zh-CN" sz="1800" kern="100" dirty="0" err="1">
                <a:effectLst/>
                <a:latin typeface="Times New Roman" panose="02020603050405020304" pitchFamily="18" charset="0"/>
                <a:ea typeface="宋体" pitchFamily="2" charset="-122"/>
                <a:cs typeface="Times New Roman" panose="02020603050405020304" pitchFamily="18" charset="0"/>
              </a:rPr>
              <a:t>dst</a:t>
            </a:r>
            <a:r>
              <a:rPr lang="en-US" altLang="zh-CN" sz="1800" kern="100" dirty="0">
                <a:effectLst/>
                <a:latin typeface="Times New Roman" panose="02020603050405020304" pitchFamily="18" charset="0"/>
                <a:ea typeface="宋体" pitchFamily="2" charset="-122"/>
                <a:cs typeface="Times New Roman" panose="02020603050405020304" pitchFamily="18" charset="0"/>
              </a:rPr>
              <a:t>=cv2.goodFeaturesToTrack(image,</a:t>
            </a:r>
            <a:r>
              <a:rPr lang="zh-CN" altLang="en-US" sz="1800" kern="100" dirty="0">
                <a:effectLst/>
                <a:latin typeface="Times New Roman" panose="02020603050405020304" pitchFamily="18" charset="0"/>
                <a:ea typeface="宋体"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itchFamily="2" charset="-122"/>
                <a:cs typeface="Times New Roman" panose="02020603050405020304" pitchFamily="18" charset="0"/>
              </a:rPr>
              <a:t>maxCorners</a:t>
            </a:r>
            <a:r>
              <a:rPr lang="en-US" altLang="zh-CN" sz="1800" kern="100" dirty="0">
                <a:effectLst/>
                <a:latin typeface="Times New Roman" panose="02020603050405020304" pitchFamily="18" charset="0"/>
                <a:ea typeface="宋体" pitchFamily="2" charset="-122"/>
                <a:cs typeface="Times New Roman" panose="02020603050405020304" pitchFamily="18" charset="0"/>
              </a:rPr>
              <a:t>,</a:t>
            </a:r>
            <a:r>
              <a:rPr lang="zh-CN" altLang="en-US" sz="1800" kern="100" dirty="0">
                <a:effectLst/>
                <a:latin typeface="Times New Roman" panose="02020603050405020304" pitchFamily="18" charset="0"/>
                <a:ea typeface="宋体"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itchFamily="2" charset="-122"/>
                <a:cs typeface="Times New Roman" panose="02020603050405020304" pitchFamily="18" charset="0"/>
              </a:rPr>
              <a:t>qualityLevel</a:t>
            </a:r>
            <a:r>
              <a:rPr lang="en-US" altLang="zh-CN" sz="1800" kern="100" dirty="0">
                <a:effectLst/>
                <a:latin typeface="Times New Roman" panose="02020603050405020304" pitchFamily="18" charset="0"/>
                <a:ea typeface="宋体" pitchFamily="2" charset="-122"/>
                <a:cs typeface="Times New Roman" panose="02020603050405020304" pitchFamily="18" charset="0"/>
              </a:rPr>
              <a:t>,</a:t>
            </a:r>
            <a:r>
              <a:rPr lang="zh-CN" altLang="en-US" sz="1800" kern="100" dirty="0">
                <a:effectLst/>
                <a:latin typeface="Times New Roman" panose="02020603050405020304" pitchFamily="18" charset="0"/>
                <a:ea typeface="宋体"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itchFamily="2" charset="-122"/>
                <a:cs typeface="Times New Roman" panose="02020603050405020304" pitchFamily="18" charset="0"/>
              </a:rPr>
              <a:t>minDistance</a:t>
            </a:r>
            <a:r>
              <a:rPr lang="en-US" altLang="zh-CN" sz="1800" kern="100" dirty="0">
                <a:effectLst/>
                <a:latin typeface="Times New Roman" panose="02020603050405020304" pitchFamily="18" charset="0"/>
                <a:ea typeface="宋体" pitchFamily="2" charset="-122"/>
                <a:cs typeface="Times New Roman" panose="02020603050405020304" pitchFamily="18" charset="0"/>
              </a:rPr>
              <a:t>,</a:t>
            </a:r>
            <a:r>
              <a:rPr lang="zh-CN" altLang="en-US" sz="1800" kern="100" dirty="0">
                <a:effectLst/>
                <a:latin typeface="Times New Roman" panose="02020603050405020304" pitchFamily="18" charset="0"/>
                <a:ea typeface="宋体" pitchFamily="2" charset="-122"/>
                <a:cs typeface="Times New Roman" panose="02020603050405020304" pitchFamily="18" charset="0"/>
              </a:rPr>
              <a:t> </a:t>
            </a:r>
            <a:r>
              <a:rPr lang="en-US" altLang="zh-CN" sz="1800" kern="100" dirty="0">
                <a:effectLst/>
                <a:latin typeface="Times New Roman" panose="02020603050405020304" pitchFamily="18" charset="0"/>
                <a:ea typeface="宋体" pitchFamily="2" charset="-122"/>
                <a:cs typeface="Times New Roman" panose="02020603050405020304" pitchFamily="18" charset="0"/>
              </a:rPr>
              <a:t>corners,</a:t>
            </a:r>
            <a:r>
              <a:rPr lang="zh-CN" altLang="en-US" sz="1800" kern="100" dirty="0">
                <a:effectLst/>
                <a:latin typeface="Times New Roman" panose="02020603050405020304" pitchFamily="18" charset="0"/>
                <a:ea typeface="宋体" pitchFamily="2" charset="-122"/>
                <a:cs typeface="Times New Roman" panose="02020603050405020304" pitchFamily="18" charset="0"/>
              </a:rPr>
              <a:t> </a:t>
            </a:r>
            <a:r>
              <a:rPr lang="en-US" altLang="zh-CN" sz="1800" kern="100" dirty="0">
                <a:effectLst/>
                <a:latin typeface="Times New Roman" panose="02020603050405020304" pitchFamily="18" charset="0"/>
                <a:ea typeface="宋体" pitchFamily="2" charset="-122"/>
                <a:cs typeface="Times New Roman" panose="02020603050405020304" pitchFamily="18" charset="0"/>
              </a:rPr>
              <a:t>mask,</a:t>
            </a:r>
            <a:r>
              <a:rPr lang="zh-CN" altLang="en-US" sz="1800" kern="100" dirty="0">
                <a:effectLst/>
                <a:latin typeface="Times New Roman" panose="02020603050405020304" pitchFamily="18" charset="0"/>
                <a:ea typeface="宋体"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itchFamily="2" charset="-122"/>
                <a:cs typeface="Times New Roman" panose="02020603050405020304" pitchFamily="18" charset="0"/>
              </a:rPr>
              <a:t>blockSize</a:t>
            </a:r>
            <a:r>
              <a:rPr lang="en-US" altLang="zh-CN" sz="1800" kern="100" dirty="0">
                <a:effectLst/>
                <a:latin typeface="Times New Roman" panose="02020603050405020304" pitchFamily="18" charset="0"/>
                <a:ea typeface="宋体" pitchFamily="2" charset="-122"/>
                <a:cs typeface="Times New Roman" panose="02020603050405020304" pitchFamily="18" charset="0"/>
              </a:rPr>
              <a:t>,</a:t>
            </a:r>
            <a:r>
              <a:rPr lang="zh-CN" altLang="en-US" sz="1800" kern="100" dirty="0">
                <a:effectLst/>
                <a:latin typeface="Times New Roman" panose="02020603050405020304" pitchFamily="18" charset="0"/>
                <a:ea typeface="宋体"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itchFamily="2" charset="-122"/>
                <a:cs typeface="Times New Roman" panose="02020603050405020304" pitchFamily="18" charset="0"/>
              </a:rPr>
              <a:t>useHarrisDetector</a:t>
            </a:r>
            <a:r>
              <a:rPr lang="en-US" altLang="zh-CN" sz="1800" kern="100" dirty="0">
                <a:effectLst/>
                <a:latin typeface="Times New Roman" panose="02020603050405020304" pitchFamily="18" charset="0"/>
                <a:ea typeface="宋体" pitchFamily="2" charset="-122"/>
                <a:cs typeface="Times New Roman" panose="02020603050405020304" pitchFamily="18" charset="0"/>
              </a:rPr>
              <a:t>,</a:t>
            </a:r>
            <a:r>
              <a:rPr lang="zh-CN" altLang="en-US" sz="1800" kern="100" dirty="0">
                <a:effectLst/>
                <a:latin typeface="Times New Roman" panose="02020603050405020304" pitchFamily="18" charset="0"/>
                <a:ea typeface="宋体" pitchFamily="2" charset="-122"/>
                <a:cs typeface="Times New Roman" panose="02020603050405020304" pitchFamily="18" charset="0"/>
              </a:rPr>
              <a:t> </a:t>
            </a:r>
            <a:r>
              <a:rPr lang="en-US" altLang="zh-CN" sz="1800" kern="100" dirty="0">
                <a:effectLst/>
                <a:latin typeface="Times New Roman" panose="02020603050405020304" pitchFamily="18" charset="0"/>
                <a:ea typeface="宋体" pitchFamily="2" charset="-122"/>
                <a:cs typeface="Times New Roman" panose="02020603050405020304" pitchFamily="18" charset="0"/>
              </a:rPr>
              <a:t>k)</a:t>
            </a:r>
            <a:endParaRPr lang="en-US" altLang="zh-CN" sz="1800" kern="100" dirty="0">
              <a:effectLst/>
              <a:latin typeface="Times New Roman" panose="02020603050405020304" pitchFamily="18" charset="0"/>
              <a:ea typeface="宋体" pitchFamily="2" charset="-122"/>
              <a:cs typeface="Times New Roman" panose="02020603050405020304" pitchFamily="18" charset="0"/>
            </a:endParaRPr>
          </a:p>
        </p:txBody>
      </p:sp>
      <p:sp>
        <p:nvSpPr>
          <p:cNvPr id="14" name="文本框 13"/>
          <p:cNvSpPr txBox="1"/>
          <p:nvPr/>
        </p:nvSpPr>
        <p:spPr>
          <a:xfrm>
            <a:off x="540346" y="3068013"/>
            <a:ext cx="7992888" cy="3693319"/>
          </a:xfrm>
          <a:prstGeom prst="rect">
            <a:avLst/>
          </a:prstGeom>
          <a:solidFill>
            <a:srgbClr val="C7C7C7"/>
          </a:solidFill>
        </p:spPr>
        <p:txBody>
          <a:bodyPr wrap="square">
            <a:spAutoFit/>
          </a:bodyPr>
          <a:lstStyle/>
          <a:p>
            <a:pPr indent="266700" algn="just"/>
            <a:r>
              <a:rPr lang="en-US" altLang="zh-CN" sz="1800" kern="100" dirty="0">
                <a:solidFill>
                  <a:srgbClr val="000000"/>
                </a:solidFill>
                <a:latin typeface="Times New Roman" panose="02020603050405020304" pitchFamily="18" charset="0"/>
                <a:ea typeface="宋体" pitchFamily="2" charset="-122"/>
                <a:cs typeface="Times New Roman" panose="02020603050405020304" pitchFamily="18" charset="0"/>
              </a:rPr>
              <a:t> </a:t>
            </a:r>
            <a:r>
              <a:rPr lang="zh-CN" altLang="en-US" sz="1800" kern="100" dirty="0">
                <a:solidFill>
                  <a:srgbClr val="000000"/>
                </a:solidFill>
                <a:latin typeface="Times New Roman" panose="02020603050405020304" pitchFamily="18" charset="0"/>
                <a:ea typeface="宋体" pitchFamily="2" charset="-122"/>
                <a:cs typeface="Times New Roman" panose="02020603050405020304" pitchFamily="18" charset="0"/>
              </a:rPr>
              <a:t>参数说明：</a:t>
            </a:r>
            <a:endParaRPr lang="zh-CN" altLang="zh-CN" sz="1800" kern="100" dirty="0">
              <a:solidFill>
                <a:srgbClr val="000000"/>
              </a:solidFill>
              <a:latin typeface="Times New Roman" panose="02020603050405020304" pitchFamily="18" charset="0"/>
              <a:ea typeface="宋体" pitchFamily="2" charset="-122"/>
              <a:cs typeface="Times New Roman" panose="02020603050405020304" pitchFamily="18" charset="0"/>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cs typeface="Times New Roman" panose="02020603050405020304" pitchFamily="18" charset="0"/>
              </a:rPr>
              <a:t>dst</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：表示输出</a:t>
            </a:r>
            <a:r>
              <a:rPr lang="en-US" altLang="zh-CN" sz="1800" kern="100" dirty="0">
                <a:effectLst/>
                <a:latin typeface="Times New Roman" panose="02020603050405020304" pitchFamily="18" charset="0"/>
                <a:ea typeface="宋体" pitchFamily="2" charset="-122"/>
                <a:cs typeface="Times New Roman" panose="02020603050405020304" pitchFamily="18" charset="0"/>
              </a:rPr>
              <a:t>Shi-</a:t>
            </a:r>
            <a:r>
              <a:rPr lang="en-US" altLang="zh-CN" sz="1800" kern="100" dirty="0" err="1">
                <a:effectLst/>
                <a:latin typeface="Times New Roman" panose="02020603050405020304" pitchFamily="18" charset="0"/>
                <a:ea typeface="宋体" pitchFamily="2" charset="-122"/>
                <a:cs typeface="Times New Roman" panose="02020603050405020304" pitchFamily="18" charset="0"/>
              </a:rPr>
              <a:t>Tomasi</a:t>
            </a:r>
            <a:r>
              <a:rPr lang="zh-CN" altLang="zh-CN" sz="1800" kern="100" dirty="0">
                <a:effectLst/>
                <a:latin typeface="Times New Roman" panose="02020603050405020304" pitchFamily="18" charset="0"/>
                <a:ea typeface="宋体" pitchFamily="2" charset="-122"/>
                <a:cs typeface="Times New Roman" panose="02020603050405020304" pitchFamily="18" charset="0"/>
              </a:rPr>
              <a:t>角点检测结果。</a:t>
            </a:r>
            <a:endParaRPr lang="zh-CN" altLang="zh-CN" sz="1800" kern="100" dirty="0">
              <a:effectLst/>
              <a:latin typeface="Times New Roman" panose="02020603050405020304" pitchFamily="18" charset="0"/>
              <a:ea typeface="宋体" pitchFamily="2" charset="-122"/>
              <a:cs typeface="Times New Roman" panose="02020603050405020304" pitchFamily="18" charset="0"/>
            </a:endParaRP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cs typeface="Times New Roman" panose="02020603050405020304" pitchFamily="18" charset="0"/>
              </a:rPr>
              <a:t>image</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：表示输入图像。该图像一般是灰度图像。</a:t>
            </a:r>
            <a:endParaRPr lang="zh-CN" altLang="zh-CN" sz="1800" kern="100" dirty="0">
              <a:effectLst/>
              <a:latin typeface="Times New Roman" panose="02020603050405020304" pitchFamily="18" charset="0"/>
              <a:ea typeface="宋体" pitchFamily="2" charset="-122"/>
              <a:cs typeface="Times New Roman" panose="02020603050405020304" pitchFamily="18" charset="0"/>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cs typeface="Times New Roman" panose="02020603050405020304" pitchFamily="18" charset="0"/>
              </a:rPr>
              <a:t>maxCorners</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：表示想要检测的角点数目。</a:t>
            </a:r>
            <a:endParaRPr lang="zh-CN" altLang="zh-CN" sz="1800" kern="100" dirty="0">
              <a:effectLst/>
              <a:latin typeface="Times New Roman" panose="02020603050405020304" pitchFamily="18" charset="0"/>
              <a:ea typeface="宋体" pitchFamily="2" charset="-122"/>
              <a:cs typeface="Times New Roman" panose="02020603050405020304" pitchFamily="18" charset="0"/>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cs typeface="Times New Roman" panose="02020603050405020304" pitchFamily="18" charset="0"/>
              </a:rPr>
              <a:t>qualtyLevel</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：表示角点的质量水平。该参数取值范围为</a:t>
            </a:r>
            <a:r>
              <a:rPr lang="en-US" altLang="zh-CN" sz="1800" kern="100" dirty="0">
                <a:effectLst/>
                <a:latin typeface="Times New Roman" panose="02020603050405020304" pitchFamily="18" charset="0"/>
                <a:ea typeface="宋体" pitchFamily="2" charset="-122"/>
                <a:cs typeface="Times New Roman" panose="02020603050405020304" pitchFamily="18" charset="0"/>
              </a:rPr>
              <a:t>0~1</a:t>
            </a:r>
            <a:r>
              <a:rPr lang="zh-CN" altLang="zh-CN" sz="1800" kern="100" dirty="0">
                <a:effectLst/>
                <a:latin typeface="Times New Roman" panose="02020603050405020304" pitchFamily="18" charset="0"/>
                <a:ea typeface="宋体" pitchFamily="2" charset="-122"/>
                <a:cs typeface="Times New Roman" panose="02020603050405020304" pitchFamily="18" charset="0"/>
              </a:rPr>
              <a:t>。</a:t>
            </a:r>
            <a:r>
              <a:rPr lang="zh-CN" altLang="en-US" sz="1800" kern="100" dirty="0">
                <a:latin typeface="Times New Roman" panose="02020603050405020304" pitchFamily="18" charset="0"/>
                <a:ea typeface="宋体" pitchFamily="2" charset="-122"/>
                <a:cs typeface="Times New Roman" panose="02020603050405020304" pitchFamily="18" charset="0"/>
              </a:rPr>
              <a:t>一般在</a:t>
            </a:r>
            <a:r>
              <a:rPr lang="en-US" altLang="zh-CN" sz="1800" kern="100" dirty="0">
                <a:latin typeface="Times New Roman" panose="02020603050405020304" pitchFamily="18" charset="0"/>
                <a:ea typeface="宋体" pitchFamily="2" charset="-122"/>
                <a:cs typeface="Times New Roman" panose="02020603050405020304" pitchFamily="18" charset="0"/>
              </a:rPr>
              <a:t>0.01-0.1</a:t>
            </a:r>
            <a:r>
              <a:rPr lang="zh-CN" altLang="en-US" sz="1800" kern="100" dirty="0">
                <a:latin typeface="Times New Roman" panose="02020603050405020304" pitchFamily="18" charset="0"/>
                <a:ea typeface="宋体" pitchFamily="2" charset="-122"/>
                <a:cs typeface="Times New Roman" panose="02020603050405020304" pitchFamily="18" charset="0"/>
              </a:rPr>
              <a:t>之间。</a:t>
            </a:r>
            <a:endParaRPr lang="zh-CN" altLang="zh-CN" sz="1800" kern="100" dirty="0">
              <a:effectLst/>
              <a:latin typeface="Times New Roman" panose="02020603050405020304" pitchFamily="18" charset="0"/>
              <a:ea typeface="宋体" pitchFamily="2" charset="-122"/>
              <a:cs typeface="Times New Roman" panose="02020603050405020304" pitchFamily="18" charset="0"/>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cs typeface="Times New Roman" panose="02020603050405020304" pitchFamily="18" charset="0"/>
              </a:rPr>
              <a:t>minDistance</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：表示两个角点之间的最小欧式距离。</a:t>
            </a:r>
            <a:r>
              <a:rPr lang="zh-CN" altLang="en-US" sz="1800" kern="100" dirty="0">
                <a:effectLst/>
                <a:latin typeface="Times New Roman" panose="02020603050405020304" pitchFamily="18" charset="0"/>
                <a:ea typeface="宋体" pitchFamily="2" charset="-122"/>
                <a:cs typeface="Times New Roman" panose="02020603050405020304" pitchFamily="18" charset="0"/>
              </a:rPr>
              <a:t>忽略小于此距离的点。</a:t>
            </a:r>
            <a:endParaRPr lang="zh-CN" altLang="zh-CN" sz="1800" kern="100" dirty="0">
              <a:effectLst/>
              <a:latin typeface="Times New Roman" panose="02020603050405020304" pitchFamily="18" charset="0"/>
              <a:ea typeface="宋体" pitchFamily="2" charset="-122"/>
              <a:cs typeface="Times New Roman" panose="02020603050405020304" pitchFamily="18" charset="0"/>
            </a:endParaRP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cs typeface="Times New Roman" panose="02020603050405020304" pitchFamily="18" charset="0"/>
              </a:rPr>
              <a:t>corners</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：表示角点位置向量。该参数保存的是角点的位置坐标。</a:t>
            </a:r>
            <a:endParaRPr lang="zh-CN" altLang="zh-CN" sz="1800" kern="100" dirty="0">
              <a:effectLst/>
              <a:latin typeface="Times New Roman" panose="02020603050405020304" pitchFamily="18" charset="0"/>
              <a:ea typeface="宋体" pitchFamily="2" charset="-122"/>
              <a:cs typeface="Times New Roman" panose="02020603050405020304" pitchFamily="18" charset="0"/>
            </a:endParaRP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cs typeface="Times New Roman" panose="02020603050405020304" pitchFamily="18" charset="0"/>
              </a:rPr>
              <a:t>mask</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：表示角点的检测区域。若该参数置为空，表示检测整幅图像。</a:t>
            </a:r>
            <a:endParaRPr lang="zh-CN" altLang="zh-CN" sz="1800" kern="100" dirty="0">
              <a:effectLst/>
              <a:latin typeface="Times New Roman" panose="02020603050405020304" pitchFamily="18" charset="0"/>
              <a:ea typeface="宋体" pitchFamily="2" charset="-122"/>
              <a:cs typeface="Times New Roman" panose="02020603050405020304" pitchFamily="18" charset="0"/>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cs typeface="Times New Roman" panose="02020603050405020304" pitchFamily="18" charset="0"/>
              </a:rPr>
              <a:t>blockSize</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：表示窗口大小。该参数用于角点检测时扫描原图像</a:t>
            </a:r>
            <a:r>
              <a:rPr lang="zh-CN" altLang="en-US" sz="1800" kern="100" dirty="0">
                <a:effectLst/>
                <a:latin typeface="Times New Roman" panose="02020603050405020304" pitchFamily="18" charset="0"/>
                <a:ea typeface="宋体"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itchFamily="2" charset="-122"/>
              <a:cs typeface="Times New Roman" panose="02020603050405020304" pitchFamily="18" charset="0"/>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cs typeface="Times New Roman" panose="02020603050405020304" pitchFamily="18" charset="0"/>
              </a:rPr>
              <a:t>useHarrisDetector</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：表示是否使用</a:t>
            </a:r>
            <a:r>
              <a:rPr lang="en-US" altLang="zh-CN" sz="1800" kern="100" dirty="0">
                <a:effectLst/>
                <a:latin typeface="Times New Roman" panose="02020603050405020304" pitchFamily="18" charset="0"/>
                <a:ea typeface="宋体" pitchFamily="2" charset="-122"/>
                <a:cs typeface="Times New Roman" panose="02020603050405020304" pitchFamily="18" charset="0"/>
              </a:rPr>
              <a:t>Harris</a:t>
            </a:r>
            <a:r>
              <a:rPr lang="zh-CN" altLang="zh-CN" sz="1800" kern="100" dirty="0">
                <a:effectLst/>
                <a:latin typeface="Times New Roman" panose="02020603050405020304" pitchFamily="18" charset="0"/>
                <a:ea typeface="宋体" pitchFamily="2" charset="-122"/>
                <a:cs typeface="Times New Roman" panose="02020603050405020304" pitchFamily="18" charset="0"/>
              </a:rPr>
              <a:t>角点检测算法。若该参数置为</a:t>
            </a:r>
            <a:r>
              <a:rPr lang="en-US" altLang="zh-CN" sz="1800" kern="100" dirty="0">
                <a:effectLst/>
                <a:latin typeface="Times New Roman" panose="02020603050405020304" pitchFamily="18" charset="0"/>
                <a:ea typeface="宋体" pitchFamily="2" charset="-122"/>
                <a:cs typeface="Times New Roman" panose="02020603050405020304" pitchFamily="18" charset="0"/>
              </a:rPr>
              <a:t>True</a:t>
            </a:r>
            <a:r>
              <a:rPr lang="zh-CN" altLang="zh-CN" sz="1800" kern="100" dirty="0">
                <a:effectLst/>
                <a:latin typeface="Times New Roman" panose="02020603050405020304" pitchFamily="18" charset="0"/>
                <a:ea typeface="宋体" pitchFamily="2" charset="-122"/>
                <a:cs typeface="Times New Roman" panose="02020603050405020304" pitchFamily="18" charset="0"/>
              </a:rPr>
              <a:t>，使用</a:t>
            </a:r>
            <a:r>
              <a:rPr lang="en-US" altLang="zh-CN" sz="1800" kern="100" dirty="0">
                <a:effectLst/>
                <a:latin typeface="Times New Roman" panose="02020603050405020304" pitchFamily="18" charset="0"/>
                <a:ea typeface="宋体" pitchFamily="2" charset="-122"/>
                <a:cs typeface="Times New Roman" panose="02020603050405020304" pitchFamily="18" charset="0"/>
              </a:rPr>
              <a:t>Harris</a:t>
            </a:r>
            <a:r>
              <a:rPr lang="zh-CN" altLang="zh-CN" sz="1800" kern="100" dirty="0">
                <a:effectLst/>
                <a:latin typeface="Times New Roman" panose="02020603050405020304" pitchFamily="18" charset="0"/>
                <a:ea typeface="宋体" pitchFamily="2" charset="-122"/>
                <a:cs typeface="Times New Roman" panose="02020603050405020304" pitchFamily="18" charset="0"/>
              </a:rPr>
              <a:t>角点检测算法，若置为</a:t>
            </a:r>
            <a:r>
              <a:rPr lang="en-US" altLang="zh-CN" sz="1800" kern="100" dirty="0">
                <a:effectLst/>
                <a:latin typeface="Times New Roman" panose="02020603050405020304" pitchFamily="18" charset="0"/>
                <a:ea typeface="宋体" pitchFamily="2" charset="-122"/>
                <a:cs typeface="Times New Roman" panose="02020603050405020304" pitchFamily="18" charset="0"/>
              </a:rPr>
              <a:t>false</a:t>
            </a:r>
            <a:r>
              <a:rPr lang="zh-CN" altLang="zh-CN" sz="1800" kern="100" dirty="0">
                <a:effectLst/>
                <a:latin typeface="Times New Roman" panose="02020603050405020304" pitchFamily="18" charset="0"/>
                <a:ea typeface="宋体" pitchFamily="2" charset="-122"/>
                <a:cs typeface="Times New Roman" panose="02020603050405020304" pitchFamily="18" charset="0"/>
              </a:rPr>
              <a:t>，则使用</a:t>
            </a:r>
            <a:r>
              <a:rPr lang="en-US" altLang="zh-CN" sz="1800" kern="100" dirty="0">
                <a:effectLst/>
                <a:latin typeface="Times New Roman" panose="02020603050405020304" pitchFamily="18" charset="0"/>
                <a:ea typeface="宋体" pitchFamily="2" charset="-122"/>
                <a:cs typeface="Times New Roman" panose="02020603050405020304" pitchFamily="18" charset="0"/>
              </a:rPr>
              <a:t>Shi-</a:t>
            </a:r>
            <a:r>
              <a:rPr lang="en-US" altLang="zh-CN" sz="1800" kern="100" dirty="0" err="1">
                <a:effectLst/>
                <a:latin typeface="Times New Roman" panose="02020603050405020304" pitchFamily="18" charset="0"/>
                <a:ea typeface="宋体" pitchFamily="2" charset="-122"/>
                <a:cs typeface="Times New Roman" panose="02020603050405020304" pitchFamily="18" charset="0"/>
              </a:rPr>
              <a:t>Tomasi</a:t>
            </a:r>
            <a:r>
              <a:rPr lang="zh-CN" altLang="zh-CN" sz="1800" kern="100" dirty="0">
                <a:effectLst/>
                <a:latin typeface="Times New Roman" panose="02020603050405020304" pitchFamily="18" charset="0"/>
                <a:ea typeface="宋体" pitchFamily="2" charset="-122"/>
                <a:cs typeface="Times New Roman" panose="02020603050405020304" pitchFamily="18" charset="0"/>
              </a:rPr>
              <a:t>角点检测算法。</a:t>
            </a:r>
            <a:endParaRPr lang="en-US" altLang="zh-CN" sz="1800" kern="100" dirty="0">
              <a:effectLst/>
              <a:latin typeface="Times New Roman" panose="02020603050405020304" pitchFamily="18" charset="0"/>
              <a:ea typeface="宋体" pitchFamily="2" charset="-122"/>
              <a:cs typeface="Times New Roman" panose="02020603050405020304" pitchFamily="18" charset="0"/>
            </a:endParaRPr>
          </a:p>
          <a:p>
            <a:pPr marL="342900" lvl="0" indent="-342900" algn="just">
              <a:buFont typeface="Wingdings" panose="05000000000000000000" pitchFamily="2" charset="2"/>
              <a:buChar char=""/>
            </a:pPr>
            <a:r>
              <a:rPr lang="en-US" altLang="zh-CN" sz="1800" kern="100" dirty="0">
                <a:latin typeface="Times New Roman" panose="02020603050405020304" pitchFamily="18" charset="0"/>
                <a:ea typeface="宋体" pitchFamily="2" charset="-122"/>
                <a:cs typeface="Times New Roman" panose="02020603050405020304" pitchFamily="18" charset="0"/>
              </a:rPr>
              <a:t>k</a:t>
            </a:r>
            <a:r>
              <a:rPr lang="zh-CN" altLang="en-US" sz="1800" kern="100" dirty="0">
                <a:latin typeface="Times New Roman" panose="02020603050405020304" pitchFamily="18" charset="0"/>
                <a:ea typeface="宋体" pitchFamily="2" charset="-122"/>
                <a:cs typeface="Times New Roman" panose="02020603050405020304" pitchFamily="18" charset="0"/>
              </a:rPr>
              <a:t>：默认是</a:t>
            </a:r>
            <a:r>
              <a:rPr lang="en-US" altLang="zh-CN" sz="1800" kern="100" dirty="0">
                <a:latin typeface="Times New Roman" panose="02020603050405020304" pitchFamily="18" charset="0"/>
                <a:ea typeface="宋体" pitchFamily="2" charset="-122"/>
                <a:cs typeface="Times New Roman" panose="02020603050405020304" pitchFamily="18" charset="0"/>
              </a:rPr>
              <a:t>0.04</a:t>
            </a:r>
            <a:r>
              <a:rPr lang="zh-CN" altLang="en-US" sz="1800" kern="100" dirty="0">
                <a:latin typeface="Times New Roman" panose="02020603050405020304" pitchFamily="18" charset="0"/>
                <a:ea typeface="宋体" pitchFamily="2" charset="-122"/>
                <a:cs typeface="Times New Roman" panose="02020603050405020304" pitchFamily="18" charset="0"/>
              </a:rPr>
              <a:t>。</a:t>
            </a:r>
            <a:endParaRPr lang="en-US" altLang="zh-CN" sz="1800"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482189" y="1125538"/>
            <a:ext cx="5386749" cy="520848"/>
          </a:xfrm>
          <a:prstGeom prst="rect">
            <a:avLst/>
          </a:prstGeom>
          <a:noFill/>
        </p:spPr>
        <p:txBody>
          <a:bodyPr wrap="square">
            <a:spAutoFit/>
          </a:bodyPr>
          <a:lstStyle/>
          <a:p>
            <a:pPr marL="342900" indent="-342900">
              <a:lnSpc>
                <a:spcPct val="130000"/>
              </a:lnSpc>
              <a:spcBef>
                <a:spcPts val="2400"/>
              </a:spcBef>
              <a:buFont typeface="Wingdings" panose="05000000000000000000" pitchFamily="2" charset="2"/>
              <a:buChar char="Ø"/>
              <a:defRPr/>
            </a:pP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Shi-</a:t>
            </a:r>
            <a:r>
              <a:rPr lang="en-US" altLang="zh-CN" sz="24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Tomasi</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角点检测实现代码如下</a:t>
            </a:r>
            <a:endPar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文本框 10"/>
          <p:cNvSpPr txBox="1"/>
          <p:nvPr/>
        </p:nvSpPr>
        <p:spPr>
          <a:xfrm>
            <a:off x="612354" y="1701602"/>
            <a:ext cx="8136904" cy="3970318"/>
          </a:xfrm>
          <a:prstGeom prst="rect">
            <a:avLst/>
          </a:prstGeom>
          <a:solidFill>
            <a:srgbClr val="C7C7C7"/>
          </a:solidFill>
        </p:spPr>
        <p:txBody>
          <a:bodyPr wrap="square">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import cv2</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import </a:t>
            </a:r>
            <a:r>
              <a:rPr lang="en-US" altLang="zh-CN" sz="1800" kern="100" dirty="0" err="1">
                <a:solidFill>
                  <a:srgbClr val="000000"/>
                </a:solidFill>
                <a:effectLst/>
                <a:latin typeface="Times New Roman" panose="02020603050405020304" pitchFamily="18" charset="0"/>
                <a:ea typeface="宋体" pitchFamily="2" charset="-122"/>
              </a:rPr>
              <a:t>numpy</a:t>
            </a:r>
            <a:r>
              <a:rPr lang="en-US" altLang="zh-CN" sz="1800" kern="100" dirty="0">
                <a:solidFill>
                  <a:srgbClr val="000000"/>
                </a:solidFill>
                <a:effectLst/>
                <a:latin typeface="Times New Roman" panose="02020603050405020304" pitchFamily="18" charset="0"/>
                <a:ea typeface="宋体" pitchFamily="2" charset="-122"/>
              </a:rPr>
              <a:t> as np</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=cv2.imread(</a:t>
            </a:r>
            <a:r>
              <a:rPr lang="en-US" altLang="zh-CN" sz="1800" kern="100" dirty="0" err="1">
                <a:solidFill>
                  <a:srgbClr val="000000"/>
                </a:solidFill>
                <a:effectLst/>
                <a:latin typeface="Times New Roman" panose="02020603050405020304" pitchFamily="18" charset="0"/>
                <a:ea typeface="宋体" pitchFamily="2" charset="-122"/>
              </a:rPr>
              <a:t>r'C</a:t>
            </a:r>
            <a:r>
              <a:rPr lang="en-US" altLang="zh-CN" sz="1800" kern="100" dirty="0">
                <a:solidFill>
                  <a:srgbClr val="000000"/>
                </a:solidFill>
                <a:effectLst/>
                <a:latin typeface="Times New Roman" panose="02020603050405020304" pitchFamily="18" charset="0"/>
                <a:ea typeface="宋体" pitchFamily="2" charset="-122"/>
              </a:rPr>
              <a:t>:\Users\</a:t>
            </a:r>
            <a:r>
              <a:rPr lang="en-US" altLang="zh-CN" sz="1800" kern="100" dirty="0" err="1">
                <a:solidFill>
                  <a:srgbClr val="000000"/>
                </a:solidFill>
                <a:effectLst/>
                <a:latin typeface="Times New Roman" panose="02020603050405020304" pitchFamily="18" charset="0"/>
                <a:ea typeface="宋体" pitchFamily="2" charset="-122"/>
              </a:rPr>
              <a:t>lenovo</a:t>
            </a:r>
            <a:r>
              <a:rPr lang="en-US" altLang="zh-CN" sz="1800" kern="100" dirty="0">
                <a:solidFill>
                  <a:srgbClr val="000000"/>
                </a:solidFill>
                <a:effectLst/>
                <a:latin typeface="Times New Roman" panose="02020603050405020304" pitchFamily="18" charset="0"/>
                <a:ea typeface="宋体" pitchFamily="2" charset="-122"/>
              </a:rPr>
              <a:t>\Desktop\zhengfangti.jpg’)   #</a:t>
            </a:r>
            <a:r>
              <a:rPr lang="zh-CN" altLang="en-US" sz="1800" kern="100" dirty="0">
                <a:solidFill>
                  <a:srgbClr val="000000"/>
                </a:solidFill>
                <a:effectLst/>
                <a:latin typeface="Times New Roman" panose="02020603050405020304" pitchFamily="18" charset="0"/>
                <a:ea typeface="宋体" pitchFamily="2" charset="-122"/>
              </a:rPr>
              <a:t>读入原始图像</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src</a:t>
            </a:r>
            <a:r>
              <a:rPr lang="en-US" altLang="zh-CN" sz="1800" kern="100" dirty="0">
                <a:solidFill>
                  <a:srgbClr val="000000"/>
                </a:solidFill>
                <a:effectLst/>
                <a:latin typeface="Times New Roman" panose="02020603050405020304" pitchFamily="18" charset="0"/>
                <a:ea typeface="宋体" pitchFamily="2" charset="-122"/>
              </a:rPr>
              <a:t>=cv2.imread(</a:t>
            </a:r>
            <a:r>
              <a:rPr lang="en-US" altLang="zh-CN" sz="1800" kern="100" dirty="0" err="1">
                <a:solidFill>
                  <a:srgbClr val="000000"/>
                </a:solidFill>
                <a:effectLst/>
                <a:latin typeface="Times New Roman" panose="02020603050405020304" pitchFamily="18" charset="0"/>
                <a:ea typeface="宋体" pitchFamily="2" charset="-122"/>
              </a:rPr>
              <a:t>r'C</a:t>
            </a:r>
            <a:r>
              <a:rPr lang="en-US" altLang="zh-CN" sz="1800" kern="100" dirty="0">
                <a:solidFill>
                  <a:srgbClr val="000000"/>
                </a:solidFill>
                <a:effectLst/>
                <a:latin typeface="Times New Roman" panose="02020603050405020304" pitchFamily="18" charset="0"/>
                <a:ea typeface="宋体" pitchFamily="2" charset="-122"/>
              </a:rPr>
              <a:t>:\Users\</a:t>
            </a:r>
            <a:r>
              <a:rPr lang="en-US" altLang="zh-CN" sz="1800" kern="100" dirty="0" err="1">
                <a:solidFill>
                  <a:srgbClr val="000000"/>
                </a:solidFill>
                <a:effectLst/>
                <a:latin typeface="Times New Roman" panose="02020603050405020304" pitchFamily="18" charset="0"/>
                <a:ea typeface="宋体" pitchFamily="2" charset="-122"/>
              </a:rPr>
              <a:t>lenovo</a:t>
            </a:r>
            <a:r>
              <a:rPr lang="en-US" altLang="zh-CN" sz="1800" kern="100" dirty="0">
                <a:solidFill>
                  <a:srgbClr val="000000"/>
                </a:solidFill>
                <a:effectLst/>
                <a:latin typeface="Times New Roman" panose="02020603050405020304" pitchFamily="18" charset="0"/>
                <a:ea typeface="宋体" pitchFamily="2" charset="-122"/>
              </a:rPr>
              <a:t>\Desktop\zhengfangti.jpg’)    #</a:t>
            </a:r>
            <a:r>
              <a:rPr lang="zh-CN" altLang="en-US" sz="1800" kern="100" dirty="0">
                <a:solidFill>
                  <a:srgbClr val="000000"/>
                </a:solidFill>
                <a:effectLst/>
                <a:latin typeface="Times New Roman" panose="02020603050405020304" pitchFamily="18" charset="0"/>
                <a:ea typeface="宋体" pitchFamily="2" charset="-122"/>
              </a:rPr>
              <a:t>读入原始图像</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gray = cv2.cvtColor(</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cv2.COLOR_BGR2GRAY)	   #</a:t>
            </a:r>
            <a:r>
              <a:rPr lang="zh-CN" altLang="en-US" sz="1800" kern="100" dirty="0">
                <a:solidFill>
                  <a:srgbClr val="000000"/>
                </a:solidFill>
                <a:effectLst/>
                <a:latin typeface="Times New Roman" panose="02020603050405020304" pitchFamily="18" charset="0"/>
                <a:ea typeface="宋体" pitchFamily="2" charset="-122"/>
              </a:rPr>
              <a:t>将原始图像灰度化</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gray=np.float32(gray)</a:t>
            </a:r>
            <a:r>
              <a:rPr lang="en-US" altLang="zh-CN" sz="1800" kern="100" dirty="0">
                <a:solidFill>
                  <a:srgbClr val="000000"/>
                </a:solidFill>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a:t>
            </a:r>
            <a:r>
              <a:rPr lang="zh-CN" altLang="en-US" sz="1800" kern="100" dirty="0">
                <a:solidFill>
                  <a:srgbClr val="000000"/>
                </a:solidFill>
                <a:effectLst/>
                <a:latin typeface="Times New Roman" panose="02020603050405020304" pitchFamily="18" charset="0"/>
                <a:ea typeface="宋体" pitchFamily="2" charset="-122"/>
              </a:rPr>
              <a:t>将灰度图像的数据类型变为</a:t>
            </a:r>
            <a:r>
              <a:rPr lang="en-US" altLang="zh-CN" sz="1800" kern="100" dirty="0">
                <a:solidFill>
                  <a:srgbClr val="000000"/>
                </a:solidFill>
                <a:effectLst/>
                <a:latin typeface="Times New Roman" panose="02020603050405020304" pitchFamily="18" charset="0"/>
                <a:ea typeface="宋体" pitchFamily="2" charset="-122"/>
              </a:rPr>
              <a:t>float32</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dst</a:t>
            </a:r>
            <a:r>
              <a:rPr lang="en-US" altLang="zh-CN" sz="1800" kern="100" dirty="0">
                <a:solidFill>
                  <a:srgbClr val="000000"/>
                </a:solidFill>
                <a:effectLst/>
                <a:latin typeface="Times New Roman" panose="02020603050405020304" pitchFamily="18" charset="0"/>
                <a:ea typeface="宋体" pitchFamily="2" charset="-122"/>
              </a:rPr>
              <a:t>= cv2.goodFeaturesToTrack(gray, 40, 0.01, 10)  #Shi-Tomasi</a:t>
            </a:r>
            <a:r>
              <a:rPr lang="zh-CN" altLang="en-US" sz="1800" kern="100" dirty="0">
                <a:solidFill>
                  <a:srgbClr val="000000"/>
                </a:solidFill>
                <a:effectLst/>
                <a:latin typeface="Times New Roman" panose="02020603050405020304" pitchFamily="18" charset="0"/>
                <a:ea typeface="宋体" pitchFamily="2" charset="-122"/>
              </a:rPr>
              <a:t>角点检测</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for </a:t>
            </a:r>
            <a:r>
              <a:rPr lang="en-US" altLang="zh-CN" sz="1800" kern="100" dirty="0" err="1">
                <a:solidFill>
                  <a:srgbClr val="000000"/>
                </a:solidFill>
                <a:effectLst/>
                <a:latin typeface="Times New Roman" panose="02020603050405020304" pitchFamily="18" charset="0"/>
                <a:ea typeface="宋体" pitchFamily="2" charset="-122"/>
              </a:rPr>
              <a:t>i</a:t>
            </a:r>
            <a:r>
              <a:rPr lang="en-US" altLang="zh-CN" sz="1800" kern="100" dirty="0">
                <a:solidFill>
                  <a:srgbClr val="000000"/>
                </a:solidFill>
                <a:effectLst/>
                <a:latin typeface="Times New Roman" panose="02020603050405020304" pitchFamily="18" charset="0"/>
                <a:ea typeface="宋体" pitchFamily="2" charset="-122"/>
              </a:rPr>
              <a:t> in </a:t>
            </a:r>
            <a:r>
              <a:rPr lang="en-US" altLang="zh-CN" sz="1800" kern="100" dirty="0" err="1">
                <a:solidFill>
                  <a:srgbClr val="000000"/>
                </a:solidFill>
                <a:effectLst/>
                <a:latin typeface="Times New Roman" panose="02020603050405020304" pitchFamily="18" charset="0"/>
                <a:ea typeface="宋体" pitchFamily="2" charset="-122"/>
              </a:rPr>
              <a:t>dst</a:t>
            </a:r>
            <a:r>
              <a:rPr lang="en-US" altLang="zh-CN" sz="1800" kern="100" dirty="0">
                <a:solidFill>
                  <a:srgbClr val="000000"/>
                </a:solidFill>
                <a:effectLst/>
                <a:latin typeface="Times New Roman" panose="02020603050405020304" pitchFamily="18" charset="0"/>
                <a:ea typeface="宋体" pitchFamily="2" charset="-122"/>
              </a:rPr>
              <a:t>:		    #</a:t>
            </a:r>
            <a:r>
              <a:rPr lang="zh-CN" altLang="en-US" sz="1800" kern="100" dirty="0">
                <a:solidFill>
                  <a:srgbClr val="000000"/>
                </a:solidFill>
                <a:effectLst/>
                <a:latin typeface="Times New Roman" panose="02020603050405020304" pitchFamily="18" charset="0"/>
                <a:ea typeface="宋体" pitchFamily="2" charset="-122"/>
              </a:rPr>
              <a:t>将</a:t>
            </a:r>
            <a:r>
              <a:rPr lang="en-US" altLang="zh-CN" sz="1800" kern="100" dirty="0">
                <a:solidFill>
                  <a:srgbClr val="000000"/>
                </a:solidFill>
                <a:effectLst/>
                <a:latin typeface="Times New Roman" panose="02020603050405020304" pitchFamily="18" charset="0"/>
                <a:ea typeface="宋体" pitchFamily="2" charset="-122"/>
              </a:rPr>
              <a:t>Shi-</a:t>
            </a:r>
            <a:r>
              <a:rPr lang="en-US" altLang="zh-CN" sz="1800" kern="100" dirty="0" err="1">
                <a:solidFill>
                  <a:srgbClr val="000000"/>
                </a:solidFill>
                <a:effectLst/>
                <a:latin typeface="Times New Roman" panose="02020603050405020304" pitchFamily="18" charset="0"/>
                <a:ea typeface="宋体" pitchFamily="2" charset="-122"/>
              </a:rPr>
              <a:t>Tomasi</a:t>
            </a:r>
            <a:r>
              <a:rPr lang="zh-CN" altLang="en-US" sz="1800" kern="100" dirty="0">
                <a:solidFill>
                  <a:srgbClr val="000000"/>
                </a:solidFill>
                <a:effectLst/>
                <a:latin typeface="Times New Roman" panose="02020603050405020304" pitchFamily="18" charset="0"/>
                <a:ea typeface="宋体" pitchFamily="2" charset="-122"/>
              </a:rPr>
              <a:t>角点检测结果画在原图像上</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x, y = </a:t>
            </a:r>
            <a:r>
              <a:rPr lang="en-US" altLang="zh-CN" sz="1800" kern="100" dirty="0" err="1">
                <a:solidFill>
                  <a:srgbClr val="000000"/>
                </a:solidFill>
                <a:effectLst/>
                <a:latin typeface="Times New Roman" panose="02020603050405020304" pitchFamily="18" charset="0"/>
                <a:ea typeface="宋体" pitchFamily="2" charset="-122"/>
              </a:rPr>
              <a:t>i.ravel</a:t>
            </a:r>
            <a:r>
              <a:rPr lang="en-US" altLang="zh-CN" sz="1800" kern="100" dirty="0">
                <a:solidFill>
                  <a:srgbClr val="000000"/>
                </a:solidFill>
                <a:effectLst/>
                <a:latin typeface="Times New Roman" panose="02020603050405020304" pitchFamily="18" charset="0"/>
                <a:ea typeface="宋体" pitchFamily="2" charset="-122"/>
              </a:rPr>
              <a:t>()</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cv2.circle(</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(x, y), 3, 255, -1)</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cv2.imshow('Edge Image', </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a:t>
            </a:r>
            <a:r>
              <a:rPr lang="zh-CN" altLang="en-US" sz="1800" kern="100" dirty="0">
                <a:solidFill>
                  <a:srgbClr val="000000"/>
                </a:solidFill>
                <a:effectLst/>
                <a:latin typeface="Times New Roman" panose="02020603050405020304" pitchFamily="18" charset="0"/>
                <a:ea typeface="宋体" pitchFamily="2" charset="-122"/>
              </a:rPr>
              <a:t>输出</a:t>
            </a:r>
            <a:r>
              <a:rPr lang="en-US" altLang="zh-CN" sz="1800" kern="100" dirty="0">
                <a:solidFill>
                  <a:srgbClr val="000000"/>
                </a:solidFill>
                <a:effectLst/>
                <a:latin typeface="Times New Roman" panose="02020603050405020304" pitchFamily="18" charset="0"/>
                <a:ea typeface="宋体" pitchFamily="2" charset="-122"/>
              </a:rPr>
              <a:t>Shi-</a:t>
            </a:r>
            <a:r>
              <a:rPr lang="en-US" altLang="zh-CN" sz="1800" kern="100" dirty="0" err="1">
                <a:solidFill>
                  <a:srgbClr val="000000"/>
                </a:solidFill>
                <a:effectLst/>
                <a:latin typeface="Times New Roman" panose="02020603050405020304" pitchFamily="18" charset="0"/>
                <a:ea typeface="宋体" pitchFamily="2" charset="-122"/>
              </a:rPr>
              <a:t>Tomasi</a:t>
            </a:r>
            <a:r>
              <a:rPr lang="zh-CN" altLang="en-US" sz="1800" kern="100" dirty="0">
                <a:solidFill>
                  <a:srgbClr val="000000"/>
                </a:solidFill>
                <a:effectLst/>
                <a:latin typeface="Times New Roman" panose="02020603050405020304" pitchFamily="18" charset="0"/>
                <a:ea typeface="宋体" pitchFamily="2" charset="-122"/>
              </a:rPr>
              <a:t>角点检测结果图</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cv2.imshow('Original Image',</a:t>
            </a:r>
            <a:r>
              <a:rPr lang="en-US" altLang="zh-CN" sz="1800" kern="100" dirty="0" err="1">
                <a:solidFill>
                  <a:srgbClr val="000000"/>
                </a:solidFill>
                <a:effectLst/>
                <a:latin typeface="Times New Roman" panose="02020603050405020304" pitchFamily="18" charset="0"/>
                <a:ea typeface="宋体" pitchFamily="2" charset="-122"/>
              </a:rPr>
              <a:t>src</a:t>
            </a:r>
            <a:r>
              <a:rPr lang="en-US" altLang="zh-CN" sz="1800" kern="100" dirty="0">
                <a:solidFill>
                  <a:srgbClr val="000000"/>
                </a:solidFill>
                <a:effectLst/>
                <a:latin typeface="Times New Roman" panose="02020603050405020304" pitchFamily="18" charset="0"/>
                <a:ea typeface="宋体" pitchFamily="2" charset="-122"/>
              </a:rPr>
              <a:t>)   #</a:t>
            </a:r>
            <a:r>
              <a:rPr lang="zh-CN" altLang="en-US" sz="1800" kern="100" dirty="0">
                <a:solidFill>
                  <a:srgbClr val="000000"/>
                </a:solidFill>
                <a:effectLst/>
                <a:latin typeface="Times New Roman" panose="02020603050405020304" pitchFamily="18" charset="0"/>
                <a:ea typeface="宋体" pitchFamily="2" charset="-122"/>
              </a:rPr>
              <a:t>输出原始图像</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cv2.waitKey(0)</a:t>
            </a:r>
            <a:endParaRPr lang="en-US" altLang="zh-CN" sz="18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12354" y="1180754"/>
            <a:ext cx="8554843" cy="520848"/>
          </a:xfrm>
          <a:prstGeom prst="rect">
            <a:avLst/>
          </a:prstGeom>
          <a:noFill/>
        </p:spPr>
        <p:txBody>
          <a:bodyPr wrap="square">
            <a:spAutoFit/>
          </a:bodyPr>
          <a:lstStyle/>
          <a:p>
            <a:pPr>
              <a:lnSpc>
                <a:spcPct val="130000"/>
              </a:lnSpc>
              <a:spcBef>
                <a:spcPts val="2400"/>
              </a:spcBef>
              <a:defRPr/>
            </a:pPr>
            <a:r>
              <a:rPr lang="zh-CN" altLang="en-US" sz="2400" b="1" dirty="0">
                <a:solidFill>
                  <a:srgbClr val="000000"/>
                </a:solidFill>
                <a:latin typeface="+mn-ea"/>
                <a:cs typeface="Times New Roman" panose="02020603050405020304" pitchFamily="18" charset="0"/>
              </a:rPr>
              <a:t>程序的结果如图</a:t>
            </a:r>
            <a:r>
              <a:rPr lang="en-US" altLang="zh-CN" sz="2400" b="1" dirty="0">
                <a:solidFill>
                  <a:srgbClr val="000000"/>
                </a:solidFill>
                <a:latin typeface="+mn-ea"/>
                <a:cs typeface="Times New Roman" panose="02020603050405020304" pitchFamily="18" charset="0"/>
              </a:rPr>
              <a:t>9.5</a:t>
            </a:r>
            <a:r>
              <a:rPr lang="zh-CN" altLang="en-US" sz="2400" b="1" dirty="0">
                <a:solidFill>
                  <a:srgbClr val="000000"/>
                </a:solidFill>
                <a:latin typeface="+mn-ea"/>
                <a:cs typeface="Times New Roman" panose="02020603050405020304" pitchFamily="18" charset="0"/>
              </a:rPr>
              <a:t>所示</a:t>
            </a:r>
            <a:endParaRPr lang="en-US" altLang="zh-CN" sz="2400" b="1" dirty="0">
              <a:solidFill>
                <a:srgbClr val="000000"/>
              </a:solidFill>
              <a:latin typeface="+mn-ea"/>
              <a:cs typeface="Times New Roman" panose="02020603050405020304" pitchFamily="18" charset="0"/>
            </a:endParaRPr>
          </a:p>
        </p:txBody>
      </p:sp>
      <p:pic>
        <p:nvPicPr>
          <p:cNvPr id="9" name="图片 8"/>
          <p:cNvPicPr>
            <a:picLocks noChangeAspect="1"/>
          </p:cNvPicPr>
          <p:nvPr/>
        </p:nvPicPr>
        <p:blipFill>
          <a:blip r:embed="rId1"/>
          <a:srcRect b="2420"/>
          <a:stretch>
            <a:fillRect/>
          </a:stretch>
        </p:blipFill>
        <p:spPr>
          <a:xfrm>
            <a:off x="756369" y="1989634"/>
            <a:ext cx="3702513" cy="2722436"/>
          </a:xfrm>
          <a:prstGeom prst="rect">
            <a:avLst/>
          </a:prstGeom>
          <a:ln>
            <a:noFill/>
          </a:ln>
        </p:spPr>
      </p:pic>
      <p:pic>
        <p:nvPicPr>
          <p:cNvPr id="12" name="图片 11"/>
          <p:cNvPicPr>
            <a:picLocks noChangeAspect="1"/>
          </p:cNvPicPr>
          <p:nvPr/>
        </p:nvPicPr>
        <p:blipFill>
          <a:blip r:embed="rId2"/>
          <a:srcRect b="1598"/>
          <a:stretch>
            <a:fillRect/>
          </a:stretch>
        </p:blipFill>
        <p:spPr>
          <a:xfrm>
            <a:off x="4860825" y="1989634"/>
            <a:ext cx="3688846" cy="2722435"/>
          </a:xfrm>
          <a:prstGeom prst="rect">
            <a:avLst/>
          </a:prstGeom>
          <a:ln>
            <a:noFill/>
          </a:ln>
        </p:spPr>
      </p:pic>
      <p:sp>
        <p:nvSpPr>
          <p:cNvPr id="13" name="文本框 12"/>
          <p:cNvSpPr txBox="1"/>
          <p:nvPr/>
        </p:nvSpPr>
        <p:spPr>
          <a:xfrm>
            <a:off x="1764482" y="4797946"/>
            <a:ext cx="2016224" cy="400110"/>
          </a:xfrm>
          <a:prstGeom prst="rect">
            <a:avLst/>
          </a:prstGeom>
          <a:noFill/>
        </p:spPr>
        <p:txBody>
          <a:bodyPr wrap="square">
            <a:spAutoFit/>
          </a:bodyPr>
          <a:lstStyle/>
          <a:p>
            <a:r>
              <a:rPr lang="en-US" altLang="zh-CN" sz="2000" dirty="0">
                <a:effectLst/>
                <a:latin typeface="Times New Roman" panose="02020603050405020304" pitchFamily="18" charset="0"/>
                <a:cs typeface="Times New Roman" panose="02020603050405020304" pitchFamily="18" charset="0"/>
              </a:rPr>
              <a:t>(a)</a:t>
            </a:r>
            <a:r>
              <a:rPr lang="zh-CN" altLang="zh-CN" sz="2000" dirty="0">
                <a:effectLst/>
                <a:latin typeface="Times New Roman" panose="02020603050405020304" pitchFamily="18" charset="0"/>
                <a:ea typeface="宋体" pitchFamily="2" charset="-122"/>
                <a:cs typeface="Times New Roman" panose="02020603050405020304" pitchFamily="18" charset="0"/>
              </a:rPr>
              <a:t>原始图像</a:t>
            </a:r>
            <a:endParaRPr lang="zh-CN" altLang="en-US" sz="2000" dirty="0">
              <a:latin typeface="Times New Roman" panose="02020603050405020304" pitchFamily="18" charset="0"/>
              <a:cs typeface="Times New Roman" panose="02020603050405020304" pitchFamily="18" charset="0"/>
            </a:endParaRPr>
          </a:p>
        </p:txBody>
      </p:sp>
      <p:sp>
        <p:nvSpPr>
          <p:cNvPr id="15" name="文本框 14"/>
          <p:cNvSpPr txBox="1"/>
          <p:nvPr/>
        </p:nvSpPr>
        <p:spPr>
          <a:xfrm>
            <a:off x="5004842" y="4797946"/>
            <a:ext cx="3456384" cy="400110"/>
          </a:xfrm>
          <a:prstGeom prst="rect">
            <a:avLst/>
          </a:prstGeom>
          <a:noFill/>
        </p:spPr>
        <p:txBody>
          <a:bodyPr wrap="square">
            <a:spAutoFit/>
          </a:bodyPr>
          <a:lstStyle/>
          <a:p>
            <a:r>
              <a:rPr lang="en-US" altLang="zh-CN" sz="2000" dirty="0">
                <a:effectLst/>
                <a:latin typeface="Times New Roman" panose="02020603050405020304" pitchFamily="18" charset="0"/>
                <a:cs typeface="Times New Roman" panose="02020603050405020304" pitchFamily="18" charset="0"/>
              </a:rPr>
              <a:t>(b)</a:t>
            </a:r>
            <a:r>
              <a:rPr lang="en-US" altLang="zh-CN" sz="2000" dirty="0">
                <a:effectLst/>
                <a:latin typeface="Times New Roman" panose="02020603050405020304" pitchFamily="18" charset="0"/>
                <a:ea typeface="宋体" pitchFamily="2" charset="-122"/>
                <a:cs typeface="Times New Roman" panose="02020603050405020304" pitchFamily="18" charset="0"/>
              </a:rPr>
              <a:t>Shi-</a:t>
            </a:r>
            <a:r>
              <a:rPr lang="en-US" altLang="zh-CN" sz="2000" dirty="0" err="1">
                <a:effectLst/>
                <a:latin typeface="Times New Roman" panose="02020603050405020304" pitchFamily="18" charset="0"/>
                <a:ea typeface="宋体" pitchFamily="2" charset="-122"/>
                <a:cs typeface="Times New Roman" panose="02020603050405020304" pitchFamily="18" charset="0"/>
              </a:rPr>
              <a:t>Tomasi</a:t>
            </a:r>
            <a:r>
              <a:rPr lang="zh-CN" altLang="zh-CN" sz="2000" dirty="0">
                <a:effectLst/>
                <a:latin typeface="Times New Roman" panose="02020603050405020304" pitchFamily="18" charset="0"/>
                <a:ea typeface="宋体" pitchFamily="2" charset="-122"/>
                <a:cs typeface="Times New Roman" panose="02020603050405020304" pitchFamily="18" charset="0"/>
              </a:rPr>
              <a:t>角点检测结果图</a:t>
            </a:r>
            <a:endParaRPr lang="zh-CN" altLang="en-US" sz="2000" dirty="0">
              <a:latin typeface="Times New Roman" panose="02020603050405020304" pitchFamily="18" charset="0"/>
              <a:cs typeface="Times New Roman" panose="02020603050405020304" pitchFamily="18" charset="0"/>
            </a:endParaRPr>
          </a:p>
        </p:txBody>
      </p:sp>
      <p:sp>
        <p:nvSpPr>
          <p:cNvPr id="17" name="文本框 16"/>
          <p:cNvSpPr txBox="1"/>
          <p:nvPr/>
        </p:nvSpPr>
        <p:spPr>
          <a:xfrm>
            <a:off x="1346737" y="5229994"/>
            <a:ext cx="6034369"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9.5  Shi-</a:t>
            </a:r>
            <a:r>
              <a:rPr lang="en-US" altLang="zh-CN" sz="2400" kern="100" dirty="0" err="1">
                <a:effectLst/>
                <a:latin typeface="Times New Roman" panose="02020603050405020304" pitchFamily="18" charset="0"/>
                <a:ea typeface="宋体" pitchFamily="2" charset="-122"/>
              </a:rPr>
              <a:t>Tomasi</a:t>
            </a:r>
            <a:r>
              <a:rPr lang="zh-CN" altLang="zh-CN" sz="2400" kern="100" dirty="0">
                <a:effectLst/>
                <a:latin typeface="Times New Roman" panose="02020603050405020304" pitchFamily="18" charset="0"/>
                <a:ea typeface="宋体" pitchFamily="2" charset="-122"/>
              </a:rPr>
              <a:t>角点检测运行结果图</a:t>
            </a:r>
            <a:endParaRPr lang="zh-CN" altLang="zh-CN" sz="32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0" name="TextBox 43"/>
          <p:cNvSpPr txBox="1">
            <a:spLocks noChangeArrowheads="1"/>
          </p:cNvSpPr>
          <p:nvPr/>
        </p:nvSpPr>
        <p:spPr bwMode="auto">
          <a:xfrm>
            <a:off x="540579" y="1142092"/>
            <a:ext cx="362083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9.3.4  FAST</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角点检测</a:t>
            </a:r>
            <a:endPar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a:p>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 name="文本框 13"/>
          <p:cNvSpPr txBox="1"/>
          <p:nvPr/>
        </p:nvSpPr>
        <p:spPr>
          <a:xfrm>
            <a:off x="445686" y="1557586"/>
            <a:ext cx="8447587" cy="1200329"/>
          </a:xfrm>
          <a:prstGeom prst="rect">
            <a:avLst/>
          </a:prstGeom>
          <a:noFill/>
        </p:spPr>
        <p:txBody>
          <a:bodyPr wrap="square">
            <a:spAutoFit/>
          </a:bodyPr>
          <a:lstStyle/>
          <a:p>
            <a:r>
              <a:rPr lang="zh-CN" altLang="en-US" sz="2400" kern="100" dirty="0">
                <a:latin typeface="Times New Roman" panose="02020603050405020304" pitchFamily="18" charset="0"/>
                <a:cs typeface="Times New Roman" panose="02020603050405020304" pitchFamily="18" charset="0"/>
              </a:rPr>
              <a:t>      </a:t>
            </a:r>
            <a:r>
              <a:rPr lang="en-US" altLang="zh-CN" sz="2400" kern="100" dirty="0">
                <a:latin typeface="Times New Roman" panose="02020603050405020304" pitchFamily="18" charset="0"/>
                <a:cs typeface="Times New Roman" panose="02020603050405020304" pitchFamily="18" charset="0"/>
              </a:rPr>
              <a:t>FAST</a:t>
            </a:r>
            <a:r>
              <a:rPr lang="zh-CN" altLang="en-US" sz="2400" kern="100" dirty="0">
                <a:latin typeface="Times New Roman" panose="02020603050405020304" pitchFamily="18" charset="0"/>
                <a:cs typeface="Times New Roman" panose="02020603050405020304" pitchFamily="18" charset="0"/>
              </a:rPr>
              <a:t>算法是由</a:t>
            </a:r>
            <a:r>
              <a:rPr lang="en-US" altLang="zh-CN" sz="2400" kern="100" dirty="0">
                <a:latin typeface="Times New Roman" panose="02020603050405020304" pitchFamily="18" charset="0"/>
                <a:cs typeface="Times New Roman" panose="02020603050405020304" pitchFamily="18" charset="0"/>
              </a:rPr>
              <a:t>Edward </a:t>
            </a:r>
            <a:r>
              <a:rPr lang="en-US" altLang="zh-CN" sz="2400" kern="100" dirty="0" err="1">
                <a:latin typeface="Times New Roman" panose="02020603050405020304" pitchFamily="18" charset="0"/>
                <a:cs typeface="Times New Roman" panose="02020603050405020304" pitchFamily="18" charset="0"/>
              </a:rPr>
              <a:t>Rosten</a:t>
            </a:r>
            <a:r>
              <a:rPr lang="zh-CN" altLang="en-US" sz="2400" kern="100" dirty="0">
                <a:latin typeface="Times New Roman" panose="02020603050405020304" pitchFamily="18" charset="0"/>
                <a:cs typeface="Times New Roman" panose="02020603050405020304" pitchFamily="18" charset="0"/>
              </a:rPr>
              <a:t>和</a:t>
            </a:r>
            <a:r>
              <a:rPr lang="en-US" altLang="zh-CN" sz="2400" kern="100" dirty="0">
                <a:latin typeface="Times New Roman" panose="02020603050405020304" pitchFamily="18" charset="0"/>
                <a:cs typeface="Times New Roman" panose="02020603050405020304" pitchFamily="18" charset="0"/>
              </a:rPr>
              <a:t>Tom Drummond</a:t>
            </a:r>
            <a:r>
              <a:rPr lang="zh-CN" altLang="en-US" sz="2400" kern="100" dirty="0">
                <a:latin typeface="Times New Roman" panose="02020603050405020304" pitchFamily="18" charset="0"/>
                <a:cs typeface="Times New Roman" panose="02020603050405020304" pitchFamily="18" charset="0"/>
              </a:rPr>
              <a:t>在</a:t>
            </a:r>
            <a:r>
              <a:rPr lang="en-US" altLang="zh-CN" sz="2400" kern="100" dirty="0">
                <a:latin typeface="Times New Roman" panose="02020603050405020304" pitchFamily="18" charset="0"/>
                <a:cs typeface="Times New Roman" panose="02020603050405020304" pitchFamily="18" charset="0"/>
              </a:rPr>
              <a:t>2006</a:t>
            </a:r>
            <a:r>
              <a:rPr lang="zh-CN" altLang="en-US" sz="2400" kern="100" dirty="0">
                <a:latin typeface="Times New Roman" panose="02020603050405020304" pitchFamily="18" charset="0"/>
                <a:cs typeface="Times New Roman" panose="02020603050405020304" pitchFamily="18" charset="0"/>
              </a:rPr>
              <a:t>年首先提出的，</a:t>
            </a:r>
            <a:r>
              <a:rPr lang="zh-CN" altLang="en-US" sz="2400" kern="100" dirty="0">
                <a:solidFill>
                  <a:srgbClr val="FF0000"/>
                </a:solidFill>
                <a:latin typeface="Times New Roman" panose="02020603050405020304" pitchFamily="18" charset="0"/>
                <a:cs typeface="Times New Roman" panose="02020603050405020304" pitchFamily="18" charset="0"/>
              </a:rPr>
              <a:t>其优点是计算速度快，具有较高的精确度</a:t>
            </a:r>
            <a:r>
              <a:rPr lang="zh-CN" altLang="en-US" sz="2400" kern="100" dirty="0">
                <a:latin typeface="Times New Roman" panose="02020603050405020304" pitchFamily="18" charset="0"/>
                <a:cs typeface="Times New Roman" panose="02020603050405020304" pitchFamily="18" charset="0"/>
              </a:rPr>
              <a:t>，</a:t>
            </a:r>
            <a:r>
              <a:rPr lang="zh-CN" altLang="en-US" sz="2400" kern="100" dirty="0">
                <a:solidFill>
                  <a:srgbClr val="FF0000"/>
                </a:solidFill>
                <a:latin typeface="Times New Roman" panose="02020603050405020304" pitchFamily="18" charset="0"/>
                <a:cs typeface="Times New Roman" panose="02020603050405020304" pitchFamily="18" charset="0"/>
              </a:rPr>
              <a:t>缺点是在噪声高的时候鲁棒性差，性能依赖阈值的设定</a:t>
            </a:r>
            <a:r>
              <a:rPr lang="zh-CN" altLang="en-US" sz="2400" kern="1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16" name="文本框 15"/>
          <p:cNvSpPr txBox="1"/>
          <p:nvPr/>
        </p:nvSpPr>
        <p:spPr>
          <a:xfrm>
            <a:off x="392057" y="2709714"/>
            <a:ext cx="8554843" cy="520848"/>
          </a:xfrm>
          <a:prstGeom prst="rect">
            <a:avLst/>
          </a:prstGeom>
          <a:noFill/>
        </p:spPr>
        <p:txBody>
          <a:bodyPr wrap="square">
            <a:spAutoFit/>
          </a:bodyPr>
          <a:lstStyle/>
          <a:p>
            <a:pPr marL="342900" indent="-342900">
              <a:lnSpc>
                <a:spcPct val="130000"/>
              </a:lnSpc>
              <a:spcBef>
                <a:spcPts val="2400"/>
              </a:spcBef>
              <a:buFont typeface="Wingdings" panose="05000000000000000000" pitchFamily="2" charset="2"/>
              <a:buChar char="Ø"/>
              <a:defRPr/>
            </a:pP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FAST</a:t>
            </a:r>
            <a:r>
              <a:rPr lang="zh-CN"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角点检测算法步骤</a:t>
            </a:r>
            <a:r>
              <a:rPr lang="en-US"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以</a:t>
            </a:r>
            <a:r>
              <a:rPr lang="en-US"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FAST=16</a:t>
            </a:r>
            <a:r>
              <a:rPr lang="zh-CN"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为例</a:t>
            </a:r>
            <a:r>
              <a:rPr lang="en-US"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9" name="内容占位符 2"/>
          <p:cNvSpPr txBox="1">
            <a:spLocks noChangeArrowheads="1"/>
          </p:cNvSpPr>
          <p:nvPr/>
        </p:nvSpPr>
        <p:spPr>
          <a:xfrm>
            <a:off x="-2641071" y="2789288"/>
            <a:ext cx="11737303" cy="3607662"/>
          </a:xfrm>
          <a:prstGeom prst="rect">
            <a:avLst/>
          </a:prstGeom>
        </p:spPr>
        <p:txBody>
          <a:bodyPr/>
          <a:lstStyle>
            <a:lvl1pPr marL="306070" indent="-306070" algn="l" defTabSz="816610" rtl="0" eaLnBrk="1" latinLnBrk="0" hangingPunct="1">
              <a:spcBef>
                <a:spcPct val="20000"/>
              </a:spcBef>
              <a:buFont typeface="Arial" panose="020B0604020202090204" pitchFamily="34" charset="0"/>
              <a:buChar char="•"/>
              <a:defRPr sz="2850" kern="1200">
                <a:solidFill>
                  <a:schemeClr val="tx1"/>
                </a:solidFill>
                <a:latin typeface="+mn-lt"/>
                <a:ea typeface="+mn-ea"/>
                <a:cs typeface="+mn-cs"/>
              </a:defRPr>
            </a:lvl1pPr>
            <a:lvl2pPr marL="663575" indent="-255270" algn="l" defTabSz="816610" rtl="0" eaLnBrk="1" latinLnBrk="0" hangingPunct="1">
              <a:spcBef>
                <a:spcPct val="20000"/>
              </a:spcBef>
              <a:buFont typeface="Arial" panose="020B0604020202090204" pitchFamily="34" charset="0"/>
              <a:buChar char="–"/>
              <a:defRPr sz="2475" kern="1200">
                <a:solidFill>
                  <a:schemeClr val="tx1"/>
                </a:solidFill>
                <a:latin typeface="+mn-lt"/>
                <a:ea typeface="+mn-ea"/>
                <a:cs typeface="+mn-cs"/>
              </a:defRPr>
            </a:lvl2pPr>
            <a:lvl3pPr marL="1020445" indent="-203835" algn="l" defTabSz="816610" rtl="0" eaLnBrk="1" latinLnBrk="0" hangingPunct="1">
              <a:spcBef>
                <a:spcPct val="20000"/>
              </a:spcBef>
              <a:buFont typeface="Arial" panose="020B0604020202090204" pitchFamily="34" charset="0"/>
              <a:buChar char="•"/>
              <a:defRPr sz="2175" kern="1200">
                <a:solidFill>
                  <a:schemeClr val="tx1"/>
                </a:solidFill>
                <a:latin typeface="+mn-lt"/>
                <a:ea typeface="+mn-ea"/>
                <a:cs typeface="+mn-cs"/>
              </a:defRPr>
            </a:lvl3pPr>
            <a:lvl4pPr marL="142875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4pPr>
            <a:lvl5pPr marL="183705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5pPr>
            <a:lvl6pPr marL="224536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6pPr>
            <a:lvl7pPr marL="265366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7pPr>
            <a:lvl8pPr marL="306197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8pPr>
            <a:lvl9pPr marL="347027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9pPr>
          </a:lstStyle>
          <a:p>
            <a:pPr marL="0" indent="0">
              <a:spcBef>
                <a:spcPts val="2400"/>
              </a:spcBef>
              <a:buNone/>
              <a:defRPr/>
            </a:pPr>
            <a:endParaRPr lang="en-US" altLang="zh-CN" sz="2400" dirty="0">
              <a:solidFill>
                <a:srgbClr val="FF0000"/>
              </a:solidFill>
              <a:latin typeface="Times New Roman" panose="02020603050405020304" pitchFamily="18" charset="0"/>
              <a:cs typeface="Times New Roman" panose="02020603050405020304" pitchFamily="18" charset="0"/>
            </a:endParaRPr>
          </a:p>
          <a:p>
            <a:pPr marL="3599815">
              <a:buClr>
                <a:srgbClr val="0070C0"/>
              </a:buClr>
              <a:buFont typeface="Wingdings" panose="05000000000000000000" pitchFamily="2" charset="2"/>
              <a:buChar char="n"/>
              <a:defRPr/>
            </a:pPr>
            <a:r>
              <a:rPr lang="zh-CN" altLang="en-US" sz="2400" dirty="0">
                <a:latin typeface="Times New Roman" panose="02020603050405020304" pitchFamily="18" charset="0"/>
                <a:cs typeface="Times New Roman" panose="02020603050405020304" pitchFamily="18" charset="0"/>
              </a:rPr>
              <a:t>步骤一：设定一个阈值，计算像素点</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9</a:t>
            </a:r>
            <a:r>
              <a:rPr lang="zh-CN" altLang="en-US" sz="2400" dirty="0">
                <a:latin typeface="Times New Roman" panose="02020603050405020304" pitchFamily="18" charset="0"/>
                <a:cs typeface="Times New Roman" panose="02020603050405020304" pitchFamily="18" charset="0"/>
              </a:rPr>
              <a:t>与中心像素点</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的像素差，若计算出像素差的绝对值都大于阈值，则认定像素点</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是候选点，进一步考察。</a:t>
            </a:r>
            <a:endParaRPr lang="en-US" altLang="zh-CN" sz="2400" dirty="0">
              <a:latin typeface="Times New Roman" panose="02020603050405020304" pitchFamily="18" charset="0"/>
              <a:cs typeface="Times New Roman" panose="02020603050405020304" pitchFamily="18" charset="0"/>
            </a:endParaRPr>
          </a:p>
          <a:p>
            <a:pPr marL="3599815">
              <a:buClr>
                <a:srgbClr val="0070C0"/>
              </a:buClr>
              <a:buFont typeface="Wingdings" panose="05000000000000000000" pitchFamily="2" charset="2"/>
              <a:buChar char="n"/>
              <a:defRPr/>
            </a:pPr>
            <a:r>
              <a:rPr lang="zh-CN" altLang="en-US" sz="2400" dirty="0">
                <a:latin typeface="Times New Roman" panose="02020603050405020304" pitchFamily="18" charset="0"/>
                <a:cs typeface="Times New Roman" panose="02020603050405020304" pitchFamily="18" charset="0"/>
              </a:rPr>
              <a:t>步骤二：若点</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是候选点，则计算像素点</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13</a:t>
            </a:r>
            <a:r>
              <a:rPr lang="zh-CN" altLang="en-US" sz="2400" dirty="0">
                <a:latin typeface="Times New Roman" panose="02020603050405020304" pitchFamily="18" charset="0"/>
                <a:cs typeface="Times New Roman" panose="02020603050405020304" pitchFamily="18" charset="0"/>
              </a:rPr>
              <a:t>与中心像素点</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的像素差，若计算出像素差的绝对值至少有</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个超过阈值，则当选下一步候选点，进一步考察；否则，直接舍弃。</a:t>
            </a:r>
            <a:endParaRPr lang="en-US" altLang="zh-CN" sz="2400" dirty="0">
              <a:latin typeface="Times New Roman" panose="02020603050405020304" pitchFamily="18" charset="0"/>
              <a:cs typeface="Times New Roman" panose="02020603050405020304" pitchFamily="18" charset="0"/>
            </a:endParaRPr>
          </a:p>
        </p:txBody>
      </p:sp>
      <p:sp>
        <p:nvSpPr>
          <p:cNvPr id="2" name="文本框 1"/>
          <p:cNvSpPr txBox="1"/>
          <p:nvPr/>
        </p:nvSpPr>
        <p:spPr>
          <a:xfrm>
            <a:off x="712407" y="6268775"/>
            <a:ext cx="7020255" cy="415498"/>
          </a:xfrm>
          <a:prstGeom prst="rect">
            <a:avLst/>
          </a:prstGeom>
          <a:noFill/>
        </p:spPr>
        <p:txBody>
          <a:bodyPr wrap="none" rtlCol="0">
            <a:spAutoFit/>
          </a:bodyPr>
          <a:lstStyle/>
          <a:p>
            <a:r>
              <a:rPr kumimoji="1" lang="en-GB" altLang="zh-CN" dirty="0"/>
              <a:t>https://</a:t>
            </a:r>
            <a:r>
              <a:rPr kumimoji="1" lang="en-GB" altLang="zh-CN" dirty="0" err="1"/>
              <a:t>docs.opencv.ac.cn</a:t>
            </a:r>
            <a:r>
              <a:rPr kumimoji="1" lang="en-GB" altLang="zh-CN" dirty="0"/>
              <a:t>/4.11.0/</a:t>
            </a:r>
            <a:r>
              <a:rPr kumimoji="1" lang="en-GB" altLang="zh-CN" dirty="0" err="1"/>
              <a:t>df</a:t>
            </a:r>
            <a:r>
              <a:rPr kumimoji="1" lang="en-GB" altLang="zh-CN" dirty="0"/>
              <a:t>/d0c/</a:t>
            </a:r>
            <a:r>
              <a:rPr kumimoji="1" lang="en-GB" altLang="zh-CN" dirty="0" err="1"/>
              <a:t>tutorial_py_fast.html</a:t>
            </a:r>
            <a:endParaRPr kumimoji="1" lang="zh-CN" altLang="en-US" dirty="0"/>
          </a:p>
        </p:txBody>
      </p:sp>
    </p:spTree>
  </p:cSld>
  <p:clrMapOvr>
    <a:masterClrMapping/>
  </p:clrMapOvr>
  <p:transition spd="slow" advClick="0" advTm="0">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9" name="内容占位符 2"/>
          <p:cNvSpPr txBox="1">
            <a:spLocks noChangeArrowheads="1"/>
          </p:cNvSpPr>
          <p:nvPr/>
        </p:nvSpPr>
        <p:spPr>
          <a:xfrm>
            <a:off x="-2916038" y="693490"/>
            <a:ext cx="11737303" cy="3844925"/>
          </a:xfrm>
          <a:prstGeom prst="rect">
            <a:avLst/>
          </a:prstGeom>
        </p:spPr>
        <p:txBody>
          <a:bodyPr/>
          <a:lstStyle>
            <a:lvl1pPr marL="306070" indent="-306070" algn="l" defTabSz="816610" rtl="0" eaLnBrk="1" latinLnBrk="0" hangingPunct="1">
              <a:spcBef>
                <a:spcPct val="20000"/>
              </a:spcBef>
              <a:buFont typeface="Arial" panose="020B0604020202090204" pitchFamily="34" charset="0"/>
              <a:buChar char="•"/>
              <a:defRPr sz="2850" kern="1200">
                <a:solidFill>
                  <a:schemeClr val="tx1"/>
                </a:solidFill>
                <a:latin typeface="+mn-lt"/>
                <a:ea typeface="+mn-ea"/>
                <a:cs typeface="+mn-cs"/>
              </a:defRPr>
            </a:lvl1pPr>
            <a:lvl2pPr marL="663575" indent="-255270" algn="l" defTabSz="816610" rtl="0" eaLnBrk="1" latinLnBrk="0" hangingPunct="1">
              <a:spcBef>
                <a:spcPct val="20000"/>
              </a:spcBef>
              <a:buFont typeface="Arial" panose="020B0604020202090204" pitchFamily="34" charset="0"/>
              <a:buChar char="–"/>
              <a:defRPr sz="2475" kern="1200">
                <a:solidFill>
                  <a:schemeClr val="tx1"/>
                </a:solidFill>
                <a:latin typeface="+mn-lt"/>
                <a:ea typeface="+mn-ea"/>
                <a:cs typeface="+mn-cs"/>
              </a:defRPr>
            </a:lvl2pPr>
            <a:lvl3pPr marL="1020445" indent="-203835" algn="l" defTabSz="816610" rtl="0" eaLnBrk="1" latinLnBrk="0" hangingPunct="1">
              <a:spcBef>
                <a:spcPct val="20000"/>
              </a:spcBef>
              <a:buFont typeface="Arial" panose="020B0604020202090204" pitchFamily="34" charset="0"/>
              <a:buChar char="•"/>
              <a:defRPr sz="2175" kern="1200">
                <a:solidFill>
                  <a:schemeClr val="tx1"/>
                </a:solidFill>
                <a:latin typeface="+mn-lt"/>
                <a:ea typeface="+mn-ea"/>
                <a:cs typeface="+mn-cs"/>
              </a:defRPr>
            </a:lvl3pPr>
            <a:lvl4pPr marL="142875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4pPr>
            <a:lvl5pPr marL="183705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5pPr>
            <a:lvl6pPr marL="224536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6pPr>
            <a:lvl7pPr marL="265366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7pPr>
            <a:lvl8pPr marL="306197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8pPr>
            <a:lvl9pPr marL="347027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9pPr>
          </a:lstStyle>
          <a:p>
            <a:pPr marL="0" indent="0">
              <a:spcBef>
                <a:spcPts val="2400"/>
              </a:spcBef>
              <a:buNone/>
              <a:defRPr/>
            </a:pPr>
            <a:endParaRPr lang="en-US" altLang="zh-CN" sz="2400" dirty="0">
              <a:solidFill>
                <a:srgbClr val="FF0000"/>
              </a:solidFill>
              <a:latin typeface="Times New Roman" panose="02020603050405020304" pitchFamily="18" charset="0"/>
              <a:cs typeface="Times New Roman" panose="02020603050405020304" pitchFamily="18" charset="0"/>
            </a:endParaRPr>
          </a:p>
          <a:p>
            <a:pPr marL="3599815">
              <a:buClr>
                <a:srgbClr val="0070C0"/>
              </a:buClr>
              <a:buFont typeface="Wingdings" panose="05000000000000000000" pitchFamily="2" charset="2"/>
              <a:buChar char="n"/>
              <a:defRPr/>
            </a:pPr>
            <a:r>
              <a:rPr lang="zh-CN" altLang="en-US" sz="2400" dirty="0">
                <a:latin typeface="Times New Roman" panose="02020603050405020304" pitchFamily="18" charset="0"/>
                <a:cs typeface="Times New Roman" panose="02020603050405020304" pitchFamily="18" charset="0"/>
              </a:rPr>
              <a:t>步骤三：若像素点</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为候选点，计算</a:t>
            </a:r>
            <a:r>
              <a:rPr lang="en-US" altLang="zh-CN" sz="2400" dirty="0">
                <a:latin typeface="Times New Roman" panose="02020603050405020304" pitchFamily="18" charset="0"/>
                <a:cs typeface="Times New Roman" panose="02020603050405020304" pitchFamily="18" charset="0"/>
              </a:rPr>
              <a:t>16</a:t>
            </a:r>
            <a:r>
              <a:rPr lang="zh-CN" altLang="en-US" sz="2400" dirty="0">
                <a:latin typeface="Times New Roman" panose="02020603050405020304" pitchFamily="18" charset="0"/>
                <a:cs typeface="Times New Roman" panose="02020603050405020304" pitchFamily="18" charset="0"/>
              </a:rPr>
              <a:t>个像素点与中心像素点</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的像素差，若计算出像素差的绝对值至少有</a:t>
            </a:r>
            <a:r>
              <a:rPr lang="en-US" altLang="zh-CN" sz="2400" dirty="0">
                <a:latin typeface="Times New Roman" panose="02020603050405020304" pitchFamily="18" charset="0"/>
                <a:cs typeface="Times New Roman" panose="02020603050405020304" pitchFamily="18" charset="0"/>
              </a:rPr>
              <a:t>9</a:t>
            </a:r>
            <a:r>
              <a:rPr lang="zh-CN" altLang="en-US" sz="2400" dirty="0">
                <a:latin typeface="Times New Roman" panose="02020603050405020304" pitchFamily="18" charset="0"/>
                <a:cs typeface="Times New Roman" panose="02020603050405020304" pitchFamily="18" charset="0"/>
              </a:rPr>
              <a:t>个超过阈值，则认定为特征点；否则，直接舍弃。</a:t>
            </a:r>
            <a:endParaRPr lang="en-US" altLang="zh-CN" sz="2400" dirty="0">
              <a:latin typeface="Times New Roman" panose="02020603050405020304" pitchFamily="18" charset="0"/>
              <a:cs typeface="Times New Roman" panose="02020603050405020304" pitchFamily="18" charset="0"/>
            </a:endParaRPr>
          </a:p>
          <a:p>
            <a:pPr marL="3599815">
              <a:buClr>
                <a:srgbClr val="0070C0"/>
              </a:buClr>
              <a:buFont typeface="Wingdings" panose="05000000000000000000" pitchFamily="2" charset="2"/>
              <a:buChar char="n"/>
              <a:defRPr/>
            </a:pPr>
            <a:r>
              <a:rPr lang="zh-CN" altLang="en-US" sz="2400" dirty="0">
                <a:latin typeface="Times New Roman" panose="02020603050405020304" pitchFamily="18" charset="0"/>
                <a:cs typeface="Times New Roman" panose="02020603050405020304" pitchFamily="18" charset="0"/>
              </a:rPr>
              <a:t>步骤四：用非极大值抑制的方法解决探测到的特征点相互连接的问题。</a:t>
            </a:r>
            <a:endParaRPr lang="en-US" altLang="zh-CN" sz="2400" dirty="0">
              <a:latin typeface="Times New Roman" panose="02020603050405020304" pitchFamily="18" charset="0"/>
              <a:cs typeface="Times New Roman" panose="02020603050405020304" pitchFamily="18" charset="0"/>
            </a:endParaRPr>
          </a:p>
        </p:txBody>
      </p:sp>
      <p:sp>
        <p:nvSpPr>
          <p:cNvPr id="13" name="文本框 12"/>
          <p:cNvSpPr txBox="1"/>
          <p:nvPr/>
        </p:nvSpPr>
        <p:spPr>
          <a:xfrm>
            <a:off x="396330" y="3141762"/>
            <a:ext cx="8445020" cy="830997"/>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zh-CN" sz="2400" kern="100" dirty="0">
                <a:effectLst/>
                <a:latin typeface="Times New Roman" panose="02020603050405020304" pitchFamily="18" charset="0"/>
                <a:ea typeface="宋体" pitchFamily="2" charset="-122"/>
                <a:cs typeface="Times New Roman" panose="02020603050405020304" pitchFamily="18" charset="0"/>
              </a:rPr>
              <a:t>对所有检测到的特征点计算打分函数Ｖ，打分函数</a:t>
            </a:r>
            <a:r>
              <a:rPr lang="en-US" altLang="zh-CN" sz="2400" kern="100" dirty="0">
                <a:effectLst/>
                <a:latin typeface="Times New Roman" panose="02020603050405020304" pitchFamily="18" charset="0"/>
                <a:ea typeface="宋体" pitchFamily="2" charset="-122"/>
                <a:cs typeface="Times New Roman" panose="02020603050405020304" pitchFamily="18" charset="0"/>
              </a:rPr>
              <a:t>V</a:t>
            </a:r>
            <a:r>
              <a:rPr lang="zh-CN" altLang="zh-CN" sz="2400" kern="100" dirty="0">
                <a:effectLst/>
                <a:latin typeface="Times New Roman" panose="02020603050405020304" pitchFamily="18" charset="0"/>
                <a:ea typeface="宋体" pitchFamily="2" charset="-122"/>
                <a:cs typeface="Times New Roman" panose="02020603050405020304" pitchFamily="18" charset="0"/>
              </a:rPr>
              <a:t>如公式</a:t>
            </a:r>
            <a:r>
              <a:rPr lang="en-US" altLang="zh-CN" sz="2400" kern="100" dirty="0">
                <a:effectLst/>
                <a:latin typeface="Times New Roman" panose="02020603050405020304" pitchFamily="18" charset="0"/>
                <a:ea typeface="宋体" pitchFamily="2" charset="-122"/>
                <a:cs typeface="Times New Roman" panose="02020603050405020304" pitchFamily="18" charset="0"/>
              </a:rPr>
              <a:t>(9-11)</a:t>
            </a:r>
            <a:r>
              <a:rPr lang="zh-CN" altLang="zh-CN" sz="2400" kern="100" dirty="0">
                <a:effectLst/>
                <a:latin typeface="Times New Roman" panose="02020603050405020304" pitchFamily="18" charset="0"/>
                <a:ea typeface="宋体" pitchFamily="2" charset="-122"/>
                <a:cs typeface="Times New Roman" panose="02020603050405020304" pitchFamily="18" charset="0"/>
              </a:rPr>
              <a:t>所示。</a:t>
            </a:r>
            <a:endParaRPr lang="zh-CN"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5" name="文本框 14"/>
              <p:cNvSpPr txBox="1"/>
              <p:nvPr/>
            </p:nvSpPr>
            <p:spPr>
              <a:xfrm>
                <a:off x="1188418" y="4005858"/>
                <a:ext cx="6059008" cy="87485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𝑉</m:t>
                      </m:r>
                      <m:r>
                        <a:rPr lang="zh-CN" altLang="en-US" i="0">
                          <a:latin typeface="Cambria Math" panose="02040503050406030204" pitchFamily="18" charset="0"/>
                        </a:rPr>
                        <m:t>=</m:t>
                      </m:r>
                      <m:nary>
                        <m:naryPr>
                          <m:chr m:val="∑"/>
                          <m:subHide m:val="on"/>
                          <m:supHide m:val="on"/>
                          <m:ctrlPr>
                            <a:rPr lang="zh-CN" altLang="en-US" i="1">
                              <a:latin typeface="Cambria Math" panose="02040503050406030204" pitchFamily="18" charset="0"/>
                            </a:rPr>
                          </m:ctrlPr>
                        </m:naryPr>
                        <m:sub/>
                        <m:sup/>
                        <m:e>
                          <m:d>
                            <m:dPr>
                              <m:begChr m:val="|"/>
                              <m:endChr m:val="|"/>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𝑝𝑖𝑥𝑒𝑙</m:t>
                              </m:r>
                              <m:r>
                                <a:rPr lang="zh-CN" altLang="en-US" i="0">
                                  <a:latin typeface="Cambria Math" panose="02040503050406030204" pitchFamily="18" charset="0"/>
                                </a:rPr>
                                <m:t> </m:t>
                              </m:r>
                              <m:r>
                                <a:rPr lang="zh-CN" altLang="en-US" i="1">
                                  <a:latin typeface="Cambria Math" panose="02040503050406030204" pitchFamily="18" charset="0"/>
                                </a:rPr>
                                <m:t>𝑣𝑎𝑙𝑢𝑒𝑠</m:t>
                              </m:r>
                              <m:r>
                                <a:rPr lang="zh-CN" altLang="en-US" i="0">
                                  <a:latin typeface="Cambria Math" panose="02040503050406030204" pitchFamily="18" charset="0"/>
                                </a:rPr>
                                <m:t>−</m:t>
                              </m:r>
                              <m:r>
                                <a:rPr lang="zh-CN" altLang="en-US" i="1">
                                  <a:latin typeface="Cambria Math" panose="02040503050406030204" pitchFamily="18" charset="0"/>
                                </a:rPr>
                                <m:t>𝑝</m:t>
                              </m:r>
                            </m:e>
                          </m:d>
                        </m:e>
                      </m:nary>
                    </m:oMath>
                  </m:oMathPara>
                </a14:m>
                <a:endParaRPr lang="zh-CN" altLang="en-US" dirty="0"/>
              </a:p>
            </p:txBody>
          </p:sp>
        </mc:Choice>
        <mc:Fallback>
          <p:sp>
            <p:nvSpPr>
              <p:cNvPr id="15" name="文本框 14"/>
              <p:cNvSpPr txBox="1">
                <a:spLocks noRot="1" noChangeAspect="1" noMove="1" noResize="1" noEditPoints="1" noAdjustHandles="1" noChangeArrowheads="1" noChangeShapeType="1" noTextEdit="1"/>
              </p:cNvSpPr>
              <p:nvPr/>
            </p:nvSpPr>
            <p:spPr>
              <a:xfrm>
                <a:off x="1188418" y="4005858"/>
                <a:ext cx="6059008" cy="874855"/>
              </a:xfrm>
              <a:prstGeom prst="rect">
                <a:avLst/>
              </a:prstGeom>
              <a:blipFill rotWithShape="1">
                <a:blip r:embed="rId1"/>
                <a:stretch>
                  <a:fillRect l="-5" t="-32" r="3" b="12"/>
                </a:stretch>
              </a:blipFill>
            </p:spPr>
            <p:txBody>
              <a:bodyPr/>
              <a:lstStyle/>
              <a:p>
                <a:r>
                  <a:rPr lang="zh-CN" altLang="en-US">
                    <a:noFill/>
                  </a:rPr>
                  <a:t> </a:t>
                </a:r>
              </a:p>
            </p:txBody>
          </p:sp>
        </mc:Fallback>
      </mc:AlternateContent>
      <p:sp>
        <p:nvSpPr>
          <p:cNvPr id="18" name="文本框 17"/>
          <p:cNvSpPr txBox="1"/>
          <p:nvPr/>
        </p:nvSpPr>
        <p:spPr>
          <a:xfrm>
            <a:off x="7442778" y="4192265"/>
            <a:ext cx="6059008" cy="461665"/>
          </a:xfrm>
          <a:prstGeom prst="rect">
            <a:avLst/>
          </a:prstGeom>
          <a:noFill/>
        </p:spPr>
        <p:txBody>
          <a:bodyPr wrap="square">
            <a:spAutoFit/>
          </a:bodyPr>
          <a:lstStyle/>
          <a:p>
            <a:r>
              <a:rPr lang="en-US" altLang="zh-CN" sz="2400" dirty="0">
                <a:effectLst/>
                <a:latin typeface="宋体" pitchFamily="2" charset="-122"/>
                <a:cs typeface="宋体" pitchFamily="2" charset="-122"/>
              </a:rPr>
              <a:t>(</a:t>
            </a:r>
            <a:r>
              <a:rPr lang="en-US" altLang="zh-CN" sz="2400" dirty="0">
                <a:effectLst/>
                <a:latin typeface="Times New Roman" panose="02020603050405020304" pitchFamily="18" charset="0"/>
                <a:ea typeface="宋体" pitchFamily="2" charset="-122"/>
              </a:rPr>
              <a:t>9-11</a:t>
            </a:r>
            <a:r>
              <a:rPr lang="en-US" altLang="zh-CN" sz="2400" dirty="0">
                <a:effectLst/>
                <a:latin typeface="宋体" pitchFamily="2" charset="-122"/>
                <a:cs typeface="宋体" pitchFamily="2" charset="-122"/>
              </a:rPr>
              <a:t>)</a:t>
            </a:r>
            <a:endParaRPr lang="zh-CN" altLang="en-US" dirty="0"/>
          </a:p>
        </p:txBody>
      </p:sp>
    </p:spTree>
  </p:cSld>
  <p:clrMapOvr>
    <a:masterClrMapping/>
  </p:clrMapOvr>
  <p:transition spd="slow" advClick="0" advTm="0">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3" name="文本框 12"/>
          <p:cNvSpPr txBox="1"/>
          <p:nvPr/>
        </p:nvSpPr>
        <p:spPr>
          <a:xfrm>
            <a:off x="252314" y="1197546"/>
            <a:ext cx="8445020" cy="830997"/>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en-US" sz="2400" kern="100" dirty="0">
                <a:effectLst/>
                <a:latin typeface="Times New Roman" panose="02020603050405020304" pitchFamily="18" charset="0"/>
                <a:ea typeface="宋体" pitchFamily="2" charset="-122"/>
                <a:cs typeface="Times New Roman" panose="02020603050405020304" pitchFamily="18" charset="0"/>
              </a:rPr>
              <a:t>若</a:t>
            </a:r>
            <a:r>
              <a:rPr lang="en-US" altLang="zh-CN" sz="2400" kern="100" dirty="0">
                <a:effectLst/>
                <a:latin typeface="Times New Roman" panose="02020603050405020304" pitchFamily="18" charset="0"/>
                <a:ea typeface="宋体" pitchFamily="2" charset="-122"/>
                <a:cs typeface="Times New Roman" panose="02020603050405020304" pitchFamily="18" charset="0"/>
              </a:rPr>
              <a:t>p</a:t>
            </a:r>
            <a:r>
              <a:rPr lang="zh-CN" altLang="en-US" sz="2400" kern="100" dirty="0">
                <a:effectLst/>
                <a:latin typeface="Times New Roman" panose="02020603050405020304" pitchFamily="18" charset="0"/>
                <a:ea typeface="宋体" pitchFamily="2" charset="-122"/>
                <a:cs typeface="Times New Roman" panose="02020603050405020304" pitchFamily="18" charset="0"/>
              </a:rPr>
              <a:t>的</a:t>
            </a:r>
            <a:r>
              <a:rPr lang="en-US" altLang="zh-CN" sz="2400" kern="100" dirty="0">
                <a:effectLst/>
                <a:latin typeface="Times New Roman" panose="02020603050405020304" pitchFamily="18" charset="0"/>
                <a:ea typeface="宋体" pitchFamily="2" charset="-122"/>
                <a:cs typeface="Times New Roman" panose="02020603050405020304" pitchFamily="18" charset="0"/>
              </a:rPr>
              <a:t>V</a:t>
            </a:r>
            <a:r>
              <a:rPr lang="zh-CN" altLang="en-US" sz="2400" kern="100" dirty="0">
                <a:effectLst/>
                <a:latin typeface="Times New Roman" panose="02020603050405020304" pitchFamily="18" charset="0"/>
                <a:ea typeface="宋体" pitchFamily="2" charset="-122"/>
                <a:cs typeface="Times New Roman" panose="02020603050405020304" pitchFamily="18" charset="0"/>
              </a:rPr>
              <a:t>值是邻域内最大的，则保留；否则，抑制。若邻域内只有一个角点，则保留。结果如下图所示。</a:t>
            </a:r>
            <a:endParaRPr lang="zh-CN" altLang="en-US"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2268538" y="6297580"/>
            <a:ext cx="3960440" cy="430887"/>
          </a:xfrm>
          <a:prstGeom prst="rect">
            <a:avLst/>
          </a:prstGeom>
          <a:noFill/>
        </p:spPr>
        <p:txBody>
          <a:bodyPr wrap="square">
            <a:spAutoFit/>
          </a:bodyPr>
          <a:lstStyle/>
          <a:p>
            <a:pPr indent="266700" algn="ctr"/>
            <a:r>
              <a:rPr lang="zh-CN" altLang="zh-CN" sz="2200" kern="100" dirty="0">
                <a:effectLst/>
                <a:latin typeface="Times New Roman" panose="02020603050405020304" pitchFamily="18" charset="0"/>
                <a:ea typeface="宋体" pitchFamily="2" charset="-122"/>
              </a:rPr>
              <a:t>图</a:t>
            </a:r>
            <a:r>
              <a:rPr lang="en-US" altLang="zh-CN" sz="2200" kern="100" dirty="0">
                <a:effectLst/>
                <a:latin typeface="Times New Roman" panose="02020603050405020304" pitchFamily="18" charset="0"/>
                <a:ea typeface="宋体" pitchFamily="2" charset="-122"/>
              </a:rPr>
              <a:t>9.6   </a:t>
            </a:r>
            <a:r>
              <a:rPr lang="zh-CN" altLang="zh-CN" sz="2200" kern="100" dirty="0">
                <a:effectLst/>
                <a:latin typeface="Times New Roman" panose="02020603050405020304" pitchFamily="18" charset="0"/>
                <a:ea typeface="宋体" pitchFamily="2" charset="-122"/>
              </a:rPr>
              <a:t>示意图</a:t>
            </a:r>
            <a:endParaRPr lang="zh-CN" altLang="zh-CN" sz="2200" kern="100" dirty="0">
              <a:effectLst/>
              <a:latin typeface="Times New Roman" panose="02020603050405020304" pitchFamily="18" charset="0"/>
              <a:ea typeface="宋体" pitchFamily="2" charset="-122"/>
            </a:endParaRPr>
          </a:p>
        </p:txBody>
      </p:sp>
      <p:pic>
        <p:nvPicPr>
          <p:cNvPr id="194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9477" y="2138152"/>
            <a:ext cx="8426634" cy="41086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advClick="0" advTm="0">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482189" y="1197546"/>
            <a:ext cx="8554843" cy="520848"/>
          </a:xfrm>
          <a:prstGeom prst="rect">
            <a:avLst/>
          </a:prstGeom>
          <a:noFill/>
        </p:spPr>
        <p:txBody>
          <a:bodyPr wrap="square">
            <a:spAutoFit/>
          </a:bodyPr>
          <a:lstStyle/>
          <a:p>
            <a:pPr marL="342900" indent="-342900">
              <a:lnSpc>
                <a:spcPct val="130000"/>
              </a:lnSpc>
              <a:spcBef>
                <a:spcPts val="2400"/>
              </a:spcBef>
              <a:buFont typeface="Wingdings" panose="05000000000000000000" pitchFamily="2" charset="2"/>
              <a:buChar char="Ø"/>
              <a:defRPr/>
            </a:pPr>
            <a:r>
              <a:rPr lang="zh-CN" altLang="en-US" sz="2400" b="1" dirty="0">
                <a:solidFill>
                  <a:srgbClr val="000000"/>
                </a:solidFill>
                <a:latin typeface="Times New Roman" panose="02020603050405020304" pitchFamily="18" charset="0"/>
                <a:cs typeface="Times New Roman" panose="02020603050405020304" pitchFamily="18" charset="0"/>
              </a:rPr>
              <a:t> </a:t>
            </a:r>
            <a:r>
              <a:rPr lang="en-US" altLang="zh-CN" sz="2400" b="1" dirty="0" err="1">
                <a:solidFill>
                  <a:srgbClr val="000000"/>
                </a:solidFill>
                <a:latin typeface="Times New Roman" panose="02020603050405020304" pitchFamily="18" charset="0"/>
                <a:cs typeface="Times New Roman" panose="02020603050405020304" pitchFamily="18" charset="0"/>
              </a:rPr>
              <a:t>Python+Opencv</a:t>
            </a:r>
            <a:r>
              <a:rPr lang="zh-CN" altLang="en-US" sz="2400" b="1" dirty="0">
                <a:solidFill>
                  <a:srgbClr val="000000"/>
                </a:solidFill>
                <a:latin typeface="Times New Roman" panose="02020603050405020304" pitchFamily="18" charset="0"/>
                <a:cs typeface="Times New Roman" panose="02020603050405020304" pitchFamily="18" charset="0"/>
              </a:rPr>
              <a:t>实现</a:t>
            </a:r>
            <a:r>
              <a:rPr lang="en-US" altLang="zh-CN" sz="2400" b="1" dirty="0">
                <a:solidFill>
                  <a:srgbClr val="000000"/>
                </a:solidFill>
                <a:latin typeface="Times New Roman" panose="02020603050405020304" pitchFamily="18" charset="0"/>
                <a:cs typeface="Times New Roman" panose="02020603050405020304" pitchFamily="18" charset="0"/>
              </a:rPr>
              <a:t>FAST</a:t>
            </a:r>
            <a:r>
              <a:rPr lang="zh-CN" altLang="en-US" sz="2400" b="1" dirty="0">
                <a:solidFill>
                  <a:srgbClr val="000000"/>
                </a:solidFill>
                <a:latin typeface="Times New Roman" panose="02020603050405020304" pitchFamily="18" charset="0"/>
                <a:cs typeface="Times New Roman" panose="02020603050405020304" pitchFamily="18" charset="0"/>
              </a:rPr>
              <a:t>角点检测</a:t>
            </a:r>
            <a:endParaRPr lang="en-US" altLang="zh-CN" sz="2400" b="1" dirty="0">
              <a:solidFill>
                <a:srgbClr val="000000"/>
              </a:solidFill>
              <a:latin typeface="Times New Roman" panose="02020603050405020304" pitchFamily="18" charset="0"/>
              <a:cs typeface="Times New Roman" panose="02020603050405020304" pitchFamily="18" charset="0"/>
            </a:endParaRPr>
          </a:p>
        </p:txBody>
      </p:sp>
      <p:sp>
        <p:nvSpPr>
          <p:cNvPr id="12" name="文本框 11"/>
          <p:cNvSpPr txBox="1"/>
          <p:nvPr/>
        </p:nvSpPr>
        <p:spPr>
          <a:xfrm>
            <a:off x="533398" y="1662693"/>
            <a:ext cx="8165853" cy="830997"/>
          </a:xfrm>
          <a:prstGeom prst="rect">
            <a:avLst/>
          </a:prstGeom>
          <a:noFill/>
        </p:spPr>
        <p:txBody>
          <a:bodyPr wrap="square">
            <a:spAutoFit/>
          </a:bodyPr>
          <a:lstStyle/>
          <a:p>
            <a:pPr indent="266700" algn="just"/>
            <a:r>
              <a:rPr lang="en-US" altLang="zh-CN" sz="2400" kern="100" dirty="0" err="1">
                <a:effectLst/>
                <a:latin typeface="Times New Roman" panose="02020603050405020304" pitchFamily="18" charset="0"/>
                <a:ea typeface="宋体" pitchFamily="2" charset="-122"/>
              </a:rPr>
              <a:t>Opencv</a:t>
            </a:r>
            <a:r>
              <a:rPr lang="zh-CN" altLang="zh-CN" sz="2400" kern="100" dirty="0">
                <a:effectLst/>
                <a:latin typeface="Times New Roman" panose="02020603050405020304" pitchFamily="18" charset="0"/>
                <a:ea typeface="宋体" pitchFamily="2" charset="-122"/>
              </a:rPr>
              <a:t>提供了</a:t>
            </a:r>
            <a:r>
              <a:rPr lang="en-US" altLang="zh-CN" sz="2400" kern="100" dirty="0">
                <a:effectLst/>
                <a:latin typeface="Times New Roman" panose="02020603050405020304" pitchFamily="18" charset="0"/>
                <a:ea typeface="宋体" pitchFamily="2" charset="-122"/>
              </a:rPr>
              <a:t>cv2.FastFeatureDetector_create()</a:t>
            </a:r>
            <a:r>
              <a:rPr lang="zh-CN" altLang="zh-CN" sz="2400" kern="100" dirty="0">
                <a:effectLst/>
                <a:latin typeface="Times New Roman" panose="02020603050405020304" pitchFamily="18" charset="0"/>
                <a:ea typeface="宋体" pitchFamily="2" charset="-122"/>
              </a:rPr>
              <a:t>函数来创建</a:t>
            </a:r>
            <a:r>
              <a:rPr lang="en-US" altLang="zh-CN" sz="2400" kern="100" dirty="0">
                <a:effectLst/>
                <a:latin typeface="Times New Roman" panose="02020603050405020304" pitchFamily="18" charset="0"/>
                <a:ea typeface="宋体" pitchFamily="2" charset="-122"/>
              </a:rPr>
              <a:t>FAST</a:t>
            </a:r>
            <a:r>
              <a:rPr lang="zh-CN" altLang="zh-CN" sz="2400" kern="100" dirty="0">
                <a:effectLst/>
                <a:latin typeface="Times New Roman" panose="02020603050405020304" pitchFamily="18" charset="0"/>
                <a:ea typeface="宋体" pitchFamily="2" charset="-122"/>
              </a:rPr>
              <a:t>检测器，该函数的调用语法为：</a:t>
            </a:r>
            <a:endParaRPr lang="en-US" altLang="zh-CN" sz="2400" kern="100" dirty="0">
              <a:effectLst/>
              <a:latin typeface="Times New Roman" panose="02020603050405020304" pitchFamily="18" charset="0"/>
              <a:ea typeface="宋体" pitchFamily="2" charset="-122"/>
            </a:endParaRPr>
          </a:p>
        </p:txBody>
      </p:sp>
      <mc:AlternateContent xmlns:mc="http://schemas.openxmlformats.org/markup-compatibility/2006">
        <mc:Choice xmlns:a14="http://schemas.microsoft.com/office/drawing/2010/main" Requires="a14">
          <p:sp>
            <p:nvSpPr>
              <p:cNvPr id="14" name="文本框 13"/>
              <p:cNvSpPr txBox="1"/>
              <p:nvPr/>
            </p:nvSpPr>
            <p:spPr>
              <a:xfrm>
                <a:off x="511397" y="2493690"/>
                <a:ext cx="8165853" cy="2677656"/>
              </a:xfrm>
              <a:prstGeom prst="rect">
                <a:avLst/>
              </a:prstGeom>
              <a:solidFill>
                <a:srgbClr val="C7C7C7"/>
              </a:solidFill>
            </p:spPr>
            <p:txBody>
              <a:bodyPr wrap="square">
                <a:spAutoFit/>
              </a:bodyPr>
              <a:lstStyle/>
              <a:p>
                <a:pPr indent="266700" algn="just"/>
                <a:r>
                  <a:rPr lang="en-US" altLang="zh-CN" sz="2000" kern="100" dirty="0">
                    <a:effectLst/>
                    <a:latin typeface="Times New Roman" panose="02020603050405020304" pitchFamily="18" charset="0"/>
                    <a:ea typeface="宋体" pitchFamily="2" charset="-122"/>
                  </a:rPr>
                  <a:t> </a:t>
                </a:r>
                <a:r>
                  <a:rPr lang="en-US" altLang="zh-CN" sz="2000" kern="100" dirty="0" err="1">
                    <a:effectLst/>
                    <a:latin typeface="Times New Roman" panose="02020603050405020304" pitchFamily="18" charset="0"/>
                    <a:ea typeface="宋体" pitchFamily="2" charset="-122"/>
                  </a:rPr>
                  <a:t>etval</a:t>
                </a:r>
                <a:r>
                  <a:rPr lang="en-US" altLang="zh-CN" sz="2000" kern="100" dirty="0">
                    <a:effectLst/>
                    <a:latin typeface="Times New Roman" panose="02020603050405020304" pitchFamily="18" charset="0"/>
                    <a:ea typeface="宋体" pitchFamily="2" charset="-122"/>
                  </a:rPr>
                  <a:t>=cv2.FastFeatureDetector_create([,threshold[,</a:t>
                </a:r>
                <a:r>
                  <a:rPr lang="en-US" altLang="zh-CN" sz="2000" kern="100" dirty="0" err="1">
                    <a:effectLst/>
                    <a:latin typeface="Times New Roman" panose="02020603050405020304" pitchFamily="18" charset="0"/>
                    <a:ea typeface="宋体" pitchFamily="2" charset="-122"/>
                  </a:rPr>
                  <a:t>nonmaxSuppression</a:t>
                </a:r>
                <a:r>
                  <a:rPr lang="en-US" altLang="zh-CN" sz="2000" kern="100" dirty="0">
                    <a:effectLst/>
                    <a:latin typeface="Times New Roman" panose="02020603050405020304" pitchFamily="18" charset="0"/>
                    <a:ea typeface="宋体" pitchFamily="2" charset="-122"/>
                  </a:rPr>
                  <a:t>[, type]]])</a:t>
                </a:r>
                <a:endParaRPr lang="en-US" altLang="zh-CN" sz="2000" kern="100" dirty="0">
                  <a:solidFill>
                    <a:srgbClr val="000000"/>
                  </a:solidFill>
                  <a:latin typeface="Times New Roman" panose="02020603050405020304" pitchFamily="18" charset="0"/>
                  <a:ea typeface="宋体" pitchFamily="2" charset="-122"/>
                </a:endParaRPr>
              </a:p>
              <a:p>
                <a:pPr indent="266700" algn="just"/>
                <a:r>
                  <a:rPr lang="en-US" altLang="zh-CN" sz="2000" kern="100" dirty="0">
                    <a:solidFill>
                      <a:srgbClr val="000000"/>
                    </a:solidFill>
                    <a:latin typeface="Times New Roman" panose="02020603050405020304" pitchFamily="18" charset="0"/>
                    <a:ea typeface="宋体" pitchFamily="2" charset="-122"/>
                  </a:rPr>
                  <a:t> </a:t>
                </a:r>
                <a:r>
                  <a:rPr lang="zh-CN" altLang="en-US" sz="2000" kern="100" dirty="0">
                    <a:solidFill>
                      <a:srgbClr val="000000"/>
                    </a:solidFill>
                    <a:latin typeface="Times New Roman" panose="02020603050405020304" pitchFamily="18" charset="0"/>
                    <a:ea typeface="宋体" pitchFamily="2" charset="-122"/>
                  </a:rPr>
                  <a:t>参数说明：</a:t>
                </a:r>
                <a:endParaRPr lang="zh-CN" altLang="zh-CN" sz="2000" kern="100" dirty="0">
                  <a:solidFill>
                    <a:srgbClr val="000000"/>
                  </a:solidFill>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etval</a:t>
                </a:r>
                <a:r>
                  <a:rPr lang="zh-CN" altLang="zh-CN" sz="1800" kern="100" dirty="0">
                    <a:effectLst/>
                    <a:latin typeface="Times New Roman" panose="02020603050405020304" pitchFamily="18" charset="0"/>
                    <a:ea typeface="宋体" pitchFamily="2" charset="-122"/>
                  </a:rPr>
                  <a:t>：表示输出</a:t>
                </a:r>
                <a:r>
                  <a:rPr lang="en-US" altLang="zh-CN" sz="1800" kern="100" dirty="0">
                    <a:effectLst/>
                    <a:latin typeface="Times New Roman" panose="02020603050405020304" pitchFamily="18" charset="0"/>
                    <a:ea typeface="宋体" pitchFamily="2" charset="-122"/>
                  </a:rPr>
                  <a:t>FAST</a:t>
                </a:r>
                <a:r>
                  <a:rPr lang="zh-CN" altLang="zh-CN" sz="1800" kern="100" dirty="0">
                    <a:effectLst/>
                    <a:latin typeface="Times New Roman" panose="02020603050405020304" pitchFamily="18" charset="0"/>
                    <a:ea typeface="宋体" pitchFamily="2" charset="-122"/>
                  </a:rPr>
                  <a:t>检测器。</a:t>
                </a:r>
                <a:endParaRPr lang="zh-CN" altLang="zh-CN" sz="18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rPr>
                  <a:t>threshold</a:t>
                </a:r>
                <a:r>
                  <a:rPr lang="zh-CN" altLang="zh-CN" sz="1800" kern="100" dirty="0">
                    <a:effectLst/>
                    <a:latin typeface="Times New Roman" panose="02020603050405020304" pitchFamily="18" charset="0"/>
                    <a:ea typeface="宋体" pitchFamily="2" charset="-122"/>
                  </a:rPr>
                  <a:t>：表示需要设置的阈值。该参数用于比较中心像素</a:t>
                </a:r>
                <a:r>
                  <a:rPr lang="en-US" altLang="zh-CN" sz="1800" kern="100" dirty="0">
                    <a:effectLst/>
                    <a:latin typeface="Times New Roman" panose="02020603050405020304" pitchFamily="18" charset="0"/>
                    <a:ea typeface="宋体" pitchFamily="2" charset="-122"/>
                  </a:rPr>
                  <a:t>p</a:t>
                </a:r>
                <a:r>
                  <a:rPr lang="zh-CN" altLang="zh-CN" sz="1800" kern="100" dirty="0">
                    <a:effectLst/>
                    <a:latin typeface="Times New Roman" panose="02020603050405020304" pitchFamily="18" charset="0"/>
                    <a:ea typeface="宋体" pitchFamily="2" charset="-122"/>
                  </a:rPr>
                  <a:t>与邻域像素</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itchFamily="2" charset="-122"/>
                          </a:rPr>
                          <m:t>𝑝</m:t>
                        </m:r>
                      </m:e>
                      <m:sub>
                        <m:r>
                          <a:rPr lang="en-US" altLang="zh-CN" sz="1800" i="1" kern="100">
                            <a:effectLst/>
                            <a:latin typeface="Cambria Math" panose="02040503050406030204" pitchFamily="18" charset="0"/>
                            <a:ea typeface="宋体" pitchFamily="2" charset="-122"/>
                          </a:rPr>
                          <m:t>𝑛</m:t>
                        </m:r>
                      </m:sub>
                    </m:sSub>
                  </m:oMath>
                </a14:m>
                <a:r>
                  <a:rPr lang="zh-CN" altLang="zh-CN" sz="1800" kern="100" dirty="0">
                    <a:effectLst/>
                    <a:latin typeface="Times New Roman" panose="02020603050405020304" pitchFamily="18" charset="0"/>
                    <a:ea typeface="宋体" pitchFamily="2" charset="-122"/>
                  </a:rPr>
                  <a:t>的像素差。</a:t>
                </a:r>
                <a:endParaRPr lang="zh-CN" altLang="zh-CN" sz="18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nonmaxSuppression</a:t>
                </a:r>
                <a:r>
                  <a:rPr lang="zh-CN" altLang="zh-CN" sz="1800" kern="100" dirty="0">
                    <a:effectLst/>
                    <a:latin typeface="Times New Roman" panose="02020603050405020304" pitchFamily="18" charset="0"/>
                    <a:ea typeface="宋体" pitchFamily="2" charset="-122"/>
                  </a:rPr>
                  <a:t>：表示是否使用非极大值抑制。若该参数设为</a:t>
                </a:r>
                <a:r>
                  <a:rPr lang="en-US" altLang="zh-CN" sz="1800" kern="100" dirty="0">
                    <a:effectLst/>
                    <a:latin typeface="Times New Roman" panose="02020603050405020304" pitchFamily="18" charset="0"/>
                    <a:ea typeface="宋体" pitchFamily="2" charset="-122"/>
                  </a:rPr>
                  <a:t>True</a:t>
                </a:r>
                <a:r>
                  <a:rPr lang="zh-CN" altLang="zh-CN" sz="1800" kern="100" dirty="0">
                    <a:effectLst/>
                    <a:latin typeface="Times New Roman" panose="02020603050405020304" pitchFamily="18" charset="0"/>
                    <a:ea typeface="宋体" pitchFamily="2" charset="-122"/>
                  </a:rPr>
                  <a:t>，则使用非极大值抑制。</a:t>
                </a:r>
                <a:endParaRPr lang="en-US" altLang="zh-CN" sz="18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rPr>
                  <a:t>type</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：表示邻域大小。该参数有三种选择，如表</a:t>
                </a:r>
                <a:r>
                  <a:rPr lang="en-US" altLang="zh-CN" sz="1800" kern="100" dirty="0">
                    <a:effectLst/>
                    <a:latin typeface="Times New Roman" panose="02020603050405020304" pitchFamily="18" charset="0"/>
                    <a:ea typeface="宋体" pitchFamily="2" charset="-122"/>
                  </a:rPr>
                  <a:t>9.1</a:t>
                </a:r>
                <a:r>
                  <a:rPr lang="zh-CN" altLang="zh-CN" sz="1800" kern="100" dirty="0">
                    <a:effectLst/>
                    <a:latin typeface="Times New Roman" panose="02020603050405020304" pitchFamily="18" charset="0"/>
                    <a:ea typeface="宋体" pitchFamily="2" charset="-122"/>
                    <a:cs typeface="Times New Roman" panose="02020603050405020304" pitchFamily="18" charset="0"/>
                  </a:rPr>
                  <a:t>所示</a:t>
                </a:r>
                <a:endParaRPr lang="zh-CN" altLang="zh-CN" sz="2400" kern="100" dirty="0">
                  <a:effectLst/>
                  <a:latin typeface="Times New Roman" panose="02020603050405020304" pitchFamily="18" charset="0"/>
                  <a:ea typeface="宋体" pitchFamily="2" charset="-122"/>
                </a:endParaRPr>
              </a:p>
            </p:txBody>
          </p:sp>
        </mc:Choice>
        <mc:Fallback>
          <p:sp>
            <p:nvSpPr>
              <p:cNvPr id="14" name="文本框 13"/>
              <p:cNvSpPr txBox="1">
                <a:spLocks noRot="1" noChangeAspect="1" noMove="1" noResize="1" noEditPoints="1" noAdjustHandles="1" noChangeArrowheads="1" noChangeShapeType="1" noTextEdit="1"/>
              </p:cNvSpPr>
              <p:nvPr/>
            </p:nvSpPr>
            <p:spPr>
              <a:xfrm>
                <a:off x="511397" y="2493690"/>
                <a:ext cx="8165853" cy="2677656"/>
              </a:xfrm>
              <a:prstGeom prst="rect">
                <a:avLst/>
              </a:prstGeom>
              <a:blipFill rotWithShape="1">
                <a:blip r:embed="rId1"/>
                <a:stretch>
                  <a:fillRect l="-3" t="-2" r="7" b="20"/>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graphicFrame>
        <p:nvGraphicFramePr>
          <p:cNvPr id="4" name="表格 3"/>
          <p:cNvGraphicFramePr>
            <a:graphicFrameLocks noGrp="1"/>
          </p:cNvGraphicFramePr>
          <p:nvPr/>
        </p:nvGraphicFramePr>
        <p:xfrm>
          <a:off x="1524264" y="2040553"/>
          <a:ext cx="6097060" cy="4245610"/>
        </p:xfrm>
        <a:graphic>
          <a:graphicData uri="http://schemas.openxmlformats.org/drawingml/2006/table">
            <a:tbl>
              <a:tblPr firstRow="1" bandRow="1">
                <a:tableStyleId>{5C22544A-7EE6-4342-B048-85BDC9FD1C3A}</a:tableStyleId>
              </a:tblPr>
              <a:tblGrid>
                <a:gridCol w="3048530"/>
                <a:gridCol w="3048530"/>
              </a:tblGrid>
              <a:tr h="370840">
                <a:tc>
                  <a:txBody>
                    <a:bodyPr/>
                    <a:lstStyle/>
                    <a:p>
                      <a:pPr algn="ctr"/>
                      <a:r>
                        <a:rPr lang="en-US" altLang="zh-CN" dirty="0"/>
                        <a:t>type</a:t>
                      </a:r>
                      <a:endParaRPr lang="zh-CN" altLang="en-US" dirty="0"/>
                    </a:p>
                  </a:txBody>
                  <a:tcPr/>
                </a:tc>
                <a:tc>
                  <a:txBody>
                    <a:bodyPr/>
                    <a:lstStyle/>
                    <a:p>
                      <a:pPr algn="ctr"/>
                      <a:r>
                        <a:rPr lang="zh-CN" altLang="en-US" dirty="0"/>
                        <a:t>说明</a:t>
                      </a:r>
                      <a:endParaRPr lang="zh-CN" altLang="en-US" dirty="0"/>
                    </a:p>
                  </a:txBody>
                  <a:tcPr/>
                </a:tc>
              </a:tr>
              <a:tr h="370840">
                <a:tc>
                  <a:txBody>
                    <a:bodyPr/>
                    <a:lstStyle/>
                    <a:p>
                      <a:r>
                        <a:rPr lang="en-US" altLang="zh-CN" dirty="0"/>
                        <a:t>cv2.FAST_FEATURE_DETECTOR_TYPE_5_8</a:t>
                      </a:r>
                      <a:endParaRPr lang="zh-CN" altLang="en-US" dirty="0"/>
                    </a:p>
                  </a:txBody>
                  <a:tcPr anchor="ctr"/>
                </a:tc>
                <a:tc>
                  <a:txBody>
                    <a:bodyPr/>
                    <a:lstStyle/>
                    <a:p>
                      <a:r>
                        <a:rPr lang="zh-CN" altLang="en-US" dirty="0"/>
                        <a:t>有</a:t>
                      </a:r>
                      <a:r>
                        <a:rPr lang="en-US" altLang="zh-CN" b="1" dirty="0"/>
                        <a:t>8</a:t>
                      </a:r>
                      <a:r>
                        <a:rPr lang="zh-CN" altLang="en-US" b="1" dirty="0"/>
                        <a:t>个像素点</a:t>
                      </a:r>
                      <a:r>
                        <a:rPr lang="zh-CN" altLang="en-US" dirty="0"/>
                        <a:t>与中心像素点</a:t>
                      </a:r>
                      <a:r>
                        <a:rPr lang="en-US" altLang="zh-CN" dirty="0"/>
                        <a:t>p</a:t>
                      </a:r>
                      <a:r>
                        <a:rPr lang="zh-CN" altLang="en-US" dirty="0"/>
                        <a:t>作比较，若计算出像素差的绝对值至少有</a:t>
                      </a:r>
                      <a:r>
                        <a:rPr lang="en-US" altLang="zh-CN" b="1" dirty="0"/>
                        <a:t>5</a:t>
                      </a:r>
                      <a:r>
                        <a:rPr lang="zh-CN" altLang="en-US" b="1" dirty="0"/>
                        <a:t>个超过阈值</a:t>
                      </a:r>
                      <a:r>
                        <a:rPr lang="zh-CN" altLang="en-US" dirty="0"/>
                        <a:t>，则认定像素点</a:t>
                      </a:r>
                      <a:r>
                        <a:rPr lang="en-US" altLang="zh-CN" dirty="0"/>
                        <a:t>p</a:t>
                      </a:r>
                      <a:r>
                        <a:rPr lang="zh-CN" altLang="en-US" dirty="0"/>
                        <a:t>为特征点</a:t>
                      </a:r>
                      <a:endParaRPr lang="en-US" altLang="zh-CN" dirty="0"/>
                    </a:p>
                    <a:p>
                      <a:endParaRPr lang="zh-CN" altLang="en-US" dirty="0"/>
                    </a:p>
                  </a:txBody>
                  <a:tcPr/>
                </a:tc>
              </a:tr>
              <a:tr h="370840">
                <a:tc>
                  <a:txBody>
                    <a:bodyPr/>
                    <a:lstStyle/>
                    <a:p>
                      <a:pPr marL="0" marR="0" lvl="0" indent="0" algn="l" defTabSz="816610" rtl="0" eaLnBrk="1" fontAlgn="auto" latinLnBrk="0" hangingPunct="1">
                        <a:lnSpc>
                          <a:spcPct val="100000"/>
                        </a:lnSpc>
                        <a:spcBef>
                          <a:spcPts val="0"/>
                        </a:spcBef>
                        <a:spcAft>
                          <a:spcPts val="0"/>
                        </a:spcAft>
                        <a:buClrTx/>
                        <a:buSzTx/>
                        <a:buFontTx/>
                        <a:buNone/>
                        <a:defRPr/>
                      </a:pPr>
                      <a:r>
                        <a:rPr lang="en-US" altLang="zh-CN" dirty="0"/>
                        <a:t>cv2.FAST_FEATURE_DETECTOR_TYPE_7_12</a:t>
                      </a:r>
                      <a:endParaRPr lang="zh-CN" altLang="en-US" dirty="0"/>
                    </a:p>
                  </a:txBody>
                  <a:tcPr anchor="ctr"/>
                </a:tc>
                <a:tc>
                  <a:txBody>
                    <a:bodyPr/>
                    <a:lstStyle/>
                    <a:p>
                      <a:pPr marL="0" marR="0" lvl="0" indent="0" algn="l" defTabSz="816610" rtl="0" eaLnBrk="1" fontAlgn="auto" latinLnBrk="0" hangingPunct="1">
                        <a:lnSpc>
                          <a:spcPct val="100000"/>
                        </a:lnSpc>
                        <a:spcBef>
                          <a:spcPts val="0"/>
                        </a:spcBef>
                        <a:spcAft>
                          <a:spcPts val="0"/>
                        </a:spcAft>
                        <a:buClrTx/>
                        <a:buSzTx/>
                        <a:buFontTx/>
                        <a:buNone/>
                        <a:defRPr/>
                      </a:pPr>
                      <a:r>
                        <a:rPr lang="zh-CN" altLang="en-US" dirty="0"/>
                        <a:t>有</a:t>
                      </a:r>
                      <a:r>
                        <a:rPr lang="en-US" altLang="zh-CN" b="1" dirty="0"/>
                        <a:t>12</a:t>
                      </a:r>
                      <a:r>
                        <a:rPr lang="zh-CN" altLang="en-US" b="1" dirty="0"/>
                        <a:t>个像素点</a:t>
                      </a:r>
                      <a:r>
                        <a:rPr lang="zh-CN" altLang="en-US" dirty="0"/>
                        <a:t>与中心像素点</a:t>
                      </a:r>
                      <a:r>
                        <a:rPr lang="en-US" altLang="zh-CN" dirty="0"/>
                        <a:t>p</a:t>
                      </a:r>
                      <a:r>
                        <a:rPr lang="zh-CN" altLang="en-US" dirty="0"/>
                        <a:t>作比较，若计算出像素差的绝对值至少有</a:t>
                      </a:r>
                      <a:r>
                        <a:rPr lang="en-US" altLang="zh-CN" b="1" dirty="0"/>
                        <a:t>7</a:t>
                      </a:r>
                      <a:r>
                        <a:rPr lang="zh-CN" altLang="en-US" b="1" dirty="0"/>
                        <a:t>个超过阈值</a:t>
                      </a:r>
                      <a:r>
                        <a:rPr lang="zh-CN" altLang="en-US" dirty="0"/>
                        <a:t>，则认定像素点</a:t>
                      </a:r>
                      <a:r>
                        <a:rPr lang="en-US" altLang="zh-CN" dirty="0"/>
                        <a:t>p</a:t>
                      </a:r>
                      <a:r>
                        <a:rPr lang="zh-CN" altLang="en-US" dirty="0"/>
                        <a:t>为特征点</a:t>
                      </a:r>
                      <a:endParaRPr lang="zh-CN" altLang="en-US" dirty="0"/>
                    </a:p>
                    <a:p>
                      <a:endParaRPr lang="zh-CN" altLang="en-US" dirty="0"/>
                    </a:p>
                  </a:txBody>
                  <a:tcPr/>
                </a:tc>
              </a:tr>
              <a:tr h="370840">
                <a:tc>
                  <a:txBody>
                    <a:bodyPr/>
                    <a:lstStyle/>
                    <a:p>
                      <a:pPr marL="0" marR="0" lvl="0" indent="0" algn="l" defTabSz="816610" rtl="0" eaLnBrk="1" fontAlgn="auto" latinLnBrk="0" hangingPunct="1">
                        <a:lnSpc>
                          <a:spcPct val="100000"/>
                        </a:lnSpc>
                        <a:spcBef>
                          <a:spcPts val="0"/>
                        </a:spcBef>
                        <a:spcAft>
                          <a:spcPts val="0"/>
                        </a:spcAft>
                        <a:buClrTx/>
                        <a:buSzTx/>
                        <a:buFontTx/>
                        <a:buNone/>
                        <a:defRPr/>
                      </a:pPr>
                      <a:r>
                        <a:rPr lang="en-US" altLang="zh-CN" dirty="0"/>
                        <a:t>cv2.FAST_FEATURE_DETECTOR_TYPE_9_16</a:t>
                      </a:r>
                      <a:endParaRPr lang="zh-CN" altLang="en-US" dirty="0"/>
                    </a:p>
                  </a:txBody>
                  <a:tcPr anchor="ctr"/>
                </a:tc>
                <a:tc>
                  <a:txBody>
                    <a:bodyPr/>
                    <a:lstStyle/>
                    <a:p>
                      <a:pPr marL="0" marR="0" lvl="0" indent="0" algn="l" defTabSz="816610" rtl="0" eaLnBrk="1" fontAlgn="auto" latinLnBrk="0" hangingPunct="1">
                        <a:lnSpc>
                          <a:spcPct val="100000"/>
                        </a:lnSpc>
                        <a:spcBef>
                          <a:spcPts val="0"/>
                        </a:spcBef>
                        <a:spcAft>
                          <a:spcPts val="0"/>
                        </a:spcAft>
                        <a:buClrTx/>
                        <a:buSzTx/>
                        <a:buFontTx/>
                        <a:buNone/>
                        <a:defRPr/>
                      </a:pPr>
                      <a:r>
                        <a:rPr lang="zh-CN" altLang="en-US" dirty="0"/>
                        <a:t>有</a:t>
                      </a:r>
                      <a:r>
                        <a:rPr lang="en-US" altLang="zh-CN" b="1" dirty="0"/>
                        <a:t>16</a:t>
                      </a:r>
                      <a:r>
                        <a:rPr lang="zh-CN" altLang="en-US" b="1" dirty="0"/>
                        <a:t>个像素点</a:t>
                      </a:r>
                      <a:r>
                        <a:rPr lang="zh-CN" altLang="en-US" dirty="0"/>
                        <a:t>与中心像素点</a:t>
                      </a:r>
                      <a:r>
                        <a:rPr lang="en-US" altLang="zh-CN" dirty="0"/>
                        <a:t>p</a:t>
                      </a:r>
                      <a:r>
                        <a:rPr lang="zh-CN" altLang="en-US" dirty="0"/>
                        <a:t>作比较，若计算出像素差的绝对值至少有</a:t>
                      </a:r>
                      <a:r>
                        <a:rPr lang="en-US" altLang="zh-CN" b="1" dirty="0"/>
                        <a:t>9</a:t>
                      </a:r>
                      <a:r>
                        <a:rPr lang="zh-CN" altLang="en-US" b="1" dirty="0"/>
                        <a:t>个超过阈值</a:t>
                      </a:r>
                      <a:r>
                        <a:rPr lang="zh-CN" altLang="en-US" dirty="0"/>
                        <a:t>，则认定像素点</a:t>
                      </a:r>
                      <a:r>
                        <a:rPr lang="en-US" altLang="zh-CN" dirty="0"/>
                        <a:t>p</a:t>
                      </a:r>
                      <a:r>
                        <a:rPr lang="zh-CN" altLang="en-US" dirty="0"/>
                        <a:t>为特征点</a:t>
                      </a:r>
                      <a:endParaRPr lang="zh-CN" altLang="en-US" dirty="0"/>
                    </a:p>
                    <a:p>
                      <a:endParaRPr lang="zh-CN" altLang="en-US" dirty="0"/>
                    </a:p>
                  </a:txBody>
                  <a:tcPr/>
                </a:tc>
              </a:tr>
            </a:tbl>
          </a:graphicData>
        </a:graphic>
      </p:graphicFrame>
      <p:sp>
        <p:nvSpPr>
          <p:cNvPr id="6" name="文本框 5"/>
          <p:cNvSpPr txBox="1"/>
          <p:nvPr/>
        </p:nvSpPr>
        <p:spPr>
          <a:xfrm>
            <a:off x="1524264" y="1420406"/>
            <a:ext cx="6097060" cy="415498"/>
          </a:xfrm>
          <a:prstGeom prst="rect">
            <a:avLst/>
          </a:prstGeom>
          <a:noFill/>
        </p:spPr>
        <p:txBody>
          <a:bodyPr wrap="square" rtlCol="0">
            <a:spAutoFit/>
          </a:bodyPr>
          <a:lstStyle/>
          <a:p>
            <a:pPr algn="ctr"/>
            <a:r>
              <a:rPr kumimoji="1" lang="zh-CN" altLang="en-US" dirty="0"/>
              <a:t>表</a:t>
            </a:r>
            <a:r>
              <a:rPr kumimoji="1" lang="en-US" altLang="zh-CN" dirty="0"/>
              <a:t>9.1</a:t>
            </a:r>
            <a:r>
              <a:rPr kumimoji="1" lang="zh-CN" altLang="en-US" dirty="0"/>
              <a:t>  </a:t>
            </a:r>
            <a:r>
              <a:rPr kumimoji="1" lang="en-US" altLang="zh-CN" dirty="0"/>
              <a:t>type</a:t>
            </a:r>
            <a:r>
              <a:rPr kumimoji="1" lang="zh-CN" altLang="en-US" dirty="0"/>
              <a:t>参数的选择</a:t>
            </a:r>
            <a:endParaRPr kumimoji="1" lang="zh-CN" altLang="en-US" dirty="0"/>
          </a:p>
        </p:txBody>
      </p:sp>
    </p:spTree>
  </p:cSld>
  <p:clrMapOvr>
    <a:masterClrMapping/>
  </p:clrMapOvr>
  <p:transition spd="slow" advClick="0" advTm="0">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482189" y="1197546"/>
            <a:ext cx="8554843" cy="527709"/>
          </a:xfrm>
          <a:prstGeom prst="rect">
            <a:avLst/>
          </a:prstGeom>
          <a:noFill/>
        </p:spPr>
        <p:txBody>
          <a:bodyPr wrap="square">
            <a:spAutoFit/>
          </a:bodyPr>
          <a:lstStyle/>
          <a:p>
            <a:pPr marL="342900" indent="-342900">
              <a:lnSpc>
                <a:spcPct val="130000"/>
              </a:lnSpc>
              <a:spcBef>
                <a:spcPts val="2400"/>
              </a:spcBef>
              <a:buFont typeface="Wingdings" panose="05000000000000000000" pitchFamily="2" charset="2"/>
              <a:buChar char="Ø"/>
              <a:defRPr/>
            </a:pPr>
            <a:r>
              <a:rPr lang="zh-CN" altLang="en-US" sz="2400" b="1" dirty="0">
                <a:solidFill>
                  <a:srgbClr val="000000"/>
                </a:solidFill>
                <a:latin typeface="Times New Roman" panose="02020603050405020304" pitchFamily="18" charset="0"/>
                <a:cs typeface="Times New Roman" panose="02020603050405020304" pitchFamily="18" charset="0"/>
              </a:rPr>
              <a:t> </a:t>
            </a:r>
            <a:r>
              <a:rPr lang="en-US" altLang="zh-CN" sz="2400" b="1" dirty="0">
                <a:solidFill>
                  <a:srgbClr val="000000"/>
                </a:solidFill>
                <a:latin typeface="Times New Roman" panose="02020603050405020304" pitchFamily="18" charset="0"/>
                <a:cs typeface="Times New Roman" panose="02020603050405020304" pitchFamily="18" charset="0"/>
              </a:rPr>
              <a:t>Fast</a:t>
            </a:r>
            <a:r>
              <a:rPr lang="zh-CN" altLang="en-US" sz="2400" b="1" dirty="0">
                <a:solidFill>
                  <a:srgbClr val="000000"/>
                </a:solidFill>
                <a:latin typeface="Times New Roman" panose="02020603050405020304" pitchFamily="18" charset="0"/>
                <a:cs typeface="Times New Roman" panose="02020603050405020304" pitchFamily="18" charset="0"/>
              </a:rPr>
              <a:t>角点检测实现代码如下</a:t>
            </a:r>
            <a:endParaRPr lang="en-US" altLang="zh-CN" sz="2400" b="1" dirty="0">
              <a:solidFill>
                <a:srgbClr val="000000"/>
              </a:solidFill>
              <a:latin typeface="Times New Roman" panose="02020603050405020304" pitchFamily="18" charset="0"/>
              <a:cs typeface="Times New Roman" panose="02020603050405020304" pitchFamily="18" charset="0"/>
            </a:endParaRPr>
          </a:p>
        </p:txBody>
      </p:sp>
      <p:sp>
        <p:nvSpPr>
          <p:cNvPr id="11" name="文本框 10"/>
          <p:cNvSpPr txBox="1"/>
          <p:nvPr/>
        </p:nvSpPr>
        <p:spPr>
          <a:xfrm>
            <a:off x="612353" y="1752699"/>
            <a:ext cx="7992889" cy="3693319"/>
          </a:xfrm>
          <a:prstGeom prst="rect">
            <a:avLst/>
          </a:prstGeom>
          <a:solidFill>
            <a:srgbClr val="C7C7C7"/>
          </a:solidFill>
        </p:spPr>
        <p:txBody>
          <a:bodyPr wrap="square">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import cv2</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import </a:t>
            </a:r>
            <a:r>
              <a:rPr lang="en-US" altLang="zh-CN" sz="1800" kern="100" dirty="0" err="1">
                <a:solidFill>
                  <a:srgbClr val="000000"/>
                </a:solidFill>
                <a:effectLst/>
                <a:latin typeface="Times New Roman" panose="02020603050405020304" pitchFamily="18" charset="0"/>
                <a:ea typeface="宋体" pitchFamily="2" charset="-122"/>
              </a:rPr>
              <a:t>numpy</a:t>
            </a:r>
            <a:r>
              <a:rPr lang="en-US" altLang="zh-CN" sz="1800" kern="100" dirty="0">
                <a:solidFill>
                  <a:srgbClr val="000000"/>
                </a:solidFill>
                <a:effectLst/>
                <a:latin typeface="Times New Roman" panose="02020603050405020304" pitchFamily="18" charset="0"/>
                <a:ea typeface="宋体" pitchFamily="2" charset="-122"/>
              </a:rPr>
              <a:t> as np</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=cv2.imread(</a:t>
            </a:r>
            <a:r>
              <a:rPr lang="en-US" altLang="zh-CN" sz="1800" kern="100" dirty="0" err="1">
                <a:solidFill>
                  <a:srgbClr val="000000"/>
                </a:solidFill>
                <a:effectLst/>
                <a:latin typeface="Times New Roman" panose="02020603050405020304" pitchFamily="18" charset="0"/>
                <a:ea typeface="宋体" pitchFamily="2" charset="-122"/>
              </a:rPr>
              <a:t>r'C</a:t>
            </a:r>
            <a:r>
              <a:rPr lang="en-US" altLang="zh-CN" sz="1800" kern="100" dirty="0">
                <a:solidFill>
                  <a:srgbClr val="000000"/>
                </a:solidFill>
                <a:effectLst/>
                <a:latin typeface="Times New Roman" panose="02020603050405020304" pitchFamily="18" charset="0"/>
                <a:ea typeface="宋体" pitchFamily="2" charset="-122"/>
              </a:rPr>
              <a:t>:\Users\</a:t>
            </a:r>
            <a:r>
              <a:rPr lang="en-US" altLang="zh-CN" sz="1800" kern="100" dirty="0" err="1">
                <a:solidFill>
                  <a:srgbClr val="000000"/>
                </a:solidFill>
                <a:effectLst/>
                <a:latin typeface="Times New Roman" panose="02020603050405020304" pitchFamily="18" charset="0"/>
                <a:ea typeface="宋体" pitchFamily="2" charset="-122"/>
              </a:rPr>
              <a:t>lenovo</a:t>
            </a:r>
            <a:r>
              <a:rPr lang="en-US" altLang="zh-CN" sz="1800" kern="100" dirty="0">
                <a:solidFill>
                  <a:srgbClr val="000000"/>
                </a:solidFill>
                <a:effectLst/>
                <a:latin typeface="Times New Roman" panose="02020603050405020304" pitchFamily="18" charset="0"/>
                <a:ea typeface="宋体" pitchFamily="2" charset="-122"/>
              </a:rPr>
              <a:t>\Desktop\cube.jpg')	#</a:t>
            </a:r>
            <a:r>
              <a:rPr lang="zh-CN" altLang="en-US" sz="1800" kern="100" dirty="0">
                <a:solidFill>
                  <a:srgbClr val="000000"/>
                </a:solidFill>
                <a:effectLst/>
                <a:latin typeface="Times New Roman" panose="02020603050405020304" pitchFamily="18" charset="0"/>
                <a:ea typeface="宋体" pitchFamily="2" charset="-122"/>
              </a:rPr>
              <a:t>读入原图像</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src</a:t>
            </a:r>
            <a:r>
              <a:rPr lang="en-US" altLang="zh-CN" sz="1800" kern="100" dirty="0">
                <a:solidFill>
                  <a:srgbClr val="000000"/>
                </a:solidFill>
                <a:effectLst/>
                <a:latin typeface="Times New Roman" panose="02020603050405020304" pitchFamily="18" charset="0"/>
                <a:ea typeface="宋体" pitchFamily="2" charset="-122"/>
              </a:rPr>
              <a:t>=cv2.imread(</a:t>
            </a:r>
            <a:r>
              <a:rPr lang="en-US" altLang="zh-CN" sz="1800" kern="100" dirty="0" err="1">
                <a:solidFill>
                  <a:srgbClr val="000000"/>
                </a:solidFill>
                <a:effectLst/>
                <a:latin typeface="Times New Roman" panose="02020603050405020304" pitchFamily="18" charset="0"/>
                <a:ea typeface="宋体" pitchFamily="2" charset="-122"/>
              </a:rPr>
              <a:t>r'C</a:t>
            </a:r>
            <a:r>
              <a:rPr lang="en-US" altLang="zh-CN" sz="1800" kern="100" dirty="0">
                <a:solidFill>
                  <a:srgbClr val="000000"/>
                </a:solidFill>
                <a:effectLst/>
                <a:latin typeface="Times New Roman" panose="02020603050405020304" pitchFamily="18" charset="0"/>
                <a:ea typeface="宋体" pitchFamily="2" charset="-122"/>
              </a:rPr>
              <a:t>:\Users\</a:t>
            </a:r>
            <a:r>
              <a:rPr lang="en-US" altLang="zh-CN" sz="1800" kern="100" dirty="0" err="1">
                <a:solidFill>
                  <a:srgbClr val="000000"/>
                </a:solidFill>
                <a:effectLst/>
                <a:latin typeface="Times New Roman" panose="02020603050405020304" pitchFamily="18" charset="0"/>
                <a:ea typeface="宋体" pitchFamily="2" charset="-122"/>
              </a:rPr>
              <a:t>lenovo</a:t>
            </a:r>
            <a:r>
              <a:rPr lang="en-US" altLang="zh-CN" sz="1800" kern="100" dirty="0">
                <a:solidFill>
                  <a:srgbClr val="000000"/>
                </a:solidFill>
                <a:effectLst/>
                <a:latin typeface="Times New Roman" panose="02020603050405020304" pitchFamily="18" charset="0"/>
                <a:ea typeface="宋体" pitchFamily="2" charset="-122"/>
              </a:rPr>
              <a:t>\Desktop\cube.jpg')	#</a:t>
            </a:r>
            <a:r>
              <a:rPr lang="zh-CN" altLang="en-US" sz="1800" kern="100" dirty="0">
                <a:solidFill>
                  <a:srgbClr val="000000"/>
                </a:solidFill>
                <a:effectLst/>
                <a:latin typeface="Times New Roman" panose="02020603050405020304" pitchFamily="18" charset="0"/>
                <a:ea typeface="宋体" pitchFamily="2" charset="-122"/>
              </a:rPr>
              <a:t>读入原图像</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gray=cv2.cvtColor(img,cv2.COLOR_BGR2GRAY)	#</a:t>
            </a:r>
            <a:r>
              <a:rPr lang="zh-CN" altLang="en-US" sz="1800" kern="100" dirty="0">
                <a:solidFill>
                  <a:srgbClr val="000000"/>
                </a:solidFill>
                <a:effectLst/>
                <a:latin typeface="Times New Roman" panose="02020603050405020304" pitchFamily="18" charset="0"/>
                <a:ea typeface="宋体" pitchFamily="2" charset="-122"/>
              </a:rPr>
              <a:t>将原图像灰度化</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fast=cv2.FastFeatureDetector_create(7,True,</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zh-CN" altLang="en-US" sz="1800" kern="100" dirty="0">
                <a:solidFill>
                  <a:srgbClr val="000000"/>
                </a:solidFill>
                <a:effectLst/>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cv2.FAST_FEATURE_DETECTOR_TYPE_7_12)	#</a:t>
            </a:r>
            <a:r>
              <a:rPr lang="zh-CN" altLang="en-US" sz="1800" kern="100" dirty="0">
                <a:solidFill>
                  <a:srgbClr val="000000"/>
                </a:solidFill>
                <a:effectLst/>
                <a:latin typeface="Times New Roman" panose="02020603050405020304" pitchFamily="18" charset="0"/>
                <a:ea typeface="宋体" pitchFamily="2" charset="-122"/>
              </a:rPr>
              <a:t>创建</a:t>
            </a:r>
            <a:r>
              <a:rPr lang="en-US" altLang="zh-CN" sz="1800" kern="100" dirty="0">
                <a:solidFill>
                  <a:srgbClr val="000000"/>
                </a:solidFill>
                <a:effectLst/>
                <a:latin typeface="Times New Roman" panose="02020603050405020304" pitchFamily="18" charset="0"/>
                <a:ea typeface="宋体" pitchFamily="2" charset="-122"/>
              </a:rPr>
              <a:t>FAST</a:t>
            </a:r>
            <a:r>
              <a:rPr lang="zh-CN" altLang="en-US" sz="1800" kern="100" dirty="0">
                <a:solidFill>
                  <a:srgbClr val="000000"/>
                </a:solidFill>
                <a:effectLst/>
                <a:latin typeface="Times New Roman" panose="02020603050405020304" pitchFamily="18" charset="0"/>
                <a:ea typeface="宋体" pitchFamily="2" charset="-122"/>
              </a:rPr>
              <a:t>检测器</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kp</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fast.detect</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gray,None</a:t>
            </a:r>
            <a:r>
              <a:rPr lang="en-US" altLang="zh-CN" sz="1800" kern="100" dirty="0">
                <a:solidFill>
                  <a:srgbClr val="000000"/>
                </a:solidFill>
                <a:effectLst/>
                <a:latin typeface="Times New Roman" panose="02020603050405020304" pitchFamily="18" charset="0"/>
                <a:ea typeface="宋体" pitchFamily="2" charset="-122"/>
              </a:rPr>
              <a:t>)			#FAST</a:t>
            </a:r>
            <a:r>
              <a:rPr lang="zh-CN" altLang="en-US" sz="1800" kern="100" dirty="0">
                <a:solidFill>
                  <a:srgbClr val="000000"/>
                </a:solidFill>
                <a:effectLst/>
                <a:latin typeface="Times New Roman" panose="02020603050405020304" pitchFamily="18" charset="0"/>
                <a:ea typeface="宋体" pitchFamily="2" charset="-122"/>
              </a:rPr>
              <a:t>角点检测</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kp_img</a:t>
            </a:r>
            <a:r>
              <a:rPr lang="en-US" altLang="zh-CN" sz="1800" kern="100" dirty="0">
                <a:solidFill>
                  <a:srgbClr val="000000"/>
                </a:solidFill>
                <a:effectLst/>
                <a:latin typeface="Times New Roman" panose="02020603050405020304" pitchFamily="18" charset="0"/>
                <a:ea typeface="宋体" pitchFamily="2" charset="-122"/>
              </a:rPr>
              <a:t> = cv2.drawKeypoints(</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kp</a:t>
            </a:r>
            <a:r>
              <a:rPr lang="en-US" altLang="zh-CN" sz="1800" kern="100" dirty="0">
                <a:solidFill>
                  <a:srgbClr val="000000"/>
                </a:solidFill>
                <a:effectLst/>
                <a:latin typeface="Times New Roman" panose="02020603050405020304" pitchFamily="18" charset="0"/>
                <a:ea typeface="宋体" pitchFamily="2" charset="-122"/>
              </a:rPr>
              <a:t>, None, color=(255, 0, 0))</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cv2.imshow('Original Image',</a:t>
            </a:r>
            <a:r>
              <a:rPr lang="en-US" altLang="zh-CN" sz="1800" kern="100" dirty="0" err="1">
                <a:solidFill>
                  <a:srgbClr val="000000"/>
                </a:solidFill>
                <a:effectLst/>
                <a:latin typeface="Times New Roman" panose="02020603050405020304" pitchFamily="18" charset="0"/>
                <a:ea typeface="宋体" pitchFamily="2" charset="-122"/>
              </a:rPr>
              <a:t>src</a:t>
            </a:r>
            <a:r>
              <a:rPr lang="en-US" altLang="zh-CN" sz="1800" kern="100" dirty="0">
                <a:solidFill>
                  <a:srgbClr val="000000"/>
                </a:solidFill>
                <a:effectLst/>
                <a:latin typeface="Times New Roman" panose="02020603050405020304" pitchFamily="18" charset="0"/>
                <a:ea typeface="宋体" pitchFamily="2" charset="-122"/>
              </a:rPr>
              <a:t>)		#</a:t>
            </a:r>
            <a:r>
              <a:rPr lang="zh-CN" altLang="en-US" sz="1800" kern="100" dirty="0">
                <a:solidFill>
                  <a:srgbClr val="000000"/>
                </a:solidFill>
                <a:effectLst/>
                <a:latin typeface="Times New Roman" panose="02020603050405020304" pitchFamily="18" charset="0"/>
                <a:ea typeface="宋体" pitchFamily="2" charset="-122"/>
              </a:rPr>
              <a:t>输出原图像</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cv2.imshow('Edge Image', </a:t>
            </a:r>
            <a:r>
              <a:rPr lang="en-US" altLang="zh-CN" sz="1800" kern="100" dirty="0" err="1">
                <a:solidFill>
                  <a:srgbClr val="000000"/>
                </a:solidFill>
                <a:effectLst/>
                <a:latin typeface="Times New Roman" panose="02020603050405020304" pitchFamily="18" charset="0"/>
                <a:ea typeface="宋体" pitchFamily="2" charset="-122"/>
              </a:rPr>
              <a:t>kp_img</a:t>
            </a:r>
            <a:r>
              <a:rPr lang="en-US" altLang="zh-CN" sz="1800" kern="100" dirty="0">
                <a:solidFill>
                  <a:srgbClr val="000000"/>
                </a:solidFill>
                <a:effectLst/>
                <a:latin typeface="Times New Roman" panose="02020603050405020304" pitchFamily="18" charset="0"/>
                <a:ea typeface="宋体" pitchFamily="2" charset="-122"/>
              </a:rPr>
              <a:t>)	#</a:t>
            </a:r>
            <a:r>
              <a:rPr lang="zh-CN" altLang="en-US" sz="1800" kern="100" dirty="0">
                <a:solidFill>
                  <a:srgbClr val="000000"/>
                </a:solidFill>
                <a:effectLst/>
                <a:latin typeface="Times New Roman" panose="02020603050405020304" pitchFamily="18" charset="0"/>
                <a:ea typeface="宋体" pitchFamily="2" charset="-122"/>
              </a:rPr>
              <a:t>输出</a:t>
            </a:r>
            <a:r>
              <a:rPr lang="en-US" altLang="zh-CN" sz="1800" kern="100" dirty="0">
                <a:solidFill>
                  <a:srgbClr val="000000"/>
                </a:solidFill>
                <a:effectLst/>
                <a:latin typeface="Times New Roman" panose="02020603050405020304" pitchFamily="18" charset="0"/>
                <a:ea typeface="宋体" pitchFamily="2" charset="-122"/>
              </a:rPr>
              <a:t>FAST</a:t>
            </a:r>
            <a:r>
              <a:rPr lang="zh-CN" altLang="en-US" sz="1800" kern="100" dirty="0">
                <a:solidFill>
                  <a:srgbClr val="000000"/>
                </a:solidFill>
                <a:effectLst/>
                <a:latin typeface="Times New Roman" panose="02020603050405020304" pitchFamily="18" charset="0"/>
                <a:ea typeface="宋体" pitchFamily="2" charset="-122"/>
              </a:rPr>
              <a:t>角点检测结果图</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cv2.waitKey(0)</a:t>
            </a:r>
            <a:endParaRPr lang="en-US" altLang="zh-CN" sz="18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540346" y="1197546"/>
            <a:ext cx="8554843" cy="520848"/>
          </a:xfrm>
          <a:prstGeom prst="rect">
            <a:avLst/>
          </a:prstGeom>
          <a:noFill/>
        </p:spPr>
        <p:txBody>
          <a:bodyPr wrap="square">
            <a:spAutoFit/>
          </a:bodyPr>
          <a:lstStyle/>
          <a:p>
            <a:pPr>
              <a:lnSpc>
                <a:spcPct val="130000"/>
              </a:lnSpc>
              <a:spcBef>
                <a:spcPts val="2400"/>
              </a:spcBef>
              <a:defRPr/>
            </a:pPr>
            <a:r>
              <a:rPr lang="en-US" altLang="zh-CN" sz="2400" kern="100" dirty="0">
                <a:effectLst/>
                <a:latin typeface="Times New Roman" panose="02020603050405020304" pitchFamily="18" charset="0"/>
                <a:ea typeface="宋体" pitchFamily="2" charset="-122"/>
              </a:rPr>
              <a:t> </a:t>
            </a:r>
            <a:r>
              <a:rPr lang="zh-CN" altLang="zh-CN" sz="2400" kern="100" dirty="0">
                <a:effectLst/>
                <a:latin typeface="Times New Roman" panose="02020603050405020304" pitchFamily="18" charset="0"/>
                <a:ea typeface="宋体" pitchFamily="2" charset="-122"/>
              </a:rPr>
              <a:t>上述程序的运行结果如图</a:t>
            </a:r>
            <a:r>
              <a:rPr lang="en-US" altLang="zh-CN" sz="2400" kern="100" dirty="0">
                <a:effectLst/>
                <a:latin typeface="Times New Roman" panose="02020603050405020304" pitchFamily="18" charset="0"/>
                <a:ea typeface="宋体" pitchFamily="2" charset="-122"/>
              </a:rPr>
              <a:t>9.7</a:t>
            </a:r>
            <a:r>
              <a:rPr lang="zh-CN" altLang="zh-CN" sz="2400" kern="100" dirty="0">
                <a:effectLst/>
                <a:latin typeface="Times New Roman" panose="02020603050405020304" pitchFamily="18" charset="0"/>
                <a:ea typeface="宋体" pitchFamily="2" charset="-122"/>
              </a:rPr>
              <a:t>所示。</a:t>
            </a:r>
            <a:endParaRPr lang="zh-CN" altLang="en-US" sz="2400" kern="100" dirty="0">
              <a:effectLst/>
              <a:latin typeface="Times New Roman" panose="02020603050405020304" pitchFamily="18" charset="0"/>
              <a:ea typeface="宋体" pitchFamily="2" charset="-122"/>
            </a:endParaRPr>
          </a:p>
        </p:txBody>
      </p:sp>
      <p:sp>
        <p:nvSpPr>
          <p:cNvPr id="13" name="文本框 12"/>
          <p:cNvSpPr txBox="1"/>
          <p:nvPr/>
        </p:nvSpPr>
        <p:spPr>
          <a:xfrm>
            <a:off x="1692474" y="5029939"/>
            <a:ext cx="2160240" cy="400110"/>
          </a:xfrm>
          <a:prstGeom prst="rect">
            <a:avLst/>
          </a:prstGeom>
          <a:noFill/>
        </p:spPr>
        <p:txBody>
          <a:bodyPr wrap="square">
            <a:spAutoFit/>
          </a:bodyPr>
          <a:lstStyle/>
          <a:p>
            <a:r>
              <a:rPr lang="en-US" altLang="zh-CN" sz="2000" dirty="0">
                <a:effectLst/>
                <a:latin typeface="宋体" pitchFamily="2" charset="-122"/>
                <a:cs typeface="宋体" pitchFamily="2" charset="-122"/>
              </a:rPr>
              <a:t>(a)</a:t>
            </a:r>
            <a:r>
              <a:rPr lang="zh-CN" altLang="zh-CN" sz="2000" dirty="0">
                <a:effectLst/>
                <a:ea typeface="宋体" pitchFamily="2" charset="-122"/>
                <a:cs typeface="宋体" pitchFamily="2" charset="-122"/>
              </a:rPr>
              <a:t>原始图像</a:t>
            </a:r>
            <a:endParaRPr lang="zh-CN" altLang="en-US" sz="2000" dirty="0"/>
          </a:p>
        </p:txBody>
      </p:sp>
      <p:sp>
        <p:nvSpPr>
          <p:cNvPr id="15" name="文本框 14"/>
          <p:cNvSpPr txBox="1"/>
          <p:nvPr/>
        </p:nvSpPr>
        <p:spPr>
          <a:xfrm>
            <a:off x="4812014" y="5029939"/>
            <a:ext cx="3145156" cy="400110"/>
          </a:xfrm>
          <a:prstGeom prst="rect">
            <a:avLst/>
          </a:prstGeom>
          <a:noFill/>
        </p:spPr>
        <p:txBody>
          <a:bodyPr wrap="square">
            <a:spAutoFit/>
          </a:bodyPr>
          <a:lstStyle/>
          <a:p>
            <a:r>
              <a:rPr lang="en-US" altLang="zh-CN" sz="2000" dirty="0">
                <a:effectLst/>
                <a:latin typeface="宋体" pitchFamily="2" charset="-122"/>
                <a:cs typeface="宋体" pitchFamily="2" charset="-122"/>
              </a:rPr>
              <a:t>(b)</a:t>
            </a:r>
            <a:r>
              <a:rPr lang="zh-CN" altLang="en-US" sz="2000" dirty="0">
                <a:effectLst/>
                <a:latin typeface="宋体" pitchFamily="2" charset="-122"/>
                <a:cs typeface="宋体" pitchFamily="2" charset="-122"/>
              </a:rPr>
              <a:t> </a:t>
            </a:r>
            <a:r>
              <a:rPr lang="en-US" altLang="zh-CN" sz="2000" dirty="0">
                <a:effectLst/>
                <a:latin typeface="宋体" pitchFamily="2" charset="-122"/>
                <a:cs typeface="宋体" pitchFamily="2" charset="-122"/>
              </a:rPr>
              <a:t>FAST</a:t>
            </a:r>
            <a:r>
              <a:rPr lang="zh-CN" altLang="en-US" sz="2000" dirty="0">
                <a:effectLst/>
                <a:latin typeface="宋体" pitchFamily="2" charset="-122"/>
                <a:cs typeface="宋体" pitchFamily="2" charset="-122"/>
              </a:rPr>
              <a:t>角点检测结果图</a:t>
            </a:r>
            <a:endParaRPr lang="zh-CN" altLang="en-US" sz="2000" dirty="0"/>
          </a:p>
        </p:txBody>
      </p:sp>
      <p:sp>
        <p:nvSpPr>
          <p:cNvPr id="17" name="文本框 16"/>
          <p:cNvSpPr txBox="1"/>
          <p:nvPr/>
        </p:nvSpPr>
        <p:spPr>
          <a:xfrm>
            <a:off x="1476450" y="5488409"/>
            <a:ext cx="6034369" cy="461665"/>
          </a:xfrm>
          <a:prstGeom prst="rect">
            <a:avLst/>
          </a:prstGeom>
          <a:noFill/>
        </p:spPr>
        <p:txBody>
          <a:bodyPr wrap="square">
            <a:spAutoFit/>
          </a:bodyPr>
          <a:lstStyle/>
          <a:p>
            <a:pPr indent="266700" algn="ctr"/>
            <a:r>
              <a:rPr lang="zh-CN" altLang="en-US" sz="2400" kern="100" dirty="0">
                <a:effectLst/>
                <a:latin typeface="Times New Roman" panose="02020603050405020304" pitchFamily="18" charset="0"/>
                <a:ea typeface="宋体" pitchFamily="2" charset="-122"/>
                <a:cs typeface="Times New Roman" panose="02020603050405020304" pitchFamily="18" charset="0"/>
              </a:rPr>
              <a:t>图</a:t>
            </a:r>
            <a:r>
              <a:rPr lang="en-US" altLang="zh-CN" sz="2400" kern="100" dirty="0">
                <a:effectLst/>
                <a:latin typeface="Times New Roman" panose="02020603050405020304" pitchFamily="18" charset="0"/>
                <a:ea typeface="宋体" pitchFamily="2" charset="-122"/>
                <a:cs typeface="Times New Roman" panose="02020603050405020304" pitchFamily="18" charset="0"/>
              </a:rPr>
              <a:t>9.7  FAST</a:t>
            </a:r>
            <a:r>
              <a:rPr lang="zh-CN" altLang="en-US" sz="2400" kern="100" dirty="0">
                <a:effectLst/>
                <a:latin typeface="Times New Roman" panose="02020603050405020304" pitchFamily="18" charset="0"/>
                <a:ea typeface="宋体" pitchFamily="2" charset="-122"/>
                <a:cs typeface="Times New Roman" panose="02020603050405020304" pitchFamily="18" charset="0"/>
              </a:rPr>
              <a:t>角点检测运行结果图</a:t>
            </a:r>
            <a:endParaRPr lang="zh-CN" altLang="zh-CN" sz="2400" kern="100" dirty="0">
              <a:effectLst/>
              <a:latin typeface="Times New Roman" panose="02020603050405020304" pitchFamily="18" charset="0"/>
              <a:ea typeface="宋体" pitchFamily="2" charset="-122"/>
              <a:cs typeface="Times New Roman" panose="02020603050405020304" pitchFamily="18" charset="0"/>
            </a:endParaRPr>
          </a:p>
        </p:txBody>
      </p:sp>
      <p:pic>
        <p:nvPicPr>
          <p:cNvPr id="14" name="图片 13"/>
          <p:cNvPicPr>
            <a:picLocks noChangeAspect="1"/>
          </p:cNvPicPr>
          <p:nvPr/>
        </p:nvPicPr>
        <p:blipFill>
          <a:blip r:embed="rId1"/>
          <a:srcRect t="5293" b="7666"/>
          <a:stretch>
            <a:fillRect/>
          </a:stretch>
        </p:blipFill>
        <p:spPr>
          <a:xfrm>
            <a:off x="818648" y="1845618"/>
            <a:ext cx="3594654" cy="3134073"/>
          </a:xfrm>
          <a:prstGeom prst="rect">
            <a:avLst/>
          </a:prstGeom>
          <a:ln>
            <a:noFill/>
          </a:ln>
        </p:spPr>
      </p:pic>
      <p:pic>
        <p:nvPicPr>
          <p:cNvPr id="16" name="图片 15"/>
          <p:cNvPicPr>
            <a:picLocks noChangeAspect="1"/>
          </p:cNvPicPr>
          <p:nvPr/>
        </p:nvPicPr>
        <p:blipFill>
          <a:blip r:embed="rId2"/>
          <a:srcRect t="4411" b="7085"/>
          <a:stretch>
            <a:fillRect/>
          </a:stretch>
        </p:blipFill>
        <p:spPr>
          <a:xfrm>
            <a:off x="4786183" y="1845618"/>
            <a:ext cx="3560955" cy="3135891"/>
          </a:xfrm>
          <a:prstGeom prst="rect">
            <a:avLst/>
          </a:prstGeom>
          <a:ln>
            <a:noFill/>
          </a:ln>
        </p:spPr>
      </p:pic>
    </p:spTree>
  </p:cSld>
  <p:clrMapOvr>
    <a:masterClrMapping/>
  </p:clrMapOvr>
  <p:transition spd="slow" advClick="0" advTm="0">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9.4SIFT</a:t>
            </a:r>
            <a:r>
              <a:rPr lang="zh-CN" altLang="en-US" sz="2100" b="1" dirty="0">
                <a:solidFill>
                  <a:schemeClr val="tx1">
                    <a:lumMod val="75000"/>
                    <a:lumOff val="25000"/>
                  </a:schemeClr>
                </a:solidFill>
                <a:latin typeface="微软雅黑" panose="020B0503020204020204" pitchFamily="34" charset="-122"/>
              </a:rPr>
              <a:t>算法</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内容占位符 2"/>
          <p:cNvSpPr txBox="1">
            <a:spLocks noChangeArrowheads="1"/>
          </p:cNvSpPr>
          <p:nvPr/>
        </p:nvSpPr>
        <p:spPr bwMode="auto">
          <a:xfrm>
            <a:off x="324322" y="1169046"/>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en-US" altLang="zh-CN"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SIFT</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算法出现的原因</a:t>
            </a:r>
            <a:endParaRPr lang="zh-CN" altLang="en-US" b="1" dirty="0">
              <a:latin typeface="Times New Roman" panose="02020603050405020304" pitchFamily="18" charset="0"/>
              <a:ea typeface="黑体" panose="02010609060101010101" pitchFamily="49" charset="-122"/>
              <a:cs typeface="Times New Roman" panose="02020603050405020304" pitchFamily="18" charset="0"/>
            </a:endParaRPr>
          </a:p>
          <a:p>
            <a:pPr algn="l" eaLnBrk="1" hangingPunct="1">
              <a:lnSpc>
                <a:spcPct val="100000"/>
              </a:lnSpc>
              <a:buFont typeface="Wingdings" panose="05000000000000000000" charset="0"/>
              <a:buChar char=""/>
              <a:defRPr/>
            </a:pPr>
            <a:r>
              <a:rPr lang="en-US" altLang="zh-CN" kern="100" dirty="0">
                <a:latin typeface="Times New Roman" panose="02020603050405020304" pitchFamily="18" charset="0"/>
                <a:ea typeface="宋体" pitchFamily="2" charset="-122"/>
                <a:cs typeface="Times New Roman" panose="02020603050405020304" pitchFamily="18" charset="0"/>
              </a:rPr>
              <a:t>Harris角点具有旋转不变的特性</a:t>
            </a:r>
            <a:endParaRPr lang="en-US" altLang="zh-CN" kern="100" dirty="0">
              <a:latin typeface="Times New Roman" panose="02020603050405020304" pitchFamily="18" charset="0"/>
              <a:ea typeface="宋体" pitchFamily="2" charset="-122"/>
              <a:cs typeface="Times New Roman" panose="02020603050405020304" pitchFamily="18" charset="0"/>
            </a:endParaRPr>
          </a:p>
          <a:p>
            <a:pPr algn="l" eaLnBrk="1" hangingPunct="1">
              <a:lnSpc>
                <a:spcPct val="100000"/>
              </a:lnSpc>
              <a:buFont typeface="Wingdings" panose="05000000000000000000" charset="0"/>
              <a:buChar char=""/>
              <a:defRPr/>
            </a:pPr>
            <a:r>
              <a:rPr lang="en-US" altLang="zh-CN" kern="100" dirty="0">
                <a:latin typeface="Times New Roman" panose="02020603050405020304" pitchFamily="18" charset="0"/>
                <a:ea typeface="宋体" pitchFamily="2" charset="-122"/>
                <a:cs typeface="Times New Roman" panose="02020603050405020304" pitchFamily="18" charset="0"/>
              </a:rPr>
              <a:t>但缩放后，原来的角点有可能就不是角点了</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431800" indent="0" algn="l">
              <a:defRPr/>
            </a:pPr>
            <a:endParaRPr lang="en-US" altLang="zh-CN" dirty="0">
              <a:solidFill>
                <a:srgbClr val="FF0000"/>
              </a:solidFill>
              <a:cs typeface="+mj-cs"/>
            </a:endParaRPr>
          </a:p>
        </p:txBody>
      </p:sp>
      <p:pic>
        <p:nvPicPr>
          <p:cNvPr id="2" name="图片 1"/>
          <p:cNvPicPr>
            <a:picLocks noChangeAspect="1"/>
          </p:cNvPicPr>
          <p:nvPr>
            <p:custDataLst>
              <p:tags r:id="rId1"/>
            </p:custDataLst>
          </p:nvPr>
        </p:nvPicPr>
        <p:blipFill>
          <a:blip r:embed="rId2"/>
          <a:stretch>
            <a:fillRect/>
          </a:stretch>
        </p:blipFill>
        <p:spPr>
          <a:xfrm>
            <a:off x="1188085" y="3213735"/>
            <a:ext cx="6769100" cy="2870200"/>
          </a:xfrm>
          <a:prstGeom prst="rect">
            <a:avLst/>
          </a:prstGeom>
        </p:spPr>
      </p:pic>
    </p:spTree>
  </p:cSld>
  <p:clrMapOvr>
    <a:masterClrMapping/>
  </p:clrMapOvr>
  <p:transition spd="slow" advClick="0" advTm="0">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9.4SIFT</a:t>
            </a:r>
            <a:r>
              <a:rPr lang="zh-CN" altLang="en-US" sz="2100" b="1" dirty="0">
                <a:solidFill>
                  <a:schemeClr val="tx1">
                    <a:lumMod val="75000"/>
                    <a:lumOff val="25000"/>
                  </a:schemeClr>
                </a:solidFill>
                <a:latin typeface="微软雅黑" panose="020B0503020204020204" pitchFamily="34" charset="-122"/>
              </a:rPr>
              <a:t>算法</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内容占位符 2"/>
          <p:cNvSpPr txBox="1">
            <a:spLocks noChangeArrowheads="1"/>
          </p:cNvSpPr>
          <p:nvPr/>
        </p:nvSpPr>
        <p:spPr bwMode="auto">
          <a:xfrm>
            <a:off x="324322" y="1169046"/>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en-US" altLang="zh-CN"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SIFT</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a:t>
            </a:r>
            <a:endParaRPr lang="zh-CN" altLang="en-US" b="1"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sz="2400" kern="100" dirty="0">
                <a:effectLst/>
                <a:latin typeface="Times New Roman" panose="02020603050405020304" pitchFamily="18" charset="0"/>
                <a:ea typeface="宋体" pitchFamily="2" charset="-122"/>
                <a:cs typeface="Times New Roman" panose="02020603050405020304" pitchFamily="18" charset="0"/>
              </a:rPr>
              <a:t>        </a:t>
            </a:r>
            <a:r>
              <a:rPr lang="en-US" altLang="zh-CN" kern="100" dirty="0">
                <a:latin typeface="Times New Roman" panose="02020603050405020304" pitchFamily="18" charset="0"/>
                <a:ea typeface="宋体" pitchFamily="2" charset="-122"/>
                <a:cs typeface="Times New Roman" panose="02020603050405020304" pitchFamily="18" charset="0"/>
              </a:rPr>
              <a:t>SIFT</a:t>
            </a:r>
            <a:r>
              <a:rPr lang="zh-CN" altLang="en-US" kern="100" dirty="0">
                <a:latin typeface="Times New Roman" panose="02020603050405020304" pitchFamily="18" charset="0"/>
                <a:ea typeface="宋体" pitchFamily="2" charset="-122"/>
                <a:cs typeface="Times New Roman" panose="02020603050405020304" pitchFamily="18" charset="0"/>
              </a:rPr>
              <a:t>算法也叫尺度不变特征变换算法，</a:t>
            </a:r>
            <a:r>
              <a:rPr lang="en-US" altLang="zh-CN" kern="100" dirty="0">
                <a:latin typeface="Times New Roman" panose="02020603050405020304" pitchFamily="18" charset="0"/>
                <a:ea typeface="宋体" pitchFamily="2" charset="-122"/>
                <a:cs typeface="Times New Roman" panose="02020603050405020304" pitchFamily="18" charset="0"/>
              </a:rPr>
              <a:t>SIFT</a:t>
            </a:r>
            <a:r>
              <a:rPr lang="zh-CN" altLang="en-US" kern="100" dirty="0">
                <a:latin typeface="Times New Roman" panose="02020603050405020304" pitchFamily="18" charset="0"/>
                <a:ea typeface="宋体" pitchFamily="2" charset="-122"/>
                <a:cs typeface="Times New Roman" panose="02020603050405020304" pitchFamily="18" charset="0"/>
              </a:rPr>
              <a:t>算法的实质是：</a:t>
            </a:r>
            <a:r>
              <a:rPr lang="zh-CN" altLang="en-US" kern="100" dirty="0">
                <a:solidFill>
                  <a:srgbClr val="FF0000"/>
                </a:solidFill>
                <a:latin typeface="Times New Roman" panose="02020603050405020304" pitchFamily="18" charset="0"/>
                <a:ea typeface="宋体" pitchFamily="2" charset="-122"/>
                <a:cs typeface="Times New Roman" panose="02020603050405020304" pitchFamily="18" charset="0"/>
              </a:rPr>
              <a:t>在不同的尺度空间上查找特征点，并计算出特征点的方向</a:t>
            </a:r>
            <a:r>
              <a:rPr lang="zh-CN" altLang="en-US" kern="100" dirty="0">
                <a:latin typeface="Times New Roman" panose="02020603050405020304" pitchFamily="18" charset="0"/>
                <a:ea typeface="宋体" pitchFamily="2" charset="-122"/>
                <a:cs typeface="Times New Roman" panose="02020603050405020304" pitchFamily="18" charset="0"/>
              </a:rPr>
              <a:t>。</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431800" indent="0" algn="l">
              <a:defRPr/>
            </a:pPr>
            <a:endParaRPr lang="en-US" altLang="zh-CN" dirty="0">
              <a:solidFill>
                <a:srgbClr val="FF0000"/>
              </a:solidFill>
              <a:cs typeface="+mj-cs"/>
            </a:endParaRPr>
          </a:p>
        </p:txBody>
      </p:sp>
      <p:sp>
        <p:nvSpPr>
          <p:cNvPr id="18" name="内容占位符 2"/>
          <p:cNvSpPr txBox="1">
            <a:spLocks noChangeArrowheads="1"/>
          </p:cNvSpPr>
          <p:nvPr/>
        </p:nvSpPr>
        <p:spPr bwMode="auto">
          <a:xfrm>
            <a:off x="324322" y="2853730"/>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latin typeface="黑体" panose="02010609060101010101" pitchFamily="49" charset="-122"/>
                <a:ea typeface="黑体" panose="02010609060101010101" pitchFamily="49" charset="-122"/>
                <a:cs typeface="+mj-cs"/>
              </a:rPr>
              <a:t>算法应用</a:t>
            </a:r>
            <a:endParaRPr lang="zh-CN" altLang="en-US" b="1" dirty="0">
              <a:latin typeface="黑体" panose="02010609060101010101" pitchFamily="49" charset="-122"/>
              <a:ea typeface="黑体" panose="02010609060101010101" pitchFamily="49" charset="-122"/>
            </a:endParaRPr>
          </a:p>
          <a:p>
            <a:pPr marL="0" indent="0" algn="l" eaLnBrk="1" hangingPunct="1">
              <a:lnSpc>
                <a:spcPct val="100000"/>
              </a:lnSpc>
              <a:defRPr/>
            </a:pPr>
            <a:r>
              <a:rPr lang="zh-CN" altLang="en-US" sz="2400" kern="100" dirty="0">
                <a:effectLst/>
                <a:latin typeface="Times New Roman" panose="02020603050405020304" pitchFamily="18" charset="0"/>
                <a:ea typeface="宋体" pitchFamily="2" charset="-122"/>
                <a:cs typeface="Times New Roman" panose="02020603050405020304" pitchFamily="18" charset="0"/>
              </a:rPr>
              <a:t>        </a:t>
            </a:r>
            <a:r>
              <a:rPr lang="en-US" altLang="zh-CN" sz="2400" kern="100" dirty="0">
                <a:effectLst/>
                <a:latin typeface="Times New Roman" panose="02020603050405020304" pitchFamily="18" charset="0"/>
                <a:ea typeface="宋体" pitchFamily="2" charset="-122"/>
                <a:cs typeface="Times New Roman" panose="02020603050405020304" pitchFamily="18" charset="0"/>
              </a:rPr>
              <a:t>SIFT</a:t>
            </a:r>
            <a:r>
              <a:rPr lang="zh-CN" altLang="en-US" sz="2400" kern="100" dirty="0">
                <a:effectLst/>
                <a:latin typeface="Times New Roman" panose="02020603050405020304" pitchFamily="18" charset="0"/>
                <a:ea typeface="宋体" pitchFamily="2" charset="-122"/>
                <a:cs typeface="Times New Roman" panose="02020603050405020304" pitchFamily="18" charset="0"/>
              </a:rPr>
              <a:t>算法可以处理两幅图像之间</a:t>
            </a:r>
            <a:r>
              <a:rPr lang="zh-CN" altLang="en-US"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发生平移、旋转、仿射变换情况下的匹配问题，具有很强的匹配能力</a:t>
            </a:r>
            <a:r>
              <a:rPr lang="zh-CN" altLang="en-US" sz="2400" kern="100" dirty="0">
                <a:effectLst/>
                <a:latin typeface="Times New Roman" panose="02020603050405020304" pitchFamily="18" charset="0"/>
                <a:ea typeface="宋体" pitchFamily="2" charset="-122"/>
                <a:cs typeface="Times New Roman" panose="02020603050405020304" pitchFamily="18" charset="0"/>
              </a:rPr>
              <a:t>。其应用范围包含：</a:t>
            </a:r>
            <a:endParaRPr lang="en-US" altLang="zh-CN" dirty="0">
              <a:solidFill>
                <a:srgbClr val="FF0000"/>
              </a:solidFill>
              <a:cs typeface="+mj-cs"/>
            </a:endParaRPr>
          </a:p>
        </p:txBody>
      </p:sp>
      <p:sp>
        <p:nvSpPr>
          <p:cNvPr id="19" name="内容占位符 2"/>
          <p:cNvSpPr txBox="1">
            <a:spLocks noChangeArrowheads="1"/>
          </p:cNvSpPr>
          <p:nvPr/>
        </p:nvSpPr>
        <p:spPr bwMode="auto">
          <a:xfrm>
            <a:off x="2052514" y="4509914"/>
            <a:ext cx="7848872" cy="206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599815" algn="l">
              <a:buClr>
                <a:srgbClr val="0070C0"/>
              </a:buClr>
              <a:buFont typeface="Wingdings" panose="05000000000000000000" pitchFamily="2" charset="2"/>
              <a:buChar char="n"/>
              <a:defRPr/>
            </a:pPr>
            <a:r>
              <a:rPr lang="zh-CN" altLang="en-US" sz="2200" dirty="0"/>
              <a:t>物体辨识</a:t>
            </a:r>
            <a:endParaRPr lang="en-US" altLang="zh-CN" sz="2200" dirty="0"/>
          </a:p>
          <a:p>
            <a:pPr marL="3599815" algn="l">
              <a:buClr>
                <a:srgbClr val="0070C0"/>
              </a:buClr>
              <a:buFont typeface="Wingdings" panose="05000000000000000000" pitchFamily="2" charset="2"/>
              <a:buChar char="n"/>
              <a:defRPr/>
            </a:pPr>
            <a:r>
              <a:rPr lang="zh-CN" altLang="en-US" sz="2200" dirty="0"/>
              <a:t>机器人地图感知与导航</a:t>
            </a:r>
            <a:endParaRPr lang="en-US" altLang="zh-CN" sz="2200" dirty="0"/>
          </a:p>
          <a:p>
            <a:pPr marL="3599815" algn="l">
              <a:buClr>
                <a:srgbClr val="0070C0"/>
              </a:buClr>
              <a:buFont typeface="Wingdings" panose="05000000000000000000" pitchFamily="2" charset="2"/>
              <a:buChar char="n"/>
              <a:defRPr/>
            </a:pPr>
            <a:r>
              <a:rPr lang="zh-CN" altLang="en-US" sz="2200" dirty="0"/>
              <a:t>影像缝合</a:t>
            </a:r>
            <a:endParaRPr lang="en-US" altLang="zh-CN" sz="2200" dirty="0"/>
          </a:p>
          <a:p>
            <a:pPr marL="3256915" indent="0" algn="l">
              <a:buClr>
                <a:srgbClr val="0070C0"/>
              </a:buClr>
              <a:defRPr/>
            </a:pPr>
            <a:endParaRPr lang="en-US" altLang="zh-CN" sz="2200" dirty="0"/>
          </a:p>
        </p:txBody>
      </p:sp>
      <p:sp>
        <p:nvSpPr>
          <p:cNvPr id="20" name="内容占位符 2"/>
          <p:cNvSpPr txBox="1">
            <a:spLocks noChangeArrowheads="1"/>
          </p:cNvSpPr>
          <p:nvPr/>
        </p:nvSpPr>
        <p:spPr bwMode="auto">
          <a:xfrm>
            <a:off x="-1025505" y="4509914"/>
            <a:ext cx="5454283" cy="1900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599815" algn="l">
              <a:buClr>
                <a:srgbClr val="0070C0"/>
              </a:buClr>
              <a:buFont typeface="Wingdings" panose="05000000000000000000" pitchFamily="2" charset="2"/>
              <a:buChar char="n"/>
              <a:defRPr/>
            </a:pPr>
            <a:r>
              <a:rPr lang="en-US" altLang="zh-CN" sz="2200" kern="100" dirty="0">
                <a:effectLst/>
                <a:latin typeface="Times New Roman" panose="02020603050405020304" pitchFamily="18" charset="0"/>
                <a:ea typeface="宋体" pitchFamily="2" charset="-122"/>
              </a:rPr>
              <a:t>3D</a:t>
            </a:r>
            <a:r>
              <a:rPr lang="zh-CN" altLang="zh-CN" sz="2200" kern="100" dirty="0">
                <a:effectLst/>
                <a:latin typeface="Times New Roman" panose="02020603050405020304" pitchFamily="18" charset="0"/>
                <a:ea typeface="宋体" pitchFamily="2" charset="-122"/>
                <a:cs typeface="Times New Roman" panose="02020603050405020304" pitchFamily="18" charset="0"/>
              </a:rPr>
              <a:t>模型建立</a:t>
            </a:r>
            <a:endParaRPr lang="en-US" altLang="zh-CN" sz="2200" kern="100" dirty="0">
              <a:solidFill>
                <a:srgbClr val="FF0000"/>
              </a:solidFill>
              <a:effectLst/>
              <a:latin typeface="Times New Roman" panose="02020603050405020304" pitchFamily="18" charset="0"/>
              <a:ea typeface="宋体" pitchFamily="2" charset="-122"/>
              <a:cs typeface="Times New Roman" panose="02020603050405020304" pitchFamily="18" charset="0"/>
            </a:endParaRPr>
          </a:p>
          <a:p>
            <a:pPr marL="3599815" algn="l">
              <a:buClr>
                <a:srgbClr val="0070C0"/>
              </a:buClr>
              <a:buFont typeface="Wingdings" panose="05000000000000000000" pitchFamily="2" charset="2"/>
              <a:buChar char="n"/>
              <a:defRPr/>
            </a:pPr>
            <a:r>
              <a:rPr lang="zh-CN" altLang="zh-CN" sz="2200" kern="100" dirty="0">
                <a:effectLst/>
                <a:latin typeface="Times New Roman" panose="02020603050405020304" pitchFamily="18" charset="0"/>
                <a:ea typeface="宋体" pitchFamily="2" charset="-122"/>
                <a:cs typeface="Times New Roman" panose="02020603050405020304" pitchFamily="18" charset="0"/>
              </a:rPr>
              <a:t>手势辨识</a:t>
            </a:r>
            <a:endParaRPr lang="en-US" altLang="zh-CN" sz="2200" kern="100" dirty="0">
              <a:solidFill>
                <a:srgbClr val="FF0000"/>
              </a:solidFill>
              <a:latin typeface="Times New Roman" panose="02020603050405020304" pitchFamily="18" charset="0"/>
              <a:ea typeface="宋体" pitchFamily="2" charset="-122"/>
              <a:cs typeface="Times New Roman" panose="02020603050405020304" pitchFamily="18" charset="0"/>
            </a:endParaRPr>
          </a:p>
          <a:p>
            <a:pPr marL="3599815" algn="l">
              <a:buClr>
                <a:srgbClr val="0070C0"/>
              </a:buClr>
              <a:buFont typeface="Wingdings" panose="05000000000000000000" pitchFamily="2" charset="2"/>
              <a:buChar char="n"/>
              <a:defRPr/>
            </a:pPr>
            <a:r>
              <a:rPr lang="zh-CN" altLang="zh-CN" sz="2200" kern="100" dirty="0">
                <a:effectLst/>
                <a:latin typeface="Times New Roman" panose="02020603050405020304" pitchFamily="18" charset="0"/>
                <a:ea typeface="宋体" pitchFamily="2" charset="-122"/>
                <a:cs typeface="Times New Roman" panose="02020603050405020304" pitchFamily="18" charset="0"/>
              </a:rPr>
              <a:t>影像追踪</a:t>
            </a:r>
            <a:endParaRPr lang="en-US" altLang="zh-CN" sz="2200" kern="100" dirty="0">
              <a:effectLst/>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sym typeface="+mn-ea"/>
              </a:rPr>
              <a:t>9.4SIFT</a:t>
            </a:r>
            <a:r>
              <a:rPr lang="zh-CN" altLang="en-US" b="1" dirty="0">
                <a:solidFill>
                  <a:schemeClr val="tx1">
                    <a:lumMod val="75000"/>
                    <a:lumOff val="25000"/>
                  </a:schemeClr>
                </a:solidFill>
                <a:latin typeface="微软雅黑" panose="020B0503020204020204" pitchFamily="34" charset="-122"/>
                <a:sym typeface="+mn-ea"/>
              </a:rPr>
              <a:t>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内容占位符 2"/>
          <p:cNvSpPr txBox="1">
            <a:spLocks noChangeArrowheads="1"/>
          </p:cNvSpPr>
          <p:nvPr/>
        </p:nvSpPr>
        <p:spPr bwMode="auto">
          <a:xfrm>
            <a:off x="324322" y="1169046"/>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en-US" altLang="zh-CN"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SIFT</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算法特点</a:t>
            </a:r>
            <a:endParaRPr lang="zh-CN" altLang="en-US"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内容占位符 2"/>
          <p:cNvSpPr txBox="1">
            <a:spLocks noChangeArrowheads="1"/>
          </p:cNvSpPr>
          <p:nvPr/>
        </p:nvSpPr>
        <p:spPr bwMode="auto">
          <a:xfrm>
            <a:off x="-2628006" y="1691546"/>
            <a:ext cx="11449272" cy="411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599815" algn="l">
              <a:buClr>
                <a:srgbClr val="0070C0"/>
              </a:buClr>
              <a:buFont typeface="Wingdings" panose="05000000000000000000" pitchFamily="2" charset="2"/>
              <a:buChar char="n"/>
              <a:defRPr/>
            </a:pPr>
            <a:r>
              <a:rPr lang="zh-CN" altLang="en-US" sz="2200" kern="100" dirty="0">
                <a:effectLst/>
                <a:latin typeface="Times New Roman" panose="02020603050405020304" pitchFamily="18" charset="0"/>
                <a:ea typeface="宋体" pitchFamily="2" charset="-122"/>
                <a:cs typeface="Times New Roman" panose="02020603050405020304" pitchFamily="18" charset="0"/>
              </a:rPr>
              <a:t>独特性好：信息量丰富，适用于在海量特征数据库中进行快速准确的匹配。</a:t>
            </a:r>
            <a:endParaRPr lang="en-US" altLang="zh-CN" sz="2200" kern="100" dirty="0">
              <a:solidFill>
                <a:srgbClr val="FF0000"/>
              </a:solidFill>
              <a:effectLst/>
              <a:latin typeface="Times New Roman" panose="02020603050405020304" pitchFamily="18" charset="0"/>
              <a:ea typeface="宋体" pitchFamily="2" charset="-122"/>
              <a:cs typeface="Times New Roman" panose="02020603050405020304" pitchFamily="18" charset="0"/>
            </a:endParaRPr>
          </a:p>
          <a:p>
            <a:pPr marL="3599815" algn="l">
              <a:buClr>
                <a:srgbClr val="0070C0"/>
              </a:buClr>
              <a:buFont typeface="Wingdings" panose="05000000000000000000" pitchFamily="2" charset="2"/>
              <a:buChar char="n"/>
              <a:defRPr/>
            </a:pPr>
            <a:r>
              <a:rPr lang="zh-CN" altLang="en-US" sz="2200" kern="100" dirty="0">
                <a:effectLst/>
                <a:latin typeface="Times New Roman" panose="02020603050405020304" pitchFamily="18" charset="0"/>
                <a:ea typeface="宋体" pitchFamily="2" charset="-122"/>
                <a:cs typeface="Times New Roman" panose="02020603050405020304" pitchFamily="18" charset="0"/>
              </a:rPr>
              <a:t>多量性：即使少数的几个物体也可以产生大量</a:t>
            </a:r>
            <a:r>
              <a:rPr lang="en-US" altLang="zh-CN" sz="2200" kern="100" dirty="0">
                <a:effectLst/>
                <a:latin typeface="Times New Roman" panose="02020603050405020304" pitchFamily="18" charset="0"/>
                <a:ea typeface="宋体" pitchFamily="2" charset="-122"/>
                <a:cs typeface="Times New Roman" panose="02020603050405020304" pitchFamily="18" charset="0"/>
              </a:rPr>
              <a:t>SIFT</a:t>
            </a:r>
            <a:r>
              <a:rPr lang="zh-CN" altLang="en-US" sz="2200" kern="100" dirty="0">
                <a:effectLst/>
                <a:latin typeface="Times New Roman" panose="02020603050405020304" pitchFamily="18" charset="0"/>
                <a:ea typeface="宋体" pitchFamily="2" charset="-122"/>
                <a:cs typeface="Times New Roman" panose="02020603050405020304" pitchFamily="18" charset="0"/>
              </a:rPr>
              <a:t>特征向量。</a:t>
            </a:r>
            <a:endParaRPr lang="en-US" altLang="zh-CN" sz="2200" kern="100" dirty="0">
              <a:effectLst/>
              <a:latin typeface="Times New Roman" panose="02020603050405020304" pitchFamily="18" charset="0"/>
              <a:ea typeface="宋体" pitchFamily="2" charset="-122"/>
              <a:cs typeface="Times New Roman" panose="02020603050405020304" pitchFamily="18" charset="0"/>
            </a:endParaRPr>
          </a:p>
          <a:p>
            <a:pPr marL="3599815" algn="l">
              <a:buClr>
                <a:srgbClr val="0070C0"/>
              </a:buClr>
              <a:buFont typeface="Wingdings" panose="05000000000000000000" pitchFamily="2" charset="2"/>
              <a:buChar char="n"/>
              <a:defRPr/>
            </a:pPr>
            <a:r>
              <a:rPr lang="zh-CN" altLang="en-US" sz="2200" kern="100" dirty="0">
                <a:latin typeface="Times New Roman" panose="02020603050405020304" pitchFamily="18" charset="0"/>
                <a:ea typeface="宋体" pitchFamily="2" charset="-122"/>
                <a:cs typeface="Times New Roman" panose="02020603050405020304" pitchFamily="18" charset="0"/>
              </a:rPr>
              <a:t>可扩展性强：可以很方便的与其他形式的特征向量进行联合。</a:t>
            </a:r>
            <a:endParaRPr lang="en-US" altLang="zh-CN" sz="2200" kern="100" dirty="0">
              <a:latin typeface="Times New Roman" panose="02020603050405020304" pitchFamily="18" charset="0"/>
              <a:ea typeface="宋体" pitchFamily="2" charset="-122"/>
              <a:cs typeface="Times New Roman" panose="02020603050405020304" pitchFamily="18" charset="0"/>
            </a:endParaRPr>
          </a:p>
          <a:p>
            <a:pPr marL="3599815" algn="l">
              <a:buClr>
                <a:srgbClr val="0070C0"/>
              </a:buClr>
              <a:buFont typeface="Wingdings" panose="05000000000000000000" pitchFamily="2" charset="2"/>
              <a:buChar char="n"/>
              <a:defRPr/>
            </a:pPr>
            <a:r>
              <a:rPr lang="zh-CN" altLang="en-US" sz="2200" kern="100" dirty="0">
                <a:effectLst/>
                <a:latin typeface="Times New Roman" panose="02020603050405020304" pitchFamily="18" charset="0"/>
                <a:ea typeface="宋体" pitchFamily="2" charset="-122"/>
                <a:cs typeface="Times New Roman" panose="02020603050405020304" pitchFamily="18" charset="0"/>
              </a:rPr>
              <a:t>速度相对较快：经优化的</a:t>
            </a:r>
            <a:r>
              <a:rPr lang="en-US" altLang="zh-CN" sz="2200" kern="100" dirty="0">
                <a:effectLst/>
                <a:latin typeface="Times New Roman" panose="02020603050405020304" pitchFamily="18" charset="0"/>
                <a:ea typeface="宋体" pitchFamily="2" charset="-122"/>
                <a:cs typeface="Times New Roman" panose="02020603050405020304" pitchFamily="18" charset="0"/>
              </a:rPr>
              <a:t>SIFT</a:t>
            </a:r>
            <a:r>
              <a:rPr lang="zh-CN" altLang="en-US" sz="2200" kern="100" dirty="0">
                <a:effectLst/>
                <a:latin typeface="Times New Roman" panose="02020603050405020304" pitchFamily="18" charset="0"/>
                <a:ea typeface="宋体" pitchFamily="2" charset="-122"/>
                <a:cs typeface="Times New Roman" panose="02020603050405020304" pitchFamily="18" charset="0"/>
              </a:rPr>
              <a:t>算法甚至可以达到实时的要求。</a:t>
            </a:r>
            <a:endParaRPr lang="en-US" altLang="zh-CN" sz="2200" kern="100" dirty="0">
              <a:effectLst/>
              <a:latin typeface="Times New Roman" panose="02020603050405020304" pitchFamily="18" charset="0"/>
              <a:ea typeface="宋体" pitchFamily="2" charset="-122"/>
              <a:cs typeface="Times New Roman" panose="02020603050405020304" pitchFamily="18" charset="0"/>
            </a:endParaRPr>
          </a:p>
          <a:p>
            <a:pPr marL="3599815" algn="l">
              <a:buClr>
                <a:srgbClr val="0070C0"/>
              </a:buClr>
              <a:buFont typeface="Wingdings" panose="05000000000000000000" pitchFamily="2" charset="2"/>
              <a:buChar char="n"/>
              <a:defRPr/>
            </a:pPr>
            <a:r>
              <a:rPr lang="en-US" altLang="zh-CN" sz="2200" kern="100" dirty="0">
                <a:effectLst/>
                <a:latin typeface="Times New Roman" panose="02020603050405020304" pitchFamily="18" charset="0"/>
                <a:ea typeface="宋体" pitchFamily="2" charset="-122"/>
                <a:cs typeface="Times New Roman" panose="02020603050405020304" pitchFamily="18" charset="0"/>
              </a:rPr>
              <a:t>SIFT</a:t>
            </a:r>
            <a:r>
              <a:rPr lang="zh-CN" altLang="en-US" sz="2200" kern="100" dirty="0">
                <a:effectLst/>
                <a:latin typeface="Times New Roman" panose="02020603050405020304" pitchFamily="18" charset="0"/>
                <a:ea typeface="宋体" pitchFamily="2" charset="-122"/>
                <a:cs typeface="Times New Roman" panose="02020603050405020304" pitchFamily="18" charset="0"/>
              </a:rPr>
              <a:t>算法所查找到的特征点是一些十分突出，不会因光照，仿射变换和噪音等因素明显变化的点。</a:t>
            </a:r>
            <a:endParaRPr lang="en-US" altLang="zh-CN" sz="2200" kern="100" dirty="0">
              <a:effectLst/>
              <a:latin typeface="Times New Roman" panose="02020603050405020304" pitchFamily="18" charset="0"/>
              <a:ea typeface="宋体" pitchFamily="2" charset="-122"/>
              <a:cs typeface="Times New Roman" panose="02020603050405020304" pitchFamily="18" charset="0"/>
            </a:endParaRPr>
          </a:p>
          <a:p>
            <a:pPr marL="3256915" indent="0" algn="l">
              <a:buClr>
                <a:srgbClr val="0070C0"/>
              </a:buClr>
              <a:defRPr/>
            </a:pPr>
            <a:endParaRPr lang="en-US" altLang="zh-CN" sz="2000" kern="100" dirty="0">
              <a:effectLst/>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sym typeface="+mn-ea"/>
              </a:rPr>
              <a:t>9.4SIFT</a:t>
            </a:r>
            <a:r>
              <a:rPr lang="zh-CN" altLang="en-US" b="1" dirty="0">
                <a:solidFill>
                  <a:schemeClr val="tx1">
                    <a:lumMod val="75000"/>
                    <a:lumOff val="25000"/>
                  </a:schemeClr>
                </a:solidFill>
                <a:latin typeface="微软雅黑" panose="020B0503020204020204" pitchFamily="34" charset="-122"/>
                <a:sym typeface="+mn-ea"/>
              </a:rPr>
              <a:t>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内容占位符 2"/>
          <p:cNvSpPr txBox="1">
            <a:spLocks noChangeArrowheads="1"/>
          </p:cNvSpPr>
          <p:nvPr/>
        </p:nvSpPr>
        <p:spPr bwMode="auto">
          <a:xfrm>
            <a:off x="396330" y="1070418"/>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en-US" altLang="zh-CN"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SIFT</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算法步骤</a:t>
            </a:r>
            <a:endParaRPr lang="zh-CN" altLang="en-US" b="1"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sz="2400" kern="100" dirty="0">
                <a:effectLst/>
                <a:latin typeface="Times New Roman" panose="02020603050405020304" pitchFamily="18" charset="0"/>
                <a:ea typeface="宋体" pitchFamily="2" charset="-122"/>
                <a:cs typeface="Times New Roman" panose="02020603050405020304" pitchFamily="18" charset="0"/>
              </a:rPr>
              <a:t>        </a:t>
            </a:r>
            <a:endParaRPr lang="en-US" altLang="zh-CN" dirty="0">
              <a:solidFill>
                <a:srgbClr val="FF0000"/>
              </a:solidFill>
              <a:cs typeface="+mj-cs"/>
            </a:endParaRPr>
          </a:p>
        </p:txBody>
      </p:sp>
      <p:sp>
        <p:nvSpPr>
          <p:cNvPr id="8" name="内容占位符 2"/>
          <p:cNvSpPr txBox="1">
            <a:spLocks noChangeArrowheads="1"/>
          </p:cNvSpPr>
          <p:nvPr/>
        </p:nvSpPr>
        <p:spPr bwMode="auto">
          <a:xfrm>
            <a:off x="396330" y="1125538"/>
            <a:ext cx="8229600" cy="1224136"/>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a:spcBef>
                <a:spcPts val="2400"/>
              </a:spcBef>
              <a:defRPr/>
            </a:pPr>
            <a:endParaRPr lang="zh-CN" altLang="en-US"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zh-CN" altLang="en-US" sz="2400" kern="100" dirty="0">
                <a:effectLst/>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对一幅图像进行</a:t>
            </a:r>
            <a:r>
              <a:rPr lang="en-US" altLang="zh-CN" kern="100" dirty="0">
                <a:latin typeface="Times New Roman" panose="02020603050405020304" pitchFamily="18" charset="0"/>
                <a:ea typeface="宋体" pitchFamily="2" charset="-122"/>
                <a:cs typeface="Times New Roman" panose="02020603050405020304" pitchFamily="18" charset="0"/>
              </a:rPr>
              <a:t>SIFT</a:t>
            </a:r>
            <a:r>
              <a:rPr lang="zh-CN" altLang="en-US" kern="100" dirty="0">
                <a:latin typeface="Times New Roman" panose="02020603050405020304" pitchFamily="18" charset="0"/>
                <a:ea typeface="宋体" pitchFamily="2" charset="-122"/>
                <a:cs typeface="Times New Roman" panose="02020603050405020304" pitchFamily="18" charset="0"/>
              </a:rPr>
              <a:t>特征提取需要五个步骤：</a:t>
            </a:r>
            <a:r>
              <a:rPr lang="en-US" altLang="zh-CN" kern="100" dirty="0">
                <a:latin typeface="Times New Roman" panose="02020603050405020304" pitchFamily="18" charset="0"/>
                <a:ea typeface="宋体" pitchFamily="2" charset="-122"/>
                <a:cs typeface="Times New Roman" panose="02020603050405020304" pitchFamily="18" charset="0"/>
              </a:rPr>
              <a:t>(1) </a:t>
            </a:r>
            <a:r>
              <a:rPr lang="zh-CN" altLang="en-US" kern="100" dirty="0">
                <a:latin typeface="Times New Roman" panose="02020603050405020304" pitchFamily="18" charset="0"/>
                <a:ea typeface="宋体" pitchFamily="2" charset="-122"/>
                <a:cs typeface="Times New Roman" panose="02020603050405020304" pitchFamily="18" charset="0"/>
              </a:rPr>
              <a:t>尺度空间极值检测，</a:t>
            </a:r>
            <a:r>
              <a:rPr lang="en-US" altLang="zh-CN" kern="100" dirty="0">
                <a:latin typeface="Times New Roman" panose="02020603050405020304" pitchFamily="18" charset="0"/>
                <a:ea typeface="宋体" pitchFamily="2" charset="-122"/>
                <a:cs typeface="Times New Roman" panose="02020603050405020304" pitchFamily="18" charset="0"/>
              </a:rPr>
              <a:t>(2) </a:t>
            </a:r>
            <a:r>
              <a:rPr lang="zh-CN" altLang="en-US" kern="100" dirty="0">
                <a:latin typeface="Times New Roman" panose="02020603050405020304" pitchFamily="18" charset="0"/>
                <a:ea typeface="宋体" pitchFamily="2" charset="-122"/>
                <a:cs typeface="Times New Roman" panose="02020603050405020304" pitchFamily="18" charset="0"/>
              </a:rPr>
              <a:t>去除不稳定特征点，</a:t>
            </a:r>
            <a:r>
              <a:rPr lang="en-US" altLang="zh-CN" kern="100" dirty="0">
                <a:latin typeface="Times New Roman" panose="02020603050405020304" pitchFamily="18" charset="0"/>
                <a:ea typeface="宋体" pitchFamily="2" charset="-122"/>
                <a:cs typeface="Times New Roman" panose="02020603050405020304" pitchFamily="18" charset="0"/>
              </a:rPr>
              <a:t>(3) </a:t>
            </a:r>
            <a:r>
              <a:rPr lang="zh-CN" altLang="en-US" kern="100" dirty="0">
                <a:latin typeface="Times New Roman" panose="02020603050405020304" pitchFamily="18" charset="0"/>
                <a:ea typeface="宋体" pitchFamily="2" charset="-122"/>
                <a:cs typeface="Times New Roman" panose="02020603050405020304" pitchFamily="18" charset="0"/>
              </a:rPr>
              <a:t>特征点方向分配，</a:t>
            </a:r>
            <a:r>
              <a:rPr lang="en-US" altLang="zh-CN" kern="100" dirty="0">
                <a:latin typeface="Times New Roman" panose="02020603050405020304" pitchFamily="18" charset="0"/>
                <a:ea typeface="宋体" pitchFamily="2" charset="-122"/>
                <a:cs typeface="Times New Roman" panose="02020603050405020304" pitchFamily="18" charset="0"/>
              </a:rPr>
              <a:t>(4) </a:t>
            </a:r>
            <a:r>
              <a:rPr lang="zh-CN" altLang="en-US" kern="100" dirty="0">
                <a:latin typeface="Times New Roman" panose="02020603050405020304" pitchFamily="18" charset="0"/>
                <a:ea typeface="宋体" pitchFamily="2" charset="-122"/>
                <a:cs typeface="Times New Roman" panose="02020603050405020304" pitchFamily="18" charset="0"/>
              </a:rPr>
              <a:t>特征点描述，</a:t>
            </a:r>
            <a:r>
              <a:rPr lang="en-US" altLang="zh-CN" kern="100" dirty="0">
                <a:latin typeface="Times New Roman" panose="02020603050405020304" pitchFamily="18" charset="0"/>
                <a:ea typeface="宋体" pitchFamily="2" charset="-122"/>
                <a:cs typeface="Times New Roman" panose="02020603050405020304" pitchFamily="18" charset="0"/>
              </a:rPr>
              <a:t>(5) </a:t>
            </a:r>
            <a:r>
              <a:rPr lang="zh-CN" altLang="en-US" kern="100" dirty="0">
                <a:latin typeface="Times New Roman" panose="02020603050405020304" pitchFamily="18" charset="0"/>
                <a:ea typeface="宋体" pitchFamily="2" charset="-122"/>
                <a:cs typeface="Times New Roman" panose="02020603050405020304" pitchFamily="18" charset="0"/>
              </a:rPr>
              <a:t>特征点匹配。</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9" name="矩形: 圆角 8"/>
          <p:cNvSpPr/>
          <p:nvPr/>
        </p:nvSpPr>
        <p:spPr>
          <a:xfrm>
            <a:off x="3304282" y="2925738"/>
            <a:ext cx="2448272"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kern="100" dirty="0">
                <a:solidFill>
                  <a:schemeClr val="tx1"/>
                </a:solidFill>
                <a:effectLst/>
                <a:latin typeface="Times New Roman" panose="02020603050405020304" pitchFamily="18" charset="0"/>
                <a:ea typeface="宋体" pitchFamily="2" charset="-122"/>
                <a:cs typeface="Times New Roman" panose="02020603050405020304" pitchFamily="18" charset="0"/>
              </a:rPr>
              <a:t>尺度空间极值检测</a:t>
            </a:r>
            <a:endParaRPr lang="zh-CN" altLang="en-US" dirty="0">
              <a:solidFill>
                <a:schemeClr val="tx1"/>
              </a:solidFill>
            </a:endParaRPr>
          </a:p>
        </p:txBody>
      </p:sp>
      <p:sp>
        <p:nvSpPr>
          <p:cNvPr id="10" name="矩形: 圆角 9"/>
          <p:cNvSpPr/>
          <p:nvPr/>
        </p:nvSpPr>
        <p:spPr>
          <a:xfrm>
            <a:off x="3304281" y="3573810"/>
            <a:ext cx="2448272"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kern="100" dirty="0">
                <a:solidFill>
                  <a:schemeClr val="tx1"/>
                </a:solidFill>
                <a:latin typeface="Times New Roman" panose="02020603050405020304" pitchFamily="18" charset="0"/>
                <a:ea typeface="宋体" pitchFamily="2" charset="-122"/>
                <a:cs typeface="Times New Roman" panose="02020603050405020304" pitchFamily="18" charset="0"/>
              </a:rPr>
              <a:t>去除不稳定特征点</a:t>
            </a:r>
            <a:endParaRPr lang="zh-CN" altLang="en-US" dirty="0">
              <a:solidFill>
                <a:schemeClr val="tx1"/>
              </a:solidFill>
            </a:endParaRPr>
          </a:p>
        </p:txBody>
      </p:sp>
      <p:cxnSp>
        <p:nvCxnSpPr>
          <p:cNvPr id="11" name="直接箭头连接符 10"/>
          <p:cNvCxnSpPr>
            <a:stCxn id="9" idx="2"/>
            <a:endCxn id="10" idx="0"/>
          </p:cNvCxnSpPr>
          <p:nvPr/>
        </p:nvCxnSpPr>
        <p:spPr>
          <a:xfrm flipH="1">
            <a:off x="4528417" y="3329875"/>
            <a:ext cx="1" cy="243935"/>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5" name="矩形: 圆角 14"/>
          <p:cNvSpPr/>
          <p:nvPr/>
        </p:nvSpPr>
        <p:spPr>
          <a:xfrm>
            <a:off x="3304281" y="4222926"/>
            <a:ext cx="2448272"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kern="100" dirty="0">
                <a:solidFill>
                  <a:schemeClr val="tx1"/>
                </a:solidFill>
                <a:latin typeface="Times New Roman" panose="02020603050405020304" pitchFamily="18" charset="0"/>
                <a:ea typeface="宋体" pitchFamily="2" charset="-122"/>
                <a:cs typeface="Times New Roman" panose="02020603050405020304" pitchFamily="18" charset="0"/>
              </a:rPr>
              <a:t>特征点方向分配</a:t>
            </a:r>
            <a:endParaRPr lang="zh-CN" altLang="en-US" dirty="0">
              <a:solidFill>
                <a:schemeClr val="tx1"/>
              </a:solidFill>
            </a:endParaRPr>
          </a:p>
        </p:txBody>
      </p:sp>
      <p:cxnSp>
        <p:nvCxnSpPr>
          <p:cNvPr id="16" name="直接箭头连接符 15"/>
          <p:cNvCxnSpPr>
            <a:stCxn id="10" idx="2"/>
            <a:endCxn id="15" idx="0"/>
          </p:cNvCxnSpPr>
          <p:nvPr/>
        </p:nvCxnSpPr>
        <p:spPr>
          <a:xfrm>
            <a:off x="4528417" y="3977947"/>
            <a:ext cx="0" cy="24497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9" name="矩形: 圆角 18"/>
          <p:cNvSpPr/>
          <p:nvPr/>
        </p:nvSpPr>
        <p:spPr>
          <a:xfrm>
            <a:off x="3304281" y="4890844"/>
            <a:ext cx="2448272"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kern="100" dirty="0">
                <a:solidFill>
                  <a:schemeClr val="tx1"/>
                </a:solidFill>
                <a:latin typeface="Times New Roman" panose="02020603050405020304" pitchFamily="18" charset="0"/>
                <a:ea typeface="宋体" pitchFamily="2" charset="-122"/>
                <a:cs typeface="Times New Roman" panose="02020603050405020304" pitchFamily="18" charset="0"/>
              </a:rPr>
              <a:t>特征点描述</a:t>
            </a:r>
            <a:endParaRPr lang="zh-CN" altLang="en-US" dirty="0">
              <a:solidFill>
                <a:schemeClr val="tx1"/>
              </a:solidFill>
            </a:endParaRPr>
          </a:p>
        </p:txBody>
      </p:sp>
      <p:cxnSp>
        <p:nvCxnSpPr>
          <p:cNvPr id="21" name="直接箭头连接符 20"/>
          <p:cNvCxnSpPr>
            <a:stCxn id="15" idx="2"/>
            <a:endCxn id="19" idx="0"/>
          </p:cNvCxnSpPr>
          <p:nvPr/>
        </p:nvCxnSpPr>
        <p:spPr>
          <a:xfrm>
            <a:off x="4528417" y="4627063"/>
            <a:ext cx="0" cy="26378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2" name="矩形: 圆角 21"/>
          <p:cNvSpPr/>
          <p:nvPr/>
        </p:nvSpPr>
        <p:spPr>
          <a:xfrm>
            <a:off x="3304281" y="5490115"/>
            <a:ext cx="2448272"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kern="100" dirty="0">
                <a:solidFill>
                  <a:schemeClr val="tx1"/>
                </a:solidFill>
                <a:latin typeface="Times New Roman" panose="02020603050405020304" pitchFamily="18" charset="0"/>
                <a:ea typeface="宋体" pitchFamily="2" charset="-122"/>
                <a:cs typeface="Times New Roman" panose="02020603050405020304" pitchFamily="18" charset="0"/>
              </a:rPr>
              <a:t>特征点匹配</a:t>
            </a:r>
            <a:endParaRPr lang="zh-CN" altLang="en-US" dirty="0">
              <a:solidFill>
                <a:schemeClr val="tx1"/>
              </a:solidFill>
            </a:endParaRPr>
          </a:p>
        </p:txBody>
      </p:sp>
      <p:cxnSp>
        <p:nvCxnSpPr>
          <p:cNvPr id="23" name="直接箭头连接符 22"/>
          <p:cNvCxnSpPr>
            <a:stCxn id="19" idx="2"/>
            <a:endCxn id="22" idx="0"/>
          </p:cNvCxnSpPr>
          <p:nvPr/>
        </p:nvCxnSpPr>
        <p:spPr>
          <a:xfrm>
            <a:off x="4528417" y="5294981"/>
            <a:ext cx="0" cy="195134"/>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5" name="文本框 24"/>
          <p:cNvSpPr txBox="1"/>
          <p:nvPr/>
        </p:nvSpPr>
        <p:spPr>
          <a:xfrm>
            <a:off x="2556570" y="5972721"/>
            <a:ext cx="3672408" cy="461665"/>
          </a:xfrm>
          <a:prstGeom prst="rect">
            <a:avLst/>
          </a:prstGeom>
          <a:noFill/>
        </p:spPr>
        <p:txBody>
          <a:bodyPr wrap="square">
            <a:spAutoFit/>
          </a:bodyPr>
          <a:lstStyle/>
          <a:p>
            <a:pPr indent="266700" algn="ctr"/>
            <a:r>
              <a:rPr lang="zh-CN" altLang="en-US"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9.8   SIFT</a:t>
            </a:r>
            <a:r>
              <a:rPr lang="zh-CN" altLang="en-US" sz="2400" kern="100" dirty="0">
                <a:effectLst/>
                <a:latin typeface="Times New Roman" panose="02020603050405020304" pitchFamily="18" charset="0"/>
                <a:ea typeface="宋体" pitchFamily="2" charset="-122"/>
              </a:rPr>
              <a:t>算法</a:t>
            </a:r>
            <a:r>
              <a:rPr lang="zh-CN" altLang="en-US" sz="2400" kern="100" dirty="0">
                <a:latin typeface="Times New Roman" panose="02020603050405020304" pitchFamily="18" charset="0"/>
                <a:ea typeface="宋体" pitchFamily="2" charset="-122"/>
              </a:rPr>
              <a:t>步骤</a:t>
            </a:r>
            <a:endParaRPr lang="zh-CN" altLang="en-US"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sym typeface="+mn-ea"/>
              </a:rPr>
              <a:t>9.4SIFT</a:t>
            </a:r>
            <a:r>
              <a:rPr lang="zh-CN" altLang="en-US" b="1" dirty="0">
                <a:solidFill>
                  <a:schemeClr val="tx1">
                    <a:lumMod val="75000"/>
                    <a:lumOff val="25000"/>
                  </a:schemeClr>
                </a:solidFill>
                <a:latin typeface="微软雅黑" panose="020B0503020204020204" pitchFamily="34" charset="-122"/>
                <a:sym typeface="+mn-ea"/>
              </a:rPr>
              <a:t>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396330" y="765498"/>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457200" indent="-457200" algn="l" eaLnBrk="1" hangingPunct="1">
              <a:lnSpc>
                <a:spcPct val="100000"/>
              </a:lnSpc>
              <a:buAutoNum type="arabicParenBoth"/>
              <a:defRPr/>
            </a:pPr>
            <a:r>
              <a:rPr lang="zh-CN" altLang="en-US" b="1" kern="100" dirty="0">
                <a:latin typeface="Times New Roman" panose="02020603050405020304" pitchFamily="18" charset="0"/>
                <a:ea typeface="宋体" pitchFamily="2" charset="-122"/>
                <a:cs typeface="Times New Roman" panose="02020603050405020304" pitchFamily="18" charset="0"/>
              </a:rPr>
              <a:t>尺度空间极值检测</a:t>
            </a:r>
            <a:endParaRPr lang="en-US" altLang="zh-CN" b="1"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b="1"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高斯金字塔本质上为信号或图片的多尺度表示方法，</a:t>
            </a:r>
            <a:r>
              <a:rPr lang="zh-CN" altLang="en-US" kern="100" dirty="0">
                <a:solidFill>
                  <a:srgbClr val="FF0000"/>
                </a:solidFill>
                <a:latin typeface="Times New Roman" panose="02020603050405020304" pitchFamily="18" charset="0"/>
                <a:ea typeface="宋体" pitchFamily="2" charset="-122"/>
                <a:cs typeface="Times New Roman" panose="02020603050405020304" pitchFamily="18" charset="0"/>
              </a:rPr>
              <a:t>即将同一信号或图片进行多次高斯模糊和降采样，以产生不同尺度的多组信号或图片</a:t>
            </a:r>
            <a:r>
              <a:rPr lang="zh-CN" altLang="en-US" kern="100" dirty="0">
                <a:latin typeface="Times New Roman" panose="02020603050405020304" pitchFamily="18" charset="0"/>
                <a:ea typeface="宋体" pitchFamily="2" charset="-122"/>
                <a:cs typeface="Times New Roman" panose="02020603050405020304" pitchFamily="18" charset="0"/>
              </a:rPr>
              <a:t>。</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步骤</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：将原图像扩大一倍后作为高斯金字塔的第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层，将第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层图像经过高斯平滑之后的结果作为第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组金字塔的第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层，高斯卷积函数如公式</a:t>
            </a:r>
            <a:r>
              <a:rPr lang="en-US" altLang="zh-CN" kern="100" dirty="0">
                <a:latin typeface="Times New Roman" panose="02020603050405020304" pitchFamily="18" charset="0"/>
                <a:ea typeface="宋体" pitchFamily="2" charset="-122"/>
                <a:cs typeface="Times New Roman" panose="02020603050405020304" pitchFamily="18" charset="0"/>
              </a:rPr>
              <a:t>(9-12)</a:t>
            </a:r>
            <a:r>
              <a:rPr lang="zh-CN" altLang="en-US" kern="100" dirty="0">
                <a:latin typeface="Times New Roman" panose="02020603050405020304" pitchFamily="18" charset="0"/>
                <a:ea typeface="宋体" pitchFamily="2" charset="-122"/>
                <a:cs typeface="Times New Roman" panose="02020603050405020304" pitchFamily="18" charset="0"/>
              </a:rPr>
              <a:t>所示。</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4" name="文本框 23"/>
              <p:cNvSpPr txBox="1"/>
              <p:nvPr/>
            </p:nvSpPr>
            <p:spPr>
              <a:xfrm>
                <a:off x="1908498" y="4012284"/>
                <a:ext cx="4585316" cy="929678"/>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𝐺</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e>
                      </m:d>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0">
                              <a:latin typeface="Cambria Math" panose="02040503050406030204" pitchFamily="18" charset="0"/>
                            </a:rPr>
                            <m:t>2</m:t>
                          </m:r>
                          <m:r>
                            <a:rPr lang="zh-CN" altLang="en-US" sz="2400" i="1">
                              <a:latin typeface="Cambria Math" panose="02040503050406030204" pitchFamily="18" charset="0"/>
                            </a:rPr>
                            <m:t>𝜋</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𝜎</m:t>
                              </m:r>
                            </m:e>
                            <m:sup>
                              <m:r>
                                <a:rPr lang="zh-CN" altLang="en-US" sz="2400" i="0">
                                  <a:latin typeface="Cambria Math" panose="02040503050406030204" pitchFamily="18" charset="0"/>
                                </a:rPr>
                                <m:t>2</m:t>
                              </m:r>
                            </m:sup>
                          </m:sSup>
                        </m:den>
                      </m:f>
                      <m:func>
                        <m:funcPr>
                          <m:ctrlPr>
                            <a:rPr lang="zh-CN" altLang="en-US" sz="2400" i="1">
                              <a:latin typeface="Cambria Math" panose="02040503050406030204" pitchFamily="18" charset="0"/>
                            </a:rPr>
                          </m:ctrlPr>
                        </m:funcPr>
                        <m:fName>
                          <m:r>
                            <m:rPr>
                              <m:sty m:val="p"/>
                            </m:rPr>
                            <a:rPr lang="zh-CN" altLang="en-US" sz="2400" i="0">
                              <a:latin typeface="Cambria Math" panose="02040503050406030204" pitchFamily="18" charset="0"/>
                            </a:rPr>
                            <m:t>exp</m:t>
                          </m:r>
                        </m:fName>
                        <m:e>
                          <m:d>
                            <m:dPr>
                              <m:ctrlPr>
                                <a:rPr lang="zh-CN" altLang="en-US" sz="2400" i="1">
                                  <a:solidFill>
                                    <a:srgbClr val="836967"/>
                                  </a:solidFill>
                                  <a:latin typeface="Cambria Math" panose="02040503050406030204" pitchFamily="18" charset="0"/>
                                </a:rPr>
                              </m:ctrlPr>
                            </m:dPr>
                            <m:e>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r>
                                    <a:rPr lang="zh-CN" altLang="en-US" sz="2400" i="0">
                                      <a:latin typeface="Cambria Math" panose="02040503050406030204" pitchFamily="18" charset="0"/>
                                    </a:rPr>
                                    <m:t>+</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𝑦</m:t>
                                      </m:r>
                                    </m:e>
                                    <m:sup>
                                      <m:r>
                                        <a:rPr lang="zh-CN" altLang="en-US" sz="2400" i="0">
                                          <a:latin typeface="Cambria Math" panose="02040503050406030204" pitchFamily="18" charset="0"/>
                                        </a:rPr>
                                        <m:t>2</m:t>
                                      </m:r>
                                    </m:sup>
                                  </m:sSup>
                                </m:num>
                                <m:den>
                                  <m:r>
                                    <a:rPr lang="zh-CN" altLang="en-US" sz="2400" i="0">
                                      <a:latin typeface="Cambria Math" panose="02040503050406030204" pitchFamily="18" charset="0"/>
                                    </a:rPr>
                                    <m:t>2</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𝜎</m:t>
                                      </m:r>
                                    </m:e>
                                    <m:sup>
                                      <m:r>
                                        <a:rPr lang="zh-CN" altLang="en-US" sz="2400" i="0">
                                          <a:latin typeface="Cambria Math" panose="02040503050406030204" pitchFamily="18" charset="0"/>
                                        </a:rPr>
                                        <m:t>2</m:t>
                                      </m:r>
                                    </m:sup>
                                  </m:sSup>
                                </m:den>
                              </m:f>
                            </m:e>
                          </m:d>
                        </m:e>
                      </m:func>
                    </m:oMath>
                  </m:oMathPara>
                </a14:m>
                <a:endParaRPr lang="zh-CN" altLang="en-US" sz="2400" dirty="0"/>
              </a:p>
            </p:txBody>
          </p:sp>
        </mc:Choice>
        <mc:Fallback>
          <p:sp>
            <p:nvSpPr>
              <p:cNvPr id="24" name="文本框 23"/>
              <p:cNvSpPr txBox="1">
                <a:spLocks noRot="1" noChangeAspect="1" noMove="1" noResize="1" noEditPoints="1" noAdjustHandles="1" noChangeArrowheads="1" noChangeShapeType="1" noTextEdit="1"/>
              </p:cNvSpPr>
              <p:nvPr/>
            </p:nvSpPr>
            <p:spPr>
              <a:xfrm>
                <a:off x="1908498" y="4012284"/>
                <a:ext cx="4585316" cy="929678"/>
              </a:xfrm>
              <a:prstGeom prst="rect">
                <a:avLst/>
              </a:prstGeom>
              <a:blipFill rotWithShape="1">
                <a:blip r:embed="rId1"/>
                <a:stretch>
                  <a:fillRect l="-7" t="-38" r="7" b="42"/>
                </a:stretch>
              </a:blipFill>
            </p:spPr>
            <p:txBody>
              <a:bodyPr/>
              <a:lstStyle/>
              <a:p>
                <a:r>
                  <a:rPr lang="zh-CN" altLang="en-US">
                    <a:noFill/>
                  </a:rPr>
                  <a:t> </a:t>
                </a:r>
              </a:p>
            </p:txBody>
          </p:sp>
        </mc:Fallback>
      </mc:AlternateContent>
      <p:sp>
        <p:nvSpPr>
          <p:cNvPr id="26" name="文本框 25"/>
          <p:cNvSpPr txBox="1"/>
          <p:nvPr/>
        </p:nvSpPr>
        <p:spPr>
          <a:xfrm>
            <a:off x="7381106" y="4264273"/>
            <a:ext cx="1080120" cy="461665"/>
          </a:xfrm>
          <a:prstGeom prst="rect">
            <a:avLst/>
          </a:prstGeom>
          <a:noFill/>
        </p:spPr>
        <p:txBody>
          <a:bodyPr wrap="square">
            <a:spAutoFit/>
          </a:bodyPr>
          <a:lstStyle/>
          <a:p>
            <a:r>
              <a:rPr lang="en-US" altLang="zh-CN" sz="2400" dirty="0">
                <a:effectLst/>
                <a:latin typeface="宋体" pitchFamily="2" charset="-122"/>
                <a:cs typeface="宋体" pitchFamily="2" charset="-122"/>
              </a:rPr>
              <a:t>(</a:t>
            </a:r>
            <a:r>
              <a:rPr lang="en-US" altLang="zh-CN" sz="2400" dirty="0">
                <a:effectLst/>
                <a:latin typeface="Times New Roman" panose="02020603050405020304" pitchFamily="18" charset="0"/>
                <a:ea typeface="宋体" pitchFamily="2" charset="-122"/>
              </a:rPr>
              <a:t>9-12</a:t>
            </a:r>
            <a:r>
              <a:rPr lang="en-US" altLang="zh-CN" sz="2400" dirty="0">
                <a:effectLst/>
                <a:latin typeface="宋体" pitchFamily="2" charset="-122"/>
                <a:cs typeface="宋体" pitchFamily="2" charset="-122"/>
              </a:rPr>
              <a:t>)</a:t>
            </a:r>
            <a:endParaRPr lang="zh-CN" altLang="en-US" dirty="0"/>
          </a:p>
        </p:txBody>
      </p:sp>
      <mc:AlternateContent xmlns:mc="http://schemas.openxmlformats.org/markup-compatibility/2006">
        <mc:Choice xmlns:a14="http://schemas.microsoft.com/office/drawing/2010/main" Requires="a14">
          <p:sp>
            <p:nvSpPr>
              <p:cNvPr id="28" name="文本框 27"/>
              <p:cNvSpPr txBox="1"/>
              <p:nvPr/>
            </p:nvSpPr>
            <p:spPr>
              <a:xfrm>
                <a:off x="591666" y="5056361"/>
                <a:ext cx="8013576" cy="461665"/>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对于参数</a:t>
                </a:r>
                <a14:m>
                  <m:oMath xmlns:m="http://schemas.openxmlformats.org/officeDocument/2006/math">
                    <m:r>
                      <a:rPr lang="en-US" altLang="zh-CN" sz="2400" i="1" kern="100">
                        <a:effectLst/>
                        <a:latin typeface="Cambria Math" panose="02040503050406030204" pitchFamily="18" charset="0"/>
                        <a:ea typeface="宋体" pitchFamily="2" charset="-122"/>
                      </a:rPr>
                      <m:t>𝜎</m:t>
                    </m:r>
                  </m:oMath>
                </a14:m>
                <a:r>
                  <a:rPr lang="zh-CN" altLang="zh-CN" sz="2400" kern="100" dirty="0">
                    <a:effectLst/>
                    <a:latin typeface="Times New Roman" panose="02020603050405020304" pitchFamily="18" charset="0"/>
                    <a:ea typeface="宋体" pitchFamily="2" charset="-122"/>
                  </a:rPr>
                  <a:t>，在</a:t>
                </a:r>
                <a:r>
                  <a:rPr lang="en-US" altLang="zh-CN" sz="2400" kern="100" dirty="0">
                    <a:effectLst/>
                    <a:latin typeface="Times New Roman" panose="02020603050405020304" pitchFamily="18" charset="0"/>
                    <a:ea typeface="宋体" pitchFamily="2" charset="-122"/>
                  </a:rPr>
                  <a:t>SIFT</a:t>
                </a:r>
                <a:r>
                  <a:rPr lang="zh-CN" altLang="zh-CN" sz="2400" kern="100" dirty="0">
                    <a:effectLst/>
                    <a:latin typeface="Times New Roman" panose="02020603050405020304" pitchFamily="18" charset="0"/>
                    <a:ea typeface="宋体" pitchFamily="2" charset="-122"/>
                  </a:rPr>
                  <a:t>算法中取固定值</a:t>
                </a:r>
                <a:r>
                  <a:rPr lang="en-US" altLang="zh-CN" sz="2400" kern="100" dirty="0">
                    <a:effectLst/>
                    <a:latin typeface="Times New Roman" panose="02020603050405020304" pitchFamily="18" charset="0"/>
                    <a:ea typeface="宋体" pitchFamily="2" charset="-122"/>
                  </a:rPr>
                  <a:t>1.6</a:t>
                </a:r>
                <a:r>
                  <a:rPr lang="zh-CN" altLang="zh-CN" sz="2400" kern="100" dirty="0">
                    <a:effectLst/>
                    <a:latin typeface="Times New Roman" panose="02020603050405020304" pitchFamily="18" charset="0"/>
                    <a:ea typeface="宋体" pitchFamily="2" charset="-122"/>
                  </a:rPr>
                  <a:t>。</a:t>
                </a:r>
                <a:endParaRPr lang="zh-CN" altLang="zh-CN" sz="2400" kern="100" dirty="0">
                  <a:effectLst/>
                  <a:latin typeface="Times New Roman" panose="02020603050405020304" pitchFamily="18" charset="0"/>
                  <a:ea typeface="宋体" pitchFamily="2" charset="-122"/>
                </a:endParaRPr>
              </a:p>
            </p:txBody>
          </p:sp>
        </mc:Choice>
        <mc:Fallback>
          <p:sp>
            <p:nvSpPr>
              <p:cNvPr id="28" name="文本框 27"/>
              <p:cNvSpPr txBox="1">
                <a:spLocks noRot="1" noChangeAspect="1" noMove="1" noResize="1" noEditPoints="1" noAdjustHandles="1" noChangeArrowheads="1" noChangeShapeType="1" noTextEdit="1"/>
              </p:cNvSpPr>
              <p:nvPr/>
            </p:nvSpPr>
            <p:spPr>
              <a:xfrm>
                <a:off x="591666" y="5056361"/>
                <a:ext cx="8013576" cy="461665"/>
              </a:xfrm>
              <a:prstGeom prst="rect">
                <a:avLst/>
              </a:prstGeom>
              <a:blipFill rotWithShape="1">
                <a:blip r:embed="rId2"/>
                <a:stretch>
                  <a:fillRect l="-6" t="-106" r="4" b="-2640"/>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sym typeface="+mn-ea"/>
              </a:rPr>
              <a:t>9.4SIFT</a:t>
            </a:r>
            <a:r>
              <a:rPr lang="zh-CN" altLang="en-US" b="1" dirty="0">
                <a:solidFill>
                  <a:schemeClr val="tx1">
                    <a:lumMod val="75000"/>
                    <a:lumOff val="25000"/>
                  </a:schemeClr>
                </a:solidFill>
                <a:latin typeface="微软雅黑" panose="020B0503020204020204" pitchFamily="34" charset="-122"/>
                <a:sym typeface="+mn-ea"/>
              </a:rPr>
              <a:t>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396330" y="837509"/>
            <a:ext cx="8280920" cy="4752525"/>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步骤</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：将</a:t>
            </a:r>
            <a:r>
              <a:rPr lang="en-US" altLang="zh-CN" kern="100" dirty="0">
                <a:latin typeface="Times New Roman" panose="02020603050405020304" pitchFamily="18" charset="0"/>
                <a:ea typeface="宋体" pitchFamily="2" charset="-122"/>
                <a:cs typeface="Times New Roman" panose="02020603050405020304" pitchFamily="18" charset="0"/>
              </a:rPr>
              <a:t>σ</a:t>
            </a:r>
            <a:r>
              <a:rPr lang="zh-CN" altLang="en-US" kern="100" dirty="0">
                <a:latin typeface="Times New Roman" panose="02020603050405020304" pitchFamily="18" charset="0"/>
                <a:ea typeface="宋体" pitchFamily="2" charset="-122"/>
                <a:cs typeface="Times New Roman" panose="02020603050405020304" pitchFamily="18" charset="0"/>
              </a:rPr>
              <a:t>乘以一个比例系数</a:t>
            </a:r>
            <a:r>
              <a:rPr lang="en-US" altLang="zh-CN" kern="100" dirty="0">
                <a:latin typeface="Times New Roman" panose="02020603050405020304" pitchFamily="18" charset="0"/>
                <a:ea typeface="宋体" pitchFamily="2" charset="-122"/>
                <a:cs typeface="Times New Roman" panose="02020603050405020304" pitchFamily="18" charset="0"/>
              </a:rPr>
              <a:t>k</a:t>
            </a:r>
            <a:r>
              <a:rPr lang="zh-CN" altLang="en-US" kern="100" dirty="0">
                <a:latin typeface="Times New Roman" panose="02020603050405020304" pitchFamily="18" charset="0"/>
                <a:ea typeface="宋体" pitchFamily="2" charset="-122"/>
                <a:cs typeface="Times New Roman" panose="02020603050405020304" pitchFamily="18" charset="0"/>
              </a:rPr>
              <a:t>，得到一个新的平滑因子</a:t>
            </a:r>
            <a:r>
              <a:rPr lang="en-US" altLang="zh-CN" kern="100" dirty="0">
                <a:latin typeface="Times New Roman" panose="02020603050405020304" pitchFamily="18" charset="0"/>
                <a:ea typeface="宋体" pitchFamily="2" charset="-122"/>
                <a:cs typeface="Times New Roman" panose="02020603050405020304" pitchFamily="18" charset="0"/>
              </a:rPr>
              <a:t>σ=</a:t>
            </a:r>
            <a:r>
              <a:rPr lang="en-US" altLang="zh-CN" kern="100" dirty="0" err="1">
                <a:latin typeface="Times New Roman" panose="02020603050405020304" pitchFamily="18" charset="0"/>
                <a:ea typeface="宋体" pitchFamily="2" charset="-122"/>
                <a:cs typeface="Times New Roman" panose="02020603050405020304" pitchFamily="18" charset="0"/>
              </a:rPr>
              <a:t>k×σ</a:t>
            </a:r>
            <a:r>
              <a:rPr lang="zh-CN" altLang="en-US" kern="100" dirty="0">
                <a:latin typeface="Times New Roman" panose="02020603050405020304" pitchFamily="18" charset="0"/>
                <a:ea typeface="宋体" pitchFamily="2" charset="-122"/>
                <a:cs typeface="Times New Roman" panose="02020603050405020304" pitchFamily="18" charset="0"/>
              </a:rPr>
              <a:t>，用它来平滑第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层图像，平滑结果为第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3</a:t>
            </a:r>
            <a:r>
              <a:rPr lang="zh-CN" altLang="en-US" kern="100" dirty="0">
                <a:latin typeface="Times New Roman" panose="02020603050405020304" pitchFamily="18" charset="0"/>
                <a:ea typeface="宋体" pitchFamily="2" charset="-122"/>
                <a:cs typeface="Times New Roman" panose="02020603050405020304" pitchFamily="18" charset="0"/>
              </a:rPr>
              <a:t>层。</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步骤</a:t>
            </a:r>
            <a:r>
              <a:rPr lang="en-US" altLang="zh-CN" kern="100" dirty="0">
                <a:latin typeface="Times New Roman" panose="02020603050405020304" pitchFamily="18" charset="0"/>
                <a:ea typeface="宋体" pitchFamily="2" charset="-122"/>
                <a:cs typeface="Times New Roman" panose="02020603050405020304" pitchFamily="18" charset="0"/>
              </a:rPr>
              <a:t>3</a:t>
            </a:r>
            <a:r>
              <a:rPr lang="zh-CN" altLang="en-US" kern="100" dirty="0">
                <a:latin typeface="Times New Roman" panose="02020603050405020304" pitchFamily="18" charset="0"/>
                <a:ea typeface="宋体" pitchFamily="2" charset="-122"/>
                <a:cs typeface="Times New Roman" panose="02020603050405020304" pitchFamily="18" charset="0"/>
              </a:rPr>
              <a:t>：以此类推，最后得到</a:t>
            </a:r>
            <a:r>
              <a:rPr lang="en-US" altLang="zh-CN" kern="100" dirty="0">
                <a:latin typeface="Times New Roman" panose="02020603050405020304" pitchFamily="18" charset="0"/>
                <a:ea typeface="宋体" pitchFamily="2" charset="-122"/>
                <a:cs typeface="Times New Roman" panose="02020603050405020304" pitchFamily="18" charset="0"/>
              </a:rPr>
              <a:t>L</a:t>
            </a:r>
            <a:r>
              <a:rPr lang="zh-CN" altLang="en-US" kern="100" dirty="0">
                <a:latin typeface="Times New Roman" panose="02020603050405020304" pitchFamily="18" charset="0"/>
                <a:ea typeface="宋体" pitchFamily="2" charset="-122"/>
                <a:cs typeface="Times New Roman" panose="02020603050405020304" pitchFamily="18" charset="0"/>
              </a:rPr>
              <a:t>层图像，在同一组中，每一层图像的尺寸都是一样的，只是平滑系数不一样。</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步骤</a:t>
            </a:r>
            <a:r>
              <a:rPr lang="en-US" altLang="zh-CN" kern="100" dirty="0">
                <a:latin typeface="Times New Roman" panose="02020603050405020304" pitchFamily="18" charset="0"/>
                <a:ea typeface="宋体" pitchFamily="2" charset="-122"/>
                <a:cs typeface="Times New Roman" panose="02020603050405020304" pitchFamily="18" charset="0"/>
              </a:rPr>
              <a:t>4</a:t>
            </a:r>
            <a:r>
              <a:rPr lang="zh-CN" altLang="en-US" kern="100" dirty="0">
                <a:latin typeface="Times New Roman" panose="02020603050405020304" pitchFamily="18" charset="0"/>
                <a:ea typeface="宋体" pitchFamily="2" charset="-122"/>
                <a:cs typeface="Times New Roman" panose="02020603050405020304" pitchFamily="18" charset="0"/>
              </a:rPr>
              <a:t>：将第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组倒数第</a:t>
            </a:r>
            <a:r>
              <a:rPr lang="en-US" altLang="zh-CN" kern="100" dirty="0">
                <a:latin typeface="Times New Roman" panose="02020603050405020304" pitchFamily="18" charset="0"/>
                <a:ea typeface="宋体" pitchFamily="2" charset="-122"/>
                <a:cs typeface="Times New Roman" panose="02020603050405020304" pitchFamily="18" charset="0"/>
              </a:rPr>
              <a:t>3</a:t>
            </a:r>
            <a:r>
              <a:rPr lang="zh-CN" altLang="en-US" kern="100" dirty="0">
                <a:latin typeface="Times New Roman" panose="02020603050405020304" pitchFamily="18" charset="0"/>
                <a:ea typeface="宋体" pitchFamily="2" charset="-122"/>
                <a:cs typeface="Times New Roman" panose="02020603050405020304" pitchFamily="18" charset="0"/>
              </a:rPr>
              <a:t>层图像进行降采样</a:t>
            </a:r>
            <a:r>
              <a:rPr lang="en-US" altLang="zh-CN" kern="100" dirty="0">
                <a:latin typeface="Times New Roman" panose="02020603050405020304" pitchFamily="18" charset="0"/>
                <a:ea typeface="宋体" pitchFamily="2" charset="-122"/>
                <a:cs typeface="Times New Roman" panose="02020603050405020304" pitchFamily="18" charset="0"/>
              </a:rPr>
              <a:t>(</a:t>
            </a:r>
            <a:r>
              <a:rPr lang="zh-CN" altLang="en-US" kern="100" dirty="0">
                <a:latin typeface="Times New Roman" panose="02020603050405020304" pitchFamily="18" charset="0"/>
                <a:ea typeface="宋体" pitchFamily="2" charset="-122"/>
                <a:cs typeface="Times New Roman" panose="02020603050405020304" pitchFamily="18" charset="0"/>
              </a:rPr>
              <a:t>比例因子</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，得到的图像作为第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层，然后对第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层图像做平滑因子为</a:t>
            </a:r>
            <a:r>
              <a:rPr lang="en-US" altLang="zh-CN" kern="100" dirty="0">
                <a:latin typeface="Times New Roman" panose="02020603050405020304" pitchFamily="18" charset="0"/>
                <a:ea typeface="宋体" pitchFamily="2" charset="-122"/>
                <a:cs typeface="Times New Roman" panose="02020603050405020304" pitchFamily="18" charset="0"/>
              </a:rPr>
              <a:t>σ</a:t>
            </a:r>
            <a:r>
              <a:rPr lang="zh-CN" altLang="en-US" kern="100" dirty="0">
                <a:latin typeface="Times New Roman" panose="02020603050405020304" pitchFamily="18" charset="0"/>
                <a:ea typeface="宋体" pitchFamily="2" charset="-122"/>
                <a:cs typeface="Times New Roman" panose="02020603050405020304" pitchFamily="18" charset="0"/>
              </a:rPr>
              <a:t>的高斯平滑，得到第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层，同步骤</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，以此类推，得到第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L</a:t>
            </a:r>
            <a:r>
              <a:rPr lang="zh-CN" altLang="en-US" kern="100" dirty="0">
                <a:latin typeface="Times New Roman" panose="02020603050405020304" pitchFamily="18" charset="0"/>
                <a:ea typeface="宋体" pitchFamily="2" charset="-122"/>
                <a:cs typeface="Times New Roman" panose="02020603050405020304" pitchFamily="18" charset="0"/>
              </a:rPr>
              <a:t>层，同一组中，每一层图像的尺寸都是一样的，但是，第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组图像的尺寸是第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组图像的一半。</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sym typeface="+mn-ea"/>
              </a:rPr>
              <a:t>9.4SIFT</a:t>
            </a:r>
            <a:r>
              <a:rPr lang="zh-CN" altLang="en-US" b="1" dirty="0">
                <a:solidFill>
                  <a:schemeClr val="tx1">
                    <a:lumMod val="75000"/>
                    <a:lumOff val="25000"/>
                  </a:schemeClr>
                </a:solidFill>
                <a:latin typeface="微软雅黑" panose="020B0503020204020204" pitchFamily="34" charset="-122"/>
                <a:sym typeface="+mn-ea"/>
              </a:rPr>
              <a:t>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396330" y="765498"/>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步骤</a:t>
            </a:r>
            <a:r>
              <a:rPr lang="en-US" altLang="zh-CN" kern="100" dirty="0">
                <a:latin typeface="Times New Roman" panose="02020603050405020304" pitchFamily="18" charset="0"/>
                <a:ea typeface="宋体" pitchFamily="2" charset="-122"/>
                <a:cs typeface="Times New Roman" panose="02020603050405020304" pitchFamily="18" charset="0"/>
              </a:rPr>
              <a:t>5</a:t>
            </a:r>
            <a:r>
              <a:rPr lang="zh-CN" altLang="en-US" kern="100" dirty="0">
                <a:latin typeface="Times New Roman" panose="02020603050405020304" pitchFamily="18" charset="0"/>
                <a:ea typeface="宋体" pitchFamily="2" charset="-122"/>
                <a:cs typeface="Times New Roman" panose="02020603050405020304" pitchFamily="18" charset="0"/>
              </a:rPr>
              <a:t>：这样以此类推，就可以得到一共</a:t>
            </a:r>
            <a:r>
              <a:rPr lang="en-US" altLang="zh-CN" kern="100" dirty="0">
                <a:latin typeface="Times New Roman" panose="02020603050405020304" pitchFamily="18" charset="0"/>
                <a:ea typeface="宋体" pitchFamily="2" charset="-122"/>
                <a:cs typeface="Times New Roman" panose="02020603050405020304" pitchFamily="18" charset="0"/>
              </a:rPr>
              <a:t>O</a:t>
            </a:r>
            <a:r>
              <a:rPr lang="zh-CN" altLang="en-US" kern="100" dirty="0">
                <a:latin typeface="Times New Roman" panose="02020603050405020304" pitchFamily="18" charset="0"/>
                <a:ea typeface="宋体" pitchFamily="2" charset="-122"/>
                <a:cs typeface="Times New Roman" panose="02020603050405020304" pitchFamily="18" charset="0"/>
              </a:rPr>
              <a:t>组，每组</a:t>
            </a:r>
            <a:r>
              <a:rPr lang="en-US" altLang="zh-CN" kern="100" dirty="0">
                <a:latin typeface="Times New Roman" panose="02020603050405020304" pitchFamily="18" charset="0"/>
                <a:ea typeface="宋体" pitchFamily="2" charset="-122"/>
                <a:cs typeface="Times New Roman" panose="02020603050405020304" pitchFamily="18" charset="0"/>
              </a:rPr>
              <a:t>L</a:t>
            </a:r>
            <a:r>
              <a:rPr lang="zh-CN" altLang="en-US" kern="100" dirty="0">
                <a:latin typeface="Times New Roman" panose="02020603050405020304" pitchFamily="18" charset="0"/>
                <a:ea typeface="宋体" pitchFamily="2" charset="-122"/>
                <a:cs typeface="Times New Roman" panose="02020603050405020304" pitchFamily="18" charset="0"/>
              </a:rPr>
              <a:t>层，共计</a:t>
            </a:r>
            <a:r>
              <a:rPr lang="en-US" altLang="zh-CN" kern="100" dirty="0">
                <a:latin typeface="Times New Roman" panose="02020603050405020304" pitchFamily="18" charset="0"/>
                <a:ea typeface="宋体" pitchFamily="2" charset="-122"/>
                <a:cs typeface="Times New Roman" panose="02020603050405020304" pitchFamily="18" charset="0"/>
              </a:rPr>
              <a:t>L×O</a:t>
            </a:r>
            <a:r>
              <a:rPr lang="zh-CN" altLang="en-US" kern="100" dirty="0">
                <a:latin typeface="Times New Roman" panose="02020603050405020304" pitchFamily="18" charset="0"/>
                <a:ea typeface="宋体" pitchFamily="2" charset="-122"/>
                <a:cs typeface="Times New Roman" panose="02020603050405020304" pitchFamily="18" charset="0"/>
              </a:rPr>
              <a:t>个图像，这些图像构成了高斯金字塔。</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684156" y="2061598"/>
            <a:ext cx="2601354" cy="3813546"/>
          </a:xfrm>
          <a:prstGeom prst="rect">
            <a:avLst/>
          </a:prstGeom>
          <a:noFill/>
          <a:ln>
            <a:noFill/>
          </a:ln>
        </p:spPr>
      </p:pic>
      <p:sp>
        <p:nvSpPr>
          <p:cNvPr id="9" name="文本框 8"/>
          <p:cNvSpPr txBox="1"/>
          <p:nvPr/>
        </p:nvSpPr>
        <p:spPr>
          <a:xfrm>
            <a:off x="252165" y="6064473"/>
            <a:ext cx="4585316"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cs typeface="Times New Roman" panose="02020603050405020304" pitchFamily="18" charset="0"/>
              </a:rPr>
              <a:t>图</a:t>
            </a:r>
            <a:r>
              <a:rPr lang="en-US" altLang="zh-CN" sz="2400" kern="100" dirty="0">
                <a:effectLst/>
                <a:latin typeface="Times New Roman" panose="02020603050405020304" pitchFamily="18" charset="0"/>
                <a:ea typeface="宋体" pitchFamily="2" charset="-122"/>
                <a:cs typeface="Times New Roman" panose="02020603050405020304" pitchFamily="18" charset="0"/>
              </a:rPr>
              <a:t>9.9   </a:t>
            </a:r>
            <a:r>
              <a:rPr lang="zh-CN" altLang="zh-CN" sz="2400" kern="100" dirty="0">
                <a:effectLst/>
                <a:latin typeface="Times New Roman" panose="02020603050405020304" pitchFamily="18" charset="0"/>
                <a:ea typeface="宋体" pitchFamily="2" charset="-122"/>
                <a:cs typeface="Times New Roman" panose="02020603050405020304" pitchFamily="18" charset="0"/>
              </a:rPr>
              <a:t>高斯金字塔</a:t>
            </a:r>
            <a:endParaRPr lang="zh-CN" altLang="zh-CN" sz="2400" kern="100" dirty="0">
              <a:effectLst/>
              <a:latin typeface="Times New Roman" panose="02020603050405020304" pitchFamily="18" charset="0"/>
              <a:ea typeface="宋体" pitchFamily="2" charset="-122"/>
              <a:cs typeface="Times New Roman" panose="02020603050405020304" pitchFamily="18" charset="0"/>
            </a:endParaRPr>
          </a:p>
        </p:txBody>
      </p:sp>
      <p:pic>
        <p:nvPicPr>
          <p:cNvPr id="2" name="图片 1"/>
          <p:cNvPicPr>
            <a:picLocks noChangeAspect="1"/>
          </p:cNvPicPr>
          <p:nvPr>
            <p:custDataLst>
              <p:tags r:id="rId2"/>
            </p:custDataLst>
          </p:nvPr>
        </p:nvPicPr>
        <p:blipFill>
          <a:blip r:embed="rId3"/>
          <a:stretch>
            <a:fillRect/>
          </a:stretch>
        </p:blipFill>
        <p:spPr>
          <a:xfrm>
            <a:off x="3708400" y="3069590"/>
            <a:ext cx="5454650" cy="1715135"/>
          </a:xfrm>
          <a:prstGeom prst="rect">
            <a:avLst/>
          </a:prstGeom>
        </p:spPr>
      </p:pic>
    </p:spTree>
  </p:cSld>
  <p:clrMapOvr>
    <a:masterClrMapping/>
  </p:clrMapOvr>
  <p:transition spd="slow" advClick="0" advTm="0">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sym typeface="+mn-ea"/>
              </a:rPr>
              <a:t>9.4SIFT</a:t>
            </a:r>
            <a:r>
              <a:rPr lang="zh-CN" altLang="en-US" b="1" dirty="0">
                <a:solidFill>
                  <a:schemeClr val="tx1">
                    <a:lumMod val="75000"/>
                    <a:lumOff val="25000"/>
                  </a:schemeClr>
                </a:solidFill>
                <a:latin typeface="微软雅黑" panose="020B0503020204020204" pitchFamily="34" charset="-122"/>
                <a:sym typeface="+mn-ea"/>
              </a:rPr>
              <a:t>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396330" y="765498"/>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差分金字塔</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是在高斯金字塔的基础上构建起来的，其实生成高斯金字塔的目的就是为了构建</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金字塔。根据高斯金字塔构建</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金字塔步骤如下：</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步骤</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：将高斯金字塔的第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层减第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层得到</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金字塔的第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层，高斯金字塔的第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3</a:t>
            </a:r>
            <a:r>
              <a:rPr lang="zh-CN" altLang="en-US" kern="100" dirty="0">
                <a:latin typeface="Times New Roman" panose="02020603050405020304" pitchFamily="18" charset="0"/>
                <a:ea typeface="宋体" pitchFamily="2" charset="-122"/>
                <a:cs typeface="Times New Roman" panose="02020603050405020304" pitchFamily="18" charset="0"/>
              </a:rPr>
              <a:t>层减第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层得到</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金字塔的第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层。</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步骤</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：以此类推，生成每一个差分图像，所有的差分图像构成</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金字塔。在每一组的层数上，</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金字塔都比高斯金字塔少一层，后续</a:t>
            </a:r>
            <a:r>
              <a:rPr lang="en-US" altLang="zh-CN" kern="100" dirty="0">
                <a:latin typeface="Times New Roman" panose="02020603050405020304" pitchFamily="18" charset="0"/>
                <a:ea typeface="宋体" pitchFamily="2" charset="-122"/>
                <a:cs typeface="Times New Roman" panose="02020603050405020304" pitchFamily="18" charset="0"/>
              </a:rPr>
              <a:t>SIFT</a:t>
            </a:r>
            <a:r>
              <a:rPr lang="zh-CN" altLang="en-US" kern="100" dirty="0">
                <a:latin typeface="Times New Roman" panose="02020603050405020304" pitchFamily="18" charset="0"/>
                <a:ea typeface="宋体" pitchFamily="2" charset="-122"/>
                <a:cs typeface="Times New Roman" panose="02020603050405020304" pitchFamily="18" charset="0"/>
              </a:rPr>
              <a:t>特征点的提取都是在</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金字塔上进行的</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sym typeface="+mn-ea"/>
              </a:rPr>
              <a:t>9.4SIFT</a:t>
            </a:r>
            <a:r>
              <a:rPr lang="zh-CN" altLang="en-US" b="1" dirty="0">
                <a:solidFill>
                  <a:schemeClr val="tx1">
                    <a:lumMod val="75000"/>
                    <a:lumOff val="25000"/>
                  </a:schemeClr>
                </a:solidFill>
                <a:latin typeface="微软雅黑" panose="020B0503020204020204" pitchFamily="34" charset="-122"/>
                <a:sym typeface="+mn-ea"/>
              </a:rPr>
              <a:t>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396330" y="765498"/>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由高斯金字塔构建</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金字塔的过程如图</a:t>
            </a:r>
            <a:r>
              <a:rPr lang="en-US" altLang="zh-CN" kern="100" dirty="0">
                <a:latin typeface="Times New Roman" panose="02020603050405020304" pitchFamily="18" charset="0"/>
                <a:ea typeface="宋体" pitchFamily="2" charset="-122"/>
                <a:cs typeface="Times New Roman" panose="02020603050405020304" pitchFamily="18" charset="0"/>
              </a:rPr>
              <a:t>9.9</a:t>
            </a:r>
            <a:r>
              <a:rPr lang="zh-CN" altLang="en-US" kern="100" dirty="0">
                <a:latin typeface="Times New Roman" panose="02020603050405020304" pitchFamily="18" charset="0"/>
                <a:ea typeface="宋体" pitchFamily="2" charset="-122"/>
                <a:cs typeface="Times New Roman" panose="02020603050405020304" pitchFamily="18" charset="0"/>
              </a:rPr>
              <a:t>所示。</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5148580" y="2492375"/>
            <a:ext cx="3636645" cy="3011170"/>
          </a:xfrm>
          <a:prstGeom prst="rect">
            <a:avLst/>
          </a:prstGeom>
          <a:noFill/>
          <a:ln>
            <a:noFill/>
          </a:ln>
        </p:spPr>
      </p:pic>
      <p:sp>
        <p:nvSpPr>
          <p:cNvPr id="9" name="文本框 8"/>
          <p:cNvSpPr txBox="1"/>
          <p:nvPr/>
        </p:nvSpPr>
        <p:spPr>
          <a:xfrm>
            <a:off x="900386" y="6028591"/>
            <a:ext cx="7381757"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9.9  </a:t>
            </a:r>
            <a:r>
              <a:rPr lang="zh-CN" altLang="zh-CN" sz="2400" kern="100" dirty="0">
                <a:effectLst/>
                <a:latin typeface="Times New Roman" panose="02020603050405020304" pitchFamily="18" charset="0"/>
                <a:ea typeface="宋体" pitchFamily="2" charset="-122"/>
              </a:rPr>
              <a:t>由高斯金字塔构建</a:t>
            </a:r>
            <a:r>
              <a:rPr lang="en-US" altLang="zh-CN" sz="2400" kern="100" dirty="0">
                <a:effectLst/>
                <a:latin typeface="Times New Roman" panose="02020603050405020304" pitchFamily="18" charset="0"/>
                <a:ea typeface="宋体" pitchFamily="2" charset="-122"/>
              </a:rPr>
              <a:t>DOG</a:t>
            </a:r>
            <a:r>
              <a:rPr lang="zh-CN" altLang="zh-CN" sz="2400" kern="100" dirty="0">
                <a:effectLst/>
                <a:latin typeface="Times New Roman" panose="02020603050405020304" pitchFamily="18" charset="0"/>
                <a:ea typeface="宋体" pitchFamily="2" charset="-122"/>
              </a:rPr>
              <a:t>金字塔过程图</a:t>
            </a:r>
            <a:endParaRPr lang="zh-CN" altLang="zh-CN" sz="3200" kern="100" dirty="0">
              <a:effectLst/>
              <a:latin typeface="Times New Roman" panose="02020603050405020304" pitchFamily="18" charset="0"/>
              <a:ea typeface="宋体" pitchFamily="2" charset="-122"/>
            </a:endParaRPr>
          </a:p>
        </p:txBody>
      </p:sp>
      <p:pic>
        <p:nvPicPr>
          <p:cNvPr id="2" name="图片 1"/>
          <p:cNvPicPr>
            <a:picLocks noChangeAspect="1"/>
          </p:cNvPicPr>
          <p:nvPr>
            <p:custDataLst>
              <p:tags r:id="rId2"/>
            </p:custDataLst>
          </p:nvPr>
        </p:nvPicPr>
        <p:blipFill>
          <a:blip r:embed="rId3"/>
          <a:stretch>
            <a:fillRect/>
          </a:stretch>
        </p:blipFill>
        <p:spPr>
          <a:xfrm>
            <a:off x="143510" y="2349500"/>
            <a:ext cx="4933950" cy="3296920"/>
          </a:xfrm>
          <a:prstGeom prst="rect">
            <a:avLst/>
          </a:prstGeom>
        </p:spPr>
      </p:pic>
    </p:spTree>
  </p:cSld>
  <p:clrMapOvr>
    <a:masterClrMapping/>
  </p:clrMapOvr>
  <p:transition spd="slow" advClick="0" advTm="0">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sym typeface="+mn-ea"/>
              </a:rPr>
              <a:t>9.4SIFT</a:t>
            </a:r>
            <a:r>
              <a:rPr lang="zh-CN" altLang="en-US" b="1" dirty="0">
                <a:solidFill>
                  <a:schemeClr val="tx1">
                    <a:lumMod val="75000"/>
                    <a:lumOff val="25000"/>
                  </a:schemeClr>
                </a:solidFill>
                <a:latin typeface="微软雅黑" panose="020B0503020204020204" pitchFamily="34" charset="-122"/>
                <a:sym typeface="+mn-ea"/>
              </a:rPr>
              <a:t>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396330" y="765498"/>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宋体" pitchFamily="2" charset="-122"/>
                <a:cs typeface="Times New Roman" panose="02020603050405020304" pitchFamily="18" charset="0"/>
              </a:rPr>
              <a:t>(2)</a:t>
            </a:r>
            <a:r>
              <a:rPr lang="zh-CN" altLang="en-US" b="1" kern="100" dirty="0">
                <a:latin typeface="Times New Roman" panose="02020603050405020304" pitchFamily="18" charset="0"/>
                <a:ea typeface="宋体" pitchFamily="2" charset="-122"/>
                <a:cs typeface="Times New Roman" panose="02020603050405020304" pitchFamily="18" charset="0"/>
              </a:rPr>
              <a:t>去除不稳定特征点</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有些潜在的特征点是在图像的边缘位置，因为图像的边缘点很难定位，同时也容易受到噪声的干扰，所以我们需要去除这些不稳定的特征点。其步骤如下：</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10" name="文本框 9"/>
          <p:cNvSpPr txBox="1"/>
          <p:nvPr/>
        </p:nvSpPr>
        <p:spPr>
          <a:xfrm>
            <a:off x="612354" y="2680097"/>
            <a:ext cx="8136904" cy="461665"/>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步骤</a:t>
            </a:r>
            <a:r>
              <a:rPr lang="en-US" altLang="zh-CN" sz="2400" kern="100" dirty="0">
                <a:effectLst/>
                <a:latin typeface="Times New Roman" panose="02020603050405020304" pitchFamily="18" charset="0"/>
                <a:ea typeface="宋体" pitchFamily="2" charset="-122"/>
              </a:rPr>
              <a:t>1</a:t>
            </a:r>
            <a:r>
              <a:rPr lang="zh-CN" altLang="zh-CN" sz="2400" kern="100" dirty="0">
                <a:effectLst/>
                <a:latin typeface="Times New Roman" panose="02020603050405020304" pitchFamily="18" charset="0"/>
                <a:ea typeface="宋体" pitchFamily="2" charset="-122"/>
              </a:rPr>
              <a:t>：计算某特征点的</a:t>
            </a:r>
            <a:r>
              <a:rPr lang="en-US" altLang="zh-CN" sz="2400" kern="100" dirty="0">
                <a:effectLst/>
                <a:latin typeface="Times New Roman" panose="02020603050405020304" pitchFamily="18" charset="0"/>
                <a:ea typeface="宋体" pitchFamily="2" charset="-122"/>
              </a:rPr>
              <a:t>Hessian</a:t>
            </a:r>
            <a:r>
              <a:rPr lang="zh-CN" altLang="zh-CN" sz="2400" kern="100" dirty="0">
                <a:effectLst/>
                <a:latin typeface="Times New Roman" panose="02020603050405020304" pitchFamily="18" charset="0"/>
                <a:ea typeface="宋体" pitchFamily="2" charset="-122"/>
              </a:rPr>
              <a:t>矩阵</a:t>
            </a:r>
            <a:r>
              <a:rPr lang="en-US" altLang="zh-CN" sz="2400" kern="100" dirty="0">
                <a:effectLst/>
                <a:latin typeface="Times New Roman" panose="02020603050405020304" pitchFamily="18" charset="0"/>
                <a:ea typeface="宋体" pitchFamily="2" charset="-122"/>
              </a:rPr>
              <a:t>H</a:t>
            </a:r>
            <a:r>
              <a:rPr lang="zh-CN" altLang="en-US"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rPr>
              <a:t>如公式</a:t>
            </a:r>
            <a:r>
              <a:rPr lang="en-US" altLang="zh-CN" sz="2400" kern="100" dirty="0">
                <a:effectLst/>
                <a:latin typeface="Times New Roman" panose="02020603050405020304" pitchFamily="18" charset="0"/>
                <a:ea typeface="宋体" pitchFamily="2" charset="-122"/>
              </a:rPr>
              <a:t>(9-13)</a:t>
            </a:r>
            <a:r>
              <a:rPr lang="zh-CN" altLang="zh-CN" sz="2400" kern="100" dirty="0">
                <a:effectLst/>
                <a:latin typeface="Times New Roman" panose="02020603050405020304" pitchFamily="18" charset="0"/>
                <a:ea typeface="宋体" pitchFamily="2" charset="-122"/>
              </a:rPr>
              <a:t>所示。</a:t>
            </a:r>
            <a:endParaRPr lang="zh-CN" altLang="zh-CN" sz="2400" kern="100" dirty="0">
              <a:effectLst/>
              <a:latin typeface="Times New Roman" panose="02020603050405020304" pitchFamily="18" charset="0"/>
              <a:ea typeface="宋体" pitchFamily="2" charset="-122"/>
            </a:endParaRPr>
          </a:p>
        </p:txBody>
      </p:sp>
      <mc:AlternateContent xmlns:mc="http://schemas.openxmlformats.org/markup-compatibility/2006">
        <mc:Choice xmlns:a14="http://schemas.microsoft.com/office/drawing/2010/main" Requires="a14">
          <p:sp>
            <p:nvSpPr>
              <p:cNvPr id="12" name="文本框 11"/>
              <p:cNvSpPr txBox="1"/>
              <p:nvPr/>
            </p:nvSpPr>
            <p:spPr>
              <a:xfrm>
                <a:off x="2772594" y="3163641"/>
                <a:ext cx="5696177" cy="91422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𝐻</m:t>
                      </m:r>
                      <m:r>
                        <a:rPr lang="zh-CN" altLang="en-US" sz="2400" i="0">
                          <a:latin typeface="Cambria Math" panose="02040503050406030204" pitchFamily="18" charset="0"/>
                        </a:rPr>
                        <m:t>=</m:t>
                      </m:r>
                      <m:d>
                        <m:dPr>
                          <m:begChr m:val="["/>
                          <m:endChr m:val="]"/>
                          <m:ctrlPr>
                            <a:rPr lang="zh-CN" altLang="en-US" sz="2400" i="1">
                              <a:solidFill>
                                <a:srgbClr val="836967"/>
                              </a:solidFill>
                              <a:latin typeface="Cambria Math" panose="02040503050406030204" pitchFamily="18" charset="0"/>
                            </a:rPr>
                          </m:ctrlPr>
                        </m:dPr>
                        <m:e>
                          <m:m>
                            <m:mPr>
                              <m:mcs>
                                <m:mc>
                                  <m:mcPr>
                                    <m:count m:val="2"/>
                                    <m:mcJc m:val="center"/>
                                  </m:mcPr>
                                </m:mc>
                              </m:mcs>
                              <m:plcHide m:val="on"/>
                              <m:ctrlPr>
                                <a:rPr lang="zh-CN" altLang="en-US" sz="2400" i="1">
                                  <a:solidFill>
                                    <a:srgbClr val="836967"/>
                                  </a:solidFill>
                                  <a:latin typeface="Cambria Math" panose="02040503050406030204" pitchFamily="18" charset="0"/>
                                </a:rPr>
                              </m:ctrlPr>
                            </m:mPr>
                            <m:mr>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𝐷</m:t>
                                    </m:r>
                                  </m:e>
                                  <m:sub>
                                    <m:r>
                                      <a:rPr lang="zh-CN" altLang="en-US" sz="2400" i="1">
                                        <a:latin typeface="Cambria Math" panose="02040503050406030204" pitchFamily="18" charset="0"/>
                                      </a:rPr>
                                      <m:t>𝑥𝑥</m:t>
                                    </m:r>
                                  </m:sub>
                                </m:sSub>
                              </m:e>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𝐷</m:t>
                                    </m:r>
                                  </m:e>
                                  <m:sub>
                                    <m:r>
                                      <a:rPr lang="zh-CN" altLang="en-US" sz="2400" i="1">
                                        <a:latin typeface="Cambria Math" panose="02040503050406030204" pitchFamily="18" charset="0"/>
                                      </a:rPr>
                                      <m:t>𝑥𝑦</m:t>
                                    </m:r>
                                  </m:sub>
                                </m:sSub>
                              </m:e>
                            </m:mr>
                            <m:mr>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𝐷</m:t>
                                    </m:r>
                                  </m:e>
                                  <m:sub>
                                    <m:r>
                                      <a:rPr lang="zh-CN" altLang="en-US" sz="2400" i="1">
                                        <a:latin typeface="Cambria Math" panose="02040503050406030204" pitchFamily="18" charset="0"/>
                                      </a:rPr>
                                      <m:t>𝑥𝑦</m:t>
                                    </m:r>
                                  </m:sub>
                                </m:sSub>
                              </m:e>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𝐷</m:t>
                                    </m:r>
                                  </m:e>
                                  <m:sub>
                                    <m:r>
                                      <a:rPr lang="zh-CN" altLang="en-US" sz="2400" i="1">
                                        <a:latin typeface="Cambria Math" panose="02040503050406030204" pitchFamily="18" charset="0"/>
                                      </a:rPr>
                                      <m:t>𝑦𝑦</m:t>
                                    </m:r>
                                  </m:sub>
                                </m:sSub>
                              </m:e>
                            </m:mr>
                          </m:m>
                        </m:e>
                      </m:d>
                      <m:r>
                        <m:rPr>
                          <m:nor/>
                        </m:rPr>
                        <a:rPr lang="en-US" altLang="zh-CN" sz="2400" b="0" i="0" smtClean="0">
                          <a:latin typeface="Cambria Math" panose="02040503050406030204" pitchFamily="18" charset="0"/>
                        </a:rPr>
                        <m:t>                              </m:t>
                      </m:r>
                      <m:r>
                        <m:rPr>
                          <m:nor/>
                        </m:rPr>
                        <a:rPr lang="en-US" altLang="zh-CN" sz="2400" kern="100" dirty="0">
                          <a:latin typeface="Times New Roman" panose="02020603050405020304" pitchFamily="18" charset="0"/>
                        </a:rPr>
                        <m:t>(</m:t>
                      </m:r>
                      <m:r>
                        <m:rPr>
                          <m:nor/>
                        </m:rPr>
                        <a:rPr lang="en-US" altLang="zh-CN" sz="2400" kern="100" dirty="0">
                          <a:latin typeface="Times New Roman" panose="02020603050405020304" pitchFamily="18" charset="0"/>
                        </a:rPr>
                        <m:t>9</m:t>
                      </m:r>
                      <m:r>
                        <m:rPr>
                          <m:nor/>
                        </m:rPr>
                        <a:rPr lang="en-US" altLang="zh-CN" sz="2400" kern="100" dirty="0">
                          <a:latin typeface="Times New Roman" panose="02020603050405020304" pitchFamily="18" charset="0"/>
                        </a:rPr>
                        <m:t>−</m:t>
                      </m:r>
                      <m:r>
                        <m:rPr>
                          <m:nor/>
                        </m:rPr>
                        <a:rPr lang="en-US" altLang="zh-CN" sz="2400" kern="100" dirty="0">
                          <a:latin typeface="Times New Roman" panose="02020603050405020304" pitchFamily="18" charset="0"/>
                        </a:rPr>
                        <m:t>13</m:t>
                      </m:r>
                      <m:r>
                        <m:rPr>
                          <m:nor/>
                        </m:rPr>
                        <a:rPr lang="en-US" altLang="zh-CN" sz="2400" kern="100" dirty="0">
                          <a:latin typeface="Times New Roman" panose="02020603050405020304" pitchFamily="18" charset="0"/>
                        </a:rPr>
                        <m:t>)</m:t>
                      </m:r>
                    </m:oMath>
                  </m:oMathPara>
                </a14:m>
                <a:endParaRPr lang="zh-CN" altLang="en-US" sz="2400" dirty="0"/>
              </a:p>
            </p:txBody>
          </p:sp>
        </mc:Choice>
        <mc:Fallback>
          <p:sp>
            <p:nvSpPr>
              <p:cNvPr id="12" name="文本框 11"/>
              <p:cNvSpPr txBox="1">
                <a:spLocks noRot="1" noChangeAspect="1" noMove="1" noResize="1" noEditPoints="1" noAdjustHandles="1" noChangeArrowheads="1" noChangeShapeType="1" noTextEdit="1"/>
              </p:cNvSpPr>
              <p:nvPr/>
            </p:nvSpPr>
            <p:spPr>
              <a:xfrm>
                <a:off x="2772594" y="3163641"/>
                <a:ext cx="5696177" cy="914225"/>
              </a:xfrm>
              <a:prstGeom prst="rect">
                <a:avLst/>
              </a:prstGeom>
              <a:blipFill rotWithShape="1">
                <a:blip r:embed="rId1"/>
                <a:stretch>
                  <a:fillRect l="-3" t="-8" r="7" b="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612354" y="4120257"/>
                <a:ext cx="8136904" cy="461665"/>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其中</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itchFamily="2" charset="-122"/>
                          </a:rPr>
                          <m:t>𝐷</m:t>
                        </m:r>
                      </m:e>
                      <m:sub>
                        <m:r>
                          <a:rPr lang="en-US" altLang="zh-CN" sz="2400" i="1" kern="100">
                            <a:effectLst/>
                            <a:latin typeface="Cambria Math" panose="02040503050406030204" pitchFamily="18" charset="0"/>
                            <a:ea typeface="宋体" pitchFamily="2" charset="-122"/>
                          </a:rPr>
                          <m:t>𝑥𝑥</m:t>
                        </m:r>
                      </m:sub>
                    </m:sSub>
                  </m:oMath>
                </a14:m>
                <a:r>
                  <a:rPr lang="zh-CN" altLang="zh-CN" sz="2400" kern="100" dirty="0">
                    <a:effectLst/>
                    <a:latin typeface="Times New Roman" panose="02020603050405020304" pitchFamily="18" charset="0"/>
                    <a:ea typeface="宋体" pitchFamily="2" charset="-122"/>
                  </a:rPr>
                  <a:t>表示某特征点在</a:t>
                </a:r>
                <a:r>
                  <a:rPr lang="en-US" altLang="zh-CN" sz="2400" kern="100" dirty="0">
                    <a:effectLst/>
                    <a:latin typeface="Times New Roman" panose="02020603050405020304" pitchFamily="18" charset="0"/>
                    <a:ea typeface="宋体" pitchFamily="2" charset="-122"/>
                  </a:rPr>
                  <a:t>x</a:t>
                </a:r>
                <a:r>
                  <a:rPr lang="zh-CN" altLang="zh-CN" sz="2400" kern="100" dirty="0">
                    <a:effectLst/>
                    <a:latin typeface="Times New Roman" panose="02020603050405020304" pitchFamily="18" charset="0"/>
                    <a:ea typeface="宋体" pitchFamily="2" charset="-122"/>
                  </a:rPr>
                  <a:t>方向上求导两次，以此类推。</a:t>
                </a:r>
                <a:endParaRPr lang="zh-CN" altLang="zh-CN" sz="2400" kern="100" dirty="0">
                  <a:effectLst/>
                  <a:latin typeface="Times New Roman" panose="02020603050405020304" pitchFamily="18" charset="0"/>
                  <a:ea typeface="宋体" pitchFamily="2" charset="-122"/>
                </a:endParaRPr>
              </a:p>
            </p:txBody>
          </p:sp>
        </mc:Choice>
        <mc:Fallback>
          <p:sp>
            <p:nvSpPr>
              <p:cNvPr id="14" name="文本框 13"/>
              <p:cNvSpPr txBox="1">
                <a:spLocks noRot="1" noChangeAspect="1" noMove="1" noResize="1" noEditPoints="1" noAdjustHandles="1" noChangeArrowheads="1" noChangeShapeType="1" noTextEdit="1"/>
              </p:cNvSpPr>
              <p:nvPr/>
            </p:nvSpPr>
            <p:spPr>
              <a:xfrm>
                <a:off x="612354" y="4120257"/>
                <a:ext cx="8136904" cy="461665"/>
              </a:xfrm>
              <a:prstGeom prst="rect">
                <a:avLst/>
              </a:prstGeom>
              <a:blipFill rotWithShape="1">
                <a:blip r:embed="rId2"/>
                <a:stretch>
                  <a:fillRect l="-3" t="-82" r="3" b="-26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612354" y="4581922"/>
                <a:ext cx="8208912" cy="1085362"/>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步骤</a:t>
                </a:r>
                <a:r>
                  <a:rPr lang="en-US" altLang="zh-CN" sz="2400" kern="100" dirty="0">
                    <a:effectLst/>
                    <a:latin typeface="Times New Roman" panose="02020603050405020304" pitchFamily="18" charset="0"/>
                    <a:ea typeface="宋体" pitchFamily="2" charset="-122"/>
                  </a:rPr>
                  <a:t>2</a:t>
                </a:r>
                <a:r>
                  <a:rPr lang="zh-CN" altLang="zh-CN" sz="2400" kern="100" dirty="0">
                    <a:effectLst/>
                    <a:latin typeface="Times New Roman" panose="02020603050405020304" pitchFamily="18" charset="0"/>
                    <a:ea typeface="宋体" pitchFamily="2" charset="-122"/>
                  </a:rPr>
                  <a:t>：求出</a:t>
                </a:r>
                <a:r>
                  <a:rPr lang="en-US" altLang="zh-CN" sz="2400" kern="100" dirty="0">
                    <a:effectLst/>
                    <a:latin typeface="Times New Roman" panose="02020603050405020304" pitchFamily="18" charset="0"/>
                    <a:ea typeface="宋体" pitchFamily="2" charset="-122"/>
                  </a:rPr>
                  <a:t>H</a:t>
                </a:r>
                <a:r>
                  <a:rPr lang="zh-CN" altLang="zh-CN" sz="2400" kern="100" dirty="0">
                    <a:effectLst/>
                    <a:latin typeface="Times New Roman" panose="02020603050405020304" pitchFamily="18" charset="0"/>
                    <a:ea typeface="宋体" pitchFamily="2" charset="-122"/>
                  </a:rPr>
                  <a:t>的特征值</a:t>
                </a:r>
                <a14:m>
                  <m:oMath xmlns:m="http://schemas.openxmlformats.org/officeDocument/2006/math">
                    <m:r>
                      <a:rPr lang="en-US" altLang="zh-CN" sz="2400" i="1" kern="100">
                        <a:effectLst/>
                        <a:latin typeface="Cambria Math" panose="02040503050406030204" pitchFamily="18" charset="0"/>
                        <a:ea typeface="宋体" pitchFamily="2" charset="-122"/>
                      </a:rPr>
                      <m:t>𝛼</m:t>
                    </m:r>
                  </m:oMath>
                </a14:m>
                <a:r>
                  <a:rPr lang="zh-CN" altLang="zh-CN" sz="2400" kern="100" dirty="0">
                    <a:effectLst/>
                    <a:latin typeface="Times New Roman" panose="02020603050405020304" pitchFamily="18" charset="0"/>
                    <a:ea typeface="宋体" pitchFamily="2" charset="-122"/>
                  </a:rPr>
                  <a:t>、</a:t>
                </a:r>
                <a14:m>
                  <m:oMath xmlns:m="http://schemas.openxmlformats.org/officeDocument/2006/math">
                    <m:r>
                      <a:rPr lang="en-US" altLang="zh-CN" sz="2400" i="1" kern="100">
                        <a:effectLst/>
                        <a:latin typeface="Cambria Math" panose="02040503050406030204" pitchFamily="18" charset="0"/>
                        <a:ea typeface="宋体" pitchFamily="2" charset="-122"/>
                      </a:rPr>
                      <m:t>𝛽</m:t>
                    </m:r>
                  </m:oMath>
                </a14:m>
                <a:r>
                  <a:rPr lang="zh-CN" altLang="zh-CN" sz="2400" kern="100" dirty="0">
                    <a:effectLst/>
                    <a:latin typeface="Times New Roman" panose="02020603050405020304" pitchFamily="18" charset="0"/>
                    <a:ea typeface="宋体" pitchFamily="2" charset="-122"/>
                  </a:rPr>
                  <a:t>，则</a:t>
                </a:r>
                <a14:m>
                  <m:oMath xmlns:m="http://schemas.openxmlformats.org/officeDocument/2006/math">
                    <m:f>
                      <m:fPr>
                        <m:ctrlPr>
                          <a:rPr lang="zh-CN" altLang="zh-CN" sz="2400" i="1" kern="100">
                            <a:effectLst/>
                            <a:latin typeface="Cambria Math" panose="02040503050406030204" pitchFamily="18" charset="0"/>
                            <a:ea typeface="Cambria Math" panose="02040503050406030204" pitchFamily="18" charset="0"/>
                          </a:rPr>
                        </m:ctrlPr>
                      </m:fPr>
                      <m:num>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itchFamily="2" charset="-122"/>
                              </a:rPr>
                              <m:t>𝑇𝑟</m:t>
                            </m:r>
                            <m:r>
                              <a:rPr lang="en-US" altLang="zh-CN" sz="2400" i="1"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𝐻</m:t>
                            </m:r>
                            <m:r>
                              <a:rPr lang="en-US" altLang="zh-CN" sz="2400" i="1" kern="100">
                                <a:effectLst/>
                                <a:latin typeface="Cambria Math" panose="02040503050406030204" pitchFamily="18" charset="0"/>
                                <a:ea typeface="宋体" pitchFamily="2" charset="-122"/>
                              </a:rPr>
                              <m:t>)</m:t>
                            </m:r>
                          </m:e>
                          <m:sup>
                            <m:r>
                              <a:rPr lang="en-US" altLang="zh-CN" sz="2400" i="1" kern="100">
                                <a:effectLst/>
                                <a:latin typeface="Cambria Math" panose="02040503050406030204" pitchFamily="18" charset="0"/>
                                <a:ea typeface="宋体" pitchFamily="2" charset="-122"/>
                              </a:rPr>
                              <m:t>2</m:t>
                            </m:r>
                          </m:sup>
                        </m:sSup>
                      </m:num>
                      <m:den>
                        <m:r>
                          <a:rPr lang="en-US" altLang="zh-CN" sz="2400" i="1" kern="100">
                            <a:effectLst/>
                            <a:latin typeface="Cambria Math" panose="02040503050406030204" pitchFamily="18" charset="0"/>
                            <a:ea typeface="宋体" pitchFamily="2" charset="-122"/>
                          </a:rPr>
                          <m:t>𝐷𝑒𝑡</m:t>
                        </m:r>
                        <m:r>
                          <a:rPr lang="en-US" altLang="zh-CN" sz="2400" i="1"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𝐻</m:t>
                        </m:r>
                        <m:r>
                          <a:rPr lang="en-US" altLang="zh-CN" sz="2400" i="1" kern="100">
                            <a:effectLst/>
                            <a:latin typeface="Cambria Math" panose="02040503050406030204" pitchFamily="18" charset="0"/>
                            <a:ea typeface="宋体" pitchFamily="2" charset="-122"/>
                          </a:rPr>
                          <m:t>)</m:t>
                        </m:r>
                      </m:den>
                    </m:f>
                    <m:r>
                      <a:rPr lang="en-US" altLang="zh-CN" sz="2400" i="1" kern="100">
                        <a:effectLst/>
                        <a:latin typeface="Cambria Math" panose="02040503050406030204" pitchFamily="18" charset="0"/>
                        <a:ea typeface="宋体" pitchFamily="2" charset="-122"/>
                      </a:rPr>
                      <m:t>=</m:t>
                    </m:r>
                    <m:f>
                      <m:fPr>
                        <m:ctrlPr>
                          <a:rPr lang="zh-CN" altLang="zh-CN" sz="2400" i="1" kern="100">
                            <a:effectLst/>
                            <a:latin typeface="Cambria Math" panose="02040503050406030204" pitchFamily="18" charset="0"/>
                            <a:ea typeface="Cambria Math" panose="02040503050406030204" pitchFamily="18" charset="0"/>
                          </a:rPr>
                        </m:ctrlPr>
                      </m:fPr>
                      <m:num>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𝛼</m:t>
                            </m:r>
                            <m:r>
                              <a:rPr lang="en-US" altLang="zh-CN" sz="2400" i="1"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𝛽</m:t>
                            </m:r>
                            <m:r>
                              <a:rPr lang="en-US" altLang="zh-CN" sz="2400" i="1" kern="100">
                                <a:effectLst/>
                                <a:latin typeface="Cambria Math" panose="02040503050406030204" pitchFamily="18" charset="0"/>
                                <a:ea typeface="宋体" pitchFamily="2" charset="-122"/>
                              </a:rPr>
                              <m:t>)</m:t>
                            </m:r>
                          </m:e>
                          <m:sup>
                            <m:r>
                              <a:rPr lang="en-US" altLang="zh-CN" sz="2400" i="1" kern="100">
                                <a:effectLst/>
                                <a:latin typeface="Cambria Math" panose="02040503050406030204" pitchFamily="18" charset="0"/>
                                <a:ea typeface="宋体" pitchFamily="2" charset="-122"/>
                              </a:rPr>
                              <m:t>2</m:t>
                            </m:r>
                          </m:sup>
                        </m:sSup>
                      </m:num>
                      <m:den>
                        <m:r>
                          <a:rPr lang="en-US" altLang="zh-CN" sz="2400" i="1" kern="100">
                            <a:effectLst/>
                            <a:latin typeface="Cambria Math" panose="02040503050406030204" pitchFamily="18" charset="0"/>
                            <a:ea typeface="宋体" pitchFamily="2" charset="-122"/>
                          </a:rPr>
                          <m:t>𝛼𝛽</m:t>
                        </m:r>
                      </m:den>
                    </m:f>
                  </m:oMath>
                </a14:m>
                <a:r>
                  <a:rPr lang="zh-CN" altLang="zh-CN" sz="2400" kern="100" dirty="0">
                    <a:effectLst/>
                    <a:latin typeface="Times New Roman" panose="02020603050405020304" pitchFamily="18" charset="0"/>
                    <a:ea typeface="宋体" pitchFamily="2" charset="-122"/>
                  </a:rPr>
                  <a:t>，该值在特征值相等时达到最小。</a:t>
                </a:r>
                <a:endParaRPr lang="zh-CN" altLang="zh-CN" sz="2400" kern="100" dirty="0">
                  <a:effectLst/>
                  <a:latin typeface="Times New Roman" panose="02020603050405020304" pitchFamily="18" charset="0"/>
                  <a:ea typeface="宋体" pitchFamily="2"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612354" y="4581922"/>
                <a:ext cx="8208912" cy="1085362"/>
              </a:xfrm>
              <a:prstGeom prst="rect">
                <a:avLst/>
              </a:prstGeom>
              <a:blipFill rotWithShape="1">
                <a:blip r:embed="rId3"/>
                <a:stretch>
                  <a:fillRect l="-3" t="-37" r="6" b="5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612354" y="5584792"/>
                <a:ext cx="8208912" cy="1085362"/>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步骤</a:t>
                </a:r>
                <a:r>
                  <a:rPr lang="en-US" altLang="zh-CN" sz="2400" kern="100" dirty="0">
                    <a:effectLst/>
                    <a:latin typeface="Times New Roman" panose="02020603050405020304" pitchFamily="18" charset="0"/>
                    <a:ea typeface="宋体" pitchFamily="2" charset="-122"/>
                  </a:rPr>
                  <a:t>3</a:t>
                </a:r>
                <a:r>
                  <a:rPr lang="zh-CN" altLang="zh-CN" sz="2400" kern="100" dirty="0">
                    <a:effectLst/>
                    <a:latin typeface="Times New Roman" panose="02020603050405020304" pitchFamily="18" charset="0"/>
                    <a:ea typeface="宋体" pitchFamily="2" charset="-122"/>
                  </a:rPr>
                  <a:t>：若</a:t>
                </a:r>
                <a14:m>
                  <m:oMath xmlns:m="http://schemas.openxmlformats.org/officeDocument/2006/math">
                    <m:f>
                      <m:fPr>
                        <m:ctrlPr>
                          <a:rPr lang="zh-CN" altLang="zh-CN" sz="2400" i="1" kern="100">
                            <a:effectLst/>
                            <a:latin typeface="Cambria Math" panose="02040503050406030204" pitchFamily="18" charset="0"/>
                            <a:ea typeface="Cambria Math" panose="02040503050406030204" pitchFamily="18" charset="0"/>
                          </a:rPr>
                        </m:ctrlPr>
                      </m:fPr>
                      <m:num>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itchFamily="2" charset="-122"/>
                              </a:rPr>
                              <m:t>𝑇𝑟</m:t>
                            </m:r>
                            <m:r>
                              <a:rPr lang="en-US" altLang="zh-CN" sz="2400" i="1"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𝐻</m:t>
                            </m:r>
                            <m:r>
                              <a:rPr lang="en-US" altLang="zh-CN" sz="2400" i="1" kern="100">
                                <a:effectLst/>
                                <a:latin typeface="Cambria Math" panose="02040503050406030204" pitchFamily="18" charset="0"/>
                                <a:ea typeface="宋体" pitchFamily="2" charset="-122"/>
                              </a:rPr>
                              <m:t>)</m:t>
                            </m:r>
                          </m:e>
                          <m:sup>
                            <m:r>
                              <a:rPr lang="en-US" altLang="zh-CN" sz="2400" i="1" kern="100">
                                <a:effectLst/>
                                <a:latin typeface="Cambria Math" panose="02040503050406030204" pitchFamily="18" charset="0"/>
                                <a:ea typeface="宋体" pitchFamily="2" charset="-122"/>
                              </a:rPr>
                              <m:t>2</m:t>
                            </m:r>
                          </m:sup>
                        </m:sSup>
                      </m:num>
                      <m:den>
                        <m:r>
                          <a:rPr lang="en-US" altLang="zh-CN" sz="2400" i="1" kern="100">
                            <a:effectLst/>
                            <a:latin typeface="Cambria Math" panose="02040503050406030204" pitchFamily="18" charset="0"/>
                            <a:ea typeface="宋体" pitchFamily="2" charset="-122"/>
                          </a:rPr>
                          <m:t>𝐷𝑒𝑡</m:t>
                        </m:r>
                        <m:r>
                          <a:rPr lang="en-US" altLang="zh-CN" sz="2400" i="1"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𝐻</m:t>
                        </m:r>
                        <m:r>
                          <a:rPr lang="en-US" altLang="zh-CN" sz="2400" i="1" kern="100">
                            <a:effectLst/>
                            <a:latin typeface="Cambria Math" panose="02040503050406030204" pitchFamily="18" charset="0"/>
                            <a:ea typeface="宋体" pitchFamily="2" charset="-122"/>
                          </a:rPr>
                          <m:t>)</m:t>
                        </m:r>
                      </m:den>
                    </m:f>
                    <m:r>
                      <a:rPr lang="en-US" altLang="zh-CN" sz="2400" i="1" kern="100">
                        <a:effectLst/>
                        <a:latin typeface="Cambria Math" panose="02040503050406030204" pitchFamily="18" charset="0"/>
                        <a:ea typeface="宋体" pitchFamily="2" charset="-122"/>
                      </a:rPr>
                      <m:t>&lt;</m:t>
                    </m:r>
                    <m:r>
                      <a:rPr lang="en-US" altLang="zh-CN" sz="2400" i="1" kern="100">
                        <a:effectLst/>
                        <a:latin typeface="Cambria Math" panose="02040503050406030204" pitchFamily="18" charset="0"/>
                        <a:ea typeface="宋体" pitchFamily="2" charset="-122"/>
                      </a:rPr>
                      <m:t>𝑇</m:t>
                    </m:r>
                  </m:oMath>
                </a14:m>
                <a:r>
                  <a:rPr lang="zh-CN" altLang="zh-CN" sz="2400" kern="100" dirty="0">
                    <a:effectLst/>
                    <a:latin typeface="Times New Roman" panose="02020603050405020304" pitchFamily="18" charset="0"/>
                    <a:ea typeface="宋体" pitchFamily="2" charset="-122"/>
                  </a:rPr>
                  <a:t>，保留特征点；反之，去除关键点，阈值</a:t>
                </a:r>
                <a:r>
                  <a:rPr lang="en-US" altLang="zh-CN" sz="2400" kern="100" dirty="0">
                    <a:effectLst/>
                    <a:latin typeface="Times New Roman" panose="02020603050405020304" pitchFamily="18" charset="0"/>
                    <a:ea typeface="宋体" pitchFamily="2" charset="-122"/>
                  </a:rPr>
                  <a:t>T</a:t>
                </a:r>
                <a:r>
                  <a:rPr lang="zh-CN" altLang="zh-CN" sz="2400" kern="100" dirty="0">
                    <a:effectLst/>
                    <a:latin typeface="Times New Roman" panose="02020603050405020304" pitchFamily="18" charset="0"/>
                    <a:ea typeface="宋体" pitchFamily="2" charset="-122"/>
                  </a:rPr>
                  <a:t>一般为</a:t>
                </a:r>
                <a:r>
                  <a:rPr lang="en-US" altLang="zh-CN" sz="2400" kern="100" dirty="0">
                    <a:effectLst/>
                    <a:latin typeface="Times New Roman" panose="02020603050405020304" pitchFamily="18" charset="0"/>
                    <a:ea typeface="宋体" pitchFamily="2" charset="-122"/>
                  </a:rPr>
                  <a:t>1.2</a:t>
                </a:r>
                <a:r>
                  <a:rPr lang="zh-CN" altLang="zh-CN" sz="2400" kern="100" dirty="0">
                    <a:effectLst/>
                    <a:latin typeface="Times New Roman" panose="02020603050405020304" pitchFamily="18" charset="0"/>
                    <a:ea typeface="宋体" pitchFamily="2" charset="-122"/>
                  </a:rPr>
                  <a:t>。</a:t>
                </a:r>
                <a:endParaRPr lang="zh-CN" altLang="zh-CN" sz="2400" kern="100" dirty="0">
                  <a:effectLst/>
                  <a:latin typeface="Times New Roman" panose="02020603050405020304" pitchFamily="18" charset="0"/>
                  <a:ea typeface="宋体" pitchFamily="2" charset="-122"/>
                </a:endParaRPr>
              </a:p>
            </p:txBody>
          </p:sp>
        </mc:Choice>
        <mc:Fallback>
          <p:sp>
            <p:nvSpPr>
              <p:cNvPr id="18" name="文本框 17"/>
              <p:cNvSpPr txBox="1">
                <a:spLocks noRot="1" noChangeAspect="1" noMove="1" noResize="1" noEditPoints="1" noAdjustHandles="1" noChangeArrowheads="1" noChangeShapeType="1" noTextEdit="1"/>
              </p:cNvSpPr>
              <p:nvPr/>
            </p:nvSpPr>
            <p:spPr>
              <a:xfrm>
                <a:off x="612354" y="5584792"/>
                <a:ext cx="8208912" cy="1085362"/>
              </a:xfrm>
              <a:prstGeom prst="rect">
                <a:avLst/>
              </a:prstGeom>
              <a:blipFill rotWithShape="1">
                <a:blip r:embed="rId4"/>
                <a:stretch>
                  <a:fillRect l="-3" t="-55" r="6" b="11"/>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sym typeface="+mn-ea"/>
              </a:rPr>
              <a:t>9.4SIFT</a:t>
            </a:r>
            <a:r>
              <a:rPr lang="zh-CN" altLang="en-US" b="1" dirty="0">
                <a:solidFill>
                  <a:schemeClr val="tx1">
                    <a:lumMod val="75000"/>
                    <a:lumOff val="25000"/>
                  </a:schemeClr>
                </a:solidFill>
                <a:latin typeface="微软雅黑" panose="020B0503020204020204" pitchFamily="34" charset="-122"/>
                <a:sym typeface="+mn-ea"/>
              </a:rPr>
              <a:t>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396330" y="765498"/>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宋体" pitchFamily="2" charset="-122"/>
                <a:cs typeface="Times New Roman" panose="02020603050405020304" pitchFamily="18" charset="0"/>
              </a:rPr>
              <a:t>(3)</a:t>
            </a:r>
            <a:r>
              <a:rPr lang="zh-CN" altLang="en-US" b="1" kern="100" dirty="0">
                <a:latin typeface="Times New Roman" panose="02020603050405020304" pitchFamily="18" charset="0"/>
                <a:ea typeface="宋体" pitchFamily="2" charset="-122"/>
                <a:cs typeface="Times New Roman" panose="02020603050405020304" pitchFamily="18" charset="0"/>
              </a:rPr>
              <a:t>特征点方向分配</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计算以特征点为中心的邻域内所有点的梯度方向，统计它们的梯度方向直方图</a:t>
            </a:r>
            <a:r>
              <a:rPr lang="en-US" altLang="zh-CN" kern="100" dirty="0">
                <a:latin typeface="Times New Roman" panose="02020603050405020304" pitchFamily="18" charset="0"/>
                <a:ea typeface="宋体" pitchFamily="2" charset="-122"/>
                <a:cs typeface="Times New Roman" panose="02020603050405020304" pitchFamily="18" charset="0"/>
              </a:rPr>
              <a:t>(</a:t>
            </a:r>
            <a:r>
              <a:rPr lang="zh-CN" altLang="en-US" kern="100" dirty="0">
                <a:latin typeface="Times New Roman" panose="02020603050405020304" pitchFamily="18" charset="0"/>
                <a:ea typeface="宋体" pitchFamily="2" charset="-122"/>
                <a:cs typeface="Times New Roman" panose="02020603050405020304" pitchFamily="18" charset="0"/>
              </a:rPr>
              <a:t>该梯度方向直方图通常为</a:t>
            </a:r>
            <a:r>
              <a:rPr lang="en-US" altLang="zh-CN" kern="100" dirty="0">
                <a:latin typeface="Times New Roman" panose="02020603050405020304" pitchFamily="18" charset="0"/>
                <a:ea typeface="宋体" pitchFamily="2" charset="-122"/>
                <a:cs typeface="Times New Roman" panose="02020603050405020304" pitchFamily="18" charset="0"/>
              </a:rPr>
              <a:t>36bin)</a:t>
            </a:r>
            <a:r>
              <a:rPr lang="zh-CN" altLang="en-US" kern="100" dirty="0">
                <a:latin typeface="Times New Roman" panose="02020603050405020304" pitchFamily="18" charset="0"/>
                <a:ea typeface="宋体" pitchFamily="2" charset="-122"/>
                <a:cs typeface="Times New Roman" panose="02020603050405020304" pitchFamily="18" charset="0"/>
              </a:rPr>
              <a:t>，在梯度方向直方图中，峰值代表特征点的主方向，若存在大于或等于峰值的</a:t>
            </a:r>
            <a:r>
              <a:rPr lang="en-US" altLang="zh-CN" kern="100" dirty="0">
                <a:latin typeface="Times New Roman" panose="02020603050405020304" pitchFamily="18" charset="0"/>
                <a:ea typeface="宋体" pitchFamily="2" charset="-122"/>
                <a:cs typeface="Times New Roman" panose="02020603050405020304" pitchFamily="18" charset="0"/>
              </a:rPr>
              <a:t>80%</a:t>
            </a:r>
            <a:r>
              <a:rPr lang="zh-CN" altLang="en-US" kern="100" dirty="0">
                <a:latin typeface="Times New Roman" panose="02020603050405020304" pitchFamily="18" charset="0"/>
                <a:ea typeface="宋体" pitchFamily="2" charset="-122"/>
                <a:cs typeface="Times New Roman" panose="02020603050405020304" pitchFamily="18" charset="0"/>
              </a:rPr>
              <a:t>的数值，则将这个方向认为是特征点的辅方向。</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13" name="内容占位符 2"/>
          <p:cNvSpPr txBox="1">
            <a:spLocks noChangeArrowheads="1"/>
          </p:cNvSpPr>
          <p:nvPr/>
        </p:nvSpPr>
        <p:spPr bwMode="auto">
          <a:xfrm>
            <a:off x="360326" y="2853730"/>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宋体" pitchFamily="2" charset="-122"/>
                <a:cs typeface="Times New Roman" panose="02020603050405020304" pitchFamily="18" charset="0"/>
              </a:rPr>
              <a:t>(4)</a:t>
            </a:r>
            <a:r>
              <a:rPr lang="zh-CN" altLang="en-US" b="1" kern="100" dirty="0">
                <a:latin typeface="Times New Roman" panose="02020603050405020304" pitchFamily="18" charset="0"/>
                <a:ea typeface="宋体" pitchFamily="2" charset="-122"/>
                <a:cs typeface="Times New Roman" panose="02020603050405020304" pitchFamily="18" charset="0"/>
              </a:rPr>
              <a:t>特征点描述</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对特征点的描述是后续实现匹配的关键步骤。首先选取以特征点为中心的一个</a:t>
            </a:r>
            <a:r>
              <a:rPr lang="en-US" altLang="zh-CN" kern="100" dirty="0">
                <a:latin typeface="Times New Roman" panose="02020603050405020304" pitchFamily="18" charset="0"/>
                <a:ea typeface="宋体" pitchFamily="2" charset="-122"/>
                <a:cs typeface="Times New Roman" panose="02020603050405020304" pitchFamily="18" charset="0"/>
              </a:rPr>
              <a:t>16×16</a:t>
            </a:r>
            <a:r>
              <a:rPr lang="zh-CN" altLang="en-US" kern="100" dirty="0">
                <a:latin typeface="Times New Roman" panose="02020603050405020304" pitchFamily="18" charset="0"/>
                <a:ea typeface="宋体" pitchFamily="2" charset="-122"/>
                <a:cs typeface="Times New Roman" panose="02020603050405020304" pitchFamily="18" charset="0"/>
              </a:rPr>
              <a:t>的区域，把它分成</a:t>
            </a:r>
            <a:r>
              <a:rPr lang="en-US" altLang="zh-CN" kern="100" dirty="0">
                <a:latin typeface="Times New Roman" panose="02020603050405020304" pitchFamily="18" charset="0"/>
                <a:ea typeface="宋体" pitchFamily="2" charset="-122"/>
                <a:cs typeface="Times New Roman" panose="02020603050405020304" pitchFamily="18" charset="0"/>
              </a:rPr>
              <a:t>16</a:t>
            </a:r>
            <a:r>
              <a:rPr lang="zh-CN" altLang="en-US" kern="100" dirty="0">
                <a:latin typeface="Times New Roman" panose="02020603050405020304" pitchFamily="18" charset="0"/>
                <a:ea typeface="宋体" pitchFamily="2" charset="-122"/>
                <a:cs typeface="Times New Roman" panose="02020603050405020304" pitchFamily="18" charset="0"/>
              </a:rPr>
              <a:t>个</a:t>
            </a:r>
            <a:r>
              <a:rPr lang="en-US" altLang="zh-CN" kern="100" dirty="0">
                <a:latin typeface="Times New Roman" panose="02020603050405020304" pitchFamily="18" charset="0"/>
                <a:ea typeface="宋体" pitchFamily="2" charset="-122"/>
                <a:cs typeface="Times New Roman" panose="02020603050405020304" pitchFamily="18" charset="0"/>
              </a:rPr>
              <a:t>4×4</a:t>
            </a:r>
            <a:r>
              <a:rPr lang="zh-CN" altLang="en-US" kern="100" dirty="0">
                <a:latin typeface="Times New Roman" panose="02020603050405020304" pitchFamily="18" charset="0"/>
                <a:ea typeface="宋体" pitchFamily="2" charset="-122"/>
                <a:cs typeface="Times New Roman" panose="02020603050405020304" pitchFamily="18" charset="0"/>
              </a:rPr>
              <a:t>的小方块，然后为每个小方块创建一个具有</a:t>
            </a:r>
            <a:r>
              <a:rPr lang="en-US" altLang="zh-CN" kern="100" dirty="0">
                <a:latin typeface="Times New Roman" panose="02020603050405020304" pitchFamily="18" charset="0"/>
                <a:ea typeface="宋体" pitchFamily="2" charset="-122"/>
                <a:cs typeface="Times New Roman" panose="02020603050405020304" pitchFamily="18" charset="0"/>
              </a:rPr>
              <a:t>8</a:t>
            </a:r>
            <a:r>
              <a:rPr lang="zh-CN" altLang="en-US" kern="100" dirty="0">
                <a:latin typeface="Times New Roman" panose="02020603050405020304" pitchFamily="18" charset="0"/>
                <a:ea typeface="宋体" pitchFamily="2" charset="-122"/>
                <a:cs typeface="Times New Roman" panose="02020603050405020304" pitchFamily="18" charset="0"/>
              </a:rPr>
              <a:t>个</a:t>
            </a:r>
            <a:r>
              <a:rPr lang="en-US" altLang="zh-CN" kern="100" dirty="0">
                <a:latin typeface="Times New Roman" panose="02020603050405020304" pitchFamily="18" charset="0"/>
                <a:ea typeface="宋体" pitchFamily="2" charset="-122"/>
                <a:cs typeface="Times New Roman" panose="02020603050405020304" pitchFamily="18" charset="0"/>
              </a:rPr>
              <a:t>bin</a:t>
            </a:r>
            <a:r>
              <a:rPr lang="zh-CN" altLang="en-US" kern="100" dirty="0">
                <a:latin typeface="Times New Roman" panose="02020603050405020304" pitchFamily="18" charset="0"/>
                <a:ea typeface="宋体" pitchFamily="2" charset="-122"/>
                <a:cs typeface="Times New Roman" panose="02020603050405020304" pitchFamily="18" charset="0"/>
              </a:rPr>
              <a:t>的梯度方向直方图，总共加起来有</a:t>
            </a:r>
            <a:r>
              <a:rPr lang="en-US" altLang="zh-CN" kern="100" dirty="0">
                <a:latin typeface="Times New Roman" panose="02020603050405020304" pitchFamily="18" charset="0"/>
                <a:ea typeface="宋体" pitchFamily="2" charset="-122"/>
                <a:cs typeface="Times New Roman" panose="02020603050405020304" pitchFamily="18" charset="0"/>
              </a:rPr>
              <a:t>128</a:t>
            </a:r>
            <a:r>
              <a:rPr lang="zh-CN" altLang="en-US" kern="100" dirty="0">
                <a:latin typeface="Times New Roman" panose="02020603050405020304" pitchFamily="18" charset="0"/>
                <a:ea typeface="宋体" pitchFamily="2" charset="-122"/>
                <a:cs typeface="Times New Roman" panose="02020603050405020304" pitchFamily="18" charset="0"/>
              </a:rPr>
              <a:t>个</a:t>
            </a:r>
            <a:r>
              <a:rPr lang="en-US" altLang="zh-CN" kern="100" dirty="0">
                <a:latin typeface="Times New Roman" panose="02020603050405020304" pitchFamily="18" charset="0"/>
                <a:ea typeface="宋体" pitchFamily="2" charset="-122"/>
                <a:cs typeface="Times New Roman" panose="02020603050405020304" pitchFamily="18" charset="0"/>
              </a:rPr>
              <a:t>bin</a:t>
            </a:r>
            <a:r>
              <a:rPr lang="zh-CN" altLang="en-US" kern="100" dirty="0">
                <a:latin typeface="Times New Roman" panose="02020603050405020304" pitchFamily="18" charset="0"/>
                <a:ea typeface="宋体" pitchFamily="2" charset="-122"/>
                <a:cs typeface="Times New Roman" panose="02020603050405020304" pitchFamily="18" charset="0"/>
              </a:rPr>
              <a:t>，最后由此组成长度为</a:t>
            </a:r>
            <a:r>
              <a:rPr lang="en-US" altLang="zh-CN" kern="100" dirty="0">
                <a:latin typeface="Times New Roman" panose="02020603050405020304" pitchFamily="18" charset="0"/>
                <a:ea typeface="宋体" pitchFamily="2" charset="-122"/>
                <a:cs typeface="Times New Roman" panose="02020603050405020304" pitchFamily="18" charset="0"/>
              </a:rPr>
              <a:t>128</a:t>
            </a:r>
            <a:r>
              <a:rPr lang="zh-CN" altLang="en-US" kern="100" dirty="0">
                <a:latin typeface="Times New Roman" panose="02020603050405020304" pitchFamily="18" charset="0"/>
                <a:ea typeface="宋体" pitchFamily="2" charset="-122"/>
                <a:cs typeface="Times New Roman" panose="02020603050405020304" pitchFamily="18" charset="0"/>
              </a:rPr>
              <a:t>的向量就构成了特征点描述符。</a:t>
            </a:r>
            <a:endParaRPr lang="zh-CN" altLang="en-US"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sym typeface="+mn-ea"/>
              </a:rPr>
              <a:t>9.4SIFT</a:t>
            </a:r>
            <a:r>
              <a:rPr lang="zh-CN" altLang="en-US" b="1" dirty="0">
                <a:solidFill>
                  <a:schemeClr val="tx1">
                    <a:lumMod val="75000"/>
                    <a:lumOff val="25000"/>
                  </a:schemeClr>
                </a:solidFill>
                <a:latin typeface="微软雅黑" panose="020B0503020204020204" pitchFamily="34" charset="-122"/>
                <a:sym typeface="+mn-ea"/>
              </a:rPr>
              <a:t>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3" name="内容占位符 2"/>
          <p:cNvSpPr txBox="1">
            <a:spLocks noChangeArrowheads="1"/>
          </p:cNvSpPr>
          <p:nvPr/>
        </p:nvSpPr>
        <p:spPr bwMode="auto">
          <a:xfrm>
            <a:off x="360326" y="909514"/>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宋体" pitchFamily="2" charset="-122"/>
                <a:cs typeface="Times New Roman" panose="02020603050405020304" pitchFamily="18" charset="0"/>
              </a:rPr>
              <a:t>(5)</a:t>
            </a:r>
            <a:r>
              <a:rPr lang="zh-CN" altLang="en-US" b="1" kern="100" dirty="0">
                <a:latin typeface="Times New Roman" panose="02020603050405020304" pitchFamily="18" charset="0"/>
                <a:ea typeface="宋体" pitchFamily="2" charset="-122"/>
                <a:cs typeface="Times New Roman" panose="02020603050405020304" pitchFamily="18" charset="0"/>
              </a:rPr>
              <a:t>特征点匹配</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特征点的匹配是通过计算两个特征点描述符的欧式距离实现的，欧氏距离越小，则相似度越高。当欧式距离小于设定的阈值时，判定匹配成功。</a:t>
            </a:r>
            <a:endParaRPr lang="zh-CN" altLang="en-US"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sym typeface="+mn-ea"/>
              </a:rPr>
              <a:t>9.4SIFT</a:t>
            </a:r>
            <a:r>
              <a:rPr lang="zh-CN" altLang="en-US" b="1" dirty="0">
                <a:solidFill>
                  <a:schemeClr val="tx1">
                    <a:lumMod val="75000"/>
                    <a:lumOff val="25000"/>
                  </a:schemeClr>
                </a:solidFill>
                <a:latin typeface="微软雅黑" panose="020B0503020204020204" pitchFamily="34" charset="-122"/>
                <a:sym typeface="+mn-ea"/>
              </a:rPr>
              <a:t>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3" name="内容占位符 2"/>
          <p:cNvSpPr txBox="1">
            <a:spLocks noChangeArrowheads="1"/>
          </p:cNvSpPr>
          <p:nvPr/>
        </p:nvSpPr>
        <p:spPr bwMode="auto">
          <a:xfrm>
            <a:off x="360326" y="837506"/>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9.4.2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图像</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SIFT</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特征点的检测</a:t>
            </a:r>
            <a:endParaRPr lang="en-US" altLang="zh-CN"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a:t>
            </a:r>
            <a:r>
              <a:rPr lang="en-US" altLang="zh-CN" kern="100" dirty="0" err="1">
                <a:latin typeface="Times New Roman" panose="02020603050405020304" pitchFamily="18" charset="0"/>
                <a:ea typeface="宋体" pitchFamily="2" charset="-122"/>
                <a:cs typeface="Times New Roman" panose="02020603050405020304" pitchFamily="18" charset="0"/>
              </a:rPr>
              <a:t>Opencv</a:t>
            </a:r>
            <a:r>
              <a:rPr lang="zh-CN" altLang="en-US" kern="100" dirty="0">
                <a:latin typeface="Times New Roman" panose="02020603050405020304" pitchFamily="18" charset="0"/>
                <a:ea typeface="宋体" pitchFamily="2" charset="-122"/>
                <a:cs typeface="Times New Roman" panose="02020603050405020304" pitchFamily="18" charset="0"/>
              </a:rPr>
              <a:t>提供了</a:t>
            </a:r>
            <a:r>
              <a:rPr lang="en-US" altLang="zh-CN" kern="100" dirty="0">
                <a:latin typeface="Times New Roman" panose="02020603050405020304" pitchFamily="18" charset="0"/>
                <a:ea typeface="宋体" pitchFamily="2" charset="-122"/>
                <a:cs typeface="Times New Roman" panose="02020603050405020304" pitchFamily="18" charset="0"/>
              </a:rPr>
              <a:t>cv2.xfeatures2d.SIFT_create()</a:t>
            </a:r>
            <a:r>
              <a:rPr lang="zh-CN" altLang="en-US" kern="100" dirty="0">
                <a:latin typeface="Times New Roman" panose="02020603050405020304" pitchFamily="18" charset="0"/>
                <a:ea typeface="宋体" pitchFamily="2" charset="-122"/>
                <a:cs typeface="Times New Roman" panose="02020603050405020304" pitchFamily="18" charset="0"/>
              </a:rPr>
              <a:t>函数创建</a:t>
            </a:r>
            <a:r>
              <a:rPr lang="en-US" altLang="zh-CN" kern="100" dirty="0">
                <a:latin typeface="Times New Roman" panose="02020603050405020304" pitchFamily="18" charset="0"/>
                <a:ea typeface="宋体" pitchFamily="2" charset="-122"/>
                <a:cs typeface="Times New Roman" panose="02020603050405020304" pitchFamily="18" charset="0"/>
              </a:rPr>
              <a:t>SIFT</a:t>
            </a:r>
            <a:r>
              <a:rPr lang="zh-CN" altLang="en-US" kern="100" dirty="0">
                <a:latin typeface="Times New Roman" panose="02020603050405020304" pitchFamily="18" charset="0"/>
                <a:ea typeface="宋体" pitchFamily="2" charset="-122"/>
                <a:cs typeface="Times New Roman" panose="02020603050405020304" pitchFamily="18" charset="0"/>
              </a:rPr>
              <a:t>特征检测器，该函数的调用语法为：</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0" name="文本框 9"/>
              <p:cNvSpPr txBox="1"/>
              <p:nvPr/>
            </p:nvSpPr>
            <p:spPr>
              <a:xfrm>
                <a:off x="396330" y="2421682"/>
                <a:ext cx="8293441" cy="3539430"/>
              </a:xfrm>
              <a:prstGeom prst="rect">
                <a:avLst/>
              </a:prstGeom>
              <a:solidFill>
                <a:srgbClr val="C7C7C7"/>
              </a:solidFill>
            </p:spPr>
            <p:txBody>
              <a:bodyPr wrap="square">
                <a:spAutoFit/>
              </a:bodyPr>
              <a:lstStyle/>
              <a:p>
                <a:pPr marL="0" indent="0" algn="l" eaLnBrk="1" hangingPunct="1">
                  <a:lnSpc>
                    <a:spcPct val="100000"/>
                  </a:lnSpc>
                  <a:defRPr/>
                </a:pPr>
                <a:r>
                  <a:rPr lang="en-US" altLang="zh-CN" sz="2000" kern="100" dirty="0">
                    <a:latin typeface="Times New Roman" panose="02020603050405020304" pitchFamily="18" charset="0"/>
                    <a:ea typeface="宋体" pitchFamily="2" charset="-122"/>
                    <a:cs typeface="Times New Roman" panose="02020603050405020304" pitchFamily="18" charset="0"/>
                  </a:rPr>
                  <a:t>     Sift=cv2.xfeatures2d.SIFT_create(</a:t>
                </a:r>
                <a:r>
                  <a:rPr lang="en-US" altLang="zh-CN" sz="2000" kern="100" dirty="0" err="1">
                    <a:latin typeface="Times New Roman" panose="02020603050405020304" pitchFamily="18" charset="0"/>
                    <a:ea typeface="宋体" pitchFamily="2" charset="-122"/>
                    <a:cs typeface="Times New Roman" panose="02020603050405020304" pitchFamily="18" charset="0"/>
                  </a:rPr>
                  <a:t>nfeatures</a:t>
                </a:r>
                <a:r>
                  <a:rPr lang="en-US" altLang="zh-CN" sz="2000" kern="100" dirty="0">
                    <a:latin typeface="Times New Roman" panose="02020603050405020304" pitchFamily="18" charset="0"/>
                    <a:ea typeface="宋体" pitchFamily="2" charset="-122"/>
                    <a:cs typeface="Times New Roman" panose="02020603050405020304" pitchFamily="18" charset="0"/>
                  </a:rPr>
                  <a:t>, </a:t>
                </a:r>
                <a:r>
                  <a:rPr lang="en-US" altLang="zh-CN" sz="2000" kern="100" dirty="0" err="1">
                    <a:latin typeface="Times New Roman" panose="02020603050405020304" pitchFamily="18" charset="0"/>
                    <a:ea typeface="宋体" pitchFamily="2" charset="-122"/>
                    <a:cs typeface="Times New Roman" panose="02020603050405020304" pitchFamily="18" charset="0"/>
                  </a:rPr>
                  <a:t>nOctaveLayers</a:t>
                </a:r>
                <a:r>
                  <a:rPr lang="en-US" altLang="zh-CN" sz="2000" kern="100" dirty="0">
                    <a:latin typeface="Times New Roman" panose="02020603050405020304" pitchFamily="18" charset="0"/>
                    <a:ea typeface="宋体" pitchFamily="2" charset="-122"/>
                    <a:cs typeface="Times New Roman" panose="02020603050405020304" pitchFamily="18" charset="0"/>
                  </a:rPr>
                  <a:t>, contrast Threshold, </a:t>
                </a:r>
                <a:r>
                  <a:rPr lang="en-US" altLang="zh-CN" sz="2000" kern="100" dirty="0" err="1">
                    <a:latin typeface="Times New Roman" panose="02020603050405020304" pitchFamily="18" charset="0"/>
                    <a:ea typeface="宋体" pitchFamily="2" charset="-122"/>
                    <a:cs typeface="Times New Roman" panose="02020603050405020304" pitchFamily="18" charset="0"/>
                  </a:rPr>
                  <a:t>edgeThreshold</a:t>
                </a:r>
                <a:r>
                  <a:rPr lang="en-US" altLang="zh-CN" sz="2000" kern="100" dirty="0">
                    <a:latin typeface="Times New Roman" panose="02020603050405020304" pitchFamily="18" charset="0"/>
                    <a:ea typeface="宋体" pitchFamily="2" charset="-122"/>
                    <a:cs typeface="Times New Roman" panose="02020603050405020304" pitchFamily="18" charset="0"/>
                  </a:rPr>
                  <a:t>, </a:t>
                </a:r>
                <a:r>
                  <a:rPr lang="en-US" altLang="zh-CN" sz="2000" kern="100" dirty="0" err="1">
                    <a:latin typeface="Times New Roman" panose="02020603050405020304" pitchFamily="18" charset="0"/>
                    <a:ea typeface="宋体" pitchFamily="2" charset="-122"/>
                    <a:cs typeface="Times New Roman" panose="02020603050405020304" pitchFamily="18" charset="0"/>
                  </a:rPr>
                  <a:t>sigmma</a:t>
                </a:r>
                <a:r>
                  <a:rPr lang="en-US" altLang="zh-CN" sz="2000" kern="100" dirty="0">
                    <a:latin typeface="Times New Roman" panose="02020603050405020304" pitchFamily="18" charset="0"/>
                    <a:ea typeface="宋体" pitchFamily="2" charset="-122"/>
                    <a:cs typeface="Times New Roman" panose="02020603050405020304" pitchFamily="18" charset="0"/>
                  </a:rPr>
                  <a:t>)</a:t>
                </a:r>
                <a:r>
                  <a:rPr lang="zh-CN" altLang="en-US" sz="2000" kern="100" dirty="0">
                    <a:latin typeface="Times New Roman" panose="02020603050405020304" pitchFamily="18" charset="0"/>
                    <a:ea typeface="宋体" pitchFamily="2" charset="-122"/>
                    <a:cs typeface="Times New Roman" panose="02020603050405020304" pitchFamily="18" charset="0"/>
                  </a:rPr>
                  <a:t>。</a:t>
                </a:r>
                <a:endParaRPr lang="en-US" altLang="zh-CN" sz="2000"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sz="2000" kern="100" dirty="0">
                    <a:latin typeface="Times New Roman" panose="02020603050405020304" pitchFamily="18" charset="0"/>
                    <a:ea typeface="宋体" pitchFamily="2" charset="-122"/>
                    <a:cs typeface="Times New Roman" panose="02020603050405020304" pitchFamily="18" charset="0"/>
                  </a:rPr>
                  <a:t>     参数说明：</a:t>
                </a:r>
                <a:endParaRPr lang="en-US"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a:effectLst/>
                    <a:latin typeface="Times New Roman" panose="02020603050405020304" pitchFamily="18" charset="0"/>
                    <a:ea typeface="宋体" pitchFamily="2" charset="-122"/>
                  </a:rPr>
                  <a:t>Sift</a:t>
                </a:r>
                <a:r>
                  <a:rPr lang="zh-CN" altLang="zh-CN" sz="2000" kern="100" dirty="0">
                    <a:effectLst/>
                    <a:latin typeface="Times New Roman" panose="02020603050405020304" pitchFamily="18" charset="0"/>
                    <a:ea typeface="宋体" pitchFamily="2" charset="-122"/>
                  </a:rPr>
                  <a:t>：返回值，表示输出</a:t>
                </a:r>
                <a:r>
                  <a:rPr lang="en-US" altLang="zh-CN" sz="2000" kern="100" dirty="0">
                    <a:effectLst/>
                    <a:latin typeface="Times New Roman" panose="02020603050405020304" pitchFamily="18" charset="0"/>
                    <a:ea typeface="宋体" pitchFamily="2" charset="-122"/>
                  </a:rPr>
                  <a:t>SIFT</a:t>
                </a:r>
                <a:r>
                  <a:rPr lang="zh-CN" altLang="zh-CN" sz="2000" kern="100" dirty="0">
                    <a:effectLst/>
                    <a:latin typeface="Times New Roman" panose="02020603050405020304" pitchFamily="18" charset="0"/>
                    <a:ea typeface="宋体" pitchFamily="2" charset="-122"/>
                  </a:rPr>
                  <a:t>特征检测器。</a:t>
                </a:r>
                <a:endParaRPr lang="zh-CN"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err="1">
                    <a:effectLst/>
                    <a:latin typeface="Times New Roman" panose="02020603050405020304" pitchFamily="18" charset="0"/>
                    <a:ea typeface="宋体" pitchFamily="2" charset="-122"/>
                  </a:rPr>
                  <a:t>nfeatures</a:t>
                </a:r>
                <a:r>
                  <a:rPr lang="zh-CN" altLang="zh-CN" sz="2000" kern="100" dirty="0">
                    <a:effectLst/>
                    <a:latin typeface="Times New Roman" panose="02020603050405020304" pitchFamily="18" charset="0"/>
                    <a:ea typeface="宋体" pitchFamily="2" charset="-122"/>
                  </a:rPr>
                  <a:t>：表示保留的最佳特征的数量。该参数默认值为</a:t>
                </a:r>
                <a:r>
                  <a:rPr lang="en-US" altLang="zh-CN" sz="2000" kern="100" dirty="0">
                    <a:effectLst/>
                    <a:latin typeface="Times New Roman" panose="02020603050405020304" pitchFamily="18" charset="0"/>
                    <a:ea typeface="宋体" pitchFamily="2" charset="-122"/>
                  </a:rPr>
                  <a:t>0</a:t>
                </a:r>
                <a:r>
                  <a:rPr lang="zh-CN" altLang="zh-CN" sz="2000" kern="100" dirty="0">
                    <a:effectLst/>
                    <a:latin typeface="Times New Roman" panose="02020603050405020304" pitchFamily="18" charset="0"/>
                    <a:ea typeface="宋体" pitchFamily="2" charset="-122"/>
                  </a:rPr>
                  <a:t>。</a:t>
                </a:r>
                <a:endParaRPr lang="zh-CN"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err="1">
                    <a:effectLst/>
                    <a:latin typeface="Times New Roman" panose="02020603050405020304" pitchFamily="18" charset="0"/>
                    <a:ea typeface="宋体" pitchFamily="2" charset="-122"/>
                  </a:rPr>
                  <a:t>nOctaveLayers</a:t>
                </a:r>
                <a:r>
                  <a:rPr lang="zh-CN" altLang="zh-CN" sz="2000" kern="100" dirty="0">
                    <a:effectLst/>
                    <a:latin typeface="Times New Roman" panose="02020603050405020304" pitchFamily="18" charset="0"/>
                    <a:ea typeface="宋体" pitchFamily="2" charset="-122"/>
                  </a:rPr>
                  <a:t>：表示高斯金字塔每组有多少层。该参数默认值为</a:t>
                </a:r>
                <a:r>
                  <a:rPr lang="en-US" altLang="zh-CN" sz="2000" kern="100" dirty="0">
                    <a:effectLst/>
                    <a:latin typeface="Times New Roman" panose="02020603050405020304" pitchFamily="18" charset="0"/>
                    <a:ea typeface="宋体" pitchFamily="2" charset="-122"/>
                  </a:rPr>
                  <a:t>3</a:t>
                </a:r>
                <a:r>
                  <a:rPr lang="zh-CN" altLang="zh-CN" sz="2000" kern="100" dirty="0">
                    <a:effectLst/>
                    <a:latin typeface="Times New Roman" panose="02020603050405020304" pitchFamily="18" charset="0"/>
                    <a:ea typeface="宋体" pitchFamily="2" charset="-122"/>
                  </a:rPr>
                  <a:t>。</a:t>
                </a:r>
                <a:endParaRPr lang="zh-CN"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err="1">
                    <a:effectLst/>
                    <a:latin typeface="Times New Roman" panose="02020603050405020304" pitchFamily="18" charset="0"/>
                    <a:ea typeface="宋体" pitchFamily="2" charset="-122"/>
                  </a:rPr>
                  <a:t>contrastThreshold</a:t>
                </a:r>
                <a:r>
                  <a:rPr lang="zh-CN" altLang="zh-CN" sz="2000" kern="100" dirty="0">
                    <a:effectLst/>
                    <a:latin typeface="Times New Roman" panose="02020603050405020304" pitchFamily="18" charset="0"/>
                    <a:ea typeface="宋体" pitchFamily="2" charset="-122"/>
                  </a:rPr>
                  <a:t>：表示对比度阈值。该参数用于滤除低对比度区域中的弱特征。阈值越大，检测器产生的特征越少，默认值为</a:t>
                </a:r>
                <a:r>
                  <a:rPr lang="en-US" altLang="zh-CN" sz="2000" kern="100" dirty="0">
                    <a:effectLst/>
                    <a:latin typeface="Times New Roman" panose="02020603050405020304" pitchFamily="18" charset="0"/>
                    <a:ea typeface="宋体" pitchFamily="2" charset="-122"/>
                  </a:rPr>
                  <a:t>0.04</a:t>
                </a:r>
                <a:r>
                  <a:rPr lang="zh-CN" altLang="zh-CN" sz="2000" kern="100" dirty="0">
                    <a:effectLst/>
                    <a:latin typeface="Times New Roman" panose="02020603050405020304" pitchFamily="18" charset="0"/>
                    <a:ea typeface="宋体" pitchFamily="2" charset="-122"/>
                  </a:rPr>
                  <a:t>。</a:t>
                </a:r>
                <a:endParaRPr lang="zh-CN"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err="1">
                    <a:effectLst/>
                    <a:latin typeface="Times New Roman" panose="02020603050405020304" pitchFamily="18" charset="0"/>
                    <a:ea typeface="宋体" pitchFamily="2" charset="-122"/>
                  </a:rPr>
                  <a:t>edgeThreshold</a:t>
                </a:r>
                <a:r>
                  <a:rPr lang="zh-CN" altLang="zh-CN" sz="2000" kern="100" dirty="0">
                    <a:effectLst/>
                    <a:latin typeface="Times New Roman" panose="02020603050405020304" pitchFamily="18" charset="0"/>
                    <a:ea typeface="宋体" pitchFamily="2" charset="-122"/>
                  </a:rPr>
                  <a:t>：表示用来过滤特征点的阈值。该参数越大，检测器产生的特征值越多。默认值为</a:t>
                </a:r>
                <a:r>
                  <a:rPr lang="en-US" altLang="zh-CN" sz="2000" kern="100" dirty="0">
                    <a:effectLst/>
                    <a:latin typeface="Times New Roman" panose="02020603050405020304" pitchFamily="18" charset="0"/>
                    <a:ea typeface="宋体" pitchFamily="2" charset="-122"/>
                  </a:rPr>
                  <a:t>10</a:t>
                </a:r>
                <a:r>
                  <a:rPr lang="zh-CN" altLang="zh-CN" sz="2000" kern="100" dirty="0">
                    <a:effectLst/>
                    <a:latin typeface="Times New Roman" panose="02020603050405020304" pitchFamily="18" charset="0"/>
                    <a:ea typeface="宋体" pitchFamily="2" charset="-122"/>
                  </a:rPr>
                  <a:t>。</a:t>
                </a:r>
                <a:endParaRPr lang="zh-CN"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a:effectLst/>
                    <a:latin typeface="Times New Roman" panose="02020603050405020304" pitchFamily="18" charset="0"/>
                    <a:ea typeface="宋体" pitchFamily="2" charset="-122"/>
                  </a:rPr>
                  <a:t>sigma</a:t>
                </a:r>
                <a:r>
                  <a:rPr lang="zh-CN" altLang="zh-CN" sz="2000" kern="100" dirty="0">
                    <a:effectLst/>
                    <a:latin typeface="Times New Roman" panose="02020603050405020304" pitchFamily="18" charset="0"/>
                    <a:ea typeface="宋体" pitchFamily="2" charset="-122"/>
                  </a:rPr>
                  <a:t>：表示高斯金字塔中的</a:t>
                </a:r>
                <a14:m>
                  <m:oMath xmlns:m="http://schemas.openxmlformats.org/officeDocument/2006/math">
                    <m:r>
                      <a:rPr lang="en-US" altLang="zh-CN" sz="2000" i="1" kern="100">
                        <a:effectLst/>
                        <a:latin typeface="Cambria Math" panose="02040503050406030204" pitchFamily="18" charset="0"/>
                        <a:ea typeface="宋体" pitchFamily="2" charset="-122"/>
                      </a:rPr>
                      <m:t>𝜎</m:t>
                    </m:r>
                  </m:oMath>
                </a14:m>
                <a:r>
                  <a:rPr lang="zh-CN" altLang="zh-CN" sz="2000" kern="100" dirty="0">
                    <a:effectLst/>
                    <a:latin typeface="Times New Roman" panose="02020603050405020304" pitchFamily="18" charset="0"/>
                    <a:ea typeface="宋体" pitchFamily="2" charset="-122"/>
                  </a:rPr>
                  <a:t>。该参数默认值为</a:t>
                </a:r>
                <a:r>
                  <a:rPr lang="en-US" altLang="zh-CN" sz="2000" kern="100" dirty="0">
                    <a:effectLst/>
                    <a:latin typeface="Times New Roman" panose="02020603050405020304" pitchFamily="18" charset="0"/>
                    <a:ea typeface="宋体" pitchFamily="2" charset="-122"/>
                  </a:rPr>
                  <a:t>1.6</a:t>
                </a:r>
                <a:r>
                  <a:rPr lang="zh-CN" altLang="zh-CN" sz="2000" kern="100" dirty="0">
                    <a:effectLst/>
                    <a:latin typeface="Times New Roman" panose="02020603050405020304" pitchFamily="18" charset="0"/>
                    <a:ea typeface="宋体" pitchFamily="2" charset="-122"/>
                  </a:rPr>
                  <a:t>。</a:t>
                </a:r>
                <a:endParaRPr lang="zh-CN" altLang="zh-CN" sz="2000" kern="100" dirty="0">
                  <a:effectLst/>
                  <a:latin typeface="Times New Roman" panose="02020603050405020304" pitchFamily="18" charset="0"/>
                  <a:ea typeface="宋体" pitchFamily="2" charset="-122"/>
                </a:endParaRPr>
              </a:p>
            </p:txBody>
          </p:sp>
        </mc:Choice>
        <mc:Fallback>
          <p:sp>
            <p:nvSpPr>
              <p:cNvPr id="10" name="文本框 9"/>
              <p:cNvSpPr txBox="1">
                <a:spLocks noRot="1" noChangeAspect="1" noMove="1" noResize="1" noEditPoints="1" noAdjustHandles="1" noChangeArrowheads="1" noChangeShapeType="1" noTextEdit="1"/>
              </p:cNvSpPr>
              <p:nvPr/>
            </p:nvSpPr>
            <p:spPr>
              <a:xfrm>
                <a:off x="396330" y="2421682"/>
                <a:ext cx="8293441" cy="3539430"/>
              </a:xfrm>
              <a:prstGeom prst="rect">
                <a:avLst/>
              </a:prstGeom>
              <a:blipFill rotWithShape="1">
                <a:blip r:embed="rId1"/>
                <a:stretch>
                  <a:fillRect l="-1" t="-12" r="5" b="10"/>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sym typeface="+mn-ea"/>
              </a:rPr>
              <a:t>9.4SIFT</a:t>
            </a:r>
            <a:r>
              <a:rPr lang="zh-CN" altLang="en-US" b="1" dirty="0">
                <a:solidFill>
                  <a:schemeClr val="tx1">
                    <a:lumMod val="75000"/>
                    <a:lumOff val="25000"/>
                  </a:schemeClr>
                </a:solidFill>
                <a:latin typeface="微软雅黑" panose="020B0503020204020204" pitchFamily="34" charset="-122"/>
                <a:sym typeface="+mn-ea"/>
              </a:rPr>
              <a:t>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3" name="内容占位符 2"/>
          <p:cNvSpPr txBox="1">
            <a:spLocks noChangeArrowheads="1"/>
          </p:cNvSpPr>
          <p:nvPr/>
        </p:nvSpPr>
        <p:spPr bwMode="auto">
          <a:xfrm>
            <a:off x="360326" y="736998"/>
            <a:ext cx="8424936" cy="1108620"/>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a:t>
            </a:r>
            <a:r>
              <a:rPr lang="en-US" altLang="zh-CN" kern="100" dirty="0">
                <a:latin typeface="Times New Roman" panose="02020603050405020304" pitchFamily="18" charset="0"/>
                <a:ea typeface="宋体" pitchFamily="2" charset="-122"/>
                <a:cs typeface="Times New Roman" panose="02020603050405020304" pitchFamily="18" charset="0"/>
              </a:rPr>
              <a:t>SIFT</a:t>
            </a:r>
            <a:r>
              <a:rPr lang="zh-CN" altLang="en-US" kern="100" dirty="0">
                <a:latin typeface="Times New Roman" panose="02020603050405020304" pitchFamily="18" charset="0"/>
                <a:ea typeface="宋体" pitchFamily="2" charset="-122"/>
                <a:cs typeface="Times New Roman" panose="02020603050405020304" pitchFamily="18" charset="0"/>
              </a:rPr>
              <a:t>特征点检测实现代码如下：</a:t>
            </a:r>
            <a:endParaRPr lang="en-US" altLang="zh-CN" kern="100" dirty="0">
              <a:latin typeface="Times New Roman" panose="02020603050405020304" pitchFamily="18" charset="0"/>
              <a:ea typeface="宋体" pitchFamily="2" charset="-122"/>
              <a:cs typeface="Times New Roman" panose="02020603050405020304" pitchFamily="18" charset="0"/>
            </a:endParaRPr>
          </a:p>
        </p:txBody>
      </p:sp>
      <p:sp>
        <p:nvSpPr>
          <p:cNvPr id="9" name="文本框 8"/>
          <p:cNvSpPr txBox="1"/>
          <p:nvPr/>
        </p:nvSpPr>
        <p:spPr>
          <a:xfrm>
            <a:off x="576350" y="1629594"/>
            <a:ext cx="8316924" cy="4707890"/>
          </a:xfrm>
          <a:prstGeom prst="rect">
            <a:avLst/>
          </a:prstGeom>
          <a:solidFill>
            <a:srgbClr val="C7C7C7"/>
          </a:solidFill>
        </p:spPr>
        <p:txBody>
          <a:bodyPr wrap="square">
            <a:spAutoFit/>
          </a:bodyPr>
          <a:lstStyle/>
          <a:p>
            <a:pPr indent="266700" algn="just"/>
            <a:r>
              <a:rPr lang="en-US" altLang="zh-CN" sz="2000" kern="100" dirty="0">
                <a:solidFill>
                  <a:srgbClr val="000000"/>
                </a:solidFill>
                <a:effectLst/>
                <a:latin typeface="Times New Roman" panose="02020603050405020304" pitchFamily="18" charset="0"/>
                <a:ea typeface="宋体" pitchFamily="2" charset="-122"/>
              </a:rPr>
              <a:t>import cv2</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import </a:t>
            </a:r>
            <a:r>
              <a:rPr lang="en-US" altLang="zh-CN" sz="2000" kern="100" dirty="0" err="1">
                <a:solidFill>
                  <a:srgbClr val="000000"/>
                </a:solidFill>
                <a:effectLst/>
                <a:latin typeface="Times New Roman" panose="02020603050405020304" pitchFamily="18" charset="0"/>
                <a:ea typeface="宋体" pitchFamily="2" charset="-122"/>
              </a:rPr>
              <a:t>numpy</a:t>
            </a:r>
            <a:r>
              <a:rPr lang="en-US" altLang="zh-CN" sz="2000" kern="100" dirty="0">
                <a:solidFill>
                  <a:srgbClr val="000000"/>
                </a:solidFill>
                <a:effectLst/>
                <a:latin typeface="Times New Roman" panose="02020603050405020304" pitchFamily="18" charset="0"/>
                <a:ea typeface="宋体" pitchFamily="2" charset="-122"/>
              </a:rPr>
              <a:t> as np</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from matplotlib import </a:t>
            </a:r>
            <a:r>
              <a:rPr lang="en-US" altLang="zh-CN" sz="2000" kern="100" dirty="0" err="1">
                <a:solidFill>
                  <a:srgbClr val="000000"/>
                </a:solidFill>
                <a:effectLst/>
                <a:latin typeface="Times New Roman" panose="02020603050405020304" pitchFamily="18" charset="0"/>
                <a:ea typeface="宋体" pitchFamily="2" charset="-122"/>
              </a:rPr>
              <a:t>pyplot</a:t>
            </a:r>
            <a:r>
              <a:rPr lang="en-US" altLang="zh-CN" sz="2000" kern="100" dirty="0">
                <a:solidFill>
                  <a:srgbClr val="000000"/>
                </a:solidFill>
                <a:effectLst/>
                <a:latin typeface="Times New Roman" panose="02020603050405020304" pitchFamily="18" charset="0"/>
                <a:ea typeface="宋体" pitchFamily="2" charset="-122"/>
              </a:rPr>
              <a:t> as </a:t>
            </a:r>
            <a:r>
              <a:rPr lang="en-US" altLang="zh-CN" sz="2000" kern="100" dirty="0" err="1">
                <a:solidFill>
                  <a:srgbClr val="000000"/>
                </a:solidFill>
                <a:effectLst/>
                <a:latin typeface="Times New Roman" panose="02020603050405020304" pitchFamily="18" charset="0"/>
                <a:ea typeface="宋体" pitchFamily="2" charset="-122"/>
              </a:rPr>
              <a:t>plt</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a:effectLst/>
                <a:latin typeface="Times New Roman" panose="02020603050405020304" pitchFamily="18" charset="0"/>
                <a:ea typeface="宋体" pitchFamily="2" charset="-122"/>
              </a:rPr>
              <a:t> </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 = cv2.imread(</a:t>
            </a:r>
            <a:r>
              <a:rPr lang="en-US" altLang="zh-CN" sz="2000" kern="100" dirty="0" err="1">
                <a:solidFill>
                  <a:srgbClr val="000000"/>
                </a:solidFill>
                <a:effectLst/>
                <a:latin typeface="Times New Roman" panose="02020603050405020304" pitchFamily="18" charset="0"/>
                <a:ea typeface="宋体" pitchFamily="2" charset="-122"/>
              </a:rPr>
              <a:t>r'C</a:t>
            </a:r>
            <a:r>
              <a:rPr lang="en-US" altLang="zh-CN" sz="2000" kern="100" dirty="0">
                <a:solidFill>
                  <a:srgbClr val="000000"/>
                </a:solidFill>
                <a:effectLst/>
                <a:latin typeface="Times New Roman" panose="02020603050405020304" pitchFamily="18" charset="0"/>
                <a:ea typeface="宋体" pitchFamily="2" charset="-122"/>
              </a:rPr>
              <a:t>:\Users\</a:t>
            </a:r>
            <a:r>
              <a:rPr lang="en-US" altLang="zh-CN" sz="2000" kern="100" dirty="0" err="1">
                <a:solidFill>
                  <a:srgbClr val="000000"/>
                </a:solidFill>
                <a:effectLst/>
                <a:latin typeface="Times New Roman" panose="02020603050405020304" pitchFamily="18" charset="0"/>
                <a:ea typeface="宋体" pitchFamily="2" charset="-122"/>
              </a:rPr>
              <a:t>lenovo</a:t>
            </a:r>
            <a:r>
              <a:rPr lang="en-US" altLang="zh-CN" sz="2000" kern="100" dirty="0">
                <a:solidFill>
                  <a:srgbClr val="000000"/>
                </a:solidFill>
                <a:effectLst/>
                <a:latin typeface="Times New Roman" panose="02020603050405020304" pitchFamily="18" charset="0"/>
                <a:ea typeface="宋体" pitchFamily="2" charset="-122"/>
              </a:rPr>
              <a:t>\Desktop\cube.jpg’)  #</a:t>
            </a:r>
            <a:r>
              <a:rPr lang="zh-CN" altLang="zh-CN" sz="2000" kern="100" dirty="0">
                <a:solidFill>
                  <a:srgbClr val="000000"/>
                </a:solidFill>
                <a:effectLst/>
                <a:latin typeface="Times New Roman" panose="02020603050405020304" pitchFamily="18" charset="0"/>
                <a:ea typeface="宋体" pitchFamily="2" charset="-122"/>
              </a:rPr>
              <a:t>读入原始图像</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err="1">
                <a:solidFill>
                  <a:srgbClr val="000000"/>
                </a:solidFill>
                <a:effectLst/>
                <a:latin typeface="Times New Roman" panose="02020603050405020304" pitchFamily="18" charset="0"/>
                <a:ea typeface="宋体" pitchFamily="2" charset="-122"/>
              </a:rPr>
              <a:t>src</a:t>
            </a:r>
            <a:r>
              <a:rPr lang="en-US" altLang="zh-CN" sz="2000" kern="100" dirty="0">
                <a:solidFill>
                  <a:srgbClr val="000000"/>
                </a:solidFill>
                <a:effectLst/>
                <a:latin typeface="Times New Roman" panose="02020603050405020304" pitchFamily="18" charset="0"/>
                <a:ea typeface="宋体" pitchFamily="2" charset="-122"/>
              </a:rPr>
              <a:t> = </a:t>
            </a:r>
            <a:r>
              <a:rPr lang="en-US" altLang="zh-CN" sz="2000" kern="100" dirty="0" err="1">
                <a:solidFill>
                  <a:srgbClr val="000000"/>
                </a:solidFill>
                <a:effectLst/>
                <a:latin typeface="Times New Roman" panose="02020603050405020304" pitchFamily="18" charset="0"/>
                <a:ea typeface="宋体" pitchFamily="2" charset="-122"/>
              </a:rPr>
              <a:t>img.copy</a:t>
            </a:r>
            <a:r>
              <a:rPr lang="en-US" altLang="zh-CN" sz="2000" kern="100" dirty="0">
                <a:solidFill>
                  <a:srgbClr val="000000"/>
                </a:solidFill>
                <a:effectLst/>
                <a:latin typeface="Times New Roman" panose="02020603050405020304" pitchFamily="18" charset="0"/>
                <a:ea typeface="宋体" pitchFamily="2" charset="-122"/>
              </a:rPr>
              <a:t>()</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gray = cv2.cvtColor(</a:t>
            </a:r>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 cv2.COLOR_BGR2GRAY)  #</a:t>
            </a:r>
            <a:r>
              <a:rPr lang="zh-CN" altLang="zh-CN" sz="2000" kern="100" dirty="0">
                <a:solidFill>
                  <a:srgbClr val="000000"/>
                </a:solidFill>
                <a:effectLst/>
                <a:latin typeface="Times New Roman" panose="02020603050405020304" pitchFamily="18" charset="0"/>
                <a:ea typeface="宋体" pitchFamily="2" charset="-122"/>
              </a:rPr>
              <a:t>将原始图像灰度化</a:t>
            </a:r>
            <a:endParaRPr lang="zh-CN" altLang="zh-CN" sz="2000" kern="100" dirty="0">
              <a:effectLst/>
              <a:latin typeface="Times New Roman" panose="02020603050405020304" pitchFamily="18" charset="0"/>
              <a:ea typeface="宋体" pitchFamily="2" charset="-122"/>
            </a:endParaRPr>
          </a:p>
          <a:p>
            <a:pPr indent="266700" algn="just"/>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sift = cv2.xfeatures2d.SIFT_create()	#</a:t>
            </a:r>
            <a:r>
              <a:rPr lang="zh-CN" altLang="zh-CN" sz="2000" kern="100" dirty="0">
                <a:solidFill>
                  <a:srgbClr val="000000"/>
                </a:solidFill>
                <a:effectLst/>
                <a:latin typeface="Times New Roman" panose="02020603050405020304" pitchFamily="18" charset="0"/>
                <a:ea typeface="宋体" pitchFamily="2" charset="-122"/>
              </a:rPr>
              <a:t>创建</a:t>
            </a:r>
            <a:r>
              <a:rPr lang="en-US" altLang="zh-CN" sz="2000" kern="100" dirty="0">
                <a:solidFill>
                  <a:srgbClr val="000000"/>
                </a:solidFill>
                <a:effectLst/>
                <a:latin typeface="Times New Roman" panose="02020603050405020304" pitchFamily="18" charset="0"/>
                <a:ea typeface="宋体" pitchFamily="2" charset="-122"/>
              </a:rPr>
              <a:t>SIFT</a:t>
            </a:r>
            <a:r>
              <a:rPr lang="zh-CN" altLang="zh-CN" sz="2000" kern="100" dirty="0">
                <a:solidFill>
                  <a:srgbClr val="000000"/>
                </a:solidFill>
                <a:effectLst/>
                <a:latin typeface="Times New Roman" panose="02020603050405020304" pitchFamily="18" charset="0"/>
                <a:ea typeface="宋体" pitchFamily="2" charset="-122"/>
              </a:rPr>
              <a:t>特征检测器</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err="1">
                <a:solidFill>
                  <a:srgbClr val="000000"/>
                </a:solidFill>
                <a:effectLst/>
                <a:latin typeface="Times New Roman" panose="02020603050405020304" pitchFamily="18" charset="0"/>
                <a:ea typeface="宋体" pitchFamily="2" charset="-122"/>
              </a:rPr>
              <a:t>kp</a:t>
            </a:r>
            <a:r>
              <a:rPr lang="en-US" altLang="zh-CN" sz="2000" kern="100" dirty="0">
                <a:solidFill>
                  <a:srgbClr val="000000"/>
                </a:solidFill>
                <a:effectLst/>
                <a:latin typeface="Times New Roman" panose="02020603050405020304" pitchFamily="18" charset="0"/>
                <a:ea typeface="宋体" pitchFamily="2" charset="-122"/>
              </a:rPr>
              <a:t> = </a:t>
            </a:r>
            <a:r>
              <a:rPr lang="en-US" altLang="zh-CN" sz="2000" kern="100" dirty="0" err="1">
                <a:solidFill>
                  <a:srgbClr val="000000"/>
                </a:solidFill>
                <a:effectLst/>
                <a:latin typeface="Times New Roman" panose="02020603050405020304" pitchFamily="18" charset="0"/>
                <a:ea typeface="宋体" pitchFamily="2" charset="-122"/>
              </a:rPr>
              <a:t>sift.detect</a:t>
            </a:r>
            <a:r>
              <a:rPr lang="en-US" altLang="zh-CN" sz="2000" kern="100" dirty="0">
                <a:solidFill>
                  <a:srgbClr val="000000"/>
                </a:solidFill>
                <a:effectLst/>
                <a:latin typeface="Times New Roman" panose="02020603050405020304" pitchFamily="18" charset="0"/>
                <a:ea typeface="宋体" pitchFamily="2" charset="-122"/>
              </a:rPr>
              <a:t>(</a:t>
            </a:r>
            <a:r>
              <a:rPr lang="en-US" altLang="zh-CN" sz="2000" kern="100" dirty="0" err="1">
                <a:solidFill>
                  <a:srgbClr val="000000"/>
                </a:solidFill>
                <a:effectLst/>
                <a:latin typeface="Times New Roman" panose="02020603050405020304" pitchFamily="18" charset="0"/>
                <a:ea typeface="宋体" pitchFamily="2" charset="-122"/>
              </a:rPr>
              <a:t>gray,None</a:t>
            </a:r>
            <a:r>
              <a:rPr lang="en-US" altLang="zh-CN" sz="2000" kern="100" dirty="0">
                <a:solidFill>
                  <a:srgbClr val="000000"/>
                </a:solidFill>
                <a:effectLst/>
                <a:latin typeface="Times New Roman" panose="02020603050405020304" pitchFamily="18" charset="0"/>
                <a:ea typeface="宋体" pitchFamily="2" charset="-122"/>
              </a:rPr>
              <a:t>)		#</a:t>
            </a:r>
            <a:r>
              <a:rPr lang="zh-CN" altLang="zh-CN" sz="2000" kern="100" dirty="0">
                <a:solidFill>
                  <a:srgbClr val="000000"/>
                </a:solidFill>
                <a:effectLst/>
                <a:latin typeface="Times New Roman" panose="02020603050405020304" pitchFamily="18" charset="0"/>
                <a:ea typeface="宋体" pitchFamily="2" charset="-122"/>
              </a:rPr>
              <a:t>检测</a:t>
            </a:r>
            <a:r>
              <a:rPr lang="en-US" altLang="zh-CN" sz="2000" kern="100" dirty="0">
                <a:solidFill>
                  <a:srgbClr val="000000"/>
                </a:solidFill>
                <a:effectLst/>
                <a:latin typeface="Times New Roman" panose="02020603050405020304" pitchFamily="18" charset="0"/>
                <a:ea typeface="宋体" pitchFamily="2" charset="-122"/>
              </a:rPr>
              <a:t>SIFT</a:t>
            </a:r>
            <a:r>
              <a:rPr lang="zh-CN" altLang="zh-CN" sz="2000" kern="100" dirty="0">
                <a:solidFill>
                  <a:srgbClr val="000000"/>
                </a:solidFill>
                <a:effectLst/>
                <a:latin typeface="Times New Roman" panose="02020603050405020304" pitchFamily="18" charset="0"/>
                <a:ea typeface="宋体" pitchFamily="2" charset="-122"/>
              </a:rPr>
              <a:t>特征点</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cv2.drawKeypoints(</a:t>
            </a:r>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 </a:t>
            </a:r>
            <a:r>
              <a:rPr lang="en-US" altLang="zh-CN" sz="2000" kern="100" dirty="0" err="1">
                <a:solidFill>
                  <a:srgbClr val="000000"/>
                </a:solidFill>
                <a:effectLst/>
                <a:latin typeface="Times New Roman" panose="02020603050405020304" pitchFamily="18" charset="0"/>
                <a:ea typeface="宋体" pitchFamily="2" charset="-122"/>
              </a:rPr>
              <a:t>kp,img</a:t>
            </a:r>
            <a:r>
              <a:rPr lang="en-US" altLang="zh-CN" sz="2000" kern="100" dirty="0">
                <a:solidFill>
                  <a:srgbClr val="000000"/>
                </a:solidFill>
                <a:effectLst/>
                <a:latin typeface="Times New Roman" panose="02020603050405020304" pitchFamily="18" charset="0"/>
                <a:ea typeface="宋体" pitchFamily="2" charset="-122"/>
              </a:rPr>
              <a:t>)	#</a:t>
            </a:r>
            <a:r>
              <a:rPr lang="zh-CN" altLang="zh-CN" sz="2000" kern="100" dirty="0">
                <a:solidFill>
                  <a:srgbClr val="000000"/>
                </a:solidFill>
                <a:effectLst/>
                <a:latin typeface="Times New Roman" panose="02020603050405020304" pitchFamily="18" charset="0"/>
                <a:ea typeface="宋体" pitchFamily="2" charset="-122"/>
              </a:rPr>
              <a:t>绘制</a:t>
            </a:r>
            <a:r>
              <a:rPr lang="en-US" altLang="zh-CN" sz="2000" kern="100" dirty="0">
                <a:solidFill>
                  <a:srgbClr val="000000"/>
                </a:solidFill>
                <a:effectLst/>
                <a:latin typeface="Times New Roman" panose="02020603050405020304" pitchFamily="18" charset="0"/>
                <a:ea typeface="宋体" pitchFamily="2" charset="-122"/>
              </a:rPr>
              <a:t>SIFT</a:t>
            </a:r>
            <a:r>
              <a:rPr lang="zh-CN" altLang="zh-CN" sz="2000" kern="100" dirty="0">
                <a:solidFill>
                  <a:srgbClr val="000000"/>
                </a:solidFill>
                <a:effectLst/>
                <a:latin typeface="Times New Roman" panose="02020603050405020304" pitchFamily="18" charset="0"/>
                <a:ea typeface="宋体" pitchFamily="2" charset="-122"/>
              </a:rPr>
              <a:t>特征点</a:t>
            </a:r>
            <a:endParaRPr lang="zh-CN" altLang="zh-CN" sz="2000" kern="100" dirty="0">
              <a:effectLst/>
              <a:latin typeface="Times New Roman" panose="02020603050405020304" pitchFamily="18" charset="0"/>
              <a:ea typeface="宋体" pitchFamily="2" charset="-122"/>
            </a:endParaRPr>
          </a:p>
          <a:p>
            <a:pPr indent="266700" algn="just"/>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cv2.imshow('Original Image',</a:t>
            </a:r>
            <a:r>
              <a:rPr lang="en-US" altLang="zh-CN" sz="2000" kern="100" dirty="0" err="1">
                <a:solidFill>
                  <a:srgbClr val="000000"/>
                </a:solidFill>
                <a:effectLst/>
                <a:latin typeface="Times New Roman" panose="02020603050405020304" pitchFamily="18" charset="0"/>
                <a:ea typeface="宋体" pitchFamily="2" charset="-122"/>
              </a:rPr>
              <a:t>src</a:t>
            </a:r>
            <a:r>
              <a:rPr lang="en-US" altLang="zh-CN" sz="2000" kern="100" dirty="0">
                <a:solidFill>
                  <a:srgbClr val="000000"/>
                </a:solidFill>
                <a:effectLst/>
                <a:latin typeface="Times New Roman" panose="02020603050405020304" pitchFamily="18" charset="0"/>
                <a:ea typeface="宋体" pitchFamily="2" charset="-122"/>
              </a:rPr>
              <a:t>)</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cv2.imshow('Edge Image', </a:t>
            </a:r>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a:t>
            </a:r>
            <a:endParaRPr lang="zh-CN" altLang="zh-CN" sz="2000" kern="100" dirty="0">
              <a:effectLst/>
              <a:latin typeface="Times New Roman" panose="02020603050405020304" pitchFamily="18" charset="0"/>
              <a:ea typeface="宋体" pitchFamily="2" charset="-122"/>
            </a:endParaRPr>
          </a:p>
          <a:p>
            <a:r>
              <a:rPr lang="en-US" altLang="zh-CN" sz="2000" kern="100" dirty="0">
                <a:effectLst/>
                <a:latin typeface="Times New Roman" panose="02020603050405020304" pitchFamily="18" charset="0"/>
                <a:ea typeface="宋体" pitchFamily="2" charset="-122"/>
              </a:rPr>
              <a:t>    cv2.waitKey(0)</a:t>
            </a:r>
            <a:endParaRPr lang="zh-CN" altLang="en-US" sz="2000" dirty="0"/>
          </a:p>
        </p:txBody>
      </p:sp>
    </p:spTree>
  </p:cSld>
  <p:clrMapOvr>
    <a:masterClrMapping/>
  </p:clrMapOvr>
  <p:transition spd="slow" advClick="0" advTm="0">
    <p:wip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sym typeface="+mn-ea"/>
              </a:rPr>
              <a:t>9.4SIFT</a:t>
            </a:r>
            <a:r>
              <a:rPr lang="zh-CN" altLang="en-US" b="1" dirty="0">
                <a:solidFill>
                  <a:schemeClr val="tx1">
                    <a:lumMod val="75000"/>
                    <a:lumOff val="25000"/>
                  </a:schemeClr>
                </a:solidFill>
                <a:latin typeface="微软雅黑" panose="020B0503020204020204" pitchFamily="34" charset="-122"/>
                <a:sym typeface="+mn-ea"/>
              </a:rPr>
              <a:t>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3" name="内容占位符 2"/>
          <p:cNvSpPr txBox="1">
            <a:spLocks noChangeArrowheads="1"/>
          </p:cNvSpPr>
          <p:nvPr/>
        </p:nvSpPr>
        <p:spPr bwMode="auto">
          <a:xfrm>
            <a:off x="360326" y="664990"/>
            <a:ext cx="8424936" cy="1108620"/>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a:t>
            </a:r>
            <a:r>
              <a:rPr lang="en-US" altLang="zh-CN" kern="100" dirty="0">
                <a:latin typeface="Times New Roman" panose="02020603050405020304" pitchFamily="18" charset="0"/>
                <a:ea typeface="宋体" pitchFamily="2" charset="-122"/>
                <a:cs typeface="Times New Roman" panose="02020603050405020304" pitchFamily="18" charset="0"/>
              </a:rPr>
              <a:t>SIFT</a:t>
            </a:r>
            <a:r>
              <a:rPr lang="zh-CN" altLang="en-US" kern="100" dirty="0">
                <a:latin typeface="Times New Roman" panose="02020603050405020304" pitchFamily="18" charset="0"/>
                <a:ea typeface="宋体" pitchFamily="2" charset="-122"/>
                <a:cs typeface="Times New Roman" panose="02020603050405020304" pitchFamily="18" charset="0"/>
              </a:rPr>
              <a:t>特征点检测结果如图</a:t>
            </a:r>
            <a:r>
              <a:rPr lang="en-US" altLang="zh-CN" kern="100" dirty="0">
                <a:latin typeface="Times New Roman" panose="02020603050405020304" pitchFamily="18" charset="0"/>
                <a:ea typeface="宋体" pitchFamily="2" charset="-122"/>
                <a:cs typeface="Times New Roman" panose="02020603050405020304" pitchFamily="18" charset="0"/>
              </a:rPr>
              <a:t>9.10</a:t>
            </a:r>
            <a:r>
              <a:rPr lang="zh-CN" altLang="en-US" kern="100" dirty="0">
                <a:latin typeface="Times New Roman" panose="02020603050405020304" pitchFamily="18" charset="0"/>
                <a:ea typeface="宋体" pitchFamily="2" charset="-122"/>
                <a:cs typeface="Times New Roman" panose="02020603050405020304" pitchFamily="18" charset="0"/>
              </a:rPr>
              <a:t>：</a:t>
            </a:r>
            <a:endParaRPr lang="en-US" altLang="zh-CN" kern="100" dirty="0">
              <a:latin typeface="Times New Roman" panose="02020603050405020304" pitchFamily="18" charset="0"/>
              <a:ea typeface="宋体" pitchFamily="2" charset="-122"/>
              <a:cs typeface="Times New Roman" panose="02020603050405020304" pitchFamily="18" charset="0"/>
            </a:endParaRPr>
          </a:p>
        </p:txBody>
      </p:sp>
      <p:pic>
        <p:nvPicPr>
          <p:cNvPr id="8" name="图片 7"/>
          <p:cNvPicPr>
            <a:picLocks noChangeAspect="1"/>
          </p:cNvPicPr>
          <p:nvPr/>
        </p:nvPicPr>
        <p:blipFill>
          <a:blip r:embed="rId1"/>
          <a:srcRect t="5836" b="7908"/>
          <a:stretch>
            <a:fillRect/>
          </a:stretch>
        </p:blipFill>
        <p:spPr>
          <a:xfrm>
            <a:off x="660619" y="1883147"/>
            <a:ext cx="3552135" cy="3058815"/>
          </a:xfrm>
          <a:prstGeom prst="rect">
            <a:avLst/>
          </a:prstGeom>
          <a:ln>
            <a:noFill/>
          </a:ln>
        </p:spPr>
      </p:pic>
      <p:pic>
        <p:nvPicPr>
          <p:cNvPr id="10" name="图片 9"/>
          <p:cNvPicPr>
            <a:picLocks noChangeAspect="1"/>
          </p:cNvPicPr>
          <p:nvPr/>
        </p:nvPicPr>
        <p:blipFill>
          <a:blip r:embed="rId2"/>
          <a:srcRect l="1455" t="4011" r="1309" b="7754"/>
          <a:stretch>
            <a:fillRect/>
          </a:stretch>
        </p:blipFill>
        <p:spPr>
          <a:xfrm>
            <a:off x="4932836" y="1858571"/>
            <a:ext cx="3444906" cy="3095491"/>
          </a:xfrm>
          <a:prstGeom prst="rect">
            <a:avLst/>
          </a:prstGeom>
          <a:ln>
            <a:noFill/>
          </a:ln>
        </p:spPr>
      </p:pic>
      <p:sp>
        <p:nvSpPr>
          <p:cNvPr id="11" name="文本框 10"/>
          <p:cNvSpPr txBox="1"/>
          <p:nvPr/>
        </p:nvSpPr>
        <p:spPr>
          <a:xfrm>
            <a:off x="1692474" y="4941962"/>
            <a:ext cx="1584176" cy="400110"/>
          </a:xfrm>
          <a:prstGeom prst="rect">
            <a:avLst/>
          </a:prstGeom>
          <a:noFill/>
        </p:spPr>
        <p:txBody>
          <a:bodyPr wrap="square">
            <a:spAutoFit/>
          </a:bodyPr>
          <a:lstStyle/>
          <a:p>
            <a:r>
              <a:rPr lang="en-US" altLang="zh-CN" sz="2000" dirty="0">
                <a:effectLst/>
                <a:latin typeface="Times New Roman" panose="02020603050405020304" pitchFamily="18" charset="0"/>
                <a:cs typeface="Times New Roman" panose="02020603050405020304" pitchFamily="18" charset="0"/>
              </a:rPr>
              <a:t>(a)</a:t>
            </a:r>
            <a:r>
              <a:rPr lang="zh-CN" altLang="zh-CN" sz="2000" dirty="0">
                <a:effectLst/>
                <a:latin typeface="Times New Roman" panose="02020603050405020304" pitchFamily="18" charset="0"/>
                <a:ea typeface="宋体" pitchFamily="2" charset="-122"/>
                <a:cs typeface="Times New Roman" panose="02020603050405020304" pitchFamily="18" charset="0"/>
              </a:rPr>
              <a:t>原图像</a:t>
            </a:r>
            <a:endParaRPr lang="zh-CN" altLang="en-US" sz="2000" dirty="0">
              <a:latin typeface="Times New Roman" panose="02020603050405020304" pitchFamily="18" charset="0"/>
              <a:cs typeface="Times New Roman" panose="02020603050405020304" pitchFamily="18" charset="0"/>
            </a:endParaRPr>
          </a:p>
        </p:txBody>
      </p:sp>
      <p:sp>
        <p:nvSpPr>
          <p:cNvPr id="12" name="文本框 11"/>
          <p:cNvSpPr txBox="1"/>
          <p:nvPr/>
        </p:nvSpPr>
        <p:spPr>
          <a:xfrm>
            <a:off x="5184862" y="4941962"/>
            <a:ext cx="3132348" cy="400110"/>
          </a:xfrm>
          <a:prstGeom prst="rect">
            <a:avLst/>
          </a:prstGeom>
          <a:noFill/>
        </p:spPr>
        <p:txBody>
          <a:bodyPr wrap="square">
            <a:spAutoFit/>
          </a:bodyPr>
          <a:lstStyle/>
          <a:p>
            <a:r>
              <a:rPr lang="en-US" altLang="zh-CN" sz="2000" dirty="0">
                <a:effectLst/>
                <a:latin typeface="Times New Roman" panose="02020603050405020304" pitchFamily="18" charset="0"/>
                <a:cs typeface="Times New Roman" panose="02020603050405020304" pitchFamily="18" charset="0"/>
              </a:rPr>
              <a:t>(b)</a:t>
            </a:r>
            <a:r>
              <a:rPr lang="en-US" altLang="zh-CN" sz="2000" dirty="0">
                <a:effectLst/>
                <a:latin typeface="Times New Roman" panose="02020603050405020304" pitchFamily="18" charset="0"/>
                <a:ea typeface="宋体" pitchFamily="2" charset="-122"/>
                <a:cs typeface="Times New Roman" panose="02020603050405020304" pitchFamily="18" charset="0"/>
              </a:rPr>
              <a:t>SIFT</a:t>
            </a:r>
            <a:r>
              <a:rPr lang="zh-CN" altLang="en-US" sz="2000" dirty="0">
                <a:effectLst/>
                <a:latin typeface="Times New Roman" panose="02020603050405020304" pitchFamily="18" charset="0"/>
                <a:ea typeface="宋体" pitchFamily="2" charset="-122"/>
                <a:cs typeface="Times New Roman" panose="02020603050405020304" pitchFamily="18" charset="0"/>
              </a:rPr>
              <a:t>特征点检测结果图</a:t>
            </a:r>
            <a:endParaRPr lang="zh-CN" altLang="en-US" sz="2000"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1692474" y="5374010"/>
            <a:ext cx="5305767"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9.10  SIFT</a:t>
            </a:r>
            <a:r>
              <a:rPr lang="zh-CN" altLang="zh-CN" sz="2400" kern="100" dirty="0">
                <a:effectLst/>
                <a:latin typeface="Times New Roman" panose="02020603050405020304" pitchFamily="18" charset="0"/>
                <a:ea typeface="宋体" pitchFamily="2" charset="-122"/>
              </a:rPr>
              <a:t>特征点检测运行结果图</a:t>
            </a:r>
            <a:endParaRPr lang="zh-CN" altLang="zh-CN" sz="32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9.5</a:t>
            </a:r>
            <a:r>
              <a:rPr lang="zh-CN" altLang="en-US" sz="2100" b="1" dirty="0">
                <a:solidFill>
                  <a:schemeClr val="tx1">
                    <a:lumMod val="75000"/>
                    <a:lumOff val="25000"/>
                  </a:schemeClr>
                </a:solidFill>
                <a:latin typeface="微软雅黑" panose="020B0503020204020204" pitchFamily="34" charset="-122"/>
              </a:rPr>
              <a:t>局部二进制模式</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3" name="内容占位符 2"/>
          <p:cNvSpPr txBox="1">
            <a:spLocks noChangeArrowheads="1"/>
          </p:cNvSpPr>
          <p:nvPr/>
        </p:nvSpPr>
        <p:spPr bwMode="auto">
          <a:xfrm>
            <a:off x="360326" y="1197546"/>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sz="1600" b="1" kern="100" dirty="0">
                <a:latin typeface="黑体" panose="02010609060101010101" pitchFamily="49" charset="-122"/>
                <a:ea typeface="黑体" panose="02010609060101010101" pitchFamily="49"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局部二进制模式</a:t>
            </a:r>
            <a:r>
              <a:rPr lang="en-US" altLang="zh-CN" kern="100" dirty="0">
                <a:latin typeface="Times New Roman" panose="02020603050405020304" pitchFamily="18" charset="0"/>
                <a:ea typeface="宋体" pitchFamily="2" charset="-122"/>
                <a:cs typeface="Times New Roman" panose="02020603050405020304" pitchFamily="18" charset="0"/>
              </a:rPr>
              <a:t>(local binary patterns LBP)</a:t>
            </a:r>
            <a:r>
              <a:rPr lang="zh-CN" altLang="en-US" kern="100" dirty="0">
                <a:latin typeface="Times New Roman" panose="02020603050405020304" pitchFamily="18" charset="0"/>
                <a:ea typeface="宋体" pitchFamily="2" charset="-122"/>
                <a:cs typeface="Times New Roman" panose="02020603050405020304" pitchFamily="18" charset="0"/>
              </a:rPr>
              <a:t>最早是作为一种有效的纹理描述算子提出的，由于其对图像局部纹理特征的卓越描绘能力而获得了广泛的应用。</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特征具有</a:t>
            </a:r>
            <a:r>
              <a:rPr lang="zh-CN" altLang="en-US" kern="100" dirty="0">
                <a:solidFill>
                  <a:srgbClr val="FF0000"/>
                </a:solidFill>
                <a:latin typeface="Times New Roman" panose="02020603050405020304" pitchFamily="18" charset="0"/>
                <a:ea typeface="宋体" pitchFamily="2" charset="-122"/>
                <a:cs typeface="Times New Roman" panose="02020603050405020304" pitchFamily="18" charset="0"/>
              </a:rPr>
              <a:t>很强的分类能力</a:t>
            </a:r>
            <a:r>
              <a:rPr lang="en-US" altLang="zh-CN" kern="100" dirty="0">
                <a:solidFill>
                  <a:srgbClr val="FF0000"/>
                </a:solidFill>
                <a:latin typeface="Times New Roman" panose="02020603050405020304" pitchFamily="18" charset="0"/>
                <a:ea typeface="宋体" pitchFamily="2" charset="-122"/>
                <a:cs typeface="Times New Roman" panose="02020603050405020304" pitchFamily="18" charset="0"/>
              </a:rPr>
              <a:t>(highly discriminative)</a:t>
            </a:r>
            <a:r>
              <a:rPr lang="zh-CN" altLang="en-US" kern="100" dirty="0">
                <a:solidFill>
                  <a:srgbClr val="FF0000"/>
                </a:solidFill>
                <a:latin typeface="Times New Roman" panose="02020603050405020304" pitchFamily="18" charset="0"/>
                <a:ea typeface="宋体" pitchFamily="2" charset="-122"/>
                <a:cs typeface="Times New Roman" panose="02020603050405020304" pitchFamily="18" charset="0"/>
              </a:rPr>
              <a:t>、较高的计算效率，并且对于单调的灰度变化具有不变性</a:t>
            </a:r>
            <a:r>
              <a:rPr lang="zh-CN" altLang="en-US" kern="100" dirty="0">
                <a:latin typeface="Times New Roman" panose="02020603050405020304" pitchFamily="18" charset="0"/>
                <a:ea typeface="宋体" pitchFamily="2" charset="-122"/>
                <a:cs typeface="Times New Roman" panose="02020603050405020304" pitchFamily="18" charset="0"/>
              </a:rPr>
              <a:t>。</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11" name="内容占位符 2"/>
          <p:cNvSpPr txBox="1">
            <a:spLocks noChangeArrowheads="1"/>
          </p:cNvSpPr>
          <p:nvPr/>
        </p:nvSpPr>
        <p:spPr bwMode="auto">
          <a:xfrm>
            <a:off x="360326" y="2825230"/>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9.5.1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基本</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LBP</a:t>
            </a:r>
            <a:endParaRPr lang="en-US" altLang="zh-CN"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应用</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算子的过程类似于滤波过程中的模板操作</a:t>
            </a:r>
            <a:r>
              <a:rPr lang="en-US" altLang="zh-CN" kern="100" dirty="0">
                <a:latin typeface="Times New Roman" panose="02020603050405020304" pitchFamily="18" charset="0"/>
                <a:ea typeface="宋体" pitchFamily="2" charset="-122"/>
                <a:cs typeface="Times New Roman" panose="02020603050405020304" pitchFamily="18" charset="0"/>
              </a:rPr>
              <a:t>,</a:t>
            </a:r>
            <a:r>
              <a:rPr lang="zh-CN" altLang="en-US" kern="100" dirty="0">
                <a:latin typeface="Times New Roman" panose="02020603050405020304" pitchFamily="18" charset="0"/>
                <a:ea typeface="宋体" pitchFamily="2" charset="-122"/>
                <a:cs typeface="Times New Roman" panose="02020603050405020304" pitchFamily="18" charset="0"/>
              </a:rPr>
              <a:t>先逐行扫描图像，对于图像中的每一个像素点，以该点的灰度作为阈值，对其周围</a:t>
            </a:r>
            <a:r>
              <a:rPr lang="en-US" altLang="zh-CN" kern="100" dirty="0">
                <a:latin typeface="Times New Roman" panose="02020603050405020304" pitchFamily="18" charset="0"/>
                <a:ea typeface="宋体" pitchFamily="2" charset="-122"/>
                <a:cs typeface="Times New Roman" panose="02020603050405020304" pitchFamily="18" charset="0"/>
              </a:rPr>
              <a:t>3×3</a:t>
            </a:r>
            <a:r>
              <a:rPr lang="zh-CN" altLang="en-US" kern="100" dirty="0">
                <a:latin typeface="Times New Roman" panose="02020603050405020304" pitchFamily="18" charset="0"/>
                <a:ea typeface="宋体" pitchFamily="2" charset="-122"/>
                <a:cs typeface="Times New Roman" panose="02020603050405020304" pitchFamily="18" charset="0"/>
              </a:rPr>
              <a:t>的</a:t>
            </a:r>
            <a:r>
              <a:rPr lang="en-US" altLang="zh-CN" kern="100" dirty="0">
                <a:latin typeface="Times New Roman" panose="02020603050405020304" pitchFamily="18" charset="0"/>
                <a:ea typeface="宋体" pitchFamily="2" charset="-122"/>
                <a:cs typeface="Times New Roman" panose="02020603050405020304" pitchFamily="18" charset="0"/>
              </a:rPr>
              <a:t>8</a:t>
            </a:r>
            <a:r>
              <a:rPr lang="zh-CN" altLang="en-US" kern="100" dirty="0">
                <a:latin typeface="Times New Roman" panose="02020603050405020304" pitchFamily="18" charset="0"/>
                <a:ea typeface="宋体" pitchFamily="2" charset="-122"/>
                <a:cs typeface="Times New Roman" panose="02020603050405020304" pitchFamily="18" charset="0"/>
              </a:rPr>
              <a:t>邻域进行二值化，按照一定的顺序将二值化的结果组成一个</a:t>
            </a:r>
            <a:r>
              <a:rPr lang="en-US" altLang="zh-CN" kern="100" dirty="0">
                <a:latin typeface="Times New Roman" panose="02020603050405020304" pitchFamily="18" charset="0"/>
                <a:ea typeface="宋体" pitchFamily="2" charset="-122"/>
                <a:cs typeface="Times New Roman" panose="02020603050405020304" pitchFamily="18" charset="0"/>
              </a:rPr>
              <a:t>8</a:t>
            </a:r>
            <a:r>
              <a:rPr lang="zh-CN" altLang="en-US" kern="100" dirty="0">
                <a:latin typeface="Times New Roman" panose="02020603050405020304" pitchFamily="18" charset="0"/>
                <a:ea typeface="宋体" pitchFamily="2" charset="-122"/>
                <a:cs typeface="Times New Roman" panose="02020603050405020304" pitchFamily="18" charset="0"/>
              </a:rPr>
              <a:t>位二进制数，以此二进制数的值</a:t>
            </a:r>
            <a:r>
              <a:rPr lang="en-US" altLang="zh-CN" kern="100" dirty="0">
                <a:latin typeface="Times New Roman" panose="02020603050405020304" pitchFamily="18" charset="0"/>
                <a:ea typeface="宋体" pitchFamily="2" charset="-122"/>
                <a:cs typeface="Times New Roman" panose="02020603050405020304" pitchFamily="18" charset="0"/>
              </a:rPr>
              <a:t>(0~255)</a:t>
            </a:r>
            <a:r>
              <a:rPr lang="zh-CN" altLang="en-US" kern="100" dirty="0">
                <a:latin typeface="Times New Roman" panose="02020603050405020304" pitchFamily="18" charset="0"/>
                <a:ea typeface="宋体" pitchFamily="2" charset="-122"/>
                <a:cs typeface="Times New Roman" panose="02020603050405020304" pitchFamily="18" charset="0"/>
              </a:rPr>
              <a:t>作为该点的响应。</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3" name="内容占位符 2"/>
          <p:cNvSpPr txBox="1">
            <a:spLocks noChangeArrowheads="1"/>
          </p:cNvSpPr>
          <p:nvPr/>
        </p:nvSpPr>
        <p:spPr bwMode="auto">
          <a:xfrm>
            <a:off x="360326" y="1197546"/>
            <a:ext cx="8424936" cy="430609"/>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sz="1600" b="1" kern="100" dirty="0">
                <a:latin typeface="黑体" panose="02010609060101010101" pitchFamily="49" charset="-122"/>
                <a:ea typeface="黑体" panose="02010609060101010101" pitchFamily="49"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一个基本的</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算子如图</a:t>
            </a:r>
            <a:r>
              <a:rPr lang="en-US" altLang="zh-CN" kern="100" dirty="0">
                <a:latin typeface="Times New Roman" panose="02020603050405020304" pitchFamily="18" charset="0"/>
                <a:ea typeface="宋体" pitchFamily="2" charset="-122"/>
                <a:cs typeface="Times New Roman" panose="02020603050405020304" pitchFamily="18" charset="0"/>
              </a:rPr>
              <a:t>9.11</a:t>
            </a:r>
            <a:r>
              <a:rPr lang="zh-CN" altLang="en-US" kern="100" dirty="0">
                <a:latin typeface="Times New Roman" panose="02020603050405020304" pitchFamily="18" charset="0"/>
                <a:ea typeface="宋体" pitchFamily="2" charset="-122"/>
                <a:cs typeface="Times New Roman" panose="02020603050405020304" pitchFamily="18" charset="0"/>
              </a:rPr>
              <a:t>所示。</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2" name="Rectangle 2"/>
          <p:cNvSpPr>
            <a:spLocks noChangeArrowheads="1"/>
          </p:cNvSpPr>
          <p:nvPr/>
        </p:nvSpPr>
        <p:spPr bwMode="auto">
          <a:xfrm>
            <a:off x="900387" y="1667759"/>
            <a:ext cx="12985840" cy="50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3" name="对象 2"/>
          <p:cNvGraphicFramePr>
            <a:graphicFrameLocks noChangeAspect="1"/>
          </p:cNvGraphicFramePr>
          <p:nvPr/>
        </p:nvGraphicFramePr>
        <p:xfrm>
          <a:off x="900386" y="1316529"/>
          <a:ext cx="7575577" cy="2473305"/>
        </p:xfrm>
        <a:graphic>
          <a:graphicData uri="http://schemas.openxmlformats.org/presentationml/2006/ole">
            <mc:AlternateContent xmlns:mc="http://schemas.openxmlformats.org/markup-compatibility/2006">
              <mc:Choice xmlns:v="urn:schemas-microsoft-com:vml" Requires="v">
                <p:oleObj spid="_x0000_s4" name="" r:id="rId1" imgW="4211320" imgH="1287780" progId="Visio.Drawing.11">
                  <p:embed/>
                </p:oleObj>
              </mc:Choice>
              <mc:Fallback>
                <p:oleObj name="" r:id="rId1" imgW="4211320" imgH="128778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r="6874" b="537"/>
                      <a:stretch>
                        <a:fillRect/>
                      </a:stretch>
                    </p:blipFill>
                    <p:spPr bwMode="auto">
                      <a:xfrm>
                        <a:off x="900386" y="1316529"/>
                        <a:ext cx="7575577" cy="2473305"/>
                      </a:xfrm>
                      <a:prstGeom prst="rect">
                        <a:avLst/>
                      </a:prstGeom>
                      <a:noFill/>
                    </p:spPr>
                  </p:pic>
                </p:oleObj>
              </mc:Fallback>
            </mc:AlternateContent>
          </a:graphicData>
        </a:graphic>
      </p:graphicFrame>
      <p:sp>
        <p:nvSpPr>
          <p:cNvPr id="12" name="文本框 11"/>
          <p:cNvSpPr txBox="1"/>
          <p:nvPr/>
        </p:nvSpPr>
        <p:spPr>
          <a:xfrm>
            <a:off x="2340546" y="3832225"/>
            <a:ext cx="3919672"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9.11  </a:t>
            </a:r>
            <a:r>
              <a:rPr lang="zh-CN" altLang="zh-CN" sz="2400" kern="100" dirty="0">
                <a:effectLst/>
                <a:latin typeface="Times New Roman" panose="02020603050405020304" pitchFamily="18" charset="0"/>
                <a:ea typeface="宋体" pitchFamily="2" charset="-122"/>
              </a:rPr>
              <a:t>基本</a:t>
            </a:r>
            <a:r>
              <a:rPr lang="en-US" altLang="zh-CN" sz="2400" kern="100" dirty="0">
                <a:effectLst/>
                <a:latin typeface="Times New Roman" panose="02020603050405020304" pitchFamily="18" charset="0"/>
                <a:ea typeface="宋体" pitchFamily="2" charset="-122"/>
              </a:rPr>
              <a:t>LBP</a:t>
            </a:r>
            <a:r>
              <a:rPr lang="zh-CN" altLang="zh-CN" sz="2400" kern="100" dirty="0">
                <a:effectLst/>
                <a:latin typeface="Times New Roman" panose="02020603050405020304" pitchFamily="18" charset="0"/>
                <a:ea typeface="宋体" pitchFamily="2" charset="-122"/>
              </a:rPr>
              <a:t>算子</a:t>
            </a:r>
            <a:endParaRPr lang="zh-CN" altLang="zh-CN" sz="3200" kern="100" dirty="0">
              <a:effectLst/>
              <a:latin typeface="Times New Roman" panose="02020603050405020304" pitchFamily="18" charset="0"/>
              <a:ea typeface="宋体" pitchFamily="2" charset="-122"/>
            </a:endParaRPr>
          </a:p>
        </p:txBody>
      </p:sp>
      <p:sp>
        <p:nvSpPr>
          <p:cNvPr id="14" name="内容占位符 2"/>
          <p:cNvSpPr txBox="1">
            <a:spLocks noChangeArrowheads="1"/>
          </p:cNvSpPr>
          <p:nvPr/>
        </p:nvSpPr>
        <p:spPr bwMode="auto">
          <a:xfrm>
            <a:off x="446198" y="4293890"/>
            <a:ext cx="8231052" cy="703162"/>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kern="100" dirty="0">
                <a:latin typeface="Times New Roman" panose="02020603050405020304" pitchFamily="18" charset="0"/>
                <a:ea typeface="宋体" pitchFamily="2" charset="-122"/>
                <a:cs typeface="Times New Roman" panose="02020603050405020304" pitchFamily="18" charset="0"/>
              </a:rPr>
              <a:t>     LBP</a:t>
            </a:r>
            <a:r>
              <a:rPr lang="zh-CN" altLang="en-US" kern="100" dirty="0">
                <a:latin typeface="Times New Roman" panose="02020603050405020304" pitchFamily="18" charset="0"/>
                <a:ea typeface="宋体" pitchFamily="2" charset="-122"/>
                <a:cs typeface="Times New Roman" panose="02020603050405020304" pitchFamily="18" charset="0"/>
              </a:rPr>
              <a:t>的主要思想是以某一点与其邻域像素的相对灰度作为响应，正是这种相对机制使</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算子对于单调的灰度变化具有不变性。人脸图像常常会受到光照因素的影响而产生灰度变化，但在一个局部区域内，这种变化常常被视为是单调的，因此</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在光照不均的人脸识别应用中也取得了很好的效果</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9.5</a:t>
            </a:r>
            <a:r>
              <a:rPr lang="zh-CN" altLang="en-US" sz="2100" b="1" dirty="0">
                <a:solidFill>
                  <a:schemeClr val="tx1">
                    <a:lumMod val="75000"/>
                    <a:lumOff val="25000"/>
                  </a:schemeClr>
                </a:solidFill>
                <a:latin typeface="微软雅黑" panose="020B0503020204020204" pitchFamily="34" charset="-122"/>
              </a:rPr>
              <a:t>局部二进制模式</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内容占位符 2"/>
          <p:cNvSpPr txBox="1">
            <a:spLocks noChangeArrowheads="1"/>
          </p:cNvSpPr>
          <p:nvPr/>
        </p:nvSpPr>
        <p:spPr bwMode="auto">
          <a:xfrm>
            <a:off x="360326" y="837506"/>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9.5.2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圆形邻域的</a:t>
            </a:r>
            <a:r>
              <a:rPr lang="en-US" altLang="zh-CN" b="1" kern="100" dirty="0" err="1">
                <a:latin typeface="Times New Roman" panose="02020603050405020304" pitchFamily="18" charset="0"/>
                <a:ea typeface="黑体" panose="02010609060101010101" pitchFamily="49" charset="-122"/>
                <a:cs typeface="Times New Roman" panose="02020603050405020304" pitchFamily="18" charset="0"/>
              </a:rPr>
              <a:t>LBPpr</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算子</a:t>
            </a:r>
            <a:endParaRPr lang="en-US" altLang="zh-CN"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基本</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算子可以可以被进一步推广为使用不同大小和形状的邻域。采用圆形的邻域并结合双线性插值运算使我们能够获得任意半径和任意数目的邻域像素点。图</a:t>
            </a:r>
            <a:r>
              <a:rPr lang="en-US" altLang="zh-CN" kern="100" dirty="0">
                <a:latin typeface="Times New Roman" panose="02020603050405020304" pitchFamily="18" charset="0"/>
                <a:ea typeface="宋体" pitchFamily="2" charset="-122"/>
                <a:cs typeface="Times New Roman" panose="02020603050405020304" pitchFamily="18" charset="0"/>
              </a:rPr>
              <a:t>9.12</a:t>
            </a:r>
            <a:r>
              <a:rPr lang="zh-CN" altLang="en-US" kern="100" dirty="0">
                <a:latin typeface="Times New Roman" panose="02020603050405020304" pitchFamily="18" charset="0"/>
                <a:ea typeface="宋体" pitchFamily="2" charset="-122"/>
                <a:cs typeface="Times New Roman" panose="02020603050405020304" pitchFamily="18" charset="0"/>
              </a:rPr>
              <a:t>给出了一个半径为</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的</a:t>
            </a:r>
            <a:r>
              <a:rPr lang="en-US" altLang="zh-CN" kern="100" dirty="0">
                <a:latin typeface="Times New Roman" panose="02020603050405020304" pitchFamily="18" charset="0"/>
                <a:ea typeface="宋体" pitchFamily="2" charset="-122"/>
                <a:cs typeface="Times New Roman" panose="02020603050405020304" pitchFamily="18" charset="0"/>
              </a:rPr>
              <a:t>8</a:t>
            </a:r>
            <a:r>
              <a:rPr lang="zh-CN" altLang="en-US" kern="100" dirty="0">
                <a:latin typeface="Times New Roman" panose="02020603050405020304" pitchFamily="18" charset="0"/>
                <a:ea typeface="宋体" pitchFamily="2" charset="-122"/>
                <a:cs typeface="Times New Roman" panose="02020603050405020304" pitchFamily="18" charset="0"/>
              </a:rPr>
              <a:t>邻域像素的圆形邻域。</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对象 2"/>
          <p:cNvGraphicFramePr>
            <a:graphicFrameLocks noChangeAspect="1"/>
          </p:cNvGraphicFramePr>
          <p:nvPr/>
        </p:nvGraphicFramePr>
        <p:xfrm>
          <a:off x="3217920" y="3213770"/>
          <a:ext cx="2579010" cy="2579010"/>
        </p:xfrm>
        <a:graphic>
          <a:graphicData uri="http://schemas.openxmlformats.org/presentationml/2006/ole">
            <mc:AlternateContent xmlns:mc="http://schemas.openxmlformats.org/markup-compatibility/2006">
              <mc:Choice xmlns:v="urn:schemas-microsoft-com:vml" Requires="v">
                <p:oleObj spid="_x0000_s4" name="" r:id="rId1" imgW="1551940" imgH="1551940" progId="Visio.Drawing.11">
                  <p:embed/>
                </p:oleObj>
              </mc:Choice>
              <mc:Fallback>
                <p:oleObj name="" r:id="rId1" imgW="1551940" imgH="155194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7920" y="3213770"/>
                        <a:ext cx="2579010" cy="2579010"/>
                      </a:xfrm>
                      <a:prstGeom prst="rect">
                        <a:avLst/>
                      </a:prstGeom>
                      <a:noFill/>
                    </p:spPr>
                  </p:pic>
                </p:oleObj>
              </mc:Fallback>
            </mc:AlternateContent>
          </a:graphicData>
        </a:graphic>
      </p:graphicFrame>
      <mc:AlternateContent xmlns:mc="http://schemas.openxmlformats.org/markup-compatibility/2006">
        <mc:Choice xmlns:a14="http://schemas.microsoft.com/office/drawing/2010/main" Requires="a14">
          <p:sp>
            <p:nvSpPr>
              <p:cNvPr id="12" name="文本框 11"/>
              <p:cNvSpPr txBox="1"/>
              <p:nvPr/>
            </p:nvSpPr>
            <p:spPr>
              <a:xfrm>
                <a:off x="1638791" y="5842715"/>
                <a:ext cx="5454283" cy="477888"/>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cs typeface="Times New Roman" panose="02020603050405020304" pitchFamily="18" charset="0"/>
                  </a:rPr>
                  <a:t>图</a:t>
                </a:r>
                <a:r>
                  <a:rPr lang="en-US" altLang="zh-CN" sz="2400" kern="100" dirty="0">
                    <a:effectLst/>
                    <a:latin typeface="Times New Roman" panose="02020603050405020304" pitchFamily="18" charset="0"/>
                    <a:ea typeface="宋体" pitchFamily="2" charset="-122"/>
                    <a:cs typeface="Times New Roman" panose="02020603050405020304" pitchFamily="18" charset="0"/>
                  </a:rPr>
                  <a:t>9.12  </a:t>
                </a:r>
                <a:r>
                  <a:rPr lang="zh-CN" altLang="zh-CN" sz="2400" kern="100" dirty="0">
                    <a:effectLst/>
                    <a:latin typeface="Times New Roman" panose="02020603050405020304" pitchFamily="18" charset="0"/>
                    <a:ea typeface="宋体" pitchFamily="2" charset="-122"/>
                    <a:cs typeface="Times New Roman" panose="02020603050405020304" pitchFamily="18" charset="0"/>
                  </a:rPr>
                  <a:t>图形</a:t>
                </a:r>
                <a:r>
                  <a:rPr lang="en-US" altLang="zh-CN" sz="2400" kern="100" dirty="0">
                    <a:effectLst/>
                    <a:latin typeface="Times New Roman" panose="02020603050405020304" pitchFamily="18" charset="0"/>
                    <a:ea typeface="宋体" pitchFamily="2" charset="-122"/>
                    <a:cs typeface="Times New Roman" panose="02020603050405020304" pitchFamily="18" charset="0"/>
                  </a:rPr>
                  <a:t>(8,2)</a:t>
                </a:r>
                <a:r>
                  <a:rPr lang="zh-CN" altLang="zh-CN" sz="2400" kern="100" dirty="0">
                    <a:effectLst/>
                    <a:latin typeface="Times New Roman" panose="02020603050405020304" pitchFamily="18" charset="0"/>
                    <a:ea typeface="宋体" pitchFamily="2" charset="-122"/>
                    <a:cs typeface="Times New Roman" panose="02020603050405020304" pitchFamily="18" charset="0"/>
                  </a:rPr>
                  <a:t>邻域的</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Regular" panose="02020603050405020304"/>
                          </a:rPr>
                        </m:ctrlPr>
                      </m:sSubPr>
                      <m:e>
                        <m:r>
                          <a:rPr lang="en-US" altLang="zh-CN" sz="2400" i="1" kern="100">
                            <a:effectLst/>
                            <a:latin typeface="Cambria Math" panose="02040503050406030204" pitchFamily="18" charset="0"/>
                            <a:ea typeface="宋体" pitchFamily="2" charset="-122"/>
                            <a:cs typeface="Times New Roman Regular" panose="02020603050405020304"/>
                          </a:rPr>
                          <m:t>𝐿𝐵𝑃</m:t>
                        </m:r>
                      </m:e>
                      <m:sub>
                        <m:r>
                          <a:rPr lang="en-US" altLang="zh-CN" sz="2400" i="1" kern="100">
                            <a:effectLst/>
                            <a:latin typeface="Cambria Math" panose="02040503050406030204" pitchFamily="18" charset="0"/>
                            <a:ea typeface="宋体" pitchFamily="2" charset="-122"/>
                            <a:cs typeface="Times New Roman Regular" panose="02020603050405020304"/>
                          </a:rPr>
                          <m:t>8</m:t>
                        </m:r>
                        <m:r>
                          <a:rPr lang="en-US" altLang="zh-CN" sz="2400" i="1" kern="100">
                            <a:effectLst/>
                            <a:latin typeface="Cambria Math" panose="02040503050406030204" pitchFamily="18" charset="0"/>
                            <a:ea typeface="宋体" pitchFamily="2" charset="-122"/>
                            <a:cs typeface="Times New Roman Regular" panose="02020603050405020304"/>
                          </a:rPr>
                          <m:t>,</m:t>
                        </m:r>
                        <m:r>
                          <a:rPr lang="en-US" altLang="zh-CN" sz="2400" i="1" kern="100">
                            <a:effectLst/>
                            <a:latin typeface="Cambria Math" panose="02040503050406030204" pitchFamily="18" charset="0"/>
                            <a:ea typeface="宋体" pitchFamily="2" charset="-122"/>
                            <a:cs typeface="Times New Roman Regular" panose="02020603050405020304"/>
                          </a:rPr>
                          <m:t>2</m:t>
                        </m:r>
                      </m:sub>
                    </m:sSub>
                  </m:oMath>
                </a14:m>
                <a:r>
                  <a:rPr lang="zh-CN" altLang="zh-CN" sz="2400" kern="100" dirty="0">
                    <a:effectLst/>
                    <a:latin typeface="Times New Roman" panose="02020603050405020304" pitchFamily="18" charset="0"/>
                    <a:ea typeface="宋体" pitchFamily="2" charset="-122"/>
                    <a:cs typeface="Times New Roman" panose="02020603050405020304" pitchFamily="18" charset="0"/>
                  </a:rPr>
                  <a:t>算子</a:t>
                </a:r>
                <a:endParaRPr lang="zh-CN" altLang="zh-CN" sz="3200" kern="100" dirty="0">
                  <a:effectLst/>
                  <a:latin typeface="Times New Roman" panose="02020603050405020304" pitchFamily="18" charset="0"/>
                  <a:ea typeface="宋体" pitchFamily="2" charset="-122"/>
                  <a:cs typeface="Times New Roman" panose="02020603050405020304" pitchFamily="18" charset="0"/>
                </a:endParaRPr>
              </a:p>
            </p:txBody>
          </p:sp>
        </mc:Choice>
        <mc:Fallback>
          <p:sp>
            <p:nvSpPr>
              <p:cNvPr id="12" name="文本框 11"/>
              <p:cNvSpPr txBox="1">
                <a:spLocks noRot="1" noChangeAspect="1" noMove="1" noResize="1" noEditPoints="1" noAdjustHandles="1" noChangeArrowheads="1" noChangeShapeType="1" noTextEdit="1"/>
              </p:cNvSpPr>
              <p:nvPr/>
            </p:nvSpPr>
            <p:spPr>
              <a:xfrm>
                <a:off x="1638791" y="5842715"/>
                <a:ext cx="5454283" cy="477888"/>
              </a:xfrm>
              <a:prstGeom prst="rect">
                <a:avLst/>
              </a:prstGeom>
              <a:blipFill rotWithShape="1">
                <a:blip r:embed="rId3"/>
                <a:stretch>
                  <a:fillRect l="-9" t="-17" r="2" b="94"/>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11" name="内容占位符 2"/>
              <p:cNvSpPr txBox="1">
                <a:spLocks noChangeArrowheads="1"/>
              </p:cNvSpPr>
              <p:nvPr/>
            </p:nvSpPr>
            <p:spPr bwMode="auto">
              <a:xfrm>
                <a:off x="360326" y="837506"/>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对于不在像素中心位置的邻域点</a:t>
                </a:r>
                <a:r>
                  <a:rPr lang="en-US" altLang="zh-CN" kern="100" dirty="0">
                    <a:latin typeface="Times New Roman" panose="02020603050405020304" pitchFamily="18" charset="0"/>
                    <a:ea typeface="宋体" pitchFamily="2" charset="-122"/>
                    <a:cs typeface="Times New Roman" panose="02020603050405020304" pitchFamily="18" charset="0"/>
                  </a:rPr>
                  <a:t>(</a:t>
                </a:r>
                <a:r>
                  <a:rPr lang="zh-CN" altLang="en-US" kern="100" dirty="0">
                    <a:latin typeface="Times New Roman" panose="02020603050405020304" pitchFamily="18" charset="0"/>
                    <a:ea typeface="宋体" pitchFamily="2" charset="-122"/>
                    <a:cs typeface="Times New Roman" panose="02020603050405020304" pitchFamily="18" charset="0"/>
                  </a:rPr>
                  <a:t>斜</a:t>
                </a:r>
                <a:r>
                  <a:rPr lang="en-US" altLang="zh-CN" kern="100" dirty="0">
                    <a:latin typeface="Times New Roman" panose="02020603050405020304" pitchFamily="18" charset="0"/>
                    <a:ea typeface="宋体" pitchFamily="2" charset="-122"/>
                    <a:cs typeface="Times New Roman" panose="02020603050405020304" pitchFamily="18" charset="0"/>
                  </a:rPr>
                  <a:t>45</a:t>
                </a:r>
                <a:r>
                  <a:rPr lang="zh-CN" altLang="en-US" kern="100" dirty="0">
                    <a:latin typeface="Times New Roman" panose="02020603050405020304" pitchFamily="18" charset="0"/>
                    <a:ea typeface="宋体" pitchFamily="2" charset="-122"/>
                    <a:cs typeface="Times New Roman" panose="02020603050405020304" pitchFamily="18" charset="0"/>
                  </a:rPr>
                  <a:t>方向的</a:t>
                </a:r>
                <a:r>
                  <a:rPr lang="en-US" altLang="zh-CN" kern="100" dirty="0">
                    <a:latin typeface="Times New Roman" panose="02020603050405020304" pitchFamily="18" charset="0"/>
                    <a:ea typeface="宋体" pitchFamily="2" charset="-122"/>
                    <a:cs typeface="Times New Roman" panose="02020603050405020304" pitchFamily="18" charset="0"/>
                  </a:rPr>
                  <a:t>4</a:t>
                </a:r>
                <a:r>
                  <a:rPr lang="zh-CN" altLang="en-US" kern="100" dirty="0">
                    <a:latin typeface="Times New Roman" panose="02020603050405020304" pitchFamily="18" charset="0"/>
                    <a:ea typeface="宋体" pitchFamily="2" charset="-122"/>
                    <a:cs typeface="Times New Roman" panose="02020603050405020304" pitchFamily="18" charset="0"/>
                  </a:rPr>
                  <a:t>个黑点</a:t>
                </a:r>
                <a:r>
                  <a:rPr lang="en-US" altLang="zh-CN" kern="100" dirty="0">
                    <a:latin typeface="Times New Roman" panose="02020603050405020304" pitchFamily="18" charset="0"/>
                    <a:ea typeface="宋体" pitchFamily="2" charset="-122"/>
                    <a:cs typeface="Times New Roman" panose="02020603050405020304" pitchFamily="18" charset="0"/>
                  </a:rPr>
                  <a:t>)</a:t>
                </a:r>
                <a:r>
                  <a:rPr lang="zh-CN" altLang="en-US" kern="100" dirty="0">
                    <a:latin typeface="Times New Roman" panose="02020603050405020304" pitchFamily="18" charset="0"/>
                    <a:ea typeface="宋体" pitchFamily="2" charset="-122"/>
                    <a:cs typeface="Times New Roman" panose="02020603050405020304" pitchFamily="18" charset="0"/>
                  </a:rPr>
                  <a:t>，通过</a:t>
                </a:r>
                <a:r>
                  <a:rPr lang="zh-CN" altLang="en-US" b="1" kern="100" dirty="0">
                    <a:latin typeface="Times New Roman" panose="02020603050405020304" pitchFamily="18" charset="0"/>
                    <a:ea typeface="宋体" pitchFamily="2" charset="-122"/>
                    <a:cs typeface="Times New Roman" panose="02020603050405020304" pitchFamily="18" charset="0"/>
                  </a:rPr>
                  <a:t>双线性插值</a:t>
                </a:r>
                <a:r>
                  <a:rPr lang="zh-CN" altLang="en-US" kern="100" dirty="0">
                    <a:latin typeface="Times New Roman" panose="02020603050405020304" pitchFamily="18" charset="0"/>
                    <a:ea typeface="宋体" pitchFamily="2" charset="-122"/>
                    <a:cs typeface="Times New Roman" panose="02020603050405020304" pitchFamily="18" charset="0"/>
                  </a:rPr>
                  <a:t>确定其值。这种</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算子记作</a:t>
                </a:r>
                <a:r>
                  <a:rPr lang="zh-CN" altLang="zh-CN" dirty="0">
                    <a:effectLst/>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itchFamily="2" charset="-122"/>
                            <a:cs typeface="Times New Roman" panose="02020603050405020304" pitchFamily="18" charset="0"/>
                          </a:rPr>
                          <m:t>𝐿𝐵𝑃</m:t>
                        </m:r>
                      </m:e>
                      <m:sub>
                        <m:r>
                          <a:rPr lang="en-US" altLang="zh-CN" sz="2400" i="1" kern="100">
                            <a:effectLst/>
                            <a:latin typeface="Cambria Math" panose="02040503050406030204" pitchFamily="18" charset="0"/>
                            <a:ea typeface="宋体" pitchFamily="2" charset="-122"/>
                            <a:cs typeface="Times New Roman" panose="02020603050405020304" pitchFamily="18" charset="0"/>
                          </a:rPr>
                          <m:t>𝑃</m:t>
                        </m:r>
                        <m:r>
                          <a:rPr lang="en-US" altLang="zh-CN" sz="2400" i="1" kern="100">
                            <a:effectLst/>
                            <a:latin typeface="Cambria Math" panose="02040503050406030204" pitchFamily="18" charset="0"/>
                            <a:ea typeface="宋体" pitchFamily="2" charset="-122"/>
                            <a:cs typeface="Times New Roman" panose="02020603050405020304" pitchFamily="18" charset="0"/>
                          </a:rPr>
                          <m:t>,</m:t>
                        </m:r>
                        <m:r>
                          <a:rPr lang="en-US" altLang="zh-CN" sz="2400" i="1" kern="100">
                            <a:effectLst/>
                            <a:latin typeface="Cambria Math" panose="02040503050406030204" pitchFamily="18" charset="0"/>
                            <a:ea typeface="宋体" pitchFamily="2" charset="-122"/>
                            <a:cs typeface="Times New Roman" panose="02020603050405020304" pitchFamily="18" charset="0"/>
                          </a:rPr>
                          <m:t>𝑅</m:t>
                        </m:r>
                      </m:sub>
                    </m:sSub>
                  </m:oMath>
                </a14:m>
                <a:r>
                  <a:rPr lang="zh-CN" altLang="en-US" kern="100" dirty="0">
                    <a:latin typeface="Times New Roman" panose="02020603050405020304" pitchFamily="18" charset="0"/>
                    <a:ea typeface="宋体" pitchFamily="2" charset="-122"/>
                    <a:cs typeface="Times New Roman" panose="02020603050405020304" pitchFamily="18" charset="0"/>
                  </a:rPr>
                  <a:t>，下标中</a:t>
                </a:r>
                <a:r>
                  <a:rPr lang="en-US" altLang="zh-CN" kern="100" dirty="0">
                    <a:latin typeface="Times New Roman" panose="02020603050405020304" pitchFamily="18" charset="0"/>
                    <a:ea typeface="宋体" pitchFamily="2" charset="-122"/>
                    <a:cs typeface="Times New Roman" panose="02020603050405020304" pitchFamily="18" charset="0"/>
                  </a:rPr>
                  <a:t>P</a:t>
                </a:r>
                <a:r>
                  <a:rPr lang="zh-CN" altLang="en-US" kern="100" dirty="0">
                    <a:latin typeface="Times New Roman" panose="02020603050405020304" pitchFamily="18" charset="0"/>
                    <a:ea typeface="宋体" pitchFamily="2" charset="-122"/>
                    <a:cs typeface="Times New Roman" panose="02020603050405020304" pitchFamily="18" charset="0"/>
                  </a:rPr>
                  <a:t>表示</a:t>
                </a:r>
                <a:r>
                  <a:rPr lang="en-US" altLang="zh-CN" kern="100" dirty="0">
                    <a:latin typeface="Times New Roman" panose="02020603050405020304" pitchFamily="18" charset="0"/>
                    <a:ea typeface="宋体" pitchFamily="2" charset="-122"/>
                    <a:cs typeface="Times New Roman" panose="02020603050405020304" pitchFamily="18" charset="0"/>
                  </a:rPr>
                  <a:t>p</a:t>
                </a:r>
                <a:r>
                  <a:rPr lang="zh-CN" altLang="en-US" kern="100" dirty="0">
                    <a:latin typeface="Times New Roman" panose="02020603050405020304" pitchFamily="18" charset="0"/>
                    <a:ea typeface="宋体" pitchFamily="2" charset="-122"/>
                    <a:cs typeface="Times New Roman" panose="02020603050405020304" pitchFamily="18" charset="0"/>
                  </a:rPr>
                  <a:t>邻域，</a:t>
                </a:r>
                <a:r>
                  <a:rPr lang="en-US" altLang="zh-CN" kern="100" dirty="0">
                    <a:latin typeface="Times New Roman" panose="02020603050405020304" pitchFamily="18" charset="0"/>
                    <a:ea typeface="宋体" pitchFamily="2" charset="-122"/>
                    <a:cs typeface="Times New Roman" panose="02020603050405020304" pitchFamily="18" charset="0"/>
                  </a:rPr>
                  <a:t>R</a:t>
                </a:r>
                <a:r>
                  <a:rPr lang="zh-CN" altLang="en-US" kern="100" dirty="0">
                    <a:latin typeface="Times New Roman" panose="02020603050405020304" pitchFamily="18" charset="0"/>
                    <a:ea typeface="宋体" pitchFamily="2" charset="-122"/>
                    <a:cs typeface="Times New Roman" panose="02020603050405020304" pitchFamily="18" charset="0"/>
                  </a:rPr>
                  <a:t>表示圆形邻域的半径。</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mc:Choice>
        <mc:Fallback>
          <p:sp>
            <p:nvSpPr>
              <p:cNvPr id="11" name="内容占位符 2"/>
              <p:cNvSpPr txBox="1">
                <a:spLocks noRot="1" noChangeAspect="1" noMove="1" noResize="1" noEditPoints="1" noAdjustHandles="1" noChangeArrowheads="1" noChangeShapeType="1" noTextEdit="1"/>
              </p:cNvSpPr>
              <p:nvPr/>
            </p:nvSpPr>
            <p:spPr bwMode="auto">
              <a:xfrm>
                <a:off x="360326" y="837506"/>
                <a:ext cx="8424936" cy="1900708"/>
              </a:xfrm>
              <a:prstGeom prst="rect">
                <a:avLst/>
              </a:prstGeom>
              <a:blipFill rotWithShape="1">
                <a:blip r:embed="rId1"/>
                <a:stretch>
                  <a:fillRect l="-3" t="-30" b="5"/>
                </a:stretch>
              </a:blipFill>
              <a:ln>
                <a:noFill/>
              </a:ln>
              <a:effectLst/>
            </p:spPr>
            <p:txBody>
              <a:bodyPr/>
              <a:lstStyle/>
              <a:p>
                <a:r>
                  <a:rPr lang="zh-CN" altLang="en-US">
                    <a:noFill/>
                  </a:rPr>
                  <a:t> </a:t>
                </a:r>
              </a:p>
            </p:txBody>
          </p:sp>
        </mc:Fallback>
      </mc:AlternateContent>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972394" y="5734050"/>
            <a:ext cx="7056784" cy="830997"/>
          </a:xfrm>
          <a:prstGeom prst="rect">
            <a:avLst/>
          </a:prstGeom>
          <a:noFill/>
        </p:spPr>
        <p:txBody>
          <a:bodyPr wrap="square">
            <a:spAutoFit/>
          </a:bodyPr>
          <a:lstStyle/>
          <a:p>
            <a:pPr indent="266700" algn="ctr"/>
            <a:r>
              <a:rPr lang="zh-CN" altLang="en-US" sz="2400" kern="100" dirty="0">
                <a:latin typeface="Times New Roman" panose="02020603050405020304" pitchFamily="18" charset="0"/>
                <a:cs typeface="Times New Roman" panose="02020603050405020304" pitchFamily="18" charset="0"/>
              </a:rPr>
              <a:t>图</a:t>
            </a:r>
            <a:r>
              <a:rPr lang="en-US" altLang="zh-CN" sz="2400" kern="100" dirty="0">
                <a:latin typeface="Times New Roman" panose="02020603050405020304" pitchFamily="18" charset="0"/>
                <a:cs typeface="Times New Roman" panose="02020603050405020304" pitchFamily="18" charset="0"/>
              </a:rPr>
              <a:t>9.13  </a:t>
            </a:r>
            <a:r>
              <a:rPr lang="zh-CN" altLang="en-US" sz="2400" kern="100" dirty="0">
                <a:latin typeface="Times New Roman" panose="02020603050405020304" pitchFamily="18" charset="0"/>
                <a:cs typeface="Times New Roman" panose="02020603050405020304" pitchFamily="18" charset="0"/>
              </a:rPr>
              <a:t>通过双线性插值确定不在像素中心位置的邻域点</a:t>
            </a:r>
            <a:r>
              <a:rPr lang="en-US" altLang="zh-CN" sz="2400" kern="100" dirty="0">
                <a:latin typeface="Times New Roman" panose="02020603050405020304" pitchFamily="18" charset="0"/>
                <a:cs typeface="Times New Roman" panose="02020603050405020304" pitchFamily="18" charset="0"/>
              </a:rPr>
              <a:t>(</a:t>
            </a:r>
            <a:r>
              <a:rPr lang="zh-CN" altLang="en-US" sz="2400" kern="100" dirty="0">
                <a:latin typeface="Times New Roman" panose="02020603050405020304" pitchFamily="18" charset="0"/>
                <a:cs typeface="Times New Roman" panose="02020603050405020304" pitchFamily="18" charset="0"/>
              </a:rPr>
              <a:t>斜</a:t>
            </a:r>
            <a:r>
              <a:rPr lang="en-US" altLang="zh-CN" sz="2400" kern="100" dirty="0">
                <a:latin typeface="Times New Roman" panose="02020603050405020304" pitchFamily="18" charset="0"/>
                <a:cs typeface="Times New Roman" panose="02020603050405020304" pitchFamily="18" charset="0"/>
              </a:rPr>
              <a:t>45°</a:t>
            </a:r>
            <a:r>
              <a:rPr lang="zh-CN" altLang="en-US" sz="2400" kern="100" dirty="0">
                <a:latin typeface="Times New Roman" panose="02020603050405020304" pitchFamily="18" charset="0"/>
                <a:cs typeface="Times New Roman" panose="02020603050405020304" pitchFamily="18" charset="0"/>
              </a:rPr>
              <a:t>方向的四个大点</a:t>
            </a:r>
            <a:r>
              <a:rPr lang="en-US" altLang="zh-CN" sz="2400" kern="100" dirty="0">
                <a:latin typeface="Times New Roman" panose="02020603050405020304" pitchFamily="18" charset="0"/>
                <a:cs typeface="Times New Roman" panose="02020603050405020304" pitchFamily="18" charset="0"/>
              </a:rPr>
              <a:t>)</a:t>
            </a:r>
            <a:r>
              <a:rPr lang="zh-CN" altLang="en-US" sz="2400" kern="100" dirty="0">
                <a:latin typeface="Times New Roman" panose="02020603050405020304" pitchFamily="18" charset="0"/>
                <a:cs typeface="Times New Roman" panose="02020603050405020304" pitchFamily="18" charset="0"/>
              </a:rPr>
              <a:t>的值</a:t>
            </a:r>
            <a:endParaRPr lang="zh-CN" altLang="zh-CN" sz="3200" kern="100" dirty="0">
              <a:effectLst/>
              <a:latin typeface="Times New Roman" panose="02020603050405020304" pitchFamily="18" charset="0"/>
              <a:ea typeface="宋体" pitchFamily="2" charset="-122"/>
              <a:cs typeface="Times New Roman" panose="02020603050405020304" pitchFamily="18" charset="0"/>
            </a:endParaRPr>
          </a:p>
        </p:txBody>
      </p:sp>
      <p:sp>
        <p:nvSpPr>
          <p:cNvPr id="4" name="Rectangle 2"/>
          <p:cNvSpPr>
            <a:spLocks noChangeArrowheads="1"/>
          </p:cNvSpPr>
          <p:nvPr/>
        </p:nvSpPr>
        <p:spPr bwMode="auto">
          <a:xfrm>
            <a:off x="2124523" y="2384410"/>
            <a:ext cx="15996280" cy="48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2412554" y="2421170"/>
          <a:ext cx="3888432" cy="3400410"/>
        </p:xfrm>
        <a:graphic>
          <a:graphicData uri="http://schemas.openxmlformats.org/presentationml/2006/ole">
            <mc:AlternateContent xmlns:mc="http://schemas.openxmlformats.org/markup-compatibility/2006">
              <mc:Choice xmlns:v="urn:schemas-microsoft-com:vml" Requires="v">
                <p:oleObj spid="_x0000_s3" name="" r:id="rId2" imgW="3284220" imgH="2878455" progId="Visio.Drawing.11">
                  <p:embed/>
                </p:oleObj>
              </mc:Choice>
              <mc:Fallback>
                <p:oleObj name="" r:id="rId2" imgW="3284220" imgH="287845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554" y="2421170"/>
                        <a:ext cx="3888432" cy="3400410"/>
                      </a:xfrm>
                      <a:prstGeom prst="rect">
                        <a:avLst/>
                      </a:prstGeom>
                      <a:noFill/>
                    </p:spPr>
                  </p:pic>
                </p:oleObj>
              </mc:Fallback>
            </mc:AlternateContent>
          </a:graphicData>
        </a:graphic>
      </p:graphicFrame>
    </p:spTree>
  </p:cSld>
  <p:clrMapOvr>
    <a:masterClrMapping/>
  </p:clrMapOvr>
  <p:transition spd="slow" advClick="0" advTm="0">
    <p:wip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9.5</a:t>
            </a:r>
            <a:r>
              <a:rPr lang="zh-CN" altLang="en-US" sz="2100" b="1" dirty="0">
                <a:solidFill>
                  <a:schemeClr val="tx1">
                    <a:lumMod val="75000"/>
                    <a:lumOff val="25000"/>
                  </a:schemeClr>
                </a:solidFill>
                <a:latin typeface="微软雅黑" panose="020B0503020204020204" pitchFamily="34" charset="-122"/>
              </a:rPr>
              <a:t>局部二进制模式</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内容占位符 2"/>
          <p:cNvSpPr txBox="1">
            <a:spLocks noChangeArrowheads="1"/>
          </p:cNvSpPr>
          <p:nvPr/>
        </p:nvSpPr>
        <p:spPr bwMode="auto">
          <a:xfrm>
            <a:off x="360045" y="837565"/>
            <a:ext cx="8317230" cy="1489710"/>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4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sz="1800" kern="100" dirty="0">
                <a:latin typeface="Times New Roman" panose="02020603050405020304" pitchFamily="18" charset="0"/>
                <a:ea typeface="宋体" pitchFamily="2" charset="-122"/>
                <a:cs typeface="Times New Roman" panose="02020603050405020304" pitchFamily="18" charset="0"/>
              </a:rPr>
              <a:t>从 LBP 的定义可以看出，LBP算子不是旋转不变的。图像的旋转就会得到不同的 LBP值。所以 Maenpaa等人又将 LBP算子进行了扩展，提出了具有旋转不变性的 LBP 算子，即不断旋转圆形邻域得到一系列初始定义的 LBP值，取其最小值作为该邻域的 LBP 值。</a:t>
            </a:r>
            <a:endParaRPr lang="en-US" altLang="zh-CN" sz="1800" kern="100" dirty="0">
              <a:latin typeface="Times New Roman" panose="02020603050405020304" pitchFamily="18" charset="0"/>
              <a:ea typeface="宋体" pitchFamily="2" charset="-122"/>
              <a:cs typeface="Times New Roman" panose="02020603050405020304" pitchFamily="18" charset="0"/>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 name="图片 2"/>
          <p:cNvPicPr>
            <a:picLocks noChangeAspect="1"/>
          </p:cNvPicPr>
          <p:nvPr>
            <p:custDataLst>
              <p:tags r:id="rId1"/>
            </p:custDataLst>
          </p:nvPr>
        </p:nvPicPr>
        <p:blipFill>
          <a:blip r:embed="rId2"/>
          <a:stretch>
            <a:fillRect/>
          </a:stretch>
        </p:blipFill>
        <p:spPr>
          <a:xfrm>
            <a:off x="1620520" y="2277745"/>
            <a:ext cx="5999480" cy="3113405"/>
          </a:xfrm>
          <a:prstGeom prst="rect">
            <a:avLst/>
          </a:prstGeom>
        </p:spPr>
      </p:pic>
      <p:sp>
        <p:nvSpPr>
          <p:cNvPr id="4" name="内容占位符 2"/>
          <p:cNvSpPr txBox="1">
            <a:spLocks noChangeArrowheads="1"/>
          </p:cNvSpPr>
          <p:nvPr>
            <p:custDataLst>
              <p:tags r:id="rId3"/>
            </p:custDataLst>
          </p:nvPr>
        </p:nvSpPr>
        <p:spPr bwMode="auto">
          <a:xfrm>
            <a:off x="540385" y="5369560"/>
            <a:ext cx="8317230" cy="1489710"/>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sz="1800" kern="100" dirty="0">
                <a:latin typeface="Times New Roman" panose="02020603050405020304" pitchFamily="18" charset="0"/>
                <a:ea typeface="宋体" pitchFamily="2" charset="-122"/>
                <a:cs typeface="Times New Roman" panose="02020603050405020304" pitchFamily="18" charset="0"/>
              </a:rPr>
              <a:t>上图给出了求取旋转不变的 LBP 的过程示意图，算子下方的数字表示该算子对应的 LBP值，图中所示的 8 种 LBP模式，经过旋转不变的处理，最终得到的具有旋转不变性的 LBP值为 15。也就是说，图中的 8种 LBP 模式对应的旋转不变的 LBP模式都是 00001111。</a:t>
            </a:r>
            <a:endParaRPr lang="en-US" altLang="zh-CN" sz="1800"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9.5</a:t>
            </a:r>
            <a:r>
              <a:rPr lang="zh-CN" altLang="en-US" sz="2100" b="1" dirty="0">
                <a:solidFill>
                  <a:schemeClr val="tx1">
                    <a:lumMod val="75000"/>
                    <a:lumOff val="25000"/>
                  </a:schemeClr>
                </a:solidFill>
                <a:latin typeface="微软雅黑" panose="020B0503020204020204" pitchFamily="34" charset="-122"/>
              </a:rPr>
              <a:t>局部二进制模式</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内容占位符 2"/>
          <p:cNvSpPr txBox="1">
            <a:spLocks noChangeArrowheads="1"/>
          </p:cNvSpPr>
          <p:nvPr/>
        </p:nvSpPr>
        <p:spPr bwMode="auto">
          <a:xfrm>
            <a:off x="360045" y="1269365"/>
            <a:ext cx="8317230" cy="1489710"/>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sz="1800" kern="100" dirty="0">
                <a:latin typeface="Times New Roman" panose="02020603050405020304" pitchFamily="18" charset="0"/>
                <a:ea typeface="宋体" pitchFamily="2" charset="-122"/>
                <a:cs typeface="Times New Roman" panose="02020603050405020304" pitchFamily="18" charset="0"/>
              </a:rPr>
              <a:t>通过LBP特征的定义，可见LBP特征对光照变化是鲁棒的，效果如图</a:t>
            </a:r>
            <a:endParaRPr lang="en-US" altLang="zh-CN" sz="1800" kern="100" dirty="0">
              <a:latin typeface="Times New Roman" panose="02020603050405020304" pitchFamily="18" charset="0"/>
              <a:ea typeface="宋体" pitchFamily="2" charset="-122"/>
              <a:cs typeface="Times New Roman" panose="02020603050405020304" pitchFamily="18" charset="0"/>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5" name="图片 4"/>
          <p:cNvPicPr>
            <a:picLocks noChangeAspect="1"/>
          </p:cNvPicPr>
          <p:nvPr>
            <p:custDataLst>
              <p:tags r:id="rId1"/>
            </p:custDataLst>
          </p:nvPr>
        </p:nvPicPr>
        <p:blipFill>
          <a:blip r:embed="rId2"/>
          <a:stretch>
            <a:fillRect/>
          </a:stretch>
        </p:blipFill>
        <p:spPr>
          <a:xfrm>
            <a:off x="2104390" y="2781300"/>
            <a:ext cx="4936490" cy="2842260"/>
          </a:xfrm>
          <a:prstGeom prst="rect">
            <a:avLst/>
          </a:prstGeom>
        </p:spPr>
      </p:pic>
    </p:spTree>
  </p:cSld>
  <p:clrMapOvr>
    <a:masterClrMapping/>
  </p:clrMapOvr>
  <p:transition spd="slow" advClick="0" advTm="0">
    <p:wip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9.5</a:t>
            </a:r>
            <a:r>
              <a:rPr lang="zh-CN" altLang="en-US" sz="2100" b="1" dirty="0">
                <a:solidFill>
                  <a:schemeClr val="tx1">
                    <a:lumMod val="75000"/>
                    <a:lumOff val="25000"/>
                  </a:schemeClr>
                </a:solidFill>
                <a:latin typeface="微软雅黑" panose="020B0503020204020204" pitchFamily="34" charset="-122"/>
              </a:rPr>
              <a:t>局部二进制模式</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内容占位符 2"/>
          <p:cNvSpPr txBox="1">
            <a:spLocks noChangeArrowheads="1"/>
          </p:cNvSpPr>
          <p:nvPr/>
        </p:nvSpPr>
        <p:spPr bwMode="auto">
          <a:xfrm>
            <a:off x="360326" y="837506"/>
            <a:ext cx="8316924"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9.5.3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统一化</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LBP</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算子</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——Uniform LBP</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及其</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Python</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实现</a:t>
            </a:r>
            <a:endParaRPr lang="en-US" altLang="zh-CN"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利用标准</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算子将会得到一个过于稀疏的直方图，从而使直方图失去统计意义。</a:t>
            </a:r>
            <a:r>
              <a:rPr lang="zh-CN" altLang="en-US" kern="100" dirty="0">
                <a:solidFill>
                  <a:srgbClr val="FF0000"/>
                </a:solidFill>
                <a:latin typeface="Times New Roman" panose="02020603050405020304" pitchFamily="18" charset="0"/>
                <a:ea typeface="宋体" pitchFamily="2" charset="-122"/>
                <a:cs typeface="Times New Roman" panose="02020603050405020304" pitchFamily="18" charset="0"/>
              </a:rPr>
              <a:t>因此应设法减少一些冗余的</a:t>
            </a:r>
            <a:r>
              <a:rPr lang="en-US" altLang="zh-CN" kern="100" dirty="0">
                <a:solidFill>
                  <a:srgbClr val="FF0000"/>
                </a:solidFill>
                <a:latin typeface="Times New Roman" panose="02020603050405020304" pitchFamily="18" charset="0"/>
                <a:ea typeface="宋体" pitchFamily="2" charset="-122"/>
                <a:cs typeface="Times New Roman" panose="02020603050405020304" pitchFamily="18" charset="0"/>
              </a:rPr>
              <a:t>LBP</a:t>
            </a:r>
            <a:r>
              <a:rPr lang="zh-CN" altLang="en-US" kern="100" dirty="0">
                <a:solidFill>
                  <a:srgbClr val="FF0000"/>
                </a:solidFill>
                <a:latin typeface="Times New Roman" panose="02020603050405020304" pitchFamily="18" charset="0"/>
                <a:ea typeface="宋体" pitchFamily="2" charset="-122"/>
                <a:cs typeface="Times New Roman" panose="02020603050405020304" pitchFamily="18" charset="0"/>
              </a:rPr>
              <a:t>模式，同时又保留足够的具有重要描绘能力的模式</a:t>
            </a:r>
            <a:r>
              <a:rPr lang="zh-CN" altLang="en-US" kern="100" dirty="0">
                <a:latin typeface="Times New Roman" panose="02020603050405020304" pitchFamily="18" charset="0"/>
                <a:ea typeface="宋体" pitchFamily="2" charset="-122"/>
                <a:cs typeface="Times New Roman" panose="02020603050405020304" pitchFamily="18" charset="0"/>
              </a:rPr>
              <a:t>。为此研究者提出了统一化模式</a:t>
            </a:r>
            <a:r>
              <a:rPr lang="en-US" altLang="zh-CN" kern="100" dirty="0">
                <a:latin typeface="Times New Roman" panose="02020603050405020304" pitchFamily="18" charset="0"/>
                <a:ea typeface="宋体" pitchFamily="2" charset="-122"/>
                <a:cs typeface="Times New Roman" panose="02020603050405020304" pitchFamily="18" charset="0"/>
              </a:rPr>
              <a:t>(uniform patterns)</a:t>
            </a:r>
            <a:r>
              <a:rPr lang="zh-CN" altLang="en-US" kern="100" dirty="0">
                <a:latin typeface="Times New Roman" panose="02020603050405020304" pitchFamily="18" charset="0"/>
                <a:ea typeface="宋体" pitchFamily="2" charset="-122"/>
                <a:cs typeface="Times New Roman" panose="02020603050405020304" pitchFamily="18" charset="0"/>
              </a:rPr>
              <a:t>的概念。</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a:spLocks noChangeArrowheads="1"/>
          </p:cNvSpPr>
          <p:nvPr/>
        </p:nvSpPr>
        <p:spPr bwMode="auto">
          <a:xfrm>
            <a:off x="396330" y="3186857"/>
            <a:ext cx="2304255" cy="530969"/>
          </a:xfrm>
          <a:prstGeom prst="rect">
            <a:avLst/>
          </a:prstGeom>
          <a:noFill/>
          <a:ln>
            <a:noFill/>
          </a:ln>
          <a:effectLst/>
        </p:spPr>
        <p:txBody>
          <a:bodyPr lIns="91419" tIns="45709" rIns="91419" bIns="45709"/>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latin typeface="黑体" panose="02010609060101010101" pitchFamily="49" charset="-122"/>
                <a:ea typeface="黑体" panose="02010609060101010101" pitchFamily="49" charset="-122"/>
                <a:cs typeface="+mj-cs"/>
              </a:rPr>
              <a:t>理论基础</a:t>
            </a:r>
            <a:endParaRPr lang="zh-CN" altLang="en-US" sz="1600" b="1" dirty="0">
              <a:latin typeface="黑体" panose="02010609060101010101" pitchFamily="49" charset="-122"/>
              <a:ea typeface="黑体" panose="02010609060101010101" pitchFamily="49" charset="-122"/>
            </a:endParaRPr>
          </a:p>
        </p:txBody>
      </p:sp>
      <p:sp>
        <p:nvSpPr>
          <p:cNvPr id="13" name="内容占位符 2"/>
          <p:cNvSpPr txBox="1">
            <a:spLocks noChangeArrowheads="1"/>
          </p:cNvSpPr>
          <p:nvPr/>
        </p:nvSpPr>
        <p:spPr bwMode="auto">
          <a:xfrm>
            <a:off x="396330" y="3257278"/>
            <a:ext cx="8316925"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对于一个局部二进制模式，在将其二进制位串视为循环的情况下，如果其中包含的从</a:t>
            </a:r>
            <a:r>
              <a:rPr lang="en-US" altLang="zh-CN" kern="100" dirty="0">
                <a:latin typeface="Times New Roman" panose="02020603050405020304" pitchFamily="18" charset="0"/>
                <a:ea typeface="宋体" pitchFamily="2" charset="-122"/>
                <a:cs typeface="Times New Roman" panose="02020603050405020304" pitchFamily="18" charset="0"/>
              </a:rPr>
              <a:t>0</a:t>
            </a:r>
            <a:r>
              <a:rPr lang="zh-CN" altLang="en-US" kern="100" dirty="0">
                <a:latin typeface="Times New Roman" panose="02020603050405020304" pitchFamily="18" charset="0"/>
                <a:ea typeface="宋体" pitchFamily="2" charset="-122"/>
                <a:cs typeface="Times New Roman" panose="02020603050405020304" pitchFamily="18" charset="0"/>
              </a:rPr>
              <a:t>到</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或者从</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到</a:t>
            </a:r>
            <a:r>
              <a:rPr lang="en-US" altLang="zh-CN" kern="100" dirty="0">
                <a:latin typeface="Times New Roman" panose="02020603050405020304" pitchFamily="18" charset="0"/>
                <a:ea typeface="宋体" pitchFamily="2" charset="-122"/>
                <a:cs typeface="Times New Roman" panose="02020603050405020304" pitchFamily="18" charset="0"/>
              </a:rPr>
              <a:t>0</a:t>
            </a:r>
            <a:r>
              <a:rPr lang="zh-CN" altLang="en-US" kern="100" dirty="0">
                <a:latin typeface="Times New Roman" panose="02020603050405020304" pitchFamily="18" charset="0"/>
                <a:ea typeface="宋体" pitchFamily="2" charset="-122"/>
                <a:cs typeface="Times New Roman" panose="02020603050405020304" pitchFamily="18" charset="0"/>
              </a:rPr>
              <a:t>转变不多于两个，则称这个局部二进制模式为统一化模式</a:t>
            </a:r>
            <a:r>
              <a:rPr lang="en-US" altLang="zh-CN" kern="100" dirty="0">
                <a:latin typeface="Times New Roman" panose="02020603050405020304" pitchFamily="18" charset="0"/>
                <a:ea typeface="宋体" pitchFamily="2" charset="-122"/>
                <a:cs typeface="Times New Roman" panose="02020603050405020304" pitchFamily="18" charset="0"/>
              </a:rPr>
              <a:t>(uniform patterns)</a:t>
            </a:r>
            <a:r>
              <a:rPr lang="zh-CN" altLang="en-US" kern="100" dirty="0">
                <a:latin typeface="Times New Roman" panose="02020603050405020304" pitchFamily="18" charset="0"/>
                <a:ea typeface="宋体" pitchFamily="2" charset="-122"/>
                <a:cs typeface="Times New Roman" panose="02020603050405020304" pitchFamily="18" charset="0"/>
              </a:rPr>
              <a:t>。</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统一化模式的意义在于：在随后的</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直方图的计算过程中，只为统一化模式分配单独的直方图收集箱而所有的非统一化模式都被放入一个公用收集箱，这就使</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特征的数目大大减少。</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a:spLocks noChangeArrowheads="1"/>
          </p:cNvSpPr>
          <p:nvPr/>
        </p:nvSpPr>
        <p:spPr bwMode="auto">
          <a:xfrm>
            <a:off x="396330" y="1125538"/>
            <a:ext cx="8228013" cy="530969"/>
          </a:xfrm>
          <a:prstGeom prst="rect">
            <a:avLst/>
          </a:prstGeom>
          <a:noFill/>
          <a:ln>
            <a:noFill/>
          </a:ln>
          <a:effectLst/>
        </p:spPr>
        <p:txBody>
          <a:bodyPr lIns="91419" tIns="45709" rIns="91419" bIns="45709"/>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en-US" altLang="zh-CN" b="1" dirty="0">
                <a:solidFill>
                  <a:srgbClr val="000000"/>
                </a:solidFill>
                <a:latin typeface="Times New Roman" panose="02020603050405020304" pitchFamily="18" charset="0"/>
                <a:cs typeface="Times New Roman" panose="02020603050405020304" pitchFamily="18" charset="0"/>
              </a:rPr>
              <a:t>Python</a:t>
            </a:r>
            <a:r>
              <a:rPr lang="zh-CN" altLang="en-US" b="1" dirty="0">
                <a:solidFill>
                  <a:srgbClr val="000000"/>
                </a:solidFill>
                <a:latin typeface="Times New Roman" panose="02020603050405020304" pitchFamily="18" charset="0"/>
                <a:cs typeface="Times New Roman" panose="02020603050405020304" pitchFamily="18" charset="0"/>
              </a:rPr>
              <a:t>实现</a:t>
            </a:r>
            <a:endParaRPr lang="zh-CN" altLang="en-US" sz="16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文本框 11"/>
          <p:cNvSpPr txBox="1"/>
          <p:nvPr/>
        </p:nvSpPr>
        <p:spPr>
          <a:xfrm>
            <a:off x="406612" y="1628155"/>
            <a:ext cx="4585316" cy="461665"/>
          </a:xfrm>
          <a:prstGeom prst="rect">
            <a:avLst/>
          </a:prstGeom>
          <a:noFill/>
        </p:spPr>
        <p:txBody>
          <a:bodyPr wrap="square">
            <a:spAutoFit/>
          </a:bodyPr>
          <a:lstStyle/>
          <a:p>
            <a:pPr indent="266700" algn="just"/>
            <a:r>
              <a:rPr lang="en-US" altLang="zh-CN" sz="2400" kern="100" dirty="0">
                <a:effectLst/>
                <a:latin typeface="Times New Roman" panose="02020603050405020304" pitchFamily="18" charset="0"/>
                <a:ea typeface="宋体" pitchFamily="2" charset="-122"/>
                <a:cs typeface="Times New Roman" panose="02020603050405020304" pitchFamily="18" charset="0"/>
              </a:rPr>
              <a:t>Uniform LBP</a:t>
            </a:r>
            <a:r>
              <a:rPr lang="zh-CN" altLang="zh-CN" sz="2400" kern="100" dirty="0">
                <a:effectLst/>
                <a:latin typeface="Times New Roman" panose="02020603050405020304" pitchFamily="18" charset="0"/>
                <a:ea typeface="宋体" pitchFamily="2" charset="-122"/>
                <a:cs typeface="Times New Roman" panose="02020603050405020304" pitchFamily="18" charset="0"/>
              </a:rPr>
              <a:t>相应的代码如下：</a:t>
            </a:r>
            <a:endParaRPr lang="zh-CN" altLang="zh-CN" sz="2400" kern="100" dirty="0">
              <a:effectLst/>
              <a:latin typeface="Times New Roman" panose="02020603050405020304" pitchFamily="18" charset="0"/>
              <a:ea typeface="宋体" pitchFamily="2" charset="-122"/>
              <a:cs typeface="Times New Roman" panose="02020603050405020304" pitchFamily="18" charset="0"/>
            </a:endParaRPr>
          </a:p>
        </p:txBody>
      </p:sp>
      <p:sp>
        <p:nvSpPr>
          <p:cNvPr id="17" name="文本框 16"/>
          <p:cNvSpPr txBox="1"/>
          <p:nvPr/>
        </p:nvSpPr>
        <p:spPr>
          <a:xfrm>
            <a:off x="468338" y="2066755"/>
            <a:ext cx="7992888" cy="4031873"/>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import </a:t>
            </a:r>
            <a:r>
              <a:rPr lang="en-US" altLang="zh-CN" sz="1600" kern="100" dirty="0" err="1">
                <a:solidFill>
                  <a:srgbClr val="000000"/>
                </a:solidFill>
                <a:effectLst/>
                <a:latin typeface="Times New Roman" panose="02020603050405020304" pitchFamily="18" charset="0"/>
                <a:ea typeface="宋体" pitchFamily="2" charset="-122"/>
              </a:rPr>
              <a:t>numpy</a:t>
            </a:r>
            <a:r>
              <a:rPr lang="en-US" altLang="zh-CN" sz="1600" kern="100" dirty="0">
                <a:solidFill>
                  <a:srgbClr val="000000"/>
                </a:solidFill>
                <a:effectLst/>
                <a:latin typeface="Times New Roman" panose="02020603050405020304" pitchFamily="18" charset="0"/>
                <a:ea typeface="宋体" pitchFamily="2" charset="-122"/>
              </a:rPr>
              <a:t> as np</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import cv2</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import </a:t>
            </a:r>
            <a:r>
              <a:rPr lang="en-US" altLang="zh-CN" sz="1600" kern="100" dirty="0" err="1">
                <a:solidFill>
                  <a:srgbClr val="000000"/>
                </a:solidFill>
                <a:effectLst/>
                <a:latin typeface="Times New Roman" panose="02020603050405020304" pitchFamily="18" charset="0"/>
                <a:ea typeface="宋体" pitchFamily="2" charset="-122"/>
              </a:rPr>
              <a:t>os</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effectLst/>
                <a:latin typeface="Times New Roman" panose="02020603050405020304" pitchFamily="18" charset="0"/>
                <a:ea typeface="宋体" pitchFamily="2" charset="-122"/>
              </a:rPr>
              <a:t> </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np.set_printoptions</a:t>
            </a:r>
            <a:r>
              <a:rPr lang="en-US" altLang="zh-CN" sz="1600" kern="100" dirty="0">
                <a:solidFill>
                  <a:srgbClr val="000000"/>
                </a:solidFill>
                <a:effectLst/>
                <a:latin typeface="Times New Roman" panose="02020603050405020304" pitchFamily="18" charset="0"/>
                <a:ea typeface="宋体" pitchFamily="2" charset="-122"/>
              </a:rPr>
              <a:t>(threshold=1e6)</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arry_58():</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l = </a:t>
            </a:r>
            <a:r>
              <a:rPr lang="en-US" altLang="zh-CN" sz="1600" kern="100" dirty="0" err="1">
                <a:solidFill>
                  <a:srgbClr val="000000"/>
                </a:solidFill>
                <a:effectLst/>
                <a:latin typeface="Times New Roman" panose="02020603050405020304" pitchFamily="18" charset="0"/>
                <a:ea typeface="宋体" pitchFamily="2" charset="-122"/>
              </a:rPr>
              <a:t>np.zeros</a:t>
            </a:r>
            <a:r>
              <a:rPr lang="en-US" altLang="zh-CN" sz="1600" kern="100" dirty="0">
                <a:solidFill>
                  <a:srgbClr val="000000"/>
                </a:solidFill>
                <a:effectLst/>
                <a:latin typeface="Times New Roman" panose="02020603050405020304" pitchFamily="18" charset="0"/>
                <a:ea typeface="宋体" pitchFamily="2" charset="-122"/>
              </a:rPr>
              <a:t>(58, </a:t>
            </a:r>
            <a:r>
              <a:rPr lang="en-US" altLang="zh-CN" sz="1600" kern="100" dirty="0" err="1">
                <a:solidFill>
                  <a:srgbClr val="000000"/>
                </a:solidFill>
                <a:effectLst/>
                <a:latin typeface="Times New Roman" panose="02020603050405020304" pitchFamily="18" charset="0"/>
                <a:ea typeface="宋体" pitchFamily="2" charset="-122"/>
              </a:rPr>
              <a:t>dtype</a:t>
            </a:r>
            <a:r>
              <a:rPr lang="en-US" altLang="zh-CN" sz="1600" kern="100" dirty="0">
                <a:solidFill>
                  <a:srgbClr val="000000"/>
                </a:solidFill>
                <a:effectLst/>
                <a:latin typeface="Times New Roman" panose="02020603050405020304" pitchFamily="18" charset="0"/>
                <a:ea typeface="宋体" pitchFamily="2" charset="-122"/>
              </a:rPr>
              <a:t>=int)</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m = []</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 = -1</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for </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in range(256):</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bit = '{:08b}'.format(</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 </a:t>
            </a:r>
            <a:r>
              <a:rPr lang="zh-CN" altLang="zh-CN" sz="1600" kern="100" dirty="0">
                <a:solidFill>
                  <a:srgbClr val="000000"/>
                </a:solidFill>
                <a:effectLst/>
                <a:latin typeface="Times New Roman" panose="02020603050405020304" pitchFamily="18" charset="0"/>
                <a:ea typeface="宋体" pitchFamily="2" charset="-122"/>
              </a:rPr>
              <a:t>二进制化</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arry</a:t>
            </a:r>
            <a:r>
              <a:rPr lang="en-US" altLang="zh-CN" sz="1600" kern="100" dirty="0">
                <a:solidFill>
                  <a:srgbClr val="000000"/>
                </a:solidFill>
                <a:effectLst/>
                <a:latin typeface="Times New Roman" panose="02020603050405020304" pitchFamily="18" charset="0"/>
                <a:ea typeface="宋体" pitchFamily="2" charset="-122"/>
              </a:rPr>
              <a:t> = []  	                     # </a:t>
            </a:r>
            <a:r>
              <a:rPr lang="zh-CN" altLang="zh-CN" sz="1600" kern="100" dirty="0">
                <a:solidFill>
                  <a:srgbClr val="000000"/>
                </a:solidFill>
                <a:effectLst/>
                <a:latin typeface="Times New Roman" panose="02020603050405020304" pitchFamily="18" charset="0"/>
                <a:ea typeface="宋体" pitchFamily="2" charset="-122"/>
              </a:rPr>
              <a:t>二进制生成数组</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count = 0  	                     # </a:t>
            </a:r>
            <a:r>
              <a:rPr lang="zh-CN" altLang="zh-CN" sz="1600" kern="100" dirty="0">
                <a:solidFill>
                  <a:srgbClr val="000000"/>
                </a:solidFill>
                <a:effectLst/>
                <a:latin typeface="Times New Roman" panose="02020603050405020304" pitchFamily="18" charset="0"/>
                <a:ea typeface="宋体" pitchFamily="2" charset="-122"/>
              </a:rPr>
              <a:t>计数变化次数</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for x in range(</a:t>
            </a:r>
            <a:r>
              <a:rPr lang="en-US" altLang="zh-CN" sz="1600" kern="100" dirty="0" err="1">
                <a:solidFill>
                  <a:srgbClr val="000000"/>
                </a:solidFill>
                <a:effectLst/>
                <a:latin typeface="Times New Roman" panose="02020603050405020304" pitchFamily="18" charset="0"/>
                <a:ea typeface="宋体" pitchFamily="2" charset="-122"/>
              </a:rPr>
              <a:t>len</a:t>
            </a:r>
            <a:r>
              <a:rPr lang="en-US" altLang="zh-CN" sz="1600" kern="100" dirty="0">
                <a:solidFill>
                  <a:srgbClr val="000000"/>
                </a:solidFill>
                <a:effectLst/>
                <a:latin typeface="Times New Roman" panose="02020603050405020304" pitchFamily="18" charset="0"/>
                <a:ea typeface="宋体" pitchFamily="2" charset="-122"/>
              </a:rPr>
              <a:t>(bit)):	# </a:t>
            </a:r>
            <a:r>
              <a:rPr lang="zh-CN" altLang="zh-CN" sz="1600" kern="100" dirty="0">
                <a:solidFill>
                  <a:srgbClr val="000000"/>
                </a:solidFill>
                <a:effectLst/>
                <a:latin typeface="Times New Roman" panose="02020603050405020304" pitchFamily="18" charset="0"/>
                <a:ea typeface="宋体" pitchFamily="2" charset="-122"/>
              </a:rPr>
              <a:t>把字符串变为数组方便统计变化次数</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arry.append</a:t>
            </a:r>
            <a:r>
              <a:rPr lang="en-US" altLang="zh-CN" sz="1600" kern="100" dirty="0">
                <a:solidFill>
                  <a:srgbClr val="000000"/>
                </a:solidFill>
                <a:effectLst/>
                <a:latin typeface="Times New Roman" panose="02020603050405020304" pitchFamily="18" charset="0"/>
                <a:ea typeface="宋体" pitchFamily="2" charset="-122"/>
              </a:rPr>
              <a:t>(int(bit[x]))</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first = </a:t>
            </a:r>
            <a:r>
              <a:rPr lang="en-US" altLang="zh-CN" sz="1600" kern="100" dirty="0" err="1">
                <a:solidFill>
                  <a:srgbClr val="000000"/>
                </a:solidFill>
                <a:effectLst/>
                <a:latin typeface="Times New Roman" panose="02020603050405020304" pitchFamily="18" charset="0"/>
                <a:ea typeface="宋体" pitchFamily="2" charset="-122"/>
              </a:rPr>
              <a:t>arry</a:t>
            </a:r>
            <a:r>
              <a:rPr lang="en-US" altLang="zh-CN" sz="1600" kern="100" dirty="0">
                <a:solidFill>
                  <a:srgbClr val="000000"/>
                </a:solidFill>
                <a:effectLst/>
                <a:latin typeface="Times New Roman" panose="02020603050405020304" pitchFamily="18" charset="0"/>
                <a:ea typeface="宋体" pitchFamily="2" charset="-122"/>
              </a:rPr>
              <a:t>[0]  			</a:t>
            </a:r>
            <a:endParaRPr lang="zh-CN" altLang="zh-CN" sz="16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125538"/>
            <a:ext cx="4585316" cy="461665"/>
          </a:xfrm>
          <a:prstGeom prst="rect">
            <a:avLst/>
          </a:prstGeom>
          <a:noFill/>
        </p:spPr>
        <p:txBody>
          <a:bodyPr wrap="square">
            <a:spAutoFit/>
          </a:bodyPr>
          <a:lstStyle/>
          <a:p>
            <a:pPr indent="266700" algn="just"/>
            <a:r>
              <a:rPr lang="en-US" altLang="zh-CN" sz="2400" kern="100" dirty="0">
                <a:effectLst/>
                <a:latin typeface="Times New Roman" panose="02020603050405020304" pitchFamily="18" charset="0"/>
                <a:ea typeface="宋体" pitchFamily="2" charset="-122"/>
              </a:rPr>
              <a:t>Uniform LBP</a:t>
            </a:r>
            <a:r>
              <a:rPr lang="zh-CN" altLang="zh-CN" sz="2400" kern="100" dirty="0">
                <a:effectLst/>
                <a:latin typeface="Times New Roman" panose="02020603050405020304" pitchFamily="18" charset="0"/>
                <a:ea typeface="宋体" pitchFamily="2" charset="-122"/>
              </a:rPr>
              <a:t>相应的代码如下：</a:t>
            </a:r>
            <a:endParaRPr lang="zh-CN" altLang="zh-CN" sz="2400" kern="100" dirty="0">
              <a:effectLst/>
              <a:latin typeface="Times New Roman" panose="02020603050405020304" pitchFamily="18" charset="0"/>
              <a:ea typeface="宋体" pitchFamily="2" charset="-122"/>
            </a:endParaRPr>
          </a:p>
        </p:txBody>
      </p:sp>
      <p:sp>
        <p:nvSpPr>
          <p:cNvPr id="11" name="文本框 10"/>
          <p:cNvSpPr txBox="1"/>
          <p:nvPr/>
        </p:nvSpPr>
        <p:spPr>
          <a:xfrm>
            <a:off x="756370" y="1591841"/>
            <a:ext cx="7632848" cy="5078313"/>
          </a:xfrm>
          <a:prstGeom prst="rect">
            <a:avLst/>
          </a:prstGeom>
          <a:solidFill>
            <a:srgbClr val="C7C7C7"/>
          </a:solidFill>
        </p:spPr>
        <p:txBody>
          <a:bodyPr wrap="square">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 for j in range(1, </a:t>
            </a:r>
            <a:r>
              <a:rPr lang="en-US" altLang="zh-CN" sz="1800" kern="100" dirty="0" err="1">
                <a:solidFill>
                  <a:srgbClr val="000000"/>
                </a:solidFill>
                <a:effectLst/>
                <a:latin typeface="Times New Roman" panose="02020603050405020304" pitchFamily="18" charset="0"/>
                <a:ea typeface="宋体" pitchFamily="2" charset="-122"/>
              </a:rPr>
              <a:t>len</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arry</a:t>
            </a:r>
            <a:r>
              <a:rPr lang="en-US"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if </a:t>
            </a:r>
            <a:r>
              <a:rPr lang="en-US" altLang="zh-CN" sz="1800" kern="100" dirty="0" err="1">
                <a:solidFill>
                  <a:srgbClr val="000000"/>
                </a:solidFill>
                <a:effectLst/>
                <a:latin typeface="Times New Roman" panose="02020603050405020304" pitchFamily="18" charset="0"/>
                <a:ea typeface="宋体" pitchFamily="2" charset="-122"/>
              </a:rPr>
              <a:t>arry</a:t>
            </a:r>
            <a:r>
              <a:rPr lang="en-US" altLang="zh-CN" sz="1800" kern="100" dirty="0">
                <a:solidFill>
                  <a:srgbClr val="000000"/>
                </a:solidFill>
                <a:effectLst/>
                <a:latin typeface="Times New Roman" panose="02020603050405020304" pitchFamily="18" charset="0"/>
                <a:ea typeface="宋体" pitchFamily="2" charset="-122"/>
              </a:rPr>
              <a:t>[j] != first: 	# </a:t>
            </a:r>
            <a:r>
              <a:rPr lang="zh-CN" altLang="zh-CN" sz="1800" kern="100" dirty="0">
                <a:solidFill>
                  <a:srgbClr val="000000"/>
                </a:solidFill>
                <a:effectLst/>
                <a:latin typeface="Times New Roman" panose="02020603050405020304" pitchFamily="18" charset="0"/>
                <a:ea typeface="宋体" pitchFamily="2" charset="-122"/>
              </a:rPr>
              <a:t>如果变化，计数单位加</a:t>
            </a:r>
            <a:r>
              <a:rPr lang="en-US" altLang="zh-CN" sz="1800" kern="100" dirty="0">
                <a:solidFill>
                  <a:srgbClr val="000000"/>
                </a:solidFill>
                <a:effectLst/>
                <a:latin typeface="Times New Roman" panose="02020603050405020304" pitchFamily="18" charset="0"/>
                <a:ea typeface="宋体" pitchFamily="2" charset="-122"/>
              </a:rPr>
              <a:t>1</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count += 1</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first = </a:t>
            </a:r>
            <a:r>
              <a:rPr lang="en-US" altLang="zh-CN" sz="1800" kern="100" dirty="0" err="1">
                <a:solidFill>
                  <a:srgbClr val="000000"/>
                </a:solidFill>
                <a:effectLst/>
                <a:latin typeface="Times New Roman" panose="02020603050405020304" pitchFamily="18" charset="0"/>
                <a:ea typeface="宋体" pitchFamily="2" charset="-122"/>
              </a:rPr>
              <a:t>arry</a:t>
            </a:r>
            <a:r>
              <a:rPr lang="en-US" altLang="zh-CN" sz="1800" kern="100" dirty="0">
                <a:solidFill>
                  <a:srgbClr val="000000"/>
                </a:solidFill>
                <a:effectLst/>
                <a:latin typeface="Times New Roman" panose="02020603050405020304" pitchFamily="18" charset="0"/>
                <a:ea typeface="宋体" pitchFamily="2" charset="-122"/>
              </a:rPr>
              <a:t>[j]  	# </a:t>
            </a:r>
            <a:r>
              <a:rPr lang="zh-CN" altLang="zh-CN" sz="1800" kern="100" dirty="0">
                <a:solidFill>
                  <a:srgbClr val="000000"/>
                </a:solidFill>
                <a:effectLst/>
                <a:latin typeface="Times New Roman" panose="02020603050405020304" pitchFamily="18" charset="0"/>
                <a:ea typeface="宋体" pitchFamily="2" charset="-122"/>
              </a:rPr>
              <a:t>并且把变化的值重新赋值</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 print(count)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if count &lt;= 2:  		# </a:t>
            </a:r>
            <a:r>
              <a:rPr lang="zh-CN" altLang="zh-CN" sz="1800" kern="100" dirty="0">
                <a:solidFill>
                  <a:srgbClr val="000000"/>
                </a:solidFill>
                <a:effectLst/>
                <a:latin typeface="Times New Roman" panose="02020603050405020304" pitchFamily="18" charset="0"/>
                <a:ea typeface="宋体" pitchFamily="2" charset="-122"/>
              </a:rPr>
              <a:t>如果变化次数小于</a:t>
            </a:r>
            <a:r>
              <a:rPr lang="en-US" altLang="zh-CN" sz="1800" kern="100" dirty="0">
                <a:solidFill>
                  <a:srgbClr val="000000"/>
                </a:solidFill>
                <a:effectLst/>
                <a:latin typeface="Times New Roman" panose="02020603050405020304" pitchFamily="18" charset="0"/>
                <a:ea typeface="宋体" pitchFamily="2" charset="-122"/>
              </a:rPr>
              <a:t>2</a:t>
            </a:r>
            <a:r>
              <a:rPr lang="zh-CN" altLang="zh-CN" sz="1800" kern="100" dirty="0">
                <a:solidFill>
                  <a:srgbClr val="000000"/>
                </a:solidFill>
                <a:effectLst/>
                <a:latin typeface="Times New Roman" panose="02020603050405020304" pitchFamily="18" charset="0"/>
                <a:ea typeface="宋体" pitchFamily="2" charset="-122"/>
              </a:rPr>
              <a:t>，则依次排序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a += 1</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 print(</a:t>
            </a:r>
            <a:r>
              <a:rPr lang="en-US" altLang="zh-CN" sz="1800" kern="100" dirty="0" err="1">
                <a:solidFill>
                  <a:srgbClr val="000000"/>
                </a:solidFill>
                <a:effectLst/>
                <a:latin typeface="Times New Roman" panose="02020603050405020304" pitchFamily="18" charset="0"/>
                <a:ea typeface="宋体" pitchFamily="2" charset="-122"/>
              </a:rPr>
              <a:t>i</a:t>
            </a:r>
            <a:r>
              <a:rPr lang="en-US"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l[a] = </a:t>
            </a:r>
            <a:r>
              <a:rPr lang="en-US" altLang="zh-CN" sz="1800" kern="100" dirty="0" err="1">
                <a:solidFill>
                  <a:srgbClr val="000000"/>
                </a:solidFill>
                <a:effectLst/>
                <a:latin typeface="Times New Roman" panose="02020603050405020304" pitchFamily="18" charset="0"/>
                <a:ea typeface="宋体" pitchFamily="2" charset="-122"/>
              </a:rPr>
              <a:t>i</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l = </a:t>
            </a:r>
            <a:r>
              <a:rPr lang="en-US" altLang="zh-CN" sz="1800" kern="100" dirty="0" err="1">
                <a:solidFill>
                  <a:srgbClr val="000000"/>
                </a:solidFill>
                <a:effectLst/>
                <a:latin typeface="Times New Roman" panose="02020603050405020304" pitchFamily="18" charset="0"/>
                <a:ea typeface="宋体" pitchFamily="2" charset="-122"/>
              </a:rPr>
              <a:t>l.tolist</a:t>
            </a:r>
            <a:r>
              <a:rPr lang="en-US"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return l</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def </a:t>
            </a:r>
            <a:r>
              <a:rPr lang="en-US" altLang="zh-CN" sz="1800" kern="100" dirty="0" err="1">
                <a:solidFill>
                  <a:srgbClr val="000000"/>
                </a:solidFill>
                <a:effectLst/>
                <a:latin typeface="Times New Roman" panose="02020603050405020304" pitchFamily="18" charset="0"/>
                <a:ea typeface="宋体" pitchFamily="2" charset="-122"/>
              </a:rPr>
              <a:t>uniform_LBP</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h, w = </a:t>
            </a:r>
            <a:r>
              <a:rPr lang="en-US" altLang="zh-CN" sz="1800" kern="100" dirty="0" err="1">
                <a:solidFill>
                  <a:srgbClr val="000000"/>
                </a:solidFill>
                <a:effectLst/>
                <a:latin typeface="Times New Roman" panose="02020603050405020304" pitchFamily="18" charset="0"/>
                <a:ea typeface="宋体" pitchFamily="2" charset="-122"/>
              </a:rPr>
              <a:t>img.shape</a:t>
            </a:r>
            <a:r>
              <a:rPr lang="en-US" altLang="zh-CN" sz="1800" kern="100" dirty="0">
                <a:solidFill>
                  <a:srgbClr val="000000"/>
                </a:solidFill>
                <a:effectLst/>
                <a:latin typeface="Times New Roman" panose="02020603050405020304" pitchFamily="18" charset="0"/>
                <a:ea typeface="宋体" pitchFamily="2" charset="-122"/>
              </a:rPr>
              <a:t>  		           # </a:t>
            </a:r>
            <a:r>
              <a:rPr lang="zh-CN" altLang="zh-CN" sz="1800" kern="100" dirty="0">
                <a:solidFill>
                  <a:srgbClr val="000000"/>
                </a:solidFill>
                <a:effectLst/>
                <a:latin typeface="Times New Roman" panose="02020603050405020304" pitchFamily="18" charset="0"/>
                <a:ea typeface="宋体" pitchFamily="2" charset="-122"/>
              </a:rPr>
              <a:t>图像的长和宽</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dst</a:t>
            </a:r>
            <a:r>
              <a:rPr lang="en-US" altLang="zh-CN" sz="1800" kern="100" dirty="0">
                <a:solidFill>
                  <a:srgbClr val="000000"/>
                </a:solidFill>
                <a:effectLst/>
                <a:latin typeface="Times New Roman" panose="02020603050405020304" pitchFamily="18" charset="0"/>
                <a:ea typeface="宋体" pitchFamily="2" charset="-122"/>
              </a:rPr>
              <a:t> = </a:t>
            </a:r>
            <a:r>
              <a:rPr lang="en-US" altLang="zh-CN" sz="1800" kern="100" dirty="0" err="1">
                <a:solidFill>
                  <a:srgbClr val="000000"/>
                </a:solidFill>
                <a:effectLst/>
                <a:latin typeface="Times New Roman" panose="02020603050405020304" pitchFamily="18" charset="0"/>
                <a:ea typeface="宋体" pitchFamily="2" charset="-122"/>
              </a:rPr>
              <a:t>np.zeros</a:t>
            </a:r>
            <a:r>
              <a:rPr lang="en-US" altLang="zh-CN" sz="1800" kern="100" dirty="0">
                <a:solidFill>
                  <a:srgbClr val="000000"/>
                </a:solidFill>
                <a:effectLst/>
                <a:latin typeface="Times New Roman" panose="02020603050405020304" pitchFamily="18" charset="0"/>
                <a:ea typeface="宋体" pitchFamily="2" charset="-122"/>
              </a:rPr>
              <a:t>((h - 2, w - 2), </a:t>
            </a:r>
            <a:r>
              <a:rPr lang="en-US" altLang="zh-CN" sz="1800" kern="100" dirty="0" err="1">
                <a:solidFill>
                  <a:srgbClr val="000000"/>
                </a:solidFill>
                <a:effectLst/>
                <a:latin typeface="Times New Roman" panose="02020603050405020304" pitchFamily="18" charset="0"/>
                <a:ea typeface="宋体" pitchFamily="2" charset="-122"/>
              </a:rPr>
              <a:t>dtype</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img.dtype</a:t>
            </a:r>
            <a:r>
              <a:rPr lang="en-US" altLang="zh-CN" sz="1800" kern="100" dirty="0">
                <a:solidFill>
                  <a:srgbClr val="000000"/>
                </a:solidFill>
                <a:effectLst/>
                <a:latin typeface="Times New Roman" panose="02020603050405020304" pitchFamily="18" charset="0"/>
                <a:ea typeface="宋体" pitchFamily="2" charset="-122"/>
              </a:rPr>
              <a:t>)    # </a:t>
            </a:r>
            <a:r>
              <a:rPr lang="zh-CN" altLang="zh-CN" sz="1800" kern="100" dirty="0">
                <a:solidFill>
                  <a:srgbClr val="000000"/>
                </a:solidFill>
                <a:effectLst/>
                <a:latin typeface="Times New Roman" panose="02020603050405020304" pitchFamily="18" charset="0"/>
                <a:ea typeface="宋体" pitchFamily="2" charset="-122"/>
              </a:rPr>
              <a:t>新建一张图</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 </a:t>
            </a:r>
            <a:r>
              <a:rPr lang="en-US" altLang="zh-CN" sz="1800" kern="100" dirty="0" err="1">
                <a:solidFill>
                  <a:srgbClr val="000000"/>
                </a:solidFill>
                <a:effectLst/>
                <a:latin typeface="Times New Roman" panose="02020603050405020304" pitchFamily="18" charset="0"/>
                <a:ea typeface="宋体" pitchFamily="2" charset="-122"/>
              </a:rPr>
              <a:t>dst</a:t>
            </a:r>
            <a:r>
              <a:rPr lang="en-US" altLang="zh-CN" sz="1800" kern="100" dirty="0">
                <a:solidFill>
                  <a:srgbClr val="000000"/>
                </a:solidFill>
                <a:effectLst/>
                <a:latin typeface="Times New Roman" panose="02020603050405020304" pitchFamily="18" charset="0"/>
                <a:ea typeface="宋体" pitchFamily="2" charset="-122"/>
              </a:rPr>
              <a:t> = </a:t>
            </a:r>
            <a:r>
              <a:rPr lang="en-US" altLang="zh-CN" sz="1800" kern="100" dirty="0" err="1">
                <a:solidFill>
                  <a:srgbClr val="000000"/>
                </a:solidFill>
                <a:effectLst/>
                <a:latin typeface="Times New Roman" panose="02020603050405020304" pitchFamily="18" charset="0"/>
                <a:ea typeface="宋体" pitchFamily="2" charset="-122"/>
              </a:rPr>
              <a:t>np.zeros</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img.shape</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dtype</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img.dtype</a:t>
            </a:r>
            <a:r>
              <a:rPr lang="en-US" altLang="zh-CN" sz="1800" kern="100" dirty="0">
                <a:solidFill>
                  <a:srgbClr val="000000"/>
                </a:solidFill>
                <a:effectLst/>
                <a:latin typeface="Times New Roman" panose="02020603050405020304" pitchFamily="18" charset="0"/>
                <a:ea typeface="宋体" pitchFamily="2" charset="-122"/>
              </a:rPr>
              <a:t>)     # </a:t>
            </a:r>
            <a:r>
              <a:rPr lang="zh-CN" altLang="zh-CN" sz="1800" kern="100" dirty="0">
                <a:solidFill>
                  <a:srgbClr val="000000"/>
                </a:solidFill>
                <a:effectLst/>
                <a:latin typeface="Times New Roman" panose="02020603050405020304" pitchFamily="18" charset="0"/>
                <a:ea typeface="宋体" pitchFamily="2" charset="-122"/>
              </a:rPr>
              <a:t>新建一张图</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arry58 = arry_58()</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for </a:t>
            </a:r>
            <a:r>
              <a:rPr lang="en-US" altLang="zh-CN" sz="1800" kern="100" dirty="0" err="1">
                <a:solidFill>
                  <a:srgbClr val="000000"/>
                </a:solidFill>
                <a:effectLst/>
                <a:latin typeface="Times New Roman" panose="02020603050405020304" pitchFamily="18" charset="0"/>
                <a:ea typeface="宋体" pitchFamily="2" charset="-122"/>
              </a:rPr>
              <a:t>i</a:t>
            </a:r>
            <a:r>
              <a:rPr lang="en-US" altLang="zh-CN" sz="1800" kern="100" dirty="0">
                <a:solidFill>
                  <a:srgbClr val="000000"/>
                </a:solidFill>
                <a:effectLst/>
                <a:latin typeface="Times New Roman" panose="02020603050405020304" pitchFamily="18" charset="0"/>
                <a:ea typeface="宋体" pitchFamily="2" charset="-122"/>
              </a:rPr>
              <a:t> in range(1, h - 1)</a:t>
            </a:r>
            <a:r>
              <a:rPr lang="zh-CN" altLang="en-US" sz="1800" kern="100" dirty="0">
                <a:solidFill>
                  <a:srgbClr val="000000"/>
                </a:solidFill>
                <a:effectLst/>
                <a:latin typeface="Times New Roman" panose="02020603050405020304" pitchFamily="18" charset="0"/>
                <a:ea typeface="宋体" pitchFamily="2" charset="-122"/>
              </a:rPr>
              <a:t>：</a:t>
            </a:r>
            <a:r>
              <a:rPr lang="en-US" altLang="zh-CN" sz="1800" kern="100" dirty="0">
                <a:solidFill>
                  <a:srgbClr val="000000"/>
                </a:solidFill>
                <a:effectLst/>
                <a:latin typeface="Times New Roman" panose="02020603050405020304" pitchFamily="18" charset="0"/>
                <a:ea typeface="宋体" pitchFamily="2" charset="-122"/>
              </a:rPr>
              <a:t>       </a:t>
            </a:r>
            <a:endParaRPr lang="zh-CN" altLang="zh-CN" sz="18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095921"/>
            <a:ext cx="4585316" cy="461665"/>
          </a:xfrm>
          <a:prstGeom prst="rect">
            <a:avLst/>
          </a:prstGeom>
          <a:noFill/>
        </p:spPr>
        <p:txBody>
          <a:bodyPr wrap="square">
            <a:spAutoFit/>
          </a:bodyPr>
          <a:lstStyle/>
          <a:p>
            <a:pPr indent="266700" algn="just"/>
            <a:r>
              <a:rPr lang="en-US" altLang="zh-CN" sz="2400" kern="100" dirty="0">
                <a:effectLst/>
                <a:latin typeface="Times New Roman" panose="02020603050405020304" pitchFamily="18" charset="0"/>
                <a:ea typeface="宋体" pitchFamily="2" charset="-122"/>
              </a:rPr>
              <a:t>Uniform LBP</a:t>
            </a:r>
            <a:r>
              <a:rPr lang="zh-CN" altLang="zh-CN" sz="2400" kern="100" dirty="0">
                <a:effectLst/>
                <a:latin typeface="Times New Roman" panose="02020603050405020304" pitchFamily="18" charset="0"/>
                <a:ea typeface="宋体" pitchFamily="2" charset="-122"/>
              </a:rPr>
              <a:t>相应的代码如下：</a:t>
            </a:r>
            <a:endParaRPr lang="zh-CN" altLang="zh-CN" sz="2400" kern="100" dirty="0">
              <a:effectLst/>
              <a:latin typeface="Times New Roman" panose="02020603050405020304" pitchFamily="18" charset="0"/>
              <a:ea typeface="宋体" pitchFamily="2" charset="-122"/>
            </a:endParaRPr>
          </a:p>
        </p:txBody>
      </p:sp>
      <p:sp>
        <p:nvSpPr>
          <p:cNvPr id="13" name="文本框 12"/>
          <p:cNvSpPr txBox="1"/>
          <p:nvPr/>
        </p:nvSpPr>
        <p:spPr>
          <a:xfrm>
            <a:off x="612354" y="1557586"/>
            <a:ext cx="7992888" cy="4801314"/>
          </a:xfrm>
          <a:prstGeom prst="rect">
            <a:avLst/>
          </a:prstGeom>
          <a:solidFill>
            <a:srgbClr val="C7C7C7"/>
          </a:solidFill>
        </p:spPr>
        <p:txBody>
          <a:bodyPr wrap="square" numCol="2">
            <a:spAutoFit/>
          </a:bodyPr>
          <a:lstStyle/>
          <a:p>
            <a:pPr indent="266700" algn="just"/>
            <a:r>
              <a:rPr lang="en-US" altLang="zh-CN" sz="1800" kern="100" dirty="0">
                <a:effectLst/>
                <a:latin typeface="Times New Roman" panose="02020603050405020304" pitchFamily="18" charset="0"/>
                <a:ea typeface="宋体" pitchFamily="2" charset="-122"/>
              </a:rPr>
              <a:t> for j in range(1, w - 1):</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center = </a:t>
            </a:r>
            <a:r>
              <a:rPr lang="en-US" altLang="zh-CN" sz="1800" kern="100" dirty="0" err="1">
                <a:effectLst/>
                <a:latin typeface="Times New Roman" panose="02020603050405020304" pitchFamily="18" charset="0"/>
                <a:ea typeface="宋体" pitchFamily="2" charset="-122"/>
              </a:rPr>
              <a:t>img</a:t>
            </a:r>
            <a:r>
              <a:rPr lang="en-US" altLang="zh-CN" sz="1800" kern="100" dirty="0">
                <a:effectLst/>
                <a:latin typeface="Times New Roman" panose="02020603050405020304" pitchFamily="18" charset="0"/>
                <a:ea typeface="宋体" pitchFamily="2" charset="-122"/>
              </a:rPr>
              <a:t>[</a:t>
            </a:r>
            <a:r>
              <a:rPr lang="en-US" altLang="zh-CN" sz="1800" kern="100" dirty="0" err="1">
                <a:effectLst/>
                <a:latin typeface="Times New Roman" panose="02020603050405020304" pitchFamily="18" charset="0"/>
                <a:ea typeface="宋体" pitchFamily="2" charset="-122"/>
              </a:rPr>
              <a:t>i</a:t>
            </a:r>
            <a:r>
              <a:rPr lang="en-US" altLang="zh-CN" sz="1800" kern="100" dirty="0">
                <a:effectLst/>
                <a:latin typeface="Times New Roman" panose="02020603050405020304" pitchFamily="18" charset="0"/>
                <a:ea typeface="宋体" pitchFamily="2" charset="-122"/>
              </a:rPr>
              <a:t>][j]</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code = []</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count = 0</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code7 = </a:t>
            </a:r>
            <a:r>
              <a:rPr lang="en-US" altLang="zh-CN" sz="1800" kern="100" dirty="0" err="1">
                <a:effectLst/>
                <a:latin typeface="Times New Roman" panose="02020603050405020304" pitchFamily="18" charset="0"/>
                <a:ea typeface="宋体" pitchFamily="2" charset="-122"/>
              </a:rPr>
              <a:t>img</a:t>
            </a:r>
            <a:r>
              <a:rPr lang="en-US" altLang="zh-CN" sz="1800" kern="100" dirty="0">
                <a:effectLst/>
                <a:latin typeface="Times New Roman" panose="02020603050405020304" pitchFamily="18" charset="0"/>
                <a:ea typeface="宋体" pitchFamily="2" charset="-122"/>
              </a:rPr>
              <a:t>[</a:t>
            </a:r>
            <a:r>
              <a:rPr lang="en-US" altLang="zh-CN" sz="1800" kern="100" dirty="0" err="1">
                <a:effectLst/>
                <a:latin typeface="Times New Roman" panose="02020603050405020304" pitchFamily="18" charset="0"/>
                <a:ea typeface="宋体" pitchFamily="2" charset="-122"/>
              </a:rPr>
              <a:t>i</a:t>
            </a:r>
            <a:r>
              <a:rPr lang="en-US" altLang="zh-CN" sz="1800" kern="100" dirty="0">
                <a:effectLst/>
                <a:latin typeface="Times New Roman" panose="02020603050405020304" pitchFamily="18" charset="0"/>
                <a:ea typeface="宋体" pitchFamily="2" charset="-122"/>
              </a:rPr>
              <a:t> - 1][j - 1]</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if code7 &gt;= center:</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code7 = 1</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else:</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code7 = 0</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a:t>
            </a:r>
            <a:r>
              <a:rPr lang="en-US" altLang="zh-CN" sz="1800" kern="100" dirty="0" err="1">
                <a:effectLst/>
                <a:latin typeface="Times New Roman" panose="02020603050405020304" pitchFamily="18" charset="0"/>
                <a:ea typeface="宋体" pitchFamily="2" charset="-122"/>
              </a:rPr>
              <a:t>code.append</a:t>
            </a:r>
            <a:r>
              <a:rPr lang="en-US" altLang="zh-CN" sz="1800" kern="100" dirty="0">
                <a:effectLst/>
                <a:latin typeface="Times New Roman" panose="02020603050405020304" pitchFamily="18" charset="0"/>
                <a:ea typeface="宋体" pitchFamily="2" charset="-122"/>
              </a:rPr>
              <a:t>(code7)</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code6 = </a:t>
            </a:r>
            <a:r>
              <a:rPr lang="en-US" altLang="zh-CN" sz="1800" kern="100" dirty="0" err="1">
                <a:effectLst/>
                <a:latin typeface="Times New Roman" panose="02020603050405020304" pitchFamily="18" charset="0"/>
                <a:ea typeface="宋体" pitchFamily="2" charset="-122"/>
              </a:rPr>
              <a:t>img</a:t>
            </a:r>
            <a:r>
              <a:rPr lang="en-US" altLang="zh-CN" sz="1800" kern="100" dirty="0">
                <a:effectLst/>
                <a:latin typeface="Times New Roman" panose="02020603050405020304" pitchFamily="18" charset="0"/>
                <a:ea typeface="宋体" pitchFamily="2" charset="-122"/>
              </a:rPr>
              <a:t>[</a:t>
            </a:r>
            <a:r>
              <a:rPr lang="en-US" altLang="zh-CN" sz="1800" kern="100" dirty="0" err="1">
                <a:effectLst/>
                <a:latin typeface="Times New Roman" panose="02020603050405020304" pitchFamily="18" charset="0"/>
                <a:ea typeface="宋体" pitchFamily="2" charset="-122"/>
              </a:rPr>
              <a:t>i</a:t>
            </a:r>
            <a:r>
              <a:rPr lang="en-US" altLang="zh-CN" sz="1800" kern="100" dirty="0">
                <a:effectLst/>
                <a:latin typeface="Times New Roman" panose="02020603050405020304" pitchFamily="18" charset="0"/>
                <a:ea typeface="宋体" pitchFamily="2" charset="-122"/>
              </a:rPr>
              <a:t> - 1][j]</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if code6 &gt;= center:</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code6 = 1</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else:</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code6 = 0</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err="1">
                <a:effectLst/>
                <a:latin typeface="Times New Roman" panose="02020603050405020304" pitchFamily="18" charset="0"/>
                <a:ea typeface="宋体" pitchFamily="2" charset="-122"/>
              </a:rPr>
              <a:t>code.append</a:t>
            </a:r>
            <a:r>
              <a:rPr lang="en-US" altLang="zh-CN" sz="1800" kern="100" dirty="0">
                <a:effectLst/>
                <a:latin typeface="Times New Roman" panose="02020603050405020304" pitchFamily="18" charset="0"/>
                <a:ea typeface="宋体" pitchFamily="2" charset="-122"/>
              </a:rPr>
              <a:t>(code6)</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code5 = </a:t>
            </a:r>
            <a:r>
              <a:rPr lang="en-US" altLang="zh-CN" sz="1800" kern="100" dirty="0" err="1">
                <a:effectLst/>
                <a:latin typeface="Times New Roman" panose="02020603050405020304" pitchFamily="18" charset="0"/>
                <a:ea typeface="宋体" pitchFamily="2" charset="-122"/>
              </a:rPr>
              <a:t>img</a:t>
            </a:r>
            <a:r>
              <a:rPr lang="en-US" altLang="zh-CN" sz="1800" kern="100" dirty="0">
                <a:effectLst/>
                <a:latin typeface="Times New Roman" panose="02020603050405020304" pitchFamily="18" charset="0"/>
                <a:ea typeface="宋体" pitchFamily="2" charset="-122"/>
              </a:rPr>
              <a:t>[</a:t>
            </a:r>
            <a:r>
              <a:rPr lang="en-US" altLang="zh-CN" sz="1800" kern="100" dirty="0" err="1">
                <a:effectLst/>
                <a:latin typeface="Times New Roman" panose="02020603050405020304" pitchFamily="18" charset="0"/>
                <a:ea typeface="宋体" pitchFamily="2" charset="-122"/>
              </a:rPr>
              <a:t>i</a:t>
            </a:r>
            <a:r>
              <a:rPr lang="en-US" altLang="zh-CN" sz="1800" kern="100" dirty="0">
                <a:effectLst/>
                <a:latin typeface="Times New Roman" panose="02020603050405020304" pitchFamily="18" charset="0"/>
                <a:ea typeface="宋体" pitchFamily="2" charset="-122"/>
              </a:rPr>
              <a:t> - 1][j + 1]</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if code5 &gt;= center:</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code5 = 1</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else:</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code5 = 0</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a:t>
            </a:r>
            <a:r>
              <a:rPr lang="en-US" altLang="zh-CN" sz="1800" kern="100" dirty="0" err="1">
                <a:effectLst/>
                <a:latin typeface="Times New Roman" panose="02020603050405020304" pitchFamily="18" charset="0"/>
                <a:ea typeface="宋体" pitchFamily="2" charset="-122"/>
              </a:rPr>
              <a:t>code.append</a:t>
            </a:r>
            <a:r>
              <a:rPr lang="en-US" altLang="zh-CN" sz="1800" kern="100" dirty="0">
                <a:effectLst/>
                <a:latin typeface="Times New Roman" panose="02020603050405020304" pitchFamily="18" charset="0"/>
                <a:ea typeface="宋体" pitchFamily="2" charset="-122"/>
              </a:rPr>
              <a:t>(code5)</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code4 = </a:t>
            </a:r>
            <a:r>
              <a:rPr lang="en-US" altLang="zh-CN" sz="1800" kern="100" dirty="0" err="1">
                <a:effectLst/>
                <a:latin typeface="Times New Roman" panose="02020603050405020304" pitchFamily="18" charset="0"/>
                <a:ea typeface="宋体" pitchFamily="2" charset="-122"/>
              </a:rPr>
              <a:t>img</a:t>
            </a:r>
            <a:r>
              <a:rPr lang="en-US" altLang="zh-CN" sz="1800" kern="100" dirty="0">
                <a:effectLst/>
                <a:latin typeface="Times New Roman" panose="02020603050405020304" pitchFamily="18" charset="0"/>
                <a:ea typeface="宋体" pitchFamily="2" charset="-122"/>
              </a:rPr>
              <a:t>[</a:t>
            </a:r>
            <a:r>
              <a:rPr lang="en-US" altLang="zh-CN" sz="1800" kern="100" dirty="0" err="1">
                <a:effectLst/>
                <a:latin typeface="Times New Roman" panose="02020603050405020304" pitchFamily="18" charset="0"/>
                <a:ea typeface="宋体" pitchFamily="2" charset="-122"/>
              </a:rPr>
              <a:t>i</a:t>
            </a:r>
            <a:r>
              <a:rPr lang="en-US" altLang="zh-CN" sz="1800" kern="100" dirty="0">
                <a:effectLst/>
                <a:latin typeface="Times New Roman" panose="02020603050405020304" pitchFamily="18" charset="0"/>
                <a:ea typeface="宋体" pitchFamily="2" charset="-122"/>
              </a:rPr>
              <a:t>][j + 1]</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if code4 &gt;= center:</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code4 = 1</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else:</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code4 = 0</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a:t>
            </a:r>
            <a:r>
              <a:rPr lang="en-US" altLang="zh-CN" sz="1800" kern="100" dirty="0" err="1">
                <a:effectLst/>
                <a:latin typeface="Times New Roman" panose="02020603050405020304" pitchFamily="18" charset="0"/>
                <a:ea typeface="宋体" pitchFamily="2" charset="-122"/>
              </a:rPr>
              <a:t>code.append</a:t>
            </a:r>
            <a:r>
              <a:rPr lang="en-US" altLang="zh-CN" sz="1800" kern="100" dirty="0">
                <a:effectLst/>
                <a:latin typeface="Times New Roman" panose="02020603050405020304" pitchFamily="18" charset="0"/>
                <a:ea typeface="宋体" pitchFamily="2" charset="-122"/>
              </a:rPr>
              <a:t>(code4)</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code3 = </a:t>
            </a:r>
            <a:r>
              <a:rPr lang="en-US" altLang="zh-CN" sz="1800" kern="100" dirty="0" err="1">
                <a:effectLst/>
                <a:latin typeface="Times New Roman" panose="02020603050405020304" pitchFamily="18" charset="0"/>
                <a:ea typeface="宋体" pitchFamily="2" charset="-122"/>
              </a:rPr>
              <a:t>img</a:t>
            </a:r>
            <a:r>
              <a:rPr lang="en-US" altLang="zh-CN" sz="1800" kern="100" dirty="0">
                <a:effectLst/>
                <a:latin typeface="Times New Roman" panose="02020603050405020304" pitchFamily="18" charset="0"/>
                <a:ea typeface="宋体" pitchFamily="2" charset="-122"/>
              </a:rPr>
              <a:t>[</a:t>
            </a:r>
            <a:r>
              <a:rPr lang="en-US" altLang="zh-CN" sz="1800" kern="100" dirty="0" err="1">
                <a:effectLst/>
                <a:latin typeface="Times New Roman" panose="02020603050405020304" pitchFamily="18" charset="0"/>
                <a:ea typeface="宋体" pitchFamily="2" charset="-122"/>
              </a:rPr>
              <a:t>i</a:t>
            </a:r>
            <a:r>
              <a:rPr lang="en-US" altLang="zh-CN" sz="1800" kern="100" dirty="0">
                <a:effectLst/>
                <a:latin typeface="Times New Roman" panose="02020603050405020304" pitchFamily="18" charset="0"/>
                <a:ea typeface="宋体" pitchFamily="2" charset="-122"/>
              </a:rPr>
              <a:t> + 1][j + 1]</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if code3 &gt;= center:</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code3 = 1</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else:</a:t>
            </a:r>
            <a:endParaRPr lang="en-US"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code3 = 0</a:t>
            </a:r>
            <a:endParaRPr lang="en-US" altLang="zh-CN" sz="1800" kern="100" dirty="0">
              <a:effectLst/>
              <a:latin typeface="Times New Roman" panose="02020603050405020304" pitchFamily="18" charset="0"/>
              <a:ea typeface="宋体" pitchFamily="2" charset="-122"/>
            </a:endParaRPr>
          </a:p>
          <a:p>
            <a:pPr indent="266700" algn="just"/>
            <a:endParaRPr lang="en-US" altLang="zh-CN" sz="18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125538"/>
            <a:ext cx="4585316" cy="461665"/>
          </a:xfrm>
          <a:prstGeom prst="rect">
            <a:avLst/>
          </a:prstGeom>
          <a:noFill/>
        </p:spPr>
        <p:txBody>
          <a:bodyPr wrap="square">
            <a:spAutoFit/>
          </a:bodyPr>
          <a:lstStyle/>
          <a:p>
            <a:pPr indent="266700" algn="just"/>
            <a:r>
              <a:rPr lang="en-US" altLang="zh-CN" sz="2400" kern="100" dirty="0">
                <a:effectLst/>
                <a:latin typeface="Times New Roman" panose="02020603050405020304" pitchFamily="18" charset="0"/>
                <a:ea typeface="宋体" pitchFamily="2" charset="-122"/>
              </a:rPr>
              <a:t>Uniform LBP</a:t>
            </a:r>
            <a:r>
              <a:rPr lang="zh-CN" altLang="zh-CN" sz="2400" kern="100" dirty="0">
                <a:effectLst/>
                <a:latin typeface="Times New Roman" panose="02020603050405020304" pitchFamily="18" charset="0"/>
                <a:ea typeface="宋体" pitchFamily="2" charset="-122"/>
              </a:rPr>
              <a:t>相应的代码如下：</a:t>
            </a:r>
            <a:endParaRPr lang="zh-CN" altLang="zh-CN" sz="2400" kern="100" dirty="0">
              <a:effectLst/>
              <a:latin typeface="Times New Roman" panose="02020603050405020304" pitchFamily="18" charset="0"/>
              <a:ea typeface="宋体" pitchFamily="2" charset="-122"/>
            </a:endParaRPr>
          </a:p>
        </p:txBody>
      </p:sp>
      <p:sp>
        <p:nvSpPr>
          <p:cNvPr id="11" name="文本框 10"/>
          <p:cNvSpPr txBox="1"/>
          <p:nvPr/>
        </p:nvSpPr>
        <p:spPr>
          <a:xfrm>
            <a:off x="449237" y="1568614"/>
            <a:ext cx="8228013" cy="4093428"/>
          </a:xfrm>
          <a:prstGeom prst="rect">
            <a:avLst/>
          </a:prstGeom>
          <a:solidFill>
            <a:srgbClr val="C7C7C7"/>
          </a:solidFill>
        </p:spPr>
        <p:txBody>
          <a:bodyPr wrap="square" numCol="2">
            <a:spAutoFit/>
          </a:bodyPr>
          <a:lstStyle/>
          <a:p>
            <a:pPr indent="266700" algn="just"/>
            <a:r>
              <a:rPr lang="en-US" altLang="zh-CN" sz="2000" kern="100" dirty="0" err="1">
                <a:solidFill>
                  <a:srgbClr val="000000"/>
                </a:solidFill>
                <a:effectLst/>
                <a:latin typeface="Times New Roman" panose="02020603050405020304" pitchFamily="18" charset="0"/>
                <a:ea typeface="宋体" pitchFamily="2" charset="-122"/>
              </a:rPr>
              <a:t>code.append</a:t>
            </a:r>
            <a:r>
              <a:rPr lang="en-US" altLang="zh-CN" sz="2000" kern="100" dirty="0">
                <a:solidFill>
                  <a:srgbClr val="000000"/>
                </a:solidFill>
                <a:effectLst/>
                <a:latin typeface="Times New Roman" panose="02020603050405020304" pitchFamily="18" charset="0"/>
                <a:ea typeface="宋体" pitchFamily="2" charset="-122"/>
              </a:rPr>
              <a:t>(code3)</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code2 = </a:t>
            </a:r>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a:t>
            </a:r>
            <a:r>
              <a:rPr lang="en-US" altLang="zh-CN" sz="2000" kern="100" dirty="0" err="1">
                <a:solidFill>
                  <a:srgbClr val="000000"/>
                </a:solidFill>
                <a:effectLst/>
                <a:latin typeface="Times New Roman" panose="02020603050405020304" pitchFamily="18" charset="0"/>
                <a:ea typeface="宋体" pitchFamily="2" charset="-122"/>
              </a:rPr>
              <a:t>i</a:t>
            </a:r>
            <a:r>
              <a:rPr lang="en-US" altLang="zh-CN" sz="2000" kern="100" dirty="0">
                <a:solidFill>
                  <a:srgbClr val="000000"/>
                </a:solidFill>
                <a:effectLst/>
                <a:latin typeface="Times New Roman" panose="02020603050405020304" pitchFamily="18" charset="0"/>
                <a:ea typeface="宋体" pitchFamily="2" charset="-122"/>
              </a:rPr>
              <a:t> + 1][j]</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if code2 &gt;= center:</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code2 = 1</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else:</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code2 = 0</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a:t>
            </a:r>
            <a:r>
              <a:rPr lang="en-US" altLang="zh-CN" sz="2000" kern="100" dirty="0" err="1">
                <a:solidFill>
                  <a:srgbClr val="000000"/>
                </a:solidFill>
                <a:effectLst/>
                <a:latin typeface="Times New Roman" panose="02020603050405020304" pitchFamily="18" charset="0"/>
                <a:ea typeface="宋体" pitchFamily="2" charset="-122"/>
              </a:rPr>
              <a:t>code.append</a:t>
            </a:r>
            <a:r>
              <a:rPr lang="en-US" altLang="zh-CN" sz="2000" kern="100" dirty="0">
                <a:solidFill>
                  <a:srgbClr val="000000"/>
                </a:solidFill>
                <a:effectLst/>
                <a:latin typeface="Times New Roman" panose="02020603050405020304" pitchFamily="18" charset="0"/>
                <a:ea typeface="宋体" pitchFamily="2" charset="-122"/>
              </a:rPr>
              <a:t>(code2)</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code1 = </a:t>
            </a:r>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a:t>
            </a:r>
            <a:r>
              <a:rPr lang="en-US" altLang="zh-CN" sz="2000" kern="100" dirty="0" err="1">
                <a:solidFill>
                  <a:srgbClr val="000000"/>
                </a:solidFill>
                <a:effectLst/>
                <a:latin typeface="Times New Roman" panose="02020603050405020304" pitchFamily="18" charset="0"/>
                <a:ea typeface="宋体" pitchFamily="2" charset="-122"/>
              </a:rPr>
              <a:t>i</a:t>
            </a:r>
            <a:r>
              <a:rPr lang="en-US" altLang="zh-CN" sz="2000" kern="100" dirty="0">
                <a:solidFill>
                  <a:srgbClr val="000000"/>
                </a:solidFill>
                <a:effectLst/>
                <a:latin typeface="Times New Roman" panose="02020603050405020304" pitchFamily="18" charset="0"/>
                <a:ea typeface="宋体" pitchFamily="2" charset="-122"/>
              </a:rPr>
              <a:t> + 1][j - 1]</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if code1 &gt;= center:</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code1 = 1</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else:</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code1 = 0</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a:t>
            </a:r>
            <a:r>
              <a:rPr lang="en-US" altLang="zh-CN" sz="2000" kern="100" dirty="0" err="1">
                <a:solidFill>
                  <a:srgbClr val="000000"/>
                </a:solidFill>
                <a:effectLst/>
                <a:latin typeface="Times New Roman" panose="02020603050405020304" pitchFamily="18" charset="0"/>
                <a:ea typeface="宋体" pitchFamily="2" charset="-122"/>
              </a:rPr>
              <a:t>code.append</a:t>
            </a:r>
            <a:r>
              <a:rPr lang="en-US" altLang="zh-CN" sz="2000" kern="100" dirty="0">
                <a:solidFill>
                  <a:srgbClr val="000000"/>
                </a:solidFill>
                <a:effectLst/>
                <a:latin typeface="Times New Roman" panose="02020603050405020304" pitchFamily="18" charset="0"/>
                <a:ea typeface="宋体" pitchFamily="2" charset="-122"/>
              </a:rPr>
              <a:t>(code1)</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code0 = </a:t>
            </a:r>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a:t>
            </a:r>
            <a:r>
              <a:rPr lang="en-US" altLang="zh-CN" sz="2000" kern="100" dirty="0" err="1">
                <a:solidFill>
                  <a:srgbClr val="000000"/>
                </a:solidFill>
                <a:effectLst/>
                <a:latin typeface="Times New Roman" panose="02020603050405020304" pitchFamily="18" charset="0"/>
                <a:ea typeface="宋体" pitchFamily="2" charset="-122"/>
              </a:rPr>
              <a:t>i</a:t>
            </a:r>
            <a:r>
              <a:rPr lang="en-US" altLang="zh-CN" sz="2000" kern="100" dirty="0">
                <a:solidFill>
                  <a:srgbClr val="000000"/>
                </a:solidFill>
                <a:effectLst/>
                <a:latin typeface="Times New Roman" panose="02020603050405020304" pitchFamily="18" charset="0"/>
                <a:ea typeface="宋体" pitchFamily="2" charset="-122"/>
              </a:rPr>
              <a:t>][j - 1]</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if code0 &gt;= center:</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code0 = 1</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else:</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code0 = 0</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a:t>
            </a:r>
            <a:r>
              <a:rPr lang="en-US" altLang="zh-CN" sz="2000" kern="100" dirty="0" err="1">
                <a:solidFill>
                  <a:srgbClr val="000000"/>
                </a:solidFill>
                <a:effectLst/>
                <a:latin typeface="Times New Roman" panose="02020603050405020304" pitchFamily="18" charset="0"/>
                <a:ea typeface="宋体" pitchFamily="2" charset="-122"/>
              </a:rPr>
              <a:t>code.append</a:t>
            </a:r>
            <a:r>
              <a:rPr lang="en-US" altLang="zh-CN" sz="2000" kern="100" dirty="0">
                <a:solidFill>
                  <a:srgbClr val="000000"/>
                </a:solidFill>
                <a:effectLst/>
                <a:latin typeface="Times New Roman" panose="02020603050405020304" pitchFamily="18" charset="0"/>
                <a:ea typeface="宋体" pitchFamily="2" charset="-122"/>
              </a:rPr>
              <a:t>(code0)</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LBP = code7 * 128 + code6 * 64 + code5 * 32 + code4 * 16 + code3 * 8 \</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code2 * 4 + code1 * 2 + code0 * 1</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 print("LBP</a:t>
            </a:r>
            <a:r>
              <a:rPr lang="zh-CN" altLang="en-US" sz="2000" kern="100" dirty="0">
                <a:solidFill>
                  <a:srgbClr val="000000"/>
                </a:solidFill>
                <a:effectLst/>
                <a:latin typeface="Times New Roman" panose="02020603050405020304" pitchFamily="18" charset="0"/>
                <a:ea typeface="宋体" pitchFamily="2" charset="-122"/>
              </a:rPr>
              <a:t>值为：</a:t>
            </a:r>
            <a:r>
              <a:rPr lang="en-US" altLang="zh-CN" sz="2000" kern="100" dirty="0">
                <a:solidFill>
                  <a:srgbClr val="000000"/>
                </a:solidFill>
                <a:effectLst/>
                <a:latin typeface="Times New Roman" panose="02020603050405020304" pitchFamily="18" charset="0"/>
                <a:ea typeface="宋体" pitchFamily="2" charset="-122"/>
              </a:rPr>
              <a:t>",LBP)</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 print("8</a:t>
            </a:r>
            <a:r>
              <a:rPr lang="zh-CN" altLang="en-US" sz="2000" kern="100" dirty="0">
                <a:solidFill>
                  <a:srgbClr val="000000"/>
                </a:solidFill>
                <a:effectLst/>
                <a:latin typeface="Times New Roman" panose="02020603050405020304" pitchFamily="18" charset="0"/>
                <a:ea typeface="宋体" pitchFamily="2" charset="-122"/>
              </a:rPr>
              <a:t>位编码为：</a:t>
            </a:r>
            <a:r>
              <a:rPr lang="en-US" altLang="zh-CN" sz="2000" kern="100" dirty="0">
                <a:solidFill>
                  <a:srgbClr val="000000"/>
                </a:solidFill>
                <a:effectLst/>
                <a:latin typeface="Times New Roman" panose="02020603050405020304" pitchFamily="18" charset="0"/>
                <a:ea typeface="宋体" pitchFamily="2" charset="-122"/>
              </a:rPr>
              <a:t>",code)</a:t>
            </a:r>
            <a:endParaRPr lang="en-US" altLang="zh-CN" sz="20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125538"/>
            <a:ext cx="4585316" cy="461665"/>
          </a:xfrm>
          <a:prstGeom prst="rect">
            <a:avLst/>
          </a:prstGeom>
          <a:noFill/>
        </p:spPr>
        <p:txBody>
          <a:bodyPr wrap="square">
            <a:spAutoFit/>
          </a:bodyPr>
          <a:lstStyle/>
          <a:p>
            <a:pPr indent="266700" algn="just"/>
            <a:r>
              <a:rPr lang="en-US" altLang="zh-CN" sz="2400" kern="100" dirty="0">
                <a:effectLst/>
                <a:latin typeface="Times New Roman" panose="02020603050405020304" pitchFamily="18" charset="0"/>
                <a:ea typeface="宋体" pitchFamily="2" charset="-122"/>
              </a:rPr>
              <a:t>Uniform LBP</a:t>
            </a:r>
            <a:r>
              <a:rPr lang="zh-CN" altLang="zh-CN" sz="2400" kern="100" dirty="0">
                <a:effectLst/>
                <a:latin typeface="Times New Roman" panose="02020603050405020304" pitchFamily="18" charset="0"/>
                <a:ea typeface="宋体" pitchFamily="2" charset="-122"/>
              </a:rPr>
              <a:t>相应的代码如下：</a:t>
            </a:r>
            <a:endParaRPr lang="zh-CN" altLang="zh-CN" sz="2400" kern="100" dirty="0">
              <a:effectLst/>
              <a:latin typeface="Times New Roman" panose="02020603050405020304" pitchFamily="18" charset="0"/>
              <a:ea typeface="宋体" pitchFamily="2" charset="-122"/>
            </a:endParaRPr>
          </a:p>
        </p:txBody>
      </p:sp>
      <p:sp>
        <p:nvSpPr>
          <p:cNvPr id="11" name="文本框 10"/>
          <p:cNvSpPr txBox="1"/>
          <p:nvPr/>
        </p:nvSpPr>
        <p:spPr>
          <a:xfrm>
            <a:off x="612354" y="1557586"/>
            <a:ext cx="7920881" cy="4524315"/>
          </a:xfrm>
          <a:prstGeom prst="rect">
            <a:avLst/>
          </a:prstGeom>
          <a:solidFill>
            <a:srgbClr val="C7C7C7"/>
          </a:solidFill>
        </p:spPr>
        <p:txBody>
          <a:bodyPr wrap="square" numCol="1">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first = code[0]  		     # </a:t>
            </a:r>
            <a:r>
              <a:rPr lang="zh-CN" altLang="en-US" sz="1600" kern="100" dirty="0">
                <a:solidFill>
                  <a:srgbClr val="000000"/>
                </a:solidFill>
                <a:effectLst/>
                <a:latin typeface="Times New Roman" panose="02020603050405020304" pitchFamily="18" charset="0"/>
                <a:ea typeface="宋体" pitchFamily="2" charset="-122"/>
              </a:rPr>
              <a:t>数组第一个为</a:t>
            </a:r>
            <a:r>
              <a:rPr lang="en-US" altLang="zh-CN" sz="1600" kern="100" dirty="0">
                <a:solidFill>
                  <a:srgbClr val="000000"/>
                </a:solidFill>
                <a:effectLst/>
                <a:latin typeface="Times New Roman" panose="02020603050405020304" pitchFamily="18" charset="0"/>
                <a:ea typeface="宋体" pitchFamily="2" charset="-122"/>
              </a:rPr>
              <a:t>first</a:t>
            </a:r>
            <a:r>
              <a:rPr lang="zh-CN" altLang="en-US" sz="1600" kern="100" dirty="0">
                <a:solidFill>
                  <a:srgbClr val="000000"/>
                </a:solidFill>
                <a:effectLst/>
                <a:latin typeface="Times New Roman" panose="02020603050405020304" pitchFamily="18" charset="0"/>
                <a:ea typeface="宋体" pitchFamily="2" charset="-122"/>
              </a:rPr>
              <a:t>，与之后的比较</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a:solidFill>
                  <a:srgbClr val="000000"/>
                </a:solidFill>
                <a:effectLst/>
                <a:latin typeface="Times New Roman" panose="02020603050405020304" pitchFamily="18" charset="0"/>
                <a:ea typeface="宋体" pitchFamily="2" charset="-122"/>
              </a:rPr>
              <a:t>for x in range(1, </a:t>
            </a:r>
            <a:r>
              <a:rPr lang="en-US" altLang="zh-CN" sz="1600" kern="100" dirty="0" err="1">
                <a:solidFill>
                  <a:srgbClr val="000000"/>
                </a:solidFill>
                <a:effectLst/>
                <a:latin typeface="Times New Roman" panose="02020603050405020304" pitchFamily="18" charset="0"/>
                <a:ea typeface="宋体" pitchFamily="2" charset="-122"/>
              </a:rPr>
              <a:t>len</a:t>
            </a:r>
            <a:r>
              <a:rPr lang="en-US" altLang="zh-CN" sz="1600" kern="100" dirty="0">
                <a:solidFill>
                  <a:srgbClr val="000000"/>
                </a:solidFill>
                <a:effectLst/>
                <a:latin typeface="Times New Roman" panose="02020603050405020304" pitchFamily="18" charset="0"/>
                <a:ea typeface="宋体" pitchFamily="2" charset="-122"/>
              </a:rPr>
              <a:t>(code)):</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if code[x] != first: 	     # </a:t>
            </a:r>
            <a:r>
              <a:rPr lang="zh-CN" altLang="en-US" sz="1600" kern="100" dirty="0">
                <a:solidFill>
                  <a:srgbClr val="000000"/>
                </a:solidFill>
                <a:effectLst/>
                <a:latin typeface="Times New Roman" panose="02020603050405020304" pitchFamily="18" charset="0"/>
                <a:ea typeface="宋体" pitchFamily="2" charset="-122"/>
              </a:rPr>
              <a:t>如果变化，计数单位加</a:t>
            </a:r>
            <a:r>
              <a:rPr lang="en-US" altLang="zh-CN" sz="1600" kern="100" dirty="0">
                <a:solidFill>
                  <a:srgbClr val="000000"/>
                </a:solidFill>
                <a:effectLst/>
                <a:latin typeface="Times New Roman" panose="02020603050405020304" pitchFamily="18" charset="0"/>
                <a:ea typeface="宋体" pitchFamily="2" charset="-122"/>
              </a:rPr>
              <a:t>1</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count += 1</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first = code[x]  	     # </a:t>
            </a:r>
            <a:r>
              <a:rPr lang="zh-CN" altLang="en-US" sz="1600" kern="100" dirty="0">
                <a:solidFill>
                  <a:srgbClr val="000000"/>
                </a:solidFill>
                <a:effectLst/>
                <a:latin typeface="Times New Roman" panose="02020603050405020304" pitchFamily="18" charset="0"/>
                <a:ea typeface="宋体" pitchFamily="2" charset="-122"/>
              </a:rPr>
              <a:t>并且把变化的值重新赋值</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a:solidFill>
                  <a:srgbClr val="000000"/>
                </a:solidFill>
                <a:effectLst/>
                <a:latin typeface="Times New Roman" panose="02020603050405020304" pitchFamily="18" charset="0"/>
                <a:ea typeface="宋体" pitchFamily="2" charset="-122"/>
              </a:rPr>
              <a:t># print("</a:t>
            </a:r>
            <a:r>
              <a:rPr lang="zh-CN" altLang="en-US" sz="1600" kern="100" dirty="0">
                <a:solidFill>
                  <a:srgbClr val="000000"/>
                </a:solidFill>
                <a:effectLst/>
                <a:latin typeface="Times New Roman" panose="02020603050405020304" pitchFamily="18" charset="0"/>
                <a:ea typeface="宋体" pitchFamily="2" charset="-122"/>
              </a:rPr>
              <a:t>跳变次数</a:t>
            </a:r>
            <a:r>
              <a:rPr lang="en-US" altLang="zh-CN" sz="1600" kern="100" dirty="0">
                <a:solidFill>
                  <a:srgbClr val="000000"/>
                </a:solidFill>
                <a:effectLst/>
                <a:latin typeface="Times New Roman" panose="02020603050405020304" pitchFamily="18" charset="0"/>
                <a:ea typeface="宋体" pitchFamily="2" charset="-122"/>
              </a:rPr>
              <a:t>",count)</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if count &gt; 2:  		     # </a:t>
            </a:r>
            <a:r>
              <a:rPr lang="zh-CN" altLang="en-US" sz="1600" kern="100" dirty="0">
                <a:solidFill>
                  <a:srgbClr val="000000"/>
                </a:solidFill>
                <a:effectLst/>
                <a:latin typeface="Times New Roman" panose="02020603050405020304" pitchFamily="18" charset="0"/>
                <a:ea typeface="宋体" pitchFamily="2" charset="-122"/>
              </a:rPr>
              <a:t>如果变化次数大于</a:t>
            </a:r>
            <a:r>
              <a:rPr lang="en-US" altLang="zh-CN" sz="1600" kern="100" dirty="0">
                <a:solidFill>
                  <a:srgbClr val="000000"/>
                </a:solidFill>
                <a:effectLst/>
                <a:latin typeface="Times New Roman" panose="02020603050405020304" pitchFamily="18" charset="0"/>
                <a:ea typeface="宋体" pitchFamily="2" charset="-122"/>
              </a:rPr>
              <a:t>2</a:t>
            </a:r>
            <a:r>
              <a:rPr lang="zh-CN" altLang="en-US" sz="1600" kern="100" dirty="0">
                <a:solidFill>
                  <a:srgbClr val="000000"/>
                </a:solidFill>
                <a:effectLst/>
                <a:latin typeface="Times New Roman" panose="02020603050405020304" pitchFamily="18" charset="0"/>
                <a:ea typeface="宋体" pitchFamily="2" charset="-122"/>
              </a:rPr>
              <a:t>，则归为</a:t>
            </a:r>
            <a:r>
              <a:rPr lang="en-US" altLang="zh-CN" sz="1600" kern="100" dirty="0">
                <a:solidFill>
                  <a:srgbClr val="000000"/>
                </a:solidFill>
                <a:effectLst/>
                <a:latin typeface="Times New Roman" panose="02020603050405020304" pitchFamily="18" charset="0"/>
                <a:ea typeface="宋体" pitchFamily="2" charset="-122"/>
              </a:rPr>
              <a:t>59</a:t>
            </a:r>
            <a:r>
              <a:rPr lang="zh-CN" altLang="en-US" sz="1600" kern="100" dirty="0">
                <a:solidFill>
                  <a:srgbClr val="000000"/>
                </a:solidFill>
                <a:effectLst/>
                <a:latin typeface="Times New Roman" panose="02020603050405020304" pitchFamily="18" charset="0"/>
                <a:ea typeface="宋体" pitchFamily="2" charset="-122"/>
              </a:rPr>
              <a:t>类</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dst</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- 1][j - 1] = 58</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else:  		     # </a:t>
            </a:r>
            <a:r>
              <a:rPr lang="zh-CN" altLang="en-US" sz="1600" kern="100" dirty="0">
                <a:solidFill>
                  <a:srgbClr val="000000"/>
                </a:solidFill>
                <a:effectLst/>
                <a:latin typeface="Times New Roman" panose="02020603050405020304" pitchFamily="18" charset="0"/>
                <a:ea typeface="宋体" pitchFamily="2" charset="-122"/>
              </a:rPr>
              <a:t>否则，按原来的数计算</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loca</a:t>
            </a:r>
            <a:r>
              <a:rPr lang="en-US" altLang="zh-CN" sz="1600" kern="100" dirty="0">
                <a:solidFill>
                  <a:srgbClr val="000000"/>
                </a:solidFill>
                <a:effectLst/>
                <a:latin typeface="Times New Roman" panose="02020603050405020304" pitchFamily="18" charset="0"/>
                <a:ea typeface="宋体" pitchFamily="2" charset="-122"/>
              </a:rPr>
              <a:t> = arry58.index(LBP)       # </a:t>
            </a:r>
            <a:r>
              <a:rPr lang="zh-CN" altLang="en-US" sz="1600" kern="100" dirty="0">
                <a:solidFill>
                  <a:srgbClr val="000000"/>
                </a:solidFill>
                <a:effectLst/>
                <a:latin typeface="Times New Roman" panose="02020603050405020304" pitchFamily="18" charset="0"/>
                <a:ea typeface="宋体" pitchFamily="2" charset="-122"/>
              </a:rPr>
              <a:t>获取位置</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if __name__ == '__main__':</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img</a:t>
            </a:r>
            <a:r>
              <a:rPr lang="en-US" altLang="zh-CN" sz="1600" kern="100" dirty="0">
                <a:solidFill>
                  <a:srgbClr val="000000"/>
                </a:solidFill>
                <a:effectLst/>
                <a:latin typeface="Times New Roman" panose="02020603050405020304" pitchFamily="18" charset="0"/>
                <a:ea typeface="宋体" pitchFamily="2" charset="-122"/>
              </a:rPr>
              <a:t>=cv2.imread(</a:t>
            </a:r>
            <a:r>
              <a:rPr lang="en-US" altLang="zh-CN" sz="1600" kern="100" dirty="0" err="1">
                <a:solidFill>
                  <a:srgbClr val="000000"/>
                </a:solidFill>
                <a:effectLst/>
                <a:latin typeface="Times New Roman" panose="02020603050405020304" pitchFamily="18" charset="0"/>
                <a:ea typeface="宋体" pitchFamily="2" charset="-122"/>
              </a:rPr>
              <a:t>r'C</a:t>
            </a:r>
            <a:r>
              <a:rPr lang="en-US" altLang="zh-CN" sz="1600" kern="100" dirty="0">
                <a:solidFill>
                  <a:srgbClr val="000000"/>
                </a:solidFill>
                <a:effectLst/>
                <a:latin typeface="Times New Roman" panose="02020603050405020304" pitchFamily="18" charset="0"/>
                <a:ea typeface="宋体" pitchFamily="2" charset="-122"/>
              </a:rPr>
              <a:t>:\Users\</a:t>
            </a:r>
            <a:r>
              <a:rPr lang="en-US" altLang="zh-CN" sz="1600" kern="100" dirty="0" err="1">
                <a:solidFill>
                  <a:srgbClr val="000000"/>
                </a:solidFill>
                <a:effectLst/>
                <a:latin typeface="Times New Roman" panose="02020603050405020304" pitchFamily="18" charset="0"/>
                <a:ea typeface="宋体" pitchFamily="2" charset="-122"/>
              </a:rPr>
              <a:t>lenovo</a:t>
            </a:r>
            <a:r>
              <a:rPr lang="en-US" altLang="zh-CN" sz="1600" kern="100" dirty="0">
                <a:solidFill>
                  <a:srgbClr val="000000"/>
                </a:solidFill>
                <a:effectLst/>
                <a:latin typeface="Times New Roman" panose="02020603050405020304" pitchFamily="18" charset="0"/>
                <a:ea typeface="宋体" pitchFamily="2" charset="-122"/>
              </a:rPr>
              <a:t>\Desktop\lena.jpg', 1) #</a:t>
            </a:r>
            <a:r>
              <a:rPr lang="zh-CN" altLang="en-US" sz="1600" kern="100" dirty="0">
                <a:solidFill>
                  <a:srgbClr val="000000"/>
                </a:solidFill>
                <a:effectLst/>
                <a:latin typeface="Times New Roman" panose="02020603050405020304" pitchFamily="18" charset="0"/>
                <a:ea typeface="宋体" pitchFamily="2" charset="-122"/>
              </a:rPr>
              <a:t>读取原始图像</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gray = cv2.imread(</a:t>
            </a:r>
            <a:r>
              <a:rPr lang="en-US" altLang="zh-CN" sz="1600" kern="100" dirty="0" err="1">
                <a:solidFill>
                  <a:srgbClr val="000000"/>
                </a:solidFill>
                <a:effectLst/>
                <a:latin typeface="Times New Roman" panose="02020603050405020304" pitchFamily="18" charset="0"/>
                <a:ea typeface="宋体" pitchFamily="2" charset="-122"/>
              </a:rPr>
              <a:t>r'C</a:t>
            </a:r>
            <a:r>
              <a:rPr lang="en-US" altLang="zh-CN" sz="1600" kern="100" dirty="0">
                <a:solidFill>
                  <a:srgbClr val="000000"/>
                </a:solidFill>
                <a:effectLst/>
                <a:latin typeface="Times New Roman" panose="02020603050405020304" pitchFamily="18" charset="0"/>
                <a:ea typeface="宋体" pitchFamily="2" charset="-122"/>
              </a:rPr>
              <a:t>:\Users\</a:t>
            </a:r>
            <a:r>
              <a:rPr lang="en-US" altLang="zh-CN" sz="1600" kern="100" dirty="0" err="1">
                <a:solidFill>
                  <a:srgbClr val="000000"/>
                </a:solidFill>
                <a:effectLst/>
                <a:latin typeface="Times New Roman" panose="02020603050405020304" pitchFamily="18" charset="0"/>
                <a:ea typeface="宋体" pitchFamily="2" charset="-122"/>
              </a:rPr>
              <a:t>lenovo</a:t>
            </a:r>
            <a:r>
              <a:rPr lang="en-US" altLang="zh-CN" sz="1600" kern="100" dirty="0">
                <a:solidFill>
                  <a:srgbClr val="000000"/>
                </a:solidFill>
                <a:effectLst/>
                <a:latin typeface="Times New Roman" panose="02020603050405020304" pitchFamily="18" charset="0"/>
                <a:ea typeface="宋体" pitchFamily="2" charset="-122"/>
              </a:rPr>
              <a:t>\Desktop\lena.jpg', cv2.IMREAD_GRAYSCALE)  </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a = </a:t>
            </a:r>
            <a:r>
              <a:rPr lang="en-US" altLang="zh-CN" sz="1600" kern="100" dirty="0" err="1">
                <a:solidFill>
                  <a:srgbClr val="000000"/>
                </a:solidFill>
                <a:effectLst/>
                <a:latin typeface="Times New Roman" panose="02020603050405020304" pitchFamily="18" charset="0"/>
                <a:ea typeface="宋体" pitchFamily="2" charset="-122"/>
              </a:rPr>
              <a:t>uniform_LBP</a:t>
            </a:r>
            <a:r>
              <a:rPr lang="en-US" altLang="zh-CN" sz="1600" kern="100" dirty="0">
                <a:solidFill>
                  <a:srgbClr val="000000"/>
                </a:solidFill>
                <a:effectLst/>
                <a:latin typeface="Times New Roman" panose="02020603050405020304" pitchFamily="18" charset="0"/>
                <a:ea typeface="宋体" pitchFamily="2" charset="-122"/>
              </a:rPr>
              <a:t>(gray)</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cv2.imshow('</a:t>
            </a:r>
            <a:r>
              <a:rPr lang="en-US" altLang="zh-CN" sz="1600" kern="100" dirty="0" err="1">
                <a:solidFill>
                  <a:srgbClr val="000000"/>
                </a:solidFill>
                <a:effectLst/>
                <a:latin typeface="Times New Roman" panose="02020603050405020304" pitchFamily="18" charset="0"/>
                <a:ea typeface="宋体" pitchFamily="2" charset="-122"/>
              </a:rPr>
              <a:t>uniform_lbp</a:t>
            </a:r>
            <a:r>
              <a:rPr lang="en-US" altLang="zh-CN" sz="1600" kern="100" dirty="0">
                <a:solidFill>
                  <a:srgbClr val="000000"/>
                </a:solidFill>
                <a:effectLst/>
                <a:latin typeface="Times New Roman" panose="02020603050405020304" pitchFamily="18" charset="0"/>
                <a:ea typeface="宋体" pitchFamily="2" charset="-122"/>
              </a:rPr>
              <a:t>', a)                                      #</a:t>
            </a:r>
            <a:r>
              <a:rPr lang="zh-CN" altLang="en-US" sz="1600" kern="100" dirty="0">
                <a:solidFill>
                  <a:srgbClr val="000000"/>
                </a:solidFill>
                <a:effectLst/>
                <a:latin typeface="Times New Roman" panose="02020603050405020304" pitchFamily="18" charset="0"/>
                <a:ea typeface="宋体" pitchFamily="2" charset="-122"/>
              </a:rPr>
              <a:t>输出</a:t>
            </a:r>
            <a:r>
              <a:rPr lang="en-US" altLang="zh-CN" sz="1600" kern="100" dirty="0">
                <a:solidFill>
                  <a:srgbClr val="000000"/>
                </a:solidFill>
                <a:effectLst/>
                <a:latin typeface="Times New Roman" panose="02020603050405020304" pitchFamily="18" charset="0"/>
                <a:ea typeface="宋体" pitchFamily="2" charset="-122"/>
              </a:rPr>
              <a:t>Uniform LBP</a:t>
            </a:r>
            <a:r>
              <a:rPr lang="zh-CN" altLang="en-US" sz="1600" kern="100" dirty="0">
                <a:solidFill>
                  <a:srgbClr val="000000"/>
                </a:solidFill>
                <a:effectLst/>
                <a:latin typeface="Times New Roman" panose="02020603050405020304" pitchFamily="18" charset="0"/>
                <a:ea typeface="宋体" pitchFamily="2" charset="-122"/>
              </a:rPr>
              <a:t>图像</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a:solidFill>
                  <a:srgbClr val="000000"/>
                </a:solidFill>
                <a:effectLst/>
                <a:latin typeface="Times New Roman" panose="02020603050405020304" pitchFamily="18" charset="0"/>
                <a:ea typeface="宋体" pitchFamily="2" charset="-122"/>
              </a:rPr>
              <a:t>cv2.imshow('</a:t>
            </a:r>
            <a:r>
              <a:rPr lang="en-US" altLang="zh-CN" sz="1600" kern="100" dirty="0" err="1">
                <a:solidFill>
                  <a:srgbClr val="000000"/>
                </a:solidFill>
                <a:effectLst/>
                <a:latin typeface="Times New Roman" panose="02020603050405020304" pitchFamily="18" charset="0"/>
                <a:ea typeface="宋体" pitchFamily="2" charset="-122"/>
              </a:rPr>
              <a:t>origin_picture</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img</a:t>
            </a:r>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输出原始图像</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a:solidFill>
                  <a:srgbClr val="000000"/>
                </a:solidFill>
                <a:effectLst/>
                <a:latin typeface="Times New Roman" panose="02020603050405020304" pitchFamily="18" charset="0"/>
                <a:ea typeface="宋体" pitchFamily="2" charset="-122"/>
              </a:rPr>
              <a:t>cv2.imwrite(</a:t>
            </a:r>
            <a:r>
              <a:rPr lang="en-US" altLang="zh-CN" sz="1600" kern="100" dirty="0" err="1">
                <a:solidFill>
                  <a:srgbClr val="000000"/>
                </a:solidFill>
                <a:effectLst/>
                <a:latin typeface="Times New Roman" panose="02020603050405020304" pitchFamily="18" charset="0"/>
                <a:ea typeface="宋体" pitchFamily="2" charset="-122"/>
              </a:rPr>
              <a:t>r'C</a:t>
            </a:r>
            <a:r>
              <a:rPr lang="en-US" altLang="zh-CN" sz="1600" kern="100" dirty="0">
                <a:solidFill>
                  <a:srgbClr val="000000"/>
                </a:solidFill>
                <a:effectLst/>
                <a:latin typeface="Times New Roman" panose="02020603050405020304" pitchFamily="18" charset="0"/>
                <a:ea typeface="宋体" pitchFamily="2" charset="-122"/>
              </a:rPr>
              <a:t>:\Users\</a:t>
            </a:r>
            <a:r>
              <a:rPr lang="en-US" altLang="zh-CN" sz="1600" kern="100" dirty="0" err="1">
                <a:solidFill>
                  <a:srgbClr val="000000"/>
                </a:solidFill>
                <a:effectLst/>
                <a:latin typeface="Times New Roman" panose="02020603050405020304" pitchFamily="18" charset="0"/>
                <a:ea typeface="宋体" pitchFamily="2" charset="-122"/>
              </a:rPr>
              <a:t>lenovo</a:t>
            </a:r>
            <a:r>
              <a:rPr lang="en-US" altLang="zh-CN" sz="1600" kern="100" dirty="0">
                <a:solidFill>
                  <a:srgbClr val="000000"/>
                </a:solidFill>
                <a:effectLst/>
                <a:latin typeface="Times New Roman" panose="02020603050405020304" pitchFamily="18" charset="0"/>
                <a:ea typeface="宋体" pitchFamily="2" charset="-122"/>
              </a:rPr>
              <a:t>\Desktop\1.png', a)       #</a:t>
            </a:r>
            <a:r>
              <a:rPr lang="zh-CN" altLang="en-US" sz="1600" kern="100" dirty="0">
                <a:solidFill>
                  <a:srgbClr val="000000"/>
                </a:solidFill>
                <a:effectLst/>
                <a:latin typeface="Times New Roman" panose="02020603050405020304" pitchFamily="18" charset="0"/>
                <a:ea typeface="宋体" pitchFamily="2" charset="-122"/>
              </a:rPr>
              <a:t>保存原始图像</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cv2.waitKey(0)</a:t>
            </a:r>
            <a:endParaRPr lang="en-US" altLang="zh-CN" sz="16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197546"/>
            <a:ext cx="5462326" cy="461665"/>
          </a:xfrm>
          <a:prstGeom prst="rect">
            <a:avLst/>
          </a:prstGeom>
          <a:noFill/>
        </p:spPr>
        <p:txBody>
          <a:bodyPr wrap="square">
            <a:spAutoFit/>
          </a:bodyPr>
          <a:lstStyle/>
          <a:p>
            <a:pPr indent="266700" algn="just"/>
            <a:r>
              <a:rPr lang="zh-CN" altLang="en-US" sz="2400" kern="100" dirty="0">
                <a:effectLst/>
                <a:latin typeface="Times New Roman" panose="02020603050405020304" pitchFamily="18" charset="0"/>
                <a:ea typeface="宋体" pitchFamily="2" charset="-122"/>
              </a:rPr>
              <a:t>上述程序的运行结果如图</a:t>
            </a:r>
            <a:r>
              <a:rPr lang="en-US" altLang="zh-CN" sz="2400" kern="100" dirty="0">
                <a:effectLst/>
                <a:latin typeface="Times New Roman" panose="02020603050405020304" pitchFamily="18" charset="0"/>
                <a:ea typeface="宋体" pitchFamily="2" charset="-122"/>
              </a:rPr>
              <a:t>9.14</a:t>
            </a:r>
            <a:r>
              <a:rPr lang="zh-CN" altLang="en-US" sz="2400" kern="100" dirty="0">
                <a:effectLst/>
                <a:latin typeface="Times New Roman" panose="02020603050405020304" pitchFamily="18" charset="0"/>
                <a:ea typeface="宋体" pitchFamily="2" charset="-122"/>
              </a:rPr>
              <a:t>所示。</a:t>
            </a:r>
            <a:endParaRPr lang="zh-CN" altLang="zh-CN" sz="2400" kern="100" dirty="0">
              <a:effectLst/>
              <a:latin typeface="Times New Roman" panose="02020603050405020304" pitchFamily="18" charset="0"/>
              <a:ea typeface="宋体" pitchFamily="2" charset="-122"/>
            </a:endParaRPr>
          </a:p>
        </p:txBody>
      </p:sp>
      <p:pic>
        <p:nvPicPr>
          <p:cNvPr id="14" name="图片 13"/>
          <p:cNvPicPr>
            <a:picLocks noChangeAspect="1"/>
          </p:cNvPicPr>
          <p:nvPr/>
        </p:nvPicPr>
        <p:blipFill>
          <a:blip r:embed="rId1"/>
          <a:stretch>
            <a:fillRect/>
          </a:stretch>
        </p:blipFill>
        <p:spPr>
          <a:xfrm>
            <a:off x="828378" y="1773610"/>
            <a:ext cx="3185315" cy="3145828"/>
          </a:xfrm>
          <a:prstGeom prst="rect">
            <a:avLst/>
          </a:prstGeom>
        </p:spPr>
      </p:pic>
      <p:pic>
        <p:nvPicPr>
          <p:cNvPr id="15" name="图片 14"/>
          <p:cNvPicPr>
            <a:picLocks noChangeAspect="1"/>
          </p:cNvPicPr>
          <p:nvPr/>
        </p:nvPicPr>
        <p:blipFill>
          <a:blip r:embed="rId2"/>
          <a:srcRect t="996"/>
          <a:stretch>
            <a:fillRect/>
          </a:stretch>
        </p:blipFill>
        <p:spPr>
          <a:xfrm>
            <a:off x="5086904" y="1773610"/>
            <a:ext cx="3230305" cy="3133048"/>
          </a:xfrm>
          <a:prstGeom prst="rect">
            <a:avLst/>
          </a:prstGeom>
          <a:ln>
            <a:noFill/>
          </a:ln>
        </p:spPr>
      </p:pic>
      <p:sp>
        <p:nvSpPr>
          <p:cNvPr id="16" name="文本框 15"/>
          <p:cNvSpPr txBox="1"/>
          <p:nvPr/>
        </p:nvSpPr>
        <p:spPr>
          <a:xfrm>
            <a:off x="1676220" y="4869954"/>
            <a:ext cx="1816454" cy="400110"/>
          </a:xfrm>
          <a:prstGeom prst="rect">
            <a:avLst/>
          </a:prstGeom>
          <a:noFill/>
        </p:spPr>
        <p:txBody>
          <a:bodyPr wrap="square">
            <a:spAutoFit/>
          </a:bodyPr>
          <a:lstStyle/>
          <a:p>
            <a:r>
              <a:rPr lang="en-US" altLang="zh-CN" sz="2000" kern="100" dirty="0">
                <a:effectLst/>
                <a:latin typeface="Times New Roman" panose="02020603050405020304" pitchFamily="18" charset="0"/>
                <a:ea typeface="宋体" pitchFamily="2" charset="-122"/>
              </a:rPr>
              <a:t>(a)</a:t>
            </a:r>
            <a:r>
              <a:rPr lang="zh-CN" altLang="zh-CN" sz="2000" kern="100" dirty="0">
                <a:effectLst/>
                <a:latin typeface="Times New Roman" panose="02020603050405020304" pitchFamily="18" charset="0"/>
                <a:ea typeface="宋体" pitchFamily="2" charset="-122"/>
                <a:cs typeface="Times New Roman" panose="02020603050405020304" pitchFamily="18" charset="0"/>
              </a:rPr>
              <a:t>原始图像</a:t>
            </a:r>
            <a:endParaRPr lang="zh-CN" altLang="en-US" sz="2000" dirty="0"/>
          </a:p>
        </p:txBody>
      </p:sp>
      <p:sp>
        <p:nvSpPr>
          <p:cNvPr id="17" name="文本框 16"/>
          <p:cNvSpPr txBox="1"/>
          <p:nvPr/>
        </p:nvSpPr>
        <p:spPr>
          <a:xfrm>
            <a:off x="5436890" y="4869954"/>
            <a:ext cx="2880320" cy="400110"/>
          </a:xfrm>
          <a:prstGeom prst="rect">
            <a:avLst/>
          </a:prstGeom>
          <a:noFill/>
        </p:spPr>
        <p:txBody>
          <a:bodyPr wrap="square">
            <a:spAutoFit/>
          </a:bodyPr>
          <a:lstStyle/>
          <a:p>
            <a:r>
              <a:rPr lang="en-US" altLang="zh-CN" sz="2000" kern="100" dirty="0">
                <a:effectLst/>
                <a:latin typeface="Times New Roman" panose="02020603050405020304" pitchFamily="18" charset="0"/>
                <a:ea typeface="宋体" pitchFamily="2" charset="-122"/>
              </a:rPr>
              <a:t>(b)Uniform LBP</a:t>
            </a:r>
            <a:r>
              <a:rPr lang="zh-CN" altLang="zh-CN" sz="2000" kern="100" dirty="0">
                <a:effectLst/>
                <a:latin typeface="Times New Roman" panose="02020603050405020304" pitchFamily="18" charset="0"/>
                <a:ea typeface="宋体" pitchFamily="2" charset="-122"/>
                <a:cs typeface="Times New Roman" panose="02020603050405020304" pitchFamily="18" charset="0"/>
              </a:rPr>
              <a:t>图像</a:t>
            </a:r>
            <a:endParaRPr lang="zh-CN" altLang="en-US" sz="2000" dirty="0"/>
          </a:p>
        </p:txBody>
      </p:sp>
      <p:sp>
        <p:nvSpPr>
          <p:cNvPr id="19" name="文本框 18"/>
          <p:cNvSpPr txBox="1"/>
          <p:nvPr/>
        </p:nvSpPr>
        <p:spPr>
          <a:xfrm>
            <a:off x="1404442" y="5302002"/>
            <a:ext cx="5621453"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9.14  Uniform LBP</a:t>
            </a:r>
            <a:r>
              <a:rPr lang="zh-CN" altLang="zh-CN" sz="2400" kern="100" dirty="0">
                <a:effectLst/>
                <a:latin typeface="Times New Roman" panose="02020603050405020304" pitchFamily="18" charset="0"/>
                <a:ea typeface="宋体" pitchFamily="2" charset="-122"/>
              </a:rPr>
              <a:t>算子实现效果图</a:t>
            </a:r>
            <a:endParaRPr lang="zh-CN" altLang="zh-CN" sz="32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9.6 </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Gabor</a:t>
            </a:r>
            <a:r>
              <a:rPr lang="zh-CN" altLang="en-US" sz="2100" b="1" dirty="0">
                <a:solidFill>
                  <a:schemeClr val="tx1">
                    <a:lumMod val="75000"/>
                    <a:lumOff val="25000"/>
                  </a:schemeClr>
                </a:solidFill>
                <a:latin typeface="微软雅黑" panose="020B0503020204020204" pitchFamily="34" charset="-122"/>
              </a:rPr>
              <a:t>滤波器的图像纹理特征提取</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内容占位符 2"/>
          <p:cNvSpPr txBox="1">
            <a:spLocks noChangeArrowheads="1"/>
          </p:cNvSpPr>
          <p:nvPr/>
        </p:nvSpPr>
        <p:spPr bwMode="auto">
          <a:xfrm>
            <a:off x="360326" y="837506"/>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kern="100" dirty="0">
                <a:latin typeface="Times New Roman" panose="02020603050405020304" pitchFamily="18" charset="0"/>
                <a:ea typeface="宋体" pitchFamily="2" charset="-122"/>
                <a:cs typeface="Times New Roman" panose="02020603050405020304" pitchFamily="18" charset="0"/>
              </a:rPr>
              <a:t>      </a:t>
            </a:r>
            <a:r>
              <a:rPr lang="en-US" altLang="zh-CN" kern="100" dirty="0">
                <a:latin typeface="Times New Roman" panose="02020603050405020304" pitchFamily="18" charset="0"/>
                <a:cs typeface="Times New Roman" panose="02020603050405020304" pitchFamily="18" charset="0"/>
              </a:rPr>
              <a:t>Gabor</a:t>
            </a:r>
            <a:r>
              <a:rPr lang="zh-CN" altLang="en-US" kern="100" dirty="0">
                <a:latin typeface="Times New Roman" panose="02020603050405020304" pitchFamily="18" charset="0"/>
                <a:cs typeface="Times New Roman" panose="02020603050405020304" pitchFamily="18" charset="0"/>
              </a:rPr>
              <a:t>变换是一种短时加窗傅里叶变换</a:t>
            </a:r>
            <a:r>
              <a:rPr lang="en-US" altLang="zh-CN" kern="100" dirty="0">
                <a:latin typeface="Times New Roman" panose="02020603050405020304" pitchFamily="18" charset="0"/>
                <a:cs typeface="Times New Roman" panose="02020603050405020304" pitchFamily="18" charset="0"/>
              </a:rPr>
              <a:t>(</a:t>
            </a:r>
            <a:r>
              <a:rPr lang="zh-CN" altLang="en-US" kern="100" dirty="0">
                <a:latin typeface="Times New Roman" panose="02020603050405020304" pitchFamily="18" charset="0"/>
                <a:cs typeface="Times New Roman" panose="02020603050405020304" pitchFamily="18" charset="0"/>
              </a:rPr>
              <a:t>在特定时间窗内做傅里叶变换</a:t>
            </a:r>
            <a:r>
              <a:rPr lang="en-US" altLang="zh-CN" kern="100" dirty="0">
                <a:latin typeface="Times New Roman" panose="02020603050405020304" pitchFamily="18" charset="0"/>
                <a:cs typeface="Times New Roman" panose="02020603050405020304" pitchFamily="18" charset="0"/>
              </a:rPr>
              <a:t>)</a:t>
            </a:r>
            <a:r>
              <a:rPr lang="zh-CN" altLang="en-US" kern="100" dirty="0">
                <a:latin typeface="Times New Roman" panose="02020603050405020304" pitchFamily="18" charset="0"/>
                <a:cs typeface="Times New Roman" panose="02020603050405020304" pitchFamily="18" charset="0"/>
              </a:rPr>
              <a:t>，</a:t>
            </a:r>
            <a:r>
              <a:rPr lang="zh-CN" altLang="en-US" kern="100" dirty="0">
                <a:solidFill>
                  <a:srgbClr val="FF0000"/>
                </a:solidFill>
                <a:latin typeface="Times New Roman" panose="02020603050405020304" pitchFamily="18" charset="0"/>
                <a:cs typeface="Times New Roman" panose="02020603050405020304" pitchFamily="18" charset="0"/>
              </a:rPr>
              <a:t>是短时傅里叶变换中窗函数取为高斯函数时的一种特殊情况</a:t>
            </a:r>
            <a:r>
              <a:rPr lang="zh-CN" altLang="en-US" kern="100" dirty="0">
                <a:latin typeface="Times New Roman" panose="02020603050405020304" pitchFamily="18" charset="0"/>
                <a:cs typeface="Times New Roman" panose="02020603050405020304" pitchFamily="18" charset="0"/>
              </a:rPr>
              <a:t>。由于</a:t>
            </a:r>
            <a:r>
              <a:rPr lang="en-US" altLang="zh-CN" kern="100" dirty="0">
                <a:latin typeface="Times New Roman" panose="02020603050405020304" pitchFamily="18" charset="0"/>
                <a:cs typeface="Times New Roman" panose="02020603050405020304" pitchFamily="18" charset="0"/>
              </a:rPr>
              <a:t>Gabor</a:t>
            </a:r>
            <a:r>
              <a:rPr lang="zh-CN" altLang="en-US" kern="100" dirty="0">
                <a:latin typeface="Times New Roman" panose="02020603050405020304" pitchFamily="18" charset="0"/>
                <a:cs typeface="Times New Roman" panose="02020603050405020304" pitchFamily="18" charset="0"/>
              </a:rPr>
              <a:t>滤波器的频率和方向的表达同人类视觉系统类似，所以经常用被用来描述待识别对象的纹理特征</a:t>
            </a:r>
            <a:r>
              <a:rPr lang="zh-CN" altLang="en-US" kern="100" dirty="0">
                <a:latin typeface="Times New Roman" panose="02020603050405020304" pitchFamily="18" charset="0"/>
                <a:ea typeface="宋体" pitchFamily="2" charset="-122"/>
                <a:cs typeface="Times New Roman" panose="02020603050405020304" pitchFamily="18" charset="0"/>
              </a:rPr>
              <a:t>。</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内容占位符 2"/>
          <p:cNvSpPr txBox="1">
            <a:spLocks noChangeArrowheads="1"/>
          </p:cNvSpPr>
          <p:nvPr/>
        </p:nvSpPr>
        <p:spPr bwMode="auto">
          <a:xfrm>
            <a:off x="356531" y="2709714"/>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9.6.1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二维</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Gabor</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滤波器函数的数学表达</a:t>
            </a:r>
            <a:endParaRPr lang="en-US" altLang="zh-CN" b="1"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b="1"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mn-ea"/>
                <a:cs typeface="Times New Roman" panose="02020603050405020304" pitchFamily="18" charset="0"/>
              </a:rPr>
              <a:t>数字图像处理的方法主要分为两大部分：</a:t>
            </a:r>
            <a:r>
              <a:rPr lang="zh-CN" altLang="en-US" kern="100" dirty="0">
                <a:solidFill>
                  <a:srgbClr val="FF0000"/>
                </a:solidFill>
                <a:latin typeface="+mn-ea"/>
                <a:cs typeface="Times New Roman" panose="02020603050405020304" pitchFamily="18" charset="0"/>
              </a:rPr>
              <a:t>空域分析法和频域分析法</a:t>
            </a:r>
            <a:r>
              <a:rPr lang="zh-CN" altLang="en-US" kern="100" dirty="0">
                <a:latin typeface="+mn-ea"/>
                <a:cs typeface="Times New Roman" panose="02020603050405020304" pitchFamily="18" charset="0"/>
              </a:rPr>
              <a:t>。</a:t>
            </a:r>
            <a:r>
              <a:rPr lang="zh-CN" altLang="en-US" kern="100" dirty="0">
                <a:solidFill>
                  <a:srgbClr val="FF0000"/>
                </a:solidFill>
                <a:latin typeface="+mn-ea"/>
                <a:cs typeface="Times New Roman" panose="02020603050405020304" pitchFamily="18" charset="0"/>
              </a:rPr>
              <a:t>空域分析法就是对图像矩阵进行处理；频域分析法是通过将图像从空域变换到频域，从领完一个角度分析图像的特征并进行处理</a:t>
            </a:r>
            <a:r>
              <a:rPr lang="zh-CN" altLang="en-US" kern="100" dirty="0">
                <a:latin typeface="+mn-ea"/>
                <a:cs typeface="Times New Roman" panose="02020603050405020304" pitchFamily="18" charset="0"/>
              </a:rPr>
              <a:t>。傅里叶变换是线性系统分析的有力工具，提供了一种把时域信号转换到频域进行分析的途径，从数字图像处理角度，傅里叶变换的物理意义是将图像的灰度分布函数变换为图像的频率分布函数。</a:t>
            </a:r>
            <a:endParaRPr lang="en-US" altLang="zh-CN" kern="100" dirty="0">
              <a:latin typeface="+mn-ea"/>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内容占位符 2"/>
          <p:cNvSpPr txBox="1">
            <a:spLocks noChangeArrowheads="1"/>
          </p:cNvSpPr>
          <p:nvPr/>
        </p:nvSpPr>
        <p:spPr bwMode="auto">
          <a:xfrm>
            <a:off x="360326" y="837506"/>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在图像处理领域，</a:t>
            </a:r>
            <a:r>
              <a:rPr lang="en-US" altLang="zh-CN" kern="100" dirty="0">
                <a:latin typeface="Times New Roman" panose="02020603050405020304" pitchFamily="18" charset="0"/>
                <a:ea typeface="宋体" pitchFamily="2" charset="-122"/>
                <a:cs typeface="Times New Roman" panose="02020603050405020304" pitchFamily="18" charset="0"/>
              </a:rPr>
              <a:t>Gabor</a:t>
            </a:r>
            <a:r>
              <a:rPr lang="zh-CN" altLang="en-US" kern="100" dirty="0">
                <a:latin typeface="Times New Roman" panose="02020603050405020304" pitchFamily="18" charset="0"/>
                <a:ea typeface="宋体" pitchFamily="2" charset="-122"/>
                <a:cs typeface="Times New Roman" panose="02020603050405020304" pitchFamily="18" charset="0"/>
              </a:rPr>
              <a:t>滤波器是一个用于边缘检测的线性滤波器。</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en-US" altLang="zh-CN"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其复数表达如公式</a:t>
            </a:r>
            <a:r>
              <a:rPr lang="en-US" altLang="zh-CN" kern="100" dirty="0">
                <a:latin typeface="Times New Roman" panose="02020603050405020304" pitchFamily="18" charset="0"/>
                <a:ea typeface="宋体" pitchFamily="2" charset="-122"/>
                <a:cs typeface="Times New Roman" panose="02020603050405020304" pitchFamily="18" charset="0"/>
              </a:rPr>
              <a:t>(9-17)</a:t>
            </a:r>
            <a:r>
              <a:rPr lang="zh-CN" altLang="en-US" kern="100" dirty="0">
                <a:latin typeface="Times New Roman" panose="02020603050405020304" pitchFamily="18" charset="0"/>
                <a:ea typeface="宋体" pitchFamily="2" charset="-122"/>
                <a:cs typeface="Times New Roman" panose="02020603050405020304" pitchFamily="18" charset="0"/>
              </a:rPr>
              <a:t>所示。</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nvGraphicFramePr>
            <p:xfrm>
              <a:off x="612354" y="2496074"/>
              <a:ext cx="10009112" cy="861712"/>
            </p:xfrm>
            <a:graphic>
              <a:graphicData uri="http://schemas.openxmlformats.org/drawingml/2006/table">
                <a:tbl>
                  <a:tblPr firstRow="1" firstCol="1" bandRow="1"/>
                  <a:tblGrid>
                    <a:gridCol w="10009112"/>
                  </a:tblGrid>
                  <a:tr h="861712">
                    <a:tc>
                      <a:txBody>
                        <a:bodyPr/>
                        <a:lstStyle/>
                        <a:p>
                          <a:pPr indent="266700" algn="just"/>
                          <a14:m>
                            <m:oMath xmlns:m="http://schemas.openxmlformats.org/officeDocument/2006/math">
                              <m:r>
                                <a:rPr lang="en-US" sz="2200" i="1" kern="100">
                                  <a:effectLst/>
                                  <a:latin typeface="Cambria Math" panose="02040503050406030204" pitchFamily="18" charset="0"/>
                                  <a:ea typeface="Times New Roman" panose="02020603050405020304" pitchFamily="18" charset="0"/>
                                </a:rPr>
                                <m:t>𝑔</m:t>
                              </m:r>
                              <m:d>
                                <m:dPr>
                                  <m:ctrlPr>
                                    <a:rPr lang="zh-CN" sz="2200" i="1" kern="100">
                                      <a:effectLst/>
                                      <a:latin typeface="Cambria Math" panose="02040503050406030204" pitchFamily="18" charset="0"/>
                                      <a:ea typeface="Cambria Math" panose="02040503050406030204" pitchFamily="18" charset="0"/>
                                    </a:rPr>
                                  </m:ctrlPr>
                                </m:dPr>
                                <m:e>
                                  <m:r>
                                    <a:rPr lang="en-US" sz="2200" i="1" kern="100">
                                      <a:effectLst/>
                                      <a:latin typeface="Cambria Math" panose="02040503050406030204" pitchFamily="18" charset="0"/>
                                      <a:ea typeface="Times New Roman" panose="02020603050405020304" pitchFamily="18" charset="0"/>
                                    </a:rPr>
                                    <m:t>𝑥</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𝑦</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𝜆</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𝜃</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𝜓</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𝜎</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𝛾</m:t>
                                  </m:r>
                                </m:e>
                              </m:d>
                              <m:r>
                                <a:rPr lang="en-US" sz="2200" i="1" kern="100">
                                  <a:effectLst/>
                                  <a:latin typeface="Cambria Math" panose="02040503050406030204" pitchFamily="18" charset="0"/>
                                  <a:ea typeface="Times New Roman" panose="02020603050405020304" pitchFamily="18" charset="0"/>
                                </a:rPr>
                                <m:t>=</m:t>
                              </m:r>
                              <m:r>
                                <m:rPr>
                                  <m:sty m:val="p"/>
                                </m:rPr>
                                <a:rPr lang="en-US" sz="2200" kern="100">
                                  <a:effectLst/>
                                  <a:latin typeface="Cambria Math" panose="02040503050406030204" pitchFamily="18" charset="0"/>
                                  <a:ea typeface="Times New Roman" panose="02020603050405020304" pitchFamily="18" charset="0"/>
                                </a:rPr>
                                <m:t>exp</m:t>
                              </m:r>
                              <m:r>
                                <a:rPr lang="en-US" sz="2200"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m:t>
                              </m:r>
                              <m:f>
                                <m:fPr>
                                  <m:ctrlPr>
                                    <a:rPr lang="zh-CN" sz="2200" i="1" kern="100">
                                      <a:effectLst/>
                                      <a:latin typeface="Cambria Math" panose="02040503050406030204" pitchFamily="18" charset="0"/>
                                      <a:ea typeface="Cambria Math" panose="02040503050406030204" pitchFamily="18" charset="0"/>
                                    </a:rPr>
                                  </m:ctrlPr>
                                </m:fPr>
                                <m:num>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𝑥</m:t>
                                      </m:r>
                                    </m:e>
                                    <m:sup>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2</m:t>
                                      </m:r>
                                    </m:sup>
                                  </m:sSup>
                                  <m:r>
                                    <a:rPr lang="en-US" sz="2200" i="1" kern="100">
                                      <a:effectLst/>
                                      <a:latin typeface="Cambria Math" panose="02040503050406030204" pitchFamily="18" charset="0"/>
                                      <a:ea typeface="Times New Roman" panose="02020603050405020304" pitchFamily="18" charset="0"/>
                                    </a:rPr>
                                    <m:t>+</m:t>
                                  </m:r>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𝛾</m:t>
                                      </m:r>
                                    </m:e>
                                    <m:sup>
                                      <m:r>
                                        <a:rPr lang="en-US" sz="2200" i="1" kern="100">
                                          <a:effectLst/>
                                          <a:latin typeface="Cambria Math" panose="02040503050406030204" pitchFamily="18" charset="0"/>
                                          <a:ea typeface="Times New Roman" panose="02020603050405020304" pitchFamily="18" charset="0"/>
                                        </a:rPr>
                                        <m:t>2</m:t>
                                      </m:r>
                                    </m:sup>
                                  </m:sSup>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𝑦</m:t>
                                      </m:r>
                                    </m:e>
                                    <m:sup>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2</m:t>
                                      </m:r>
                                    </m:sup>
                                  </m:sSup>
                                </m:num>
                                <m:den>
                                  <m:r>
                                    <a:rPr lang="en-US" sz="2200" i="1" kern="100">
                                      <a:effectLst/>
                                      <a:latin typeface="Cambria Math" panose="02040503050406030204" pitchFamily="18" charset="0"/>
                                      <a:ea typeface="Times New Roman" panose="02020603050405020304" pitchFamily="18" charset="0"/>
                                    </a:rPr>
                                    <m:t>2</m:t>
                                  </m:r>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𝜎</m:t>
                                      </m:r>
                                    </m:e>
                                    <m:sup>
                                      <m:r>
                                        <a:rPr lang="en-US" sz="2200" i="1" kern="100">
                                          <a:effectLst/>
                                          <a:latin typeface="Cambria Math" panose="02040503050406030204" pitchFamily="18" charset="0"/>
                                          <a:ea typeface="Times New Roman" panose="02020603050405020304" pitchFamily="18" charset="0"/>
                                        </a:rPr>
                                        <m:t>2</m:t>
                                      </m:r>
                                    </m:sup>
                                  </m:sSup>
                                </m:den>
                              </m:f>
                              <m:r>
                                <a:rPr lang="en-US" sz="2200" i="1" kern="100">
                                  <a:effectLst/>
                                  <a:latin typeface="Cambria Math" panose="02040503050406030204" pitchFamily="18" charset="0"/>
                                  <a:ea typeface="Times New Roman" panose="02020603050405020304" pitchFamily="18" charset="0"/>
                                </a:rPr>
                                <m:t>)</m:t>
                              </m:r>
                              <m:r>
                                <m:rPr>
                                  <m:sty m:val="p"/>
                                </m:rPr>
                                <a:rPr lang="en-US" sz="2200" kern="100">
                                  <a:effectLst/>
                                  <a:latin typeface="Cambria Math" panose="02040503050406030204" pitchFamily="18" charset="0"/>
                                  <a:ea typeface="Times New Roman" panose="02020603050405020304" pitchFamily="18" charset="0"/>
                                </a:rPr>
                                <m:t>exp</m:t>
                              </m:r>
                              <m:r>
                                <a:rPr lang="en-US" sz="2200"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𝑖</m:t>
                              </m:r>
                              <m:d>
                                <m:dPr>
                                  <m:ctrlPr>
                                    <a:rPr lang="zh-CN" sz="2200" i="1" kern="100">
                                      <a:effectLst/>
                                      <a:latin typeface="Cambria Math" panose="02040503050406030204" pitchFamily="18" charset="0"/>
                                      <a:ea typeface="Cambria Math" panose="02040503050406030204" pitchFamily="18" charset="0"/>
                                    </a:rPr>
                                  </m:ctrlPr>
                                </m:dPr>
                                <m:e>
                                  <m:r>
                                    <a:rPr lang="en-US" sz="2200" i="1" kern="100">
                                      <a:effectLst/>
                                      <a:latin typeface="Cambria Math" panose="02040503050406030204" pitchFamily="18" charset="0"/>
                                      <a:ea typeface="Times New Roman" panose="02020603050405020304" pitchFamily="18" charset="0"/>
                                    </a:rPr>
                                    <m:t>2</m:t>
                                  </m:r>
                                  <m:r>
                                    <a:rPr lang="en-US" sz="2200" i="1" kern="100">
                                      <a:effectLst/>
                                      <a:latin typeface="Cambria Math" panose="02040503050406030204" pitchFamily="18" charset="0"/>
                                      <a:ea typeface="Times New Roman" panose="02020603050405020304" pitchFamily="18" charset="0"/>
                                    </a:rPr>
                                    <m:t>𝜋</m:t>
                                  </m:r>
                                  <m:f>
                                    <m:fPr>
                                      <m:ctrlPr>
                                        <a:rPr lang="zh-CN" sz="2200" i="1" kern="100">
                                          <a:effectLst/>
                                          <a:latin typeface="Cambria Math" panose="02040503050406030204" pitchFamily="18" charset="0"/>
                                          <a:ea typeface="Cambria Math" panose="02040503050406030204" pitchFamily="18" charset="0"/>
                                        </a:rPr>
                                      </m:ctrlPr>
                                    </m:fPr>
                                    <m:num>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𝑥</m:t>
                                          </m:r>
                                        </m:e>
                                        <m:sup>
                                          <m:r>
                                            <a:rPr lang="en-US" sz="2200" i="1" kern="100">
                                              <a:effectLst/>
                                              <a:latin typeface="Cambria Math" panose="02040503050406030204" pitchFamily="18" charset="0"/>
                                              <a:ea typeface="Times New Roman" panose="02020603050405020304" pitchFamily="18" charset="0"/>
                                            </a:rPr>
                                            <m:t>′</m:t>
                                          </m:r>
                                        </m:sup>
                                      </m:sSup>
                                    </m:num>
                                    <m:den>
                                      <m:r>
                                        <a:rPr lang="en-US" sz="2200" i="1" kern="100">
                                          <a:effectLst/>
                                          <a:latin typeface="Cambria Math" panose="02040503050406030204" pitchFamily="18" charset="0"/>
                                          <a:ea typeface="Times New Roman" panose="02020603050405020304" pitchFamily="18" charset="0"/>
                                        </a:rPr>
                                        <m:t>𝜆</m:t>
                                      </m:r>
                                    </m:den>
                                  </m:f>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𝜓</m:t>
                                  </m:r>
                                </m:e>
                              </m:d>
                              <m:r>
                                <a:rPr lang="en-US" sz="2200" i="1" kern="100">
                                  <a:effectLst/>
                                  <a:latin typeface="Cambria Math" panose="02040503050406030204" pitchFamily="18" charset="0"/>
                                  <a:ea typeface="Times New Roman" panose="02020603050405020304" pitchFamily="18" charset="0"/>
                                </a:rPr>
                                <m:t>)</m:t>
                              </m:r>
                            </m:oMath>
                          </a14:m>
                          <a:r>
                            <a:rPr lang="en-US" altLang="zh-CN" sz="2200" kern="100" dirty="0">
                              <a:effectLst/>
                              <a:latin typeface="Times New Roman" panose="02020603050405020304" pitchFamily="18" charset="0"/>
                              <a:ea typeface="宋体" pitchFamily="2" charset="-122"/>
                            </a:rPr>
                            <a:t>     </a:t>
                          </a:r>
                          <a:r>
                            <a:rPr lang="en-US" altLang="zh-CN" sz="2200" kern="100" dirty="0">
                              <a:latin typeface="Times New Roman" panose="02020603050405020304" pitchFamily="18" charset="0"/>
                              <a:ea typeface="+mn-ea"/>
                              <a:cs typeface="Times New Roman" panose="02020603050405020304" pitchFamily="18" charset="0"/>
                            </a:rPr>
                            <a:t>(9-17)</a:t>
                          </a:r>
                          <a:r>
                            <a:rPr lang="en-US" altLang="zh-CN" sz="2200" kern="100" dirty="0">
                              <a:effectLst/>
                              <a:latin typeface="Times New Roman" panose="02020603050405020304" pitchFamily="18" charset="0"/>
                              <a:ea typeface="宋体" pitchFamily="2" charset="-122"/>
                            </a:rPr>
                            <a:t>      </a:t>
                          </a:r>
                          <a:endParaRPr lang="zh-CN" sz="2200" kern="100" dirty="0">
                            <a:effectLst/>
                            <a:latin typeface="Times New Roman" panose="02020603050405020304" pitchFamily="18" charset="0"/>
                            <a:ea typeface="宋体" pitchFamily="2" charset="-122"/>
                          </a:endParaRPr>
                        </a:p>
                      </a:txBody>
                      <a:tcPr marL="68580" marR="68580" marT="0" marB="0">
                        <a:lnL>
                          <a:noFill/>
                        </a:lnL>
                        <a:lnR>
                          <a:noFill/>
                        </a:lnR>
                        <a:lnT>
                          <a:noFill/>
                        </a:lnT>
                        <a:lnB>
                          <a:noFill/>
                        </a:lnB>
                      </a:tcPr>
                    </a:tc>
                  </a:tr>
                </a:tbl>
              </a:graphicData>
            </a:graphic>
          </p:graphicFrame>
        </mc:Choice>
        <mc:Fallback xmlns="">
          <p:graphicFrame>
            <p:nvGraphicFramePr>
              <p:cNvPr id="5" name="表格 4"/>
              <p:cNvGraphicFramePr>
                <a:graphicFrameLocks noGrp="1"/>
              </p:cNvGraphicFramePr>
              <p:nvPr/>
            </p:nvGraphicFramePr>
            <p:xfrm>
              <a:off x="612354" y="2496074"/>
              <a:ext cx="10009112" cy="861712"/>
            </p:xfrm>
            <a:graphic>
              <a:graphicData uri="http://schemas.openxmlformats.org/drawingml/2006/table">
                <a:tbl>
                  <a:tblPr firstRow="1" firstCol="1" bandRow="1"/>
                  <a:tblGrid>
                    <a:gridCol w="10009112"/>
                  </a:tblGrid>
                  <a:tr h="861695">
                    <a:tc>
                      <a:txBody>
                        <a:bodyPr/>
                        <a:lstStyle/>
                        <a:p>
                          <a:endParaRPr lang="zh-CN"/>
                        </a:p>
                      </a:txBody>
                      <a:tcPr marL="68580" marR="68580" marT="0" marB="0">
                        <a:lnL>
                          <a:noFill/>
                        </a:lnL>
                        <a:lnR>
                          <a:noFill/>
                        </a:lnR>
                        <a:lnT>
                          <a:noFill/>
                        </a:lnT>
                        <a:lnB>
                          <a:noFill/>
                        </a:lnB>
                        <a:blipFill>
                          <a:blip r:embed="rId1"/>
                        </a:blipFill>
                      </a:tcPr>
                    </a:tc>
                  </a:tr>
                </a:tbl>
              </a:graphicData>
            </a:graphic>
          </p:graphicFrame>
        </mc:Fallback>
      </mc:AlternateContent>
      <p:sp>
        <p:nvSpPr>
          <p:cNvPr id="14" name="文本框 13"/>
          <p:cNvSpPr txBox="1"/>
          <p:nvPr/>
        </p:nvSpPr>
        <p:spPr>
          <a:xfrm>
            <a:off x="828378" y="3184153"/>
            <a:ext cx="8296283" cy="461665"/>
          </a:xfrm>
          <a:prstGeom prst="rect">
            <a:avLst/>
          </a:prstGeom>
          <a:noFill/>
        </p:spPr>
        <p:txBody>
          <a:bodyPr wrap="square">
            <a:spAutoFit/>
          </a:bodyPr>
          <a:lstStyle/>
          <a:p>
            <a:r>
              <a:rPr lang="zh-CN" altLang="zh-CN" sz="2400" kern="100" dirty="0">
                <a:effectLst/>
                <a:latin typeface="Times New Roman" panose="02020603050405020304" pitchFamily="18" charset="0"/>
                <a:ea typeface="宋体" pitchFamily="2" charset="-122"/>
                <a:cs typeface="Times New Roman" panose="02020603050405020304" pitchFamily="18" charset="0"/>
              </a:rPr>
              <a:t>实数部分可以对图像进行平滑滤波，如公式</a:t>
            </a:r>
            <a:r>
              <a:rPr lang="en-US" altLang="zh-CN" sz="2400" kern="100" dirty="0">
                <a:effectLst/>
                <a:latin typeface="Times New Roman" panose="02020603050405020304" pitchFamily="18" charset="0"/>
                <a:ea typeface="宋体" pitchFamily="2" charset="-122"/>
              </a:rPr>
              <a:t>(9-18)</a:t>
            </a:r>
            <a:r>
              <a:rPr lang="zh-CN" altLang="zh-CN" sz="2400" kern="100" dirty="0">
                <a:effectLst/>
                <a:latin typeface="Times New Roman" panose="02020603050405020304" pitchFamily="18" charset="0"/>
                <a:ea typeface="宋体" pitchFamily="2" charset="-122"/>
                <a:cs typeface="Times New Roman" panose="02020603050405020304" pitchFamily="18" charset="0"/>
              </a:rPr>
              <a:t>所示。</a:t>
            </a:r>
            <a:endParaRPr lang="zh-CN" altLang="en-US" dirty="0"/>
          </a:p>
        </p:txBody>
      </p:sp>
      <mc:AlternateContent xmlns:mc="http://schemas.openxmlformats.org/markup-compatibility/2006" xmlns:a14="http://schemas.microsoft.com/office/drawing/2010/main">
        <mc:Choice Requires="a14">
          <p:graphicFrame>
            <p:nvGraphicFramePr>
              <p:cNvPr id="7" name="表格 6"/>
              <p:cNvGraphicFramePr>
                <a:graphicFrameLocks noGrp="1"/>
              </p:cNvGraphicFramePr>
              <p:nvPr/>
            </p:nvGraphicFramePr>
            <p:xfrm>
              <a:off x="828378" y="3762585"/>
              <a:ext cx="9757369" cy="531305"/>
            </p:xfrm>
            <a:graphic>
              <a:graphicData uri="http://schemas.openxmlformats.org/drawingml/2006/table">
                <a:tbl>
                  <a:tblPr firstRow="1" firstCol="1" bandRow="1"/>
                  <a:tblGrid>
                    <a:gridCol w="9757369"/>
                  </a:tblGrid>
                  <a:tr h="0">
                    <a:tc>
                      <a:txBody>
                        <a:bodyPr/>
                        <a:lstStyle/>
                        <a:p>
                          <a:pPr indent="266700" algn="just"/>
                          <a14:m>
                            <m:oMath xmlns:m="http://schemas.openxmlformats.org/officeDocument/2006/math">
                              <m:r>
                                <a:rPr lang="en-US" sz="2200" i="1" kern="100">
                                  <a:effectLst/>
                                  <a:latin typeface="Cambria Math" panose="02040503050406030204" pitchFamily="18" charset="0"/>
                                  <a:ea typeface="Times New Roman" panose="02020603050405020304" pitchFamily="18" charset="0"/>
                                </a:rPr>
                                <m:t>𝑔</m:t>
                              </m:r>
                              <m:d>
                                <m:dPr>
                                  <m:ctrlPr>
                                    <a:rPr lang="zh-CN" sz="2200" i="1" kern="100">
                                      <a:effectLst/>
                                      <a:latin typeface="Cambria Math" panose="02040503050406030204" pitchFamily="18" charset="0"/>
                                      <a:ea typeface="Cambria Math" panose="02040503050406030204" pitchFamily="18" charset="0"/>
                                    </a:rPr>
                                  </m:ctrlPr>
                                </m:dPr>
                                <m:e>
                                  <m:r>
                                    <a:rPr lang="en-US" sz="2200" i="1" kern="100">
                                      <a:effectLst/>
                                      <a:latin typeface="Cambria Math" panose="02040503050406030204" pitchFamily="18" charset="0"/>
                                      <a:ea typeface="Times New Roman" panose="02020603050405020304" pitchFamily="18" charset="0"/>
                                    </a:rPr>
                                    <m:t>𝑥</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𝑦</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𝜆</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𝜃</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𝜓</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𝜎</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𝛾</m:t>
                                  </m:r>
                                </m:e>
                              </m:d>
                              <m:r>
                                <a:rPr lang="en-US" sz="2200" i="1" kern="100">
                                  <a:effectLst/>
                                  <a:latin typeface="Cambria Math" panose="02040503050406030204" pitchFamily="18" charset="0"/>
                                  <a:ea typeface="Times New Roman" panose="02020603050405020304" pitchFamily="18" charset="0"/>
                                </a:rPr>
                                <m:t>=</m:t>
                              </m:r>
                              <m:r>
                                <m:rPr>
                                  <m:sty m:val="p"/>
                                </m:rPr>
                                <a:rPr lang="en-US" sz="2200" kern="100">
                                  <a:effectLst/>
                                  <a:latin typeface="Cambria Math" panose="02040503050406030204" pitchFamily="18" charset="0"/>
                                  <a:ea typeface="Times New Roman" panose="02020603050405020304" pitchFamily="18" charset="0"/>
                                </a:rPr>
                                <m:t>exp</m:t>
                              </m:r>
                              <m:r>
                                <a:rPr lang="en-US" sz="2200"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m:t>
                              </m:r>
                              <m:f>
                                <m:fPr>
                                  <m:ctrlPr>
                                    <a:rPr lang="zh-CN" sz="2200" i="1" kern="100">
                                      <a:effectLst/>
                                      <a:latin typeface="Cambria Math" panose="02040503050406030204" pitchFamily="18" charset="0"/>
                                      <a:ea typeface="Cambria Math" panose="02040503050406030204" pitchFamily="18" charset="0"/>
                                    </a:rPr>
                                  </m:ctrlPr>
                                </m:fPr>
                                <m:num>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𝑥</m:t>
                                      </m:r>
                                    </m:e>
                                    <m:sup>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2</m:t>
                                      </m:r>
                                    </m:sup>
                                  </m:sSup>
                                  <m:r>
                                    <a:rPr lang="en-US" sz="2200" i="1" kern="100">
                                      <a:effectLst/>
                                      <a:latin typeface="Cambria Math" panose="02040503050406030204" pitchFamily="18" charset="0"/>
                                      <a:ea typeface="Times New Roman" panose="02020603050405020304" pitchFamily="18" charset="0"/>
                                    </a:rPr>
                                    <m:t>+</m:t>
                                  </m:r>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𝛾</m:t>
                                      </m:r>
                                    </m:e>
                                    <m:sup>
                                      <m:r>
                                        <a:rPr lang="en-US" sz="2200" i="1" kern="100">
                                          <a:effectLst/>
                                          <a:latin typeface="Cambria Math" panose="02040503050406030204" pitchFamily="18" charset="0"/>
                                          <a:ea typeface="Times New Roman" panose="02020603050405020304" pitchFamily="18" charset="0"/>
                                        </a:rPr>
                                        <m:t>2</m:t>
                                      </m:r>
                                    </m:sup>
                                  </m:sSup>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𝑦</m:t>
                                      </m:r>
                                    </m:e>
                                    <m:sup>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2</m:t>
                                      </m:r>
                                    </m:sup>
                                  </m:sSup>
                                </m:num>
                                <m:den>
                                  <m:r>
                                    <a:rPr lang="en-US" sz="2200" i="1" kern="100">
                                      <a:effectLst/>
                                      <a:latin typeface="Cambria Math" panose="02040503050406030204" pitchFamily="18" charset="0"/>
                                      <a:ea typeface="Times New Roman" panose="02020603050405020304" pitchFamily="18" charset="0"/>
                                    </a:rPr>
                                    <m:t>2</m:t>
                                  </m:r>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𝜎</m:t>
                                      </m:r>
                                    </m:e>
                                    <m:sup>
                                      <m:r>
                                        <a:rPr lang="en-US" sz="2200" i="1" kern="100">
                                          <a:effectLst/>
                                          <a:latin typeface="Cambria Math" panose="02040503050406030204" pitchFamily="18" charset="0"/>
                                          <a:ea typeface="Times New Roman" panose="02020603050405020304" pitchFamily="18" charset="0"/>
                                        </a:rPr>
                                        <m:t>2</m:t>
                                      </m:r>
                                    </m:sup>
                                  </m:sSup>
                                </m:den>
                              </m:f>
                              <m:r>
                                <a:rPr lang="en-US" sz="2200" i="1" kern="100">
                                  <a:effectLst/>
                                  <a:latin typeface="Cambria Math" panose="02040503050406030204" pitchFamily="18" charset="0"/>
                                  <a:ea typeface="Times New Roman" panose="02020603050405020304" pitchFamily="18" charset="0"/>
                                </a:rPr>
                                <m:t>)</m:t>
                              </m:r>
                              <m:r>
                                <m:rPr>
                                  <m:sty m:val="p"/>
                                </m:rPr>
                                <a:rPr lang="en-US" sz="2200" kern="100">
                                  <a:effectLst/>
                                  <a:latin typeface="Cambria Math" panose="02040503050406030204" pitchFamily="18" charset="0"/>
                                  <a:ea typeface="Times New Roman" panose="02020603050405020304" pitchFamily="18" charset="0"/>
                                </a:rPr>
                                <m:t>cos</m:t>
                              </m:r>
                              <m:r>
                                <a:rPr lang="en-US" sz="2200" kern="100">
                                  <a:effectLst/>
                                  <a:latin typeface="Cambria Math" panose="02040503050406030204" pitchFamily="18" charset="0"/>
                                  <a:ea typeface="Times New Roman" panose="02020603050405020304" pitchFamily="18" charset="0"/>
                                </a:rPr>
                                <m:t>⁡</m:t>
                              </m:r>
                              <m:d>
                                <m:dPr>
                                  <m:ctrlPr>
                                    <a:rPr lang="zh-CN" sz="2200" i="1" kern="100">
                                      <a:effectLst/>
                                      <a:latin typeface="Cambria Math" panose="02040503050406030204" pitchFamily="18" charset="0"/>
                                      <a:ea typeface="Cambria Math" panose="02040503050406030204" pitchFamily="18" charset="0"/>
                                    </a:rPr>
                                  </m:ctrlPr>
                                </m:dPr>
                                <m:e>
                                  <m:r>
                                    <a:rPr lang="en-US" sz="2200" i="1" kern="100">
                                      <a:effectLst/>
                                      <a:latin typeface="Cambria Math" panose="02040503050406030204" pitchFamily="18" charset="0"/>
                                      <a:ea typeface="Times New Roman" panose="02020603050405020304" pitchFamily="18" charset="0"/>
                                    </a:rPr>
                                    <m:t>2</m:t>
                                  </m:r>
                                  <m:r>
                                    <a:rPr lang="en-US" sz="2200" i="1" kern="100">
                                      <a:effectLst/>
                                      <a:latin typeface="Cambria Math" panose="02040503050406030204" pitchFamily="18" charset="0"/>
                                      <a:ea typeface="Times New Roman" panose="02020603050405020304" pitchFamily="18" charset="0"/>
                                    </a:rPr>
                                    <m:t>𝜋</m:t>
                                  </m:r>
                                  <m:f>
                                    <m:fPr>
                                      <m:ctrlPr>
                                        <a:rPr lang="zh-CN" sz="2200" i="1" kern="100">
                                          <a:effectLst/>
                                          <a:latin typeface="Cambria Math" panose="02040503050406030204" pitchFamily="18" charset="0"/>
                                          <a:ea typeface="Cambria Math" panose="02040503050406030204" pitchFamily="18" charset="0"/>
                                        </a:rPr>
                                      </m:ctrlPr>
                                    </m:fPr>
                                    <m:num>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𝑥</m:t>
                                          </m:r>
                                        </m:e>
                                        <m:sup>
                                          <m:r>
                                            <a:rPr lang="en-US" sz="2200" i="1" kern="100">
                                              <a:effectLst/>
                                              <a:latin typeface="Cambria Math" panose="02040503050406030204" pitchFamily="18" charset="0"/>
                                              <a:ea typeface="Times New Roman" panose="02020603050405020304" pitchFamily="18" charset="0"/>
                                            </a:rPr>
                                            <m:t>′</m:t>
                                          </m:r>
                                        </m:sup>
                                      </m:sSup>
                                    </m:num>
                                    <m:den>
                                      <m:r>
                                        <a:rPr lang="en-US" sz="2200" i="1" kern="100">
                                          <a:effectLst/>
                                          <a:latin typeface="Cambria Math" panose="02040503050406030204" pitchFamily="18" charset="0"/>
                                          <a:ea typeface="Times New Roman" panose="02020603050405020304" pitchFamily="18" charset="0"/>
                                        </a:rPr>
                                        <m:t>𝜆</m:t>
                                      </m:r>
                                    </m:den>
                                  </m:f>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𝜓</m:t>
                                  </m:r>
                                </m:e>
                              </m:d>
                            </m:oMath>
                          </a14:m>
                          <a:r>
                            <a:rPr lang="en-US" altLang="zh-CN" sz="2200" b="1" kern="100" dirty="0">
                              <a:effectLst/>
                              <a:latin typeface="Times New Roman" panose="02020603050405020304" pitchFamily="18" charset="0"/>
                              <a:ea typeface="宋体" pitchFamily="2" charset="-122"/>
                            </a:rPr>
                            <a:t>     </a:t>
                          </a:r>
                          <a:r>
                            <a:rPr lang="en-US" altLang="zh-CN" sz="2200" b="1" kern="100" baseline="0" dirty="0">
                              <a:effectLst/>
                              <a:latin typeface="Times New Roman" panose="02020603050405020304" pitchFamily="18" charset="0"/>
                              <a:ea typeface="宋体" pitchFamily="2" charset="-122"/>
                            </a:rPr>
                            <a:t> </a:t>
                          </a:r>
                          <a:r>
                            <a:rPr lang="en-US" altLang="zh-CN" sz="2200" b="1" kern="100" dirty="0">
                              <a:effectLst/>
                              <a:latin typeface="Times New Roman" panose="02020603050405020304" pitchFamily="18" charset="0"/>
                              <a:ea typeface="宋体" pitchFamily="2" charset="-122"/>
                            </a:rPr>
                            <a:t> </a:t>
                          </a:r>
                          <a:r>
                            <a:rPr lang="en-US" altLang="zh-CN" sz="2200" kern="100" dirty="0">
                              <a:latin typeface="Times New Roman" panose="02020603050405020304" pitchFamily="18" charset="0"/>
                              <a:ea typeface="+mn-ea"/>
                              <a:cs typeface="Times New Roman" panose="02020603050405020304" pitchFamily="18" charset="0"/>
                            </a:rPr>
                            <a:t>(9-18)</a:t>
                          </a:r>
                          <a:r>
                            <a:rPr lang="en-US" altLang="zh-CN" sz="2200" kern="100" dirty="0">
                              <a:effectLst/>
                              <a:latin typeface="Times New Roman" panose="02020603050405020304" pitchFamily="18" charset="0"/>
                              <a:ea typeface="+mn-ea"/>
                            </a:rPr>
                            <a:t> </a:t>
                          </a:r>
                          <a:endParaRPr lang="zh-CN" sz="2200" kern="100" dirty="0">
                            <a:effectLst/>
                            <a:latin typeface="Times New Roman" panose="02020603050405020304" pitchFamily="18" charset="0"/>
                            <a:ea typeface="宋体" pitchFamily="2" charset="-122"/>
                          </a:endParaRPr>
                        </a:p>
                      </a:txBody>
                      <a:tcPr marL="68580" marR="68580" marT="0" marB="0">
                        <a:lnL>
                          <a:noFill/>
                        </a:lnL>
                        <a:lnR>
                          <a:noFill/>
                        </a:lnR>
                        <a:lnT>
                          <a:noFill/>
                        </a:lnT>
                        <a:lnB>
                          <a:noFill/>
                        </a:lnB>
                      </a:tcPr>
                    </a:tc>
                  </a:tr>
                </a:tbl>
              </a:graphicData>
            </a:graphic>
          </p:graphicFrame>
        </mc:Choice>
        <mc:Fallback xmlns="">
          <p:graphicFrame>
            <p:nvGraphicFramePr>
              <p:cNvPr id="7" name="表格 6"/>
              <p:cNvGraphicFramePr>
                <a:graphicFrameLocks noGrp="1"/>
              </p:cNvGraphicFramePr>
              <p:nvPr/>
            </p:nvGraphicFramePr>
            <p:xfrm>
              <a:off x="828378" y="3762585"/>
              <a:ext cx="9757369" cy="531305"/>
            </p:xfrm>
            <a:graphic>
              <a:graphicData uri="http://schemas.openxmlformats.org/drawingml/2006/table">
                <a:tbl>
                  <a:tblPr firstRow="1" firstCol="1" bandRow="1"/>
                  <a:tblGrid>
                    <a:gridCol w="9757369"/>
                  </a:tblGrid>
                  <a:tr h="539115">
                    <a:tc>
                      <a:txBody>
                        <a:bodyPr/>
                        <a:lstStyle/>
                        <a:p>
                          <a:endParaRPr lang="zh-CN"/>
                        </a:p>
                      </a:txBody>
                      <a:tcPr marL="68580" marR="68580" marT="0" marB="0">
                        <a:lnL>
                          <a:noFill/>
                        </a:lnL>
                        <a:lnR>
                          <a:noFill/>
                        </a:lnR>
                        <a:lnT>
                          <a:noFill/>
                        </a:lnT>
                        <a:lnB>
                          <a:noFill/>
                        </a:lnB>
                        <a:blipFill>
                          <a:blip r:embed="rId2"/>
                        </a:blipFill>
                      </a:tcPr>
                    </a:tc>
                  </a:tr>
                </a:tbl>
              </a:graphicData>
            </a:graphic>
          </p:graphicFrame>
        </mc:Fallback>
      </mc:AlternateContent>
      <p:sp>
        <p:nvSpPr>
          <p:cNvPr id="17" name="文本框 16"/>
          <p:cNvSpPr txBox="1"/>
          <p:nvPr/>
        </p:nvSpPr>
        <p:spPr>
          <a:xfrm>
            <a:off x="594817" y="4365898"/>
            <a:ext cx="8994179" cy="461665"/>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虚数部分可以对图像做边缘检测，如公式</a:t>
            </a:r>
            <a:r>
              <a:rPr lang="en-US" altLang="zh-CN" sz="2400" kern="100" dirty="0">
                <a:effectLst/>
                <a:latin typeface="Times New Roman" panose="02020603050405020304" pitchFamily="18" charset="0"/>
                <a:ea typeface="宋体" pitchFamily="2" charset="-122"/>
              </a:rPr>
              <a:t>(9-19)</a:t>
            </a:r>
            <a:r>
              <a:rPr lang="zh-CN" altLang="zh-CN" sz="2400" kern="100" dirty="0">
                <a:effectLst/>
                <a:latin typeface="Times New Roman" panose="02020603050405020304" pitchFamily="18" charset="0"/>
                <a:ea typeface="宋体" pitchFamily="2" charset="-122"/>
              </a:rPr>
              <a:t>所示。</a:t>
            </a:r>
            <a:endParaRPr lang="zh-CN" altLang="zh-CN" sz="2400" kern="100" dirty="0">
              <a:effectLst/>
              <a:latin typeface="Times New Roman" panose="02020603050405020304" pitchFamily="18" charset="0"/>
              <a:ea typeface="宋体" pitchFamily="2" charset="-122"/>
            </a:endParaRPr>
          </a:p>
        </p:txBody>
      </p:sp>
      <mc:AlternateContent xmlns:mc="http://schemas.openxmlformats.org/markup-compatibility/2006" xmlns:a14="http://schemas.microsoft.com/office/drawing/2010/main">
        <mc:Choice Requires="a14">
          <p:graphicFrame>
            <p:nvGraphicFramePr>
              <p:cNvPr id="12" name="表格 11"/>
              <p:cNvGraphicFramePr>
                <a:graphicFrameLocks noGrp="1"/>
              </p:cNvGraphicFramePr>
              <p:nvPr/>
            </p:nvGraphicFramePr>
            <p:xfrm>
              <a:off x="792374" y="4842705"/>
              <a:ext cx="7956884" cy="531305"/>
            </p:xfrm>
            <a:graphic>
              <a:graphicData uri="http://schemas.openxmlformats.org/drawingml/2006/table">
                <a:tbl>
                  <a:tblPr firstRow="1" firstCol="1" bandRow="1"/>
                  <a:tblGrid>
                    <a:gridCol w="7956884"/>
                  </a:tblGrid>
                  <a:tr h="0">
                    <a:tc>
                      <a:txBody>
                        <a:bodyPr/>
                        <a:lstStyle/>
                        <a:p>
                          <a:pPr indent="266700" algn="just"/>
                          <a14:m>
                            <m:oMath xmlns:m="http://schemas.openxmlformats.org/officeDocument/2006/math">
                              <m:r>
                                <a:rPr lang="en-US" sz="2200" i="1" kern="100">
                                  <a:effectLst/>
                                  <a:latin typeface="Cambria Math" panose="02040503050406030204" pitchFamily="18" charset="0"/>
                                  <a:ea typeface="Times New Roman" panose="02020603050405020304" pitchFamily="18" charset="0"/>
                                </a:rPr>
                                <m:t>𝑔</m:t>
                              </m:r>
                              <m:d>
                                <m:dPr>
                                  <m:ctrlPr>
                                    <a:rPr lang="zh-CN" sz="2200" i="1" kern="100">
                                      <a:effectLst/>
                                      <a:latin typeface="Cambria Math" panose="02040503050406030204" pitchFamily="18" charset="0"/>
                                      <a:ea typeface="Cambria Math" panose="02040503050406030204" pitchFamily="18" charset="0"/>
                                    </a:rPr>
                                  </m:ctrlPr>
                                </m:dPr>
                                <m:e>
                                  <m:r>
                                    <a:rPr lang="en-US" sz="2200" i="1" kern="100">
                                      <a:effectLst/>
                                      <a:latin typeface="Cambria Math" panose="02040503050406030204" pitchFamily="18" charset="0"/>
                                      <a:ea typeface="Times New Roman" panose="02020603050405020304" pitchFamily="18" charset="0"/>
                                    </a:rPr>
                                    <m:t>𝑥</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𝑦</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𝜆</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𝜃</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𝜓</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𝜎</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𝛾</m:t>
                                  </m:r>
                                </m:e>
                              </m:d>
                              <m:r>
                                <a:rPr lang="en-US" sz="2200" i="1" kern="100">
                                  <a:effectLst/>
                                  <a:latin typeface="Cambria Math" panose="02040503050406030204" pitchFamily="18" charset="0"/>
                                  <a:ea typeface="Times New Roman" panose="02020603050405020304" pitchFamily="18" charset="0"/>
                                </a:rPr>
                                <m:t>=</m:t>
                              </m:r>
                              <m:r>
                                <m:rPr>
                                  <m:sty m:val="p"/>
                                </m:rPr>
                                <a:rPr lang="en-US" sz="2200" kern="100">
                                  <a:effectLst/>
                                  <a:latin typeface="Cambria Math" panose="02040503050406030204" pitchFamily="18" charset="0"/>
                                  <a:ea typeface="Times New Roman" panose="02020603050405020304" pitchFamily="18" charset="0"/>
                                </a:rPr>
                                <m:t>exp</m:t>
                              </m:r>
                              <m:r>
                                <a:rPr lang="en-US" sz="2200"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m:t>
                              </m:r>
                              <m:f>
                                <m:fPr>
                                  <m:ctrlPr>
                                    <a:rPr lang="zh-CN" sz="2200" i="1" kern="100">
                                      <a:effectLst/>
                                      <a:latin typeface="Cambria Math" panose="02040503050406030204" pitchFamily="18" charset="0"/>
                                      <a:ea typeface="Cambria Math" panose="02040503050406030204" pitchFamily="18" charset="0"/>
                                    </a:rPr>
                                  </m:ctrlPr>
                                </m:fPr>
                                <m:num>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𝑥</m:t>
                                      </m:r>
                                    </m:e>
                                    <m:sup>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2</m:t>
                                      </m:r>
                                    </m:sup>
                                  </m:sSup>
                                  <m:r>
                                    <a:rPr lang="en-US" sz="2200" i="1" kern="100">
                                      <a:effectLst/>
                                      <a:latin typeface="Cambria Math" panose="02040503050406030204" pitchFamily="18" charset="0"/>
                                      <a:ea typeface="Times New Roman" panose="02020603050405020304" pitchFamily="18" charset="0"/>
                                    </a:rPr>
                                    <m:t>+</m:t>
                                  </m:r>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𝛾</m:t>
                                      </m:r>
                                    </m:e>
                                    <m:sup>
                                      <m:r>
                                        <a:rPr lang="en-US" sz="2200" i="1" kern="100">
                                          <a:effectLst/>
                                          <a:latin typeface="Cambria Math" panose="02040503050406030204" pitchFamily="18" charset="0"/>
                                          <a:ea typeface="Times New Roman" panose="02020603050405020304" pitchFamily="18" charset="0"/>
                                        </a:rPr>
                                        <m:t>2</m:t>
                                      </m:r>
                                    </m:sup>
                                  </m:sSup>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𝑦</m:t>
                                      </m:r>
                                    </m:e>
                                    <m:sup>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2</m:t>
                                      </m:r>
                                    </m:sup>
                                  </m:sSup>
                                </m:num>
                                <m:den>
                                  <m:r>
                                    <a:rPr lang="en-US" sz="2200" i="1" kern="100">
                                      <a:effectLst/>
                                      <a:latin typeface="Cambria Math" panose="02040503050406030204" pitchFamily="18" charset="0"/>
                                      <a:ea typeface="Times New Roman" panose="02020603050405020304" pitchFamily="18" charset="0"/>
                                    </a:rPr>
                                    <m:t>2</m:t>
                                  </m:r>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𝜎</m:t>
                                      </m:r>
                                    </m:e>
                                    <m:sup>
                                      <m:r>
                                        <a:rPr lang="en-US" sz="2200" i="1" kern="100">
                                          <a:effectLst/>
                                          <a:latin typeface="Cambria Math" panose="02040503050406030204" pitchFamily="18" charset="0"/>
                                          <a:ea typeface="Times New Roman" panose="02020603050405020304" pitchFamily="18" charset="0"/>
                                        </a:rPr>
                                        <m:t>2</m:t>
                                      </m:r>
                                    </m:sup>
                                  </m:sSup>
                                </m:den>
                              </m:f>
                              <m:r>
                                <a:rPr lang="en-US" sz="2200" i="1" kern="100">
                                  <a:effectLst/>
                                  <a:latin typeface="Cambria Math" panose="02040503050406030204" pitchFamily="18" charset="0"/>
                                  <a:ea typeface="Times New Roman" panose="02020603050405020304" pitchFamily="18" charset="0"/>
                                </a:rPr>
                                <m:t>)</m:t>
                              </m:r>
                              <m:r>
                                <m:rPr>
                                  <m:sty m:val="p"/>
                                </m:rPr>
                                <a:rPr lang="en-US" sz="2200" kern="100">
                                  <a:effectLst/>
                                  <a:latin typeface="Cambria Math" panose="02040503050406030204" pitchFamily="18" charset="0"/>
                                  <a:ea typeface="Times New Roman" panose="02020603050405020304" pitchFamily="18" charset="0"/>
                                </a:rPr>
                                <m:t>sin</m:t>
                              </m:r>
                              <m:r>
                                <a:rPr lang="en-US" sz="2200" kern="100">
                                  <a:effectLst/>
                                  <a:latin typeface="Cambria Math" panose="02040503050406030204" pitchFamily="18" charset="0"/>
                                  <a:ea typeface="Times New Roman" panose="02020603050405020304" pitchFamily="18" charset="0"/>
                                </a:rPr>
                                <m:t>⁡</m:t>
                              </m:r>
                              <m:d>
                                <m:dPr>
                                  <m:ctrlPr>
                                    <a:rPr lang="zh-CN" sz="2200" i="1" kern="100">
                                      <a:effectLst/>
                                      <a:latin typeface="Cambria Math" panose="02040503050406030204" pitchFamily="18" charset="0"/>
                                      <a:ea typeface="Cambria Math" panose="02040503050406030204" pitchFamily="18" charset="0"/>
                                    </a:rPr>
                                  </m:ctrlPr>
                                </m:dPr>
                                <m:e>
                                  <m:r>
                                    <a:rPr lang="en-US" sz="2200" i="1" kern="100">
                                      <a:effectLst/>
                                      <a:latin typeface="Cambria Math" panose="02040503050406030204" pitchFamily="18" charset="0"/>
                                      <a:ea typeface="Times New Roman" panose="02020603050405020304" pitchFamily="18" charset="0"/>
                                    </a:rPr>
                                    <m:t>2</m:t>
                                  </m:r>
                                  <m:r>
                                    <a:rPr lang="en-US" sz="2200" i="1" kern="100">
                                      <a:effectLst/>
                                      <a:latin typeface="Cambria Math" panose="02040503050406030204" pitchFamily="18" charset="0"/>
                                      <a:ea typeface="Times New Roman" panose="02020603050405020304" pitchFamily="18" charset="0"/>
                                    </a:rPr>
                                    <m:t>𝜋</m:t>
                                  </m:r>
                                  <m:f>
                                    <m:fPr>
                                      <m:ctrlPr>
                                        <a:rPr lang="zh-CN" sz="2200" i="1" kern="100">
                                          <a:effectLst/>
                                          <a:latin typeface="Cambria Math" panose="02040503050406030204" pitchFamily="18" charset="0"/>
                                          <a:ea typeface="Cambria Math" panose="02040503050406030204" pitchFamily="18" charset="0"/>
                                        </a:rPr>
                                      </m:ctrlPr>
                                    </m:fPr>
                                    <m:num>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𝑥</m:t>
                                          </m:r>
                                        </m:e>
                                        <m:sup>
                                          <m:r>
                                            <a:rPr lang="en-US" sz="2200" i="1" kern="100">
                                              <a:effectLst/>
                                              <a:latin typeface="Cambria Math" panose="02040503050406030204" pitchFamily="18" charset="0"/>
                                              <a:ea typeface="Times New Roman" panose="02020603050405020304" pitchFamily="18" charset="0"/>
                                            </a:rPr>
                                            <m:t>′</m:t>
                                          </m:r>
                                        </m:sup>
                                      </m:sSup>
                                    </m:num>
                                    <m:den>
                                      <m:r>
                                        <a:rPr lang="en-US" sz="2200" i="1" kern="100">
                                          <a:effectLst/>
                                          <a:latin typeface="Cambria Math" panose="02040503050406030204" pitchFamily="18" charset="0"/>
                                          <a:ea typeface="Times New Roman" panose="02020603050405020304" pitchFamily="18" charset="0"/>
                                        </a:rPr>
                                        <m:t>𝜆</m:t>
                                      </m:r>
                                    </m:den>
                                  </m:f>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𝜓</m:t>
                                  </m:r>
                                </m:e>
                              </m:d>
                            </m:oMath>
                          </a14:m>
                          <a:r>
                            <a:rPr lang="en-US" altLang="zh-CN" sz="2200" kern="100" dirty="0">
                              <a:latin typeface="Times New Roman" panose="02020603050405020304" pitchFamily="18" charset="0"/>
                              <a:ea typeface="+mn-ea"/>
                              <a:cs typeface="Times New Roman" panose="02020603050405020304" pitchFamily="18" charset="0"/>
                            </a:rPr>
                            <a:t>        (9-19)</a:t>
                          </a:r>
                          <a:r>
                            <a:rPr lang="en-US" altLang="zh-CN" sz="2200" kern="100" dirty="0">
                              <a:effectLst/>
                              <a:latin typeface="Times New Roman" panose="02020603050405020304" pitchFamily="18" charset="0"/>
                              <a:ea typeface="+mn-ea"/>
                            </a:rPr>
                            <a:t> </a:t>
                          </a:r>
                          <a:endParaRPr lang="zh-CN" sz="2200" kern="100" dirty="0">
                            <a:effectLst/>
                            <a:latin typeface="Times New Roman" panose="02020603050405020304" pitchFamily="18" charset="0"/>
                            <a:ea typeface="宋体" pitchFamily="2" charset="-122"/>
                          </a:endParaRPr>
                        </a:p>
                      </a:txBody>
                      <a:tcPr marL="68580" marR="68580" marT="0" marB="0">
                        <a:lnL>
                          <a:noFill/>
                        </a:lnL>
                        <a:lnR>
                          <a:noFill/>
                        </a:lnR>
                        <a:lnT>
                          <a:noFill/>
                        </a:lnT>
                        <a:lnB>
                          <a:noFill/>
                        </a:lnB>
                      </a:tcPr>
                    </a:tc>
                  </a:tr>
                </a:tbl>
              </a:graphicData>
            </a:graphic>
          </p:graphicFrame>
        </mc:Choice>
        <mc:Fallback xmlns="">
          <p:graphicFrame>
            <p:nvGraphicFramePr>
              <p:cNvPr id="12" name="表格 11"/>
              <p:cNvGraphicFramePr>
                <a:graphicFrameLocks noGrp="1"/>
              </p:cNvGraphicFramePr>
              <p:nvPr/>
            </p:nvGraphicFramePr>
            <p:xfrm>
              <a:off x="792374" y="4842705"/>
              <a:ext cx="7956884" cy="531305"/>
            </p:xfrm>
            <a:graphic>
              <a:graphicData uri="http://schemas.openxmlformats.org/drawingml/2006/table">
                <a:tbl>
                  <a:tblPr firstRow="1" firstCol="1" bandRow="1"/>
                  <a:tblGrid>
                    <a:gridCol w="7956884"/>
                  </a:tblGrid>
                  <a:tr h="539115">
                    <a:tc>
                      <a:txBody>
                        <a:bodyPr/>
                        <a:lstStyle/>
                        <a:p>
                          <a:endParaRPr lang="zh-CN"/>
                        </a:p>
                      </a:txBody>
                      <a:tcPr marL="68580" marR="68580" marT="0" marB="0">
                        <a:lnL>
                          <a:noFill/>
                        </a:lnL>
                        <a:lnR>
                          <a:noFill/>
                        </a:lnR>
                        <a:lnT>
                          <a:noFill/>
                        </a:lnT>
                        <a:lnB>
                          <a:noFill/>
                        </a:lnB>
                        <a:blipFill>
                          <a:blip r:embed="rId3"/>
                        </a:blipFill>
                      </a:tcPr>
                    </a:tc>
                  </a:tr>
                </a:tbl>
              </a:graphicData>
            </a:graphic>
          </p:graphicFrame>
        </mc:Fallback>
      </mc:AlternateContent>
      <mc:AlternateContent xmlns:mc="http://schemas.openxmlformats.org/markup-compatibility/2006">
        <mc:Choice xmlns:a14="http://schemas.microsoft.com/office/drawing/2010/main" Requires="a14">
          <p:sp>
            <p:nvSpPr>
              <p:cNvPr id="16" name="文本框 15"/>
              <p:cNvSpPr txBox="1"/>
              <p:nvPr/>
            </p:nvSpPr>
            <p:spPr>
              <a:xfrm>
                <a:off x="612354" y="5447179"/>
                <a:ext cx="6876764" cy="430887"/>
              </a:xfrm>
              <a:prstGeom prst="rect">
                <a:avLst/>
              </a:prstGeom>
              <a:noFill/>
            </p:spPr>
            <p:txBody>
              <a:bodyPr wrap="square">
                <a:spAutoFit/>
              </a:bodyPr>
              <a:lstStyle/>
              <a:p>
                <a:pPr indent="266700" algn="just"/>
                <a:r>
                  <a:rPr lang="zh-CN" altLang="zh-CN" sz="2200" kern="100" dirty="0">
                    <a:effectLst/>
                    <a:latin typeface="Times New Roman" panose="02020603050405020304" pitchFamily="18" charset="0"/>
                    <a:ea typeface="宋体" pitchFamily="2" charset="-122"/>
                  </a:rPr>
                  <a:t>其中</a:t>
                </a:r>
                <a14:m>
                  <m:oMath xmlns:m="http://schemas.openxmlformats.org/officeDocument/2006/math">
                    <m:sSup>
                      <m:sSupPr>
                        <m:ctrlPr>
                          <a:rPr lang="zh-CN" altLang="zh-CN" sz="2200" i="1" kern="100">
                            <a:effectLst/>
                            <a:latin typeface="Cambria Math" panose="02040503050406030204" pitchFamily="18" charset="0"/>
                            <a:ea typeface="Cambria Math" panose="02040503050406030204" pitchFamily="18" charset="0"/>
                          </a:rPr>
                        </m:ctrlPr>
                      </m:sSupPr>
                      <m:e>
                        <m:r>
                          <a:rPr lang="en-US" altLang="zh-CN" sz="2200" i="1" kern="100">
                            <a:effectLst/>
                            <a:latin typeface="Cambria Math" panose="02040503050406030204" pitchFamily="18" charset="0"/>
                            <a:ea typeface="宋体" pitchFamily="2" charset="-122"/>
                          </a:rPr>
                          <m:t>𝑥</m:t>
                        </m:r>
                      </m:e>
                      <m:sup>
                        <m:r>
                          <a:rPr lang="en-US" altLang="zh-CN" sz="2200" i="1" kern="100">
                            <a:effectLst/>
                            <a:latin typeface="Cambria Math" panose="02040503050406030204" pitchFamily="18" charset="0"/>
                            <a:ea typeface="宋体" pitchFamily="2" charset="-122"/>
                          </a:rPr>
                          <m:t>′</m:t>
                        </m:r>
                      </m:sup>
                    </m:sSup>
                    <m:r>
                      <a:rPr lang="en-US" altLang="zh-CN" sz="2200" i="1" kern="100">
                        <a:effectLst/>
                        <a:latin typeface="Cambria Math" panose="02040503050406030204" pitchFamily="18" charset="0"/>
                        <a:ea typeface="宋体" pitchFamily="2" charset="-122"/>
                      </a:rPr>
                      <m:t>=</m:t>
                    </m:r>
                    <m:r>
                      <a:rPr lang="en-US" altLang="zh-CN" sz="2200" i="1" kern="100">
                        <a:effectLst/>
                        <a:latin typeface="Cambria Math" panose="02040503050406030204" pitchFamily="18" charset="0"/>
                        <a:ea typeface="宋体" pitchFamily="2" charset="-122"/>
                      </a:rPr>
                      <m:t>𝑥𝑐𝑜𝑠</m:t>
                    </m:r>
                    <m:r>
                      <a:rPr lang="en-US" altLang="zh-CN" sz="2200" i="1" kern="100">
                        <a:effectLst/>
                        <a:latin typeface="Cambria Math" panose="02040503050406030204" pitchFamily="18" charset="0"/>
                        <a:ea typeface="宋体" pitchFamily="2" charset="-122"/>
                      </a:rPr>
                      <m:t>𝜃</m:t>
                    </m:r>
                    <m:r>
                      <a:rPr lang="en-US" altLang="zh-CN" sz="2200" i="1" kern="100">
                        <a:effectLst/>
                        <a:latin typeface="Cambria Math" panose="02040503050406030204" pitchFamily="18" charset="0"/>
                        <a:ea typeface="宋体" pitchFamily="2" charset="-122"/>
                      </a:rPr>
                      <m:t>+</m:t>
                    </m:r>
                    <m:r>
                      <a:rPr lang="en-US" altLang="zh-CN" sz="2200" i="1" kern="100">
                        <a:effectLst/>
                        <a:latin typeface="Cambria Math" panose="02040503050406030204" pitchFamily="18" charset="0"/>
                        <a:ea typeface="宋体" pitchFamily="2" charset="-122"/>
                      </a:rPr>
                      <m:t>𝑦𝑠𝑖𝑛</m:t>
                    </m:r>
                    <m:r>
                      <a:rPr lang="en-US" altLang="zh-CN" sz="2200" i="1" kern="100">
                        <a:effectLst/>
                        <a:latin typeface="Cambria Math" panose="02040503050406030204" pitchFamily="18" charset="0"/>
                        <a:ea typeface="宋体" pitchFamily="2" charset="-122"/>
                      </a:rPr>
                      <m:t>𝜃</m:t>
                    </m:r>
                  </m:oMath>
                </a14:m>
                <a:r>
                  <a:rPr lang="zh-CN" altLang="zh-CN" sz="2200" kern="100" dirty="0">
                    <a:effectLst/>
                    <a:latin typeface="Times New Roman" panose="02020603050405020304" pitchFamily="18" charset="0"/>
                    <a:ea typeface="宋体" pitchFamily="2" charset="-122"/>
                  </a:rPr>
                  <a:t>，</a:t>
                </a:r>
                <a14:m>
                  <m:oMath xmlns:m="http://schemas.openxmlformats.org/officeDocument/2006/math">
                    <m:sSup>
                      <m:sSupPr>
                        <m:ctrlPr>
                          <a:rPr lang="zh-CN" altLang="zh-CN" sz="2200" i="1" kern="100">
                            <a:effectLst/>
                            <a:latin typeface="Cambria Math" panose="02040503050406030204" pitchFamily="18" charset="0"/>
                            <a:ea typeface="Cambria Math" panose="02040503050406030204" pitchFamily="18" charset="0"/>
                          </a:rPr>
                        </m:ctrlPr>
                      </m:sSupPr>
                      <m:e>
                        <m:r>
                          <a:rPr lang="en-US" altLang="zh-CN" sz="2200" i="1" kern="100">
                            <a:effectLst/>
                            <a:latin typeface="Cambria Math" panose="02040503050406030204" pitchFamily="18" charset="0"/>
                            <a:ea typeface="宋体" pitchFamily="2" charset="-122"/>
                          </a:rPr>
                          <m:t>𝑦</m:t>
                        </m:r>
                      </m:e>
                      <m:sup>
                        <m:r>
                          <a:rPr lang="en-US" altLang="zh-CN" sz="2200" i="1" kern="100">
                            <a:effectLst/>
                            <a:latin typeface="Cambria Math" panose="02040503050406030204" pitchFamily="18" charset="0"/>
                            <a:ea typeface="宋体" pitchFamily="2" charset="-122"/>
                          </a:rPr>
                          <m:t>′</m:t>
                        </m:r>
                      </m:sup>
                    </m:sSup>
                    <m:r>
                      <a:rPr lang="en-US" altLang="zh-CN" sz="2200" i="1" kern="100">
                        <a:effectLst/>
                        <a:latin typeface="Cambria Math" panose="02040503050406030204" pitchFamily="18" charset="0"/>
                        <a:ea typeface="宋体" pitchFamily="2" charset="-122"/>
                      </a:rPr>
                      <m:t>=</m:t>
                    </m:r>
                    <m:r>
                      <a:rPr lang="en-US" altLang="zh-CN" sz="2200" i="1" kern="100">
                        <a:effectLst/>
                        <a:latin typeface="Cambria Math" panose="02040503050406030204" pitchFamily="18" charset="0"/>
                        <a:ea typeface="宋体" pitchFamily="2" charset="-122"/>
                      </a:rPr>
                      <m:t>𝑥𝑐𝑜𝑠</m:t>
                    </m:r>
                    <m:r>
                      <a:rPr lang="en-US" altLang="zh-CN" sz="2200" i="1" kern="100">
                        <a:effectLst/>
                        <a:latin typeface="Cambria Math" panose="02040503050406030204" pitchFamily="18" charset="0"/>
                        <a:ea typeface="宋体" pitchFamily="2" charset="-122"/>
                      </a:rPr>
                      <m:t>𝜃</m:t>
                    </m:r>
                    <m:r>
                      <a:rPr lang="en-US" altLang="zh-CN" sz="2200" i="1" kern="100">
                        <a:effectLst/>
                        <a:latin typeface="Cambria Math" panose="02040503050406030204" pitchFamily="18" charset="0"/>
                        <a:ea typeface="宋体" pitchFamily="2" charset="-122"/>
                      </a:rPr>
                      <m:t>+</m:t>
                    </m:r>
                    <m:r>
                      <a:rPr lang="en-US" altLang="zh-CN" sz="2200" i="1" kern="100">
                        <a:effectLst/>
                        <a:latin typeface="Cambria Math" panose="02040503050406030204" pitchFamily="18" charset="0"/>
                        <a:ea typeface="宋体" pitchFamily="2" charset="-122"/>
                      </a:rPr>
                      <m:t>𝑦𝑠𝑖𝑛</m:t>
                    </m:r>
                    <m:r>
                      <a:rPr lang="en-US" altLang="zh-CN" sz="2200" i="1" kern="100">
                        <a:effectLst/>
                        <a:latin typeface="Cambria Math" panose="02040503050406030204" pitchFamily="18" charset="0"/>
                        <a:ea typeface="宋体" pitchFamily="2" charset="-122"/>
                      </a:rPr>
                      <m:t>𝜃</m:t>
                    </m:r>
                  </m:oMath>
                </a14:m>
                <a:r>
                  <a:rPr lang="zh-CN" altLang="zh-CN" sz="2200" kern="100" dirty="0">
                    <a:effectLst/>
                    <a:latin typeface="Times New Roman" panose="02020603050405020304" pitchFamily="18" charset="0"/>
                    <a:ea typeface="宋体" pitchFamily="2" charset="-122"/>
                  </a:rPr>
                  <a:t>。</a:t>
                </a:r>
                <a:endParaRPr lang="zh-CN" altLang="zh-CN" sz="2200" kern="100" dirty="0">
                  <a:effectLst/>
                  <a:latin typeface="Times New Roman" panose="02020603050405020304" pitchFamily="18" charset="0"/>
                  <a:ea typeface="宋体" pitchFamily="2"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612354" y="5447179"/>
                <a:ext cx="6876764" cy="430887"/>
              </a:xfrm>
              <a:prstGeom prst="rect">
                <a:avLst/>
              </a:prstGeom>
              <a:blipFill rotWithShape="1">
                <a:blip r:embed="rId4"/>
                <a:stretch>
                  <a:fillRect l="-3" t="-35" r="8" b="-1798"/>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内容占位符 2"/>
          <p:cNvSpPr txBox="1">
            <a:spLocks noChangeArrowheads="1"/>
          </p:cNvSpPr>
          <p:nvPr/>
        </p:nvSpPr>
        <p:spPr bwMode="auto">
          <a:xfrm>
            <a:off x="360326" y="837506"/>
            <a:ext cx="8424936" cy="1573606"/>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kern="100" dirty="0">
                <a:latin typeface="Times New Roman" panose="02020603050405020304" pitchFamily="18" charset="0"/>
                <a:ea typeface="宋体" pitchFamily="2" charset="-122"/>
                <a:cs typeface="Times New Roman" panose="02020603050405020304" pitchFamily="18" charset="0"/>
              </a:rPr>
              <a:t>      Gabor</a:t>
            </a:r>
            <a:r>
              <a:rPr lang="zh-CN" altLang="en-US" kern="100" dirty="0">
                <a:latin typeface="Times New Roman" panose="02020603050405020304" pitchFamily="18" charset="0"/>
                <a:ea typeface="宋体" pitchFamily="2" charset="-122"/>
                <a:cs typeface="Times New Roman" panose="02020603050405020304" pitchFamily="18" charset="0"/>
              </a:rPr>
              <a:t>滤波器的半响应空间频率带宽</a:t>
            </a:r>
            <a:r>
              <a:rPr lang="en-US" altLang="zh-CN" kern="100" dirty="0">
                <a:latin typeface="Times New Roman" panose="02020603050405020304" pitchFamily="18" charset="0"/>
                <a:ea typeface="宋体" pitchFamily="2" charset="-122"/>
                <a:cs typeface="Times New Roman" panose="02020603050405020304" pitchFamily="18" charset="0"/>
              </a:rPr>
              <a:t>b</a:t>
            </a:r>
            <a:r>
              <a:rPr lang="zh-CN" altLang="en-US" kern="100" dirty="0">
                <a:latin typeface="Times New Roman" panose="02020603050405020304" pitchFamily="18" charset="0"/>
                <a:ea typeface="宋体" pitchFamily="2" charset="-122"/>
                <a:cs typeface="Times New Roman" panose="02020603050405020304" pitchFamily="18" charset="0"/>
              </a:rPr>
              <a:t>和</a:t>
            </a:r>
            <a:r>
              <a:rPr lang="en-US" altLang="zh-CN" kern="100" dirty="0">
                <a:latin typeface="Times New Roman" panose="02020603050405020304" pitchFamily="18" charset="0"/>
                <a:ea typeface="宋体" pitchFamily="2" charset="-122"/>
                <a:cs typeface="Times New Roman" panose="02020603050405020304" pitchFamily="18" charset="0"/>
              </a:rPr>
              <a:t>σ/λ</a:t>
            </a:r>
            <a:r>
              <a:rPr lang="zh-CN" altLang="en-US" kern="100" dirty="0">
                <a:latin typeface="Times New Roman" panose="02020603050405020304" pitchFamily="18" charset="0"/>
                <a:ea typeface="宋体" pitchFamily="2" charset="-122"/>
                <a:cs typeface="Times New Roman" panose="02020603050405020304" pitchFamily="18" charset="0"/>
              </a:rPr>
              <a:t>的比率有关，其中</a:t>
            </a:r>
            <a:r>
              <a:rPr lang="en-US" altLang="zh-CN" kern="100" dirty="0">
                <a:latin typeface="Times New Roman" panose="02020603050405020304" pitchFamily="18" charset="0"/>
                <a:ea typeface="宋体" pitchFamily="2" charset="-122"/>
                <a:cs typeface="Times New Roman" panose="02020603050405020304" pitchFamily="18" charset="0"/>
              </a:rPr>
              <a:t>σ</a:t>
            </a:r>
            <a:r>
              <a:rPr lang="zh-CN" altLang="en-US" kern="100" dirty="0">
                <a:latin typeface="Times New Roman" panose="02020603050405020304" pitchFamily="18" charset="0"/>
                <a:ea typeface="宋体" pitchFamily="2" charset="-122"/>
                <a:cs typeface="Times New Roman" panose="02020603050405020304" pitchFamily="18" charset="0"/>
              </a:rPr>
              <a:t>表示</a:t>
            </a:r>
            <a:r>
              <a:rPr lang="en-US" altLang="zh-CN" kern="100" dirty="0">
                <a:latin typeface="Times New Roman" panose="02020603050405020304" pitchFamily="18" charset="0"/>
                <a:ea typeface="宋体" pitchFamily="2" charset="-122"/>
                <a:cs typeface="Times New Roman" panose="02020603050405020304" pitchFamily="18" charset="0"/>
              </a:rPr>
              <a:t>Gabor</a:t>
            </a:r>
            <a:r>
              <a:rPr lang="zh-CN" altLang="en-US" kern="100" dirty="0">
                <a:latin typeface="Times New Roman" panose="02020603050405020304" pitchFamily="18" charset="0"/>
                <a:ea typeface="宋体" pitchFamily="2" charset="-122"/>
                <a:cs typeface="Times New Roman" panose="02020603050405020304" pitchFamily="18" charset="0"/>
              </a:rPr>
              <a:t>函数的高斯因子的标准差。三者的关系如下公式</a:t>
            </a:r>
            <a:r>
              <a:rPr lang="en-US" altLang="zh-CN" kern="100" dirty="0">
                <a:latin typeface="Times New Roman" panose="02020603050405020304" pitchFamily="18" charset="0"/>
                <a:ea typeface="宋体" pitchFamily="2" charset="-122"/>
                <a:cs typeface="Times New Roman" panose="02020603050405020304" pitchFamily="18" charset="0"/>
              </a:rPr>
              <a:t>(9-20)</a:t>
            </a:r>
            <a:r>
              <a:rPr lang="zh-CN" altLang="en-US" kern="100" dirty="0">
                <a:latin typeface="Times New Roman" panose="02020603050405020304" pitchFamily="18" charset="0"/>
                <a:ea typeface="宋体" pitchFamily="2" charset="-122"/>
                <a:cs typeface="Times New Roman" panose="02020603050405020304" pitchFamily="18" charset="0"/>
              </a:rPr>
              <a:t>，</a:t>
            </a:r>
            <a:r>
              <a:rPr lang="en-US" altLang="zh-CN" kern="100" dirty="0">
                <a:latin typeface="Times New Roman" panose="02020603050405020304" pitchFamily="18" charset="0"/>
                <a:ea typeface="宋体" pitchFamily="2" charset="-122"/>
                <a:cs typeface="Times New Roman" panose="02020603050405020304" pitchFamily="18" charset="0"/>
              </a:rPr>
              <a:t>(9-21)</a:t>
            </a:r>
            <a:r>
              <a:rPr lang="zh-CN" altLang="en-US" kern="100" dirty="0">
                <a:latin typeface="Times New Roman" panose="02020603050405020304" pitchFamily="18" charset="0"/>
                <a:ea typeface="宋体" pitchFamily="2" charset="-122"/>
                <a:cs typeface="Times New Roman" panose="02020603050405020304" pitchFamily="18" charset="0"/>
              </a:rPr>
              <a:t>所示。</a:t>
            </a:r>
            <a:endParaRPr lang="en-US" altLang="zh-CN" kern="100" dirty="0">
              <a:latin typeface="Times New Roman" panose="02020603050405020304" pitchFamily="18" charset="0"/>
              <a:ea typeface="宋体" pitchFamily="2" charset="-122"/>
              <a:cs typeface="Times New Roman" panose="02020603050405020304" pitchFamily="18" charset="0"/>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表格 4"/>
          <p:cNvGraphicFramePr>
            <a:graphicFrameLocks noGrp="1"/>
          </p:cNvGraphicFramePr>
          <p:nvPr/>
        </p:nvGraphicFramePr>
        <p:xfrm>
          <a:off x="612354" y="2496074"/>
          <a:ext cx="10009112" cy="861712"/>
        </p:xfrm>
        <a:graphic>
          <a:graphicData uri="http://schemas.openxmlformats.org/drawingml/2006/table">
            <a:tbl>
              <a:tblPr firstRow="1" firstCol="1" bandRow="1"/>
              <a:tblGrid>
                <a:gridCol w="10009112"/>
              </a:tblGrid>
              <a:tr h="861712">
                <a:tc>
                  <a:txBody>
                    <a:bodyPr/>
                    <a:lstStyle/>
                    <a:p>
                      <a:pPr indent="266700" algn="just"/>
                      <a:endParaRPr lang="zh-CN" sz="2200" kern="100" dirty="0">
                        <a:effectLst/>
                        <a:latin typeface="Times New Roman" panose="02020603050405020304" pitchFamily="18" charset="0"/>
                        <a:ea typeface="宋体" pitchFamily="2" charset="-122"/>
                      </a:endParaRPr>
                    </a:p>
                  </a:txBody>
                  <a:tcPr marL="68580" marR="68580" marT="0" marB="0">
                    <a:lnL>
                      <a:noFill/>
                    </a:lnL>
                    <a:lnR>
                      <a:noFill/>
                    </a:lnR>
                    <a:lnT>
                      <a:noFill/>
                    </a:lnT>
                    <a:lnB>
                      <a:noFill/>
                    </a:lnB>
                  </a:tcPr>
                </a:tc>
              </a:tr>
            </a:tbl>
          </a:graphicData>
        </a:graphic>
      </p:graphicFrame>
      <mc:AlternateContent xmlns:mc="http://schemas.openxmlformats.org/markup-compatibility/2006">
        <mc:Choice xmlns:a14="http://schemas.microsoft.com/office/drawing/2010/main" Requires="a14">
          <p:sp>
            <p:nvSpPr>
              <p:cNvPr id="19" name="文本框 18"/>
              <p:cNvSpPr txBox="1"/>
              <p:nvPr/>
            </p:nvSpPr>
            <p:spPr>
              <a:xfrm>
                <a:off x="2324292" y="2277666"/>
                <a:ext cx="6568982" cy="1228863"/>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𝑏</m:t>
                    </m:r>
                    <m:r>
                      <a:rPr lang="zh-CN" altLang="en-US" sz="2400" i="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𝑙𝑜𝑔</m:t>
                        </m:r>
                      </m:e>
                      <m:sub>
                        <m:r>
                          <a:rPr lang="zh-CN" altLang="en-US" sz="2400" i="0">
                            <a:latin typeface="Cambria Math" panose="02040503050406030204" pitchFamily="18" charset="0"/>
                          </a:rPr>
                          <m:t>2</m:t>
                        </m:r>
                      </m:sub>
                    </m:sSub>
                    <m:f>
                      <m:fPr>
                        <m:ctrlPr>
                          <a:rPr lang="zh-CN" altLang="en-US" sz="2400" i="1">
                            <a:solidFill>
                              <a:srgbClr val="836967"/>
                            </a:solidFill>
                            <a:latin typeface="Cambria Math" panose="02040503050406030204" pitchFamily="18" charset="0"/>
                          </a:rPr>
                        </m:ctrlPr>
                      </m:fPr>
                      <m:num>
                        <m:f>
                          <m:fPr>
                            <m:ctrlPr>
                              <a:rPr lang="zh-CN" altLang="en-US" sz="2400" i="1">
                                <a:solidFill>
                                  <a:srgbClr val="836967"/>
                                </a:solidFill>
                                <a:latin typeface="Cambria Math" panose="02040503050406030204" pitchFamily="18" charset="0"/>
                              </a:rPr>
                            </m:ctrlPr>
                          </m:fPr>
                          <m:num>
                            <m:r>
                              <a:rPr lang="zh-CN" altLang="en-US" sz="2400" i="1">
                                <a:latin typeface="Cambria Math" panose="02040503050406030204" pitchFamily="18" charset="0"/>
                              </a:rPr>
                              <m:t>𝜎</m:t>
                            </m:r>
                          </m:num>
                          <m:den>
                            <m:r>
                              <a:rPr lang="zh-CN" altLang="en-US" sz="2400" i="1">
                                <a:latin typeface="Cambria Math" panose="02040503050406030204" pitchFamily="18" charset="0"/>
                              </a:rPr>
                              <m:t>𝜆</m:t>
                            </m:r>
                          </m:den>
                        </m:f>
                        <m:r>
                          <a:rPr lang="zh-CN" altLang="en-US" sz="2400" i="1">
                            <a:latin typeface="Cambria Math" panose="02040503050406030204" pitchFamily="18" charset="0"/>
                          </a:rPr>
                          <m:t>𝜋</m:t>
                        </m:r>
                        <m:r>
                          <a:rPr lang="zh-CN" altLang="en-US" sz="2400" i="0">
                            <a:latin typeface="Cambria Math" panose="02040503050406030204" pitchFamily="18" charset="0"/>
                          </a:rPr>
                          <m:t>+</m:t>
                        </m:r>
                        <m:rad>
                          <m:radPr>
                            <m:degHide m:val="on"/>
                            <m:ctrlPr>
                              <a:rPr lang="zh-CN" altLang="en-US" sz="2400" i="1">
                                <a:solidFill>
                                  <a:srgbClr val="836967"/>
                                </a:solidFill>
                                <a:latin typeface="Cambria Math" panose="02040503050406030204" pitchFamily="18" charset="0"/>
                              </a:rPr>
                            </m:ctrlPr>
                          </m:radPr>
                          <m:deg/>
                          <m:e>
                            <m:f>
                              <m:fPr>
                                <m:ctrlPr>
                                  <a:rPr lang="zh-CN" altLang="en-US" sz="2400" i="1">
                                    <a:solidFill>
                                      <a:srgbClr val="836967"/>
                                    </a:solidFill>
                                    <a:latin typeface="Cambria Math" panose="02040503050406030204" pitchFamily="18" charset="0"/>
                                  </a:rPr>
                                </m:ctrlPr>
                              </m:fPr>
                              <m:num>
                                <m:r>
                                  <a:rPr lang="zh-CN" altLang="en-US" sz="2400" i="1">
                                    <a:latin typeface="Cambria Math" panose="02040503050406030204" pitchFamily="18" charset="0"/>
                                  </a:rPr>
                                  <m:t>𝑙𝑛</m:t>
                                </m:r>
                                <m:r>
                                  <a:rPr lang="zh-CN" altLang="en-US" sz="2400" i="0">
                                    <a:latin typeface="Cambria Math" panose="02040503050406030204" pitchFamily="18" charset="0"/>
                                  </a:rPr>
                                  <m:t>2</m:t>
                                </m:r>
                              </m:num>
                              <m:den>
                                <m:r>
                                  <a:rPr lang="zh-CN" altLang="en-US" sz="2400" i="0">
                                    <a:latin typeface="Cambria Math" panose="02040503050406030204" pitchFamily="18" charset="0"/>
                                  </a:rPr>
                                  <m:t>2</m:t>
                                </m:r>
                              </m:den>
                            </m:f>
                          </m:e>
                        </m:rad>
                      </m:num>
                      <m:den>
                        <m:f>
                          <m:fPr>
                            <m:ctrlPr>
                              <a:rPr lang="zh-CN" altLang="en-US" sz="2400" i="1">
                                <a:solidFill>
                                  <a:srgbClr val="836967"/>
                                </a:solidFill>
                                <a:latin typeface="Cambria Math" panose="02040503050406030204" pitchFamily="18" charset="0"/>
                              </a:rPr>
                            </m:ctrlPr>
                          </m:fPr>
                          <m:num>
                            <m:r>
                              <a:rPr lang="zh-CN" altLang="en-US" sz="2400" i="1">
                                <a:latin typeface="Cambria Math" panose="02040503050406030204" pitchFamily="18" charset="0"/>
                              </a:rPr>
                              <m:t>𝜎</m:t>
                            </m:r>
                          </m:num>
                          <m:den>
                            <m:r>
                              <a:rPr lang="zh-CN" altLang="en-US" sz="2400" i="1">
                                <a:latin typeface="Cambria Math" panose="02040503050406030204" pitchFamily="18" charset="0"/>
                              </a:rPr>
                              <m:t>𝜆</m:t>
                            </m:r>
                          </m:den>
                        </m:f>
                        <m:r>
                          <a:rPr lang="zh-CN" altLang="en-US" sz="2400" i="1">
                            <a:latin typeface="Cambria Math" panose="02040503050406030204" pitchFamily="18" charset="0"/>
                          </a:rPr>
                          <m:t>𝜋</m:t>
                        </m:r>
                        <m:r>
                          <a:rPr lang="zh-CN" altLang="en-US" sz="2400" i="0">
                            <a:latin typeface="Cambria Math" panose="02040503050406030204" pitchFamily="18" charset="0"/>
                          </a:rPr>
                          <m:t>−</m:t>
                        </m:r>
                        <m:rad>
                          <m:radPr>
                            <m:degHide m:val="on"/>
                            <m:ctrlPr>
                              <a:rPr lang="zh-CN" altLang="en-US" sz="2400" i="1">
                                <a:solidFill>
                                  <a:srgbClr val="836967"/>
                                </a:solidFill>
                                <a:latin typeface="Cambria Math" panose="02040503050406030204" pitchFamily="18" charset="0"/>
                              </a:rPr>
                            </m:ctrlPr>
                          </m:radPr>
                          <m:deg/>
                          <m:e>
                            <m:f>
                              <m:fPr>
                                <m:ctrlPr>
                                  <a:rPr lang="zh-CN" altLang="en-US" sz="2400" i="1">
                                    <a:solidFill>
                                      <a:srgbClr val="836967"/>
                                    </a:solidFill>
                                    <a:latin typeface="Cambria Math" panose="02040503050406030204" pitchFamily="18" charset="0"/>
                                  </a:rPr>
                                </m:ctrlPr>
                              </m:fPr>
                              <m:num>
                                <m:r>
                                  <a:rPr lang="zh-CN" altLang="en-US" sz="2400" i="1">
                                    <a:latin typeface="Cambria Math" panose="02040503050406030204" pitchFamily="18" charset="0"/>
                                  </a:rPr>
                                  <m:t>𝑙𝑛</m:t>
                                </m:r>
                                <m:r>
                                  <a:rPr lang="zh-CN" altLang="en-US" sz="2400" i="0">
                                    <a:latin typeface="Cambria Math" panose="02040503050406030204" pitchFamily="18" charset="0"/>
                                  </a:rPr>
                                  <m:t>2</m:t>
                                </m:r>
                              </m:num>
                              <m:den>
                                <m:r>
                                  <a:rPr lang="zh-CN" altLang="en-US" sz="2400" i="0">
                                    <a:latin typeface="Cambria Math" panose="02040503050406030204" pitchFamily="18" charset="0"/>
                                  </a:rPr>
                                  <m:t>2</m:t>
                                </m:r>
                              </m:den>
                            </m:f>
                          </m:e>
                        </m:rad>
                      </m:den>
                    </m:f>
                  </m:oMath>
                </a14:m>
                <a:r>
                  <a:rPr lang="en-US" altLang="zh-CN" sz="2400" kern="100" dirty="0">
                    <a:latin typeface="Times New Roman" panose="02020603050405020304" pitchFamily="18" charset="0"/>
                    <a:cs typeface="Times New Roman" panose="02020603050405020304" pitchFamily="18" charset="0"/>
                  </a:rPr>
                  <a:t>                            (9-20)</a:t>
                </a:r>
                <a:endParaRPr lang="zh-CN" altLang="en-US" sz="2400" dirty="0"/>
              </a:p>
            </p:txBody>
          </p:sp>
        </mc:Choice>
        <mc:Fallback>
          <p:sp>
            <p:nvSpPr>
              <p:cNvPr id="19" name="文本框 18"/>
              <p:cNvSpPr txBox="1">
                <a:spLocks noRot="1" noChangeAspect="1" noMove="1" noResize="1" noEditPoints="1" noAdjustHandles="1" noChangeArrowheads="1" noChangeShapeType="1" noTextEdit="1"/>
              </p:cNvSpPr>
              <p:nvPr/>
            </p:nvSpPr>
            <p:spPr>
              <a:xfrm>
                <a:off x="2324292" y="2277666"/>
                <a:ext cx="6568982" cy="1228863"/>
              </a:xfrm>
              <a:prstGeom prst="rect">
                <a:avLst/>
              </a:prstGeom>
              <a:blipFill rotWithShape="1">
                <a:blip r:embed="rId1"/>
                <a:stretch>
                  <a:fillRect l="-3" t="-45" r="2" b="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2340546" y="3501802"/>
                <a:ext cx="6035030" cy="843885"/>
              </a:xfrm>
              <a:prstGeom prst="rect">
                <a:avLst/>
              </a:prstGeom>
              <a:noFill/>
            </p:spPr>
            <p:txBody>
              <a:bodyPr wrap="square">
                <a:spAutoFit/>
              </a:bodyPr>
              <a:lstStyle/>
              <a:p>
                <a14:m>
                  <m:oMath xmlns:m="http://schemas.openxmlformats.org/officeDocument/2006/math">
                    <m:f>
                      <m:fPr>
                        <m:ctrlPr>
                          <a:rPr lang="zh-CN" altLang="en-US" sz="2400" i="1" smtClean="0">
                            <a:solidFill>
                              <a:srgbClr val="836967"/>
                            </a:solidFill>
                            <a:latin typeface="Cambria Math" panose="02040503050406030204" pitchFamily="18" charset="0"/>
                          </a:rPr>
                        </m:ctrlPr>
                      </m:fPr>
                      <m:num>
                        <m:r>
                          <a:rPr lang="zh-CN" altLang="en-US" sz="2400" i="1">
                            <a:latin typeface="Cambria Math" panose="02040503050406030204" pitchFamily="18" charset="0"/>
                          </a:rPr>
                          <m:t>𝜎</m:t>
                        </m:r>
                      </m:num>
                      <m:den>
                        <m:r>
                          <a:rPr lang="zh-CN" altLang="en-US" sz="2400" i="1">
                            <a:latin typeface="Cambria Math" panose="02040503050406030204" pitchFamily="18" charset="0"/>
                          </a:rPr>
                          <m:t>𝜆</m:t>
                        </m:r>
                      </m:den>
                    </m:f>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1">
                            <a:latin typeface="Cambria Math" panose="02040503050406030204" pitchFamily="18" charset="0"/>
                          </a:rPr>
                          <m:t>𝜋</m:t>
                        </m:r>
                      </m:den>
                    </m:f>
                    <m:rad>
                      <m:radPr>
                        <m:degHide m:val="on"/>
                        <m:ctrlPr>
                          <a:rPr lang="zh-CN" altLang="en-US" sz="2400" i="1">
                            <a:solidFill>
                              <a:srgbClr val="836967"/>
                            </a:solidFill>
                            <a:latin typeface="Cambria Math" panose="02040503050406030204" pitchFamily="18" charset="0"/>
                          </a:rPr>
                        </m:ctrlPr>
                      </m:radPr>
                      <m:deg/>
                      <m:e>
                        <m:f>
                          <m:fPr>
                            <m:ctrlPr>
                              <a:rPr lang="zh-CN" altLang="en-US" sz="2400" i="1">
                                <a:solidFill>
                                  <a:srgbClr val="836967"/>
                                </a:solidFill>
                                <a:latin typeface="Cambria Math" panose="02040503050406030204" pitchFamily="18" charset="0"/>
                              </a:rPr>
                            </m:ctrlPr>
                          </m:fPr>
                          <m:num>
                            <m:r>
                              <a:rPr lang="zh-CN" altLang="en-US" sz="2400" i="1">
                                <a:latin typeface="Cambria Math" panose="02040503050406030204" pitchFamily="18" charset="0"/>
                              </a:rPr>
                              <m:t>𝑙𝑛</m:t>
                            </m:r>
                            <m:r>
                              <a:rPr lang="zh-CN" altLang="en-US" sz="2400" i="0">
                                <a:latin typeface="Cambria Math" panose="02040503050406030204" pitchFamily="18" charset="0"/>
                              </a:rPr>
                              <m:t>2</m:t>
                            </m:r>
                          </m:num>
                          <m:den>
                            <m:r>
                              <a:rPr lang="zh-CN" altLang="en-US" sz="2400" i="0">
                                <a:latin typeface="Cambria Math" panose="02040503050406030204" pitchFamily="18" charset="0"/>
                              </a:rPr>
                              <m:t>2</m:t>
                            </m:r>
                          </m:den>
                        </m:f>
                      </m:e>
                    </m:rad>
                    <m:f>
                      <m:fPr>
                        <m:ctrlPr>
                          <a:rPr lang="zh-CN" altLang="en-US" sz="2400" i="1">
                            <a:solidFill>
                              <a:srgbClr val="836967"/>
                            </a:solidFill>
                            <a:latin typeface="Cambria Math" panose="02040503050406030204" pitchFamily="18" charset="0"/>
                          </a:rPr>
                        </m:ctrlPr>
                      </m:fPr>
                      <m:num>
                        <m:sSup>
                          <m:sSupPr>
                            <m:ctrlPr>
                              <a:rPr lang="zh-CN" altLang="en-US" sz="2400" i="1">
                                <a:solidFill>
                                  <a:srgbClr val="836967"/>
                                </a:solidFill>
                                <a:latin typeface="Cambria Math" panose="02040503050406030204" pitchFamily="18" charset="0"/>
                              </a:rPr>
                            </m:ctrlPr>
                          </m:sSupPr>
                          <m:e>
                            <m:r>
                              <a:rPr lang="zh-CN" altLang="en-US" sz="2400" i="0">
                                <a:latin typeface="Cambria Math" panose="02040503050406030204" pitchFamily="18" charset="0"/>
                              </a:rPr>
                              <m:t>2</m:t>
                            </m:r>
                          </m:e>
                          <m:sup>
                            <m:r>
                              <a:rPr lang="zh-CN" altLang="en-US" sz="2400" i="1">
                                <a:latin typeface="Cambria Math" panose="02040503050406030204" pitchFamily="18" charset="0"/>
                              </a:rPr>
                              <m:t>𝑏</m:t>
                            </m:r>
                          </m:sup>
                        </m:sSup>
                        <m:r>
                          <a:rPr lang="zh-CN" altLang="en-US" sz="2400" i="0">
                            <a:latin typeface="Cambria Math" panose="02040503050406030204" pitchFamily="18" charset="0"/>
                          </a:rPr>
                          <m:t>+</m:t>
                        </m:r>
                        <m:r>
                          <a:rPr lang="zh-CN" altLang="en-US" sz="2400" i="0">
                            <a:latin typeface="Cambria Math" panose="02040503050406030204" pitchFamily="18" charset="0"/>
                          </a:rPr>
                          <m:t>1</m:t>
                        </m:r>
                      </m:num>
                      <m:den>
                        <m:sSup>
                          <m:sSupPr>
                            <m:ctrlPr>
                              <a:rPr lang="zh-CN" altLang="en-US" sz="2400" i="1">
                                <a:solidFill>
                                  <a:srgbClr val="836967"/>
                                </a:solidFill>
                                <a:latin typeface="Cambria Math" panose="02040503050406030204" pitchFamily="18" charset="0"/>
                              </a:rPr>
                            </m:ctrlPr>
                          </m:sSupPr>
                          <m:e>
                            <m:r>
                              <a:rPr lang="zh-CN" altLang="en-US" sz="2400" i="0">
                                <a:latin typeface="Cambria Math" panose="02040503050406030204" pitchFamily="18" charset="0"/>
                              </a:rPr>
                              <m:t>2</m:t>
                            </m:r>
                          </m:e>
                          <m:sup>
                            <m:r>
                              <a:rPr lang="zh-CN" altLang="en-US" sz="2400" i="1">
                                <a:latin typeface="Cambria Math" panose="02040503050406030204" pitchFamily="18" charset="0"/>
                              </a:rPr>
                              <m:t>𝑏</m:t>
                            </m:r>
                          </m:sup>
                        </m:sSup>
                        <m:r>
                          <a:rPr lang="zh-CN" altLang="en-US" sz="2400" i="0">
                            <a:latin typeface="Cambria Math" panose="02040503050406030204" pitchFamily="18" charset="0"/>
                          </a:rPr>
                          <m:t>−</m:t>
                        </m:r>
                        <m:r>
                          <a:rPr lang="zh-CN" altLang="en-US" sz="2400" i="0">
                            <a:latin typeface="Cambria Math" panose="02040503050406030204" pitchFamily="18" charset="0"/>
                          </a:rPr>
                          <m:t>1</m:t>
                        </m:r>
                      </m:den>
                    </m:f>
                  </m:oMath>
                </a14:m>
                <a:r>
                  <a:rPr lang="en-US" altLang="zh-CN" sz="2400" kern="100" dirty="0">
                    <a:latin typeface="Times New Roman" panose="02020603050405020304" pitchFamily="18" charset="0"/>
                    <a:cs typeface="Times New Roman" panose="02020603050405020304" pitchFamily="18" charset="0"/>
                  </a:rPr>
                  <a:t>                              (9-21)</a:t>
                </a:r>
                <a:endParaRPr lang="zh-CN" altLang="en-US" sz="2400" dirty="0"/>
              </a:p>
            </p:txBody>
          </p:sp>
        </mc:Choice>
        <mc:Fallback>
          <p:sp>
            <p:nvSpPr>
              <p:cNvPr id="20" name="文本框 19"/>
              <p:cNvSpPr txBox="1">
                <a:spLocks noRot="1" noChangeAspect="1" noMove="1" noResize="1" noEditPoints="1" noAdjustHandles="1" noChangeArrowheads="1" noChangeShapeType="1" noTextEdit="1"/>
              </p:cNvSpPr>
              <p:nvPr/>
            </p:nvSpPr>
            <p:spPr>
              <a:xfrm>
                <a:off x="2340546" y="3501802"/>
                <a:ext cx="6035030" cy="843885"/>
              </a:xfrm>
              <a:prstGeom prst="rect">
                <a:avLst/>
              </a:prstGeom>
              <a:blipFill rotWithShape="1">
                <a:blip r:embed="rId2"/>
                <a:stretch>
                  <a:fillRect l="-9" t="-49" r="9" b="4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432334" y="4452422"/>
                <a:ext cx="8352928" cy="1569660"/>
              </a:xfrm>
              <a:prstGeom prst="rect">
                <a:avLst/>
              </a:prstGeom>
              <a:noFill/>
            </p:spPr>
            <p:txBody>
              <a:bodyPr wrap="square">
                <a:spAutoFit/>
              </a:bodyPr>
              <a:lstStyle/>
              <a:p>
                <a:pPr indent="266700" algn="just"/>
                <a:r>
                  <a:rPr lang="en-US" altLang="zh-CN" sz="2400" kern="100" dirty="0">
                    <a:latin typeface="Times New Roman" panose="02020603050405020304" pitchFamily="18" charset="0"/>
                    <a:ea typeface="宋体" pitchFamily="2" charset="-122"/>
                  </a:rPr>
                  <a:t> </a:t>
                </a:r>
                <a:r>
                  <a:rPr lang="zh-CN" altLang="zh-CN" sz="2400" kern="100" dirty="0">
                    <a:effectLst/>
                    <a:latin typeface="Times New Roman" panose="02020603050405020304" pitchFamily="18" charset="0"/>
                    <a:ea typeface="宋体" pitchFamily="2" charset="-122"/>
                  </a:rPr>
                  <a:t>其中</a:t>
                </a:r>
                <a14:m>
                  <m:oMath xmlns:m="http://schemas.openxmlformats.org/officeDocument/2006/math">
                    <m:r>
                      <a:rPr lang="en-US" altLang="zh-CN" sz="2400" i="1" kern="100">
                        <a:effectLst/>
                        <a:latin typeface="Cambria Math" panose="02040503050406030204" pitchFamily="18" charset="0"/>
                        <a:ea typeface="宋体" pitchFamily="2" charset="-122"/>
                      </a:rPr>
                      <m:t>𝜎</m:t>
                    </m:r>
                  </m:oMath>
                </a14:m>
                <a:r>
                  <a:rPr lang="zh-CN" altLang="zh-CN" sz="2400" kern="100" dirty="0">
                    <a:effectLst/>
                    <a:latin typeface="Times New Roman" panose="02020603050405020304" pitchFamily="18" charset="0"/>
                    <a:ea typeface="宋体" pitchFamily="2" charset="-122"/>
                  </a:rPr>
                  <a:t>的值不能直接设置，它仅随带宽</a:t>
                </a:r>
                <a:r>
                  <a:rPr lang="en-US" altLang="zh-CN" sz="2400" kern="100" dirty="0">
                    <a:effectLst/>
                    <a:latin typeface="Times New Roman" panose="02020603050405020304" pitchFamily="18" charset="0"/>
                    <a:ea typeface="宋体" pitchFamily="2" charset="-122"/>
                  </a:rPr>
                  <a:t>b</a:t>
                </a:r>
                <a:r>
                  <a:rPr lang="zh-CN" altLang="zh-CN" sz="2400" kern="100" dirty="0">
                    <a:effectLst/>
                    <a:latin typeface="Times New Roman" panose="02020603050405020304" pitchFamily="18" charset="0"/>
                    <a:ea typeface="宋体" pitchFamily="2" charset="-122"/>
                  </a:rPr>
                  <a:t>变化。带宽值必须是正实数，通常为</a:t>
                </a:r>
                <a:r>
                  <a:rPr lang="en-US" altLang="zh-CN" sz="2400" kern="100" dirty="0">
                    <a:effectLst/>
                    <a:latin typeface="Times New Roman" panose="02020603050405020304" pitchFamily="18" charset="0"/>
                    <a:ea typeface="宋体" pitchFamily="2" charset="-122"/>
                  </a:rPr>
                  <a:t>1</a:t>
                </a:r>
                <a:r>
                  <a:rPr lang="zh-CN" altLang="zh-CN" sz="2400" kern="100" dirty="0">
                    <a:effectLst/>
                    <a:latin typeface="Times New Roman" panose="02020603050405020304" pitchFamily="18" charset="0"/>
                    <a:ea typeface="宋体" pitchFamily="2" charset="-122"/>
                  </a:rPr>
                  <a:t>，此时标准差和波长的关系为</a:t>
                </a:r>
                <a14:m>
                  <m:oMath xmlns:m="http://schemas.openxmlformats.org/officeDocument/2006/math">
                    <m:r>
                      <a:rPr lang="en-US" altLang="zh-CN" sz="2400" i="1" kern="100">
                        <a:effectLst/>
                        <a:latin typeface="Cambria Math" panose="02040503050406030204" pitchFamily="18" charset="0"/>
                        <a:ea typeface="宋体" pitchFamily="2" charset="-122"/>
                      </a:rPr>
                      <m:t>𝜎</m:t>
                    </m:r>
                    <m:r>
                      <a:rPr lang="en-US" altLang="zh-CN" sz="2400" i="1"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0</m:t>
                    </m:r>
                    <m:r>
                      <a:rPr lang="en-US" altLang="zh-CN" sz="2400" i="1"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56</m:t>
                    </m:r>
                    <m:r>
                      <a:rPr lang="en-US" altLang="zh-CN" sz="2400" i="1" kern="100">
                        <a:effectLst/>
                        <a:latin typeface="Cambria Math" panose="02040503050406030204" pitchFamily="18" charset="0"/>
                        <a:ea typeface="宋体" pitchFamily="2" charset="-122"/>
                      </a:rPr>
                      <m:t>𝜆</m:t>
                    </m:r>
                  </m:oMath>
                </a14:m>
                <a:r>
                  <a:rPr lang="zh-CN" altLang="zh-CN" sz="2400" kern="100" dirty="0">
                    <a:effectLst/>
                    <a:latin typeface="Times New Roman" panose="02020603050405020304" pitchFamily="18" charset="0"/>
                    <a:ea typeface="宋体" pitchFamily="2" charset="-122"/>
                  </a:rPr>
                  <a:t>。带宽越小，标准差越大，</a:t>
                </a:r>
                <a:r>
                  <a:rPr lang="en-US" altLang="zh-CN" sz="2400" kern="100" dirty="0">
                    <a:effectLst/>
                    <a:latin typeface="Times New Roman" panose="02020603050405020304" pitchFamily="18" charset="0"/>
                    <a:ea typeface="宋体" pitchFamily="2" charset="-122"/>
                  </a:rPr>
                  <a:t>Gabor</a:t>
                </a:r>
                <a:r>
                  <a:rPr lang="zh-CN" altLang="zh-CN" sz="2400" kern="100" dirty="0">
                    <a:effectLst/>
                    <a:latin typeface="Times New Roman" panose="02020603050405020304" pitchFamily="18" charset="0"/>
                    <a:ea typeface="宋体" pitchFamily="2" charset="-122"/>
                  </a:rPr>
                  <a:t>形状越大，可见平行条纹数量越多。</a:t>
                </a:r>
                <a:endParaRPr lang="zh-CN" altLang="zh-CN" sz="2400" kern="100" dirty="0">
                  <a:effectLst/>
                  <a:latin typeface="Times New Roman" panose="02020603050405020304" pitchFamily="18" charset="0"/>
                  <a:ea typeface="宋体" pitchFamily="2" charset="-122"/>
                </a:endParaRPr>
              </a:p>
            </p:txBody>
          </p:sp>
        </mc:Choice>
        <mc:Fallback>
          <p:sp>
            <p:nvSpPr>
              <p:cNvPr id="22" name="文本框 21"/>
              <p:cNvSpPr txBox="1">
                <a:spLocks noRot="1" noChangeAspect="1" noMove="1" noResize="1" noEditPoints="1" noAdjustHandles="1" noChangeArrowheads="1" noChangeShapeType="1" noTextEdit="1"/>
              </p:cNvSpPr>
              <p:nvPr/>
            </p:nvSpPr>
            <p:spPr>
              <a:xfrm>
                <a:off x="432334" y="4452422"/>
                <a:ext cx="8352928" cy="1569660"/>
              </a:xfrm>
              <a:prstGeom prst="rect">
                <a:avLst/>
              </a:prstGeom>
              <a:blipFill rotWithShape="1">
                <a:blip r:embed="rId3"/>
                <a:stretch>
                  <a:fillRect l="-6" t="-28" b="-4102"/>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9.6 </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Gabor</a:t>
            </a:r>
            <a:r>
              <a:rPr lang="zh-CN" altLang="en-US" sz="2100" b="1" dirty="0">
                <a:solidFill>
                  <a:schemeClr val="tx1">
                    <a:lumMod val="75000"/>
                    <a:lumOff val="25000"/>
                  </a:schemeClr>
                </a:solidFill>
                <a:latin typeface="微软雅黑" panose="020B0503020204020204" pitchFamily="34" charset="-122"/>
              </a:rPr>
              <a:t>滤波器的图像纹理特征提取</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内容占位符 2"/>
          <p:cNvSpPr txBox="1">
            <a:spLocks noChangeArrowheads="1"/>
          </p:cNvSpPr>
          <p:nvPr/>
        </p:nvSpPr>
        <p:spPr bwMode="auto">
          <a:xfrm>
            <a:off x="356530" y="1097038"/>
            <a:ext cx="8536743"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9.6.2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利用</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Gabor</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滤波器提取纹理特征的原理</a:t>
            </a:r>
            <a:endParaRPr lang="en-US" altLang="zh-CN" b="1"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b="1"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不同的纹理一般具有不同的中心频率和带宽，根据这些频率和带宽就可以设计一组</a:t>
            </a:r>
            <a:r>
              <a:rPr lang="en-US" altLang="zh-CN" kern="100" dirty="0">
                <a:latin typeface="Times New Roman" panose="02020603050405020304" pitchFamily="18" charset="0"/>
                <a:ea typeface="宋体" pitchFamily="2" charset="-122"/>
                <a:cs typeface="Times New Roman" panose="02020603050405020304" pitchFamily="18" charset="0"/>
              </a:rPr>
              <a:t>Gabor</a:t>
            </a:r>
            <a:r>
              <a:rPr lang="zh-CN" altLang="en-US" kern="100" dirty="0">
                <a:latin typeface="Times New Roman" panose="02020603050405020304" pitchFamily="18" charset="0"/>
                <a:ea typeface="宋体" pitchFamily="2" charset="-122"/>
                <a:cs typeface="Times New Roman" panose="02020603050405020304" pitchFamily="18" charset="0"/>
              </a:rPr>
              <a:t>滤波器对图像的纹理进行滤波，每个</a:t>
            </a:r>
            <a:r>
              <a:rPr lang="en-US" altLang="zh-CN" kern="100" dirty="0">
                <a:latin typeface="Times New Roman" panose="02020603050405020304" pitchFamily="18" charset="0"/>
                <a:ea typeface="宋体" pitchFamily="2" charset="-122"/>
                <a:cs typeface="Times New Roman" panose="02020603050405020304" pitchFamily="18" charset="0"/>
              </a:rPr>
              <a:t>Gabor</a:t>
            </a:r>
            <a:r>
              <a:rPr lang="zh-CN" altLang="en-US" kern="100" dirty="0">
                <a:latin typeface="Times New Roman" panose="02020603050405020304" pitchFamily="18" charset="0"/>
                <a:ea typeface="宋体" pitchFamily="2" charset="-122"/>
                <a:cs typeface="Times New Roman" panose="02020603050405020304" pitchFamily="18" charset="0"/>
              </a:rPr>
              <a:t>滤波器只允许与其频率相对应的纹理顺利通过，用于之后的分类和分割任务，其实现步骤如下：</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9" name="内容占位符 2"/>
          <p:cNvSpPr txBox="1">
            <a:spLocks noChangeArrowheads="1"/>
          </p:cNvSpPr>
          <p:nvPr/>
        </p:nvSpPr>
        <p:spPr bwMode="auto">
          <a:xfrm>
            <a:off x="356530" y="2754809"/>
            <a:ext cx="8228013" cy="3843337"/>
          </a:xfrm>
          <a:prstGeom prst="rect">
            <a:avLst/>
          </a:prstGeom>
          <a:noFill/>
          <a:ln>
            <a:noFill/>
          </a:ln>
          <a:effectLst/>
        </p:spPr>
        <p:txBody>
          <a:bodyPr lIns="91419" tIns="45709" rIns="91419" bIns="45709"/>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a:spcBef>
                <a:spcPts val="2400"/>
              </a:spcBef>
              <a:defRPr/>
            </a:pPr>
            <a:endParaRPr lang="zh-CN" altLang="en-US" sz="1600" b="1" dirty="0">
              <a:latin typeface="Times New Roman" panose="02020603050405020304" pitchFamily="18" charset="0"/>
              <a:ea typeface="黑体" panose="02010609060101010101" pitchFamily="49" charset="-122"/>
              <a:cs typeface="Times New Roman" panose="02020603050405020304" pitchFamily="18" charset="0"/>
            </a:endParaRPr>
          </a:p>
          <a:p>
            <a:pPr marL="504190" indent="-457200" algn="l">
              <a:lnSpc>
                <a:spcPct val="100000"/>
              </a:lnSpc>
              <a:buFont typeface="+mj-ea"/>
              <a:buAutoNum type="circleNumDbPlain"/>
              <a:defRPr/>
            </a:pPr>
            <a:r>
              <a:rPr lang="zh-CN" altLang="en-US" kern="100" dirty="0">
                <a:latin typeface="Times New Roman" panose="02020603050405020304" pitchFamily="18" charset="0"/>
                <a:cs typeface="Times New Roman" panose="02020603050405020304" pitchFamily="18" charset="0"/>
              </a:rPr>
              <a:t>将输入图像分为</a:t>
            </a:r>
            <a:r>
              <a:rPr lang="en-US" altLang="zh-CN" kern="100" dirty="0" err="1">
                <a:latin typeface="Times New Roman" panose="02020603050405020304" pitchFamily="18" charset="0"/>
                <a:cs typeface="Times New Roman" panose="02020603050405020304" pitchFamily="18" charset="0"/>
              </a:rPr>
              <a:t>n×n</a:t>
            </a:r>
            <a:r>
              <a:rPr lang="zh-CN" altLang="en-US" kern="100" dirty="0">
                <a:latin typeface="Times New Roman" panose="02020603050405020304" pitchFamily="18" charset="0"/>
                <a:cs typeface="Times New Roman" panose="02020603050405020304" pitchFamily="18" charset="0"/>
              </a:rPr>
              <a:t>的图像块。</a:t>
            </a:r>
            <a:endParaRPr lang="en-US" altLang="zh-CN" kern="100" dirty="0">
              <a:latin typeface="Times New Roman" panose="02020603050405020304" pitchFamily="18" charset="0"/>
              <a:cs typeface="Times New Roman" panose="02020603050405020304" pitchFamily="18" charset="0"/>
            </a:endParaRPr>
          </a:p>
          <a:p>
            <a:pPr marL="504190" indent="-457200" algn="l">
              <a:lnSpc>
                <a:spcPct val="100000"/>
              </a:lnSpc>
              <a:buFont typeface="+mj-ea"/>
              <a:buAutoNum type="circleNumDbPlain"/>
              <a:defRPr/>
            </a:pPr>
            <a:r>
              <a:rPr lang="zh-CN" altLang="en-US" kern="100" dirty="0">
                <a:latin typeface="Times New Roman" panose="02020603050405020304" pitchFamily="18" charset="0"/>
                <a:cs typeface="Times New Roman" panose="02020603050405020304" pitchFamily="18" charset="0"/>
              </a:rPr>
              <a:t>建立一组</a:t>
            </a:r>
            <a:r>
              <a:rPr lang="en-US" altLang="zh-CN" kern="100" dirty="0">
                <a:latin typeface="Times New Roman" panose="02020603050405020304" pitchFamily="18" charset="0"/>
                <a:cs typeface="Times New Roman" panose="02020603050405020304" pitchFamily="18" charset="0"/>
              </a:rPr>
              <a:t>Gabor</a:t>
            </a:r>
            <a:r>
              <a:rPr lang="zh-CN" altLang="en-US" kern="100" dirty="0">
                <a:latin typeface="Times New Roman" panose="02020603050405020304" pitchFamily="18" charset="0"/>
                <a:cs typeface="Times New Roman" panose="02020603050405020304" pitchFamily="18" charset="0"/>
              </a:rPr>
              <a:t>滤波器。</a:t>
            </a:r>
            <a:endParaRPr lang="en-US" altLang="zh-CN" kern="100" dirty="0">
              <a:latin typeface="Times New Roman" panose="02020603050405020304" pitchFamily="18" charset="0"/>
              <a:cs typeface="Times New Roman" panose="02020603050405020304" pitchFamily="18" charset="0"/>
            </a:endParaRPr>
          </a:p>
          <a:p>
            <a:pPr marL="504190" indent="-457200" algn="l">
              <a:lnSpc>
                <a:spcPct val="100000"/>
              </a:lnSpc>
              <a:buFont typeface="+mj-ea"/>
              <a:buAutoNum type="circleNumDbPlain"/>
              <a:defRPr/>
            </a:pPr>
            <a:r>
              <a:rPr lang="zh-CN" altLang="en-US" kern="100" dirty="0">
                <a:latin typeface="Times New Roman" panose="02020603050405020304" pitchFamily="18" charset="0"/>
                <a:cs typeface="Times New Roman" panose="02020603050405020304" pitchFamily="18" charset="0"/>
              </a:rPr>
              <a:t>每个</a:t>
            </a:r>
            <a:r>
              <a:rPr lang="en-US" altLang="zh-CN" kern="100" dirty="0">
                <a:latin typeface="Times New Roman" panose="02020603050405020304" pitchFamily="18" charset="0"/>
                <a:cs typeface="Times New Roman" panose="02020603050405020304" pitchFamily="18" charset="0"/>
              </a:rPr>
              <a:t>Gabor</a:t>
            </a:r>
            <a:r>
              <a:rPr lang="zh-CN" altLang="en-US" kern="100" dirty="0">
                <a:latin typeface="Times New Roman" panose="02020603050405020304" pitchFamily="18" charset="0"/>
                <a:cs typeface="Times New Roman" panose="02020603050405020304" pitchFamily="18" charset="0"/>
              </a:rPr>
              <a:t>滤波器分别与每个图像块在空域卷积，输出图像块同样大小的图像。</a:t>
            </a:r>
            <a:endParaRPr lang="en-US" altLang="zh-CN" kern="100" dirty="0">
              <a:latin typeface="Times New Roman" panose="02020603050405020304" pitchFamily="18" charset="0"/>
              <a:cs typeface="Times New Roman" panose="02020603050405020304" pitchFamily="18" charset="0"/>
            </a:endParaRPr>
          </a:p>
          <a:p>
            <a:pPr marL="504190" indent="-457200" algn="l">
              <a:lnSpc>
                <a:spcPct val="100000"/>
              </a:lnSpc>
              <a:buFont typeface="+mj-ea"/>
              <a:buAutoNum type="circleNumDbPlain"/>
              <a:defRPr/>
            </a:pPr>
            <a:r>
              <a:rPr lang="zh-CN" altLang="zh-CN" kern="100" dirty="0">
                <a:effectLst/>
                <a:latin typeface="Times New Roman" panose="02020603050405020304" pitchFamily="18" charset="0"/>
                <a:ea typeface="宋体" pitchFamily="2" charset="-122"/>
                <a:cs typeface="Times New Roman" panose="02020603050405020304" pitchFamily="18" charset="0"/>
              </a:rPr>
              <a:t>由于直接将步骤三作为特征向量，特征空间的维数会很大，所以每个图像块经过</a:t>
            </a:r>
            <a:r>
              <a:rPr lang="en-US" altLang="zh-CN" kern="100" dirty="0">
                <a:effectLst/>
                <a:latin typeface="Times New Roman" panose="02020603050405020304" pitchFamily="18" charset="0"/>
                <a:ea typeface="宋体" pitchFamily="2" charset="-122"/>
                <a:cs typeface="Times New Roman" panose="02020603050405020304" pitchFamily="18" charset="0"/>
              </a:rPr>
              <a:t>Gabor</a:t>
            </a:r>
            <a:r>
              <a:rPr lang="zh-CN" altLang="zh-CN" kern="100" dirty="0">
                <a:effectLst/>
                <a:latin typeface="Times New Roman" panose="02020603050405020304" pitchFamily="18" charset="0"/>
                <a:ea typeface="宋体" pitchFamily="2" charset="-122"/>
                <a:cs typeface="Times New Roman" panose="02020603050405020304" pitchFamily="18" charset="0"/>
              </a:rPr>
              <a:t>滤波器组的</a:t>
            </a:r>
            <a:r>
              <a:rPr lang="en-US" altLang="zh-CN" kern="100" dirty="0">
                <a:effectLst/>
                <a:latin typeface="Times New Roman" panose="02020603050405020304" pitchFamily="18" charset="0"/>
                <a:ea typeface="宋体" pitchFamily="2" charset="-122"/>
                <a:cs typeface="Times New Roman" panose="02020603050405020304" pitchFamily="18" charset="0"/>
              </a:rPr>
              <a:t>24</a:t>
            </a:r>
            <a:r>
              <a:rPr lang="zh-CN" altLang="zh-CN" kern="100" dirty="0">
                <a:effectLst/>
                <a:latin typeface="Times New Roman" panose="02020603050405020304" pitchFamily="18" charset="0"/>
                <a:ea typeface="宋体" pitchFamily="2" charset="-122"/>
                <a:cs typeface="Times New Roman" panose="02020603050405020304" pitchFamily="18" charset="0"/>
              </a:rPr>
              <a:t>个输出，需要压缩为一个</a:t>
            </a:r>
            <a:r>
              <a:rPr lang="en-US" altLang="zh-CN" kern="100" dirty="0">
                <a:effectLst/>
                <a:latin typeface="Times New Roman" panose="02020603050405020304" pitchFamily="18" charset="0"/>
                <a:ea typeface="宋体" pitchFamily="2" charset="-122"/>
                <a:cs typeface="Times New Roman" panose="02020603050405020304" pitchFamily="18" charset="0"/>
              </a:rPr>
              <a:t>24×1</a:t>
            </a:r>
            <a:r>
              <a:rPr lang="zh-CN" altLang="zh-CN" kern="100" dirty="0">
                <a:effectLst/>
                <a:latin typeface="Times New Roman" panose="02020603050405020304" pitchFamily="18" charset="0"/>
                <a:ea typeface="宋体" pitchFamily="2" charset="-122"/>
                <a:cs typeface="Times New Roman" panose="02020603050405020304" pitchFamily="18" charset="0"/>
              </a:rPr>
              <a:t>的列向量作为该图像块的纹理特征。</a:t>
            </a:r>
            <a:endParaRPr lang="zh-CN" altLang="zh-CN" kern="100" dirty="0">
              <a:latin typeface="Times New Roman" panose="02020603050405020304" pitchFamily="18" charset="0"/>
              <a:cs typeface="Times New Roman" panose="02020603050405020304" pitchFamily="18" charset="0"/>
            </a:endParaRPr>
          </a:p>
        </p:txBody>
      </p:sp>
    </p:spTree>
  </p:cSld>
  <p:clrMapOvr>
    <a:masterClrMapping/>
  </p:clrMapOvr>
  <p:transition spd="slow" advClick="0" advTm="0">
    <p:wip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9.6 </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Gabor</a:t>
            </a:r>
            <a:r>
              <a:rPr lang="zh-CN" altLang="en-US" sz="2100" b="1" dirty="0">
                <a:solidFill>
                  <a:schemeClr val="tx1">
                    <a:lumMod val="75000"/>
                    <a:lumOff val="25000"/>
                  </a:schemeClr>
                </a:solidFill>
                <a:latin typeface="微软雅黑" panose="020B0503020204020204" pitchFamily="34" charset="-122"/>
              </a:rPr>
              <a:t>滤波器的图像纹理特征提取</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内容占位符 2"/>
          <p:cNvSpPr txBox="1">
            <a:spLocks noChangeArrowheads="1"/>
          </p:cNvSpPr>
          <p:nvPr/>
        </p:nvSpPr>
        <p:spPr bwMode="auto">
          <a:xfrm>
            <a:off x="356530" y="1125538"/>
            <a:ext cx="8536743"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9.6.3  </a:t>
            </a:r>
            <a:r>
              <a:rPr lang="en-US" altLang="zh-CN" b="1" kern="100" dirty="0" err="1">
                <a:latin typeface="Times New Roman" panose="02020603050405020304" pitchFamily="18" charset="0"/>
                <a:ea typeface="黑体" panose="02010609060101010101" pitchFamily="49" charset="-122"/>
                <a:cs typeface="Times New Roman" panose="02020603050405020304" pitchFamily="18" charset="0"/>
              </a:rPr>
              <a:t>python+Opencv</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实现</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Gabor</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函数</a:t>
            </a:r>
            <a:endParaRPr lang="en-US" altLang="zh-CN" b="1"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b="1"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利用</a:t>
            </a:r>
            <a:r>
              <a:rPr lang="en-US" altLang="zh-CN" kern="100" dirty="0" err="1">
                <a:latin typeface="Times New Roman" panose="02020603050405020304" pitchFamily="18" charset="0"/>
                <a:ea typeface="宋体" pitchFamily="2" charset="-122"/>
                <a:cs typeface="Times New Roman" panose="02020603050405020304" pitchFamily="18" charset="0"/>
              </a:rPr>
              <a:t>python+Opencv</a:t>
            </a:r>
            <a:r>
              <a:rPr lang="zh-CN" altLang="en-US" kern="100" dirty="0">
                <a:latin typeface="Times New Roman" panose="02020603050405020304" pitchFamily="18" charset="0"/>
                <a:ea typeface="宋体" pitchFamily="2" charset="-122"/>
                <a:cs typeface="Times New Roman" panose="02020603050405020304" pitchFamily="18" charset="0"/>
              </a:rPr>
              <a:t>实现基于</a:t>
            </a:r>
            <a:r>
              <a:rPr lang="en-US" altLang="zh-CN" kern="100" dirty="0">
                <a:latin typeface="Times New Roman" panose="02020603050405020304" pitchFamily="18" charset="0"/>
                <a:ea typeface="宋体" pitchFamily="2" charset="-122"/>
                <a:cs typeface="Times New Roman" panose="02020603050405020304" pitchFamily="18" charset="0"/>
              </a:rPr>
              <a:t>Gabor</a:t>
            </a:r>
            <a:r>
              <a:rPr lang="zh-CN" altLang="en-US" kern="100" dirty="0">
                <a:latin typeface="Times New Roman" panose="02020603050405020304" pitchFamily="18" charset="0"/>
                <a:ea typeface="宋体" pitchFamily="2" charset="-122"/>
                <a:cs typeface="Times New Roman" panose="02020603050405020304" pitchFamily="18" charset="0"/>
              </a:rPr>
              <a:t>滤波的图像纹理特征提取，主要应用</a:t>
            </a:r>
            <a:r>
              <a:rPr lang="en-US" altLang="zh-CN" kern="100" dirty="0" err="1">
                <a:latin typeface="Times New Roman" panose="02020603050405020304" pitchFamily="18" charset="0"/>
                <a:ea typeface="宋体" pitchFamily="2" charset="-122"/>
                <a:cs typeface="Times New Roman" panose="02020603050405020304" pitchFamily="18" charset="0"/>
              </a:rPr>
              <a:t>Opencv</a:t>
            </a:r>
            <a:r>
              <a:rPr lang="zh-CN" altLang="en-US" kern="100" dirty="0">
                <a:latin typeface="Times New Roman" panose="02020603050405020304" pitchFamily="18" charset="0"/>
                <a:ea typeface="宋体" pitchFamily="2" charset="-122"/>
                <a:cs typeface="Times New Roman" panose="02020603050405020304" pitchFamily="18" charset="0"/>
              </a:rPr>
              <a:t>中的两种库函数，</a:t>
            </a:r>
            <a:r>
              <a:rPr lang="en-US" altLang="zh-CN" kern="100" dirty="0" err="1">
                <a:latin typeface="Times New Roman" panose="02020603050405020304" pitchFamily="18" charset="0"/>
                <a:ea typeface="宋体" pitchFamily="2" charset="-122"/>
                <a:cs typeface="Times New Roman" panose="02020603050405020304" pitchFamily="18" charset="0"/>
              </a:rPr>
              <a:t>Opencv</a:t>
            </a:r>
            <a:r>
              <a:rPr lang="zh-CN" altLang="en-US" kern="100" dirty="0">
                <a:latin typeface="Times New Roman" panose="02020603050405020304" pitchFamily="18" charset="0"/>
                <a:ea typeface="宋体" pitchFamily="2" charset="-122"/>
                <a:cs typeface="Times New Roman" panose="02020603050405020304" pitchFamily="18" charset="0"/>
              </a:rPr>
              <a:t>提供了生成</a:t>
            </a:r>
            <a:r>
              <a:rPr lang="en-US" altLang="zh-CN" kern="100" dirty="0">
                <a:latin typeface="Times New Roman" panose="02020603050405020304" pitchFamily="18" charset="0"/>
                <a:ea typeface="宋体" pitchFamily="2" charset="-122"/>
                <a:cs typeface="Times New Roman" panose="02020603050405020304" pitchFamily="18" charset="0"/>
              </a:rPr>
              <a:t>Gabor</a:t>
            </a:r>
            <a:r>
              <a:rPr lang="zh-CN" altLang="en-US" kern="100" dirty="0">
                <a:latin typeface="Times New Roman" panose="02020603050405020304" pitchFamily="18" charset="0"/>
                <a:ea typeface="宋体" pitchFamily="2" charset="-122"/>
                <a:cs typeface="Times New Roman" panose="02020603050405020304" pitchFamily="18" charset="0"/>
              </a:rPr>
              <a:t>滤波器核的函数</a:t>
            </a:r>
            <a:r>
              <a:rPr lang="en-US" altLang="zh-CN" kern="100" dirty="0">
                <a:latin typeface="Times New Roman" panose="02020603050405020304" pitchFamily="18" charset="0"/>
                <a:ea typeface="宋体" pitchFamily="2" charset="-122"/>
                <a:cs typeface="Times New Roman" panose="02020603050405020304" pitchFamily="18" charset="0"/>
              </a:rPr>
              <a:t>cv2.getGaborKernel</a:t>
            </a:r>
            <a:r>
              <a:rPr lang="zh-CN" altLang="en-US" kern="100" dirty="0">
                <a:latin typeface="Times New Roman" panose="02020603050405020304" pitchFamily="18" charset="0"/>
                <a:ea typeface="宋体" pitchFamily="2" charset="-122"/>
                <a:cs typeface="Times New Roman" panose="02020603050405020304" pitchFamily="18" charset="0"/>
              </a:rPr>
              <a:t>，该函数的调用语法为：</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14" name="文本框 13"/>
          <p:cNvSpPr txBox="1"/>
          <p:nvPr/>
        </p:nvSpPr>
        <p:spPr>
          <a:xfrm>
            <a:off x="468338" y="3159760"/>
            <a:ext cx="8136904" cy="3170099"/>
          </a:xfrm>
          <a:prstGeom prst="rect">
            <a:avLst/>
          </a:prstGeom>
          <a:solidFill>
            <a:srgbClr val="C7C7C7"/>
          </a:solidFill>
        </p:spPr>
        <p:txBody>
          <a:bodyPr wrap="square">
            <a:spAutoFit/>
          </a:bodyPr>
          <a:lstStyle/>
          <a:p>
            <a:pPr marL="342900" indent="-342900" algn="just">
              <a:buFont typeface="Wingdings" panose="05000000000000000000" pitchFamily="2" charset="2"/>
              <a:buChar char="l"/>
            </a:pPr>
            <a:r>
              <a:rPr lang="en-US" altLang="zh-CN" sz="2000" kern="100" dirty="0">
                <a:solidFill>
                  <a:srgbClr val="000000"/>
                </a:solidFill>
                <a:effectLst/>
                <a:latin typeface="Times New Roman" panose="02020603050405020304" pitchFamily="18" charset="0"/>
                <a:ea typeface="宋体" pitchFamily="2" charset="-122"/>
              </a:rPr>
              <a:t>kern = cv2.getGaborKernel(</a:t>
            </a:r>
            <a:r>
              <a:rPr lang="en-US" altLang="zh-CN" sz="2000" kern="100" dirty="0" err="1">
                <a:solidFill>
                  <a:srgbClr val="000000"/>
                </a:solidFill>
                <a:effectLst/>
                <a:latin typeface="Times New Roman" panose="02020603050405020304" pitchFamily="18" charset="0"/>
                <a:ea typeface="宋体" pitchFamily="2" charset="-122"/>
              </a:rPr>
              <a:t>ksize,sigma,theta,lambda,gamma,psi,ktype</a:t>
            </a:r>
            <a:r>
              <a:rPr lang="en-US" altLang="zh-CN" sz="2000" kern="100" dirty="0">
                <a:solidFill>
                  <a:srgbClr val="000000"/>
                </a:solidFill>
                <a:effectLst/>
                <a:latin typeface="Times New Roman" panose="02020603050405020304" pitchFamily="18" charset="0"/>
                <a:ea typeface="宋体" pitchFamily="2" charset="-122"/>
              </a:rPr>
              <a:t>)</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 </a:t>
            </a:r>
            <a:endParaRPr lang="en-US" altLang="zh-CN" sz="2000" kern="100" dirty="0">
              <a:solidFill>
                <a:srgbClr val="000000"/>
              </a:solidFill>
              <a:effectLst/>
              <a:latin typeface="Times New Roman" panose="02020603050405020304" pitchFamily="18" charset="0"/>
              <a:ea typeface="宋体" pitchFamily="2" charset="-122"/>
            </a:endParaRPr>
          </a:p>
          <a:p>
            <a:pPr indent="266700" algn="just"/>
            <a:r>
              <a:rPr lang="zh-CN" altLang="zh-CN" sz="2000" kern="100" dirty="0">
                <a:solidFill>
                  <a:srgbClr val="000000"/>
                </a:solidFill>
                <a:effectLst/>
                <a:latin typeface="Times New Roman" panose="02020603050405020304" pitchFamily="18" charset="0"/>
                <a:ea typeface="宋体" pitchFamily="2" charset="-122"/>
              </a:rPr>
              <a:t>参数说明：</a:t>
            </a:r>
            <a:endParaRPr lang="zh-CN"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err="1">
                <a:solidFill>
                  <a:srgbClr val="000000"/>
                </a:solidFill>
                <a:effectLst/>
                <a:latin typeface="Times New Roman" panose="02020603050405020304" pitchFamily="18" charset="0"/>
                <a:ea typeface="宋体" pitchFamily="2" charset="-122"/>
              </a:rPr>
              <a:t>ksize</a:t>
            </a:r>
            <a:r>
              <a:rPr lang="zh-CN" altLang="zh-CN" sz="2000" kern="100" dirty="0">
                <a:solidFill>
                  <a:srgbClr val="000000"/>
                </a:solidFill>
                <a:effectLst/>
                <a:latin typeface="Times New Roman" panose="02020603050405020304" pitchFamily="18" charset="0"/>
                <a:ea typeface="宋体" pitchFamily="2" charset="-122"/>
              </a:rPr>
              <a:t>：表示内核大小，最好为奇数。</a:t>
            </a:r>
            <a:endParaRPr lang="zh-CN"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a:solidFill>
                  <a:srgbClr val="000000"/>
                </a:solidFill>
                <a:effectLst/>
                <a:latin typeface="Times New Roman" panose="02020603050405020304" pitchFamily="18" charset="0"/>
                <a:ea typeface="宋体" pitchFamily="2" charset="-122"/>
              </a:rPr>
              <a:t>sigma</a:t>
            </a:r>
            <a:r>
              <a:rPr lang="zh-CN" altLang="zh-CN" sz="2000" kern="100" dirty="0">
                <a:solidFill>
                  <a:srgbClr val="000000"/>
                </a:solidFill>
                <a:effectLst/>
                <a:latin typeface="Times New Roman" panose="02020603050405020304" pitchFamily="18" charset="0"/>
                <a:ea typeface="宋体" pitchFamily="2" charset="-122"/>
              </a:rPr>
              <a:t>：表示</a:t>
            </a:r>
            <a:r>
              <a:rPr lang="en-US" altLang="zh-CN" sz="2000" kern="100" dirty="0">
                <a:solidFill>
                  <a:srgbClr val="000000"/>
                </a:solidFill>
                <a:effectLst/>
                <a:latin typeface="Times New Roman" panose="02020603050405020304" pitchFamily="18" charset="0"/>
                <a:ea typeface="宋体" pitchFamily="2" charset="-122"/>
              </a:rPr>
              <a:t>Gabor</a:t>
            </a:r>
            <a:r>
              <a:rPr lang="zh-CN" altLang="zh-CN" sz="2000" kern="100" dirty="0">
                <a:solidFill>
                  <a:srgbClr val="000000"/>
                </a:solidFill>
                <a:effectLst/>
                <a:latin typeface="Times New Roman" panose="02020603050405020304" pitchFamily="18" charset="0"/>
                <a:ea typeface="宋体" pitchFamily="2" charset="-122"/>
              </a:rPr>
              <a:t>滤波器中使用高斯函数的标准差。</a:t>
            </a:r>
            <a:endParaRPr lang="zh-CN"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a:solidFill>
                  <a:srgbClr val="000000"/>
                </a:solidFill>
                <a:effectLst/>
                <a:latin typeface="Times New Roman" panose="02020603050405020304" pitchFamily="18" charset="0"/>
                <a:ea typeface="宋体" pitchFamily="2" charset="-122"/>
              </a:rPr>
              <a:t>theta</a:t>
            </a:r>
            <a:r>
              <a:rPr lang="zh-CN" altLang="zh-CN" sz="2000" kern="100" dirty="0">
                <a:solidFill>
                  <a:srgbClr val="000000"/>
                </a:solidFill>
                <a:effectLst/>
                <a:latin typeface="Times New Roman" panose="02020603050405020304" pitchFamily="18" charset="0"/>
                <a:ea typeface="宋体" pitchFamily="2" charset="-122"/>
              </a:rPr>
              <a:t>：表示</a:t>
            </a:r>
            <a:r>
              <a:rPr lang="en-US" altLang="zh-CN" sz="2000" kern="100" dirty="0">
                <a:solidFill>
                  <a:srgbClr val="000000"/>
                </a:solidFill>
                <a:effectLst/>
                <a:latin typeface="Times New Roman" panose="02020603050405020304" pitchFamily="18" charset="0"/>
                <a:ea typeface="宋体" pitchFamily="2" charset="-122"/>
              </a:rPr>
              <a:t>Gabor</a:t>
            </a:r>
            <a:r>
              <a:rPr lang="zh-CN" altLang="zh-CN" sz="2000" kern="100" dirty="0">
                <a:solidFill>
                  <a:srgbClr val="000000"/>
                </a:solidFill>
                <a:effectLst/>
                <a:latin typeface="Times New Roman" panose="02020603050405020304" pitchFamily="18" charset="0"/>
                <a:ea typeface="宋体" pitchFamily="2" charset="-122"/>
              </a:rPr>
              <a:t>核函数的平行条纹的方向。</a:t>
            </a:r>
            <a:endParaRPr lang="zh-CN"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a:solidFill>
                  <a:srgbClr val="000000"/>
                </a:solidFill>
                <a:effectLst/>
                <a:latin typeface="Times New Roman" panose="02020603050405020304" pitchFamily="18" charset="0"/>
                <a:ea typeface="宋体" pitchFamily="2" charset="-122"/>
              </a:rPr>
              <a:t>lambda</a:t>
            </a:r>
            <a:r>
              <a:rPr lang="zh-CN" altLang="zh-CN" sz="2000" kern="100" dirty="0">
                <a:solidFill>
                  <a:srgbClr val="000000"/>
                </a:solidFill>
                <a:effectLst/>
                <a:latin typeface="Times New Roman" panose="02020603050405020304" pitchFamily="18" charset="0"/>
                <a:ea typeface="宋体" pitchFamily="2" charset="-122"/>
              </a:rPr>
              <a:t>：</a:t>
            </a:r>
            <a:r>
              <a:rPr lang="zh-CN" altLang="zh-CN" sz="2000" kern="100" dirty="0">
                <a:effectLst/>
                <a:latin typeface="Times New Roman" panose="02020603050405020304" pitchFamily="18" charset="0"/>
                <a:ea typeface="宋体" pitchFamily="2" charset="-122"/>
              </a:rPr>
              <a:t>表示</a:t>
            </a:r>
            <a:r>
              <a:rPr lang="en-US" altLang="zh-CN" sz="2000" kern="100" dirty="0">
                <a:effectLst/>
                <a:latin typeface="Times New Roman" panose="02020603050405020304" pitchFamily="18" charset="0"/>
                <a:ea typeface="宋体" pitchFamily="2" charset="-122"/>
              </a:rPr>
              <a:t>Gabor</a:t>
            </a:r>
            <a:r>
              <a:rPr lang="zh-CN" altLang="zh-CN" sz="2000" kern="100" dirty="0">
                <a:effectLst/>
                <a:latin typeface="Times New Roman" panose="02020603050405020304" pitchFamily="18" charset="0"/>
                <a:ea typeface="宋体" pitchFamily="2" charset="-122"/>
              </a:rPr>
              <a:t>核函数中正弦函数的波长。</a:t>
            </a:r>
            <a:endParaRPr lang="zh-CN"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a:solidFill>
                  <a:srgbClr val="000000"/>
                </a:solidFill>
                <a:effectLst/>
                <a:latin typeface="Times New Roman" panose="02020603050405020304" pitchFamily="18" charset="0"/>
                <a:ea typeface="宋体" pitchFamily="2" charset="-122"/>
              </a:rPr>
              <a:t>gamma</a:t>
            </a:r>
            <a:r>
              <a:rPr lang="zh-CN" altLang="zh-CN" sz="2000" kern="100" dirty="0">
                <a:solidFill>
                  <a:srgbClr val="000000"/>
                </a:solidFill>
                <a:effectLst/>
                <a:latin typeface="Times New Roman" panose="02020603050405020304" pitchFamily="18" charset="0"/>
                <a:ea typeface="宋体" pitchFamily="2" charset="-122"/>
              </a:rPr>
              <a:t>：表示空间纵横比，</a:t>
            </a:r>
            <a:r>
              <a:rPr lang="zh-CN" altLang="zh-CN" sz="2000" kern="100" dirty="0">
                <a:effectLst/>
                <a:latin typeface="Times New Roman" panose="02020603050405020304" pitchFamily="18" charset="0"/>
                <a:ea typeface="宋体" pitchFamily="2" charset="-122"/>
              </a:rPr>
              <a:t>决定了</a:t>
            </a:r>
            <a:r>
              <a:rPr lang="en-US" altLang="zh-CN" sz="2000" kern="100" dirty="0">
                <a:effectLst/>
                <a:latin typeface="Times New Roman" panose="02020603050405020304" pitchFamily="18" charset="0"/>
                <a:ea typeface="宋体" pitchFamily="2" charset="-122"/>
              </a:rPr>
              <a:t>Gabor</a:t>
            </a:r>
            <a:r>
              <a:rPr lang="zh-CN" altLang="zh-CN" sz="2000" kern="100" dirty="0">
                <a:effectLst/>
                <a:latin typeface="Times New Roman" panose="02020603050405020304" pitchFamily="18" charset="0"/>
                <a:ea typeface="宋体" pitchFamily="2" charset="-122"/>
              </a:rPr>
              <a:t>函数形状的椭圆率。</a:t>
            </a:r>
            <a:endParaRPr lang="zh-CN"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a:effectLst/>
                <a:latin typeface="Times New Roman" panose="02020603050405020304" pitchFamily="18" charset="0"/>
                <a:ea typeface="宋体" pitchFamily="2" charset="-122"/>
              </a:rPr>
              <a:t>psi</a:t>
            </a:r>
            <a:r>
              <a:rPr lang="zh-CN" altLang="zh-CN" sz="2000" kern="100" dirty="0">
                <a:effectLst/>
                <a:latin typeface="Times New Roman" panose="02020603050405020304" pitchFamily="18" charset="0"/>
                <a:ea typeface="宋体" pitchFamily="2" charset="-122"/>
              </a:rPr>
              <a:t>：表示相位偏移。</a:t>
            </a:r>
            <a:endParaRPr lang="zh-CN"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err="1">
                <a:effectLst/>
                <a:latin typeface="Times New Roman" panose="02020603050405020304" pitchFamily="18" charset="0"/>
                <a:ea typeface="宋体" pitchFamily="2" charset="-122"/>
              </a:rPr>
              <a:t>ktype</a:t>
            </a:r>
            <a:r>
              <a:rPr lang="zh-CN" altLang="zh-CN" sz="2000" kern="100" dirty="0">
                <a:effectLst/>
                <a:latin typeface="Times New Roman" panose="02020603050405020304" pitchFamily="18" charset="0"/>
                <a:ea typeface="宋体" pitchFamily="2" charset="-122"/>
              </a:rPr>
              <a:t>：表示</a:t>
            </a:r>
            <a:r>
              <a:rPr lang="en-US" altLang="zh-CN" sz="2000" kern="100" dirty="0">
                <a:effectLst/>
                <a:latin typeface="Times New Roman" panose="02020603050405020304" pitchFamily="18" charset="0"/>
                <a:ea typeface="宋体" pitchFamily="2" charset="-122"/>
              </a:rPr>
              <a:t>Gabor</a:t>
            </a:r>
            <a:r>
              <a:rPr lang="zh-CN" altLang="zh-CN" sz="2000" kern="100" dirty="0">
                <a:effectLst/>
                <a:latin typeface="Times New Roman" panose="02020603050405020304" pitchFamily="18" charset="0"/>
                <a:ea typeface="宋体" pitchFamily="2" charset="-122"/>
              </a:rPr>
              <a:t>核函数中每个像素可以保存值的类型和范围。</a:t>
            </a:r>
            <a:endParaRPr lang="zh-CN" altLang="zh-CN" sz="20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p:cNvSpPr txBox="1"/>
          <p:nvPr/>
        </p:nvSpPr>
        <p:spPr>
          <a:xfrm>
            <a:off x="285427" y="1203743"/>
            <a:ext cx="8574733" cy="830997"/>
          </a:xfrm>
          <a:prstGeom prst="rect">
            <a:avLst/>
          </a:prstGeom>
          <a:noFill/>
        </p:spPr>
        <p:txBody>
          <a:bodyPr wrap="square">
            <a:spAutoFit/>
          </a:bodyPr>
          <a:lstStyle/>
          <a:p>
            <a:pPr indent="266700" algn="just"/>
            <a:r>
              <a:rPr lang="en-US" altLang="zh-CN" sz="2400" kern="100" dirty="0" err="1">
                <a:solidFill>
                  <a:srgbClr val="000000"/>
                </a:solidFill>
                <a:effectLst/>
                <a:latin typeface="Times New Roman" panose="02020603050405020304" pitchFamily="18" charset="0"/>
                <a:ea typeface="宋体" pitchFamily="2" charset="-122"/>
              </a:rPr>
              <a:t>Opencv</a:t>
            </a:r>
            <a:r>
              <a:rPr lang="zh-CN" altLang="zh-CN" sz="2400" kern="100" dirty="0">
                <a:solidFill>
                  <a:srgbClr val="000000"/>
                </a:solidFill>
                <a:effectLst/>
                <a:latin typeface="Times New Roman" panose="02020603050405020304" pitchFamily="18" charset="0"/>
                <a:ea typeface="宋体" pitchFamily="2" charset="-122"/>
              </a:rPr>
              <a:t>提供了卷积运算的函数</a:t>
            </a:r>
            <a:r>
              <a:rPr lang="en-US" altLang="zh-CN" sz="2400" kern="100" dirty="0">
                <a:solidFill>
                  <a:srgbClr val="000000"/>
                </a:solidFill>
                <a:effectLst/>
                <a:latin typeface="Times New Roman" panose="02020603050405020304" pitchFamily="18" charset="0"/>
                <a:ea typeface="宋体" pitchFamily="2" charset="-122"/>
              </a:rPr>
              <a:t>cv2.filter2D</a:t>
            </a:r>
            <a:r>
              <a:rPr lang="zh-CN" altLang="zh-CN" sz="2400" kern="100" dirty="0">
                <a:solidFill>
                  <a:srgbClr val="000000"/>
                </a:solidFill>
                <a:effectLst/>
                <a:latin typeface="Times New Roman" panose="02020603050405020304" pitchFamily="18" charset="0"/>
                <a:ea typeface="宋体" pitchFamily="2" charset="-122"/>
              </a:rPr>
              <a:t>，该函数的调用语法为：</a:t>
            </a:r>
            <a:endParaRPr lang="zh-CN" altLang="en-US" sz="2400" kern="100" dirty="0">
              <a:solidFill>
                <a:srgbClr val="000000"/>
              </a:solidFill>
              <a:effectLst/>
              <a:latin typeface="Times New Roman" panose="02020603050405020304" pitchFamily="18" charset="0"/>
              <a:ea typeface="宋体" pitchFamily="2" charset="-122"/>
            </a:endParaRPr>
          </a:p>
        </p:txBody>
      </p:sp>
      <p:sp>
        <p:nvSpPr>
          <p:cNvPr id="12" name="文本框 11"/>
          <p:cNvSpPr txBox="1"/>
          <p:nvPr/>
        </p:nvSpPr>
        <p:spPr>
          <a:xfrm>
            <a:off x="396330" y="2061642"/>
            <a:ext cx="8352928" cy="2308324"/>
          </a:xfrm>
          <a:prstGeom prst="rect">
            <a:avLst/>
          </a:prstGeom>
          <a:solidFill>
            <a:srgbClr val="C7C7C7"/>
          </a:solidFill>
        </p:spPr>
        <p:txBody>
          <a:bodyPr wrap="square">
            <a:spAutoFit/>
          </a:bodyPr>
          <a:lstStyle/>
          <a:p>
            <a:pPr marL="342900" marR="0" lvl="0" indent="-342900" algn="l" defTabSz="1088390" rtl="0" eaLnBrk="1" fontAlgn="auto" latinLnBrk="0" hangingPunct="1">
              <a:lnSpc>
                <a:spcPct val="100000"/>
              </a:lnSpc>
              <a:spcBef>
                <a:spcPts val="0"/>
              </a:spcBef>
              <a:spcAft>
                <a:spcPts val="0"/>
              </a:spcAft>
              <a:buClrTx/>
              <a:buSzTx/>
              <a:buFont typeface="Wingdings" panose="05000000000000000000" pitchFamily="2" charset="2"/>
              <a:buChar char="l"/>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dst</a:t>
            </a: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 cv2.filter2D(</a:t>
            </a:r>
            <a:r>
              <a:rPr kumimoji="0"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src,ddepth,kernel</a:t>
            </a: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endParaRPr kumimoji="0" lang="zh-CN"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266700" algn="just" defTabSz="1088390" rtl="0" eaLnBrk="1" fontAlgn="auto" latinLnBrk="0" hangingPunct="1">
              <a:lnSpc>
                <a:spcPct val="100000"/>
              </a:lnSpc>
              <a:spcBef>
                <a:spcPts val="0"/>
              </a:spcBef>
              <a:spcAft>
                <a:spcPts val="0"/>
              </a:spcAft>
              <a:buClrTx/>
              <a:buSzTx/>
              <a:buFontTx/>
              <a:buNone/>
              <a:defRPr/>
            </a:pPr>
            <a:r>
              <a:rPr kumimoji="0" lang="en-US" altLang="zh-CN" sz="2400" b="0" i="0" u="none" strike="noStrike" kern="1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endParaRPr kumimoji="0" lang="en-US" altLang="zh-CN" sz="2400" b="0" i="0" u="none" strike="noStrike" kern="1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266700" algn="just" defTabSz="1088390" rtl="0" eaLnBrk="1" fontAlgn="auto" latinLnBrk="0" hangingPunct="1">
              <a:lnSpc>
                <a:spcPct val="100000"/>
              </a:lnSpc>
              <a:spcBef>
                <a:spcPts val="0"/>
              </a:spcBef>
              <a:spcAft>
                <a:spcPts val="0"/>
              </a:spcAft>
              <a:buClrTx/>
              <a:buSzTx/>
              <a:buFontTx/>
              <a:buNone/>
              <a:defRPr/>
            </a:pPr>
            <a:r>
              <a:rPr lang="en-US" altLang="zh-CN" sz="2400" kern="100" dirty="0">
                <a:solidFill>
                  <a:srgbClr val="000000"/>
                </a:solidFill>
                <a:latin typeface="Times New Roman" panose="02020603050405020304" pitchFamily="18" charset="0"/>
                <a:cs typeface="Times New Roman" panose="02020603050405020304" pitchFamily="18" charset="0"/>
              </a:rPr>
              <a:t> </a:t>
            </a:r>
            <a:r>
              <a:rPr kumimoji="0" lang="zh-CN" altLang="zh-CN" sz="2400" b="0" i="0" u="none" strike="noStrike" kern="1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参数说明：</a:t>
            </a:r>
            <a:endParaRPr kumimoji="0" lang="zh-CN"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400" b="0" i="0" u="none" strike="noStrike" kern="1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src</a:t>
            </a:r>
            <a:r>
              <a:rPr kumimoji="0" lang="zh-CN" altLang="zh-CN" sz="2400" b="0" i="0" u="none" strike="noStrike" kern="1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：原始图像。</a:t>
            </a:r>
            <a:endParaRPr kumimoji="0" lang="zh-CN"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400" b="0" i="0" u="none" strike="noStrike" kern="1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Ddepth</a:t>
            </a:r>
            <a:r>
              <a:rPr kumimoji="0" lang="zh-CN" altLang="zh-CN" sz="2400" b="0" i="0" u="none" strike="noStrike" kern="1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：目标函数的所需深度。</a:t>
            </a:r>
            <a:endParaRPr kumimoji="0" lang="zh-CN"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400" b="0" i="0" u="none" strike="noStrike" kern="1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Kernel</a:t>
            </a:r>
            <a:r>
              <a:rPr kumimoji="0" lang="zh-CN" altLang="zh-CN" sz="2400" b="0" i="0" u="none" strike="noStrike" kern="1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r>
              <a:rPr kumimoji="0" lang="zh-CN"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卷积核</a:t>
            </a:r>
            <a:r>
              <a:rPr kumimoji="0" lang="en-US"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r>
              <a:rPr kumimoji="0" lang="zh-CN"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或相当于相关核</a:t>
            </a:r>
            <a:r>
              <a:rPr kumimoji="0" lang="en-US"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r>
              <a:rPr kumimoji="0" lang="zh-CN"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endParaRPr kumimoji="0" lang="zh-CN"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transition spd="slow" advClick="0" advTm="0">
    <p:wip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797581"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125538"/>
            <a:ext cx="7334534" cy="461665"/>
          </a:xfrm>
          <a:prstGeom prst="rect">
            <a:avLst/>
          </a:prstGeom>
          <a:noFill/>
        </p:spPr>
        <p:txBody>
          <a:bodyPr wrap="square">
            <a:spAutoFit/>
          </a:bodyPr>
          <a:lstStyle/>
          <a:p>
            <a:pPr indent="266700" algn="just"/>
            <a:r>
              <a:rPr lang="zh-CN" altLang="en-US" sz="2400" kern="100" dirty="0">
                <a:effectLst/>
                <a:latin typeface="Times New Roman" panose="02020603050405020304" pitchFamily="18" charset="0"/>
                <a:ea typeface="宋体" pitchFamily="2" charset="-122"/>
              </a:rPr>
              <a:t>采用</a:t>
            </a:r>
            <a:r>
              <a:rPr lang="en-US" altLang="zh-CN" sz="2400" kern="100" dirty="0">
                <a:effectLst/>
                <a:latin typeface="Times New Roman" panose="02020603050405020304" pitchFamily="18" charset="0"/>
                <a:ea typeface="宋体" pitchFamily="2" charset="-122"/>
              </a:rPr>
              <a:t>Gabor</a:t>
            </a:r>
            <a:r>
              <a:rPr lang="zh-CN" altLang="en-US" sz="2400" kern="100" dirty="0">
                <a:effectLst/>
                <a:latin typeface="Times New Roman" panose="02020603050405020304" pitchFamily="18" charset="0"/>
                <a:ea typeface="宋体" pitchFamily="2" charset="-122"/>
              </a:rPr>
              <a:t>滤波对图像进行纹理提取的代码如下。</a:t>
            </a:r>
            <a:endParaRPr lang="zh-CN" altLang="zh-CN" sz="2400" kern="100" dirty="0">
              <a:effectLst/>
              <a:latin typeface="Times New Roman" panose="02020603050405020304" pitchFamily="18" charset="0"/>
              <a:ea typeface="宋体" pitchFamily="2" charset="-122"/>
            </a:endParaRPr>
          </a:p>
        </p:txBody>
      </p:sp>
      <p:sp>
        <p:nvSpPr>
          <p:cNvPr id="11" name="文本框 10"/>
          <p:cNvSpPr txBox="1"/>
          <p:nvPr/>
        </p:nvSpPr>
        <p:spPr>
          <a:xfrm>
            <a:off x="468338" y="1629594"/>
            <a:ext cx="8424936" cy="4770537"/>
          </a:xfrm>
          <a:prstGeom prst="rect">
            <a:avLst/>
          </a:prstGeom>
          <a:solidFill>
            <a:srgbClr val="C7C7C7"/>
          </a:solidFill>
        </p:spPr>
        <p:txBody>
          <a:bodyPr wrap="square" numCol="1">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import cv2</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import </a:t>
            </a:r>
            <a:r>
              <a:rPr lang="en-US" altLang="zh-CN" sz="1600" kern="100" dirty="0" err="1">
                <a:solidFill>
                  <a:srgbClr val="000000"/>
                </a:solidFill>
                <a:effectLst/>
                <a:latin typeface="Times New Roman" panose="02020603050405020304" pitchFamily="18" charset="0"/>
                <a:ea typeface="宋体" pitchFamily="2" charset="-122"/>
              </a:rPr>
              <a:t>numpy</a:t>
            </a:r>
            <a:r>
              <a:rPr lang="en-US" altLang="zh-CN" sz="1600" kern="100" dirty="0">
                <a:solidFill>
                  <a:srgbClr val="000000"/>
                </a:solidFill>
                <a:effectLst/>
                <a:latin typeface="Times New Roman" panose="02020603050405020304" pitchFamily="18" charset="0"/>
                <a:ea typeface="宋体" pitchFamily="2" charset="-122"/>
              </a:rPr>
              <a:t> as np</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import </a:t>
            </a:r>
            <a:r>
              <a:rPr lang="en-US" altLang="zh-CN" sz="1600" kern="100" dirty="0" err="1">
                <a:solidFill>
                  <a:srgbClr val="000000"/>
                </a:solidFill>
                <a:effectLst/>
                <a:latin typeface="Times New Roman" panose="02020603050405020304" pitchFamily="18" charset="0"/>
                <a:ea typeface="宋体" pitchFamily="2" charset="-122"/>
              </a:rPr>
              <a:t>pylab</a:t>
            </a:r>
            <a:r>
              <a:rPr lang="en-US" altLang="zh-CN" sz="1600" kern="100" dirty="0">
                <a:solidFill>
                  <a:srgbClr val="000000"/>
                </a:solidFill>
                <a:effectLst/>
                <a:latin typeface="Times New Roman" panose="02020603050405020304" pitchFamily="18" charset="0"/>
                <a:ea typeface="宋体" pitchFamily="2" charset="-122"/>
              </a:rPr>
              <a:t> as pl</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a:t>
            </a:r>
            <a:r>
              <a:rPr lang="en-US" altLang="zh-CN" sz="1600" kern="100" dirty="0" err="1">
                <a:solidFill>
                  <a:srgbClr val="000000"/>
                </a:solidFill>
                <a:effectLst/>
                <a:latin typeface="Times New Roman" panose="02020603050405020304" pitchFamily="18" charset="0"/>
                <a:ea typeface="宋体" pitchFamily="2" charset="-122"/>
              </a:rPr>
              <a:t>build_filters</a:t>
            </a:r>
            <a:r>
              <a:rPr lang="en-US" altLang="zh-CN" sz="1600" kern="100" dirty="0">
                <a:solidFill>
                  <a:srgbClr val="000000"/>
                </a:solidFill>
                <a:effectLst/>
                <a:latin typeface="Times New Roman" panose="02020603050405020304" pitchFamily="18" charset="0"/>
                <a:ea typeface="宋体" pitchFamily="2" charset="-122"/>
              </a:rPr>
              <a:t>():</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filters = []</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ksize</a:t>
            </a:r>
            <a:r>
              <a:rPr lang="en-US" altLang="zh-CN" sz="1600" kern="100" dirty="0">
                <a:solidFill>
                  <a:srgbClr val="000000"/>
                </a:solidFill>
                <a:effectLst/>
                <a:latin typeface="Times New Roman" panose="02020603050405020304" pitchFamily="18" charset="0"/>
                <a:ea typeface="宋体" pitchFamily="2" charset="-122"/>
              </a:rPr>
              <a:t> = [7,9,11,13,15,17]			#gabor</a:t>
            </a:r>
            <a:r>
              <a:rPr lang="zh-CN" altLang="en-US" sz="1600" kern="100" dirty="0">
                <a:solidFill>
                  <a:srgbClr val="000000"/>
                </a:solidFill>
                <a:effectLst/>
                <a:latin typeface="Times New Roman" panose="02020603050405020304" pitchFamily="18" charset="0"/>
                <a:ea typeface="宋体" pitchFamily="2" charset="-122"/>
              </a:rPr>
              <a:t>尺度，</a:t>
            </a:r>
            <a:r>
              <a:rPr lang="en-US" altLang="zh-CN" sz="1600" kern="100" dirty="0">
                <a:solidFill>
                  <a:srgbClr val="000000"/>
                </a:solidFill>
                <a:effectLst/>
                <a:latin typeface="Times New Roman" panose="02020603050405020304" pitchFamily="18" charset="0"/>
                <a:ea typeface="宋体" pitchFamily="2" charset="-122"/>
              </a:rPr>
              <a:t>6</a:t>
            </a:r>
            <a:r>
              <a:rPr lang="zh-CN" altLang="en-US" sz="1600" kern="100" dirty="0">
                <a:solidFill>
                  <a:srgbClr val="000000"/>
                </a:solidFill>
                <a:effectLst/>
                <a:latin typeface="Times New Roman" panose="02020603050405020304" pitchFamily="18" charset="0"/>
                <a:ea typeface="宋体" pitchFamily="2" charset="-122"/>
              </a:rPr>
              <a:t>个</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lamda</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np.pi</a:t>
            </a:r>
            <a:r>
              <a:rPr lang="en-US" altLang="zh-CN" sz="1600" kern="100" dirty="0">
                <a:solidFill>
                  <a:srgbClr val="000000"/>
                </a:solidFill>
                <a:effectLst/>
                <a:latin typeface="Times New Roman" panose="02020603050405020304" pitchFamily="18" charset="0"/>
                <a:ea typeface="宋体" pitchFamily="2" charset="-122"/>
              </a:rPr>
              <a:t>/2.0				#</a:t>
            </a:r>
            <a:r>
              <a:rPr lang="zh-CN" altLang="en-US" sz="1600" kern="100" dirty="0">
                <a:solidFill>
                  <a:srgbClr val="000000"/>
                </a:solidFill>
                <a:effectLst/>
                <a:latin typeface="Times New Roman" panose="02020603050405020304" pitchFamily="18" charset="0"/>
                <a:ea typeface="宋体" pitchFamily="2" charset="-122"/>
              </a:rPr>
              <a:t>波长</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for theta in </a:t>
            </a:r>
            <a:r>
              <a:rPr lang="en-US" altLang="zh-CN" sz="1600" kern="100" dirty="0" err="1">
                <a:solidFill>
                  <a:srgbClr val="000000"/>
                </a:solidFill>
                <a:effectLst/>
                <a:latin typeface="Times New Roman" panose="02020603050405020304" pitchFamily="18" charset="0"/>
                <a:ea typeface="宋体" pitchFamily="2" charset="-122"/>
              </a:rPr>
              <a:t>np.arange</a:t>
            </a:r>
            <a:r>
              <a:rPr lang="en-US" altLang="zh-CN" sz="1600" kern="100" dirty="0">
                <a:solidFill>
                  <a:srgbClr val="000000"/>
                </a:solidFill>
                <a:effectLst/>
                <a:latin typeface="Times New Roman" panose="02020603050405020304" pitchFamily="18" charset="0"/>
                <a:ea typeface="宋体" pitchFamily="2" charset="-122"/>
              </a:rPr>
              <a:t>(0, </a:t>
            </a:r>
            <a:r>
              <a:rPr lang="en-US" altLang="zh-CN" sz="1600" kern="100" dirty="0" err="1">
                <a:solidFill>
                  <a:srgbClr val="000000"/>
                </a:solidFill>
                <a:effectLst/>
                <a:latin typeface="Times New Roman" panose="02020603050405020304" pitchFamily="18" charset="0"/>
                <a:ea typeface="宋体" pitchFamily="2" charset="-122"/>
              </a:rPr>
              <a:t>np.pi</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np.pi</a:t>
            </a:r>
            <a:r>
              <a:rPr lang="en-US" altLang="zh-CN" sz="1600" kern="100" dirty="0">
                <a:solidFill>
                  <a:srgbClr val="000000"/>
                </a:solidFill>
                <a:effectLst/>
                <a:latin typeface="Times New Roman" panose="02020603050405020304" pitchFamily="18" charset="0"/>
                <a:ea typeface="宋体" pitchFamily="2" charset="-122"/>
              </a:rPr>
              <a:t> / 4):		#gabor</a:t>
            </a:r>
            <a:r>
              <a:rPr lang="zh-CN" altLang="en-US" sz="1600" kern="100" dirty="0">
                <a:solidFill>
                  <a:srgbClr val="000000"/>
                </a:solidFill>
                <a:effectLst/>
                <a:latin typeface="Times New Roman" panose="02020603050405020304" pitchFamily="18" charset="0"/>
                <a:ea typeface="宋体" pitchFamily="2" charset="-122"/>
              </a:rPr>
              <a:t>方向</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for K in range(6):</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kern = cv2.getGaborKernel((</a:t>
            </a:r>
            <a:r>
              <a:rPr lang="en-US" altLang="zh-CN" sz="1600" kern="100" dirty="0" err="1">
                <a:solidFill>
                  <a:srgbClr val="000000"/>
                </a:solidFill>
                <a:effectLst/>
                <a:latin typeface="Times New Roman" panose="02020603050405020304" pitchFamily="18" charset="0"/>
                <a:ea typeface="宋体" pitchFamily="2" charset="-122"/>
              </a:rPr>
              <a:t>ksize</a:t>
            </a:r>
            <a:r>
              <a:rPr lang="en-US" altLang="zh-CN" sz="1600" kern="100" dirty="0">
                <a:solidFill>
                  <a:srgbClr val="000000"/>
                </a:solidFill>
                <a:effectLst/>
                <a:latin typeface="Times New Roman" panose="02020603050405020304" pitchFamily="18" charset="0"/>
                <a:ea typeface="宋体" pitchFamily="2" charset="-122"/>
              </a:rPr>
              <a:t>[K], </a:t>
            </a:r>
            <a:r>
              <a:rPr lang="en-US" altLang="zh-CN" sz="1600" kern="100" dirty="0" err="1">
                <a:solidFill>
                  <a:srgbClr val="000000"/>
                </a:solidFill>
                <a:effectLst/>
                <a:latin typeface="Times New Roman" panose="02020603050405020304" pitchFamily="18" charset="0"/>
                <a:ea typeface="宋体" pitchFamily="2" charset="-122"/>
              </a:rPr>
              <a:t>ksize</a:t>
            </a:r>
            <a:r>
              <a:rPr lang="en-US" altLang="zh-CN" sz="1600" kern="100" dirty="0">
                <a:solidFill>
                  <a:srgbClr val="000000"/>
                </a:solidFill>
                <a:effectLst/>
                <a:latin typeface="Times New Roman" panose="02020603050405020304" pitchFamily="18" charset="0"/>
                <a:ea typeface="宋体" pitchFamily="2" charset="-122"/>
              </a:rPr>
              <a:t>[K]), 1.0, theta, \</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lamda</a:t>
            </a:r>
            <a:r>
              <a:rPr lang="en-US" altLang="zh-CN" sz="1600" kern="100" dirty="0">
                <a:solidFill>
                  <a:srgbClr val="000000"/>
                </a:solidFill>
                <a:effectLst/>
                <a:latin typeface="Times New Roman" panose="02020603050405020304" pitchFamily="18" charset="0"/>
                <a:ea typeface="宋体" pitchFamily="2" charset="-122"/>
              </a:rPr>
              <a:t>, 0.5, 0, </a:t>
            </a:r>
            <a:r>
              <a:rPr lang="en-US" altLang="zh-CN" sz="1600" kern="100" dirty="0" err="1">
                <a:solidFill>
                  <a:srgbClr val="000000"/>
                </a:solidFill>
                <a:effectLst/>
                <a:latin typeface="Times New Roman" panose="02020603050405020304" pitchFamily="18" charset="0"/>
                <a:ea typeface="宋体" pitchFamily="2" charset="-122"/>
              </a:rPr>
              <a:t>ktype</a:t>
            </a:r>
            <a:r>
              <a:rPr lang="en-US" altLang="zh-CN" sz="1600" kern="100" dirty="0">
                <a:solidFill>
                  <a:srgbClr val="000000"/>
                </a:solidFill>
                <a:effectLst/>
                <a:latin typeface="Times New Roman" panose="02020603050405020304" pitchFamily="18" charset="0"/>
                <a:ea typeface="宋体" pitchFamily="2" charset="-122"/>
              </a:rPr>
              <a:t>=cv2.CV_32F)</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kern /= 1.5*</a:t>
            </a:r>
            <a:r>
              <a:rPr lang="en-US" altLang="zh-CN" sz="1600" kern="100" dirty="0" err="1">
                <a:solidFill>
                  <a:srgbClr val="000000"/>
                </a:solidFill>
                <a:effectLst/>
                <a:latin typeface="Times New Roman" panose="02020603050405020304" pitchFamily="18" charset="0"/>
                <a:ea typeface="宋体" pitchFamily="2" charset="-122"/>
              </a:rPr>
              <a:t>kern.sum</a:t>
            </a:r>
            <a:r>
              <a:rPr lang="en-US" altLang="zh-CN" sz="1600" kern="100" dirty="0">
                <a:solidFill>
                  <a:srgbClr val="000000"/>
                </a:solidFill>
                <a:effectLst/>
                <a:latin typeface="Times New Roman" panose="02020603050405020304" pitchFamily="18" charset="0"/>
                <a:ea typeface="宋体" pitchFamily="2" charset="-122"/>
              </a:rPr>
              <a:t>()</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filters.append</a:t>
            </a:r>
            <a:r>
              <a:rPr lang="en-US" altLang="zh-CN" sz="1600" kern="100" dirty="0">
                <a:solidFill>
                  <a:srgbClr val="000000"/>
                </a:solidFill>
                <a:effectLst/>
                <a:latin typeface="Times New Roman" panose="02020603050405020304" pitchFamily="18" charset="0"/>
                <a:ea typeface="宋体" pitchFamily="2" charset="-122"/>
              </a:rPr>
              <a:t>(kern)</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return filters</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process(</a:t>
            </a:r>
            <a:r>
              <a:rPr lang="en-US" altLang="zh-CN" sz="1600" kern="100" dirty="0" err="1">
                <a:solidFill>
                  <a:srgbClr val="000000"/>
                </a:solidFill>
                <a:effectLst/>
                <a:latin typeface="Times New Roman" panose="02020603050405020304" pitchFamily="18" charset="0"/>
                <a:ea typeface="宋体" pitchFamily="2" charset="-122"/>
              </a:rPr>
              <a:t>img</a:t>
            </a:r>
            <a:r>
              <a:rPr lang="en-US" altLang="zh-CN" sz="1600" kern="100" dirty="0">
                <a:solidFill>
                  <a:srgbClr val="000000"/>
                </a:solidFill>
                <a:effectLst/>
                <a:latin typeface="Times New Roman" panose="02020603050405020304" pitchFamily="18" charset="0"/>
                <a:ea typeface="宋体" pitchFamily="2" charset="-122"/>
              </a:rPr>
              <a:t>, filters):</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accum</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np.zeros_like</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img</a:t>
            </a:r>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根据图像</a:t>
            </a:r>
            <a:r>
              <a:rPr lang="en-US" altLang="zh-CN" sz="1600" kern="100" dirty="0" err="1">
                <a:solidFill>
                  <a:srgbClr val="000000"/>
                </a:solidFill>
                <a:effectLst/>
                <a:latin typeface="Times New Roman" panose="02020603050405020304" pitchFamily="18" charset="0"/>
                <a:ea typeface="宋体" pitchFamily="2" charset="-122"/>
              </a:rPr>
              <a:t>img</a:t>
            </a:r>
            <a:r>
              <a:rPr lang="zh-CN" altLang="en-US" sz="1600" kern="100" dirty="0">
                <a:solidFill>
                  <a:srgbClr val="000000"/>
                </a:solidFill>
                <a:effectLst/>
                <a:latin typeface="Times New Roman" panose="02020603050405020304" pitchFamily="18" charset="0"/>
                <a:ea typeface="宋体" pitchFamily="2" charset="-122"/>
              </a:rPr>
              <a:t>形成一个全</a:t>
            </a:r>
            <a:r>
              <a:rPr lang="en-US" altLang="zh-CN" sz="1600" kern="100" dirty="0">
                <a:solidFill>
                  <a:srgbClr val="000000"/>
                </a:solidFill>
                <a:effectLst/>
                <a:latin typeface="Times New Roman" panose="02020603050405020304" pitchFamily="18" charset="0"/>
                <a:ea typeface="宋体" pitchFamily="2" charset="-122"/>
              </a:rPr>
              <a:t>0</a:t>
            </a:r>
            <a:r>
              <a:rPr lang="zh-CN" altLang="en-US" sz="1600" kern="100" dirty="0">
                <a:solidFill>
                  <a:srgbClr val="000000"/>
                </a:solidFill>
                <a:effectLst/>
                <a:latin typeface="Times New Roman" panose="02020603050405020304" pitchFamily="18" charset="0"/>
                <a:ea typeface="宋体" pitchFamily="2" charset="-122"/>
              </a:rPr>
              <a:t>矩阵</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for kern in filters:</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fimg</a:t>
            </a:r>
            <a:r>
              <a:rPr lang="en-US" altLang="zh-CN" sz="1600" kern="100" dirty="0">
                <a:solidFill>
                  <a:srgbClr val="000000"/>
                </a:solidFill>
                <a:effectLst/>
                <a:latin typeface="Times New Roman" panose="02020603050405020304" pitchFamily="18" charset="0"/>
                <a:ea typeface="宋体" pitchFamily="2" charset="-122"/>
              </a:rPr>
              <a:t> = cv2.filter2D(</a:t>
            </a:r>
            <a:r>
              <a:rPr lang="en-US" altLang="zh-CN" sz="1600" kern="100" dirty="0" err="1">
                <a:solidFill>
                  <a:srgbClr val="000000"/>
                </a:solidFill>
                <a:effectLst/>
                <a:latin typeface="Times New Roman" panose="02020603050405020304" pitchFamily="18" charset="0"/>
                <a:ea typeface="宋体" pitchFamily="2" charset="-122"/>
              </a:rPr>
              <a:t>img</a:t>
            </a:r>
            <a:r>
              <a:rPr lang="en-US" altLang="zh-CN" sz="1600" kern="100" dirty="0">
                <a:solidFill>
                  <a:srgbClr val="000000"/>
                </a:solidFill>
                <a:effectLst/>
                <a:latin typeface="Times New Roman" panose="02020603050405020304" pitchFamily="18" charset="0"/>
                <a:ea typeface="宋体" pitchFamily="2" charset="-122"/>
              </a:rPr>
              <a:t>, cv2.CV_8UC3, kern)</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np.maximum</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accum</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fimg</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accum</a:t>
            </a:r>
            <a:r>
              <a:rPr lang="en-US" altLang="zh-CN" sz="1600" kern="100" dirty="0">
                <a:solidFill>
                  <a:srgbClr val="000000"/>
                </a:solidFill>
                <a:effectLst/>
                <a:latin typeface="Times New Roman" panose="02020603050405020304" pitchFamily="18" charset="0"/>
                <a:ea typeface="宋体" pitchFamily="2" charset="-122"/>
              </a:rPr>
              <a:t>) #accum</a:t>
            </a:r>
            <a:r>
              <a:rPr lang="zh-CN" altLang="en-US" sz="1600" kern="100" dirty="0">
                <a:solidFill>
                  <a:srgbClr val="000000"/>
                </a:solidFill>
                <a:effectLst/>
                <a:latin typeface="Times New Roman" panose="02020603050405020304" pitchFamily="18" charset="0"/>
                <a:ea typeface="宋体" pitchFamily="2" charset="-122"/>
              </a:rPr>
              <a:t>和</a:t>
            </a:r>
            <a:r>
              <a:rPr lang="en-US" altLang="zh-CN" sz="1600" kern="100" dirty="0" err="1">
                <a:solidFill>
                  <a:srgbClr val="000000"/>
                </a:solidFill>
                <a:effectLst/>
                <a:latin typeface="Times New Roman" panose="02020603050405020304" pitchFamily="18" charset="0"/>
                <a:ea typeface="宋体" pitchFamily="2" charset="-122"/>
              </a:rPr>
              <a:t>fimg</a:t>
            </a:r>
            <a:r>
              <a:rPr lang="zh-CN" altLang="en-US" sz="1600" kern="100" dirty="0">
                <a:solidFill>
                  <a:srgbClr val="000000"/>
                </a:solidFill>
                <a:effectLst/>
                <a:latin typeface="Times New Roman" panose="02020603050405020304" pitchFamily="18" charset="0"/>
                <a:ea typeface="宋体" pitchFamily="2" charset="-122"/>
              </a:rPr>
              <a:t>比较，        </a:t>
            </a:r>
            <a:r>
              <a:rPr lang="en-US" altLang="zh-CN" sz="1600" kern="100" dirty="0">
                <a:solidFill>
                  <a:srgbClr val="000000"/>
                </a:solidFill>
                <a:effectLst/>
                <a:latin typeface="Times New Roman" panose="02020603050405020304" pitchFamily="18" charset="0"/>
                <a:ea typeface="宋体" pitchFamily="2" charset="-122"/>
              </a:rPr>
              <a:t>#</a:t>
            </a:r>
            <a:r>
              <a:rPr lang="zh-CN" altLang="en-US" sz="1600" kern="100" dirty="0">
                <a:solidFill>
                  <a:srgbClr val="000000"/>
                </a:solidFill>
                <a:effectLst/>
                <a:latin typeface="Times New Roman" panose="02020603050405020304" pitchFamily="18" charset="0"/>
                <a:ea typeface="宋体" pitchFamily="2" charset="-122"/>
              </a:rPr>
              <a:t>取最大值，输出</a:t>
            </a:r>
            <a:r>
              <a:rPr lang="en-US" altLang="zh-CN" sz="1600" kern="100" dirty="0" err="1">
                <a:solidFill>
                  <a:srgbClr val="000000"/>
                </a:solidFill>
                <a:effectLst/>
                <a:latin typeface="Times New Roman" panose="02020603050405020304" pitchFamily="18" charset="0"/>
                <a:ea typeface="宋体" pitchFamily="2" charset="-122"/>
              </a:rPr>
              <a:t>accum</a:t>
            </a:r>
            <a:endParaRPr lang="en-US" altLang="zh-CN" sz="16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6229629"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125538"/>
            <a:ext cx="7334534" cy="461665"/>
          </a:xfrm>
          <a:prstGeom prst="rect">
            <a:avLst/>
          </a:prstGeom>
          <a:noFill/>
        </p:spPr>
        <p:txBody>
          <a:bodyPr wrap="square">
            <a:spAutoFit/>
          </a:bodyPr>
          <a:lstStyle/>
          <a:p>
            <a:pPr indent="266700" algn="just"/>
            <a:r>
              <a:rPr lang="zh-CN" altLang="en-US" sz="2400" kern="100" dirty="0">
                <a:effectLst/>
                <a:latin typeface="Times New Roman" panose="02020603050405020304" pitchFamily="18" charset="0"/>
                <a:ea typeface="宋体" pitchFamily="2" charset="-122"/>
              </a:rPr>
              <a:t>采用</a:t>
            </a:r>
            <a:r>
              <a:rPr lang="en-US" altLang="zh-CN" sz="2400" kern="100" dirty="0">
                <a:effectLst/>
                <a:latin typeface="Times New Roman" panose="02020603050405020304" pitchFamily="18" charset="0"/>
                <a:ea typeface="宋体" pitchFamily="2" charset="-122"/>
              </a:rPr>
              <a:t>Gabor</a:t>
            </a:r>
            <a:r>
              <a:rPr lang="zh-CN" altLang="en-US" sz="2400" kern="100" dirty="0">
                <a:effectLst/>
                <a:latin typeface="Times New Roman" panose="02020603050405020304" pitchFamily="18" charset="0"/>
                <a:ea typeface="宋体" pitchFamily="2" charset="-122"/>
              </a:rPr>
              <a:t>滤波对图像进行纹理提取的代码如下。</a:t>
            </a:r>
            <a:endParaRPr lang="zh-CN" altLang="zh-CN" sz="2400" kern="100" dirty="0">
              <a:effectLst/>
              <a:latin typeface="Times New Roman" panose="02020603050405020304" pitchFamily="18" charset="0"/>
              <a:ea typeface="宋体" pitchFamily="2" charset="-122"/>
            </a:endParaRPr>
          </a:p>
        </p:txBody>
      </p:sp>
      <p:sp>
        <p:nvSpPr>
          <p:cNvPr id="11" name="文本框 10"/>
          <p:cNvSpPr txBox="1"/>
          <p:nvPr/>
        </p:nvSpPr>
        <p:spPr>
          <a:xfrm>
            <a:off x="540346" y="1630169"/>
            <a:ext cx="8198629" cy="4524315"/>
          </a:xfrm>
          <a:prstGeom prst="rect">
            <a:avLst/>
          </a:prstGeom>
          <a:solidFill>
            <a:srgbClr val="C7C7C7"/>
          </a:solidFill>
        </p:spPr>
        <p:txBody>
          <a:bodyPr wrap="square" numCol="1">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return </a:t>
            </a:r>
            <a:r>
              <a:rPr lang="en-US" altLang="zh-CN" sz="1800" kern="100" dirty="0" err="1">
                <a:solidFill>
                  <a:srgbClr val="000000"/>
                </a:solidFill>
                <a:effectLst/>
                <a:latin typeface="Times New Roman" panose="02020603050405020304" pitchFamily="18" charset="0"/>
                <a:ea typeface="宋体" pitchFamily="2" charset="-122"/>
              </a:rPr>
              <a:t>accum</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def </a:t>
            </a:r>
            <a:r>
              <a:rPr lang="en-US" altLang="zh-CN" sz="1800" kern="100" dirty="0" err="1">
                <a:solidFill>
                  <a:srgbClr val="000000"/>
                </a:solidFill>
                <a:effectLst/>
                <a:latin typeface="Times New Roman" panose="02020603050405020304" pitchFamily="18" charset="0"/>
                <a:ea typeface="宋体" pitchFamily="2" charset="-122"/>
              </a:rPr>
              <a:t>getGabor</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img,filters</a:t>
            </a:r>
            <a:r>
              <a:rPr lang="en-US" altLang="zh-CN" sz="1800" kern="100" dirty="0">
                <a:solidFill>
                  <a:srgbClr val="000000"/>
                </a:solidFill>
                <a:effectLst/>
                <a:latin typeface="Times New Roman" panose="02020603050405020304" pitchFamily="18" charset="0"/>
                <a:ea typeface="宋体" pitchFamily="2" charset="-122"/>
              </a:rPr>
              <a:t>):</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res = []			#</a:t>
            </a:r>
            <a:r>
              <a:rPr lang="zh-CN" altLang="en-US" sz="1800" kern="100" dirty="0">
                <a:solidFill>
                  <a:srgbClr val="000000"/>
                </a:solidFill>
                <a:effectLst/>
                <a:latin typeface="Times New Roman" panose="02020603050405020304" pitchFamily="18" charset="0"/>
                <a:ea typeface="宋体" pitchFamily="2" charset="-122"/>
              </a:rPr>
              <a:t>滤波结果</a:t>
            </a:r>
            <a:r>
              <a:rPr lang="en-US" altLang="zh-CN" sz="1800" kern="100" dirty="0">
                <a:solidFill>
                  <a:srgbClr val="000000"/>
                </a:solidFill>
                <a:effectLst/>
                <a:latin typeface="Times New Roman" panose="02020603050405020304" pitchFamily="18" charset="0"/>
                <a:ea typeface="宋体" pitchFamily="2" charset="-122"/>
              </a:rPr>
              <a:t>#</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for </a:t>
            </a:r>
            <a:r>
              <a:rPr lang="en-US" altLang="zh-CN" sz="1800" kern="100" dirty="0" err="1">
                <a:solidFill>
                  <a:srgbClr val="000000"/>
                </a:solidFill>
                <a:effectLst/>
                <a:latin typeface="Times New Roman" panose="02020603050405020304" pitchFamily="18" charset="0"/>
                <a:ea typeface="宋体" pitchFamily="2" charset="-122"/>
              </a:rPr>
              <a:t>i</a:t>
            </a:r>
            <a:r>
              <a:rPr lang="en-US" altLang="zh-CN" sz="1800" kern="100" dirty="0">
                <a:solidFill>
                  <a:srgbClr val="000000"/>
                </a:solidFill>
                <a:effectLst/>
                <a:latin typeface="Times New Roman" panose="02020603050405020304" pitchFamily="18" charset="0"/>
                <a:ea typeface="宋体" pitchFamily="2" charset="-122"/>
              </a:rPr>
              <a:t> in range(</a:t>
            </a:r>
            <a:r>
              <a:rPr lang="en-US" altLang="zh-CN" sz="1800" kern="100" dirty="0" err="1">
                <a:solidFill>
                  <a:srgbClr val="000000"/>
                </a:solidFill>
                <a:effectLst/>
                <a:latin typeface="Times New Roman" panose="02020603050405020304" pitchFamily="18" charset="0"/>
                <a:ea typeface="宋体" pitchFamily="2" charset="-122"/>
              </a:rPr>
              <a:t>len</a:t>
            </a:r>
            <a:r>
              <a:rPr lang="en-US" altLang="zh-CN" sz="1800" kern="100" dirty="0">
                <a:solidFill>
                  <a:srgbClr val="000000"/>
                </a:solidFill>
                <a:effectLst/>
                <a:latin typeface="Times New Roman" panose="02020603050405020304" pitchFamily="18" charset="0"/>
                <a:ea typeface="宋体" pitchFamily="2" charset="-122"/>
              </a:rPr>
              <a:t>(filters)):</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res1 = process(</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filters[</a:t>
            </a:r>
            <a:r>
              <a:rPr lang="en-US" altLang="zh-CN" sz="1800" kern="100" dirty="0" err="1">
                <a:solidFill>
                  <a:srgbClr val="000000"/>
                </a:solidFill>
                <a:effectLst/>
                <a:latin typeface="Times New Roman" panose="02020603050405020304" pitchFamily="18" charset="0"/>
                <a:ea typeface="宋体" pitchFamily="2" charset="-122"/>
              </a:rPr>
              <a:t>i</a:t>
            </a:r>
            <a:r>
              <a:rPr lang="en-US" altLang="zh-CN" sz="1800" kern="100" dirty="0">
                <a:solidFill>
                  <a:srgbClr val="000000"/>
                </a:solidFill>
                <a:effectLst/>
                <a:latin typeface="Times New Roman" panose="02020603050405020304" pitchFamily="18" charset="0"/>
                <a:ea typeface="宋体" pitchFamily="2" charset="-122"/>
              </a:rPr>
              <a:t>])</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res.append</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np.asarray</a:t>
            </a:r>
            <a:r>
              <a:rPr lang="en-US" altLang="zh-CN" sz="1800" kern="100" dirty="0">
                <a:solidFill>
                  <a:srgbClr val="000000"/>
                </a:solidFill>
                <a:effectLst/>
                <a:latin typeface="Times New Roman" panose="02020603050405020304" pitchFamily="18" charset="0"/>
                <a:ea typeface="宋体" pitchFamily="2" charset="-122"/>
              </a:rPr>
              <a:t>(res1))	#res</a:t>
            </a:r>
            <a:r>
              <a:rPr lang="zh-CN" altLang="en-US" sz="1800" kern="100" dirty="0">
                <a:solidFill>
                  <a:srgbClr val="000000"/>
                </a:solidFill>
                <a:effectLst/>
                <a:latin typeface="Times New Roman" panose="02020603050405020304" pitchFamily="18" charset="0"/>
                <a:ea typeface="宋体" pitchFamily="2" charset="-122"/>
              </a:rPr>
              <a:t>里增加</a:t>
            </a:r>
            <a:r>
              <a:rPr lang="en-US" altLang="zh-CN" sz="1800" kern="100" dirty="0">
                <a:solidFill>
                  <a:srgbClr val="000000"/>
                </a:solidFill>
                <a:effectLst/>
                <a:latin typeface="Times New Roman" panose="02020603050405020304" pitchFamily="18" charset="0"/>
                <a:ea typeface="宋体" pitchFamily="2" charset="-122"/>
              </a:rPr>
              <a:t>res1</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pl.figure</a:t>
            </a:r>
            <a:r>
              <a:rPr lang="en-US" altLang="zh-CN" sz="1800" kern="100" dirty="0">
                <a:solidFill>
                  <a:srgbClr val="000000"/>
                </a:solidFill>
                <a:effectLst/>
                <a:latin typeface="Times New Roman" panose="02020603050405020304" pitchFamily="18" charset="0"/>
                <a:ea typeface="宋体" pitchFamily="2" charset="-122"/>
              </a:rPr>
              <a:t>(2)</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for temp in range(</a:t>
            </a:r>
            <a:r>
              <a:rPr lang="en-US" altLang="zh-CN" sz="1800" kern="100" dirty="0" err="1">
                <a:solidFill>
                  <a:srgbClr val="000000"/>
                </a:solidFill>
                <a:effectLst/>
                <a:latin typeface="Times New Roman" panose="02020603050405020304" pitchFamily="18" charset="0"/>
                <a:ea typeface="宋体" pitchFamily="2" charset="-122"/>
              </a:rPr>
              <a:t>len</a:t>
            </a:r>
            <a:r>
              <a:rPr lang="en-US" altLang="zh-CN" sz="1800" kern="100" dirty="0">
                <a:solidFill>
                  <a:srgbClr val="000000"/>
                </a:solidFill>
                <a:effectLst/>
                <a:latin typeface="Times New Roman" panose="02020603050405020304" pitchFamily="18" charset="0"/>
                <a:ea typeface="宋体" pitchFamily="2" charset="-122"/>
              </a:rPr>
              <a:t>(res)):</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pl.subplot</a:t>
            </a:r>
            <a:r>
              <a:rPr lang="en-US" altLang="zh-CN" sz="1800" kern="100" dirty="0">
                <a:solidFill>
                  <a:srgbClr val="000000"/>
                </a:solidFill>
                <a:effectLst/>
                <a:latin typeface="Times New Roman" panose="02020603050405020304" pitchFamily="18" charset="0"/>
                <a:ea typeface="宋体" pitchFamily="2" charset="-122"/>
              </a:rPr>
              <a:t>(4,6,temp+1)</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pl.imshow</a:t>
            </a:r>
            <a:r>
              <a:rPr lang="en-US" altLang="zh-CN" sz="1800" kern="100" dirty="0">
                <a:solidFill>
                  <a:srgbClr val="000000"/>
                </a:solidFill>
                <a:effectLst/>
                <a:latin typeface="Times New Roman" panose="02020603050405020304" pitchFamily="18" charset="0"/>
                <a:ea typeface="宋体" pitchFamily="2" charset="-122"/>
              </a:rPr>
              <a:t>(res[temp], </a:t>
            </a:r>
            <a:r>
              <a:rPr lang="en-US" altLang="zh-CN" sz="1800" kern="100" dirty="0" err="1">
                <a:solidFill>
                  <a:srgbClr val="000000"/>
                </a:solidFill>
                <a:effectLst/>
                <a:latin typeface="Times New Roman" panose="02020603050405020304" pitchFamily="18" charset="0"/>
                <a:ea typeface="宋体" pitchFamily="2" charset="-122"/>
              </a:rPr>
              <a:t>cmap</a:t>
            </a:r>
            <a:r>
              <a:rPr lang="en-US" altLang="zh-CN" sz="1800" kern="100" dirty="0">
                <a:solidFill>
                  <a:srgbClr val="000000"/>
                </a:solidFill>
                <a:effectLst/>
                <a:latin typeface="Times New Roman" panose="02020603050405020304" pitchFamily="18" charset="0"/>
                <a:ea typeface="宋体" pitchFamily="2" charset="-122"/>
              </a:rPr>
              <a:t>='gray' )</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pl.show</a:t>
            </a:r>
            <a:r>
              <a:rPr lang="en-US" altLang="zh-CN" sz="1800" kern="100" dirty="0">
                <a:solidFill>
                  <a:srgbClr val="000000"/>
                </a:solidFill>
                <a:effectLst/>
                <a:latin typeface="Times New Roman" panose="02020603050405020304" pitchFamily="18" charset="0"/>
                <a:ea typeface="宋体" pitchFamily="2" charset="-122"/>
              </a:rPr>
              <a:t>()</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return res		#</a:t>
            </a:r>
            <a:r>
              <a:rPr lang="zh-CN" altLang="en-US" sz="1800" kern="100" dirty="0">
                <a:solidFill>
                  <a:srgbClr val="000000"/>
                </a:solidFill>
                <a:effectLst/>
                <a:latin typeface="Times New Roman" panose="02020603050405020304" pitchFamily="18" charset="0"/>
                <a:ea typeface="宋体" pitchFamily="2" charset="-122"/>
              </a:rPr>
              <a:t>返回滤波结果</a:t>
            </a:r>
            <a:r>
              <a:rPr lang="en-US" altLang="zh-CN" sz="1800" kern="100" dirty="0">
                <a:solidFill>
                  <a:srgbClr val="000000"/>
                </a:solidFill>
                <a:effectLst/>
                <a:latin typeface="Times New Roman" panose="02020603050405020304" pitchFamily="18" charset="0"/>
                <a:ea typeface="宋体" pitchFamily="2" charset="-122"/>
              </a:rPr>
              <a:t>,</a:t>
            </a:r>
            <a:r>
              <a:rPr lang="zh-CN" altLang="en-US" sz="1800" kern="100" dirty="0">
                <a:solidFill>
                  <a:srgbClr val="000000"/>
                </a:solidFill>
                <a:effectLst/>
                <a:latin typeface="Times New Roman" panose="02020603050405020304" pitchFamily="18" charset="0"/>
                <a:ea typeface="宋体" pitchFamily="2" charset="-122"/>
              </a:rPr>
              <a:t>结果为</a:t>
            </a:r>
            <a:r>
              <a:rPr lang="en-US" altLang="zh-CN" sz="1800" kern="100" dirty="0">
                <a:solidFill>
                  <a:srgbClr val="000000"/>
                </a:solidFill>
                <a:effectLst/>
                <a:latin typeface="Times New Roman" panose="02020603050405020304" pitchFamily="18" charset="0"/>
                <a:ea typeface="宋体" pitchFamily="2" charset="-122"/>
              </a:rPr>
              <a:t>24</a:t>
            </a:r>
            <a:r>
              <a:rPr lang="zh-CN" altLang="en-US" sz="1800" kern="100" dirty="0">
                <a:solidFill>
                  <a:srgbClr val="000000"/>
                </a:solidFill>
                <a:effectLst/>
                <a:latin typeface="Times New Roman" panose="02020603050405020304" pitchFamily="18" charset="0"/>
                <a:ea typeface="宋体" pitchFamily="2" charset="-122"/>
              </a:rPr>
              <a:t>幅图</a:t>
            </a:r>
            <a:endParaRPr lang="zh-CN" altLang="en-US"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img1 = cv2.imread(</a:t>
            </a:r>
            <a:r>
              <a:rPr lang="en-US" altLang="zh-CN" sz="1800" kern="100" dirty="0" err="1">
                <a:solidFill>
                  <a:srgbClr val="000000"/>
                </a:solidFill>
                <a:effectLst/>
                <a:latin typeface="Times New Roman" panose="02020603050405020304" pitchFamily="18" charset="0"/>
                <a:ea typeface="宋体" pitchFamily="2" charset="-122"/>
              </a:rPr>
              <a:t>r'C</a:t>
            </a:r>
            <a:r>
              <a:rPr lang="en-US" altLang="zh-CN" sz="1800" kern="100" dirty="0">
                <a:solidFill>
                  <a:srgbClr val="000000"/>
                </a:solidFill>
                <a:effectLst/>
                <a:latin typeface="Times New Roman" panose="02020603050405020304" pitchFamily="18" charset="0"/>
                <a:ea typeface="宋体" pitchFamily="2" charset="-122"/>
              </a:rPr>
              <a:t>:\Users\</a:t>
            </a:r>
            <a:r>
              <a:rPr lang="en-US" altLang="zh-CN" sz="1800" kern="100" dirty="0" err="1">
                <a:solidFill>
                  <a:srgbClr val="000000"/>
                </a:solidFill>
                <a:effectLst/>
                <a:latin typeface="Times New Roman" panose="02020603050405020304" pitchFamily="18" charset="0"/>
                <a:ea typeface="宋体" pitchFamily="2" charset="-122"/>
              </a:rPr>
              <a:t>lenovo</a:t>
            </a:r>
            <a:r>
              <a:rPr lang="en-US" altLang="zh-CN" sz="1800" kern="100" dirty="0">
                <a:solidFill>
                  <a:srgbClr val="000000"/>
                </a:solidFill>
                <a:effectLst/>
                <a:latin typeface="Times New Roman" panose="02020603050405020304" pitchFamily="18" charset="0"/>
                <a:ea typeface="宋体" pitchFamily="2" charset="-122"/>
              </a:rPr>
              <a:t>\Desktop\p8.jpg')</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filters=</a:t>
            </a:r>
            <a:r>
              <a:rPr lang="en-US" altLang="zh-CN" sz="1800" kern="100" dirty="0" err="1">
                <a:solidFill>
                  <a:srgbClr val="000000"/>
                </a:solidFill>
                <a:effectLst/>
                <a:latin typeface="Times New Roman" panose="02020603050405020304" pitchFamily="18" charset="0"/>
                <a:ea typeface="宋体" pitchFamily="2" charset="-122"/>
              </a:rPr>
              <a:t>build_filters</a:t>
            </a:r>
            <a:r>
              <a:rPr lang="en-US" altLang="zh-CN" sz="1800" kern="100" dirty="0">
                <a:solidFill>
                  <a:srgbClr val="000000"/>
                </a:solidFill>
                <a:effectLst/>
                <a:latin typeface="Times New Roman" panose="02020603050405020304" pitchFamily="18" charset="0"/>
                <a:ea typeface="宋体" pitchFamily="2" charset="-122"/>
              </a:rPr>
              <a:t>()</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process(img1, filters)</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getGabor</a:t>
            </a:r>
            <a:r>
              <a:rPr lang="en-US" altLang="zh-CN" sz="1800" kern="100" dirty="0">
                <a:solidFill>
                  <a:srgbClr val="000000"/>
                </a:solidFill>
                <a:effectLst/>
                <a:latin typeface="Times New Roman" panose="02020603050405020304" pitchFamily="18" charset="0"/>
                <a:ea typeface="宋体" pitchFamily="2" charset="-122"/>
              </a:rPr>
              <a:t>(img1,filters)</a:t>
            </a:r>
            <a:endParaRPr lang="en-US" altLang="zh-CN" sz="18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6445653"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167929"/>
            <a:ext cx="7334534" cy="461665"/>
          </a:xfrm>
          <a:prstGeom prst="rect">
            <a:avLst/>
          </a:prstGeom>
          <a:noFill/>
        </p:spPr>
        <p:txBody>
          <a:bodyPr wrap="square">
            <a:spAutoFit/>
          </a:bodyPr>
          <a:lstStyle/>
          <a:p>
            <a:pPr indent="266700" algn="just"/>
            <a:r>
              <a:rPr lang="zh-CN" altLang="en-US" sz="2400" kern="100" dirty="0">
                <a:effectLst/>
                <a:latin typeface="Times New Roman" panose="02020603050405020304" pitchFamily="18" charset="0"/>
                <a:ea typeface="宋体" pitchFamily="2" charset="-122"/>
              </a:rPr>
              <a:t>运行结果如图</a:t>
            </a:r>
            <a:r>
              <a:rPr lang="en-US" altLang="zh-CN" sz="2400" kern="100" dirty="0">
                <a:effectLst/>
                <a:latin typeface="Times New Roman" panose="02020603050405020304" pitchFamily="18" charset="0"/>
                <a:ea typeface="宋体" pitchFamily="2" charset="-122"/>
              </a:rPr>
              <a:t>9.15</a:t>
            </a:r>
            <a:r>
              <a:rPr lang="zh-CN" altLang="en-US" sz="2400" kern="100" dirty="0">
                <a:effectLst/>
                <a:latin typeface="Times New Roman" panose="02020603050405020304" pitchFamily="18" charset="0"/>
                <a:ea typeface="宋体" pitchFamily="2" charset="-122"/>
              </a:rPr>
              <a:t>所示。</a:t>
            </a:r>
            <a:endParaRPr lang="zh-CN" altLang="zh-CN" sz="2400" kern="100" dirty="0">
              <a:effectLst/>
              <a:latin typeface="Times New Roman" panose="02020603050405020304" pitchFamily="18" charset="0"/>
              <a:ea typeface="宋体" pitchFamily="2" charset="-122"/>
            </a:endParaRPr>
          </a:p>
        </p:txBody>
      </p:sp>
      <p:pic>
        <p:nvPicPr>
          <p:cNvPr id="9" name="图片 8"/>
          <p:cNvPicPr>
            <a:picLocks noChangeAspect="1"/>
          </p:cNvPicPr>
          <p:nvPr/>
        </p:nvPicPr>
        <p:blipFill rotWithShape="1">
          <a:blip r:embed="rId1"/>
          <a:srcRect l="5399" t="10782" r="7867" b="4569"/>
          <a:stretch>
            <a:fillRect/>
          </a:stretch>
        </p:blipFill>
        <p:spPr bwMode="auto">
          <a:xfrm>
            <a:off x="1533618" y="1701602"/>
            <a:ext cx="6103395" cy="4227671"/>
          </a:xfrm>
          <a:prstGeom prst="rect">
            <a:avLst/>
          </a:prstGeom>
          <a:ln>
            <a:noFill/>
          </a:ln>
        </p:spPr>
      </p:pic>
      <p:sp>
        <p:nvSpPr>
          <p:cNvPr id="13" name="文本框 12"/>
          <p:cNvSpPr txBox="1"/>
          <p:nvPr/>
        </p:nvSpPr>
        <p:spPr>
          <a:xfrm>
            <a:off x="1476450" y="5950074"/>
            <a:ext cx="6319965" cy="461665"/>
          </a:xfrm>
          <a:prstGeom prst="rect">
            <a:avLst/>
          </a:prstGeom>
          <a:noFill/>
        </p:spPr>
        <p:txBody>
          <a:bodyPr wrap="square">
            <a:spAutoFit/>
          </a:bodyPr>
          <a:lstStyle/>
          <a:p>
            <a:pPr indent="266700" algn="ctr"/>
            <a:r>
              <a:rPr lang="zh-CN" altLang="zh-CN" sz="2400" kern="100" dirty="0">
                <a:solidFill>
                  <a:srgbClr val="000000"/>
                </a:solidFill>
                <a:effectLst/>
                <a:latin typeface="Times New Roman" panose="02020603050405020304" pitchFamily="18" charset="0"/>
                <a:ea typeface="宋体" pitchFamily="2" charset="-122"/>
              </a:rPr>
              <a:t>图</a:t>
            </a:r>
            <a:r>
              <a:rPr lang="en-US" altLang="zh-CN" sz="2400" kern="100" dirty="0">
                <a:solidFill>
                  <a:srgbClr val="000000"/>
                </a:solidFill>
                <a:effectLst/>
                <a:latin typeface="Times New Roman" panose="02020603050405020304" pitchFamily="18" charset="0"/>
                <a:ea typeface="宋体" pitchFamily="2" charset="-122"/>
              </a:rPr>
              <a:t>9.15  Gabor</a:t>
            </a:r>
            <a:r>
              <a:rPr lang="zh-CN" altLang="zh-CN" sz="2400" kern="100" dirty="0">
                <a:solidFill>
                  <a:srgbClr val="000000"/>
                </a:solidFill>
                <a:effectLst/>
                <a:latin typeface="Times New Roman" panose="02020603050405020304" pitchFamily="18" charset="0"/>
                <a:ea typeface="宋体" pitchFamily="2" charset="-122"/>
                <a:cs typeface="宋体" pitchFamily="2" charset="-122"/>
              </a:rPr>
              <a:t>函数实现纹理特征提取图</a:t>
            </a:r>
            <a:endParaRPr lang="zh-CN" altLang="zh-CN" sz="32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6445653"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9.7</a:t>
            </a:r>
            <a:r>
              <a:rPr lang="zh-CN" altLang="en-US" sz="2100" b="1" dirty="0">
                <a:solidFill>
                  <a:schemeClr val="tx1">
                    <a:lumMod val="75000"/>
                    <a:lumOff val="25000"/>
                  </a:schemeClr>
                </a:solidFill>
                <a:latin typeface="微软雅黑" panose="020B0503020204020204" pitchFamily="34" charset="-122"/>
              </a:rPr>
              <a:t>数据降维算法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a:spLocks noChangeArrowheads="1"/>
          </p:cNvSpPr>
          <p:nvPr/>
        </p:nvSpPr>
        <p:spPr bwMode="auto">
          <a:xfrm>
            <a:off x="457200" y="1097037"/>
            <a:ext cx="8229600" cy="2116733"/>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cs typeface="+mj-cs"/>
              </a:rPr>
              <a:t>数据降维定义</a:t>
            </a:r>
            <a:endParaRPr lang="zh-CN" altLang="en-US"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zh-CN" altLang="en-US" kern="100" dirty="0">
                <a:cs typeface="Times New Roman" panose="02020603050405020304" pitchFamily="18" charset="0"/>
              </a:rPr>
              <a:t>        数据降维就是指采用某种映射方法，将高维空间中的数据点映射到低维度的空间中。降维方法不同于回归、分类和聚类，它并不是用来做模型预测的，而是一种数据预处理方法。</a:t>
            </a:r>
            <a:endParaRPr lang="en-US" altLang="zh-CN" kern="100" dirty="0">
              <a:cs typeface="Times New Roman" panose="02020603050405020304" pitchFamily="18" charset="0"/>
            </a:endParaRPr>
          </a:p>
          <a:p>
            <a:pPr marL="431800" indent="0" algn="l">
              <a:defRPr/>
            </a:pPr>
            <a:endParaRPr lang="en-US" altLang="zh-CN" dirty="0">
              <a:solidFill>
                <a:srgbClr val="FF0000"/>
              </a:solidFill>
              <a:cs typeface="+mj-cs"/>
            </a:endParaRPr>
          </a:p>
        </p:txBody>
      </p:sp>
      <p:sp>
        <p:nvSpPr>
          <p:cNvPr id="11" name="内容占位符 2"/>
          <p:cNvSpPr txBox="1">
            <a:spLocks noChangeArrowheads="1"/>
          </p:cNvSpPr>
          <p:nvPr/>
        </p:nvSpPr>
        <p:spPr bwMode="auto">
          <a:xfrm>
            <a:off x="457200" y="3231629"/>
            <a:ext cx="8229600" cy="2116733"/>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cs typeface="+mj-cs"/>
              </a:rPr>
              <a:t>数据降维目的</a:t>
            </a:r>
            <a:endParaRPr lang="zh-CN" altLang="en-US"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zh-CN" altLang="en-US" kern="100" dirty="0">
                <a:cs typeface="Times New Roman" panose="02020603050405020304" pitchFamily="18" charset="0"/>
              </a:rPr>
              <a:t>        数据降维的目的就是为了排除数据中的噪音并保留数据原有的隐含结构。有时候，原始数据的维度太高，若此时直接使用分类、回归等方法进行机器学习建模将非常困难，因为需要拟合的参数数目远大于训练样本的数目，这时就需要先将原始数据进行降维处理。其中主成分分析算法</a:t>
            </a:r>
            <a:r>
              <a:rPr lang="en-US" altLang="zh-CN" kern="100" dirty="0">
                <a:cs typeface="Times New Roman" panose="02020603050405020304" pitchFamily="18" charset="0"/>
              </a:rPr>
              <a:t>(PCA)</a:t>
            </a:r>
            <a:r>
              <a:rPr lang="zh-CN" altLang="en-US" kern="100" dirty="0">
                <a:cs typeface="Times New Roman" panose="02020603050405020304" pitchFamily="18" charset="0"/>
              </a:rPr>
              <a:t>是最为常见的降维方法。</a:t>
            </a:r>
            <a:endParaRPr lang="en-US" altLang="zh-CN" kern="100" dirty="0">
              <a:cs typeface="Times New Roman" panose="02020603050405020304" pitchFamily="18" charset="0"/>
            </a:endParaRPr>
          </a:p>
          <a:p>
            <a:pPr marL="431800" indent="0" algn="l">
              <a:defRPr/>
            </a:pPr>
            <a:endParaRPr lang="en-US" altLang="zh-CN" dirty="0">
              <a:solidFill>
                <a:srgbClr val="FF0000"/>
              </a:solidFill>
              <a:cs typeface="+mj-cs"/>
            </a:endParaRPr>
          </a:p>
        </p:txBody>
      </p:sp>
    </p:spTree>
  </p:cSld>
  <p:clrMapOvr>
    <a:masterClrMapping/>
  </p:clrMapOvr>
  <p:transition spd="slow" advClick="0" advTm="0">
    <p:wip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a:solidFill>
                  <a:schemeClr val="tx1">
                    <a:lumMod val="75000"/>
                    <a:lumOff val="25000"/>
                  </a:schemeClr>
                </a:solidFill>
                <a:latin typeface="微软雅黑" panose="020B0503020204020204" pitchFamily="34" charset="-122"/>
              </a:rPr>
              <a:t>9.7</a:t>
            </a:r>
            <a:r>
              <a:rPr lang="zh-CN" altLang="en-US" sz="2100" b="1">
                <a:solidFill>
                  <a:schemeClr val="tx1">
                    <a:lumMod val="75000"/>
                    <a:lumOff val="25000"/>
                  </a:schemeClr>
                </a:solidFill>
                <a:latin typeface="微软雅黑" panose="020B0503020204020204" pitchFamily="34" charset="-122"/>
              </a:rPr>
              <a:t>数据降维算法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内容占位符 2"/>
          <p:cNvSpPr txBox="1">
            <a:spLocks noChangeArrowheads="1"/>
          </p:cNvSpPr>
          <p:nvPr/>
        </p:nvSpPr>
        <p:spPr bwMode="auto">
          <a:xfrm>
            <a:off x="356530" y="1097038"/>
            <a:ext cx="8536743" cy="964604"/>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b="1" kern="100" dirty="0">
                <a:latin typeface="Times New Roman" panose="02020603050405020304" pitchFamily="18" charset="0"/>
                <a:ea typeface="宋体" pitchFamily="2" charset="-122"/>
                <a:cs typeface="Times New Roman" panose="02020603050405020304" pitchFamily="18" charset="0"/>
              </a:rPr>
              <a:t>9.7.1  PCA</a:t>
            </a:r>
            <a:r>
              <a:rPr lang="zh-CN" altLang="en-US" b="1" kern="100" dirty="0">
                <a:latin typeface="Times New Roman" panose="02020603050405020304" pitchFamily="18" charset="0"/>
                <a:ea typeface="宋体" pitchFamily="2" charset="-122"/>
                <a:cs typeface="Times New Roman" panose="02020603050405020304" pitchFamily="18" charset="0"/>
              </a:rPr>
              <a:t>算法流程</a:t>
            </a:r>
            <a:endParaRPr lang="en-US" altLang="zh-CN" b="1"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b="1"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对样本进行中心化，中心化如公式</a:t>
            </a:r>
            <a:r>
              <a:rPr lang="en-US" altLang="zh-CN" kern="100" dirty="0">
                <a:latin typeface="Times New Roman" panose="02020603050405020304" pitchFamily="18" charset="0"/>
                <a:ea typeface="宋体" pitchFamily="2" charset="-122"/>
                <a:cs typeface="Times New Roman" panose="02020603050405020304" pitchFamily="18" charset="0"/>
              </a:rPr>
              <a:t>(9-22)</a:t>
            </a:r>
            <a:r>
              <a:rPr lang="zh-CN" altLang="en-US" kern="100" dirty="0">
                <a:latin typeface="Times New Roman" panose="02020603050405020304" pitchFamily="18" charset="0"/>
                <a:ea typeface="宋体" pitchFamily="2" charset="-122"/>
                <a:cs typeface="Times New Roman" panose="02020603050405020304" pitchFamily="18" charset="0"/>
              </a:rPr>
              <a:t>所示。</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1" name="文本框 10"/>
              <p:cNvSpPr txBox="1"/>
              <p:nvPr/>
            </p:nvSpPr>
            <p:spPr>
              <a:xfrm>
                <a:off x="1836490" y="2256581"/>
                <a:ext cx="4585316" cy="7411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1</m:t>
                          </m:r>
                        </m:num>
                        <m:den>
                          <m:r>
                            <a:rPr lang="zh-CN" altLang="en-US" i="1">
                              <a:latin typeface="Cambria Math" panose="02040503050406030204" pitchFamily="18" charset="0"/>
                            </a:rPr>
                            <m:t>𝑚</m:t>
                          </m:r>
                        </m:den>
                      </m:f>
                      <m:nary>
                        <m:naryPr>
                          <m:chr m:val="∑"/>
                          <m:limLoc m:val="subSup"/>
                          <m:ctrlPr>
                            <a:rPr lang="zh-CN" altLang="en-US" i="1">
                              <a:latin typeface="Cambria Math" panose="02040503050406030204" pitchFamily="18" charset="0"/>
                            </a:rPr>
                          </m:ctrlPr>
                        </m:naryPr>
                        <m:sub>
                          <m:r>
                            <a:rPr lang="zh-CN" altLang="en-US" i="1">
                              <a:latin typeface="Cambria Math" panose="02040503050406030204" pitchFamily="18" charset="0"/>
                            </a:rPr>
                            <m:t>𝑖</m:t>
                          </m:r>
                        </m:sub>
                        <m:sup>
                          <m:r>
                            <a:rPr lang="zh-CN" altLang="en-US" i="1">
                              <a:latin typeface="Cambria Math" panose="02040503050406030204" pitchFamily="18" charset="0"/>
                            </a:rPr>
                            <m:t>𝑚</m:t>
                          </m:r>
                        </m:sup>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e>
                      </m:nary>
                    </m:oMath>
                  </m:oMathPara>
                </a14:m>
                <a:endParaRPr lang="zh-CN" altLang="en-US" dirty="0"/>
              </a:p>
            </p:txBody>
          </p:sp>
        </mc:Choice>
        <mc:Fallback>
          <p:sp>
            <p:nvSpPr>
              <p:cNvPr id="11" name="文本框 10"/>
              <p:cNvSpPr txBox="1">
                <a:spLocks noRot="1" noChangeAspect="1" noMove="1" noResize="1" noEditPoints="1" noAdjustHandles="1" noChangeArrowheads="1" noChangeShapeType="1" noTextEdit="1"/>
              </p:cNvSpPr>
              <p:nvPr/>
            </p:nvSpPr>
            <p:spPr>
              <a:xfrm>
                <a:off x="1836490" y="2256581"/>
                <a:ext cx="4585316" cy="741165"/>
              </a:xfrm>
              <a:prstGeom prst="rect">
                <a:avLst/>
              </a:prstGeom>
              <a:blipFill rotWithShape="1">
                <a:blip r:embed="rId1"/>
                <a:stretch>
                  <a:fillRect l="-2" t="-57" r="1" b="74"/>
                </a:stretch>
              </a:blipFill>
            </p:spPr>
            <p:txBody>
              <a:bodyPr/>
              <a:lstStyle/>
              <a:p>
                <a:r>
                  <a:rPr lang="zh-CN" altLang="en-US">
                    <a:noFill/>
                  </a:rPr>
                  <a:t> </a:t>
                </a:r>
              </a:p>
            </p:txBody>
          </p:sp>
        </mc:Fallback>
      </mc:AlternateContent>
      <p:sp>
        <p:nvSpPr>
          <p:cNvPr id="15" name="文本框 14"/>
          <p:cNvSpPr txBox="1"/>
          <p:nvPr/>
        </p:nvSpPr>
        <p:spPr>
          <a:xfrm>
            <a:off x="7525122" y="2392065"/>
            <a:ext cx="936104" cy="461665"/>
          </a:xfrm>
          <a:prstGeom prst="rect">
            <a:avLst/>
          </a:prstGeom>
          <a:noFill/>
        </p:spPr>
        <p:txBody>
          <a:bodyPr wrap="square">
            <a:spAutoFit/>
          </a:bodyPr>
          <a:lstStyle/>
          <a:p>
            <a:r>
              <a:rPr lang="en-US" altLang="zh-CN" sz="2400" dirty="0">
                <a:effectLst/>
                <a:latin typeface="Times New Roman" panose="02020603050405020304" pitchFamily="18" charset="0"/>
                <a:ea typeface="等线" panose="02010600030101010101" pitchFamily="2" charset="-122"/>
              </a:rPr>
              <a:t>(</a:t>
            </a:r>
            <a:r>
              <a:rPr lang="en-US" altLang="zh-CN" sz="2400" dirty="0">
                <a:effectLst/>
                <a:latin typeface="Times New Roman" panose="02020603050405020304" pitchFamily="18" charset="0"/>
                <a:ea typeface="宋体" pitchFamily="2" charset="-122"/>
              </a:rPr>
              <a:t>9-22)</a:t>
            </a:r>
            <a:endParaRPr lang="zh-CN" altLang="en-US" dirty="0"/>
          </a:p>
        </p:txBody>
      </p:sp>
      <mc:AlternateContent xmlns:mc="http://schemas.openxmlformats.org/markup-compatibility/2006">
        <mc:Choice xmlns:a14="http://schemas.microsoft.com/office/drawing/2010/main" Requires="a14">
          <p:sp>
            <p:nvSpPr>
              <p:cNvPr id="16" name="文本框 15"/>
              <p:cNvSpPr txBox="1"/>
              <p:nvPr/>
            </p:nvSpPr>
            <p:spPr>
              <a:xfrm>
                <a:off x="540346" y="3158311"/>
                <a:ext cx="7992888" cy="3046988"/>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其中</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itchFamily="2" charset="-122"/>
                          </a:rPr>
                          <m:t>𝑥</m:t>
                        </m:r>
                      </m:e>
                      <m:sub>
                        <m:r>
                          <a:rPr lang="en-US" altLang="zh-CN" sz="2400" i="1" kern="100">
                            <a:effectLst/>
                            <a:latin typeface="Cambria Math" panose="02040503050406030204" pitchFamily="18" charset="0"/>
                            <a:ea typeface="宋体" pitchFamily="2" charset="-122"/>
                          </a:rPr>
                          <m:t>𝑖</m:t>
                        </m:r>
                      </m:sub>
                    </m:sSub>
                  </m:oMath>
                </a14:m>
                <a:r>
                  <a:rPr lang="zh-CN" altLang="zh-CN" sz="2400" kern="100" dirty="0">
                    <a:effectLst/>
                    <a:latin typeface="Times New Roman" panose="02020603050405020304" pitchFamily="18" charset="0"/>
                    <a:ea typeface="宋体" pitchFamily="2" charset="-122"/>
                  </a:rPr>
                  <a:t>为样本中每个数据的值，</a:t>
                </a:r>
                <a14:m>
                  <m:oMath xmlns:m="http://schemas.openxmlformats.org/officeDocument/2006/math">
                    <m:r>
                      <a:rPr lang="en-US" altLang="zh-CN" sz="2400" i="1" kern="100">
                        <a:effectLst/>
                        <a:latin typeface="Cambria Math" panose="02040503050406030204" pitchFamily="18" charset="0"/>
                        <a:ea typeface="宋体" pitchFamily="2" charset="-122"/>
                      </a:rPr>
                      <m:t>𝑚</m:t>
                    </m:r>
                  </m:oMath>
                </a14:m>
                <a:r>
                  <a:rPr lang="zh-CN" altLang="zh-CN" sz="2400" kern="100" dirty="0">
                    <a:effectLst/>
                    <a:latin typeface="Times New Roman" panose="02020603050405020304" pitchFamily="18" charset="0"/>
                    <a:ea typeface="宋体" pitchFamily="2" charset="-122"/>
                  </a:rPr>
                  <a:t>为样本中数据的数量。</a:t>
                </a:r>
                <a:endParaRPr lang="en-US" altLang="zh-CN" sz="2400" kern="100" dirty="0">
                  <a:effectLst/>
                  <a:latin typeface="Times New Roman" panose="02020603050405020304" pitchFamily="18" charset="0"/>
                  <a:ea typeface="宋体" pitchFamily="2" charset="-122"/>
                </a:endParaRPr>
              </a:p>
              <a:p>
                <a:pPr indent="266700" algn="just"/>
                <a:r>
                  <a:rPr lang="zh-CN" altLang="en-US" sz="2400" kern="100" dirty="0">
                    <a:effectLst/>
                    <a:latin typeface="Times New Roman" panose="02020603050405020304" pitchFamily="18" charset="0"/>
                    <a:ea typeface="宋体" pitchFamily="2" charset="-122"/>
                  </a:rPr>
                  <a:t>求协方差矩阵</a:t>
                </a:r>
                <a:r>
                  <a:rPr lang="en-US" altLang="zh-CN" sz="2400" kern="100" dirty="0">
                    <a:effectLst/>
                    <a:latin typeface="Times New Roman" panose="02020603050405020304" pitchFamily="18" charset="0"/>
                    <a:ea typeface="宋体" pitchFamily="2" charset="-122"/>
                  </a:rPr>
                  <a:t>1/n XX^T</a:t>
                </a:r>
                <a:r>
                  <a:rPr lang="zh-CN" altLang="en-US" sz="2400" kern="100" dirty="0">
                    <a:effectLst/>
                    <a:latin typeface="Times New Roman" panose="02020603050405020304" pitchFamily="18" charset="0"/>
                    <a:ea typeface="宋体" pitchFamily="2" charset="-122"/>
                  </a:rPr>
                  <a:t>的特征值和特征向量。</a:t>
                </a:r>
                <a:endParaRPr lang="en-US" altLang="zh-CN" sz="2400" kern="100" dirty="0">
                  <a:effectLst/>
                  <a:latin typeface="Times New Roman" panose="02020603050405020304" pitchFamily="18" charset="0"/>
                  <a:ea typeface="宋体" pitchFamily="2" charset="-122"/>
                </a:endParaRPr>
              </a:p>
              <a:p>
                <a:pPr indent="266700" algn="just"/>
                <a:r>
                  <a:rPr lang="zh-CN" altLang="en-US" sz="2400" kern="100" dirty="0">
                    <a:effectLst/>
                    <a:latin typeface="Times New Roman" panose="02020603050405020304" pitchFamily="18" charset="0"/>
                    <a:ea typeface="宋体" pitchFamily="2" charset="-122"/>
                  </a:rPr>
                  <a:t>对特征值从大到小排序，选择其中最大的</a:t>
                </a:r>
                <a:r>
                  <a:rPr lang="en-US" altLang="zh-CN" sz="2400" kern="100" dirty="0">
                    <a:effectLst/>
                    <a:latin typeface="Times New Roman" panose="02020603050405020304" pitchFamily="18" charset="0"/>
                    <a:ea typeface="宋体" pitchFamily="2" charset="-122"/>
                  </a:rPr>
                  <a:t>k</a:t>
                </a:r>
                <a:r>
                  <a:rPr lang="zh-CN" altLang="en-US" sz="2400" kern="100" dirty="0">
                    <a:effectLst/>
                    <a:latin typeface="Times New Roman" panose="02020603050405020304" pitchFamily="18" charset="0"/>
                    <a:ea typeface="宋体" pitchFamily="2" charset="-122"/>
                  </a:rPr>
                  <a:t>个</a:t>
                </a:r>
                <a:r>
                  <a:rPr lang="en-US" altLang="zh-CN" sz="2400" kern="100" dirty="0">
                    <a:effectLst/>
                    <a:latin typeface="Times New Roman" panose="02020603050405020304" pitchFamily="18" charset="0"/>
                    <a:ea typeface="宋体" pitchFamily="2" charset="-122"/>
                  </a:rPr>
                  <a:t>(k=</a:t>
                </a:r>
                <a:r>
                  <a:rPr lang="zh-CN" altLang="en-US" sz="2400" kern="100" dirty="0">
                    <a:effectLst/>
                    <a:latin typeface="Times New Roman" panose="02020603050405020304" pitchFamily="18" charset="0"/>
                    <a:ea typeface="宋体" pitchFamily="2" charset="-122"/>
                  </a:rPr>
                  <a:t>降维后的样本集维数</a:t>
                </a:r>
                <a:r>
                  <a:rPr lang="en-US" altLang="zh-CN" sz="2400" kern="100" dirty="0">
                    <a:effectLst/>
                    <a:latin typeface="Times New Roman" panose="02020603050405020304" pitchFamily="18" charset="0"/>
                    <a:ea typeface="宋体" pitchFamily="2" charset="-122"/>
                  </a:rPr>
                  <a:t>)</a:t>
                </a:r>
                <a:r>
                  <a:rPr lang="zh-CN" altLang="en-US" sz="2400" kern="100" dirty="0">
                    <a:effectLst/>
                    <a:latin typeface="Times New Roman" panose="02020603050405020304" pitchFamily="18" charset="0"/>
                    <a:ea typeface="宋体" pitchFamily="2" charset="-122"/>
                  </a:rPr>
                  <a:t>，将其对应的</a:t>
                </a:r>
                <a:r>
                  <a:rPr lang="en-US" altLang="zh-CN" sz="2400" kern="100" dirty="0">
                    <a:effectLst/>
                    <a:latin typeface="Times New Roman" panose="02020603050405020304" pitchFamily="18" charset="0"/>
                    <a:ea typeface="宋体" pitchFamily="2" charset="-122"/>
                  </a:rPr>
                  <a:t>k</a:t>
                </a:r>
                <a:r>
                  <a:rPr lang="zh-CN" altLang="en-US" sz="2400" kern="100" dirty="0">
                    <a:effectLst/>
                    <a:latin typeface="Times New Roman" panose="02020603050405020304" pitchFamily="18" charset="0"/>
                    <a:ea typeface="宋体" pitchFamily="2" charset="-122"/>
                  </a:rPr>
                  <a:t>个特征向量分别作为行向量组成特征向量矩阵</a:t>
                </a:r>
                <a:r>
                  <a:rPr lang="en-US" altLang="zh-CN" sz="2400" kern="100" dirty="0">
                    <a:effectLst/>
                    <a:latin typeface="Times New Roman" panose="02020603050405020304" pitchFamily="18" charset="0"/>
                    <a:ea typeface="宋体" pitchFamily="2" charset="-122"/>
                  </a:rPr>
                  <a:t>P</a:t>
                </a:r>
                <a:r>
                  <a:rPr lang="zh-CN" altLang="en-US" sz="2400" kern="100" dirty="0">
                    <a:effectLst/>
                    <a:latin typeface="Times New Roman" panose="02020603050405020304" pitchFamily="18" charset="0"/>
                    <a:ea typeface="宋体" pitchFamily="2" charset="-122"/>
                  </a:rPr>
                  <a:t>。</a:t>
                </a:r>
                <a:endParaRPr lang="en-US" altLang="zh-CN" sz="2400" kern="100" dirty="0">
                  <a:effectLst/>
                  <a:latin typeface="Times New Roman" panose="02020603050405020304" pitchFamily="18" charset="0"/>
                  <a:ea typeface="宋体" pitchFamily="2" charset="-122"/>
                </a:endParaRPr>
              </a:p>
              <a:p>
                <a:pPr indent="266700" algn="just"/>
                <a:r>
                  <a:rPr lang="zh-CN" altLang="en-US" sz="2400" kern="100" dirty="0">
                    <a:effectLst/>
                    <a:latin typeface="Times New Roman" panose="02020603050405020304" pitchFamily="18" charset="0"/>
                    <a:ea typeface="宋体" pitchFamily="2" charset="-122"/>
                  </a:rPr>
                  <a:t>执行</a:t>
                </a:r>
                <a:r>
                  <a:rPr lang="en-US" altLang="zh-CN" sz="2400" kern="100" dirty="0">
                    <a:effectLst/>
                    <a:latin typeface="Times New Roman" panose="02020603050405020304" pitchFamily="18" charset="0"/>
                    <a:ea typeface="宋体" pitchFamily="2" charset="-122"/>
                  </a:rPr>
                  <a:t>PCA</a:t>
                </a:r>
                <a:r>
                  <a:rPr lang="zh-CN" altLang="en-US" sz="2400" kern="100" dirty="0">
                    <a:effectLst/>
                    <a:latin typeface="Times New Roman" panose="02020603050405020304" pitchFamily="18" charset="0"/>
                    <a:ea typeface="宋体" pitchFamily="2" charset="-122"/>
                  </a:rPr>
                  <a:t>变换，</a:t>
                </a:r>
                <a:r>
                  <a:rPr lang="en-US" altLang="zh-CN" sz="2400" kern="100" dirty="0">
                    <a:effectLst/>
                    <a:latin typeface="Times New Roman" panose="02020603050405020304" pitchFamily="18" charset="0"/>
                    <a:ea typeface="宋体" pitchFamily="2" charset="-122"/>
                  </a:rPr>
                  <a:t>PCA</a:t>
                </a:r>
                <a:r>
                  <a:rPr lang="zh-CN" altLang="en-US" sz="2400" kern="100" dirty="0">
                    <a:effectLst/>
                    <a:latin typeface="Times New Roman" panose="02020603050405020304" pitchFamily="18" charset="0"/>
                    <a:ea typeface="宋体" pitchFamily="2" charset="-122"/>
                  </a:rPr>
                  <a:t>变换如公式</a:t>
                </a:r>
                <a:r>
                  <a:rPr lang="en-US" altLang="zh-CN" sz="2400" kern="100" dirty="0">
                    <a:effectLst/>
                    <a:latin typeface="Times New Roman" panose="02020603050405020304" pitchFamily="18" charset="0"/>
                    <a:ea typeface="宋体" pitchFamily="2" charset="-122"/>
                  </a:rPr>
                  <a:t>(9-23)</a:t>
                </a:r>
                <a:r>
                  <a:rPr lang="zh-CN" altLang="en-US" sz="2400" kern="100" dirty="0">
                    <a:effectLst/>
                    <a:latin typeface="Times New Roman" panose="02020603050405020304" pitchFamily="18" charset="0"/>
                    <a:ea typeface="宋体" pitchFamily="2" charset="-122"/>
                  </a:rPr>
                  <a:t>所示，其中</a:t>
                </a:r>
                <a:r>
                  <a:rPr lang="en-US" altLang="zh-CN" sz="2400" kern="100" dirty="0">
                    <a:effectLst/>
                    <a:latin typeface="Times New Roman" panose="02020603050405020304" pitchFamily="18" charset="0"/>
                    <a:ea typeface="宋体" pitchFamily="2" charset="-122"/>
                  </a:rPr>
                  <a:t>X</a:t>
                </a:r>
                <a:r>
                  <a:rPr lang="zh-CN" altLang="en-US" sz="2400" kern="100" dirty="0">
                    <a:effectLst/>
                    <a:latin typeface="Times New Roman" panose="02020603050405020304" pitchFamily="18" charset="0"/>
                    <a:ea typeface="宋体" pitchFamily="2" charset="-122"/>
                  </a:rPr>
                  <a:t>为进行中心化后的样本。</a:t>
                </a:r>
                <a:endParaRPr lang="en-US" altLang="zh-CN" sz="2400" kern="100" dirty="0">
                  <a:effectLst/>
                  <a:latin typeface="Times New Roman" panose="02020603050405020304" pitchFamily="18" charset="0"/>
                  <a:ea typeface="宋体" pitchFamily="2" charset="-122"/>
                </a:endParaRPr>
              </a:p>
              <a:p>
                <a:pPr indent="266700" algn="just"/>
                <a:endParaRPr lang="zh-CN" altLang="zh-CN" sz="2400" kern="100" dirty="0">
                  <a:effectLst/>
                  <a:latin typeface="Times New Roman" panose="02020603050405020304" pitchFamily="18" charset="0"/>
                  <a:ea typeface="宋体" pitchFamily="2"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540346" y="3158311"/>
                <a:ext cx="7992888" cy="3046988"/>
              </a:xfrm>
              <a:prstGeom prst="rect">
                <a:avLst/>
              </a:prstGeom>
              <a:blipFill rotWithShape="1">
                <a:blip r:embed="rId2"/>
                <a:stretch>
                  <a:fillRect l="-7" t="-15" r="1" b="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7" name="表格 6"/>
              <p:cNvGraphicFramePr>
                <a:graphicFrameLocks noGrp="1"/>
              </p:cNvGraphicFramePr>
              <p:nvPr/>
            </p:nvGraphicFramePr>
            <p:xfrm>
              <a:off x="2772594" y="5878066"/>
              <a:ext cx="5616624" cy="365760"/>
            </p:xfrm>
            <a:graphic>
              <a:graphicData uri="http://schemas.openxmlformats.org/drawingml/2006/table">
                <a:tbl>
                  <a:tblPr firstRow="1" firstCol="1" bandRow="1"/>
                  <a:tblGrid>
                    <a:gridCol w="2807804"/>
                    <a:gridCol w="2808820"/>
                  </a:tblGrid>
                  <a:tr h="0">
                    <a:tc>
                      <a:txBody>
                        <a:bodyPr/>
                        <a:lstStyle/>
                        <a:p>
                          <a:pPr indent="254000" algn="ctr"/>
                          <a14:m>
                            <m:oMathPara xmlns:m="http://schemas.openxmlformats.org/officeDocument/2006/math">
                              <m:oMathParaPr>
                                <m:jc m:val="centerGroup"/>
                              </m:oMathParaPr>
                              <m:oMath xmlns:m="http://schemas.openxmlformats.org/officeDocument/2006/math">
                                <m:r>
                                  <a:rPr lang="en-US" sz="2400" i="1" kern="0">
                                    <a:effectLst/>
                                    <a:latin typeface="Cambria Math" panose="02040503050406030204" pitchFamily="18" charset="0"/>
                                    <a:ea typeface="Times New Roman" panose="02020603050405020304" pitchFamily="18" charset="0"/>
                                  </a:rPr>
                                  <m:t>𝑌</m:t>
                                </m:r>
                                <m:r>
                                  <a:rPr lang="en-US" sz="2400" i="1" kern="0">
                                    <a:effectLst/>
                                    <a:latin typeface="Cambria Math" panose="02040503050406030204" pitchFamily="18" charset="0"/>
                                    <a:ea typeface="Times New Roman" panose="02020603050405020304" pitchFamily="18" charset="0"/>
                                  </a:rPr>
                                  <m:t>=</m:t>
                                </m:r>
                                <m:r>
                                  <a:rPr lang="en-US" sz="2400" i="1" kern="0">
                                    <a:effectLst/>
                                    <a:latin typeface="Cambria Math" panose="02040503050406030204" pitchFamily="18" charset="0"/>
                                    <a:ea typeface="Times New Roman" panose="02020603050405020304" pitchFamily="18" charset="0"/>
                                  </a:rPr>
                                  <m:t>𝑃𝑋</m:t>
                                </m:r>
                              </m:oMath>
                            </m:oMathPara>
                          </a14:m>
                          <a:endParaRPr lang="zh-CN" sz="2400" kern="100" dirty="0">
                            <a:effectLst/>
                            <a:latin typeface="Times New Roman" panose="02020603050405020304" pitchFamily="18" charset="0"/>
                            <a:ea typeface="宋体" pitchFamily="2" charset="-122"/>
                          </a:endParaRPr>
                        </a:p>
                      </a:txBody>
                      <a:tcPr marL="68580" marR="68580" marT="0" marB="0" anchor="ctr">
                        <a:lnL>
                          <a:noFill/>
                        </a:lnL>
                        <a:lnR>
                          <a:noFill/>
                        </a:lnR>
                        <a:lnT>
                          <a:noFill/>
                        </a:lnT>
                        <a:lnB>
                          <a:noFill/>
                        </a:lnB>
                      </a:tcPr>
                    </a:tc>
                    <a:tc>
                      <a:txBody>
                        <a:bodyPr/>
                        <a:lstStyle/>
                        <a:p>
                          <a:pPr indent="254000" algn="r"/>
                          <a:r>
                            <a:rPr lang="en-US" sz="2400" kern="0" dirty="0">
                              <a:effectLst/>
                              <a:latin typeface="Times New Roman" panose="02020603050405020304" pitchFamily="18" charset="0"/>
                              <a:ea typeface="Times New Roman" panose="02020603050405020304" pitchFamily="18" charset="0"/>
                            </a:rPr>
                            <a:t>   (9-23)</a:t>
                          </a:r>
                          <a:endParaRPr lang="zh-CN" sz="2400" kern="100" dirty="0">
                            <a:effectLst/>
                            <a:latin typeface="Times New Roman" panose="02020603050405020304" pitchFamily="18" charset="0"/>
                            <a:ea typeface="宋体" pitchFamily="2" charset="-122"/>
                          </a:endParaRPr>
                        </a:p>
                      </a:txBody>
                      <a:tcPr marL="68580" marR="68580" marT="0" marB="0" anchor="ctr">
                        <a:lnL>
                          <a:noFill/>
                        </a:lnL>
                        <a:lnR>
                          <a:noFill/>
                        </a:lnR>
                        <a:lnT>
                          <a:noFill/>
                        </a:lnT>
                        <a:lnB>
                          <a:noFill/>
                        </a:lnB>
                      </a:tcPr>
                    </a:tc>
                  </a:tr>
                </a:tbl>
              </a:graphicData>
            </a:graphic>
          </p:graphicFrame>
        </mc:Choice>
        <mc:Fallback xmlns="">
          <p:graphicFrame>
            <p:nvGraphicFramePr>
              <p:cNvPr id="7" name="表格 6"/>
              <p:cNvGraphicFramePr>
                <a:graphicFrameLocks noGrp="1"/>
              </p:cNvGraphicFramePr>
              <p:nvPr/>
            </p:nvGraphicFramePr>
            <p:xfrm>
              <a:off x="2772594" y="5878066"/>
              <a:ext cx="5616624" cy="365760"/>
            </p:xfrm>
            <a:graphic>
              <a:graphicData uri="http://schemas.openxmlformats.org/drawingml/2006/table">
                <a:tbl>
                  <a:tblPr firstRow="1" firstCol="1" bandRow="1"/>
                  <a:tblGrid>
                    <a:gridCol w="2807804"/>
                    <a:gridCol w="2808820"/>
                  </a:tblGrid>
                  <a:tr h="428625">
                    <a:tc>
                      <a:txBody>
                        <a:bodyPr/>
                        <a:lstStyle/>
                        <a:p>
                          <a:endParaRPr lang="zh-CN"/>
                        </a:p>
                      </a:txBody>
                      <a:tcPr marL="68580" marR="68580" marT="0" marB="0" anchor="ctr">
                        <a:lnL>
                          <a:noFill/>
                        </a:lnL>
                        <a:lnR>
                          <a:noFill/>
                        </a:lnR>
                        <a:lnT>
                          <a:noFill/>
                        </a:lnT>
                        <a:lnB>
                          <a:noFill/>
                        </a:lnB>
                        <a:blipFill>
                          <a:blip r:embed="rId3"/>
                        </a:blipFill>
                      </a:tcPr>
                    </a:tc>
                    <a:tc>
                      <a:txBody>
                        <a:bodyPr/>
                        <a:lstStyle/>
                        <a:p>
                          <a:pPr indent="254000" algn="r"/>
                          <a:r>
                            <a:rPr lang="en-US" sz="2400" kern="0" dirty="0">
                              <a:effectLst/>
                              <a:latin typeface="Times New Roman" panose="02020603050405020304" pitchFamily="18" charset="0"/>
                              <a:ea typeface="Times New Roman" panose="02020603050405020304" pitchFamily="18" charset="0"/>
                            </a:rPr>
                            <a:t>   (9-23)</a:t>
                          </a:r>
                          <a:endParaRPr lang="zh-CN" sz="2400" kern="100" dirty="0">
                            <a:effectLst/>
                            <a:latin typeface="Times New Roman" panose="02020603050405020304" pitchFamily="18" charset="0"/>
                            <a:ea typeface="宋体" pitchFamily="2" charset="-122"/>
                          </a:endParaRPr>
                        </a:p>
                      </a:txBody>
                      <a:tcPr marL="68580" marR="68580" marT="0" marB="0" anchor="ctr">
                        <a:lnL>
                          <a:noFill/>
                        </a:lnL>
                        <a:lnR>
                          <a:noFill/>
                        </a:lnR>
                        <a:lnT>
                          <a:noFill/>
                        </a:lnT>
                        <a:lnB>
                          <a:noFill/>
                        </a:lnB>
                      </a:tcPr>
                    </a:tc>
                  </a:tr>
                </a:tbl>
              </a:graphicData>
            </a:graphic>
          </p:graphicFrame>
        </mc:Fallback>
      </mc:AlternateContent>
    </p:spTree>
  </p:cSld>
  <p:clrMapOvr>
    <a:masterClrMapping/>
  </p:clrMapOvr>
  <p:transition spd="slow" advClick="0" advTm="0">
    <p:wip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a:solidFill>
                  <a:schemeClr val="tx1">
                    <a:lumMod val="75000"/>
                    <a:lumOff val="25000"/>
                  </a:schemeClr>
                </a:solidFill>
                <a:latin typeface="微软雅黑" panose="020B0503020204020204" pitchFamily="34" charset="-122"/>
              </a:rPr>
              <a:t>9.7</a:t>
            </a:r>
            <a:r>
              <a:rPr lang="zh-CN" altLang="en-US" sz="2100" b="1">
                <a:solidFill>
                  <a:schemeClr val="tx1">
                    <a:lumMod val="75000"/>
                    <a:lumOff val="25000"/>
                  </a:schemeClr>
                </a:solidFill>
                <a:latin typeface="微软雅黑" panose="020B0503020204020204" pitchFamily="34" charset="-122"/>
              </a:rPr>
              <a:t>数据降维算法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内容占位符 2"/>
          <p:cNvSpPr txBox="1">
            <a:spLocks noChangeArrowheads="1"/>
          </p:cNvSpPr>
          <p:nvPr/>
        </p:nvSpPr>
        <p:spPr bwMode="auto">
          <a:xfrm>
            <a:off x="356530" y="1097038"/>
            <a:ext cx="8536743" cy="964604"/>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9.7.2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使用</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PCA</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算法进行数据降维</a:t>
            </a:r>
            <a:endParaRPr lang="en-US" altLang="zh-CN" b="1"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b="1"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采用</a:t>
            </a:r>
            <a:r>
              <a:rPr lang="en-US" altLang="zh-CN" kern="100" dirty="0">
                <a:latin typeface="Times New Roman" panose="02020603050405020304" pitchFamily="18" charset="0"/>
                <a:ea typeface="宋体" pitchFamily="2" charset="-122"/>
                <a:cs typeface="Times New Roman" panose="02020603050405020304" pitchFamily="18" charset="0"/>
              </a:rPr>
              <a:t>PCA</a:t>
            </a:r>
            <a:r>
              <a:rPr lang="zh-CN" altLang="en-US" kern="100" dirty="0">
                <a:latin typeface="Times New Roman" panose="02020603050405020304" pitchFamily="18" charset="0"/>
                <a:ea typeface="宋体" pitchFamily="2" charset="-122"/>
                <a:cs typeface="Times New Roman" panose="02020603050405020304" pitchFamily="18" charset="0"/>
              </a:rPr>
              <a:t>算法实现数据降维的代码如下：</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18" name="文本框 17"/>
          <p:cNvSpPr txBox="1"/>
          <p:nvPr/>
        </p:nvSpPr>
        <p:spPr>
          <a:xfrm>
            <a:off x="612354" y="2020406"/>
            <a:ext cx="8176704" cy="3785652"/>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import </a:t>
            </a:r>
            <a:r>
              <a:rPr lang="en-US" altLang="zh-CN" sz="1600" kern="100" dirty="0" err="1">
                <a:solidFill>
                  <a:srgbClr val="000000"/>
                </a:solidFill>
                <a:effectLst/>
                <a:latin typeface="Times New Roman" panose="02020603050405020304" pitchFamily="18" charset="0"/>
                <a:ea typeface="宋体" pitchFamily="2" charset="-122"/>
              </a:rPr>
              <a:t>numpy</a:t>
            </a:r>
            <a:r>
              <a:rPr lang="en-US" altLang="zh-CN" sz="1600" kern="100" dirty="0">
                <a:solidFill>
                  <a:srgbClr val="000000"/>
                </a:solidFill>
                <a:effectLst/>
                <a:latin typeface="Times New Roman" panose="02020603050405020304" pitchFamily="18" charset="0"/>
                <a:ea typeface="宋体" pitchFamily="2" charset="-122"/>
              </a:rPr>
              <a:t> as np</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effectLst/>
                <a:latin typeface="Times New Roman" panose="02020603050405020304" pitchFamily="18" charset="0"/>
                <a:ea typeface="宋体" pitchFamily="2" charset="-122"/>
              </a:rPr>
              <a:t> </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a:t>
            </a:r>
            <a:r>
              <a:rPr lang="en-US" altLang="zh-CN" sz="1600" kern="100" dirty="0" err="1">
                <a:solidFill>
                  <a:srgbClr val="000000"/>
                </a:solidFill>
                <a:effectLst/>
                <a:latin typeface="Times New Roman" panose="02020603050405020304" pitchFamily="18" charset="0"/>
                <a:ea typeface="宋体" pitchFamily="2" charset="-122"/>
              </a:rPr>
              <a:t>pca</a:t>
            </a:r>
            <a:r>
              <a:rPr lang="en-US" altLang="zh-CN" sz="1600" kern="100" dirty="0">
                <a:solidFill>
                  <a:srgbClr val="000000"/>
                </a:solidFill>
                <a:effectLst/>
                <a:latin typeface="Times New Roman" panose="02020603050405020304" pitchFamily="18" charset="0"/>
                <a:ea typeface="宋体" pitchFamily="2" charset="-122"/>
              </a:rPr>
              <a:t>(X, k)						</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err="1">
                <a:solidFill>
                  <a:srgbClr val="000000"/>
                </a:solidFill>
                <a:effectLst/>
                <a:latin typeface="Times New Roman" panose="02020603050405020304" pitchFamily="18" charset="0"/>
                <a:ea typeface="宋体" pitchFamily="2" charset="-122"/>
              </a:rPr>
              <a:t>n_samples</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n_features</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X.shape</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a:solidFill>
                  <a:srgbClr val="000000"/>
                </a:solidFill>
                <a:effectLst/>
                <a:latin typeface="Times New Roman" panose="02020603050405020304" pitchFamily="18" charset="0"/>
                <a:ea typeface="宋体" pitchFamily="2" charset="-122"/>
              </a:rPr>
              <a:t>mean = </a:t>
            </a:r>
            <a:r>
              <a:rPr lang="en-US" altLang="zh-CN" sz="1600" kern="100" dirty="0" err="1">
                <a:solidFill>
                  <a:srgbClr val="000000"/>
                </a:solidFill>
                <a:effectLst/>
                <a:latin typeface="Times New Roman" panose="02020603050405020304" pitchFamily="18" charset="0"/>
                <a:ea typeface="宋体" pitchFamily="2" charset="-122"/>
              </a:rPr>
              <a:t>np.array</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np.mean</a:t>
            </a:r>
            <a:r>
              <a:rPr lang="en-US" altLang="zh-CN" sz="1600" kern="100" dirty="0">
                <a:solidFill>
                  <a:srgbClr val="000000"/>
                </a:solidFill>
                <a:effectLst/>
                <a:latin typeface="Times New Roman" panose="02020603050405020304" pitchFamily="18" charset="0"/>
                <a:ea typeface="宋体" pitchFamily="2" charset="-122"/>
              </a:rPr>
              <a:t>(X[:, </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for </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in range(</a:t>
            </a:r>
            <a:r>
              <a:rPr lang="en-US" altLang="zh-CN" sz="1600" kern="100" dirty="0" err="1">
                <a:solidFill>
                  <a:srgbClr val="000000"/>
                </a:solidFill>
                <a:effectLst/>
                <a:latin typeface="Times New Roman" panose="02020603050405020304" pitchFamily="18" charset="0"/>
                <a:ea typeface="宋体" pitchFamily="2" charset="-122"/>
              </a:rPr>
              <a:t>n_features</a:t>
            </a:r>
            <a:r>
              <a:rPr lang="en-US" altLang="zh-CN" sz="1600" kern="100" dirty="0">
                <a:solidFill>
                  <a:srgbClr val="000000"/>
                </a:solidFill>
                <a:effectLst/>
                <a:latin typeface="Times New Roman" panose="02020603050405020304" pitchFamily="18" charset="0"/>
                <a:ea typeface="宋体" pitchFamily="2" charset="-122"/>
              </a:rPr>
              <a:t>)])	  #</a:t>
            </a:r>
            <a:r>
              <a:rPr lang="zh-CN" altLang="zh-CN" sz="1600" kern="100" dirty="0">
                <a:solidFill>
                  <a:srgbClr val="000000"/>
                </a:solidFill>
                <a:effectLst/>
                <a:latin typeface="Times New Roman" panose="02020603050405020304" pitchFamily="18" charset="0"/>
                <a:ea typeface="宋体" pitchFamily="2" charset="-122"/>
              </a:rPr>
              <a:t>求样本均值</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err="1">
                <a:solidFill>
                  <a:srgbClr val="000000"/>
                </a:solidFill>
                <a:effectLst/>
                <a:latin typeface="Times New Roman" panose="02020603050405020304" pitchFamily="18" charset="0"/>
                <a:ea typeface="宋体" pitchFamily="2" charset="-122"/>
              </a:rPr>
              <a:t>norm_X</a:t>
            </a:r>
            <a:r>
              <a:rPr lang="en-US" altLang="zh-CN" sz="1600" kern="100" dirty="0">
                <a:solidFill>
                  <a:srgbClr val="000000"/>
                </a:solidFill>
                <a:effectLst/>
                <a:latin typeface="Times New Roman" panose="02020603050405020304" pitchFamily="18" charset="0"/>
                <a:ea typeface="宋体" pitchFamily="2" charset="-122"/>
              </a:rPr>
              <a:t> = X – mean				  #</a:t>
            </a:r>
            <a:r>
              <a:rPr lang="zh-CN" altLang="zh-CN" sz="1600" kern="100" dirty="0">
                <a:solidFill>
                  <a:srgbClr val="000000"/>
                </a:solidFill>
                <a:effectLst/>
                <a:latin typeface="Times New Roman" panose="02020603050405020304" pitchFamily="18" charset="0"/>
                <a:ea typeface="宋体" pitchFamily="2" charset="-122"/>
              </a:rPr>
              <a:t>对样本进行中心化</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err="1">
                <a:solidFill>
                  <a:srgbClr val="000000"/>
                </a:solidFill>
                <a:effectLst/>
                <a:latin typeface="Times New Roman" panose="02020603050405020304" pitchFamily="18" charset="0"/>
                <a:ea typeface="宋体" pitchFamily="2" charset="-122"/>
              </a:rPr>
              <a:t>scatter_matrix</a:t>
            </a:r>
            <a:r>
              <a:rPr lang="en-US" altLang="zh-CN" sz="1600" kern="100" dirty="0">
                <a:solidFill>
                  <a:srgbClr val="000000"/>
                </a:solidFill>
                <a:effectLst/>
                <a:latin typeface="Times New Roman" panose="02020603050405020304" pitchFamily="18" charset="0"/>
                <a:ea typeface="宋体" pitchFamily="2" charset="-122"/>
              </a:rPr>
              <a:t> = np.dot(</a:t>
            </a:r>
            <a:r>
              <a:rPr lang="en-US" altLang="zh-CN" sz="1600" kern="100" dirty="0" err="1">
                <a:solidFill>
                  <a:srgbClr val="000000"/>
                </a:solidFill>
                <a:effectLst/>
                <a:latin typeface="Times New Roman" panose="02020603050405020304" pitchFamily="18" charset="0"/>
                <a:ea typeface="宋体" pitchFamily="2" charset="-122"/>
              </a:rPr>
              <a:t>np.transpose</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norm_X</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norm_X</a:t>
            </a:r>
            <a:r>
              <a:rPr lang="en-US" altLang="zh-CN" sz="1600" kern="100" dirty="0">
                <a:solidFill>
                  <a:srgbClr val="000000"/>
                </a:solidFill>
                <a:effectLst/>
                <a:latin typeface="Times New Roman" panose="02020603050405020304" pitchFamily="18" charset="0"/>
                <a:ea typeface="宋体" pitchFamily="2" charset="-122"/>
              </a:rPr>
              <a:t>)	  #</a:t>
            </a:r>
            <a:r>
              <a:rPr lang="zh-CN" altLang="zh-CN" sz="1600" kern="100" dirty="0">
                <a:solidFill>
                  <a:srgbClr val="000000"/>
                </a:solidFill>
                <a:effectLst/>
                <a:latin typeface="Times New Roman" panose="02020603050405020304" pitchFamily="18" charset="0"/>
                <a:ea typeface="宋体" pitchFamily="2" charset="-122"/>
              </a:rPr>
              <a:t>计算协方差矩阵</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err="1">
                <a:solidFill>
                  <a:srgbClr val="000000"/>
                </a:solidFill>
                <a:effectLst/>
                <a:latin typeface="Times New Roman" panose="02020603050405020304" pitchFamily="18" charset="0"/>
                <a:ea typeface="宋体" pitchFamily="2" charset="-122"/>
              </a:rPr>
              <a:t>eig_val</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eig_vec</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np.linalg.eig</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scatter_matrix</a:t>
            </a:r>
            <a:r>
              <a:rPr lang="en-US" altLang="zh-CN" sz="1600" kern="100" dirty="0">
                <a:solidFill>
                  <a:srgbClr val="000000"/>
                </a:solidFill>
                <a:effectLst/>
                <a:latin typeface="Times New Roman" panose="02020603050405020304" pitchFamily="18" charset="0"/>
                <a:ea typeface="宋体" pitchFamily="2" charset="-122"/>
              </a:rPr>
              <a:t>)	                        #</a:t>
            </a:r>
            <a:r>
              <a:rPr lang="zh-CN" altLang="zh-CN" sz="1600" kern="100" dirty="0">
                <a:solidFill>
                  <a:srgbClr val="000000"/>
                </a:solidFill>
                <a:effectLst/>
                <a:latin typeface="Times New Roman" panose="02020603050405020304" pitchFamily="18" charset="0"/>
                <a:ea typeface="宋体" pitchFamily="2" charset="-122"/>
              </a:rPr>
              <a:t>计算特征值和特征向量</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err="1">
                <a:solidFill>
                  <a:srgbClr val="000000"/>
                </a:solidFill>
                <a:effectLst/>
                <a:latin typeface="Times New Roman" panose="02020603050405020304" pitchFamily="18" charset="0"/>
                <a:ea typeface="宋体" pitchFamily="2" charset="-122"/>
              </a:rPr>
              <a:t>eig_pairs</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np.abs</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eig_val</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eig_vec</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for </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in range(</a:t>
            </a:r>
            <a:r>
              <a:rPr lang="en-US" altLang="zh-CN" sz="1600" kern="100" dirty="0" err="1">
                <a:solidFill>
                  <a:srgbClr val="000000"/>
                </a:solidFill>
                <a:effectLst/>
                <a:latin typeface="Times New Roman" panose="02020603050405020304" pitchFamily="18" charset="0"/>
                <a:ea typeface="宋体" pitchFamily="2" charset="-122"/>
              </a:rPr>
              <a:t>n_features</a:t>
            </a:r>
            <a:r>
              <a:rPr lang="en-US" altLang="zh-CN" sz="1600" kern="100" dirty="0">
                <a:solidFill>
                  <a:srgbClr val="000000"/>
                </a:solidFill>
                <a:effectLst/>
                <a:latin typeface="Times New Roman" panose="02020603050405020304" pitchFamily="18" charset="0"/>
                <a:ea typeface="宋体" pitchFamily="2" charset="-122"/>
              </a:rPr>
              <a:t>)]</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err="1">
                <a:solidFill>
                  <a:srgbClr val="000000"/>
                </a:solidFill>
                <a:effectLst/>
                <a:latin typeface="Times New Roman" panose="02020603050405020304" pitchFamily="18" charset="0"/>
                <a:ea typeface="宋体" pitchFamily="2" charset="-122"/>
              </a:rPr>
              <a:t>eig_pairs.sort</a:t>
            </a:r>
            <a:r>
              <a:rPr lang="en-US" altLang="zh-CN" sz="1600" kern="100" dirty="0">
                <a:solidFill>
                  <a:srgbClr val="000000"/>
                </a:solidFill>
                <a:effectLst/>
                <a:latin typeface="Times New Roman" panose="02020603050405020304" pitchFamily="18" charset="0"/>
                <a:ea typeface="宋体" pitchFamily="2" charset="-122"/>
              </a:rPr>
              <a:t>(reverse=True)</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a:solidFill>
                  <a:srgbClr val="000000"/>
                </a:solidFill>
                <a:effectLst/>
                <a:latin typeface="Times New Roman" panose="02020603050405020304" pitchFamily="18" charset="0"/>
                <a:ea typeface="宋体" pitchFamily="2" charset="-122"/>
              </a:rPr>
              <a:t>feature = </a:t>
            </a:r>
            <a:r>
              <a:rPr lang="en-US" altLang="zh-CN" sz="1600" kern="100" dirty="0" err="1">
                <a:solidFill>
                  <a:srgbClr val="000000"/>
                </a:solidFill>
                <a:effectLst/>
                <a:latin typeface="Times New Roman" panose="02020603050405020304" pitchFamily="18" charset="0"/>
                <a:ea typeface="宋体" pitchFamily="2" charset="-122"/>
              </a:rPr>
              <a:t>np.array</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ele</a:t>
            </a:r>
            <a:r>
              <a:rPr lang="en-US" altLang="zh-CN" sz="1600" kern="100" dirty="0">
                <a:solidFill>
                  <a:srgbClr val="000000"/>
                </a:solidFill>
                <a:effectLst/>
                <a:latin typeface="Times New Roman" panose="02020603050405020304" pitchFamily="18" charset="0"/>
                <a:ea typeface="宋体" pitchFamily="2" charset="-122"/>
              </a:rPr>
              <a:t>[1] for </a:t>
            </a:r>
            <a:r>
              <a:rPr lang="en-US" altLang="zh-CN" sz="1600" kern="100" dirty="0" err="1">
                <a:solidFill>
                  <a:srgbClr val="000000"/>
                </a:solidFill>
                <a:effectLst/>
                <a:latin typeface="Times New Roman" panose="02020603050405020304" pitchFamily="18" charset="0"/>
                <a:ea typeface="宋体" pitchFamily="2" charset="-122"/>
              </a:rPr>
              <a:t>ele</a:t>
            </a:r>
            <a:r>
              <a:rPr lang="en-US" altLang="zh-CN" sz="1600" kern="100" dirty="0">
                <a:solidFill>
                  <a:srgbClr val="000000"/>
                </a:solidFill>
                <a:effectLst/>
                <a:latin typeface="Times New Roman" panose="02020603050405020304" pitchFamily="18" charset="0"/>
                <a:ea typeface="宋体" pitchFamily="2" charset="-122"/>
              </a:rPr>
              <a:t> in </a:t>
            </a:r>
            <a:r>
              <a:rPr lang="en-US" altLang="zh-CN" sz="1600" kern="100" dirty="0" err="1">
                <a:solidFill>
                  <a:srgbClr val="000000"/>
                </a:solidFill>
                <a:effectLst/>
                <a:latin typeface="Times New Roman" panose="02020603050405020304" pitchFamily="18" charset="0"/>
                <a:ea typeface="宋体" pitchFamily="2" charset="-122"/>
              </a:rPr>
              <a:t>eig_pairs</a:t>
            </a:r>
            <a:r>
              <a:rPr lang="en-US" altLang="zh-CN" sz="1600" kern="100" dirty="0">
                <a:solidFill>
                  <a:srgbClr val="000000"/>
                </a:solidFill>
                <a:effectLst/>
                <a:latin typeface="Times New Roman" panose="02020603050405020304" pitchFamily="18" charset="0"/>
                <a:ea typeface="宋体" pitchFamily="2" charset="-122"/>
              </a:rPr>
              <a:t>[:k]])	  #</a:t>
            </a:r>
            <a:r>
              <a:rPr lang="zh-CN" altLang="zh-CN" sz="1600" kern="100" dirty="0">
                <a:solidFill>
                  <a:srgbClr val="000000"/>
                </a:solidFill>
                <a:effectLst/>
                <a:latin typeface="Times New Roman" panose="02020603050405020304" pitchFamily="18" charset="0"/>
                <a:ea typeface="宋体" pitchFamily="2" charset="-122"/>
              </a:rPr>
              <a:t>计算特征向量矩阵</a:t>
            </a:r>
            <a:r>
              <a:rPr lang="en-US" altLang="zh-CN" sz="1600" kern="100" dirty="0">
                <a:solidFill>
                  <a:srgbClr val="000000"/>
                </a:solidFill>
                <a:effectLst/>
                <a:latin typeface="Times New Roman" panose="02020603050405020304" pitchFamily="18" charset="0"/>
                <a:ea typeface="宋体" pitchFamily="2" charset="-122"/>
              </a:rPr>
              <a:t>P</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a:solidFill>
                  <a:srgbClr val="000000"/>
                </a:solidFill>
                <a:effectLst/>
                <a:latin typeface="Times New Roman" panose="02020603050405020304" pitchFamily="18" charset="0"/>
                <a:ea typeface="宋体" pitchFamily="2" charset="-122"/>
              </a:rPr>
              <a:t>data = np.dot(</a:t>
            </a:r>
            <a:r>
              <a:rPr lang="en-US" altLang="zh-CN" sz="1600" kern="100" dirty="0" err="1">
                <a:solidFill>
                  <a:srgbClr val="000000"/>
                </a:solidFill>
                <a:effectLst/>
                <a:latin typeface="Times New Roman" panose="02020603050405020304" pitchFamily="18" charset="0"/>
                <a:ea typeface="宋体" pitchFamily="2" charset="-122"/>
              </a:rPr>
              <a:t>norm_X</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np.transpose</a:t>
            </a:r>
            <a:r>
              <a:rPr lang="en-US" altLang="zh-CN" sz="1600" kern="100" dirty="0">
                <a:solidFill>
                  <a:srgbClr val="000000"/>
                </a:solidFill>
                <a:effectLst/>
                <a:latin typeface="Times New Roman" panose="02020603050405020304" pitchFamily="18" charset="0"/>
                <a:ea typeface="宋体" pitchFamily="2" charset="-122"/>
              </a:rPr>
              <a:t>(feature))		  #</a:t>
            </a:r>
            <a:r>
              <a:rPr lang="zh-CN" altLang="zh-CN" sz="1600" kern="100" dirty="0">
                <a:solidFill>
                  <a:srgbClr val="000000"/>
                </a:solidFill>
                <a:effectLst/>
                <a:latin typeface="Times New Roman" panose="02020603050405020304" pitchFamily="18" charset="0"/>
                <a:ea typeface="宋体" pitchFamily="2" charset="-122"/>
              </a:rPr>
              <a:t>执行</a:t>
            </a:r>
            <a:r>
              <a:rPr lang="en-US" altLang="zh-CN" sz="1600" kern="100" dirty="0">
                <a:solidFill>
                  <a:srgbClr val="000000"/>
                </a:solidFill>
                <a:effectLst/>
                <a:latin typeface="Times New Roman" panose="02020603050405020304" pitchFamily="18" charset="0"/>
                <a:ea typeface="宋体" pitchFamily="2" charset="-122"/>
              </a:rPr>
              <a:t>PCA</a:t>
            </a:r>
            <a:r>
              <a:rPr lang="zh-CN" altLang="zh-CN" sz="1600" kern="100" dirty="0">
                <a:solidFill>
                  <a:srgbClr val="000000"/>
                </a:solidFill>
                <a:effectLst/>
                <a:latin typeface="Times New Roman" panose="02020603050405020304" pitchFamily="18" charset="0"/>
                <a:ea typeface="宋体" pitchFamily="2" charset="-122"/>
              </a:rPr>
              <a:t>变换</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a:solidFill>
                  <a:srgbClr val="000000"/>
                </a:solidFill>
                <a:effectLst/>
                <a:latin typeface="Times New Roman" panose="02020603050405020304" pitchFamily="18" charset="0"/>
                <a:ea typeface="宋体" pitchFamily="2" charset="-122"/>
              </a:rPr>
              <a:t>return data</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X = </a:t>
            </a:r>
            <a:r>
              <a:rPr lang="en-US" altLang="zh-CN" sz="1600" kern="100" dirty="0" err="1">
                <a:solidFill>
                  <a:srgbClr val="000000"/>
                </a:solidFill>
                <a:effectLst/>
                <a:latin typeface="Times New Roman" panose="02020603050405020304" pitchFamily="18" charset="0"/>
                <a:ea typeface="宋体" pitchFamily="2" charset="-122"/>
              </a:rPr>
              <a:t>np.array</a:t>
            </a:r>
            <a:r>
              <a:rPr lang="en-US" altLang="zh-CN" sz="1600" kern="100" dirty="0">
                <a:solidFill>
                  <a:srgbClr val="000000"/>
                </a:solidFill>
                <a:effectLst/>
                <a:latin typeface="Times New Roman" panose="02020603050405020304" pitchFamily="18" charset="0"/>
                <a:ea typeface="宋体" pitchFamily="2" charset="-122"/>
              </a:rPr>
              <a:t>([[-1, 1], [-2, -1], [-3, -2], [1, 1], [2, 1], [3, 2]])	  #</a:t>
            </a:r>
            <a:r>
              <a:rPr lang="zh-CN" altLang="zh-CN" sz="1600" kern="100" dirty="0">
                <a:solidFill>
                  <a:srgbClr val="000000"/>
                </a:solidFill>
                <a:effectLst/>
                <a:latin typeface="Times New Roman" panose="02020603050405020304" pitchFamily="18" charset="0"/>
                <a:ea typeface="宋体" pitchFamily="2" charset="-122"/>
              </a:rPr>
              <a:t>设定样本</a:t>
            </a:r>
            <a:r>
              <a:rPr lang="en-US" altLang="zh-CN" sz="1600" kern="100" dirty="0">
                <a:solidFill>
                  <a:srgbClr val="000000"/>
                </a:solidFill>
                <a:effectLst/>
                <a:latin typeface="Times New Roman" panose="02020603050405020304" pitchFamily="18" charset="0"/>
                <a:ea typeface="宋体" pitchFamily="2" charset="-122"/>
              </a:rPr>
              <a:t>X</a:t>
            </a:r>
            <a:endParaRPr lang="zh-CN" altLang="zh-CN" sz="1600" kern="100" dirty="0">
              <a:effectLst/>
              <a:latin typeface="Times New Roman" panose="02020603050405020304" pitchFamily="18" charset="0"/>
              <a:ea typeface="宋体" pitchFamily="2" charset="-122"/>
            </a:endParaRPr>
          </a:p>
          <a:p>
            <a:r>
              <a:rPr lang="en-US" altLang="zh-CN" sz="1600" kern="100" dirty="0">
                <a:effectLst/>
                <a:latin typeface="Times New Roman" panose="02020603050405020304" pitchFamily="18" charset="0"/>
                <a:ea typeface="宋体" pitchFamily="2" charset="-122"/>
              </a:rPr>
              <a:t>     print(</a:t>
            </a:r>
            <a:r>
              <a:rPr lang="en-US" altLang="zh-CN" sz="1600" kern="100" dirty="0" err="1">
                <a:effectLst/>
                <a:latin typeface="Times New Roman" panose="02020603050405020304" pitchFamily="18" charset="0"/>
                <a:ea typeface="宋体" pitchFamily="2" charset="-122"/>
              </a:rPr>
              <a:t>pca</a:t>
            </a:r>
            <a:r>
              <a:rPr lang="en-US" altLang="zh-CN" sz="1600" kern="100" dirty="0">
                <a:effectLst/>
                <a:latin typeface="Times New Roman" panose="02020603050405020304" pitchFamily="18" charset="0"/>
                <a:ea typeface="宋体" pitchFamily="2" charset="-122"/>
              </a:rPr>
              <a:t>(X, 1))				  #</a:t>
            </a:r>
            <a:r>
              <a:rPr lang="zh-CN" altLang="zh-CN" sz="1600" kern="100" dirty="0">
                <a:effectLst/>
                <a:latin typeface="Times New Roman" panose="02020603050405020304" pitchFamily="18" charset="0"/>
                <a:ea typeface="宋体" pitchFamily="2" charset="-122"/>
                <a:cs typeface="Times New Roman" panose="02020603050405020304" pitchFamily="18" charset="0"/>
              </a:rPr>
              <a:t>输出降维后的样本</a:t>
            </a:r>
            <a:endParaRPr lang="zh-CN" altLang="en-US" sz="1600" dirty="0"/>
          </a:p>
        </p:txBody>
      </p:sp>
    </p:spTree>
  </p:cSld>
  <p:clrMapOvr>
    <a:masterClrMapping/>
  </p:clrMapOvr>
  <p:transition spd="slow" advClick="0" advTm="0">
    <p:wip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a:solidFill>
                  <a:schemeClr val="tx1">
                    <a:lumMod val="75000"/>
                    <a:lumOff val="25000"/>
                  </a:schemeClr>
                </a:solidFill>
                <a:latin typeface="微软雅黑" panose="020B0503020204020204" pitchFamily="34" charset="-122"/>
              </a:rPr>
              <a:t>9.7</a:t>
            </a:r>
            <a:r>
              <a:rPr lang="zh-CN" altLang="en-US" sz="2100" b="1">
                <a:solidFill>
                  <a:schemeClr val="tx1">
                    <a:lumMod val="75000"/>
                    <a:lumOff val="25000"/>
                  </a:schemeClr>
                </a:solidFill>
                <a:latin typeface="微软雅黑" panose="020B0503020204020204" pitchFamily="34" charset="-122"/>
              </a:rPr>
              <a:t>数据降维算法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内容占位符 2"/>
          <p:cNvSpPr txBox="1">
            <a:spLocks noChangeArrowheads="1"/>
          </p:cNvSpPr>
          <p:nvPr/>
        </p:nvSpPr>
        <p:spPr bwMode="auto">
          <a:xfrm>
            <a:off x="356530" y="1097038"/>
            <a:ext cx="8536743" cy="964604"/>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9.7.3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使用</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PCA</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算法对图片进行降维</a:t>
            </a:r>
            <a:endParaRPr lang="en-US" altLang="zh-CN" b="1"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b="1"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采用</a:t>
            </a:r>
            <a:r>
              <a:rPr lang="en-US" altLang="zh-CN" kern="100" dirty="0">
                <a:latin typeface="Times New Roman" panose="02020603050405020304" pitchFamily="18" charset="0"/>
                <a:ea typeface="宋体" pitchFamily="2" charset="-122"/>
                <a:cs typeface="Times New Roman" panose="02020603050405020304" pitchFamily="18" charset="0"/>
              </a:rPr>
              <a:t>PCA</a:t>
            </a:r>
            <a:r>
              <a:rPr lang="zh-CN" altLang="en-US" kern="100" dirty="0">
                <a:latin typeface="Times New Roman" panose="02020603050405020304" pitchFamily="18" charset="0"/>
                <a:ea typeface="宋体" pitchFamily="2" charset="-122"/>
                <a:cs typeface="Times New Roman" panose="02020603050405020304" pitchFamily="18" charset="0"/>
              </a:rPr>
              <a:t>算法对人脸图像进行降维的代码如下</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10" name="文本框 9"/>
          <p:cNvSpPr txBox="1"/>
          <p:nvPr/>
        </p:nvSpPr>
        <p:spPr>
          <a:xfrm>
            <a:off x="564465" y="2061642"/>
            <a:ext cx="8328808" cy="4524315"/>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import </a:t>
            </a:r>
            <a:r>
              <a:rPr lang="en-US" altLang="zh-CN" sz="1600" kern="100" dirty="0" err="1">
                <a:solidFill>
                  <a:srgbClr val="000000"/>
                </a:solidFill>
                <a:effectLst/>
                <a:latin typeface="Times New Roman" panose="02020603050405020304" pitchFamily="18" charset="0"/>
                <a:ea typeface="宋体" pitchFamily="2" charset="-122"/>
              </a:rPr>
              <a:t>numpy</a:t>
            </a:r>
            <a:r>
              <a:rPr lang="en-US" altLang="zh-CN" sz="1600" kern="100" dirty="0">
                <a:solidFill>
                  <a:srgbClr val="000000"/>
                </a:solidFill>
                <a:effectLst/>
                <a:latin typeface="Times New Roman" panose="02020603050405020304" pitchFamily="18" charset="0"/>
                <a:ea typeface="宋体" pitchFamily="2" charset="-122"/>
              </a:rPr>
              <a:t> as np</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import cv2 as cv</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effectLst/>
                <a:latin typeface="Times New Roman" panose="02020603050405020304" pitchFamily="18" charset="0"/>
                <a:ea typeface="宋体" pitchFamily="2" charset="-122"/>
              </a:rPr>
              <a:t> </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a:t>
            </a:r>
            <a:r>
              <a:rPr lang="zh-CN" altLang="zh-CN" sz="1600" kern="100" dirty="0">
                <a:solidFill>
                  <a:srgbClr val="000000"/>
                </a:solidFill>
                <a:effectLst/>
                <a:latin typeface="Times New Roman" panose="02020603050405020304" pitchFamily="18" charset="0"/>
                <a:ea typeface="宋体" pitchFamily="2" charset="-122"/>
              </a:rPr>
              <a:t>数据中心化</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a:t>
            </a:r>
            <a:r>
              <a:rPr lang="en-US" altLang="zh-CN" sz="1600" kern="100" dirty="0" err="1">
                <a:solidFill>
                  <a:srgbClr val="000000"/>
                </a:solidFill>
                <a:effectLst/>
                <a:latin typeface="Times New Roman" panose="02020603050405020304" pitchFamily="18" charset="0"/>
                <a:ea typeface="宋体" pitchFamily="2" charset="-122"/>
              </a:rPr>
              <a:t>Z_centered</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a:solidFill>
                  <a:srgbClr val="000000"/>
                </a:solidFill>
                <a:effectLst/>
                <a:latin typeface="Times New Roman" panose="02020603050405020304" pitchFamily="18" charset="0"/>
                <a:ea typeface="宋体" pitchFamily="2" charset="-122"/>
              </a:rPr>
              <a:t>rows, cols = </a:t>
            </a:r>
            <a:r>
              <a:rPr lang="en-US" altLang="zh-CN" sz="1600" kern="100" dirty="0" err="1">
                <a:solidFill>
                  <a:srgbClr val="000000"/>
                </a:solidFill>
                <a:effectLst/>
                <a:latin typeface="Times New Roman" panose="02020603050405020304" pitchFamily="18" charset="0"/>
                <a:ea typeface="宋体" pitchFamily="2" charset="-122"/>
              </a:rPr>
              <a:t>dataMat.shape</a:t>
            </a:r>
            <a:r>
              <a:rPr lang="en-US" altLang="zh-CN" sz="1600" kern="100" dirty="0">
                <a:solidFill>
                  <a:srgbClr val="000000"/>
                </a:solidFill>
                <a:effectLst/>
                <a:latin typeface="Times New Roman" panose="02020603050405020304" pitchFamily="18" charset="0"/>
                <a:ea typeface="宋体" pitchFamily="2" charset="-122"/>
              </a:rPr>
              <a:t>		#</a:t>
            </a:r>
            <a:r>
              <a:rPr lang="zh-CN" altLang="zh-CN" sz="1600" kern="100" dirty="0">
                <a:solidFill>
                  <a:srgbClr val="000000"/>
                </a:solidFill>
                <a:effectLst/>
                <a:latin typeface="Times New Roman" panose="02020603050405020304" pitchFamily="18" charset="0"/>
                <a:ea typeface="宋体" pitchFamily="2" charset="-122"/>
              </a:rPr>
              <a:t>读取矩阵的长度</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np.mean</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axis=0)	#</a:t>
            </a:r>
            <a:r>
              <a:rPr lang="zh-CN" altLang="zh-CN" sz="1600" kern="100" dirty="0">
                <a:solidFill>
                  <a:srgbClr val="000000"/>
                </a:solidFill>
                <a:effectLst/>
                <a:latin typeface="Times New Roman" panose="02020603050405020304" pitchFamily="18" charset="0"/>
                <a:ea typeface="宋体" pitchFamily="2" charset="-122"/>
              </a:rPr>
              <a:t>按列求均值，即求各个特征的均值</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np.tile</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 (rows, 1))	#</a:t>
            </a:r>
            <a:r>
              <a:rPr lang="zh-CN" altLang="zh-CN" sz="1600" kern="100" dirty="0">
                <a:solidFill>
                  <a:srgbClr val="000000"/>
                </a:solidFill>
                <a:effectLst/>
                <a:latin typeface="Times New Roman" panose="02020603050405020304" pitchFamily="18" charset="0"/>
                <a:ea typeface="宋体" pitchFamily="2" charset="-122"/>
              </a:rPr>
              <a:t>向</a:t>
            </a:r>
            <a:r>
              <a:rPr lang="en-US" altLang="zh-CN" sz="1600" kern="100" dirty="0">
                <a:solidFill>
                  <a:srgbClr val="000000"/>
                </a:solidFill>
                <a:effectLst/>
                <a:latin typeface="Times New Roman" panose="02020603050405020304" pitchFamily="18" charset="0"/>
                <a:ea typeface="宋体" pitchFamily="2" charset="-122"/>
              </a:rPr>
              <a:t>y</a:t>
            </a:r>
            <a:r>
              <a:rPr lang="zh-CN" altLang="zh-CN" sz="1600" kern="100" dirty="0">
                <a:solidFill>
                  <a:srgbClr val="000000"/>
                </a:solidFill>
                <a:effectLst/>
                <a:latin typeface="Times New Roman" panose="02020603050405020304" pitchFamily="18" charset="0"/>
                <a:ea typeface="宋体" pitchFamily="2" charset="-122"/>
              </a:rPr>
              <a:t>轴扩大</a:t>
            </a:r>
            <a:r>
              <a:rPr lang="en-US" altLang="zh-CN" sz="1600" kern="100" dirty="0">
                <a:solidFill>
                  <a:srgbClr val="000000"/>
                </a:solidFill>
                <a:effectLst/>
                <a:latin typeface="Times New Roman" panose="02020603050405020304" pitchFamily="18" charset="0"/>
                <a:ea typeface="宋体" pitchFamily="2" charset="-122"/>
              </a:rPr>
              <a:t>rows</a:t>
            </a:r>
            <a:r>
              <a:rPr lang="zh-CN" altLang="zh-CN" sz="1600" kern="100" dirty="0">
                <a:solidFill>
                  <a:srgbClr val="000000"/>
                </a:solidFill>
                <a:effectLst/>
                <a:latin typeface="Times New Roman" panose="02020603050405020304" pitchFamily="18" charset="0"/>
                <a:ea typeface="宋体" pitchFamily="2" charset="-122"/>
              </a:rPr>
              <a:t>倍</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err="1">
                <a:solidFill>
                  <a:srgbClr val="000000"/>
                </a:solidFill>
                <a:effectLst/>
                <a:latin typeface="Times New Roman" panose="02020603050405020304" pitchFamily="18" charset="0"/>
                <a:ea typeface="宋体" pitchFamily="2" charset="-122"/>
              </a:rPr>
              <a:t>newdata</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meanVal</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a:solidFill>
                  <a:srgbClr val="000000"/>
                </a:solidFill>
                <a:effectLst/>
                <a:latin typeface="Times New Roman" panose="02020603050405020304" pitchFamily="18" charset="0"/>
                <a:ea typeface="宋体" pitchFamily="2" charset="-122"/>
              </a:rPr>
              <a:t>return </a:t>
            </a:r>
            <a:r>
              <a:rPr lang="en-US" altLang="zh-CN" sz="1600" kern="100" dirty="0" err="1">
                <a:solidFill>
                  <a:srgbClr val="000000"/>
                </a:solidFill>
                <a:effectLst/>
                <a:latin typeface="Times New Roman" panose="02020603050405020304" pitchFamily="18" charset="0"/>
                <a:ea typeface="宋体" pitchFamily="2" charset="-122"/>
              </a:rPr>
              <a:t>newdata</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meanVal</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effectLst/>
                <a:latin typeface="Times New Roman" panose="02020603050405020304" pitchFamily="18" charset="0"/>
                <a:ea typeface="宋体" pitchFamily="2" charset="-122"/>
              </a:rPr>
              <a:t> </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a:t>
            </a:r>
            <a:r>
              <a:rPr lang="zh-CN" altLang="zh-CN" sz="1600" kern="100" dirty="0">
                <a:solidFill>
                  <a:srgbClr val="000000"/>
                </a:solidFill>
                <a:effectLst/>
                <a:latin typeface="Times New Roman" panose="02020603050405020304" pitchFamily="18" charset="0"/>
                <a:ea typeface="宋体" pitchFamily="2" charset="-122"/>
              </a:rPr>
              <a:t>协方差矩阵</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a:t>
            </a:r>
            <a:r>
              <a:rPr lang="en-US" altLang="zh-CN" sz="1600" kern="100" dirty="0" err="1">
                <a:solidFill>
                  <a:srgbClr val="000000"/>
                </a:solidFill>
                <a:effectLst/>
                <a:latin typeface="Times New Roman" panose="02020603050405020304" pitchFamily="18" charset="0"/>
                <a:ea typeface="宋体" pitchFamily="2" charset="-122"/>
              </a:rPr>
              <a:t>Cov</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np.mean</a:t>
            </a:r>
            <a:r>
              <a:rPr lang="en-US" altLang="zh-CN" sz="1600" kern="100" dirty="0">
                <a:solidFill>
                  <a:srgbClr val="000000"/>
                </a:solidFill>
                <a:effectLst/>
                <a:latin typeface="Times New Roman" panose="02020603050405020304" pitchFamily="18" charset="0"/>
                <a:ea typeface="宋体" pitchFamily="2" charset="-122"/>
              </a:rPr>
              <a:t>(data, 0)		#</a:t>
            </a:r>
            <a:r>
              <a:rPr lang="zh-CN" altLang="zh-CN" sz="1600" kern="100" dirty="0">
                <a:solidFill>
                  <a:srgbClr val="000000"/>
                </a:solidFill>
                <a:effectLst/>
                <a:latin typeface="Times New Roman" panose="02020603050405020304" pitchFamily="18" charset="0"/>
                <a:ea typeface="宋体" pitchFamily="2" charset="-122"/>
              </a:rPr>
              <a:t>压缩行，返回</a:t>
            </a:r>
            <a:r>
              <a:rPr lang="en-US" altLang="zh-CN" sz="1600" kern="100" dirty="0">
                <a:solidFill>
                  <a:srgbClr val="000000"/>
                </a:solidFill>
                <a:effectLst/>
                <a:latin typeface="Times New Roman" panose="02020603050405020304" pitchFamily="18" charset="0"/>
                <a:ea typeface="宋体" pitchFamily="2" charset="-122"/>
              </a:rPr>
              <a:t>1*cols</a:t>
            </a:r>
            <a:r>
              <a:rPr lang="zh-CN" altLang="zh-CN" sz="1600" kern="100" dirty="0">
                <a:solidFill>
                  <a:srgbClr val="000000"/>
                </a:solidFill>
                <a:effectLst/>
                <a:latin typeface="Times New Roman" panose="02020603050405020304" pitchFamily="18" charset="0"/>
                <a:ea typeface="宋体" pitchFamily="2" charset="-122"/>
              </a:rPr>
              <a:t>矩阵，对各列求均值</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np.tile</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 (rows, 1))	#</a:t>
            </a:r>
            <a:r>
              <a:rPr lang="zh-CN" altLang="zh-CN" sz="1600" kern="100" dirty="0">
                <a:solidFill>
                  <a:srgbClr val="000000"/>
                </a:solidFill>
                <a:effectLst/>
                <a:latin typeface="Times New Roman" panose="02020603050405020304" pitchFamily="18" charset="0"/>
                <a:ea typeface="宋体" pitchFamily="2" charset="-122"/>
              </a:rPr>
              <a:t>返回</a:t>
            </a:r>
            <a:r>
              <a:rPr lang="en-US" altLang="zh-CN" sz="1600" kern="100" dirty="0">
                <a:solidFill>
                  <a:srgbClr val="000000"/>
                </a:solidFill>
                <a:effectLst/>
                <a:latin typeface="Times New Roman" panose="02020603050405020304" pitchFamily="18" charset="0"/>
                <a:ea typeface="宋体" pitchFamily="2" charset="-122"/>
              </a:rPr>
              <a:t>rows</a:t>
            </a:r>
            <a:r>
              <a:rPr lang="zh-CN" altLang="zh-CN" sz="1600" kern="100" dirty="0">
                <a:solidFill>
                  <a:srgbClr val="000000"/>
                </a:solidFill>
                <a:effectLst/>
                <a:latin typeface="Times New Roman" panose="02020603050405020304" pitchFamily="18" charset="0"/>
                <a:ea typeface="宋体" pitchFamily="2" charset="-122"/>
              </a:rPr>
              <a:t>行的均值矩阵</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a:solidFill>
                  <a:srgbClr val="000000"/>
                </a:solidFill>
                <a:effectLst/>
                <a:latin typeface="Times New Roman" panose="02020603050405020304" pitchFamily="18" charset="0"/>
                <a:ea typeface="宋体" pitchFamily="2" charset="-122"/>
              </a:rPr>
              <a:t>Z = </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meanVal</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err="1">
                <a:solidFill>
                  <a:srgbClr val="000000"/>
                </a:solidFill>
                <a:effectLst/>
                <a:latin typeface="Times New Roman" panose="02020603050405020304" pitchFamily="18" charset="0"/>
                <a:ea typeface="宋体" pitchFamily="2" charset="-122"/>
              </a:rPr>
              <a:t>Zcov</a:t>
            </a:r>
            <a:r>
              <a:rPr lang="en-US" altLang="zh-CN" sz="1600" kern="100" dirty="0">
                <a:solidFill>
                  <a:srgbClr val="000000"/>
                </a:solidFill>
                <a:effectLst/>
                <a:latin typeface="Times New Roman" panose="02020603050405020304" pitchFamily="18" charset="0"/>
                <a:ea typeface="宋体" pitchFamily="2" charset="-122"/>
              </a:rPr>
              <a:t> = (1 / (rows - 1)) * Z.T * Z</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a:solidFill>
                  <a:srgbClr val="000000"/>
                </a:solidFill>
                <a:effectLst/>
                <a:latin typeface="Times New Roman" panose="02020603050405020304" pitchFamily="18" charset="0"/>
                <a:ea typeface="宋体" pitchFamily="2" charset="-122"/>
              </a:rPr>
              <a:t>return </a:t>
            </a:r>
            <a:r>
              <a:rPr lang="en-US" altLang="zh-CN" sz="1600" kern="100" dirty="0" err="1">
                <a:solidFill>
                  <a:srgbClr val="000000"/>
                </a:solidFill>
                <a:effectLst/>
                <a:latin typeface="Times New Roman" panose="02020603050405020304" pitchFamily="18" charset="0"/>
                <a:ea typeface="宋体" pitchFamily="2" charset="-122"/>
              </a:rPr>
              <a:t>Zcov</a:t>
            </a:r>
            <a:endParaRPr lang="en-US" altLang="zh-CN" sz="16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a:solidFill>
                  <a:schemeClr val="tx1">
                    <a:lumMod val="75000"/>
                    <a:lumOff val="25000"/>
                  </a:schemeClr>
                </a:solidFill>
                <a:latin typeface="微软雅黑" panose="020B0503020204020204" pitchFamily="34" charset="-122"/>
              </a:rPr>
              <a:t>9.7</a:t>
            </a:r>
            <a:r>
              <a:rPr lang="zh-CN" altLang="en-US" sz="2100" b="1">
                <a:solidFill>
                  <a:schemeClr val="tx1">
                    <a:lumMod val="75000"/>
                    <a:lumOff val="25000"/>
                  </a:schemeClr>
                </a:solidFill>
                <a:latin typeface="微软雅黑" panose="020B0503020204020204" pitchFamily="34" charset="-122"/>
              </a:rPr>
              <a:t>数据降维算法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文本框 9"/>
          <p:cNvSpPr txBox="1"/>
          <p:nvPr/>
        </p:nvSpPr>
        <p:spPr>
          <a:xfrm>
            <a:off x="684362" y="1263159"/>
            <a:ext cx="7963296" cy="5262979"/>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a:t>
            </a:r>
            <a:r>
              <a:rPr lang="zh-CN" altLang="en-US" sz="1600" kern="100" dirty="0">
                <a:solidFill>
                  <a:srgbClr val="000000"/>
                </a:solidFill>
                <a:effectLst/>
                <a:latin typeface="Times New Roman" panose="02020603050405020304" pitchFamily="18" charset="0"/>
                <a:ea typeface="宋体" pitchFamily="2" charset="-122"/>
              </a:rPr>
              <a:t>最小化降维造成的损失，确定</a:t>
            </a:r>
            <a:r>
              <a:rPr lang="en-US" altLang="zh-CN" sz="1600" kern="100" dirty="0">
                <a:solidFill>
                  <a:srgbClr val="000000"/>
                </a:solidFill>
                <a:effectLst/>
                <a:latin typeface="Times New Roman" panose="02020603050405020304" pitchFamily="18" charset="0"/>
                <a:ea typeface="宋体" pitchFamily="2" charset="-122"/>
              </a:rPr>
              <a:t>k</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Percentage2n(</a:t>
            </a:r>
            <a:r>
              <a:rPr lang="en-US" altLang="zh-CN" sz="1600" kern="100" dirty="0" err="1">
                <a:solidFill>
                  <a:srgbClr val="000000"/>
                </a:solidFill>
                <a:effectLst/>
                <a:latin typeface="Times New Roman" panose="02020603050405020304" pitchFamily="18" charset="0"/>
                <a:ea typeface="宋体" pitchFamily="2" charset="-122"/>
              </a:rPr>
              <a:t>eigVals</a:t>
            </a:r>
            <a:r>
              <a:rPr lang="en-US" altLang="zh-CN" sz="1600" kern="100" dirty="0">
                <a:solidFill>
                  <a:srgbClr val="000000"/>
                </a:solidFill>
                <a:effectLst/>
                <a:latin typeface="Times New Roman" panose="02020603050405020304" pitchFamily="18" charset="0"/>
                <a:ea typeface="宋体" pitchFamily="2" charset="-122"/>
              </a:rPr>
              <a:t>, percentage):</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sortArray</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np.sort</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eigVals</a:t>
            </a:r>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升序</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sortArray</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sortArray</a:t>
            </a:r>
            <a:r>
              <a:rPr lang="en-US" altLang="zh-CN" sz="1600" kern="100" dirty="0">
                <a:solidFill>
                  <a:srgbClr val="000000"/>
                </a:solidFill>
                <a:effectLst/>
                <a:latin typeface="Times New Roman" panose="02020603050405020304" pitchFamily="18" charset="0"/>
                <a:ea typeface="宋体" pitchFamily="2" charset="-122"/>
              </a:rPr>
              <a:t>[-1::-1]			#</a:t>
            </a:r>
            <a:r>
              <a:rPr lang="zh-CN" altLang="en-US" sz="1600" kern="100" dirty="0">
                <a:solidFill>
                  <a:srgbClr val="000000"/>
                </a:solidFill>
                <a:effectLst/>
                <a:latin typeface="Times New Roman" panose="02020603050405020304" pitchFamily="18" charset="0"/>
                <a:ea typeface="宋体" pitchFamily="2" charset="-122"/>
              </a:rPr>
              <a:t>逆转，即降序</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arraySum</a:t>
            </a:r>
            <a:r>
              <a:rPr lang="en-US" altLang="zh-CN" sz="1600" kern="100" dirty="0">
                <a:solidFill>
                  <a:srgbClr val="000000"/>
                </a:solidFill>
                <a:effectLst/>
                <a:latin typeface="Times New Roman" panose="02020603050405020304" pitchFamily="18" charset="0"/>
                <a:ea typeface="宋体" pitchFamily="2" charset="-122"/>
              </a:rPr>
              <a:t> = sum(</a:t>
            </a:r>
            <a:r>
              <a:rPr lang="en-US" altLang="zh-CN" sz="1600" kern="100" dirty="0" err="1">
                <a:solidFill>
                  <a:srgbClr val="000000"/>
                </a:solidFill>
                <a:effectLst/>
                <a:latin typeface="Times New Roman" panose="02020603050405020304" pitchFamily="18" charset="0"/>
                <a:ea typeface="宋体" pitchFamily="2" charset="-122"/>
              </a:rPr>
              <a:t>sortArray</a:t>
            </a:r>
            <a:r>
              <a:rPr lang="en-US" altLang="zh-CN" sz="1600" kern="100" dirty="0">
                <a:solidFill>
                  <a:srgbClr val="000000"/>
                </a:solidFill>
                <a:effectLst/>
                <a:latin typeface="Times New Roman" panose="02020603050405020304" pitchFamily="18" charset="0"/>
                <a:ea typeface="宋体" pitchFamily="2" charset="-122"/>
              </a:rPr>
              <a:t>)</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tmpSum</a:t>
            </a:r>
            <a:r>
              <a:rPr lang="en-US" altLang="zh-CN" sz="1600" kern="100" dirty="0">
                <a:solidFill>
                  <a:srgbClr val="000000"/>
                </a:solidFill>
                <a:effectLst/>
                <a:latin typeface="Times New Roman" panose="02020603050405020304" pitchFamily="18" charset="0"/>
                <a:ea typeface="宋体" pitchFamily="2" charset="-122"/>
              </a:rPr>
              <a:t> = 0</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num = 0</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for </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in </a:t>
            </a:r>
            <a:r>
              <a:rPr lang="en-US" altLang="zh-CN" sz="1600" kern="100" dirty="0" err="1">
                <a:solidFill>
                  <a:srgbClr val="000000"/>
                </a:solidFill>
                <a:effectLst/>
                <a:latin typeface="Times New Roman" panose="02020603050405020304" pitchFamily="18" charset="0"/>
                <a:ea typeface="宋体" pitchFamily="2" charset="-122"/>
              </a:rPr>
              <a:t>sortArray</a:t>
            </a:r>
            <a:r>
              <a:rPr lang="en-US" altLang="zh-CN" sz="1600" kern="100" dirty="0">
                <a:solidFill>
                  <a:srgbClr val="000000"/>
                </a:solidFill>
                <a:effectLst/>
                <a:latin typeface="Times New Roman" panose="02020603050405020304" pitchFamily="18" charset="0"/>
                <a:ea typeface="宋体" pitchFamily="2" charset="-122"/>
              </a:rPr>
              <a:t>:</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tmpSum</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i</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num += 1</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if </a:t>
            </a:r>
            <a:r>
              <a:rPr lang="en-US" altLang="zh-CN" sz="1600" kern="100" dirty="0" err="1">
                <a:solidFill>
                  <a:srgbClr val="000000"/>
                </a:solidFill>
                <a:effectLst/>
                <a:latin typeface="Times New Roman" panose="02020603050405020304" pitchFamily="18" charset="0"/>
                <a:ea typeface="宋体" pitchFamily="2" charset="-122"/>
              </a:rPr>
              <a:t>tmpSum</a:t>
            </a:r>
            <a:r>
              <a:rPr lang="en-US" altLang="zh-CN" sz="1600" kern="100" dirty="0">
                <a:solidFill>
                  <a:srgbClr val="000000"/>
                </a:solidFill>
                <a:effectLst/>
                <a:latin typeface="Times New Roman" panose="02020603050405020304" pitchFamily="18" charset="0"/>
                <a:ea typeface="宋体" pitchFamily="2" charset="-122"/>
              </a:rPr>
              <a:t> &gt;= </a:t>
            </a:r>
            <a:r>
              <a:rPr lang="en-US" altLang="zh-CN" sz="1600" kern="100" dirty="0" err="1">
                <a:solidFill>
                  <a:srgbClr val="000000"/>
                </a:solidFill>
                <a:effectLst/>
                <a:latin typeface="Times New Roman" panose="02020603050405020304" pitchFamily="18" charset="0"/>
                <a:ea typeface="宋体" pitchFamily="2" charset="-122"/>
              </a:rPr>
              <a:t>arraySum</a:t>
            </a:r>
            <a:r>
              <a:rPr lang="en-US" altLang="zh-CN" sz="1600" kern="100" dirty="0">
                <a:solidFill>
                  <a:srgbClr val="000000"/>
                </a:solidFill>
                <a:effectLst/>
                <a:latin typeface="Times New Roman" panose="02020603050405020304" pitchFamily="18" charset="0"/>
                <a:ea typeface="宋体" pitchFamily="2" charset="-122"/>
              </a:rPr>
              <a:t> * percentage:</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return num</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a:t>
            </a:r>
            <a:r>
              <a:rPr lang="zh-CN" altLang="en-US" sz="1600" kern="100" dirty="0">
                <a:solidFill>
                  <a:srgbClr val="000000"/>
                </a:solidFill>
                <a:effectLst/>
                <a:latin typeface="Times New Roman" panose="02020603050405020304" pitchFamily="18" charset="0"/>
                <a:ea typeface="宋体" pitchFamily="2" charset="-122"/>
              </a:rPr>
              <a:t>得到最大的</a:t>
            </a:r>
            <a:r>
              <a:rPr lang="en-US" altLang="zh-CN" sz="1600" kern="100" dirty="0">
                <a:solidFill>
                  <a:srgbClr val="000000"/>
                </a:solidFill>
                <a:effectLst/>
                <a:latin typeface="Times New Roman" panose="02020603050405020304" pitchFamily="18" charset="0"/>
                <a:ea typeface="宋体" pitchFamily="2" charset="-122"/>
              </a:rPr>
              <a:t>k</a:t>
            </a:r>
            <a:r>
              <a:rPr lang="zh-CN" altLang="en-US" sz="1600" kern="100" dirty="0">
                <a:solidFill>
                  <a:srgbClr val="000000"/>
                </a:solidFill>
                <a:effectLst/>
                <a:latin typeface="Times New Roman" panose="02020603050405020304" pitchFamily="18" charset="0"/>
                <a:ea typeface="宋体" pitchFamily="2" charset="-122"/>
              </a:rPr>
              <a:t>个特征值和特征向量</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a:t>
            </a:r>
            <a:r>
              <a:rPr lang="en-US" altLang="zh-CN" sz="1600" kern="100" dirty="0" err="1">
                <a:solidFill>
                  <a:srgbClr val="000000"/>
                </a:solidFill>
                <a:effectLst/>
                <a:latin typeface="Times New Roman" panose="02020603050405020304" pitchFamily="18" charset="0"/>
                <a:ea typeface="宋体" pitchFamily="2" charset="-122"/>
              </a:rPr>
              <a:t>EigDV</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covMat</a:t>
            </a:r>
            <a:r>
              <a:rPr lang="en-US" altLang="zh-CN" sz="1600" kern="100" dirty="0">
                <a:solidFill>
                  <a:srgbClr val="000000"/>
                </a:solidFill>
                <a:effectLst/>
                <a:latin typeface="Times New Roman" panose="02020603050405020304" pitchFamily="18" charset="0"/>
                <a:ea typeface="宋体" pitchFamily="2" charset="-122"/>
              </a:rPr>
              <a:t>, p):</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 V = </a:t>
            </a:r>
            <a:r>
              <a:rPr lang="en-US" altLang="zh-CN" sz="1600" kern="100" dirty="0" err="1">
                <a:solidFill>
                  <a:srgbClr val="000000"/>
                </a:solidFill>
                <a:effectLst/>
                <a:latin typeface="Times New Roman" panose="02020603050405020304" pitchFamily="18" charset="0"/>
                <a:ea typeface="宋体" pitchFamily="2" charset="-122"/>
              </a:rPr>
              <a:t>np.linalg.eig</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covMat</a:t>
            </a:r>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得到特征值和特征向量</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k = Percentage2n(D, p)				#</a:t>
            </a:r>
            <a:r>
              <a:rPr lang="zh-CN" altLang="en-US" sz="1600" kern="100" dirty="0">
                <a:solidFill>
                  <a:srgbClr val="000000"/>
                </a:solidFill>
                <a:effectLst/>
                <a:latin typeface="Times New Roman" panose="02020603050405020304" pitchFamily="18" charset="0"/>
                <a:ea typeface="宋体" pitchFamily="2" charset="-122"/>
              </a:rPr>
              <a:t>确定</a:t>
            </a:r>
            <a:r>
              <a:rPr lang="en-US" altLang="zh-CN" sz="1600" kern="100" dirty="0">
                <a:solidFill>
                  <a:srgbClr val="000000"/>
                </a:solidFill>
                <a:effectLst/>
                <a:latin typeface="Times New Roman" panose="02020603050405020304" pitchFamily="18" charset="0"/>
                <a:ea typeface="宋体" pitchFamily="2" charset="-122"/>
              </a:rPr>
              <a:t>k</a:t>
            </a:r>
            <a:r>
              <a:rPr lang="zh-CN" altLang="en-US" sz="1600" kern="100" dirty="0">
                <a:solidFill>
                  <a:srgbClr val="000000"/>
                </a:solidFill>
                <a:effectLst/>
                <a:latin typeface="Times New Roman" panose="02020603050405020304" pitchFamily="18" charset="0"/>
                <a:ea typeface="宋体" pitchFamily="2" charset="-122"/>
              </a:rPr>
              <a:t>值</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eigenvalue = </a:t>
            </a:r>
            <a:r>
              <a:rPr lang="en-US" altLang="zh-CN" sz="1600" kern="100" dirty="0" err="1">
                <a:solidFill>
                  <a:srgbClr val="000000"/>
                </a:solidFill>
                <a:effectLst/>
                <a:latin typeface="Times New Roman" panose="02020603050405020304" pitchFamily="18" charset="0"/>
                <a:ea typeface="宋体" pitchFamily="2" charset="-122"/>
              </a:rPr>
              <a:t>np.argsort</a:t>
            </a:r>
            <a:r>
              <a:rPr lang="en-US" altLang="zh-CN" sz="1600" kern="100" dirty="0">
                <a:solidFill>
                  <a:srgbClr val="000000"/>
                </a:solidFill>
                <a:effectLst/>
                <a:latin typeface="Times New Roman" panose="02020603050405020304" pitchFamily="18" charset="0"/>
                <a:ea typeface="宋体" pitchFamily="2" charset="-122"/>
              </a:rPr>
              <a:t>(D)</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K_eigenValue</a:t>
            </a:r>
            <a:r>
              <a:rPr lang="en-US" altLang="zh-CN" sz="1600" kern="100" dirty="0">
                <a:solidFill>
                  <a:srgbClr val="000000"/>
                </a:solidFill>
                <a:effectLst/>
                <a:latin typeface="Times New Roman" panose="02020603050405020304" pitchFamily="18" charset="0"/>
                <a:ea typeface="宋体" pitchFamily="2" charset="-122"/>
              </a:rPr>
              <a:t> = eigenvalue[-1:-(k + 1):-1]</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K_eigenVector</a:t>
            </a:r>
            <a:r>
              <a:rPr lang="en-US" altLang="zh-CN" sz="1600" kern="100" dirty="0">
                <a:solidFill>
                  <a:srgbClr val="000000"/>
                </a:solidFill>
                <a:effectLst/>
                <a:latin typeface="Times New Roman" panose="02020603050405020304" pitchFamily="18" charset="0"/>
                <a:ea typeface="宋体" pitchFamily="2" charset="-122"/>
              </a:rPr>
              <a:t> = V[:, </a:t>
            </a:r>
            <a:r>
              <a:rPr lang="en-US" altLang="zh-CN" sz="1600" kern="100" dirty="0" err="1">
                <a:solidFill>
                  <a:srgbClr val="000000"/>
                </a:solidFill>
                <a:effectLst/>
                <a:latin typeface="Times New Roman" panose="02020603050405020304" pitchFamily="18" charset="0"/>
                <a:ea typeface="宋体" pitchFamily="2" charset="-122"/>
              </a:rPr>
              <a:t>K_eigenValue</a:t>
            </a:r>
            <a:r>
              <a:rPr lang="en-US" altLang="zh-CN" sz="1600" kern="100" dirty="0">
                <a:solidFill>
                  <a:srgbClr val="000000"/>
                </a:solidFill>
                <a:effectLst/>
                <a:latin typeface="Times New Roman" panose="02020603050405020304" pitchFamily="18" charset="0"/>
                <a:ea typeface="宋体" pitchFamily="2" charset="-122"/>
              </a:rPr>
              <a:t>]</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return </a:t>
            </a:r>
            <a:r>
              <a:rPr lang="en-US" altLang="zh-CN" sz="1600" kern="100" dirty="0" err="1">
                <a:solidFill>
                  <a:srgbClr val="000000"/>
                </a:solidFill>
                <a:effectLst/>
                <a:latin typeface="Times New Roman" panose="02020603050405020304" pitchFamily="18" charset="0"/>
                <a:ea typeface="宋体" pitchFamily="2" charset="-122"/>
              </a:rPr>
              <a:t>K_eigenValue</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K_eigenVector</a:t>
            </a:r>
            <a:endParaRPr lang="en-US" altLang="zh-CN" sz="16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a:solidFill>
                  <a:schemeClr val="tx1">
                    <a:lumMod val="75000"/>
                    <a:lumOff val="25000"/>
                  </a:schemeClr>
                </a:solidFill>
                <a:latin typeface="微软雅黑" panose="020B0503020204020204" pitchFamily="34" charset="-122"/>
              </a:rPr>
              <a:t>9.7</a:t>
            </a:r>
            <a:r>
              <a:rPr lang="zh-CN" altLang="en-US" sz="2100" b="1">
                <a:solidFill>
                  <a:schemeClr val="tx1">
                    <a:lumMod val="75000"/>
                    <a:lumOff val="25000"/>
                  </a:schemeClr>
                </a:solidFill>
                <a:latin typeface="微软雅黑" panose="020B0503020204020204" pitchFamily="34" charset="-122"/>
              </a:rPr>
              <a:t>数据降维算法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文本框 9"/>
          <p:cNvSpPr txBox="1"/>
          <p:nvPr/>
        </p:nvSpPr>
        <p:spPr>
          <a:xfrm>
            <a:off x="540346" y="1353751"/>
            <a:ext cx="8107312" cy="4524315"/>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a:t>
            </a:r>
            <a:r>
              <a:rPr lang="zh-CN" altLang="en-US" sz="1600" kern="100" dirty="0">
                <a:solidFill>
                  <a:srgbClr val="000000"/>
                </a:solidFill>
                <a:effectLst/>
                <a:latin typeface="Times New Roman" panose="02020603050405020304" pitchFamily="18" charset="0"/>
                <a:ea typeface="宋体" pitchFamily="2" charset="-122"/>
              </a:rPr>
              <a:t>得到降维后的数据</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a:t>
            </a:r>
            <a:r>
              <a:rPr lang="en-US" altLang="zh-CN" sz="1600" kern="100" dirty="0" err="1">
                <a:solidFill>
                  <a:srgbClr val="000000"/>
                </a:solidFill>
                <a:effectLst/>
                <a:latin typeface="Times New Roman" panose="02020603050405020304" pitchFamily="18" charset="0"/>
                <a:ea typeface="宋体" pitchFamily="2" charset="-122"/>
              </a:rPr>
              <a:t>getlowDataMat</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K_eigenVector</a:t>
            </a:r>
            <a:r>
              <a:rPr lang="en-US" altLang="zh-CN" sz="1600" kern="100" dirty="0">
                <a:solidFill>
                  <a:srgbClr val="000000"/>
                </a:solidFill>
                <a:effectLst/>
                <a:latin typeface="Times New Roman" panose="02020603050405020304" pitchFamily="18" charset="0"/>
                <a:ea typeface="宋体" pitchFamily="2" charset="-122"/>
              </a:rPr>
              <a:t>):</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return </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K_eigenVector</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a:t>
            </a:r>
            <a:r>
              <a:rPr lang="zh-CN" altLang="en-US" sz="1600" kern="100" dirty="0">
                <a:solidFill>
                  <a:srgbClr val="000000"/>
                </a:solidFill>
                <a:effectLst/>
                <a:latin typeface="Times New Roman" panose="02020603050405020304" pitchFamily="18" charset="0"/>
                <a:ea typeface="宋体" pitchFamily="2" charset="-122"/>
              </a:rPr>
              <a:t>重构数据</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Reconstruction(</a:t>
            </a:r>
            <a:r>
              <a:rPr lang="en-US" altLang="zh-CN" sz="1600" kern="100" dirty="0" err="1">
                <a:solidFill>
                  <a:srgbClr val="000000"/>
                </a:solidFill>
                <a:effectLst/>
                <a:latin typeface="Times New Roman" panose="02020603050405020304" pitchFamily="18" charset="0"/>
                <a:ea typeface="宋体" pitchFamily="2" charset="-122"/>
              </a:rPr>
              <a:t>lowDataMat</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K_eigenVector</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reconDataMat</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lowDataMat</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K_eigenVector.T</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meanVal</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return </a:t>
            </a:r>
            <a:r>
              <a:rPr lang="en-US" altLang="zh-CN" sz="1600" kern="100" dirty="0" err="1">
                <a:solidFill>
                  <a:srgbClr val="000000"/>
                </a:solidFill>
                <a:effectLst/>
                <a:latin typeface="Times New Roman" panose="02020603050405020304" pitchFamily="18" charset="0"/>
                <a:ea typeface="宋体" pitchFamily="2" charset="-122"/>
              </a:rPr>
              <a:t>reconDataMat</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#PCA</a:t>
            </a:r>
            <a:r>
              <a:rPr lang="zh-CN" altLang="en-US" sz="1600" kern="100" dirty="0">
                <a:solidFill>
                  <a:srgbClr val="000000"/>
                </a:solidFill>
                <a:effectLst/>
                <a:latin typeface="Times New Roman" panose="02020603050405020304" pitchFamily="18" charset="0"/>
                <a:ea typeface="宋体" pitchFamily="2" charset="-122"/>
              </a:rPr>
              <a:t>算法</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PCA(data, p):</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 np.float32(</a:t>
            </a:r>
            <a:r>
              <a:rPr lang="en-US" altLang="zh-CN" sz="1600" kern="100" dirty="0" err="1">
                <a:solidFill>
                  <a:srgbClr val="000000"/>
                </a:solidFill>
                <a:effectLst/>
                <a:latin typeface="Times New Roman" panose="02020603050405020304" pitchFamily="18" charset="0"/>
                <a:ea typeface="宋体" pitchFamily="2" charset="-122"/>
              </a:rPr>
              <a:t>np.mat</a:t>
            </a:r>
            <a:r>
              <a:rPr lang="en-US" altLang="zh-CN" sz="1600" kern="100" dirty="0">
                <a:solidFill>
                  <a:srgbClr val="000000"/>
                </a:solidFill>
                <a:effectLst/>
                <a:latin typeface="Times New Roman" panose="02020603050405020304" pitchFamily="18" charset="0"/>
                <a:ea typeface="宋体" pitchFamily="2" charset="-122"/>
              </a:rPr>
              <a:t>(data))</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Z_centered</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数据中心化</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covMat</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np.cov</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rowvar</a:t>
            </a:r>
            <a:r>
              <a:rPr lang="en-US" altLang="zh-CN" sz="1600" kern="100" dirty="0">
                <a:solidFill>
                  <a:srgbClr val="000000"/>
                </a:solidFill>
                <a:effectLst/>
                <a:latin typeface="Times New Roman" panose="02020603050405020304" pitchFamily="18" charset="0"/>
                <a:ea typeface="宋体" pitchFamily="2" charset="-122"/>
              </a:rPr>
              <a:t>=0)	#</a:t>
            </a:r>
            <a:r>
              <a:rPr lang="zh-CN" altLang="en-US" sz="1600" kern="100" dirty="0">
                <a:solidFill>
                  <a:srgbClr val="000000"/>
                </a:solidFill>
                <a:effectLst/>
                <a:latin typeface="Times New Roman" panose="02020603050405020304" pitchFamily="18" charset="0"/>
                <a:ea typeface="宋体" pitchFamily="2" charset="-122"/>
              </a:rPr>
              <a:t>计算协方差矩阵</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 V = </a:t>
            </a:r>
            <a:r>
              <a:rPr lang="en-US" altLang="zh-CN" sz="1600" kern="100" dirty="0" err="1">
                <a:solidFill>
                  <a:srgbClr val="000000"/>
                </a:solidFill>
                <a:effectLst/>
                <a:latin typeface="Times New Roman" panose="02020603050405020304" pitchFamily="18" charset="0"/>
                <a:ea typeface="宋体" pitchFamily="2" charset="-122"/>
              </a:rPr>
              <a:t>EigDV</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covMat</a:t>
            </a:r>
            <a:r>
              <a:rPr lang="en-US" altLang="zh-CN" sz="1600" kern="100" dirty="0">
                <a:solidFill>
                  <a:srgbClr val="000000"/>
                </a:solidFill>
                <a:effectLst/>
                <a:latin typeface="Times New Roman" panose="02020603050405020304" pitchFamily="18" charset="0"/>
                <a:ea typeface="宋体" pitchFamily="2" charset="-122"/>
              </a:rPr>
              <a:t>, p)		#</a:t>
            </a:r>
            <a:r>
              <a:rPr lang="zh-CN" altLang="en-US" sz="1600" kern="100" dirty="0">
                <a:solidFill>
                  <a:srgbClr val="000000"/>
                </a:solidFill>
                <a:effectLst/>
                <a:latin typeface="Times New Roman" panose="02020603050405020304" pitchFamily="18" charset="0"/>
                <a:ea typeface="宋体" pitchFamily="2" charset="-122"/>
              </a:rPr>
              <a:t>得到最大的</a:t>
            </a:r>
            <a:r>
              <a:rPr lang="en-US" altLang="zh-CN" sz="1600" kern="100" dirty="0">
                <a:solidFill>
                  <a:srgbClr val="000000"/>
                </a:solidFill>
                <a:effectLst/>
                <a:latin typeface="Times New Roman" panose="02020603050405020304" pitchFamily="18" charset="0"/>
                <a:ea typeface="宋体" pitchFamily="2" charset="-122"/>
              </a:rPr>
              <a:t>k</a:t>
            </a:r>
            <a:r>
              <a:rPr lang="zh-CN" altLang="en-US" sz="1600" kern="100" dirty="0">
                <a:solidFill>
                  <a:srgbClr val="000000"/>
                </a:solidFill>
                <a:effectLst/>
                <a:latin typeface="Times New Roman" panose="02020603050405020304" pitchFamily="18" charset="0"/>
                <a:ea typeface="宋体" pitchFamily="2" charset="-122"/>
              </a:rPr>
              <a:t>个特征值和特征向量</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lowDataMat</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getlowDataMat</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V)	#</a:t>
            </a:r>
            <a:r>
              <a:rPr lang="zh-CN" altLang="en-US" sz="1600" kern="100" dirty="0">
                <a:solidFill>
                  <a:srgbClr val="000000"/>
                </a:solidFill>
                <a:effectLst/>
                <a:latin typeface="Times New Roman" panose="02020603050405020304" pitchFamily="18" charset="0"/>
                <a:ea typeface="宋体" pitchFamily="2" charset="-122"/>
              </a:rPr>
              <a:t>得到降维后的数据</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reconDataMat</a:t>
            </a:r>
            <a:r>
              <a:rPr lang="en-US" altLang="zh-CN" sz="1600" kern="100" dirty="0">
                <a:solidFill>
                  <a:srgbClr val="000000"/>
                </a:solidFill>
                <a:effectLst/>
                <a:latin typeface="Times New Roman" panose="02020603050405020304" pitchFamily="18" charset="0"/>
                <a:ea typeface="宋体" pitchFamily="2" charset="-122"/>
              </a:rPr>
              <a:t> = Reconstruction(</a:t>
            </a:r>
            <a:r>
              <a:rPr lang="en-US" altLang="zh-CN" sz="1600" kern="100" dirty="0" err="1">
                <a:solidFill>
                  <a:srgbClr val="000000"/>
                </a:solidFill>
                <a:effectLst/>
                <a:latin typeface="Times New Roman" panose="02020603050405020304" pitchFamily="18" charset="0"/>
                <a:ea typeface="宋体" pitchFamily="2" charset="-122"/>
              </a:rPr>
              <a:t>lowDataMat</a:t>
            </a:r>
            <a:r>
              <a:rPr lang="en-US" altLang="zh-CN" sz="1600" kern="100" dirty="0">
                <a:solidFill>
                  <a:srgbClr val="000000"/>
                </a:solidFill>
                <a:effectLst/>
                <a:latin typeface="Times New Roman" panose="02020603050405020304" pitchFamily="18" charset="0"/>
                <a:ea typeface="宋体" pitchFamily="2" charset="-122"/>
              </a:rPr>
              <a:t>, V, </a:t>
            </a:r>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return </a:t>
            </a:r>
            <a:r>
              <a:rPr lang="en-US" altLang="zh-CN" sz="1600" kern="100" dirty="0" err="1">
                <a:solidFill>
                  <a:srgbClr val="000000"/>
                </a:solidFill>
                <a:effectLst/>
                <a:latin typeface="Times New Roman" panose="02020603050405020304" pitchFamily="18" charset="0"/>
                <a:ea typeface="宋体" pitchFamily="2" charset="-122"/>
              </a:rPr>
              <a:t>reconDataMat</a:t>
            </a:r>
            <a:endParaRPr lang="en-US" altLang="zh-CN" sz="16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9.7</a:t>
            </a:r>
            <a:r>
              <a:rPr lang="zh-CN" altLang="en-US" sz="2100" b="1" dirty="0">
                <a:solidFill>
                  <a:schemeClr val="tx1">
                    <a:lumMod val="75000"/>
                    <a:lumOff val="25000"/>
                  </a:schemeClr>
                </a:solidFill>
                <a:latin typeface="微软雅黑" panose="020B0503020204020204" pitchFamily="34" charset="-122"/>
              </a:rPr>
              <a:t>数据降维算法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文本框 9"/>
          <p:cNvSpPr txBox="1"/>
          <p:nvPr/>
        </p:nvSpPr>
        <p:spPr>
          <a:xfrm>
            <a:off x="569938" y="1281743"/>
            <a:ext cx="8035304" cy="4524315"/>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def main():</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imagePath1 = </a:t>
            </a:r>
            <a:r>
              <a:rPr lang="en-US" altLang="zh-CN" sz="1600" kern="100" dirty="0" err="1">
                <a:solidFill>
                  <a:srgbClr val="000000"/>
                </a:solidFill>
                <a:effectLst/>
                <a:latin typeface="Times New Roman" panose="02020603050405020304" pitchFamily="18" charset="0"/>
                <a:ea typeface="宋体" pitchFamily="2" charset="-122"/>
              </a:rPr>
              <a:t>r'C</a:t>
            </a:r>
            <a:r>
              <a:rPr lang="en-US" altLang="zh-CN" sz="1600" kern="100" dirty="0">
                <a:solidFill>
                  <a:srgbClr val="000000"/>
                </a:solidFill>
                <a:effectLst/>
                <a:latin typeface="Times New Roman" panose="02020603050405020304" pitchFamily="18" charset="0"/>
                <a:ea typeface="宋体" pitchFamily="2" charset="-122"/>
              </a:rPr>
              <a:t>:\Users\</a:t>
            </a:r>
            <a:r>
              <a:rPr lang="en-US" altLang="zh-CN" sz="1600" kern="100" dirty="0" err="1">
                <a:solidFill>
                  <a:srgbClr val="000000"/>
                </a:solidFill>
                <a:effectLst/>
                <a:latin typeface="Times New Roman" panose="02020603050405020304" pitchFamily="18" charset="0"/>
                <a:ea typeface="宋体" pitchFamily="2" charset="-122"/>
              </a:rPr>
              <a:t>lenovo</a:t>
            </a:r>
            <a:r>
              <a:rPr lang="en-US" altLang="zh-CN" sz="1600" kern="100" dirty="0">
                <a:solidFill>
                  <a:srgbClr val="000000"/>
                </a:solidFill>
                <a:effectLst/>
                <a:latin typeface="Times New Roman" panose="02020603050405020304" pitchFamily="18" charset="0"/>
                <a:ea typeface="宋体" pitchFamily="2" charset="-122"/>
              </a:rPr>
              <a:t>\Desktop\p1.png'</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imagePath2 = </a:t>
            </a:r>
            <a:r>
              <a:rPr lang="en-US" altLang="zh-CN" sz="1600" kern="100" dirty="0" err="1">
                <a:solidFill>
                  <a:srgbClr val="000000"/>
                </a:solidFill>
                <a:effectLst/>
                <a:latin typeface="Times New Roman" panose="02020603050405020304" pitchFamily="18" charset="0"/>
                <a:ea typeface="宋体" pitchFamily="2" charset="-122"/>
              </a:rPr>
              <a:t>r'C</a:t>
            </a:r>
            <a:r>
              <a:rPr lang="en-US" altLang="zh-CN" sz="1600" kern="100" dirty="0">
                <a:solidFill>
                  <a:srgbClr val="000000"/>
                </a:solidFill>
                <a:effectLst/>
                <a:latin typeface="Times New Roman" panose="02020603050405020304" pitchFamily="18" charset="0"/>
                <a:ea typeface="宋体" pitchFamily="2" charset="-122"/>
              </a:rPr>
              <a:t>:\Users\</a:t>
            </a:r>
            <a:r>
              <a:rPr lang="en-US" altLang="zh-CN" sz="1600" kern="100" dirty="0" err="1">
                <a:solidFill>
                  <a:srgbClr val="000000"/>
                </a:solidFill>
                <a:effectLst/>
                <a:latin typeface="Times New Roman" panose="02020603050405020304" pitchFamily="18" charset="0"/>
                <a:ea typeface="宋体" pitchFamily="2" charset="-122"/>
              </a:rPr>
              <a:t>lenovo</a:t>
            </a:r>
            <a:r>
              <a:rPr lang="en-US" altLang="zh-CN" sz="1600" kern="100" dirty="0">
                <a:solidFill>
                  <a:srgbClr val="000000"/>
                </a:solidFill>
                <a:effectLst/>
                <a:latin typeface="Times New Roman" panose="02020603050405020304" pitchFamily="18" charset="0"/>
                <a:ea typeface="宋体" pitchFamily="2" charset="-122"/>
              </a:rPr>
              <a:t>\Desktop\p2.png'</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image1 = </a:t>
            </a:r>
            <a:r>
              <a:rPr lang="en-US" altLang="zh-CN" sz="1600" kern="100" dirty="0" err="1">
                <a:solidFill>
                  <a:srgbClr val="000000"/>
                </a:solidFill>
                <a:effectLst/>
                <a:latin typeface="Times New Roman" panose="02020603050405020304" pitchFamily="18" charset="0"/>
                <a:ea typeface="宋体" pitchFamily="2" charset="-122"/>
              </a:rPr>
              <a:t>cv.imread</a:t>
            </a:r>
            <a:r>
              <a:rPr lang="en-US" altLang="zh-CN" sz="1600" kern="100" dirty="0">
                <a:solidFill>
                  <a:srgbClr val="000000"/>
                </a:solidFill>
                <a:effectLst/>
                <a:latin typeface="Times New Roman" panose="02020603050405020304" pitchFamily="18" charset="0"/>
                <a:ea typeface="宋体" pitchFamily="2" charset="-122"/>
              </a:rPr>
              <a:t>(imagePath1)</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image2 = </a:t>
            </a:r>
            <a:r>
              <a:rPr lang="en-US" altLang="zh-CN" sz="1600" kern="100" dirty="0" err="1">
                <a:solidFill>
                  <a:srgbClr val="000000"/>
                </a:solidFill>
                <a:effectLst/>
                <a:latin typeface="Times New Roman" panose="02020603050405020304" pitchFamily="18" charset="0"/>
                <a:ea typeface="宋体" pitchFamily="2" charset="-122"/>
              </a:rPr>
              <a:t>cv.imread</a:t>
            </a:r>
            <a:r>
              <a:rPr lang="en-US" altLang="zh-CN" sz="1600" kern="100" dirty="0">
                <a:solidFill>
                  <a:srgbClr val="000000"/>
                </a:solidFill>
                <a:effectLst/>
                <a:latin typeface="Times New Roman" panose="02020603050405020304" pitchFamily="18" charset="0"/>
                <a:ea typeface="宋体" pitchFamily="2" charset="-122"/>
              </a:rPr>
              <a:t>(imagePath2)</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image1 = </a:t>
            </a:r>
            <a:r>
              <a:rPr lang="en-US" altLang="zh-CN" sz="1600" kern="100" dirty="0" err="1">
                <a:solidFill>
                  <a:srgbClr val="000000"/>
                </a:solidFill>
                <a:effectLst/>
                <a:latin typeface="Times New Roman" panose="02020603050405020304" pitchFamily="18" charset="0"/>
                <a:ea typeface="宋体" pitchFamily="2" charset="-122"/>
              </a:rPr>
              <a:t>cv.cvtColor</a:t>
            </a:r>
            <a:r>
              <a:rPr lang="en-US" altLang="zh-CN" sz="1600" kern="100" dirty="0">
                <a:solidFill>
                  <a:srgbClr val="000000"/>
                </a:solidFill>
                <a:effectLst/>
                <a:latin typeface="Times New Roman" panose="02020603050405020304" pitchFamily="18" charset="0"/>
                <a:ea typeface="宋体" pitchFamily="2" charset="-122"/>
              </a:rPr>
              <a:t>(image1, cv.COLOR_BGR2GRAY)</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image2 = </a:t>
            </a:r>
            <a:r>
              <a:rPr lang="en-US" altLang="zh-CN" sz="1600" kern="100" dirty="0" err="1">
                <a:solidFill>
                  <a:srgbClr val="000000"/>
                </a:solidFill>
                <a:effectLst/>
                <a:latin typeface="Times New Roman" panose="02020603050405020304" pitchFamily="18" charset="0"/>
                <a:ea typeface="宋体" pitchFamily="2" charset="-122"/>
              </a:rPr>
              <a:t>cv.cvtColor</a:t>
            </a:r>
            <a:r>
              <a:rPr lang="en-US" altLang="zh-CN" sz="1600" kern="100" dirty="0">
                <a:solidFill>
                  <a:srgbClr val="000000"/>
                </a:solidFill>
                <a:effectLst/>
                <a:latin typeface="Times New Roman" panose="02020603050405020304" pitchFamily="18" charset="0"/>
                <a:ea typeface="宋体" pitchFamily="2" charset="-122"/>
              </a:rPr>
              <a:t>(image2, cv.COLOR_BGR2GRAY)</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reconImage1= PCA(image1, 0.9)   		#</a:t>
            </a:r>
            <a:r>
              <a:rPr lang="zh-CN" altLang="en-US" sz="1600" kern="100" dirty="0">
                <a:solidFill>
                  <a:srgbClr val="000000"/>
                </a:solidFill>
                <a:effectLst/>
                <a:latin typeface="Times New Roman" panose="02020603050405020304" pitchFamily="18" charset="0"/>
                <a:ea typeface="宋体" pitchFamily="2" charset="-122"/>
              </a:rPr>
              <a:t>对于图片</a:t>
            </a:r>
            <a:r>
              <a:rPr lang="en-US" altLang="zh-CN" sz="1600" kern="100" dirty="0">
                <a:solidFill>
                  <a:srgbClr val="000000"/>
                </a:solidFill>
                <a:effectLst/>
                <a:latin typeface="Times New Roman" panose="02020603050405020304" pitchFamily="18" charset="0"/>
                <a:ea typeface="宋体" pitchFamily="2" charset="-122"/>
              </a:rPr>
              <a:t>1</a:t>
            </a:r>
            <a:r>
              <a:rPr lang="zh-CN" altLang="en-US" sz="1600" kern="100" dirty="0">
                <a:solidFill>
                  <a:srgbClr val="000000"/>
                </a:solidFill>
                <a:effectLst/>
                <a:latin typeface="Times New Roman" panose="02020603050405020304" pitchFamily="18" charset="0"/>
                <a:ea typeface="宋体" pitchFamily="2" charset="-122"/>
              </a:rPr>
              <a:t>保留</a:t>
            </a:r>
            <a:r>
              <a:rPr lang="en-US" altLang="zh-CN" sz="1600" kern="100" dirty="0">
                <a:solidFill>
                  <a:srgbClr val="000000"/>
                </a:solidFill>
                <a:effectLst/>
                <a:latin typeface="Times New Roman" panose="02020603050405020304" pitchFamily="18" charset="0"/>
                <a:ea typeface="宋体" pitchFamily="2" charset="-122"/>
              </a:rPr>
              <a:t>90%</a:t>
            </a:r>
            <a:r>
              <a:rPr lang="zh-CN" altLang="en-US" sz="1600" kern="100" dirty="0">
                <a:solidFill>
                  <a:srgbClr val="000000"/>
                </a:solidFill>
                <a:effectLst/>
                <a:latin typeface="Times New Roman" panose="02020603050405020304" pitchFamily="18" charset="0"/>
                <a:ea typeface="宋体" pitchFamily="2" charset="-122"/>
              </a:rPr>
              <a:t>的主成分</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reconImage2= PCA(image2, 0.8)   		#</a:t>
            </a:r>
            <a:r>
              <a:rPr lang="zh-CN" altLang="en-US" sz="1600" kern="100" dirty="0">
                <a:solidFill>
                  <a:srgbClr val="000000"/>
                </a:solidFill>
                <a:effectLst/>
                <a:latin typeface="Times New Roman" panose="02020603050405020304" pitchFamily="18" charset="0"/>
                <a:ea typeface="宋体" pitchFamily="2" charset="-122"/>
              </a:rPr>
              <a:t>对于图片</a:t>
            </a:r>
            <a:r>
              <a:rPr lang="en-US" altLang="zh-CN" sz="1600" kern="100" dirty="0">
                <a:solidFill>
                  <a:srgbClr val="000000"/>
                </a:solidFill>
                <a:effectLst/>
                <a:latin typeface="Times New Roman" panose="02020603050405020304" pitchFamily="18" charset="0"/>
                <a:ea typeface="宋体" pitchFamily="2" charset="-122"/>
              </a:rPr>
              <a:t>1</a:t>
            </a:r>
            <a:r>
              <a:rPr lang="zh-CN" altLang="en-US" sz="1600" kern="100" dirty="0">
                <a:solidFill>
                  <a:srgbClr val="000000"/>
                </a:solidFill>
                <a:effectLst/>
                <a:latin typeface="Times New Roman" panose="02020603050405020304" pitchFamily="18" charset="0"/>
                <a:ea typeface="宋体" pitchFamily="2" charset="-122"/>
              </a:rPr>
              <a:t>保留</a:t>
            </a:r>
            <a:r>
              <a:rPr lang="en-US" altLang="zh-CN" sz="1600" kern="100" dirty="0">
                <a:solidFill>
                  <a:srgbClr val="000000"/>
                </a:solidFill>
                <a:effectLst/>
                <a:latin typeface="Times New Roman" panose="02020603050405020304" pitchFamily="18" charset="0"/>
                <a:ea typeface="宋体" pitchFamily="2" charset="-122"/>
              </a:rPr>
              <a:t>80%</a:t>
            </a:r>
            <a:r>
              <a:rPr lang="zh-CN" altLang="en-US" sz="1600" kern="100" dirty="0">
                <a:solidFill>
                  <a:srgbClr val="000000"/>
                </a:solidFill>
                <a:effectLst/>
                <a:latin typeface="Times New Roman" panose="02020603050405020304" pitchFamily="18" charset="0"/>
                <a:ea typeface="宋体" pitchFamily="2" charset="-122"/>
              </a:rPr>
              <a:t>的主成分</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reconImage1= reconImage1.astype(np.uint8)</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reconImage2= reconImage2.astype(np.uint8)</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cv.imshow</a:t>
            </a:r>
            <a:r>
              <a:rPr lang="en-US" altLang="zh-CN" sz="1600" kern="100" dirty="0">
                <a:solidFill>
                  <a:srgbClr val="000000"/>
                </a:solidFill>
                <a:effectLst/>
                <a:latin typeface="Times New Roman" panose="02020603050405020304" pitchFamily="18" charset="0"/>
                <a:ea typeface="宋体" pitchFamily="2" charset="-122"/>
              </a:rPr>
              <a:t>('Original Image1', image1)</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cv.imshow</a:t>
            </a:r>
            <a:r>
              <a:rPr lang="en-US" altLang="zh-CN" sz="1600" kern="100" dirty="0">
                <a:solidFill>
                  <a:srgbClr val="000000"/>
                </a:solidFill>
                <a:effectLst/>
                <a:latin typeface="Times New Roman" panose="02020603050405020304" pitchFamily="18" charset="0"/>
                <a:ea typeface="宋体" pitchFamily="2" charset="-122"/>
              </a:rPr>
              <a:t>('Original Image2', image2)</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cv.imshow</a:t>
            </a:r>
            <a:r>
              <a:rPr lang="en-US" altLang="zh-CN" sz="1600" kern="100" dirty="0">
                <a:solidFill>
                  <a:srgbClr val="000000"/>
                </a:solidFill>
                <a:effectLst/>
                <a:latin typeface="Times New Roman" panose="02020603050405020304" pitchFamily="18" charset="0"/>
                <a:ea typeface="宋体" pitchFamily="2" charset="-122"/>
              </a:rPr>
              <a:t>('test1', reconImage1)</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cv.imshow</a:t>
            </a:r>
            <a:r>
              <a:rPr lang="en-US" altLang="zh-CN" sz="1600" kern="100" dirty="0">
                <a:solidFill>
                  <a:srgbClr val="000000"/>
                </a:solidFill>
                <a:effectLst/>
                <a:latin typeface="Times New Roman" panose="02020603050405020304" pitchFamily="18" charset="0"/>
                <a:ea typeface="宋体" pitchFamily="2" charset="-122"/>
              </a:rPr>
              <a:t>('test2', reconImage2)</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cv.waitKey</a:t>
            </a:r>
            <a:r>
              <a:rPr lang="en-US" altLang="zh-CN" sz="1600" kern="100" dirty="0">
                <a:solidFill>
                  <a:srgbClr val="000000"/>
                </a:solidFill>
                <a:effectLst/>
                <a:latin typeface="Times New Roman" panose="02020603050405020304" pitchFamily="18" charset="0"/>
                <a:ea typeface="宋体" pitchFamily="2" charset="-122"/>
              </a:rPr>
              <a:t>(0)</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cv.destroyAllWindows</a:t>
            </a:r>
            <a:r>
              <a:rPr lang="en-US" altLang="zh-CN" sz="1600" kern="100" dirty="0">
                <a:solidFill>
                  <a:srgbClr val="000000"/>
                </a:solidFill>
                <a:effectLst/>
                <a:latin typeface="Times New Roman" panose="02020603050405020304" pitchFamily="18" charset="0"/>
                <a:ea typeface="宋体" pitchFamily="2" charset="-122"/>
              </a:rPr>
              <a:t>()</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if __name__ == '__main__':</a:t>
            </a:r>
            <a:endParaRPr lang="en-US" altLang="zh-CN" sz="16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6445653" cy="1062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9.7</a:t>
            </a:r>
            <a:r>
              <a:rPr lang="zh-CN" altLang="en-US" sz="2100" b="1" dirty="0">
                <a:solidFill>
                  <a:schemeClr val="tx1">
                    <a:lumMod val="75000"/>
                    <a:lumOff val="25000"/>
                  </a:schemeClr>
                </a:solidFill>
                <a:latin typeface="微软雅黑" panose="020B0503020204020204" pitchFamily="34" charset="-122"/>
              </a:rPr>
              <a:t>数据降维算法</a:t>
            </a:r>
            <a:endParaRPr lang="zh-CN" altLang="en-US" sz="2100" b="1" dirty="0">
              <a:solidFill>
                <a:schemeClr val="tx1">
                  <a:lumMod val="75000"/>
                  <a:lumOff val="25000"/>
                </a:schemeClr>
              </a:solidFill>
              <a:latin typeface="微软雅黑" panose="020B0503020204020204" pitchFamily="34" charset="-122"/>
            </a:endParaRPr>
          </a:p>
          <a:p>
            <a:endParaRPr lang="zh-CN" altLang="en-US" sz="2100" b="1" dirty="0">
              <a:solidFill>
                <a:schemeClr val="tx1">
                  <a:lumMod val="75000"/>
                  <a:lumOff val="25000"/>
                </a:schemeClr>
              </a:solidFill>
              <a:latin typeface="微软雅黑" panose="020B0503020204020204" pitchFamily="34" charset="-122"/>
            </a:endParaRPr>
          </a:p>
          <a:p>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35718" y="1383953"/>
            <a:ext cx="5976664" cy="461665"/>
          </a:xfrm>
          <a:prstGeom prst="rect">
            <a:avLst/>
          </a:prstGeom>
          <a:noFill/>
        </p:spPr>
        <p:txBody>
          <a:bodyPr wrap="square">
            <a:spAutoFit/>
          </a:bodyPr>
          <a:lstStyle/>
          <a:p>
            <a:pPr indent="266700" algn="just"/>
            <a:r>
              <a:rPr lang="zh-CN" altLang="en-US" sz="2400" b="1" kern="100" dirty="0">
                <a:effectLst/>
                <a:latin typeface="Times New Roman" panose="02020603050405020304" pitchFamily="18" charset="0"/>
                <a:ea typeface="宋体" pitchFamily="2" charset="-122"/>
              </a:rPr>
              <a:t>上述程序的运行结果如图</a:t>
            </a:r>
            <a:r>
              <a:rPr lang="en-US" altLang="zh-CN" sz="2400" b="1" kern="100" dirty="0">
                <a:effectLst/>
                <a:latin typeface="Times New Roman" panose="02020603050405020304" pitchFamily="18" charset="0"/>
                <a:ea typeface="宋体" pitchFamily="2" charset="-122"/>
              </a:rPr>
              <a:t>9.16</a:t>
            </a:r>
            <a:r>
              <a:rPr lang="zh-CN" altLang="en-US" sz="2400" b="1" kern="100" dirty="0">
                <a:effectLst/>
                <a:latin typeface="Times New Roman" panose="02020603050405020304" pitchFamily="18" charset="0"/>
                <a:ea typeface="宋体" pitchFamily="2" charset="-122"/>
              </a:rPr>
              <a:t>和</a:t>
            </a:r>
            <a:r>
              <a:rPr lang="en-US" altLang="zh-CN" sz="2400" b="1" kern="100" dirty="0">
                <a:effectLst/>
                <a:latin typeface="Times New Roman" panose="02020603050405020304" pitchFamily="18" charset="0"/>
                <a:ea typeface="宋体" pitchFamily="2" charset="-122"/>
              </a:rPr>
              <a:t>9.17</a:t>
            </a:r>
            <a:r>
              <a:rPr lang="zh-CN" altLang="en-US" sz="2400" b="1" kern="100" dirty="0">
                <a:effectLst/>
                <a:latin typeface="Times New Roman" panose="02020603050405020304" pitchFamily="18" charset="0"/>
                <a:ea typeface="宋体" pitchFamily="2" charset="-122"/>
              </a:rPr>
              <a:t>所示。</a:t>
            </a:r>
            <a:endParaRPr lang="zh-CN" altLang="zh-CN" sz="2400" b="1" kern="100" dirty="0">
              <a:effectLst/>
              <a:latin typeface="Times New Roman" panose="02020603050405020304" pitchFamily="18" charset="0"/>
              <a:ea typeface="宋体" pitchFamily="2" charset="-122"/>
            </a:endParaRPr>
          </a:p>
        </p:txBody>
      </p:sp>
      <p:pic>
        <p:nvPicPr>
          <p:cNvPr id="10" name="图片 9"/>
          <p:cNvPicPr>
            <a:picLocks noChangeAspect="1"/>
          </p:cNvPicPr>
          <p:nvPr/>
        </p:nvPicPr>
        <p:blipFill>
          <a:blip r:embed="rId1">
            <a:extLst>
              <a:ext uri="{28A0092B-C50C-407E-A947-70E740481C1C}">
                <a14:useLocalDpi xmlns:a14="http://schemas.microsoft.com/office/drawing/2010/main" val="0"/>
              </a:ext>
            </a:extLst>
          </a:blip>
          <a:srcRect t="-1" b="2602"/>
          <a:stretch>
            <a:fillRect/>
          </a:stretch>
        </p:blipFill>
        <p:spPr>
          <a:xfrm>
            <a:off x="438584" y="2096126"/>
            <a:ext cx="2045978" cy="2384169"/>
          </a:xfrm>
          <a:prstGeom prst="rect">
            <a:avLst/>
          </a:prstGeom>
          <a:noFill/>
          <a:ln>
            <a:noFill/>
          </a:ln>
        </p:spPr>
      </p:pic>
      <p:pic>
        <p:nvPicPr>
          <p:cNvPr id="11" name="图片 10"/>
          <p:cNvPicPr>
            <a:picLocks noChangeAspect="1"/>
          </p:cNvPicPr>
          <p:nvPr/>
        </p:nvPicPr>
        <p:blipFill>
          <a:blip r:embed="rId2">
            <a:extLst>
              <a:ext uri="{28A0092B-C50C-407E-A947-70E740481C1C}">
                <a14:useLocalDpi xmlns:a14="http://schemas.microsoft.com/office/drawing/2010/main" val="0"/>
              </a:ext>
            </a:extLst>
          </a:blip>
          <a:srcRect t="1" b="2964"/>
          <a:stretch>
            <a:fillRect/>
          </a:stretch>
        </p:blipFill>
        <p:spPr>
          <a:xfrm>
            <a:off x="2641730" y="2096128"/>
            <a:ext cx="2003072" cy="2384169"/>
          </a:xfrm>
          <a:prstGeom prst="rect">
            <a:avLst/>
          </a:prstGeom>
          <a:ln>
            <a:noFill/>
          </a:ln>
        </p:spPr>
      </p:pic>
      <p:pic>
        <p:nvPicPr>
          <p:cNvPr id="14" name="图片 13"/>
          <p:cNvPicPr>
            <a:picLocks noChangeAspect="1"/>
          </p:cNvPicPr>
          <p:nvPr/>
        </p:nvPicPr>
        <p:blipFill>
          <a:blip r:embed="rId3">
            <a:extLst>
              <a:ext uri="{28A0092B-C50C-407E-A947-70E740481C1C}">
                <a14:useLocalDpi xmlns:a14="http://schemas.microsoft.com/office/drawing/2010/main" val="0"/>
              </a:ext>
            </a:extLst>
          </a:blip>
          <a:srcRect b="3428"/>
          <a:stretch>
            <a:fillRect/>
          </a:stretch>
        </p:blipFill>
        <p:spPr>
          <a:xfrm>
            <a:off x="4801970" y="2074541"/>
            <a:ext cx="2003072" cy="2405756"/>
          </a:xfrm>
          <a:prstGeom prst="rect">
            <a:avLst/>
          </a:prstGeom>
          <a:noFill/>
          <a:ln>
            <a:noFill/>
          </a:ln>
        </p:spPr>
      </p:pic>
      <p:pic>
        <p:nvPicPr>
          <p:cNvPr id="15" name="图片 14"/>
          <p:cNvPicPr>
            <a:picLocks noChangeAspect="1"/>
          </p:cNvPicPr>
          <p:nvPr/>
        </p:nvPicPr>
        <p:blipFill>
          <a:blip r:embed="rId4">
            <a:extLst>
              <a:ext uri="{28A0092B-C50C-407E-A947-70E740481C1C}">
                <a14:useLocalDpi xmlns:a14="http://schemas.microsoft.com/office/drawing/2010/main" val="0"/>
              </a:ext>
            </a:extLst>
          </a:blip>
          <a:srcRect b="4409"/>
          <a:stretch>
            <a:fillRect/>
          </a:stretch>
        </p:blipFill>
        <p:spPr>
          <a:xfrm>
            <a:off x="6962210" y="2077656"/>
            <a:ext cx="2003072" cy="2402641"/>
          </a:xfrm>
          <a:prstGeom prst="rect">
            <a:avLst/>
          </a:prstGeom>
          <a:ln>
            <a:noFill/>
          </a:ln>
        </p:spPr>
      </p:pic>
      <p:sp>
        <p:nvSpPr>
          <p:cNvPr id="16" name="文本框 15"/>
          <p:cNvSpPr txBox="1"/>
          <p:nvPr/>
        </p:nvSpPr>
        <p:spPr>
          <a:xfrm>
            <a:off x="685125" y="4512235"/>
            <a:ext cx="1655421" cy="400110"/>
          </a:xfrm>
          <a:prstGeom prst="rect">
            <a:avLst/>
          </a:prstGeom>
          <a:noFill/>
        </p:spPr>
        <p:txBody>
          <a:bodyPr wrap="square">
            <a:spAutoFit/>
          </a:bodyPr>
          <a:lstStyle/>
          <a:p>
            <a:r>
              <a:rPr lang="en-US" altLang="zh-CN" sz="2000" dirty="0">
                <a:effectLst/>
                <a:latin typeface="宋体" pitchFamily="2" charset="-122"/>
                <a:cs typeface="宋体" pitchFamily="2" charset="-122"/>
              </a:rPr>
              <a:t>(a) </a:t>
            </a:r>
            <a:r>
              <a:rPr lang="zh-CN" altLang="zh-CN" sz="2000" dirty="0">
                <a:effectLst/>
                <a:ea typeface="宋体" pitchFamily="2" charset="-122"/>
                <a:cs typeface="宋体" pitchFamily="2" charset="-122"/>
              </a:rPr>
              <a:t>原图像</a:t>
            </a:r>
            <a:endParaRPr lang="zh-CN" altLang="en-US" sz="2000" dirty="0"/>
          </a:p>
        </p:txBody>
      </p:sp>
      <p:sp>
        <p:nvSpPr>
          <p:cNvPr id="17" name="文本框 16"/>
          <p:cNvSpPr txBox="1"/>
          <p:nvPr/>
        </p:nvSpPr>
        <p:spPr>
          <a:xfrm>
            <a:off x="2641729" y="4512235"/>
            <a:ext cx="2003073" cy="400110"/>
          </a:xfrm>
          <a:prstGeom prst="rect">
            <a:avLst/>
          </a:prstGeom>
          <a:noFill/>
        </p:spPr>
        <p:txBody>
          <a:bodyPr wrap="square">
            <a:spAutoFit/>
          </a:bodyPr>
          <a:lstStyle/>
          <a:p>
            <a:r>
              <a:rPr lang="en-US" altLang="zh-CN" sz="2000" dirty="0">
                <a:effectLst/>
                <a:latin typeface="宋体" pitchFamily="2" charset="-122"/>
                <a:cs typeface="宋体" pitchFamily="2" charset="-122"/>
              </a:rPr>
              <a:t>(b) </a:t>
            </a:r>
            <a:r>
              <a:rPr lang="zh-CN" altLang="zh-CN" sz="2000" dirty="0">
                <a:effectLst/>
                <a:ea typeface="宋体" pitchFamily="2" charset="-122"/>
                <a:cs typeface="宋体" pitchFamily="2" charset="-122"/>
              </a:rPr>
              <a:t>降维后结果</a:t>
            </a:r>
            <a:endParaRPr lang="zh-CN" altLang="en-US" sz="2000" dirty="0"/>
          </a:p>
        </p:txBody>
      </p:sp>
      <p:sp>
        <p:nvSpPr>
          <p:cNvPr id="19" name="文本框 18"/>
          <p:cNvSpPr txBox="1"/>
          <p:nvPr/>
        </p:nvSpPr>
        <p:spPr>
          <a:xfrm>
            <a:off x="4933597" y="4512235"/>
            <a:ext cx="1655421" cy="400110"/>
          </a:xfrm>
          <a:prstGeom prst="rect">
            <a:avLst/>
          </a:prstGeom>
          <a:noFill/>
        </p:spPr>
        <p:txBody>
          <a:bodyPr wrap="square">
            <a:spAutoFit/>
          </a:bodyPr>
          <a:lstStyle/>
          <a:p>
            <a:r>
              <a:rPr lang="en-US" altLang="zh-CN" sz="2000" dirty="0">
                <a:effectLst/>
                <a:latin typeface="宋体" pitchFamily="2" charset="-122"/>
                <a:cs typeface="宋体" pitchFamily="2" charset="-122"/>
              </a:rPr>
              <a:t>(c) </a:t>
            </a:r>
            <a:r>
              <a:rPr lang="zh-CN" altLang="zh-CN" sz="2000" dirty="0">
                <a:effectLst/>
                <a:ea typeface="宋体" pitchFamily="2" charset="-122"/>
                <a:cs typeface="宋体" pitchFamily="2" charset="-122"/>
              </a:rPr>
              <a:t>原图像</a:t>
            </a:r>
            <a:endParaRPr lang="zh-CN" altLang="en-US" sz="2000" dirty="0"/>
          </a:p>
        </p:txBody>
      </p:sp>
      <p:sp>
        <p:nvSpPr>
          <p:cNvPr id="21" name="文本框 20"/>
          <p:cNvSpPr txBox="1"/>
          <p:nvPr/>
        </p:nvSpPr>
        <p:spPr>
          <a:xfrm>
            <a:off x="6890201" y="4512235"/>
            <a:ext cx="2003073" cy="400110"/>
          </a:xfrm>
          <a:prstGeom prst="rect">
            <a:avLst/>
          </a:prstGeom>
          <a:noFill/>
        </p:spPr>
        <p:txBody>
          <a:bodyPr wrap="square">
            <a:spAutoFit/>
          </a:bodyPr>
          <a:lstStyle/>
          <a:p>
            <a:r>
              <a:rPr lang="en-US" altLang="zh-CN" sz="2000" dirty="0">
                <a:effectLst/>
                <a:latin typeface="宋体" pitchFamily="2" charset="-122"/>
                <a:cs typeface="宋体" pitchFamily="2" charset="-122"/>
              </a:rPr>
              <a:t>(d) </a:t>
            </a:r>
            <a:r>
              <a:rPr lang="zh-CN" altLang="zh-CN" sz="2000" dirty="0">
                <a:effectLst/>
                <a:ea typeface="宋体" pitchFamily="2" charset="-122"/>
                <a:cs typeface="宋体" pitchFamily="2" charset="-122"/>
              </a:rPr>
              <a:t>降维后结果</a:t>
            </a:r>
            <a:endParaRPr lang="zh-CN" altLang="en-US" sz="2000" dirty="0"/>
          </a:p>
        </p:txBody>
      </p:sp>
      <p:sp>
        <p:nvSpPr>
          <p:cNvPr id="23" name="文本框 22"/>
          <p:cNvSpPr txBox="1"/>
          <p:nvPr/>
        </p:nvSpPr>
        <p:spPr>
          <a:xfrm>
            <a:off x="1315333" y="5013970"/>
            <a:ext cx="6319965"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9.17  </a:t>
            </a:r>
            <a:r>
              <a:rPr lang="zh-CN" altLang="zh-CN" sz="2400" kern="100" dirty="0">
                <a:effectLst/>
                <a:latin typeface="Times New Roman" panose="02020603050405020304" pitchFamily="18" charset="0"/>
                <a:ea typeface="宋体" pitchFamily="2" charset="-122"/>
              </a:rPr>
              <a:t>保留</a:t>
            </a:r>
            <a:r>
              <a:rPr lang="en-US" altLang="zh-CN" sz="2400" kern="100" dirty="0">
                <a:effectLst/>
                <a:latin typeface="Times New Roman" panose="02020603050405020304" pitchFamily="18" charset="0"/>
                <a:ea typeface="宋体" pitchFamily="2" charset="-122"/>
              </a:rPr>
              <a:t>80%</a:t>
            </a:r>
            <a:r>
              <a:rPr lang="zh-CN" altLang="zh-CN" sz="2400" kern="100" dirty="0">
                <a:effectLst/>
                <a:latin typeface="Times New Roman" panose="02020603050405020304" pitchFamily="18" charset="0"/>
                <a:ea typeface="宋体" pitchFamily="2" charset="-122"/>
              </a:rPr>
              <a:t>主成分的</a:t>
            </a:r>
            <a:r>
              <a:rPr lang="en-US" altLang="zh-CN" sz="2400" kern="100" dirty="0">
                <a:effectLst/>
                <a:latin typeface="Times New Roman" panose="02020603050405020304" pitchFamily="18" charset="0"/>
                <a:ea typeface="宋体" pitchFamily="2" charset="-122"/>
              </a:rPr>
              <a:t>PCA</a:t>
            </a:r>
            <a:r>
              <a:rPr lang="zh-CN" altLang="zh-CN" sz="2400" kern="100" dirty="0">
                <a:effectLst/>
                <a:latin typeface="Times New Roman" panose="02020603050405020304" pitchFamily="18" charset="0"/>
                <a:ea typeface="宋体" pitchFamily="2" charset="-122"/>
              </a:rPr>
              <a:t>降维结果图</a:t>
            </a:r>
            <a:endParaRPr lang="zh-CN" altLang="zh-CN" sz="32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3997381"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9.8</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LBP</a:t>
            </a:r>
            <a:r>
              <a:rPr lang="zh-CN" altLang="en-US" sz="2100" b="1" dirty="0">
                <a:solidFill>
                  <a:schemeClr val="tx1">
                    <a:lumMod val="75000"/>
                    <a:lumOff val="25000"/>
                  </a:schemeClr>
                </a:solidFill>
                <a:latin typeface="微软雅黑" panose="020B0503020204020204" pitchFamily="34" charset="-122"/>
              </a:rPr>
              <a:t>特征的人脸识别</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内容占位符 2"/>
          <p:cNvSpPr txBox="1">
            <a:spLocks noChangeArrowheads="1"/>
          </p:cNvSpPr>
          <p:nvPr/>
        </p:nvSpPr>
        <p:spPr bwMode="auto">
          <a:xfrm>
            <a:off x="360326" y="837506"/>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9.8.1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图像识别</a:t>
            </a:r>
            <a:endParaRPr lang="en-US" altLang="zh-CN"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图像识别属于模式识别的一个分支。模式泛指一切随机和确定的事物、物体或者事件。模式识别是对这些随机和确定的事物、物体或者事件进行分类、识别、分析、理解和预测的过程。</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a:spLocks noChangeArrowheads="1"/>
          </p:cNvSpPr>
          <p:nvPr/>
        </p:nvSpPr>
        <p:spPr bwMode="auto">
          <a:xfrm>
            <a:off x="396330" y="3069754"/>
            <a:ext cx="8228013" cy="530969"/>
          </a:xfrm>
          <a:prstGeom prst="rect">
            <a:avLst/>
          </a:prstGeom>
          <a:noFill/>
          <a:ln>
            <a:noFill/>
          </a:ln>
          <a:effectLst/>
        </p:spPr>
        <p:txBody>
          <a:bodyPr lIns="91419" tIns="45709" rIns="91419" bIns="45709"/>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latin typeface="黑体" panose="02010609060101010101" pitchFamily="49" charset="-122"/>
                <a:ea typeface="黑体" panose="02010609060101010101" pitchFamily="49" charset="-122"/>
                <a:cs typeface="+mj-cs"/>
              </a:rPr>
              <a:t>基本概念</a:t>
            </a:r>
            <a:endParaRPr lang="zh-CN" altLang="en-US" sz="1600" b="1" dirty="0">
              <a:latin typeface="黑体" panose="02010609060101010101" pitchFamily="49" charset="-122"/>
              <a:ea typeface="黑体" panose="02010609060101010101" pitchFamily="49" charset="-122"/>
            </a:endParaRPr>
          </a:p>
        </p:txBody>
      </p:sp>
      <p:sp>
        <p:nvSpPr>
          <p:cNvPr id="12" name="内容占位符 2"/>
          <p:cNvSpPr txBox="1">
            <a:spLocks noChangeArrowheads="1"/>
          </p:cNvSpPr>
          <p:nvPr/>
        </p:nvSpPr>
        <p:spPr bwMode="auto">
          <a:xfrm>
            <a:off x="-2844030" y="3573810"/>
            <a:ext cx="11809312" cy="3844925"/>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599815" algn="l">
              <a:lnSpc>
                <a:spcPct val="100000"/>
              </a:lnSpc>
              <a:buClr>
                <a:srgbClr val="0070C0"/>
              </a:buClr>
              <a:buFont typeface="Wingdings" panose="05000000000000000000" pitchFamily="2" charset="2"/>
              <a:buChar char="n"/>
              <a:defRPr/>
            </a:pPr>
            <a:r>
              <a:rPr lang="zh-CN" altLang="en-US" dirty="0"/>
              <a:t>特征：一种模式区别于另外一种模式的本质特点或者特性，可以通过数据处理从模式中抽取出来。</a:t>
            </a:r>
            <a:endParaRPr lang="en-US" altLang="zh-CN" dirty="0"/>
          </a:p>
          <a:p>
            <a:pPr marL="3599815" algn="l">
              <a:lnSpc>
                <a:spcPct val="100000"/>
              </a:lnSpc>
              <a:buClr>
                <a:srgbClr val="0070C0"/>
              </a:buClr>
              <a:buFont typeface="Wingdings" panose="05000000000000000000" pitchFamily="2" charset="2"/>
              <a:buChar char="n"/>
              <a:defRPr/>
            </a:pPr>
            <a:r>
              <a:rPr lang="zh-CN" altLang="en-US" dirty="0"/>
              <a:t>类：具有相同特征模式的集合，一般具有相同的来源。</a:t>
            </a:r>
            <a:endParaRPr lang="en-US" altLang="zh-CN" dirty="0"/>
          </a:p>
          <a:p>
            <a:pPr marL="3599815" algn="l">
              <a:lnSpc>
                <a:spcPct val="100000"/>
              </a:lnSpc>
              <a:buClr>
                <a:srgbClr val="0070C0"/>
              </a:buClr>
              <a:buFont typeface="Wingdings" panose="05000000000000000000" pitchFamily="2" charset="2"/>
              <a:buChar char="n"/>
              <a:defRPr/>
            </a:pPr>
            <a:r>
              <a:rPr lang="zh-CN" altLang="en-US" dirty="0"/>
              <a:t>类标签：用来标识类的名字。</a:t>
            </a:r>
            <a:endParaRPr lang="en-US" altLang="zh-CN" dirty="0"/>
          </a:p>
          <a:p>
            <a:pPr marL="3599815" algn="l">
              <a:lnSpc>
                <a:spcPct val="100000"/>
              </a:lnSpc>
              <a:buClr>
                <a:srgbClr val="0070C0"/>
              </a:buClr>
              <a:buFont typeface="Wingdings" panose="05000000000000000000" pitchFamily="2" charset="2"/>
              <a:buChar char="n"/>
              <a:defRPr/>
            </a:pPr>
            <a:r>
              <a:rPr lang="zh-CN" altLang="en-US" dirty="0"/>
              <a:t>分类器：为进行分类或者识别而建立起来的一种数学模型，在进行分类和识别任务前需要先用训练样本训练分类器。</a:t>
            </a:r>
            <a:endParaRPr lang="en-US" altLang="zh-CN" dirty="0"/>
          </a:p>
          <a:p>
            <a:pPr marL="3599815" algn="l">
              <a:lnSpc>
                <a:spcPct val="100000"/>
              </a:lnSpc>
              <a:buClr>
                <a:srgbClr val="0070C0"/>
              </a:buClr>
              <a:buFont typeface="Wingdings" panose="05000000000000000000" pitchFamily="2" charset="2"/>
              <a:buChar char="n"/>
              <a:defRPr/>
            </a:pPr>
            <a:r>
              <a:rPr lang="zh-CN" altLang="zh-CN" kern="100" dirty="0">
                <a:effectLst/>
                <a:latin typeface="Times New Roman" panose="02020603050405020304" pitchFamily="18" charset="0"/>
                <a:ea typeface="宋体" pitchFamily="2" charset="-122"/>
                <a:cs typeface="Times New Roman" panose="02020603050405020304" pitchFamily="18" charset="0"/>
              </a:rPr>
              <a:t>训练样本：一些类别已知的样本，用于训练分类器</a:t>
            </a:r>
            <a:r>
              <a:rPr lang="zh-CN" altLang="zh-CN" sz="1800" kern="100" dirty="0">
                <a:effectLst/>
                <a:latin typeface="Times New Roman" panose="02020603050405020304" pitchFamily="18" charset="0"/>
                <a:ea typeface="宋体" pitchFamily="2" charset="-122"/>
                <a:cs typeface="Times New Roman" panose="02020603050405020304" pitchFamily="18" charset="0"/>
              </a:rPr>
              <a:t>。</a:t>
            </a:r>
            <a:endParaRPr lang="en-US" altLang="zh-CN" sz="2000" dirty="0"/>
          </a:p>
        </p:txBody>
      </p:sp>
    </p:spTree>
  </p:cSld>
  <p:clrMapOvr>
    <a:masterClrMapping/>
  </p:clrMapOvr>
  <p:transition spd="slow" advClick="0" advTm="0">
    <p:wip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3997381"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9.8</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LBP</a:t>
            </a:r>
            <a:r>
              <a:rPr lang="zh-CN" altLang="en-US" sz="2100" b="1" dirty="0">
                <a:solidFill>
                  <a:schemeClr val="tx1">
                    <a:lumMod val="75000"/>
                    <a:lumOff val="25000"/>
                  </a:schemeClr>
                </a:solidFill>
                <a:latin typeface="微软雅黑" panose="020B0503020204020204" pitchFamily="34" charset="-122"/>
              </a:rPr>
              <a:t>特征的人脸识别</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内容占位符 2"/>
          <p:cNvSpPr txBox="1">
            <a:spLocks noChangeArrowheads="1"/>
          </p:cNvSpPr>
          <p:nvPr/>
        </p:nvSpPr>
        <p:spPr bwMode="auto">
          <a:xfrm>
            <a:off x="360326" y="837506"/>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9.8.2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基于局部二值模式的人脸识别</a:t>
            </a:r>
            <a:endParaRPr lang="en-US" altLang="zh-CN"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a:t>
            </a:r>
            <a:r>
              <a:rPr lang="en-US" altLang="zh-CN" kern="100" dirty="0">
                <a:latin typeface="Times New Roman" panose="02020603050405020304" pitchFamily="18" charset="0"/>
                <a:ea typeface="宋体" pitchFamily="2" charset="-122"/>
                <a:cs typeface="Times New Roman" panose="02020603050405020304" pitchFamily="18" charset="0"/>
              </a:rPr>
              <a:t>ORL</a:t>
            </a:r>
            <a:r>
              <a:rPr lang="zh-CN" altLang="en-US" kern="100" dirty="0">
                <a:latin typeface="Times New Roman" panose="02020603050405020304" pitchFamily="18" charset="0"/>
                <a:ea typeface="宋体" pitchFamily="2" charset="-122"/>
                <a:cs typeface="Times New Roman" panose="02020603050405020304" pitchFamily="18" charset="0"/>
              </a:rPr>
              <a:t>人脸数据库是一个常用的测试人脸识别算法的标准数据库。该人脸数据库含有</a:t>
            </a:r>
            <a:r>
              <a:rPr lang="en-US" altLang="zh-CN" kern="100" dirty="0">
                <a:latin typeface="Times New Roman" panose="02020603050405020304" pitchFamily="18" charset="0"/>
                <a:ea typeface="宋体" pitchFamily="2" charset="-122"/>
                <a:cs typeface="Times New Roman" panose="02020603050405020304" pitchFamily="18" charset="0"/>
              </a:rPr>
              <a:t>40</a:t>
            </a:r>
            <a:r>
              <a:rPr lang="zh-CN" altLang="en-US" kern="100" dirty="0">
                <a:latin typeface="Times New Roman" panose="02020603050405020304" pitchFamily="18" charset="0"/>
                <a:ea typeface="宋体" pitchFamily="2" charset="-122"/>
                <a:cs typeface="Times New Roman" panose="02020603050405020304" pitchFamily="18" charset="0"/>
              </a:rPr>
              <a:t>个志愿者的共</a:t>
            </a:r>
            <a:r>
              <a:rPr lang="en-US" altLang="zh-CN" kern="100" dirty="0">
                <a:latin typeface="Times New Roman" panose="02020603050405020304" pitchFamily="18" charset="0"/>
                <a:ea typeface="宋体" pitchFamily="2" charset="-122"/>
                <a:cs typeface="Times New Roman" panose="02020603050405020304" pitchFamily="18" charset="0"/>
              </a:rPr>
              <a:t>400</a:t>
            </a:r>
            <a:r>
              <a:rPr lang="zh-CN" altLang="en-US" kern="100" dirty="0">
                <a:latin typeface="Times New Roman" panose="02020603050405020304" pitchFamily="18" charset="0"/>
                <a:ea typeface="宋体" pitchFamily="2" charset="-122"/>
                <a:cs typeface="Times New Roman" panose="02020603050405020304" pitchFamily="18" charset="0"/>
              </a:rPr>
              <a:t>张人脸图片，每个人</a:t>
            </a:r>
            <a:r>
              <a:rPr lang="en-US" altLang="zh-CN" kern="100" dirty="0">
                <a:latin typeface="Times New Roman" panose="02020603050405020304" pitchFamily="18" charset="0"/>
                <a:ea typeface="宋体" pitchFamily="2" charset="-122"/>
                <a:cs typeface="Times New Roman" panose="02020603050405020304" pitchFamily="18" charset="0"/>
              </a:rPr>
              <a:t>10</a:t>
            </a:r>
            <a:r>
              <a:rPr lang="zh-CN" altLang="en-US" kern="100" dirty="0">
                <a:latin typeface="Times New Roman" panose="02020603050405020304" pitchFamily="18" charset="0"/>
                <a:ea typeface="宋体" pitchFamily="2" charset="-122"/>
                <a:cs typeface="Times New Roman" panose="02020603050405020304" pitchFamily="18" charset="0"/>
              </a:rPr>
              <a:t>张图片。部分数据如图</a:t>
            </a:r>
            <a:r>
              <a:rPr lang="en-US" altLang="zh-CN" kern="100" dirty="0">
                <a:latin typeface="Times New Roman" panose="02020603050405020304" pitchFamily="18" charset="0"/>
                <a:ea typeface="宋体" pitchFamily="2" charset="-122"/>
                <a:cs typeface="Times New Roman" panose="02020603050405020304" pitchFamily="18" charset="0"/>
              </a:rPr>
              <a:t>9.18</a:t>
            </a:r>
            <a:r>
              <a:rPr lang="zh-CN" altLang="en-US" kern="100" dirty="0">
                <a:latin typeface="Times New Roman" panose="02020603050405020304" pitchFamily="18" charset="0"/>
                <a:ea typeface="宋体" pitchFamily="2" charset="-122"/>
                <a:cs typeface="Times New Roman" panose="02020603050405020304" pitchFamily="18" charset="0"/>
              </a:rPr>
              <a:t>所示。</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 name="图片 2"/>
          <p:cNvPicPr>
            <a:picLocks noChangeAspect="1"/>
          </p:cNvPicPr>
          <p:nvPr/>
        </p:nvPicPr>
        <p:blipFill>
          <a:blip r:embed="rId1"/>
          <a:stretch>
            <a:fillRect/>
          </a:stretch>
        </p:blipFill>
        <p:spPr>
          <a:xfrm>
            <a:off x="396330" y="2812912"/>
            <a:ext cx="8424936" cy="1264954"/>
          </a:xfrm>
          <a:prstGeom prst="rect">
            <a:avLst/>
          </a:prstGeom>
        </p:spPr>
      </p:pic>
      <p:sp>
        <p:nvSpPr>
          <p:cNvPr id="24" name="文本框 23"/>
          <p:cNvSpPr txBox="1"/>
          <p:nvPr/>
        </p:nvSpPr>
        <p:spPr>
          <a:xfrm>
            <a:off x="1980506" y="3924558"/>
            <a:ext cx="4585316" cy="369332"/>
          </a:xfrm>
          <a:prstGeom prst="rect">
            <a:avLst/>
          </a:prstGeom>
          <a:noFill/>
        </p:spPr>
        <p:txBody>
          <a:bodyPr wrap="square">
            <a:spAutoFit/>
          </a:bodyPr>
          <a:lstStyle/>
          <a:p>
            <a:pPr marL="228600" indent="127000" algn="ctr"/>
            <a:r>
              <a:rPr lang="en-US" altLang="zh-CN" sz="1800" kern="0" dirty="0">
                <a:effectLst/>
                <a:latin typeface="宋体" pitchFamily="2" charset="-122"/>
                <a:ea typeface="宋体" pitchFamily="2" charset="-122"/>
                <a:cs typeface="宋体" pitchFamily="2" charset="-122"/>
              </a:rPr>
              <a:t>(a)</a:t>
            </a:r>
            <a:r>
              <a:rPr lang="zh-CN" altLang="zh-CN" sz="1800" kern="0" dirty="0">
                <a:effectLst/>
                <a:latin typeface="Times New Roman" panose="02020603050405020304" pitchFamily="18" charset="0"/>
                <a:ea typeface="宋体" pitchFamily="2" charset="-122"/>
                <a:cs typeface="宋体" pitchFamily="2" charset="-122"/>
              </a:rPr>
              <a:t>第一个志愿者的照片</a:t>
            </a:r>
            <a:endParaRPr lang="zh-CN" altLang="zh-CN" sz="1800" kern="100" dirty="0">
              <a:effectLst/>
              <a:latin typeface="Times New Roman" panose="02020603050405020304" pitchFamily="18" charset="0"/>
              <a:ea typeface="宋体" pitchFamily="2" charset="-122"/>
            </a:endParaRPr>
          </a:p>
        </p:txBody>
      </p:sp>
      <p:pic>
        <p:nvPicPr>
          <p:cNvPr id="7" name="图片 6"/>
          <p:cNvPicPr>
            <a:picLocks noChangeAspect="1"/>
          </p:cNvPicPr>
          <p:nvPr/>
        </p:nvPicPr>
        <p:blipFill>
          <a:blip r:embed="rId2"/>
          <a:stretch>
            <a:fillRect/>
          </a:stretch>
        </p:blipFill>
        <p:spPr>
          <a:xfrm>
            <a:off x="396330" y="4190041"/>
            <a:ext cx="8365144" cy="1255977"/>
          </a:xfrm>
          <a:prstGeom prst="rect">
            <a:avLst/>
          </a:prstGeom>
        </p:spPr>
      </p:pic>
      <p:sp>
        <p:nvSpPr>
          <p:cNvPr id="27" name="文本框 26"/>
          <p:cNvSpPr txBox="1"/>
          <p:nvPr/>
        </p:nvSpPr>
        <p:spPr>
          <a:xfrm>
            <a:off x="2075710" y="5292710"/>
            <a:ext cx="4585316" cy="369332"/>
          </a:xfrm>
          <a:prstGeom prst="rect">
            <a:avLst/>
          </a:prstGeom>
          <a:noFill/>
        </p:spPr>
        <p:txBody>
          <a:bodyPr wrap="square">
            <a:spAutoFit/>
          </a:bodyPr>
          <a:lstStyle/>
          <a:p>
            <a:pPr indent="266700" algn="ctr"/>
            <a:r>
              <a:rPr lang="en-US" altLang="zh-CN" sz="1800" kern="0" dirty="0">
                <a:effectLst/>
                <a:latin typeface="宋体" pitchFamily="2" charset="-122"/>
                <a:ea typeface="宋体" pitchFamily="2" charset="-122"/>
                <a:cs typeface="宋体" pitchFamily="2" charset="-122"/>
              </a:rPr>
              <a:t>(b) </a:t>
            </a:r>
            <a:r>
              <a:rPr lang="zh-CN" altLang="zh-CN" sz="1800" kern="0" dirty="0">
                <a:effectLst/>
                <a:latin typeface="Times New Roman" panose="02020603050405020304" pitchFamily="18" charset="0"/>
                <a:ea typeface="宋体" pitchFamily="2" charset="-122"/>
                <a:cs typeface="宋体" pitchFamily="2" charset="-122"/>
              </a:rPr>
              <a:t>第二个志愿者的照片</a:t>
            </a:r>
            <a:endParaRPr lang="zh-CN" altLang="zh-CN" sz="1800" kern="100" dirty="0">
              <a:effectLst/>
              <a:latin typeface="Times New Roman" panose="02020603050405020304" pitchFamily="18" charset="0"/>
              <a:ea typeface="宋体" pitchFamily="2" charset="-122"/>
            </a:endParaRPr>
          </a:p>
        </p:txBody>
      </p:sp>
      <p:sp>
        <p:nvSpPr>
          <p:cNvPr id="31" name="文本框 30"/>
          <p:cNvSpPr txBox="1"/>
          <p:nvPr/>
        </p:nvSpPr>
        <p:spPr>
          <a:xfrm>
            <a:off x="996226" y="5662042"/>
            <a:ext cx="7153135"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9.18 ORL</a:t>
            </a:r>
            <a:r>
              <a:rPr lang="zh-CN" altLang="zh-CN" sz="2400" kern="100" dirty="0">
                <a:effectLst/>
                <a:latin typeface="Times New Roman" panose="02020603050405020304" pitchFamily="18" charset="0"/>
                <a:ea typeface="宋体" pitchFamily="2" charset="-122"/>
              </a:rPr>
              <a:t>人脸数据库中前两个志愿者的照片</a:t>
            </a:r>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73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9.8</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LBP</a:t>
            </a:r>
            <a:r>
              <a:rPr lang="zh-CN" altLang="en-US" sz="2100" b="1" dirty="0">
                <a:solidFill>
                  <a:schemeClr val="tx1">
                    <a:lumMod val="75000"/>
                    <a:lumOff val="25000"/>
                  </a:schemeClr>
                </a:solidFill>
                <a:latin typeface="微软雅黑" panose="020B0503020204020204" pitchFamily="34" charset="-122"/>
              </a:rPr>
              <a:t>特征的人脸识别</a:t>
            </a:r>
            <a:endParaRPr lang="zh-CN" altLang="en-US" sz="2100" b="1" dirty="0">
              <a:solidFill>
                <a:schemeClr val="tx1">
                  <a:lumMod val="75000"/>
                  <a:lumOff val="25000"/>
                </a:schemeClr>
              </a:solidFill>
              <a:latin typeface="微软雅黑" panose="020B0503020204020204" pitchFamily="34" charset="-122"/>
            </a:endParaRPr>
          </a:p>
          <a:p>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内容占位符 2"/>
          <p:cNvSpPr txBox="1">
            <a:spLocks noChangeArrowheads="1"/>
          </p:cNvSpPr>
          <p:nvPr/>
        </p:nvSpPr>
        <p:spPr bwMode="auto">
          <a:xfrm>
            <a:off x="356530" y="1097038"/>
            <a:ext cx="8536743" cy="964604"/>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9.8.3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人脸识别代码实现</a:t>
            </a:r>
            <a:endParaRPr lang="en-US" altLang="zh-CN" b="1"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b="1"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采用</a:t>
            </a:r>
            <a:r>
              <a:rPr lang="en-US" altLang="zh-CN" kern="100" dirty="0">
                <a:latin typeface="Times New Roman" panose="02020603050405020304" pitchFamily="18" charset="0"/>
                <a:ea typeface="宋体" pitchFamily="2" charset="-122"/>
                <a:cs typeface="Times New Roman" panose="02020603050405020304" pitchFamily="18" charset="0"/>
              </a:rPr>
              <a:t>PCA</a:t>
            </a:r>
            <a:r>
              <a:rPr lang="zh-CN" altLang="en-US" kern="100" dirty="0">
                <a:latin typeface="Times New Roman" panose="02020603050405020304" pitchFamily="18" charset="0"/>
                <a:ea typeface="宋体" pitchFamily="2" charset="-122"/>
                <a:cs typeface="Times New Roman" panose="02020603050405020304" pitchFamily="18" charset="0"/>
              </a:rPr>
              <a:t>算法实现数据降维的代码如下：</a:t>
            </a: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12" name="文本框 11"/>
          <p:cNvSpPr txBox="1"/>
          <p:nvPr/>
        </p:nvSpPr>
        <p:spPr>
          <a:xfrm>
            <a:off x="612354" y="2001823"/>
            <a:ext cx="8064896" cy="4770537"/>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import cv2</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import </a:t>
            </a:r>
            <a:r>
              <a:rPr lang="en-US" altLang="zh-CN" sz="1600" kern="100" dirty="0" err="1">
                <a:solidFill>
                  <a:srgbClr val="000000"/>
                </a:solidFill>
                <a:effectLst/>
                <a:latin typeface="Times New Roman" panose="02020603050405020304" pitchFamily="18" charset="0"/>
                <a:ea typeface="宋体" pitchFamily="2" charset="-122"/>
              </a:rPr>
              <a:t>numpy</a:t>
            </a:r>
            <a:r>
              <a:rPr lang="en-US" altLang="zh-CN" sz="1600" kern="100" dirty="0">
                <a:solidFill>
                  <a:srgbClr val="000000"/>
                </a:solidFill>
                <a:effectLst/>
                <a:latin typeface="Times New Roman" panose="02020603050405020304" pitchFamily="18" charset="0"/>
                <a:ea typeface="宋体" pitchFamily="2" charset="-122"/>
              </a:rPr>
              <a:t> as np</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import </a:t>
            </a:r>
            <a:r>
              <a:rPr lang="en-US" altLang="zh-CN" sz="1600" kern="100" dirty="0" err="1">
                <a:solidFill>
                  <a:srgbClr val="000000"/>
                </a:solidFill>
                <a:effectLst/>
                <a:latin typeface="Times New Roman" panose="02020603050405020304" pitchFamily="18" charset="0"/>
                <a:ea typeface="宋体" pitchFamily="2" charset="-122"/>
              </a:rPr>
              <a:t>os</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effectLst/>
                <a:latin typeface="Times New Roman" panose="02020603050405020304" pitchFamily="18" charset="0"/>
                <a:ea typeface="宋体" pitchFamily="2" charset="-122"/>
              </a:rPr>
              <a:t> </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faces = [] # </a:t>
            </a:r>
            <a:r>
              <a:rPr lang="zh-CN" altLang="zh-CN" sz="1600" kern="100" dirty="0">
                <a:solidFill>
                  <a:srgbClr val="000000"/>
                </a:solidFill>
                <a:effectLst/>
                <a:latin typeface="Times New Roman" panose="02020603050405020304" pitchFamily="18" charset="0"/>
                <a:ea typeface="宋体" pitchFamily="2" charset="-122"/>
              </a:rPr>
              <a:t>人脸</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labels = [] # </a:t>
            </a:r>
            <a:r>
              <a:rPr lang="zh-CN" altLang="zh-CN" sz="1600" kern="100" dirty="0">
                <a:solidFill>
                  <a:srgbClr val="000000"/>
                </a:solidFill>
                <a:effectLst/>
                <a:latin typeface="Times New Roman" panose="02020603050405020304" pitchFamily="18" charset="0"/>
                <a:ea typeface="宋体" pitchFamily="2" charset="-122"/>
              </a:rPr>
              <a:t>标签</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labels_index</a:t>
            </a:r>
            <a:r>
              <a:rPr lang="en-US" altLang="zh-CN" sz="1600" kern="100" dirty="0">
                <a:solidFill>
                  <a:srgbClr val="000000"/>
                </a:solidFill>
                <a:effectLst/>
                <a:latin typeface="Times New Roman" panose="02020603050405020304" pitchFamily="18" charset="0"/>
                <a:ea typeface="宋体" pitchFamily="2" charset="-122"/>
              </a:rPr>
              <a:t> = 1</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names = {} # </a:t>
            </a:r>
            <a:r>
              <a:rPr lang="zh-CN" altLang="zh-CN" sz="1600" kern="100" dirty="0">
                <a:solidFill>
                  <a:srgbClr val="000000"/>
                </a:solidFill>
                <a:effectLst/>
                <a:latin typeface="Times New Roman" panose="02020603050405020304" pitchFamily="18" charset="0"/>
                <a:ea typeface="宋体" pitchFamily="2" charset="-122"/>
              </a:rPr>
              <a:t>标签到姓名的映射</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effectLst/>
                <a:latin typeface="Times New Roman" panose="02020603050405020304" pitchFamily="18" charset="0"/>
                <a:ea typeface="宋体" pitchFamily="2" charset="-122"/>
              </a:rPr>
              <a:t> </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zh-CN" altLang="zh-CN" sz="1600" kern="100" dirty="0">
                <a:solidFill>
                  <a:srgbClr val="000000"/>
                </a:solidFill>
                <a:effectLst/>
                <a:latin typeface="Times New Roman" panose="02020603050405020304" pitchFamily="18" charset="0"/>
                <a:ea typeface="宋体" pitchFamily="2" charset="-122"/>
              </a:rPr>
              <a:t>搜索目录内人脸图片并读取</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a:t>
            </a:r>
            <a:r>
              <a:rPr lang="en-US" altLang="zh-CN" sz="1600" kern="100" dirty="0" err="1">
                <a:solidFill>
                  <a:srgbClr val="000000"/>
                </a:solidFill>
                <a:effectLst/>
                <a:latin typeface="Times New Roman" panose="02020603050405020304" pitchFamily="18" charset="0"/>
                <a:ea typeface="宋体" pitchFamily="2" charset="-122"/>
              </a:rPr>
              <a:t>walk_dir</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dir_name</a:t>
            </a:r>
            <a:r>
              <a:rPr lang="en-US" altLang="zh-CN" sz="1600" kern="100" dirty="0">
                <a:solidFill>
                  <a:srgbClr val="000000"/>
                </a:solidFill>
                <a:effectLst/>
                <a:latin typeface="Times New Roman" panose="02020603050405020304" pitchFamily="18" charset="0"/>
                <a:ea typeface="宋体" pitchFamily="2" charset="-122"/>
              </a:rPr>
              <a:t>):</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global </a:t>
            </a:r>
            <a:r>
              <a:rPr lang="en-US" altLang="zh-CN" sz="1600" kern="100" dirty="0" err="1">
                <a:solidFill>
                  <a:srgbClr val="000000"/>
                </a:solidFill>
                <a:effectLst/>
                <a:latin typeface="Times New Roman" panose="02020603050405020304" pitchFamily="18" charset="0"/>
                <a:ea typeface="宋体" pitchFamily="2" charset="-122"/>
              </a:rPr>
              <a:t>labels_index</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files = </a:t>
            </a:r>
            <a:r>
              <a:rPr lang="en-US" altLang="zh-CN" sz="1600" kern="100" dirty="0" err="1">
                <a:solidFill>
                  <a:srgbClr val="000000"/>
                </a:solidFill>
                <a:effectLst/>
                <a:latin typeface="Times New Roman" panose="02020603050405020304" pitchFamily="18" charset="0"/>
                <a:ea typeface="宋体" pitchFamily="2" charset="-122"/>
              </a:rPr>
              <a:t>os.listdir</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dir_name</a:t>
            </a:r>
            <a:r>
              <a:rPr lang="en-US" altLang="zh-CN" sz="1600" kern="100" dirty="0">
                <a:solidFill>
                  <a:srgbClr val="000000"/>
                </a:solidFill>
                <a:effectLst/>
                <a:latin typeface="Times New Roman" panose="02020603050405020304" pitchFamily="18" charset="0"/>
                <a:ea typeface="宋体" pitchFamily="2" charset="-122"/>
              </a:rPr>
              <a:t>)    # </a:t>
            </a:r>
            <a:r>
              <a:rPr lang="zh-CN" altLang="zh-CN" sz="1600" kern="100" dirty="0">
                <a:solidFill>
                  <a:srgbClr val="000000"/>
                </a:solidFill>
                <a:effectLst/>
                <a:latin typeface="Times New Roman" panose="02020603050405020304" pitchFamily="18" charset="0"/>
                <a:ea typeface="宋体" pitchFamily="2" charset="-122"/>
              </a:rPr>
              <a:t>获取目录内人脸文件</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for file in files:</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if not </a:t>
            </a:r>
            <a:r>
              <a:rPr lang="en-US" altLang="zh-CN" sz="1600" kern="100" dirty="0" err="1">
                <a:solidFill>
                  <a:srgbClr val="000000"/>
                </a:solidFill>
                <a:effectLst/>
                <a:latin typeface="Times New Roman" panose="02020603050405020304" pitchFamily="18" charset="0"/>
                <a:ea typeface="宋体" pitchFamily="2" charset="-122"/>
              </a:rPr>
              <a:t>file.endswith</a:t>
            </a:r>
            <a:r>
              <a:rPr lang="en-US" altLang="zh-CN" sz="1600" kern="100" dirty="0">
                <a:solidFill>
                  <a:srgbClr val="000000"/>
                </a:solidFill>
                <a:effectLst/>
                <a:latin typeface="Times New Roman" panose="02020603050405020304" pitchFamily="18" charset="0"/>
                <a:ea typeface="宋体" pitchFamily="2" charset="-122"/>
              </a:rPr>
              <a:t>(".jpg"):</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continue</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image_path</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dir_name</a:t>
            </a:r>
            <a:r>
              <a:rPr lang="en-US" altLang="zh-CN" sz="1600" kern="100" dirty="0">
                <a:solidFill>
                  <a:srgbClr val="000000"/>
                </a:solidFill>
                <a:effectLst/>
                <a:latin typeface="Times New Roman" panose="02020603050405020304" pitchFamily="18" charset="0"/>
                <a:ea typeface="宋体" pitchFamily="2" charset="-122"/>
              </a:rPr>
              <a:t> + "/" + file  # </a:t>
            </a:r>
            <a:r>
              <a:rPr lang="zh-CN" altLang="zh-CN" sz="1600" kern="100" dirty="0">
                <a:solidFill>
                  <a:srgbClr val="000000"/>
                </a:solidFill>
                <a:effectLst/>
                <a:latin typeface="Times New Roman" panose="02020603050405020304" pitchFamily="18" charset="0"/>
                <a:ea typeface="宋体" pitchFamily="2" charset="-122"/>
              </a:rPr>
              <a:t>获取人脸文件路径</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print("Process file " + </a:t>
            </a:r>
            <a:r>
              <a:rPr lang="en-US" altLang="zh-CN" sz="1600" kern="100" dirty="0" err="1">
                <a:solidFill>
                  <a:srgbClr val="000000"/>
                </a:solidFill>
                <a:effectLst/>
                <a:latin typeface="Times New Roman" panose="02020603050405020304" pitchFamily="18" charset="0"/>
                <a:ea typeface="宋体" pitchFamily="2" charset="-122"/>
              </a:rPr>
              <a:t>image_path</a:t>
            </a:r>
            <a:r>
              <a:rPr lang="en-US" altLang="zh-CN" sz="1600" kern="100" dirty="0">
                <a:solidFill>
                  <a:srgbClr val="000000"/>
                </a:solidFill>
                <a:latin typeface="Times New Roman" panose="02020603050405020304" pitchFamily="18" charset="0"/>
                <a:ea typeface="宋体" pitchFamily="2" charset="-122"/>
              </a:rPr>
              <a:t>)</a:t>
            </a:r>
            <a:endParaRPr lang="en-US" altLang="zh-CN" sz="1600" kern="100" dirty="0">
              <a:solidFill>
                <a:srgbClr val="000000"/>
              </a:solidFill>
              <a:latin typeface="Times New Roman" panose="02020603050405020304" pitchFamily="18" charset="0"/>
              <a:ea typeface="宋体" pitchFamily="2" charset="-122"/>
            </a:endParaRPr>
          </a:p>
          <a:p>
            <a:pPr indent="266700" algn="just"/>
            <a:endParaRPr lang="en-US" altLang="zh-CN" sz="16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73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9.8</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LBP</a:t>
            </a:r>
            <a:r>
              <a:rPr lang="zh-CN" altLang="en-US" sz="2100" b="1" dirty="0">
                <a:solidFill>
                  <a:schemeClr val="tx1">
                    <a:lumMod val="75000"/>
                    <a:lumOff val="25000"/>
                  </a:schemeClr>
                </a:solidFill>
                <a:latin typeface="微软雅黑" panose="020B0503020204020204" pitchFamily="34" charset="-122"/>
              </a:rPr>
              <a:t>特征的人脸识别</a:t>
            </a:r>
            <a:endParaRPr lang="zh-CN" altLang="en-US" sz="2100" b="1" dirty="0">
              <a:solidFill>
                <a:schemeClr val="tx1">
                  <a:lumMod val="75000"/>
                  <a:lumOff val="25000"/>
                </a:schemeClr>
              </a:solidFill>
              <a:latin typeface="微软雅黑" panose="020B0503020204020204" pitchFamily="34" charset="-122"/>
            </a:endParaRPr>
          </a:p>
          <a:p>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612354" y="1281743"/>
            <a:ext cx="8064896" cy="5016758"/>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gray = cv2.imread(</a:t>
            </a:r>
            <a:r>
              <a:rPr lang="en-US" altLang="zh-CN" sz="1600" kern="100" dirty="0" err="1">
                <a:solidFill>
                  <a:srgbClr val="000000"/>
                </a:solidFill>
                <a:effectLst/>
                <a:latin typeface="Times New Roman" panose="02020603050405020304" pitchFamily="18" charset="0"/>
                <a:ea typeface="宋体" pitchFamily="2" charset="-122"/>
              </a:rPr>
              <a:t>image_path</a:t>
            </a:r>
            <a:r>
              <a:rPr lang="en-US" altLang="zh-CN" sz="1600" kern="100" dirty="0">
                <a:solidFill>
                  <a:srgbClr val="000000"/>
                </a:solidFill>
                <a:effectLst/>
                <a:latin typeface="Times New Roman" panose="02020603050405020304" pitchFamily="18" charset="0"/>
                <a:ea typeface="宋体" pitchFamily="2" charset="-122"/>
              </a:rPr>
              <a:t>)        # </a:t>
            </a:r>
            <a:r>
              <a:rPr lang="zh-CN" altLang="en-US" sz="1600" kern="100" dirty="0">
                <a:solidFill>
                  <a:srgbClr val="000000"/>
                </a:solidFill>
                <a:effectLst/>
                <a:latin typeface="Times New Roman" panose="02020603050405020304" pitchFamily="18" charset="0"/>
                <a:ea typeface="宋体" pitchFamily="2" charset="-122"/>
              </a:rPr>
              <a:t>读取人脸文件</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faces.append</a:t>
            </a:r>
            <a:r>
              <a:rPr lang="en-US" altLang="zh-CN" sz="1600" kern="100" dirty="0">
                <a:solidFill>
                  <a:srgbClr val="000000"/>
                </a:solidFill>
                <a:effectLst/>
                <a:latin typeface="Times New Roman" panose="02020603050405020304" pitchFamily="18" charset="0"/>
                <a:ea typeface="宋体" pitchFamily="2" charset="-122"/>
              </a:rPr>
              <a:t>(gray)</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labels.append</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labels_index</a:t>
            </a:r>
            <a:r>
              <a:rPr lang="en-US" altLang="zh-CN" sz="1600" kern="100" dirty="0">
                <a:solidFill>
                  <a:srgbClr val="000000"/>
                </a:solidFill>
                <a:effectLst/>
                <a:latin typeface="Times New Roman" panose="02020603050405020304" pitchFamily="18" charset="0"/>
                <a:ea typeface="宋体" pitchFamily="2" charset="-122"/>
              </a:rPr>
              <a:t>)</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names[</a:t>
            </a:r>
            <a:r>
              <a:rPr lang="en-US" altLang="zh-CN" sz="1600" kern="100" dirty="0" err="1">
                <a:solidFill>
                  <a:srgbClr val="000000"/>
                </a:solidFill>
                <a:effectLst/>
                <a:latin typeface="Times New Roman" panose="02020603050405020304" pitchFamily="18" charset="0"/>
                <a:ea typeface="宋体" pitchFamily="2" charset="-122"/>
              </a:rPr>
              <a:t>labels_index</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dir_name</a:t>
            </a:r>
            <a:r>
              <a:rPr lang="en-US" altLang="zh-CN" sz="1600" kern="100" dirty="0">
                <a:solidFill>
                  <a:srgbClr val="000000"/>
                </a:solidFill>
                <a:effectLst/>
                <a:latin typeface="Times New Roman" panose="02020603050405020304" pitchFamily="18" charset="0"/>
                <a:ea typeface="宋体" pitchFamily="2" charset="-122"/>
              </a:rPr>
              <a:t>  # </a:t>
            </a:r>
            <a:r>
              <a:rPr lang="zh-CN" altLang="en-US" sz="1600" kern="100" dirty="0">
                <a:solidFill>
                  <a:srgbClr val="000000"/>
                </a:solidFill>
                <a:effectLst/>
                <a:latin typeface="Times New Roman" panose="02020603050405020304" pitchFamily="18" charset="0"/>
                <a:ea typeface="宋体" pitchFamily="2" charset="-122"/>
              </a:rPr>
              <a:t>添加名称映射</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labels_index</a:t>
            </a:r>
            <a:r>
              <a:rPr lang="en-US" altLang="zh-CN" sz="1600" kern="100" dirty="0">
                <a:solidFill>
                  <a:srgbClr val="000000"/>
                </a:solidFill>
                <a:effectLst/>
                <a:latin typeface="Times New Roman" panose="02020603050405020304" pitchFamily="18" charset="0"/>
                <a:ea typeface="宋体" pitchFamily="2" charset="-122"/>
              </a:rPr>
              <a:t> += 1</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walk_dir</a:t>
            </a:r>
            <a:r>
              <a:rPr lang="en-US" altLang="zh-CN" sz="1600" kern="100" dirty="0">
                <a:solidFill>
                  <a:srgbClr val="000000"/>
                </a:solidFill>
                <a:effectLst/>
                <a:latin typeface="Times New Roman" panose="02020603050405020304" pitchFamily="18" charset="0"/>
                <a:ea typeface="宋体" pitchFamily="2" charset="-122"/>
              </a:rPr>
              <a:t>("person1")     # </a:t>
            </a:r>
            <a:r>
              <a:rPr lang="zh-CN" altLang="en-US" sz="1600" kern="100" dirty="0">
                <a:solidFill>
                  <a:srgbClr val="000000"/>
                </a:solidFill>
                <a:effectLst/>
                <a:latin typeface="Times New Roman" panose="02020603050405020304" pitchFamily="18" charset="0"/>
                <a:ea typeface="宋体" pitchFamily="2" charset="-122"/>
              </a:rPr>
              <a:t>获取人脸数据</a:t>
            </a:r>
            <a:r>
              <a:rPr lang="en-US" altLang="zh-CN" sz="1600" kern="100" dirty="0">
                <a:solidFill>
                  <a:srgbClr val="000000"/>
                </a:solidFill>
                <a:effectLst/>
                <a:latin typeface="Times New Roman" panose="02020603050405020304" pitchFamily="18" charset="0"/>
                <a:ea typeface="宋体" pitchFamily="2" charset="-122"/>
              </a:rPr>
              <a:t>1</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walk_dir</a:t>
            </a:r>
            <a:r>
              <a:rPr lang="en-US" altLang="zh-CN" sz="1600" kern="100" dirty="0">
                <a:solidFill>
                  <a:srgbClr val="000000"/>
                </a:solidFill>
                <a:effectLst/>
                <a:latin typeface="Times New Roman" panose="02020603050405020304" pitchFamily="18" charset="0"/>
                <a:ea typeface="宋体" pitchFamily="2" charset="-122"/>
              </a:rPr>
              <a:t>("person2")     # </a:t>
            </a:r>
            <a:r>
              <a:rPr lang="zh-CN" altLang="en-US" sz="1600" kern="100" dirty="0">
                <a:solidFill>
                  <a:srgbClr val="000000"/>
                </a:solidFill>
                <a:effectLst/>
                <a:latin typeface="Times New Roman" panose="02020603050405020304" pitchFamily="18" charset="0"/>
                <a:ea typeface="宋体" pitchFamily="2" charset="-122"/>
              </a:rPr>
              <a:t>获取人脸数据</a:t>
            </a:r>
            <a:r>
              <a:rPr lang="en-US" altLang="zh-CN" sz="1600" kern="100" dirty="0">
                <a:solidFill>
                  <a:srgbClr val="000000"/>
                </a:solidFill>
                <a:effectLst/>
                <a:latin typeface="Times New Roman" panose="02020603050405020304" pitchFamily="18" charset="0"/>
                <a:ea typeface="宋体" pitchFamily="2" charset="-122"/>
              </a:rPr>
              <a:t>2</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创建</a:t>
            </a:r>
            <a:r>
              <a:rPr lang="en-US" altLang="zh-CN" sz="1600" kern="100" dirty="0">
                <a:solidFill>
                  <a:srgbClr val="000000"/>
                </a:solidFill>
                <a:effectLst/>
                <a:latin typeface="Times New Roman" panose="02020603050405020304" pitchFamily="18" charset="0"/>
                <a:ea typeface="宋体" pitchFamily="2" charset="-122"/>
              </a:rPr>
              <a:t>LBP</a:t>
            </a:r>
            <a:r>
              <a:rPr lang="zh-CN" altLang="en-US" sz="1600" kern="100" dirty="0">
                <a:solidFill>
                  <a:srgbClr val="000000"/>
                </a:solidFill>
                <a:effectLst/>
                <a:latin typeface="Times New Roman" panose="02020603050405020304" pitchFamily="18" charset="0"/>
                <a:ea typeface="宋体" pitchFamily="2" charset="-122"/>
              </a:rPr>
              <a:t>识别器并开始训练</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print("training…..")</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face_recognizer</a:t>
            </a:r>
            <a:r>
              <a:rPr lang="en-US" altLang="zh-CN" sz="1600" kern="100" dirty="0">
                <a:solidFill>
                  <a:srgbClr val="000000"/>
                </a:solidFill>
                <a:effectLst/>
                <a:latin typeface="Times New Roman" panose="02020603050405020304" pitchFamily="18" charset="0"/>
                <a:ea typeface="宋体" pitchFamily="2" charset="-122"/>
              </a:rPr>
              <a:t> = cv2.face.LBPHFaceRecognizer_create()</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face_recognizer.train</a:t>
            </a:r>
            <a:r>
              <a:rPr lang="en-US" altLang="zh-CN" sz="1600" kern="100" dirty="0">
                <a:solidFill>
                  <a:srgbClr val="000000"/>
                </a:solidFill>
                <a:effectLst/>
                <a:latin typeface="Times New Roman" panose="02020603050405020304" pitchFamily="18" charset="0"/>
                <a:ea typeface="宋体" pitchFamily="2" charset="-122"/>
              </a:rPr>
              <a:t>(faces, </a:t>
            </a:r>
            <a:r>
              <a:rPr lang="en-US" altLang="zh-CN" sz="1600" kern="100" dirty="0" err="1">
                <a:solidFill>
                  <a:srgbClr val="000000"/>
                </a:solidFill>
                <a:effectLst/>
                <a:latin typeface="Times New Roman" panose="02020603050405020304" pitchFamily="18" charset="0"/>
                <a:ea typeface="宋体" pitchFamily="2" charset="-122"/>
              </a:rPr>
              <a:t>np.array</a:t>
            </a:r>
            <a:r>
              <a:rPr lang="en-US" altLang="zh-CN" sz="1600" kern="100" dirty="0">
                <a:solidFill>
                  <a:srgbClr val="000000"/>
                </a:solidFill>
                <a:effectLst/>
                <a:latin typeface="Times New Roman" panose="02020603050405020304" pitchFamily="18" charset="0"/>
                <a:ea typeface="宋体" pitchFamily="2" charset="-122"/>
              </a:rPr>
              <a:t>(labels))</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effectLst/>
                <a:latin typeface="Times New Roman" panose="02020603050405020304" pitchFamily="18" charset="0"/>
                <a:ea typeface="宋体" pitchFamily="2" charset="-122"/>
              </a:rPr>
              <a:t># </a:t>
            </a:r>
            <a:r>
              <a:rPr lang="zh-CN" altLang="en-US" sz="1600" kern="100" dirty="0">
                <a:effectLst/>
                <a:latin typeface="Times New Roman" panose="02020603050405020304" pitchFamily="18" charset="0"/>
                <a:ea typeface="宋体" pitchFamily="2" charset="-122"/>
              </a:rPr>
              <a:t>根据给定的</a:t>
            </a:r>
            <a:r>
              <a:rPr lang="en-US" altLang="zh-CN" sz="1600" kern="100" dirty="0">
                <a:effectLst/>
                <a:latin typeface="Times New Roman" panose="02020603050405020304" pitchFamily="18" charset="0"/>
                <a:ea typeface="宋体" pitchFamily="2" charset="-122"/>
              </a:rPr>
              <a:t>(x</a:t>
            </a:r>
            <a:r>
              <a:rPr lang="zh-CN" altLang="en-US" sz="1600" kern="100" dirty="0">
                <a:effectLst/>
                <a:latin typeface="Times New Roman" panose="02020603050405020304" pitchFamily="18" charset="0"/>
                <a:ea typeface="宋体" pitchFamily="2" charset="-122"/>
              </a:rPr>
              <a:t>，</a:t>
            </a:r>
            <a:r>
              <a:rPr lang="en-US" altLang="zh-CN" sz="1600" kern="100" dirty="0">
                <a:effectLst/>
                <a:latin typeface="Times New Roman" panose="02020603050405020304" pitchFamily="18" charset="0"/>
                <a:ea typeface="宋体" pitchFamily="2" charset="-122"/>
              </a:rPr>
              <a:t>y)</a:t>
            </a:r>
            <a:r>
              <a:rPr lang="zh-CN" altLang="en-US" sz="1600" kern="100" dirty="0">
                <a:effectLst/>
                <a:latin typeface="Times New Roman" panose="02020603050405020304" pitchFamily="18" charset="0"/>
                <a:ea typeface="宋体" pitchFamily="2" charset="-122"/>
              </a:rPr>
              <a:t>坐标标识出人名</a:t>
            </a:r>
            <a:endParaRPr lang="zh-CN" altLang="en-US" sz="1600" kern="100" dirty="0">
              <a:effectLst/>
              <a:latin typeface="Times New Roman" panose="02020603050405020304" pitchFamily="18" charset="0"/>
              <a:ea typeface="宋体" pitchFamily="2" charset="-122"/>
            </a:endParaRPr>
          </a:p>
          <a:p>
            <a:pPr indent="266700" algn="just"/>
            <a:r>
              <a:rPr lang="en-US" altLang="zh-CN" sz="1600" kern="100" dirty="0">
                <a:effectLst/>
                <a:latin typeface="Times New Roman" panose="02020603050405020304" pitchFamily="18" charset="0"/>
                <a:ea typeface="宋体" pitchFamily="2" charset="-122"/>
              </a:rPr>
              <a:t>def </a:t>
            </a:r>
            <a:r>
              <a:rPr lang="en-US" altLang="zh-CN" sz="1600" kern="100" dirty="0" err="1">
                <a:effectLst/>
                <a:latin typeface="Times New Roman" panose="02020603050405020304" pitchFamily="18" charset="0"/>
                <a:ea typeface="宋体" pitchFamily="2" charset="-122"/>
              </a:rPr>
              <a:t>draw_text</a:t>
            </a:r>
            <a:r>
              <a:rPr lang="en-US" altLang="zh-CN" sz="1600" kern="100" dirty="0">
                <a:effectLst/>
                <a:latin typeface="Times New Roman" panose="02020603050405020304" pitchFamily="18" charset="0"/>
                <a:ea typeface="宋体" pitchFamily="2" charset="-122"/>
              </a:rPr>
              <a:t>(</a:t>
            </a:r>
            <a:r>
              <a:rPr lang="en-US" altLang="zh-CN" sz="1600" kern="100" dirty="0" err="1">
                <a:effectLst/>
                <a:latin typeface="Times New Roman" panose="02020603050405020304" pitchFamily="18" charset="0"/>
                <a:ea typeface="宋体" pitchFamily="2" charset="-122"/>
              </a:rPr>
              <a:t>img</a:t>
            </a:r>
            <a:r>
              <a:rPr lang="en-US" altLang="zh-CN" sz="1600" kern="100" dirty="0">
                <a:effectLst/>
                <a:latin typeface="Times New Roman" panose="02020603050405020304" pitchFamily="18" charset="0"/>
                <a:ea typeface="宋体" pitchFamily="2" charset="-122"/>
              </a:rPr>
              <a:t>, text, x, y):</a:t>
            </a:r>
            <a:endParaRPr lang="en-US" altLang="zh-CN" sz="1600" kern="100" dirty="0">
              <a:effectLst/>
              <a:latin typeface="Times New Roman" panose="02020603050405020304" pitchFamily="18" charset="0"/>
              <a:ea typeface="宋体" pitchFamily="2" charset="-122"/>
            </a:endParaRPr>
          </a:p>
          <a:p>
            <a:pPr indent="266700" algn="just"/>
            <a:r>
              <a:rPr lang="en-US" altLang="zh-CN" sz="1600" kern="100" dirty="0">
                <a:effectLst/>
                <a:latin typeface="Times New Roman" panose="02020603050405020304" pitchFamily="18" charset="0"/>
                <a:ea typeface="宋体" pitchFamily="2" charset="-122"/>
              </a:rPr>
              <a:t>    cv2.putText(</a:t>
            </a:r>
            <a:r>
              <a:rPr lang="en-US" altLang="zh-CN" sz="1600" kern="100" dirty="0" err="1">
                <a:effectLst/>
                <a:latin typeface="Times New Roman" panose="02020603050405020304" pitchFamily="18" charset="0"/>
                <a:ea typeface="宋体" pitchFamily="2" charset="-122"/>
              </a:rPr>
              <a:t>img</a:t>
            </a:r>
            <a:r>
              <a:rPr lang="en-US" altLang="zh-CN" sz="1600" kern="100" dirty="0">
                <a:effectLst/>
                <a:latin typeface="Times New Roman" panose="02020603050405020304" pitchFamily="18" charset="0"/>
                <a:ea typeface="宋体" pitchFamily="2" charset="-122"/>
              </a:rPr>
              <a:t>, text, (x, y), cv2.FONT_HERSHEY_COMPLEX, 0.6, (128, 128, 0), 2)</a:t>
            </a:r>
            <a:endParaRPr lang="en-US" altLang="zh-CN" sz="1600" kern="100" dirty="0">
              <a:effectLst/>
              <a:latin typeface="Times New Roman" panose="02020603050405020304" pitchFamily="18" charset="0"/>
              <a:ea typeface="宋体" pitchFamily="2" charset="-122"/>
            </a:endParaRPr>
          </a:p>
          <a:p>
            <a:pPr indent="266700" algn="just"/>
            <a:endParaRPr lang="en-US" altLang="zh-CN" sz="1600" kern="100" dirty="0">
              <a:latin typeface="Times New Roman" panose="02020603050405020304" pitchFamily="18" charset="0"/>
              <a:ea typeface="宋体" pitchFamily="2" charset="-122"/>
            </a:endParaRPr>
          </a:p>
          <a:p>
            <a:pPr indent="266700" algn="just"/>
            <a:endParaRPr lang="en-US" altLang="zh-CN" sz="16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73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9.8</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LBP</a:t>
            </a:r>
            <a:r>
              <a:rPr lang="zh-CN" altLang="en-US" sz="2100" b="1" dirty="0">
                <a:solidFill>
                  <a:schemeClr val="tx1">
                    <a:lumMod val="75000"/>
                    <a:lumOff val="25000"/>
                  </a:schemeClr>
                </a:solidFill>
                <a:latin typeface="微软雅黑" panose="020B0503020204020204" pitchFamily="34" charset="-122"/>
              </a:rPr>
              <a:t>特征的人脸识别</a:t>
            </a:r>
            <a:endParaRPr lang="zh-CN" altLang="en-US" sz="2100" b="1" dirty="0">
              <a:solidFill>
                <a:schemeClr val="tx1">
                  <a:lumMod val="75000"/>
                  <a:lumOff val="25000"/>
                </a:schemeClr>
              </a:solidFill>
              <a:latin typeface="微软雅黑" panose="020B0503020204020204" pitchFamily="34" charset="-122"/>
            </a:endParaRPr>
          </a:p>
          <a:p>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612354" y="1263159"/>
            <a:ext cx="7848872" cy="5262979"/>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人脸识别</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predict(</a:t>
            </a:r>
            <a:r>
              <a:rPr lang="en-US" altLang="zh-CN" sz="1600" kern="100" dirty="0" err="1">
                <a:solidFill>
                  <a:srgbClr val="000000"/>
                </a:solidFill>
                <a:effectLst/>
                <a:latin typeface="Times New Roman" panose="02020603050405020304" pitchFamily="18" charset="0"/>
                <a:ea typeface="宋体" pitchFamily="2" charset="-122"/>
              </a:rPr>
              <a:t>test_img</a:t>
            </a:r>
            <a:r>
              <a:rPr lang="en-US" altLang="zh-CN" sz="1600" kern="100" dirty="0">
                <a:solidFill>
                  <a:srgbClr val="000000"/>
                </a:solidFill>
                <a:effectLst/>
                <a:latin typeface="Times New Roman" panose="02020603050405020304" pitchFamily="18" charset="0"/>
                <a:ea typeface="宋体" pitchFamily="2" charset="-122"/>
              </a:rPr>
              <a:t>):</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gray = </a:t>
            </a:r>
            <a:r>
              <a:rPr lang="en-US" altLang="zh-CN" sz="1600" kern="100" dirty="0" err="1">
                <a:solidFill>
                  <a:srgbClr val="000000"/>
                </a:solidFill>
                <a:effectLst/>
                <a:latin typeface="Times New Roman" panose="02020603050405020304" pitchFamily="18" charset="0"/>
                <a:ea typeface="宋体" pitchFamily="2" charset="-122"/>
              </a:rPr>
              <a:t>test_img.copy</a:t>
            </a:r>
            <a:r>
              <a:rPr lang="en-US" altLang="zh-CN" sz="1600" kern="100" dirty="0">
                <a:solidFill>
                  <a:srgbClr val="000000"/>
                </a:solidFill>
                <a:effectLst/>
                <a:latin typeface="Times New Roman" panose="02020603050405020304" pitchFamily="18" charset="0"/>
                <a:ea typeface="宋体" pitchFamily="2" charset="-122"/>
              </a:rPr>
              <a:t>()  		          # </a:t>
            </a:r>
            <a:r>
              <a:rPr lang="zh-CN" altLang="en-US" sz="1600" kern="100" dirty="0">
                <a:solidFill>
                  <a:srgbClr val="000000"/>
                </a:solidFill>
                <a:effectLst/>
                <a:latin typeface="Times New Roman" panose="02020603050405020304" pitchFamily="18" charset="0"/>
                <a:ea typeface="宋体" pitchFamily="2" charset="-122"/>
              </a:rPr>
              <a:t>生成图像的副本</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a:solidFill>
                  <a:srgbClr val="000000"/>
                </a:solidFill>
                <a:effectLst/>
                <a:latin typeface="Times New Roman" panose="02020603050405020304" pitchFamily="18" charset="0"/>
                <a:ea typeface="宋体" pitchFamily="2" charset="-122"/>
              </a:rPr>
              <a:t>label = </a:t>
            </a:r>
            <a:r>
              <a:rPr lang="en-US" altLang="zh-CN" sz="1600" kern="100" dirty="0" err="1">
                <a:solidFill>
                  <a:srgbClr val="000000"/>
                </a:solidFill>
                <a:effectLst/>
                <a:latin typeface="Times New Roman" panose="02020603050405020304" pitchFamily="18" charset="0"/>
                <a:ea typeface="宋体" pitchFamily="2" charset="-122"/>
              </a:rPr>
              <a:t>face_recognizer.predict</a:t>
            </a:r>
            <a:r>
              <a:rPr lang="en-US" altLang="zh-CN" sz="1600" kern="100" dirty="0">
                <a:solidFill>
                  <a:srgbClr val="000000"/>
                </a:solidFill>
                <a:effectLst/>
                <a:latin typeface="Times New Roman" panose="02020603050405020304" pitchFamily="18" charset="0"/>
                <a:ea typeface="宋体" pitchFamily="2" charset="-122"/>
              </a:rPr>
              <a:t>(gray)  	          # </a:t>
            </a:r>
            <a:r>
              <a:rPr lang="zh-CN" altLang="en-US" sz="1600" kern="100" dirty="0">
                <a:solidFill>
                  <a:srgbClr val="000000"/>
                </a:solidFill>
                <a:effectLst/>
                <a:latin typeface="Times New Roman" panose="02020603050405020304" pitchFamily="18" charset="0"/>
                <a:ea typeface="宋体" pitchFamily="2" charset="-122"/>
              </a:rPr>
              <a:t>预测人脸</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label_text</a:t>
            </a:r>
            <a:r>
              <a:rPr lang="en-US" altLang="zh-CN" sz="1600" kern="100" dirty="0">
                <a:solidFill>
                  <a:srgbClr val="000000"/>
                </a:solidFill>
                <a:effectLst/>
                <a:latin typeface="Times New Roman" panose="02020603050405020304" pitchFamily="18" charset="0"/>
                <a:ea typeface="宋体" pitchFamily="2" charset="-122"/>
              </a:rPr>
              <a:t> = names[label[0]] 		          # </a:t>
            </a:r>
            <a:r>
              <a:rPr lang="zh-CN" altLang="en-US" sz="1600" kern="100" dirty="0">
                <a:solidFill>
                  <a:srgbClr val="000000"/>
                </a:solidFill>
                <a:effectLst/>
                <a:latin typeface="Times New Roman" panose="02020603050405020304" pitchFamily="18" charset="0"/>
                <a:ea typeface="宋体" pitchFamily="2" charset="-122"/>
              </a:rPr>
              <a:t>获取名字</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draw_text</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img</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label_text</a:t>
            </a:r>
            <a:r>
              <a:rPr lang="en-US" altLang="zh-CN" sz="1600" kern="100" dirty="0">
                <a:solidFill>
                  <a:srgbClr val="000000"/>
                </a:solidFill>
                <a:effectLst/>
                <a:latin typeface="Times New Roman" panose="02020603050405020304" pitchFamily="18" charset="0"/>
                <a:ea typeface="宋体" pitchFamily="2" charset="-122"/>
              </a:rPr>
              <a:t>, 0, </a:t>
            </a:r>
            <a:r>
              <a:rPr lang="en-US" altLang="zh-CN" sz="1600" kern="100" dirty="0" err="1">
                <a:solidFill>
                  <a:srgbClr val="000000"/>
                </a:solidFill>
                <a:effectLst/>
                <a:latin typeface="Times New Roman" panose="02020603050405020304" pitchFamily="18" charset="0"/>
                <a:ea typeface="宋体" pitchFamily="2" charset="-122"/>
              </a:rPr>
              <a:t>test_img.shape</a:t>
            </a:r>
            <a:r>
              <a:rPr lang="en-US" altLang="zh-CN" sz="1600" kern="100" dirty="0">
                <a:solidFill>
                  <a:srgbClr val="000000"/>
                </a:solidFill>
                <a:effectLst/>
                <a:latin typeface="Times New Roman" panose="02020603050405020304" pitchFamily="18" charset="0"/>
                <a:ea typeface="宋体" pitchFamily="2" charset="-122"/>
              </a:rPr>
              <a:t>[0] - 5)   # </a:t>
            </a:r>
            <a:r>
              <a:rPr lang="zh-CN" altLang="en-US" sz="1600" kern="100" dirty="0">
                <a:solidFill>
                  <a:srgbClr val="000000"/>
                </a:solidFill>
                <a:effectLst/>
                <a:latin typeface="Times New Roman" panose="02020603050405020304" pitchFamily="18" charset="0"/>
                <a:ea typeface="宋体" pitchFamily="2" charset="-122"/>
              </a:rPr>
              <a:t>打印名字</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a:solidFill>
                  <a:srgbClr val="000000"/>
                </a:solidFill>
                <a:effectLst/>
                <a:latin typeface="Times New Roman" panose="02020603050405020304" pitchFamily="18" charset="0"/>
                <a:ea typeface="宋体" pitchFamily="2" charset="-122"/>
              </a:rPr>
              <a:t>return </a:t>
            </a:r>
            <a:r>
              <a:rPr lang="en-US" altLang="zh-CN" sz="1600" kern="100" dirty="0" err="1">
                <a:solidFill>
                  <a:srgbClr val="000000"/>
                </a:solidFill>
                <a:effectLst/>
                <a:latin typeface="Times New Roman" panose="02020603050405020304" pitchFamily="18" charset="0"/>
                <a:ea typeface="宋体" pitchFamily="2" charset="-122"/>
              </a:rPr>
              <a:t>img</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label_text</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加载测试图像</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test_img1 = cv2.imread("person1/7.jpg")</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test_img2 = cv2.imread("person2/3.jpg")</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执行预测</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print("</a:t>
            </a:r>
            <a:r>
              <a:rPr lang="en-US" altLang="zh-CN" sz="1600" kern="100" dirty="0" err="1">
                <a:solidFill>
                  <a:srgbClr val="000000"/>
                </a:solidFill>
                <a:effectLst/>
                <a:latin typeface="Times New Roman" panose="02020603050405020304" pitchFamily="18" charset="0"/>
                <a:ea typeface="宋体" pitchFamily="2" charset="-122"/>
              </a:rPr>
              <a:t>Perdict</a:t>
            </a:r>
            <a:r>
              <a:rPr lang="en-US" altLang="zh-CN" sz="1600" kern="100" dirty="0">
                <a:solidFill>
                  <a:srgbClr val="000000"/>
                </a:solidFill>
                <a:effectLst/>
                <a:latin typeface="Times New Roman" panose="02020603050405020304" pitchFamily="18" charset="0"/>
                <a:ea typeface="宋体" pitchFamily="2" charset="-122"/>
              </a:rPr>
              <a:t> test_img1")</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predicted_img1, name1 = predict(test_img1)</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print("</a:t>
            </a:r>
            <a:r>
              <a:rPr lang="en-US" altLang="zh-CN" sz="1600" kern="100" dirty="0" err="1">
                <a:solidFill>
                  <a:srgbClr val="000000"/>
                </a:solidFill>
                <a:effectLst/>
                <a:latin typeface="Times New Roman" panose="02020603050405020304" pitchFamily="18" charset="0"/>
                <a:ea typeface="宋体" pitchFamily="2" charset="-122"/>
              </a:rPr>
              <a:t>Perdict</a:t>
            </a:r>
            <a:r>
              <a:rPr lang="en-US" altLang="zh-CN" sz="1600" kern="100" dirty="0">
                <a:solidFill>
                  <a:srgbClr val="000000"/>
                </a:solidFill>
                <a:effectLst/>
                <a:latin typeface="Times New Roman" panose="02020603050405020304" pitchFamily="18" charset="0"/>
                <a:ea typeface="宋体" pitchFamily="2" charset="-122"/>
              </a:rPr>
              <a:t> test_img2")</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predicted_img2, name2 = predict(test_img2)</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显示两个图像</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cv2.imshow(name1, predicted_img1)</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cv2.imshow(name2, predicted_img2)</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cv2.waitKey(0)</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cv2.destroyAllWindows()</a:t>
            </a:r>
            <a:endParaRPr lang="en-US" altLang="zh-CN" sz="16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3853365"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9.8</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LBP</a:t>
            </a:r>
            <a:r>
              <a:rPr lang="zh-CN" altLang="en-US" sz="2100" b="1" dirty="0">
                <a:solidFill>
                  <a:schemeClr val="tx1">
                    <a:lumMod val="75000"/>
                    <a:lumOff val="25000"/>
                  </a:schemeClr>
                </a:solidFill>
                <a:latin typeface="微软雅黑" panose="020B0503020204020204" pitchFamily="34" charset="-122"/>
              </a:rPr>
              <a:t>特征的人脸识别</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167929"/>
            <a:ext cx="5462326" cy="461665"/>
          </a:xfrm>
          <a:prstGeom prst="rect">
            <a:avLst/>
          </a:prstGeom>
          <a:noFill/>
        </p:spPr>
        <p:txBody>
          <a:bodyPr wrap="square">
            <a:spAutoFit/>
          </a:bodyPr>
          <a:lstStyle/>
          <a:p>
            <a:pPr indent="266700" algn="just"/>
            <a:r>
              <a:rPr lang="zh-CN" altLang="en-US" sz="2400" kern="100" dirty="0">
                <a:effectLst/>
                <a:latin typeface="Times New Roman" panose="02020603050405020304" pitchFamily="18" charset="0"/>
                <a:ea typeface="宋体" pitchFamily="2" charset="-122"/>
              </a:rPr>
              <a:t>上述程序的运行结果如图</a:t>
            </a:r>
            <a:r>
              <a:rPr lang="en-US" altLang="zh-CN" sz="2400" kern="100" dirty="0">
                <a:effectLst/>
                <a:latin typeface="Times New Roman" panose="02020603050405020304" pitchFamily="18" charset="0"/>
                <a:ea typeface="宋体" pitchFamily="2" charset="-122"/>
              </a:rPr>
              <a:t>9.14</a:t>
            </a:r>
            <a:r>
              <a:rPr lang="zh-CN" altLang="en-US" sz="2400" kern="100" dirty="0">
                <a:effectLst/>
                <a:latin typeface="Times New Roman" panose="02020603050405020304" pitchFamily="18" charset="0"/>
                <a:ea typeface="宋体" pitchFamily="2" charset="-122"/>
              </a:rPr>
              <a:t>所示。</a:t>
            </a:r>
            <a:endParaRPr lang="zh-CN" altLang="zh-CN" sz="2400" kern="100" dirty="0">
              <a:effectLst/>
              <a:latin typeface="Times New Roman" panose="02020603050405020304" pitchFamily="18" charset="0"/>
              <a:ea typeface="宋体" pitchFamily="2" charset="-122"/>
            </a:endParaRPr>
          </a:p>
        </p:txBody>
      </p:sp>
      <p:sp>
        <p:nvSpPr>
          <p:cNvPr id="16" name="文本框 15"/>
          <p:cNvSpPr txBox="1"/>
          <p:nvPr/>
        </p:nvSpPr>
        <p:spPr>
          <a:xfrm>
            <a:off x="2052514" y="5076686"/>
            <a:ext cx="1456414" cy="369332"/>
          </a:xfrm>
          <a:prstGeom prst="rect">
            <a:avLst/>
          </a:prstGeom>
          <a:noFill/>
        </p:spPr>
        <p:txBody>
          <a:bodyPr wrap="square">
            <a:spAutoFit/>
          </a:bodyPr>
          <a:lstStyle/>
          <a:p>
            <a:r>
              <a:rPr lang="en-US" altLang="zh-CN" sz="1800" kern="100" dirty="0">
                <a:effectLst/>
                <a:latin typeface="Times New Roman" panose="02020603050405020304" pitchFamily="18" charset="0"/>
                <a:ea typeface="宋体" pitchFamily="2" charset="-122"/>
              </a:rPr>
              <a:t>(a)</a:t>
            </a:r>
            <a:r>
              <a:rPr lang="zh-CN" altLang="en-US" sz="1800" kern="100" dirty="0">
                <a:effectLst/>
                <a:latin typeface="Times New Roman" panose="02020603050405020304" pitchFamily="18" charset="0"/>
                <a:ea typeface="宋体" pitchFamily="2" charset="-122"/>
                <a:cs typeface="Times New Roman" panose="02020603050405020304" pitchFamily="18" charset="0"/>
              </a:rPr>
              <a:t>第一类</a:t>
            </a:r>
            <a:endParaRPr lang="zh-CN" altLang="en-US" sz="1800" dirty="0"/>
          </a:p>
        </p:txBody>
      </p:sp>
      <p:sp>
        <p:nvSpPr>
          <p:cNvPr id="17" name="文本框 16"/>
          <p:cNvSpPr txBox="1"/>
          <p:nvPr/>
        </p:nvSpPr>
        <p:spPr>
          <a:xfrm>
            <a:off x="5940946" y="5076686"/>
            <a:ext cx="1456414" cy="369332"/>
          </a:xfrm>
          <a:prstGeom prst="rect">
            <a:avLst/>
          </a:prstGeom>
          <a:noFill/>
        </p:spPr>
        <p:txBody>
          <a:bodyPr wrap="square">
            <a:spAutoFit/>
          </a:bodyPr>
          <a:lstStyle/>
          <a:p>
            <a:r>
              <a:rPr lang="en-US" altLang="zh-CN" sz="1800" kern="100" dirty="0">
                <a:effectLst/>
                <a:latin typeface="Times New Roman" panose="02020603050405020304" pitchFamily="18" charset="0"/>
                <a:ea typeface="宋体" pitchFamily="2" charset="-122"/>
              </a:rPr>
              <a:t>(b)</a:t>
            </a:r>
            <a:r>
              <a:rPr lang="zh-CN" altLang="en-US" sz="1800" kern="100" dirty="0">
                <a:effectLst/>
                <a:latin typeface="Times New Roman" panose="02020603050405020304" pitchFamily="18" charset="0"/>
                <a:ea typeface="宋体" pitchFamily="2" charset="-122"/>
                <a:cs typeface="Times New Roman" panose="02020603050405020304" pitchFamily="18" charset="0"/>
              </a:rPr>
              <a:t>第二类</a:t>
            </a:r>
            <a:endParaRPr lang="zh-CN" altLang="en-US" sz="1800" dirty="0"/>
          </a:p>
        </p:txBody>
      </p:sp>
      <p:sp>
        <p:nvSpPr>
          <p:cNvPr id="19" name="文本框 18"/>
          <p:cNvSpPr txBox="1"/>
          <p:nvPr/>
        </p:nvSpPr>
        <p:spPr>
          <a:xfrm>
            <a:off x="2052514" y="5446018"/>
            <a:ext cx="4680520" cy="461665"/>
          </a:xfrm>
          <a:prstGeom prst="rect">
            <a:avLst/>
          </a:prstGeom>
          <a:noFill/>
        </p:spPr>
        <p:txBody>
          <a:bodyPr wrap="square">
            <a:spAutoFit/>
          </a:bodyPr>
          <a:lstStyle/>
          <a:p>
            <a:pPr indent="266700" algn="ctr"/>
            <a:r>
              <a:rPr lang="zh-CN" altLang="en-US"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9.19   </a:t>
            </a:r>
            <a:r>
              <a:rPr lang="zh-CN" altLang="en-US" sz="2400" kern="100" dirty="0">
                <a:effectLst/>
                <a:latin typeface="Times New Roman" panose="02020603050405020304" pitchFamily="18" charset="0"/>
                <a:ea typeface="宋体" pitchFamily="2" charset="-122"/>
              </a:rPr>
              <a:t>人脸识别结果</a:t>
            </a:r>
            <a:endParaRPr lang="zh-CN" altLang="zh-CN" sz="3200" kern="100" dirty="0">
              <a:effectLst/>
              <a:latin typeface="Times New Roman" panose="02020603050405020304" pitchFamily="18" charset="0"/>
              <a:ea typeface="宋体" pitchFamily="2" charset="-122"/>
            </a:endParaRPr>
          </a:p>
        </p:txBody>
      </p:sp>
      <p:pic>
        <p:nvPicPr>
          <p:cNvPr id="18" name="图片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04442" y="1768871"/>
            <a:ext cx="2736304" cy="3332804"/>
          </a:xfrm>
          <a:prstGeom prst="rect">
            <a:avLst/>
          </a:prstGeom>
        </p:spPr>
      </p:pic>
      <p:pic>
        <p:nvPicPr>
          <p:cNvPr id="20" name="图片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8266" y="1769840"/>
            <a:ext cx="2736303" cy="3331808"/>
          </a:xfrm>
          <a:prstGeom prst="rect">
            <a:avLst/>
          </a:prstGeom>
        </p:spPr>
      </p:pic>
    </p:spTree>
  </p:cSld>
  <p:clrMapOvr>
    <a:masterClrMapping/>
  </p:clrMapOvr>
  <p:transition spd="slow" advClick="0" advTm="0">
    <p:wipe/>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自定义 81">
      <a:dk1>
        <a:sysClr val="windowText" lastClr="000000"/>
      </a:dk1>
      <a:lt1>
        <a:sysClr val="window" lastClr="FFFFFF"/>
      </a:lt1>
      <a:dk2>
        <a:srgbClr val="666666"/>
      </a:dk2>
      <a:lt2>
        <a:srgbClr val="D2D2D2"/>
      </a:lt2>
      <a:accent1>
        <a:srgbClr val="EF7768"/>
      </a:accent1>
      <a:accent2>
        <a:srgbClr val="C7C7C7"/>
      </a:accent2>
      <a:accent3>
        <a:srgbClr val="38B1BF"/>
      </a:accent3>
      <a:accent4>
        <a:srgbClr val="FF9933"/>
      </a:accent4>
      <a:accent5>
        <a:srgbClr val="7F7F7F"/>
      </a:accent5>
      <a:accent6>
        <a:srgbClr val="878787"/>
      </a:accent6>
      <a:hlink>
        <a:srgbClr val="006387"/>
      </a:hlink>
      <a:folHlink>
        <a:srgbClr val="8B8B8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我的主题色">
      <a:dk1>
        <a:sysClr val="windowText" lastClr="000000"/>
      </a:dk1>
      <a:lt1>
        <a:sysClr val="window" lastClr="FFFFFF"/>
      </a:lt1>
      <a:dk2>
        <a:srgbClr val="E6325C"/>
      </a:dk2>
      <a:lt2>
        <a:srgbClr val="E6325C"/>
      </a:lt2>
      <a:accent1>
        <a:srgbClr val="A3CD39"/>
      </a:accent1>
      <a:accent2>
        <a:srgbClr val="A3CD39"/>
      </a:accent2>
      <a:accent3>
        <a:srgbClr val="4EC0A5"/>
      </a:accent3>
      <a:accent4>
        <a:srgbClr val="4EC0A5"/>
      </a:accent4>
      <a:accent5>
        <a:srgbClr val="E4BE33"/>
      </a:accent5>
      <a:accent6>
        <a:srgbClr val="E4BE33"/>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极目远眺">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27579</Words>
  <Application>WPS 演示</Application>
  <PresentationFormat>自定义</PresentationFormat>
  <Paragraphs>1611</Paragraphs>
  <Slides>107</Slides>
  <Notes>103</Notes>
  <HiddenSlides>0</HiddenSlides>
  <MMClips>0</MMClips>
  <ScaleCrop>false</ScaleCrop>
  <HeadingPairs>
    <vt:vector size="8" baseType="variant">
      <vt:variant>
        <vt:lpstr>已用的字体</vt:lpstr>
      </vt:variant>
      <vt:variant>
        <vt:i4>30</vt:i4>
      </vt:variant>
      <vt:variant>
        <vt:lpstr>主题</vt:lpstr>
      </vt:variant>
      <vt:variant>
        <vt:i4>2</vt:i4>
      </vt:variant>
      <vt:variant>
        <vt:lpstr>嵌入 OLE 服务器</vt:lpstr>
      </vt:variant>
      <vt:variant>
        <vt:i4>3</vt:i4>
      </vt:variant>
      <vt:variant>
        <vt:lpstr>幻灯片标题</vt:lpstr>
      </vt:variant>
      <vt:variant>
        <vt:i4>107</vt:i4>
      </vt:variant>
    </vt:vector>
  </HeadingPairs>
  <TitlesOfParts>
    <vt:vector size="142" baseType="lpstr">
      <vt:lpstr>Arial</vt:lpstr>
      <vt:lpstr>宋体</vt:lpstr>
      <vt:lpstr>Wingdings</vt:lpstr>
      <vt:lpstr>微软雅黑</vt:lpstr>
      <vt:lpstr>汉仪旗黑</vt:lpstr>
      <vt:lpstr>Impact</vt:lpstr>
      <vt:lpstr>Calibri</vt:lpstr>
      <vt:lpstr>宋体</vt:lpstr>
      <vt:lpstr>Tahoma</vt:lpstr>
      <vt:lpstr>Eras Bold ITC</vt:lpstr>
      <vt:lpstr>微软雅黑</vt:lpstr>
      <vt:lpstr>Wingdings</vt:lpstr>
      <vt:lpstr>Helvetica Neue</vt:lpstr>
      <vt:lpstr>宋体</vt:lpstr>
      <vt:lpstr>Arial Unicode MS</vt:lpstr>
      <vt:lpstr>Times New Roman</vt:lpstr>
      <vt:lpstr>黑体</vt:lpstr>
      <vt:lpstr>Times New Roman</vt:lpstr>
      <vt:lpstr>Cambria Math</vt:lpstr>
      <vt:lpstr>DejaVu Math TeX Gyre</vt:lpstr>
      <vt:lpstr>楷体</vt:lpstr>
      <vt:lpstr>Times New Roman Regular</vt:lpstr>
      <vt:lpstr>等线</vt:lpstr>
      <vt:lpstr>汉仪书宋二KW</vt:lpstr>
      <vt:lpstr>苹方-简</vt:lpstr>
      <vt:lpstr>汉仪中黑KW</vt:lpstr>
      <vt:lpstr>Kingsoft Math</vt:lpstr>
      <vt:lpstr>Calibri</vt:lpstr>
      <vt:lpstr>汉仪楷体KW</vt:lpstr>
      <vt:lpstr>汉仪中等线KW</vt:lpstr>
      <vt:lpstr>Office 主题</vt:lpstr>
      <vt:lpstr>Office 主题​​</vt:lpstr>
      <vt:lpstr>Visio.Drawing.11</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HuaZaiA</dc:creator>
  <cp:keywords>更多模版：亮亮图文旗舰店https:/liangliangtuwen.tmall.com</cp:keywords>
  <dc:description>更多模版：亮亮图文旗舰店https://liangliangtuwen.tmall.com</dc:description>
  <dc:subject>亮亮图文旗舰店</dc:subject>
  <cp:lastModifiedBy>沉默家</cp:lastModifiedBy>
  <cp:revision>44</cp:revision>
  <dcterms:created xsi:type="dcterms:W3CDTF">2025-12-02T10:25:06Z</dcterms:created>
  <dcterms:modified xsi:type="dcterms:W3CDTF">2025-12-02T10:25:06Z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E3E35E5F40F3EDF395422569EF51AD9B_42</vt:lpwstr>
  </property>
  <property fmtid="{D5CDD505-2E9C-101B-9397-08002B2CF9AE}" pid="3" name="KSOProductBuildVer">
    <vt:lpwstr>2052-6.7.1.8828</vt:lpwstr>
  </property>
</Properties>
</file>