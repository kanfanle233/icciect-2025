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81" r:id="rId3"/>
    <p:sldId id="282" r:id="rId4"/>
    <p:sldId id="283" r:id="rId5"/>
    <p:sldId id="284" r:id="rId6"/>
    <p:sldId id="285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17"/>
    <p:restoredTop sz="92052"/>
  </p:normalViewPr>
  <p:slideViewPr>
    <p:cSldViewPr snapToGrid="0">
      <p:cViewPr varScale="1">
        <p:scale>
          <a:sx n="71" d="100"/>
          <a:sy n="71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903D5-07D8-4B47-B0CC-F700DAAF059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F3377-BCE2-5246-BA9A-379A7F9E419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RGB</a:t>
            </a:r>
            <a:r>
              <a:rPr kumimoji="1" lang="zh-CN" altLang="en-US" dirty="0"/>
              <a:t>三个通道的灰度图叠加就是彩色图。</a:t>
            </a:r>
            <a:endParaRPr kumimoji="1" lang="en-US" altLang="zh-CN" dirty="0"/>
          </a:p>
          <a:p>
            <a:r>
              <a:rPr kumimoji="1" lang="zh-CN" altLang="en-US" dirty="0"/>
              <a:t>彩色图转灰度图的方法，</a:t>
            </a:r>
            <a:r>
              <a:rPr kumimoji="1" lang="en-US" altLang="zh-CN" dirty="0"/>
              <a:t>1.</a:t>
            </a:r>
            <a:r>
              <a:rPr kumimoji="1" lang="zh-CN" altLang="en-US" dirty="0"/>
              <a:t>可以是抽取其中一个通道。</a:t>
            </a:r>
            <a:r>
              <a:rPr kumimoji="1" lang="en-US" altLang="zh-CN" dirty="0"/>
              <a:t>2.</a:t>
            </a:r>
            <a:r>
              <a:rPr kumimoji="1" lang="zh-CN" altLang="en-US" dirty="0"/>
              <a:t>三个通道加权求和。三个通道的权重来自人对色彩的敏感度设置的。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F3377-BCE2-5246-BA9A-379A7F9E419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p>
                <a:r>
                  <a:rPr lang="en-US" altLang="zh-CN"/>
                  <a:t>c</a:t>
                </a:r>
                <a:r>
                  <a:rPr lang="zh-CN" altLang="en-US"/>
                  <a:t>是常数值，通常取为</a:t>
                </a:r>
                <a:r>
                  <a:rPr lang="en-US" altLang="zh-CN"/>
                  <a:t>1.y</a:t>
                </a:r>
                <a:r>
                  <a:rPr lang="zh-CN" altLang="en-US"/>
                  <a:t>也是常数</a:t>
                </a:r>
                <a:r>
                  <a:rPr lang="en-US" altLang="zh-CN"/>
                  <a:t>.</a:t>
                </a:r>
                <a:r>
                  <a:rPr lang="zh-CN" altLang="en-US"/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𝛾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.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5</m:t>
                    </m:r>
                  </m:oMath>
                </a14:m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时，原值</a:t>
                </a:r>
                <a:r>
                  <a:rPr lang="en-US" altLang="zh-CN" i="1">
                    <a:latin typeface="DejaVu Math TeX Gyre" panose="02000503000000000000" charset="0"/>
                    <a:cs typeface="DejaVu Math TeX Gyre" panose="02000503000000000000" charset="0"/>
                  </a:rPr>
                  <a:t>=0.2</a:t>
                </a:r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，放缩之后变为</a:t>
                </a:r>
                <a:r>
                  <a:rPr lang="en-US" altLang="zh-CN" i="1">
                    <a:latin typeface="DejaVu Math TeX Gyre" panose="02000503000000000000" charset="0"/>
                    <a:cs typeface="DejaVu Math TeX Gyre" panose="02000503000000000000" charset="0"/>
                  </a:rPr>
                  <a:t>0.6</a:t>
                </a:r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，这样整幅图就</a:t>
                </a:r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变亮了。</a:t>
                </a:r>
                <a:endParaRPr lang="zh-CN" alt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971" y="325750"/>
            <a:ext cx="489077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81580" y="5458587"/>
            <a:ext cx="4598034" cy="249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6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kaggle.com/joosthazelzet/lego-brick-images?select=dataset" TargetMode="Externa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9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39" y="1"/>
            <a:ext cx="12179199" cy="6853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84" y="0"/>
            <a:ext cx="12176281" cy="6851656"/>
            <a:chOff x="3047" y="0"/>
            <a:chExt cx="1218755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" y="0"/>
              <a:ext cx="12187428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3106" y="132542"/>
            <a:ext cx="6496385" cy="939565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18460" algn="l"/>
              </a:tabLst>
            </a:pPr>
            <a:r>
              <a:rPr sz="5995" spc="295" dirty="0"/>
              <a:t>第</a:t>
            </a:r>
            <a:r>
              <a:rPr sz="5995" spc="754" dirty="0"/>
              <a:t>2</a:t>
            </a:r>
            <a:r>
              <a:rPr sz="5995" spc="909" dirty="0"/>
              <a:t>章</a:t>
            </a:r>
            <a:r>
              <a:rPr sz="5995" dirty="0"/>
              <a:t>	</a:t>
            </a:r>
            <a:r>
              <a:rPr sz="5995" spc="964" dirty="0"/>
              <a:t>图像基</a:t>
            </a:r>
            <a:r>
              <a:rPr sz="5995" spc="914" dirty="0"/>
              <a:t>础</a:t>
            </a:r>
            <a:endParaRPr sz="5995"/>
          </a:p>
        </p:txBody>
      </p:sp>
      <p:sp>
        <p:nvSpPr>
          <p:cNvPr id="8" name="object 8"/>
          <p:cNvSpPr txBox="1"/>
          <p:nvPr/>
        </p:nvSpPr>
        <p:spPr>
          <a:xfrm>
            <a:off x="1948211" y="1451719"/>
            <a:ext cx="5463561" cy="4412340"/>
          </a:xfrm>
          <a:prstGeom prst="rect">
            <a:avLst/>
          </a:prstGeom>
        </p:spPr>
        <p:txBody>
          <a:bodyPr vert="horz" wrap="square" lIns="0" tIns="256937" rIns="0" bIns="0" rtlCol="0">
            <a:spAutoFit/>
          </a:bodyPr>
          <a:lstStyle/>
          <a:p>
            <a:pPr marL="973455" lvl="1" indent="-960755">
              <a:spcBef>
                <a:spcPts val="2025"/>
              </a:spcBef>
              <a:buAutoNum type="arabicPeriod"/>
              <a:tabLst>
                <a:tab pos="972820" algn="l"/>
              </a:tabLst>
            </a:pPr>
            <a:r>
              <a:rPr sz="3195" spc="-20" dirty="0">
                <a:latin typeface="PMingLiU"/>
                <a:cs typeface="PMingLiU"/>
              </a:rPr>
              <a:t>二值图、灰度图、彩色图</a:t>
            </a:r>
            <a:endParaRPr sz="3195">
              <a:latin typeface="PMingLiU"/>
              <a:cs typeface="PMingLiU"/>
            </a:endParaRPr>
          </a:p>
          <a:p>
            <a:pPr marL="1037590" lvl="1" indent="-1024890">
              <a:spcBef>
                <a:spcPts val="1920"/>
              </a:spcBef>
              <a:buAutoNum type="arabicPeriod"/>
              <a:tabLst>
                <a:tab pos="1036955" algn="l"/>
              </a:tabLst>
            </a:pPr>
            <a:r>
              <a:rPr sz="3195" spc="-10" dirty="0">
                <a:latin typeface="PMingLiU"/>
                <a:cs typeface="PMingLiU"/>
              </a:rPr>
              <a:t>图像的矩阵表示</a:t>
            </a:r>
            <a:endParaRPr sz="3195">
              <a:latin typeface="PMingLiU"/>
              <a:cs typeface="PMingLiU"/>
            </a:endParaRPr>
          </a:p>
          <a:p>
            <a:pPr marL="1029970" lvl="1" indent="-1017270">
              <a:spcBef>
                <a:spcPts val="1920"/>
              </a:spcBef>
              <a:buAutoNum type="arabicPeriod"/>
              <a:tabLst>
                <a:tab pos="1029335" algn="l"/>
              </a:tabLst>
            </a:pPr>
            <a:r>
              <a:rPr sz="3195" spc="-15" dirty="0">
                <a:latin typeface="PMingLiU"/>
                <a:cs typeface="PMingLiU"/>
              </a:rPr>
              <a:t>图像相加、相减</a:t>
            </a:r>
            <a:endParaRPr sz="3195">
              <a:latin typeface="PMingLiU"/>
              <a:cs typeface="PMingLiU"/>
            </a:endParaRPr>
          </a:p>
          <a:p>
            <a:pPr marL="1054735" lvl="1" indent="-1042035">
              <a:spcBef>
                <a:spcPts val="1920"/>
              </a:spcBef>
              <a:buAutoNum type="arabicPeriod"/>
              <a:tabLst>
                <a:tab pos="1054100" algn="l"/>
              </a:tabLst>
            </a:pPr>
            <a:r>
              <a:rPr sz="3195" spc="-10" dirty="0">
                <a:latin typeface="PMingLiU"/>
                <a:cs typeface="PMingLiU"/>
              </a:rPr>
              <a:t>图像相乘、相除</a:t>
            </a:r>
            <a:endParaRPr sz="3195">
              <a:latin typeface="PMingLiU"/>
              <a:cs typeface="PMingLiU"/>
            </a:endParaRPr>
          </a:p>
          <a:p>
            <a:pPr marL="1021080" lvl="1" indent="-1008380">
              <a:spcBef>
                <a:spcPts val="1925"/>
              </a:spcBef>
              <a:buAutoNum type="arabicPeriod"/>
              <a:tabLst>
                <a:tab pos="1020445" algn="l"/>
              </a:tabLst>
            </a:pPr>
            <a:r>
              <a:rPr sz="3195" spc="-10" dirty="0">
                <a:latin typeface="PMingLiU"/>
                <a:cs typeface="PMingLiU"/>
              </a:rPr>
              <a:t>图像线性和非线性变换</a:t>
            </a:r>
            <a:endParaRPr sz="3195">
              <a:latin typeface="PMingLiU"/>
              <a:cs typeface="PMingLiU"/>
            </a:endParaRPr>
          </a:p>
          <a:p>
            <a:pPr marL="1003935" lvl="1" indent="-991235">
              <a:spcBef>
                <a:spcPts val="1920"/>
              </a:spcBef>
              <a:buAutoNum type="arabicPeriod"/>
              <a:tabLst>
                <a:tab pos="1003300" algn="l"/>
              </a:tabLst>
            </a:pPr>
            <a:r>
              <a:rPr sz="3195" spc="-10" dirty="0">
                <a:latin typeface="PMingLiU"/>
                <a:cs typeface="PMingLiU"/>
              </a:rPr>
              <a:t>实例：图像融合</a:t>
            </a:r>
            <a:endParaRPr sz="3195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980" y="293606"/>
            <a:ext cx="510702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45" dirty="0">
                <a:latin typeface="PMingLiU"/>
                <a:cs typeface="PMingLiU"/>
              </a:rPr>
              <a:t>2.1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174817"/>
            <a:ext cx="7942592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二值图、灰度图、</a:t>
            </a:r>
            <a:r>
              <a:rPr spc="70" dirty="0"/>
              <a:t>RGB</a:t>
            </a:r>
            <a:r>
              <a:rPr spc="-40" dirty="0"/>
              <a:t>彩色图</a:t>
            </a:r>
            <a:endParaRPr spc="-40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258175" y="1604645"/>
            <a:ext cx="1437640" cy="2159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2780" y="1604645"/>
            <a:ext cx="1437640" cy="2159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6035" y="1604645"/>
            <a:ext cx="1437640" cy="2159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04005" y="4327582"/>
            <a:ext cx="938931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二值图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88122" y="4325755"/>
            <a:ext cx="635047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灰度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0115" y="4325620"/>
            <a:ext cx="1036955" cy="38100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RGB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872" y="4949432"/>
            <a:ext cx="1700860" cy="114554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只有</a:t>
            </a:r>
            <a:r>
              <a:rPr sz="2400" dirty="0">
                <a:latin typeface="宋体"/>
                <a:cs typeface="宋体"/>
              </a:rPr>
              <a:t>2</a:t>
            </a:r>
            <a:r>
              <a:rPr sz="2400" spc="-20" dirty="0">
                <a:latin typeface="宋体"/>
                <a:cs typeface="宋体"/>
              </a:rPr>
              <a:t>种取值</a:t>
            </a:r>
            <a:endParaRPr sz="2400" spc="-20" dirty="0"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r>
              <a:rPr lang="en-US" sz="2400">
                <a:latin typeface="宋体"/>
                <a:cs typeface="宋体"/>
              </a:rPr>
              <a:t>0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黑色</a:t>
            </a:r>
            <a:endParaRPr lang="zh-CN" altLang="en-US" sz="2400"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r>
              <a:rPr lang="en-US" altLang="zh-CN" sz="2400">
                <a:latin typeface="宋体"/>
                <a:cs typeface="宋体"/>
              </a:rPr>
              <a:t>1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白色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3252" y="4949432"/>
            <a:ext cx="2309896" cy="151447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对8</a:t>
            </a:r>
            <a:r>
              <a:rPr sz="2400" spc="-10" dirty="0">
                <a:latin typeface="宋体"/>
                <a:cs typeface="宋体"/>
              </a:rPr>
              <a:t>位灰度图，有</a:t>
            </a:r>
            <a:r>
              <a:rPr sz="2400" spc="-5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256</a:t>
            </a:r>
            <a:r>
              <a:rPr sz="2400" spc="-20" dirty="0">
                <a:latin typeface="宋体"/>
                <a:cs typeface="宋体"/>
              </a:rPr>
              <a:t>种取值</a:t>
            </a:r>
            <a:endParaRPr sz="2400" spc="-20" dirty="0">
              <a:latin typeface="宋体"/>
              <a:cs typeface="宋体"/>
            </a:endParaRPr>
          </a:p>
          <a:p>
            <a:pPr marL="12700" marR="5080">
              <a:spcBef>
                <a:spcPts val="100"/>
              </a:spcBef>
            </a:pPr>
            <a:r>
              <a:rPr lang="en-US" sz="2400">
                <a:latin typeface="宋体"/>
                <a:cs typeface="宋体"/>
              </a:rPr>
              <a:t>0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黑色</a:t>
            </a:r>
            <a:endParaRPr lang="zh-CN" altLang="en-US" sz="2400">
              <a:latin typeface="宋体"/>
              <a:cs typeface="宋体"/>
            </a:endParaRPr>
          </a:p>
          <a:p>
            <a:pPr marL="12700" marR="5080">
              <a:spcBef>
                <a:spcPts val="100"/>
              </a:spcBef>
            </a:pPr>
            <a:r>
              <a:rPr lang="en-US" altLang="zh-CN" sz="2400">
                <a:latin typeface="宋体"/>
                <a:cs typeface="宋体"/>
              </a:rPr>
              <a:t>255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白色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0760" y="4857750"/>
            <a:ext cx="4384675" cy="1452880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 marR="5080" indent="1270">
              <a:lnSpc>
                <a:spcPct val="129000"/>
              </a:lnSpc>
              <a:spcBef>
                <a:spcPts val="95"/>
              </a:spcBef>
              <a:tabLst>
                <a:tab pos="1688465" algn="l"/>
                <a:tab pos="2145030" algn="l"/>
              </a:tabLst>
            </a:pPr>
            <a:r>
              <a:rPr sz="2400" dirty="0">
                <a:latin typeface="宋体"/>
                <a:cs typeface="宋体"/>
              </a:rPr>
              <a:t>真彩色</a:t>
            </a:r>
            <a:r>
              <a:rPr sz="2400" spc="-25" dirty="0">
                <a:latin typeface="宋体"/>
                <a:cs typeface="宋体"/>
              </a:rPr>
              <a:t>：R,G,</a:t>
            </a:r>
            <a:r>
              <a:rPr sz="2400" spc="-10" dirty="0">
                <a:latin typeface="宋体"/>
                <a:cs typeface="宋体"/>
              </a:rPr>
              <a:t>B</a:t>
            </a:r>
            <a:r>
              <a:rPr sz="2400" dirty="0">
                <a:latin typeface="宋体"/>
                <a:cs typeface="宋体"/>
              </a:rPr>
              <a:t>通道各有8</a:t>
            </a:r>
            <a:r>
              <a:rPr sz="2400" spc="-50" dirty="0">
                <a:latin typeface="宋体"/>
                <a:cs typeface="宋体"/>
              </a:rPr>
              <a:t>位</a:t>
            </a:r>
            <a:r>
              <a:rPr lang="zh-CN" sz="2400" spc="-50" dirty="0">
                <a:latin typeface="宋体"/>
                <a:cs typeface="宋体"/>
              </a:rPr>
              <a:t>，共</a:t>
            </a:r>
            <a:r>
              <a:rPr lang="en-US" altLang="zh-CN" sz="2400" spc="-50" dirty="0">
                <a:latin typeface="宋体"/>
                <a:cs typeface="宋体"/>
              </a:rPr>
              <a:t>24</a:t>
            </a:r>
            <a:r>
              <a:rPr lang="zh-CN" altLang="en-US" sz="2400" spc="-50" dirty="0">
                <a:latin typeface="宋体"/>
                <a:cs typeface="宋体"/>
              </a:rPr>
              <a:t>位</a:t>
            </a:r>
            <a:endParaRPr sz="2400" spc="-50" dirty="0">
              <a:latin typeface="宋体"/>
              <a:cs typeface="宋体"/>
            </a:endParaRPr>
          </a:p>
          <a:p>
            <a:pPr marL="12700" marR="5080" indent="1270">
              <a:lnSpc>
                <a:spcPct val="129000"/>
              </a:lnSpc>
              <a:spcBef>
                <a:spcPts val="95"/>
              </a:spcBef>
              <a:tabLst>
                <a:tab pos="1688465" algn="l"/>
                <a:tab pos="2145030" algn="l"/>
              </a:tabLst>
            </a:pPr>
            <a:r>
              <a:rPr sz="2400" dirty="0">
                <a:latin typeface="宋体"/>
                <a:cs typeface="宋体"/>
              </a:rPr>
              <a:t>假彩色：8位表示256种颜</a:t>
            </a:r>
            <a:r>
              <a:rPr sz="2400" spc="-50" dirty="0">
                <a:latin typeface="宋体"/>
                <a:cs typeface="宋体"/>
              </a:rPr>
              <a:t>色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6039870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5" dirty="0"/>
              <a:t>2.2</a:t>
            </a:r>
            <a:r>
              <a:rPr dirty="0"/>
              <a:t>	</a:t>
            </a:r>
            <a:r>
              <a:rPr spc="-40" dirty="0"/>
              <a:t>图像的矩阵表示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1136720" y="1542764"/>
            <a:ext cx="7182819" cy="756854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 err="1">
                <a:latin typeface="宋体"/>
                <a:cs typeface="宋体"/>
              </a:rPr>
              <a:t>灰度图用二维矩阵表示，RGB</a:t>
            </a:r>
            <a:r>
              <a:rPr sz="2400" spc="-5" dirty="0" err="1">
                <a:latin typeface="宋体"/>
                <a:cs typeface="宋体"/>
              </a:rPr>
              <a:t>彩色图用三维矩阵表示。</a:t>
            </a:r>
            <a:r>
              <a:rPr sz="2400" spc="-20" dirty="0" err="1">
                <a:latin typeface="宋体"/>
                <a:cs typeface="宋体"/>
              </a:rPr>
              <a:t>分辨率</a:t>
            </a:r>
            <a:r>
              <a:rPr lang="en-US" sz="2400" spc="-20" dirty="0" err="1">
                <a:latin typeface="宋体"/>
                <a:cs typeface="宋体"/>
              </a:rPr>
              <a:t>的</a:t>
            </a:r>
            <a:r>
              <a:rPr sz="2400" spc="-20" dirty="0" err="1">
                <a:latin typeface="宋体"/>
                <a:cs typeface="宋体"/>
              </a:rPr>
              <a:t>概念</a:t>
            </a:r>
            <a:r>
              <a:rPr sz="2400" spc="-20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4098" y="3304401"/>
            <a:ext cx="2004744" cy="74289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R="5080" algn="r">
              <a:lnSpc>
                <a:spcPts val="2820"/>
              </a:lnSpc>
              <a:spcBef>
                <a:spcPts val="100"/>
              </a:spcBef>
              <a:tabLst>
                <a:tab pos="912495" algn="l"/>
                <a:tab pos="1521460" algn="l"/>
              </a:tabLst>
            </a:pPr>
            <a:r>
              <a:rPr sz="2400" spc="-25" dirty="0">
                <a:latin typeface="宋体"/>
                <a:cs typeface="宋体"/>
              </a:rPr>
              <a:t>[[0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50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100</a:t>
            </a:r>
            <a:endParaRPr sz="2400">
              <a:latin typeface="宋体"/>
              <a:cs typeface="宋体"/>
            </a:endParaRPr>
          </a:p>
          <a:p>
            <a:pPr marR="5080" algn="r">
              <a:lnSpc>
                <a:spcPts val="2820"/>
              </a:lnSpc>
              <a:tabLst>
                <a:tab pos="760095" algn="l"/>
                <a:tab pos="1369695" algn="l"/>
              </a:tabLst>
            </a:pPr>
            <a:r>
              <a:rPr sz="2400" spc="-20" dirty="0">
                <a:latin typeface="宋体"/>
                <a:cs typeface="宋体"/>
              </a:rPr>
              <a:t>[255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200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150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8238" y="3304401"/>
            <a:ext cx="786672" cy="74289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200]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20"/>
              </a:lnSpc>
              <a:tabLst>
                <a:tab pos="468630" algn="l"/>
              </a:tabLst>
            </a:pPr>
            <a:r>
              <a:rPr sz="2400" spc="-25" dirty="0">
                <a:latin typeface="宋体"/>
                <a:cs typeface="宋体"/>
              </a:rPr>
              <a:t>20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]]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55480" y="2772636"/>
            <a:ext cx="3989185" cy="200981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55480" y="5019425"/>
            <a:ext cx="398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spc="-20" dirty="0">
                <a:latin typeface="宋体"/>
                <a:cs typeface="宋体"/>
              </a:rPr>
              <a:t>分辨率</a:t>
            </a:r>
            <a:r>
              <a:rPr lang="zh-CN" altLang="en-US" spc="-20" dirty="0">
                <a:latin typeface="宋体"/>
                <a:cs typeface="宋体"/>
              </a:rPr>
              <a:t>：</a:t>
            </a:r>
            <a:r>
              <a:rPr lang="en-US" altLang="zh-CN" spc="-20" dirty="0">
                <a:latin typeface="宋体"/>
                <a:cs typeface="宋体"/>
              </a:rPr>
              <a:t>2x4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70686" y="1998083"/>
          <a:ext cx="3718926" cy="2861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298"/>
                <a:gridCol w="761930"/>
                <a:gridCol w="761929"/>
                <a:gridCol w="1020769"/>
              </a:tblGrid>
              <a:tr h="334335">
                <a:tc>
                  <a:txBody>
                    <a:bodyPr/>
                    <a:lstStyle/>
                    <a:p>
                      <a:pPr marR="69215" algn="r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[[[255,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  <a:tr h="548132">
                <a:tc>
                  <a:txBody>
                    <a:bodyPr/>
                    <a:lstStyle/>
                    <a:p>
                      <a:pPr marR="69215" algn="r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785"/>
                        </a:lnSpc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  <a:tr h="548132">
                <a:tc>
                  <a:txBody>
                    <a:bodyPr/>
                    <a:lstStyle/>
                    <a:p>
                      <a:pPr marR="67310" algn="r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</a:tr>
              <a:tr h="548132">
                <a:tc>
                  <a:txBody>
                    <a:bodyPr/>
                    <a:lstStyle/>
                    <a:p>
                      <a:pPr marR="69215" algn="r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0]],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  <a:tr h="548132">
                <a:tc>
                  <a:txBody>
                    <a:bodyPr/>
                    <a:lstStyle/>
                    <a:p>
                      <a:pPr marR="67310" algn="r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</a:tr>
              <a:tr h="334970">
                <a:tc>
                  <a:txBody>
                    <a:bodyPr/>
                    <a:lstStyle/>
                    <a:p>
                      <a:pPr marR="69215" algn="r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255]]]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6466524" y="2028343"/>
            <a:ext cx="4017100" cy="3111159"/>
            <a:chOff x="5695188" y="2293619"/>
            <a:chExt cx="4020820" cy="31140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07380" y="2293619"/>
              <a:ext cx="4008120" cy="19964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08142" y="4434077"/>
              <a:ext cx="998219" cy="960119"/>
            </a:xfrm>
            <a:custGeom>
              <a:avLst/>
              <a:gdLst/>
              <a:ahLst/>
              <a:cxnLst/>
              <a:rect l="l" t="t" r="r" b="b"/>
              <a:pathLst>
                <a:path w="998220" h="960120">
                  <a:moveTo>
                    <a:pt x="838200" y="0"/>
                  </a:moveTo>
                  <a:lnTo>
                    <a:pt x="160020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20" y="960120"/>
                  </a:lnTo>
                  <a:lnTo>
                    <a:pt x="838200" y="960120"/>
                  </a:lnTo>
                  <a:lnTo>
                    <a:pt x="888784" y="951963"/>
                  </a:lnTo>
                  <a:lnTo>
                    <a:pt x="932712" y="929249"/>
                  </a:lnTo>
                  <a:lnTo>
                    <a:pt x="967349" y="894612"/>
                  </a:lnTo>
                  <a:lnTo>
                    <a:pt x="990063" y="850684"/>
                  </a:lnTo>
                  <a:lnTo>
                    <a:pt x="998219" y="800100"/>
                  </a:lnTo>
                  <a:lnTo>
                    <a:pt x="998219" y="160020"/>
                  </a:lnTo>
                  <a:lnTo>
                    <a:pt x="990063" y="109435"/>
                  </a:lnTo>
                  <a:lnTo>
                    <a:pt x="967349" y="65507"/>
                  </a:lnTo>
                  <a:lnTo>
                    <a:pt x="932712" y="30870"/>
                  </a:lnTo>
                  <a:lnTo>
                    <a:pt x="888784" y="8156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5708142" y="4434077"/>
              <a:ext cx="998219" cy="960119"/>
            </a:xfrm>
            <a:custGeom>
              <a:avLst/>
              <a:gdLst/>
              <a:ahLst/>
              <a:cxnLst/>
              <a:rect l="l" t="t" r="r" b="b"/>
              <a:pathLst>
                <a:path w="998220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838200" y="0"/>
                  </a:lnTo>
                  <a:lnTo>
                    <a:pt x="888784" y="8156"/>
                  </a:lnTo>
                  <a:lnTo>
                    <a:pt x="932712" y="30870"/>
                  </a:lnTo>
                  <a:lnTo>
                    <a:pt x="967349" y="65507"/>
                  </a:lnTo>
                  <a:lnTo>
                    <a:pt x="990063" y="109435"/>
                  </a:lnTo>
                  <a:lnTo>
                    <a:pt x="998219" y="160020"/>
                  </a:lnTo>
                  <a:lnTo>
                    <a:pt x="998219" y="800100"/>
                  </a:lnTo>
                  <a:lnTo>
                    <a:pt x="990063" y="850684"/>
                  </a:lnTo>
                  <a:lnTo>
                    <a:pt x="967349" y="894612"/>
                  </a:lnTo>
                  <a:lnTo>
                    <a:pt x="932712" y="929249"/>
                  </a:lnTo>
                  <a:lnTo>
                    <a:pt x="888784" y="951963"/>
                  </a:lnTo>
                  <a:lnTo>
                    <a:pt x="838200" y="960120"/>
                  </a:lnTo>
                  <a:lnTo>
                    <a:pt x="160020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5967256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5" dirty="0"/>
              <a:t>2.2</a:t>
            </a:r>
            <a:r>
              <a:rPr dirty="0"/>
              <a:t>	</a:t>
            </a:r>
            <a:r>
              <a:rPr spc="-40" dirty="0"/>
              <a:t>图像的矩阵表示</a:t>
            </a:r>
            <a:endParaRPr spc="-40" dirty="0"/>
          </a:p>
        </p:txBody>
      </p:sp>
      <p:sp>
        <p:nvSpPr>
          <p:cNvPr id="8" name="文本框 7"/>
          <p:cNvSpPr txBox="1"/>
          <p:nvPr/>
        </p:nvSpPr>
        <p:spPr>
          <a:xfrm>
            <a:off x="559050" y="20283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红色通道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9050" y="31925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绿色通道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59050" y="43478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蓝色通道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096000" y="1246424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/>
              <a:t>255,127,127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cxnSp>
        <p:nvCxnSpPr>
          <p:cNvPr id="13" name="直线箭头连接符 12"/>
          <p:cNvCxnSpPr>
            <a:endCxn id="11" idx="2"/>
          </p:cNvCxnSpPr>
          <p:nvPr/>
        </p:nvCxnSpPr>
        <p:spPr>
          <a:xfrm flipV="1">
            <a:off x="7014113" y="1615756"/>
            <a:ext cx="4576" cy="78191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10895" y="58635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小练习：把右下角紫色方块的颜色改为（</a:t>
            </a:r>
            <a:r>
              <a:rPr lang="en-US" altLang="zh-CN"/>
              <a:t>127</a:t>
            </a:r>
            <a:r>
              <a:rPr lang="zh-CN" altLang="en-US"/>
              <a:t>，</a:t>
            </a:r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255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04" y="0"/>
            <a:ext cx="12196582" cy="6851656"/>
            <a:chOff x="-12255" y="0"/>
            <a:chExt cx="12207875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99587" y="2336291"/>
              <a:ext cx="1524000" cy="2301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8996" y="1488947"/>
              <a:ext cx="1484376" cy="22402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7643" y="1958339"/>
              <a:ext cx="1516380" cy="2263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5343" y="1412747"/>
              <a:ext cx="1501139" cy="226161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8549091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0" dirty="0"/>
              <a:t>2.2</a:t>
            </a:r>
            <a:r>
              <a:rPr dirty="0"/>
              <a:t>	二值图、灰度图、</a:t>
            </a:r>
            <a:r>
              <a:rPr spc="70" dirty="0"/>
              <a:t>RGB</a:t>
            </a:r>
            <a:r>
              <a:rPr spc="-40" dirty="0"/>
              <a:t>彩色图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3411738" y="2604701"/>
            <a:ext cx="3751281" cy="2505295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R="5080" algn="r">
              <a:spcBef>
                <a:spcPts val="95"/>
              </a:spcBef>
            </a:pPr>
            <a:r>
              <a:rPr sz="3995" spc="-50" dirty="0">
                <a:latin typeface="Arial" panose="020B0604020202090204"/>
                <a:cs typeface="Arial" panose="020B0604020202090204"/>
              </a:rPr>
              <a:t>=</a:t>
            </a:r>
            <a:endParaRPr sz="3995" dirty="0">
              <a:latin typeface="Arial" panose="020B0604020202090204"/>
              <a:cs typeface="Arial" panose="020B0604020202090204"/>
            </a:endParaRPr>
          </a:p>
          <a:p>
            <a:pPr marL="1678940">
              <a:spcBef>
                <a:spcPts val="3045"/>
              </a:spcBef>
            </a:pPr>
            <a:r>
              <a:rPr sz="2795" spc="-50" dirty="0">
                <a:latin typeface="宋体"/>
                <a:cs typeface="宋体"/>
              </a:rPr>
              <a:t>r</a:t>
            </a:r>
            <a:endParaRPr sz="2795" dirty="0">
              <a:latin typeface="宋体"/>
              <a:cs typeface="宋体"/>
            </a:endParaRPr>
          </a:p>
          <a:p>
            <a:pPr marL="1064260">
              <a:spcBef>
                <a:spcPts val="360"/>
              </a:spcBef>
            </a:pPr>
            <a:r>
              <a:rPr sz="2795" spc="-50" dirty="0">
                <a:latin typeface="宋体"/>
                <a:cs typeface="宋体"/>
              </a:rPr>
              <a:t>g</a:t>
            </a:r>
            <a:endParaRPr sz="2795" dirty="0">
              <a:latin typeface="宋体"/>
              <a:cs typeface="宋体"/>
            </a:endParaRPr>
          </a:p>
          <a:p>
            <a:pPr marL="12700">
              <a:spcBef>
                <a:spcPts val="1260"/>
              </a:spcBef>
            </a:pPr>
            <a:r>
              <a:rPr sz="2795" spc="-50" dirty="0">
                <a:latin typeface="宋体"/>
                <a:cs typeface="宋体"/>
              </a:rPr>
              <a:t>b</a:t>
            </a:r>
            <a:endParaRPr sz="2795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32471" y="5873252"/>
            <a:ext cx="3508302" cy="211894"/>
          </a:xfrm>
          <a:custGeom>
            <a:avLst/>
            <a:gdLst/>
            <a:ahLst/>
            <a:cxnLst/>
            <a:rect l="l" t="t" r="r" b="b"/>
            <a:pathLst>
              <a:path w="3511550" h="212089">
                <a:moveTo>
                  <a:pt x="70485" y="8597"/>
                </a:moveTo>
                <a:lnTo>
                  <a:pt x="67437" y="0"/>
                </a:lnTo>
                <a:lnTo>
                  <a:pt x="52095" y="5549"/>
                </a:lnTo>
                <a:lnTo>
                  <a:pt x="38646" y="13576"/>
                </a:lnTo>
                <a:lnTo>
                  <a:pt x="9740" y="52108"/>
                </a:lnTo>
                <a:lnTo>
                  <a:pt x="50" y="104813"/>
                </a:lnTo>
                <a:lnTo>
                  <a:pt x="0" y="105930"/>
                </a:lnTo>
                <a:lnTo>
                  <a:pt x="965" y="123494"/>
                </a:lnTo>
                <a:lnTo>
                  <a:pt x="1066" y="125387"/>
                </a:lnTo>
                <a:lnTo>
                  <a:pt x="17399" y="174739"/>
                </a:lnTo>
                <a:lnTo>
                  <a:pt x="52070" y="206222"/>
                </a:lnTo>
                <a:lnTo>
                  <a:pt x="67437" y="211747"/>
                </a:lnTo>
                <a:lnTo>
                  <a:pt x="70104" y="203149"/>
                </a:lnTo>
                <a:lnTo>
                  <a:pt x="58051" y="197815"/>
                </a:lnTo>
                <a:lnTo>
                  <a:pt x="47637" y="190373"/>
                </a:lnTo>
                <a:lnTo>
                  <a:pt x="26314" y="155689"/>
                </a:lnTo>
                <a:lnTo>
                  <a:pt x="19342" y="105930"/>
                </a:lnTo>
                <a:lnTo>
                  <a:pt x="19304" y="104813"/>
                </a:lnTo>
                <a:lnTo>
                  <a:pt x="20078" y="86753"/>
                </a:lnTo>
                <a:lnTo>
                  <a:pt x="31750" y="42138"/>
                </a:lnTo>
                <a:lnTo>
                  <a:pt x="58267" y="13919"/>
                </a:lnTo>
                <a:lnTo>
                  <a:pt x="70485" y="8597"/>
                </a:lnTo>
                <a:close/>
              </a:path>
              <a:path w="3511550" h="212089">
                <a:moveTo>
                  <a:pt x="496570" y="105930"/>
                </a:moveTo>
                <a:lnTo>
                  <a:pt x="495477" y="86753"/>
                </a:lnTo>
                <a:lnTo>
                  <a:pt x="495465" y="86525"/>
                </a:lnTo>
                <a:lnTo>
                  <a:pt x="492201" y="68580"/>
                </a:lnTo>
                <a:lnTo>
                  <a:pt x="469468" y="24104"/>
                </a:lnTo>
                <a:lnTo>
                  <a:pt x="429006" y="0"/>
                </a:lnTo>
                <a:lnTo>
                  <a:pt x="426085" y="8597"/>
                </a:lnTo>
                <a:lnTo>
                  <a:pt x="438289" y="13919"/>
                </a:lnTo>
                <a:lnTo>
                  <a:pt x="448830" y="21285"/>
                </a:lnTo>
                <a:lnTo>
                  <a:pt x="470242" y="55410"/>
                </a:lnTo>
                <a:lnTo>
                  <a:pt x="476440" y="86525"/>
                </a:lnTo>
                <a:lnTo>
                  <a:pt x="476478" y="86753"/>
                </a:lnTo>
                <a:lnTo>
                  <a:pt x="477266" y="104813"/>
                </a:lnTo>
                <a:lnTo>
                  <a:pt x="476478" y="123494"/>
                </a:lnTo>
                <a:lnTo>
                  <a:pt x="474116" y="140449"/>
                </a:lnTo>
                <a:lnTo>
                  <a:pt x="457581" y="180848"/>
                </a:lnTo>
                <a:lnTo>
                  <a:pt x="426339" y="203149"/>
                </a:lnTo>
                <a:lnTo>
                  <a:pt x="429006" y="211747"/>
                </a:lnTo>
                <a:lnTo>
                  <a:pt x="469519" y="187706"/>
                </a:lnTo>
                <a:lnTo>
                  <a:pt x="492201" y="143344"/>
                </a:lnTo>
                <a:lnTo>
                  <a:pt x="495465" y="125387"/>
                </a:lnTo>
                <a:lnTo>
                  <a:pt x="496570" y="105930"/>
                </a:lnTo>
                <a:close/>
              </a:path>
              <a:path w="3511550" h="212089">
                <a:moveTo>
                  <a:pt x="1574673" y="8597"/>
                </a:moveTo>
                <a:lnTo>
                  <a:pt x="1571625" y="0"/>
                </a:lnTo>
                <a:lnTo>
                  <a:pt x="1556283" y="5549"/>
                </a:lnTo>
                <a:lnTo>
                  <a:pt x="1542834" y="13576"/>
                </a:lnTo>
                <a:lnTo>
                  <a:pt x="1513928" y="52108"/>
                </a:lnTo>
                <a:lnTo>
                  <a:pt x="1504238" y="104813"/>
                </a:lnTo>
                <a:lnTo>
                  <a:pt x="1504188" y="105930"/>
                </a:lnTo>
                <a:lnTo>
                  <a:pt x="1505153" y="123494"/>
                </a:lnTo>
                <a:lnTo>
                  <a:pt x="1505254" y="125387"/>
                </a:lnTo>
                <a:lnTo>
                  <a:pt x="1521587" y="174739"/>
                </a:lnTo>
                <a:lnTo>
                  <a:pt x="1556258" y="206222"/>
                </a:lnTo>
                <a:lnTo>
                  <a:pt x="1571625" y="211747"/>
                </a:lnTo>
                <a:lnTo>
                  <a:pt x="1574292" y="203149"/>
                </a:lnTo>
                <a:lnTo>
                  <a:pt x="1562239" y="197815"/>
                </a:lnTo>
                <a:lnTo>
                  <a:pt x="1551825" y="190373"/>
                </a:lnTo>
                <a:lnTo>
                  <a:pt x="1530502" y="155689"/>
                </a:lnTo>
                <a:lnTo>
                  <a:pt x="1523530" y="105930"/>
                </a:lnTo>
                <a:lnTo>
                  <a:pt x="1523492" y="104813"/>
                </a:lnTo>
                <a:lnTo>
                  <a:pt x="1524266" y="86753"/>
                </a:lnTo>
                <a:lnTo>
                  <a:pt x="1535938" y="42138"/>
                </a:lnTo>
                <a:lnTo>
                  <a:pt x="1562455" y="13919"/>
                </a:lnTo>
                <a:lnTo>
                  <a:pt x="1574673" y="8597"/>
                </a:lnTo>
                <a:close/>
              </a:path>
              <a:path w="3511550" h="212089">
                <a:moveTo>
                  <a:pt x="2000758" y="105930"/>
                </a:moveTo>
                <a:lnTo>
                  <a:pt x="1999665" y="86753"/>
                </a:lnTo>
                <a:lnTo>
                  <a:pt x="1999653" y="86525"/>
                </a:lnTo>
                <a:lnTo>
                  <a:pt x="1996389" y="68580"/>
                </a:lnTo>
                <a:lnTo>
                  <a:pt x="1973656" y="24104"/>
                </a:lnTo>
                <a:lnTo>
                  <a:pt x="1933194" y="0"/>
                </a:lnTo>
                <a:lnTo>
                  <a:pt x="1930273" y="8597"/>
                </a:lnTo>
                <a:lnTo>
                  <a:pt x="1942477" y="13919"/>
                </a:lnTo>
                <a:lnTo>
                  <a:pt x="1953018" y="21285"/>
                </a:lnTo>
                <a:lnTo>
                  <a:pt x="1974430" y="55410"/>
                </a:lnTo>
                <a:lnTo>
                  <a:pt x="1980628" y="86525"/>
                </a:lnTo>
                <a:lnTo>
                  <a:pt x="1980666" y="86753"/>
                </a:lnTo>
                <a:lnTo>
                  <a:pt x="1981454" y="104813"/>
                </a:lnTo>
                <a:lnTo>
                  <a:pt x="1980666" y="123494"/>
                </a:lnTo>
                <a:lnTo>
                  <a:pt x="1978304" y="140449"/>
                </a:lnTo>
                <a:lnTo>
                  <a:pt x="1961769" y="180848"/>
                </a:lnTo>
                <a:lnTo>
                  <a:pt x="1930527" y="203149"/>
                </a:lnTo>
                <a:lnTo>
                  <a:pt x="1933194" y="211747"/>
                </a:lnTo>
                <a:lnTo>
                  <a:pt x="1973707" y="187706"/>
                </a:lnTo>
                <a:lnTo>
                  <a:pt x="1996389" y="143344"/>
                </a:lnTo>
                <a:lnTo>
                  <a:pt x="1999653" y="125387"/>
                </a:lnTo>
                <a:lnTo>
                  <a:pt x="2000758" y="105930"/>
                </a:lnTo>
                <a:close/>
              </a:path>
              <a:path w="3511550" h="212089">
                <a:moveTo>
                  <a:pt x="3083433" y="8597"/>
                </a:moveTo>
                <a:lnTo>
                  <a:pt x="3080385" y="0"/>
                </a:lnTo>
                <a:lnTo>
                  <a:pt x="3065043" y="5549"/>
                </a:lnTo>
                <a:lnTo>
                  <a:pt x="3051594" y="13576"/>
                </a:lnTo>
                <a:lnTo>
                  <a:pt x="3022689" y="52108"/>
                </a:lnTo>
                <a:lnTo>
                  <a:pt x="3012998" y="104813"/>
                </a:lnTo>
                <a:lnTo>
                  <a:pt x="3012948" y="105930"/>
                </a:lnTo>
                <a:lnTo>
                  <a:pt x="3013913" y="123494"/>
                </a:lnTo>
                <a:lnTo>
                  <a:pt x="3014014" y="125387"/>
                </a:lnTo>
                <a:lnTo>
                  <a:pt x="3030347" y="174739"/>
                </a:lnTo>
                <a:lnTo>
                  <a:pt x="3065018" y="206222"/>
                </a:lnTo>
                <a:lnTo>
                  <a:pt x="3080385" y="211747"/>
                </a:lnTo>
                <a:lnTo>
                  <a:pt x="3083052" y="203149"/>
                </a:lnTo>
                <a:lnTo>
                  <a:pt x="3070999" y="197815"/>
                </a:lnTo>
                <a:lnTo>
                  <a:pt x="3060585" y="190373"/>
                </a:lnTo>
                <a:lnTo>
                  <a:pt x="3039262" y="155689"/>
                </a:lnTo>
                <a:lnTo>
                  <a:pt x="3032290" y="105930"/>
                </a:lnTo>
                <a:lnTo>
                  <a:pt x="3032252" y="104813"/>
                </a:lnTo>
                <a:lnTo>
                  <a:pt x="3033026" y="86753"/>
                </a:lnTo>
                <a:lnTo>
                  <a:pt x="3044698" y="42138"/>
                </a:lnTo>
                <a:lnTo>
                  <a:pt x="3071215" y="13919"/>
                </a:lnTo>
                <a:lnTo>
                  <a:pt x="3083433" y="8597"/>
                </a:lnTo>
                <a:close/>
              </a:path>
              <a:path w="3511550" h="212089">
                <a:moveTo>
                  <a:pt x="3511042" y="105930"/>
                </a:moveTo>
                <a:lnTo>
                  <a:pt x="3509949" y="86753"/>
                </a:lnTo>
                <a:lnTo>
                  <a:pt x="3509937" y="86525"/>
                </a:lnTo>
                <a:lnTo>
                  <a:pt x="3506673" y="68580"/>
                </a:lnTo>
                <a:lnTo>
                  <a:pt x="3483940" y="24104"/>
                </a:lnTo>
                <a:lnTo>
                  <a:pt x="3443478" y="0"/>
                </a:lnTo>
                <a:lnTo>
                  <a:pt x="3440557" y="8597"/>
                </a:lnTo>
                <a:lnTo>
                  <a:pt x="3452761" y="13919"/>
                </a:lnTo>
                <a:lnTo>
                  <a:pt x="3463302" y="21285"/>
                </a:lnTo>
                <a:lnTo>
                  <a:pt x="3484715" y="55410"/>
                </a:lnTo>
                <a:lnTo>
                  <a:pt x="3490912" y="86525"/>
                </a:lnTo>
                <a:lnTo>
                  <a:pt x="3490950" y="86753"/>
                </a:lnTo>
                <a:lnTo>
                  <a:pt x="3491738" y="104813"/>
                </a:lnTo>
                <a:lnTo>
                  <a:pt x="3490950" y="123494"/>
                </a:lnTo>
                <a:lnTo>
                  <a:pt x="3488588" y="140449"/>
                </a:lnTo>
                <a:lnTo>
                  <a:pt x="3472053" y="180848"/>
                </a:lnTo>
                <a:lnTo>
                  <a:pt x="3440811" y="203149"/>
                </a:lnTo>
                <a:lnTo>
                  <a:pt x="3443478" y="211747"/>
                </a:lnTo>
                <a:lnTo>
                  <a:pt x="3483991" y="187706"/>
                </a:lnTo>
                <a:lnTo>
                  <a:pt x="3506673" y="143344"/>
                </a:lnTo>
                <a:lnTo>
                  <a:pt x="3509937" y="125387"/>
                </a:lnTo>
                <a:lnTo>
                  <a:pt x="3511042" y="105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2192840" y="5803910"/>
            <a:ext cx="557521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19505" algn="l"/>
                <a:tab pos="2609850" algn="l"/>
                <a:tab pos="4117975" algn="l"/>
              </a:tabLst>
            </a:pPr>
            <a:r>
              <a:rPr sz="1800" dirty="0">
                <a:latin typeface="Cambria Math"/>
                <a:cs typeface="Cambria Math"/>
              </a:rPr>
              <a:t>𝑔𝑟𝑎𝑦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0.299𝑟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+ 0.587𝑔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0.114𝑏(𝑥,</a:t>
            </a:r>
            <a:r>
              <a:rPr lang="zh-CN" altLang="en-US" sz="1800" spc="-50" dirty="0">
                <a:latin typeface="Cambria Math"/>
                <a:cs typeface="Cambria Math"/>
              </a:rPr>
              <a:t>𝑦</a:t>
            </a:r>
            <a:r>
              <a:rPr lang="en-US" altLang="zh-CN" sz="1800" dirty="0">
                <a:latin typeface="Cambria Math"/>
                <a:cs typeface="Cambria Math"/>
              </a:rPr>
              <a:t>)</a:t>
            </a:r>
            <a:endParaRPr sz="2700" baseline="2000" dirty="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7263" y="4436827"/>
            <a:ext cx="1435802" cy="215751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890010" y="2902585"/>
            <a:ext cx="4349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+</a:t>
            </a:r>
            <a:endParaRPr lang="en-US" altLang="zh-CN" sz="3200" b="1"/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3250565" y="3486150"/>
            <a:ext cx="4349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+</a:t>
            </a:r>
            <a:endParaRPr lang="en-US" altLang="zh-CN" sz="3200" b="1"/>
          </a:p>
        </p:txBody>
      </p:sp>
      <p:sp>
        <p:nvSpPr>
          <p:cNvPr id="15" name="文本框 14"/>
          <p:cNvSpPr txBox="1"/>
          <p:nvPr/>
        </p:nvSpPr>
        <p:spPr>
          <a:xfrm>
            <a:off x="260985" y="2497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三通道转</a:t>
            </a:r>
            <a:r>
              <a:rPr lang="zh-CN" altLang="en-US"/>
              <a:t>彩色图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60985" y="5803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彩色图转</a:t>
            </a:r>
            <a:r>
              <a:rPr lang="zh-CN" altLang="en-US"/>
              <a:t>灰度图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04" y="0"/>
            <a:ext cx="12196582" cy="6851656"/>
            <a:chOff x="-12255" y="0"/>
            <a:chExt cx="12207875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99587" y="2336291"/>
              <a:ext cx="1524000" cy="2301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8996" y="1488947"/>
              <a:ext cx="1484376" cy="22402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7643" y="1958339"/>
              <a:ext cx="1516380" cy="2263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5343" y="1412747"/>
              <a:ext cx="1501139" cy="226161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9316018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0" dirty="0"/>
              <a:t>2.2</a:t>
            </a:r>
            <a:r>
              <a:rPr dirty="0"/>
              <a:t>	二值图、灰度图、</a:t>
            </a:r>
            <a:r>
              <a:rPr spc="70" dirty="0"/>
              <a:t>RGB</a:t>
            </a:r>
            <a:r>
              <a:rPr spc="-40" dirty="0"/>
              <a:t>彩色图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3478413" y="2542168"/>
            <a:ext cx="3751281" cy="2505295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R="5080" algn="r">
              <a:spcBef>
                <a:spcPts val="95"/>
              </a:spcBef>
            </a:pPr>
            <a:r>
              <a:rPr sz="3995" spc="-50" dirty="0">
                <a:latin typeface="Arial" panose="020B0604020202090204"/>
                <a:cs typeface="Arial" panose="020B0604020202090204"/>
              </a:rPr>
              <a:t>=</a:t>
            </a:r>
            <a:endParaRPr sz="3995">
              <a:latin typeface="Arial" panose="020B0604020202090204"/>
              <a:cs typeface="Arial" panose="020B0604020202090204"/>
            </a:endParaRPr>
          </a:p>
          <a:p>
            <a:pPr marL="1678940">
              <a:spcBef>
                <a:spcPts val="3045"/>
              </a:spcBef>
            </a:pPr>
            <a:r>
              <a:rPr sz="2795" spc="-50" dirty="0">
                <a:latin typeface="宋体"/>
                <a:cs typeface="宋体"/>
              </a:rPr>
              <a:t>r</a:t>
            </a:r>
            <a:endParaRPr sz="2795">
              <a:latin typeface="宋体"/>
              <a:cs typeface="宋体"/>
            </a:endParaRPr>
          </a:p>
          <a:p>
            <a:pPr marL="1064260">
              <a:spcBef>
                <a:spcPts val="360"/>
              </a:spcBef>
            </a:pPr>
            <a:r>
              <a:rPr sz="2795" spc="-50" dirty="0">
                <a:latin typeface="宋体"/>
                <a:cs typeface="宋体"/>
              </a:rPr>
              <a:t>g</a:t>
            </a:r>
            <a:endParaRPr sz="2795">
              <a:latin typeface="宋体"/>
              <a:cs typeface="宋体"/>
            </a:endParaRPr>
          </a:p>
          <a:p>
            <a:pPr marL="12700">
              <a:spcBef>
                <a:spcPts val="1260"/>
              </a:spcBef>
            </a:pPr>
            <a:r>
              <a:rPr sz="2795" spc="-50" dirty="0">
                <a:latin typeface="宋体"/>
                <a:cs typeface="宋体"/>
              </a:rPr>
              <a:t>b</a:t>
            </a:r>
            <a:endParaRPr sz="279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32471" y="5873252"/>
            <a:ext cx="3508302" cy="211894"/>
          </a:xfrm>
          <a:custGeom>
            <a:avLst/>
            <a:gdLst/>
            <a:ahLst/>
            <a:cxnLst/>
            <a:rect l="l" t="t" r="r" b="b"/>
            <a:pathLst>
              <a:path w="3511550" h="212089">
                <a:moveTo>
                  <a:pt x="70485" y="8597"/>
                </a:moveTo>
                <a:lnTo>
                  <a:pt x="67437" y="0"/>
                </a:lnTo>
                <a:lnTo>
                  <a:pt x="52095" y="5549"/>
                </a:lnTo>
                <a:lnTo>
                  <a:pt x="38646" y="13576"/>
                </a:lnTo>
                <a:lnTo>
                  <a:pt x="9740" y="52108"/>
                </a:lnTo>
                <a:lnTo>
                  <a:pt x="50" y="104813"/>
                </a:lnTo>
                <a:lnTo>
                  <a:pt x="0" y="105930"/>
                </a:lnTo>
                <a:lnTo>
                  <a:pt x="965" y="123494"/>
                </a:lnTo>
                <a:lnTo>
                  <a:pt x="1066" y="125387"/>
                </a:lnTo>
                <a:lnTo>
                  <a:pt x="17399" y="174739"/>
                </a:lnTo>
                <a:lnTo>
                  <a:pt x="52070" y="206222"/>
                </a:lnTo>
                <a:lnTo>
                  <a:pt x="67437" y="211747"/>
                </a:lnTo>
                <a:lnTo>
                  <a:pt x="70104" y="203149"/>
                </a:lnTo>
                <a:lnTo>
                  <a:pt x="58051" y="197815"/>
                </a:lnTo>
                <a:lnTo>
                  <a:pt x="47637" y="190373"/>
                </a:lnTo>
                <a:lnTo>
                  <a:pt x="26314" y="155689"/>
                </a:lnTo>
                <a:lnTo>
                  <a:pt x="19342" y="105930"/>
                </a:lnTo>
                <a:lnTo>
                  <a:pt x="19304" y="104813"/>
                </a:lnTo>
                <a:lnTo>
                  <a:pt x="20078" y="86753"/>
                </a:lnTo>
                <a:lnTo>
                  <a:pt x="31750" y="42138"/>
                </a:lnTo>
                <a:lnTo>
                  <a:pt x="58267" y="13919"/>
                </a:lnTo>
                <a:lnTo>
                  <a:pt x="70485" y="8597"/>
                </a:lnTo>
                <a:close/>
              </a:path>
              <a:path w="3511550" h="212089">
                <a:moveTo>
                  <a:pt x="496570" y="105930"/>
                </a:moveTo>
                <a:lnTo>
                  <a:pt x="495477" y="86753"/>
                </a:lnTo>
                <a:lnTo>
                  <a:pt x="495465" y="86525"/>
                </a:lnTo>
                <a:lnTo>
                  <a:pt x="492201" y="68580"/>
                </a:lnTo>
                <a:lnTo>
                  <a:pt x="469468" y="24104"/>
                </a:lnTo>
                <a:lnTo>
                  <a:pt x="429006" y="0"/>
                </a:lnTo>
                <a:lnTo>
                  <a:pt x="426085" y="8597"/>
                </a:lnTo>
                <a:lnTo>
                  <a:pt x="438289" y="13919"/>
                </a:lnTo>
                <a:lnTo>
                  <a:pt x="448830" y="21285"/>
                </a:lnTo>
                <a:lnTo>
                  <a:pt x="470242" y="55410"/>
                </a:lnTo>
                <a:lnTo>
                  <a:pt x="476440" y="86525"/>
                </a:lnTo>
                <a:lnTo>
                  <a:pt x="476478" y="86753"/>
                </a:lnTo>
                <a:lnTo>
                  <a:pt x="477266" y="104813"/>
                </a:lnTo>
                <a:lnTo>
                  <a:pt x="476478" y="123494"/>
                </a:lnTo>
                <a:lnTo>
                  <a:pt x="474116" y="140449"/>
                </a:lnTo>
                <a:lnTo>
                  <a:pt x="457581" y="180848"/>
                </a:lnTo>
                <a:lnTo>
                  <a:pt x="426339" y="203149"/>
                </a:lnTo>
                <a:lnTo>
                  <a:pt x="429006" y="211747"/>
                </a:lnTo>
                <a:lnTo>
                  <a:pt x="469519" y="187706"/>
                </a:lnTo>
                <a:lnTo>
                  <a:pt x="492201" y="143344"/>
                </a:lnTo>
                <a:lnTo>
                  <a:pt x="495465" y="125387"/>
                </a:lnTo>
                <a:lnTo>
                  <a:pt x="496570" y="105930"/>
                </a:lnTo>
                <a:close/>
              </a:path>
              <a:path w="3511550" h="212089">
                <a:moveTo>
                  <a:pt x="1574673" y="8597"/>
                </a:moveTo>
                <a:lnTo>
                  <a:pt x="1571625" y="0"/>
                </a:lnTo>
                <a:lnTo>
                  <a:pt x="1556283" y="5549"/>
                </a:lnTo>
                <a:lnTo>
                  <a:pt x="1542834" y="13576"/>
                </a:lnTo>
                <a:lnTo>
                  <a:pt x="1513928" y="52108"/>
                </a:lnTo>
                <a:lnTo>
                  <a:pt x="1504238" y="104813"/>
                </a:lnTo>
                <a:lnTo>
                  <a:pt x="1504188" y="105930"/>
                </a:lnTo>
                <a:lnTo>
                  <a:pt x="1505153" y="123494"/>
                </a:lnTo>
                <a:lnTo>
                  <a:pt x="1505254" y="125387"/>
                </a:lnTo>
                <a:lnTo>
                  <a:pt x="1521587" y="174739"/>
                </a:lnTo>
                <a:lnTo>
                  <a:pt x="1556258" y="206222"/>
                </a:lnTo>
                <a:lnTo>
                  <a:pt x="1571625" y="211747"/>
                </a:lnTo>
                <a:lnTo>
                  <a:pt x="1574292" y="203149"/>
                </a:lnTo>
                <a:lnTo>
                  <a:pt x="1562239" y="197815"/>
                </a:lnTo>
                <a:lnTo>
                  <a:pt x="1551825" y="190373"/>
                </a:lnTo>
                <a:lnTo>
                  <a:pt x="1530502" y="155689"/>
                </a:lnTo>
                <a:lnTo>
                  <a:pt x="1523530" y="105930"/>
                </a:lnTo>
                <a:lnTo>
                  <a:pt x="1523492" y="104813"/>
                </a:lnTo>
                <a:lnTo>
                  <a:pt x="1524266" y="86753"/>
                </a:lnTo>
                <a:lnTo>
                  <a:pt x="1535938" y="42138"/>
                </a:lnTo>
                <a:lnTo>
                  <a:pt x="1562455" y="13919"/>
                </a:lnTo>
                <a:lnTo>
                  <a:pt x="1574673" y="8597"/>
                </a:lnTo>
                <a:close/>
              </a:path>
              <a:path w="3511550" h="212089">
                <a:moveTo>
                  <a:pt x="2000758" y="105930"/>
                </a:moveTo>
                <a:lnTo>
                  <a:pt x="1999665" y="86753"/>
                </a:lnTo>
                <a:lnTo>
                  <a:pt x="1999653" y="86525"/>
                </a:lnTo>
                <a:lnTo>
                  <a:pt x="1996389" y="68580"/>
                </a:lnTo>
                <a:lnTo>
                  <a:pt x="1973656" y="24104"/>
                </a:lnTo>
                <a:lnTo>
                  <a:pt x="1933194" y="0"/>
                </a:lnTo>
                <a:lnTo>
                  <a:pt x="1930273" y="8597"/>
                </a:lnTo>
                <a:lnTo>
                  <a:pt x="1942477" y="13919"/>
                </a:lnTo>
                <a:lnTo>
                  <a:pt x="1953018" y="21285"/>
                </a:lnTo>
                <a:lnTo>
                  <a:pt x="1974430" y="55410"/>
                </a:lnTo>
                <a:lnTo>
                  <a:pt x="1980628" y="86525"/>
                </a:lnTo>
                <a:lnTo>
                  <a:pt x="1980666" y="86753"/>
                </a:lnTo>
                <a:lnTo>
                  <a:pt x="1981454" y="104813"/>
                </a:lnTo>
                <a:lnTo>
                  <a:pt x="1980666" y="123494"/>
                </a:lnTo>
                <a:lnTo>
                  <a:pt x="1978304" y="140449"/>
                </a:lnTo>
                <a:lnTo>
                  <a:pt x="1961769" y="180848"/>
                </a:lnTo>
                <a:lnTo>
                  <a:pt x="1930527" y="203149"/>
                </a:lnTo>
                <a:lnTo>
                  <a:pt x="1933194" y="211747"/>
                </a:lnTo>
                <a:lnTo>
                  <a:pt x="1973707" y="187706"/>
                </a:lnTo>
                <a:lnTo>
                  <a:pt x="1996389" y="143344"/>
                </a:lnTo>
                <a:lnTo>
                  <a:pt x="1999653" y="125387"/>
                </a:lnTo>
                <a:lnTo>
                  <a:pt x="2000758" y="105930"/>
                </a:lnTo>
                <a:close/>
              </a:path>
              <a:path w="3511550" h="212089">
                <a:moveTo>
                  <a:pt x="3083433" y="8597"/>
                </a:moveTo>
                <a:lnTo>
                  <a:pt x="3080385" y="0"/>
                </a:lnTo>
                <a:lnTo>
                  <a:pt x="3065043" y="5549"/>
                </a:lnTo>
                <a:lnTo>
                  <a:pt x="3051594" y="13576"/>
                </a:lnTo>
                <a:lnTo>
                  <a:pt x="3022689" y="52108"/>
                </a:lnTo>
                <a:lnTo>
                  <a:pt x="3012998" y="104813"/>
                </a:lnTo>
                <a:lnTo>
                  <a:pt x="3012948" y="105930"/>
                </a:lnTo>
                <a:lnTo>
                  <a:pt x="3013913" y="123494"/>
                </a:lnTo>
                <a:lnTo>
                  <a:pt x="3014014" y="125387"/>
                </a:lnTo>
                <a:lnTo>
                  <a:pt x="3030347" y="174739"/>
                </a:lnTo>
                <a:lnTo>
                  <a:pt x="3065018" y="206222"/>
                </a:lnTo>
                <a:lnTo>
                  <a:pt x="3080385" y="211747"/>
                </a:lnTo>
                <a:lnTo>
                  <a:pt x="3083052" y="203149"/>
                </a:lnTo>
                <a:lnTo>
                  <a:pt x="3070999" y="197815"/>
                </a:lnTo>
                <a:lnTo>
                  <a:pt x="3060585" y="190373"/>
                </a:lnTo>
                <a:lnTo>
                  <a:pt x="3039262" y="155689"/>
                </a:lnTo>
                <a:lnTo>
                  <a:pt x="3032290" y="105930"/>
                </a:lnTo>
                <a:lnTo>
                  <a:pt x="3032252" y="104813"/>
                </a:lnTo>
                <a:lnTo>
                  <a:pt x="3033026" y="86753"/>
                </a:lnTo>
                <a:lnTo>
                  <a:pt x="3044698" y="42138"/>
                </a:lnTo>
                <a:lnTo>
                  <a:pt x="3071215" y="13919"/>
                </a:lnTo>
                <a:lnTo>
                  <a:pt x="3083433" y="8597"/>
                </a:lnTo>
                <a:close/>
              </a:path>
              <a:path w="3511550" h="212089">
                <a:moveTo>
                  <a:pt x="3511042" y="105930"/>
                </a:moveTo>
                <a:lnTo>
                  <a:pt x="3509949" y="86753"/>
                </a:lnTo>
                <a:lnTo>
                  <a:pt x="3509937" y="86525"/>
                </a:lnTo>
                <a:lnTo>
                  <a:pt x="3506673" y="68580"/>
                </a:lnTo>
                <a:lnTo>
                  <a:pt x="3483940" y="24104"/>
                </a:lnTo>
                <a:lnTo>
                  <a:pt x="3443478" y="0"/>
                </a:lnTo>
                <a:lnTo>
                  <a:pt x="3440557" y="8597"/>
                </a:lnTo>
                <a:lnTo>
                  <a:pt x="3452761" y="13919"/>
                </a:lnTo>
                <a:lnTo>
                  <a:pt x="3463302" y="21285"/>
                </a:lnTo>
                <a:lnTo>
                  <a:pt x="3484715" y="55410"/>
                </a:lnTo>
                <a:lnTo>
                  <a:pt x="3490912" y="86525"/>
                </a:lnTo>
                <a:lnTo>
                  <a:pt x="3490950" y="86753"/>
                </a:lnTo>
                <a:lnTo>
                  <a:pt x="3491738" y="104813"/>
                </a:lnTo>
                <a:lnTo>
                  <a:pt x="3490950" y="123494"/>
                </a:lnTo>
                <a:lnTo>
                  <a:pt x="3488588" y="140449"/>
                </a:lnTo>
                <a:lnTo>
                  <a:pt x="3472053" y="180848"/>
                </a:lnTo>
                <a:lnTo>
                  <a:pt x="3440811" y="203149"/>
                </a:lnTo>
                <a:lnTo>
                  <a:pt x="3443478" y="211747"/>
                </a:lnTo>
                <a:lnTo>
                  <a:pt x="3483991" y="187706"/>
                </a:lnTo>
                <a:lnTo>
                  <a:pt x="3506673" y="143344"/>
                </a:lnTo>
                <a:lnTo>
                  <a:pt x="3509937" y="125387"/>
                </a:lnTo>
                <a:lnTo>
                  <a:pt x="3511042" y="105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2192840" y="5803910"/>
            <a:ext cx="557521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19505" algn="l"/>
                <a:tab pos="2609850" algn="l"/>
                <a:tab pos="4117975" algn="l"/>
              </a:tabLst>
            </a:pPr>
            <a:r>
              <a:rPr sz="1800" dirty="0">
                <a:latin typeface="Cambria Math"/>
                <a:cs typeface="Cambria Math"/>
              </a:rPr>
              <a:t>𝑔𝑟𝑎𝑦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0.299𝑟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+ 0.587𝑔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0.114𝑏(𝑥,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45" dirty="0">
                <a:latin typeface="Cambria Math"/>
                <a:cs typeface="Cambria Math"/>
              </a:rPr>
              <a:t>𝑦</a:t>
            </a:r>
            <a:r>
              <a:rPr sz="2700" spc="-816" baseline="2000" dirty="0">
                <a:latin typeface="Cambria Math"/>
                <a:cs typeface="Cambria Math"/>
              </a:rPr>
              <a:t>ሻ</a:t>
            </a:r>
            <a:endParaRPr sz="2700" baseline="20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67262" y="4436827"/>
            <a:ext cx="3345257" cy="2157637"/>
            <a:chOff x="7968995" y="4440935"/>
            <a:chExt cx="3348354" cy="215963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8995" y="4440935"/>
              <a:ext cx="1437131" cy="21595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8567" y="4440935"/>
              <a:ext cx="1438655" cy="21595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095" y="174817"/>
            <a:ext cx="7075833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6195" algn="l"/>
              </a:tabLst>
            </a:pPr>
            <a:r>
              <a:rPr spc="280" dirty="0"/>
              <a:t>2.3</a:t>
            </a:r>
            <a:r>
              <a:rPr dirty="0"/>
              <a:t>	</a:t>
            </a:r>
            <a:r>
              <a:rPr spc="-35" dirty="0"/>
              <a:t>两图像相加、相减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856348" y="4999931"/>
            <a:ext cx="8961078" cy="100110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195" spc="-15" dirty="0">
                <a:latin typeface="宋体"/>
                <a:cs typeface="宋体"/>
              </a:rPr>
              <a:t>相加：混合图像、添加噪声</a:t>
            </a:r>
            <a:endParaRPr sz="3195">
              <a:latin typeface="宋体"/>
              <a:cs typeface="宋体"/>
            </a:endParaRPr>
          </a:p>
          <a:p>
            <a:pPr marL="12700">
              <a:spcBef>
                <a:spcPts val="5"/>
              </a:spcBef>
            </a:pPr>
            <a:r>
              <a:rPr sz="3195" spc="-10" dirty="0">
                <a:latin typeface="宋体"/>
                <a:cs typeface="宋体"/>
              </a:rPr>
              <a:t>相减：消除背景、差影法</a:t>
            </a:r>
            <a:r>
              <a:rPr sz="3195" dirty="0">
                <a:latin typeface="宋体"/>
                <a:cs typeface="宋体"/>
              </a:rPr>
              <a:t>（</a:t>
            </a:r>
            <a:r>
              <a:rPr sz="3195" spc="-15" dirty="0">
                <a:latin typeface="宋体"/>
                <a:cs typeface="宋体"/>
              </a:rPr>
              <a:t>比较差异、运动跟踪</a:t>
            </a:r>
            <a:r>
              <a:rPr sz="3195" spc="-50" dirty="0">
                <a:latin typeface="宋体"/>
                <a:cs typeface="宋体"/>
              </a:rPr>
              <a:t>）</a:t>
            </a:r>
            <a:endParaRPr sz="3195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43896" y="1685507"/>
            <a:ext cx="8633086" cy="28776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5593" y="6606620"/>
            <a:ext cx="5030257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[1]https:/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2"/>
              </a:rPr>
              <a:t>/www.kaggle.com/joosthazelzet/lego-brick-images?select=dataset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4190" y="5017770"/>
            <a:ext cx="7623810" cy="151638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195" spc="-10" dirty="0">
                <a:latin typeface="宋体"/>
                <a:cs typeface="宋体"/>
              </a:rPr>
              <a:t>相乘：掩膜(mask)</a:t>
            </a:r>
            <a:endParaRPr sz="3195" spc="-10" dirty="0">
              <a:latin typeface="宋体"/>
              <a:cs typeface="宋体"/>
            </a:endParaRPr>
          </a:p>
          <a:p>
            <a:pPr marL="12700">
              <a:spcBef>
                <a:spcPts val="105"/>
              </a:spcBef>
            </a:pPr>
            <a:r>
              <a:rPr lang="en-US" sz="3195">
                <a:latin typeface="宋体"/>
                <a:cs typeface="宋体"/>
              </a:rPr>
              <a:t>mask</a:t>
            </a:r>
            <a:r>
              <a:rPr lang="zh-CN" altLang="en-US" sz="3195">
                <a:latin typeface="宋体"/>
                <a:cs typeface="宋体"/>
              </a:rPr>
              <a:t>周围黑色的值为</a:t>
            </a:r>
            <a:r>
              <a:rPr lang="en-US" altLang="zh-CN" sz="3195">
                <a:latin typeface="宋体"/>
                <a:cs typeface="宋体"/>
              </a:rPr>
              <a:t>0</a:t>
            </a:r>
            <a:r>
              <a:rPr lang="zh-CN" altLang="en-US" sz="3195">
                <a:latin typeface="宋体"/>
                <a:cs typeface="宋体"/>
              </a:rPr>
              <a:t>，中间的值为</a:t>
            </a:r>
            <a:r>
              <a:rPr lang="en-US" altLang="zh-CN" sz="3195">
                <a:latin typeface="宋体"/>
                <a:cs typeface="宋体"/>
              </a:rPr>
              <a:t>1</a:t>
            </a:r>
            <a:endParaRPr lang="en-US" altLang="zh-CN" sz="3195">
              <a:latin typeface="宋体"/>
              <a:cs typeface="宋体"/>
            </a:endParaRPr>
          </a:p>
          <a:p>
            <a:pPr marL="12700">
              <a:spcBef>
                <a:spcPts val="105"/>
              </a:spcBef>
            </a:pPr>
            <a:r>
              <a:rPr lang="zh-CN" altLang="en-US" sz="3195">
                <a:latin typeface="宋体"/>
                <a:cs typeface="宋体"/>
              </a:rPr>
              <a:t>原图乘以</a:t>
            </a:r>
            <a:r>
              <a:rPr lang="en-US" altLang="zh-CN" sz="3195">
                <a:latin typeface="宋体"/>
                <a:cs typeface="宋体"/>
              </a:rPr>
              <a:t>mask</a:t>
            </a:r>
            <a:r>
              <a:rPr lang="zh-CN" altLang="en-US" sz="3195">
                <a:latin typeface="宋体"/>
                <a:cs typeface="宋体"/>
              </a:rPr>
              <a:t>的</a:t>
            </a:r>
            <a:r>
              <a:rPr lang="en-US" altLang="zh-CN" sz="3195">
                <a:latin typeface="宋体"/>
                <a:cs typeface="宋体"/>
              </a:rPr>
              <a:t>0</a:t>
            </a:r>
            <a:r>
              <a:rPr lang="zh-CN" altLang="en-US" sz="3195">
                <a:latin typeface="宋体"/>
                <a:cs typeface="宋体"/>
              </a:rPr>
              <a:t>等于</a:t>
            </a:r>
            <a:r>
              <a:rPr lang="en-US" altLang="zh-CN" sz="3195">
                <a:latin typeface="宋体"/>
                <a:cs typeface="宋体"/>
              </a:rPr>
              <a:t>0</a:t>
            </a:r>
            <a:r>
              <a:rPr lang="zh-CN" altLang="en-US" sz="3195">
                <a:latin typeface="宋体"/>
                <a:cs typeface="宋体"/>
              </a:rPr>
              <a:t>，乘以</a:t>
            </a:r>
            <a:r>
              <a:rPr lang="en-US" altLang="zh-CN" sz="3195">
                <a:latin typeface="宋体"/>
                <a:cs typeface="宋体"/>
              </a:rPr>
              <a:t>1</a:t>
            </a:r>
            <a:r>
              <a:rPr lang="zh-CN" altLang="en-US" sz="3195">
                <a:latin typeface="宋体"/>
                <a:cs typeface="宋体"/>
              </a:rPr>
              <a:t>等于原值</a:t>
            </a:r>
            <a:endParaRPr lang="zh-CN" altLang="en-US" sz="3195">
              <a:latin typeface="宋体"/>
              <a:cs typeface="宋体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97237" y="1661145"/>
            <a:ext cx="8631564" cy="2877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2960" y="293606"/>
            <a:ext cx="3102912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15720" algn="l"/>
              </a:tabLst>
            </a:pPr>
            <a:r>
              <a:rPr sz="2795" spc="335" dirty="0">
                <a:latin typeface="PMingLiU"/>
                <a:cs typeface="PMingLiU"/>
              </a:rPr>
              <a:t>2.4</a:t>
            </a:r>
            <a:r>
              <a:rPr sz="2795" dirty="0">
                <a:latin typeface="PMingLiU"/>
                <a:cs typeface="PMingLiU"/>
              </a:rPr>
              <a:t>	</a:t>
            </a:r>
            <a:r>
              <a:rPr sz="2795" spc="-40" dirty="0">
                <a:latin typeface="PMingLiU"/>
                <a:cs typeface="PMingLiU"/>
              </a:rPr>
              <a:t>两图像相乘</a:t>
            </a:r>
            <a:endParaRPr sz="2795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960" y="293606"/>
            <a:ext cx="3102912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15720" algn="l"/>
              </a:tabLst>
            </a:pPr>
            <a:r>
              <a:rPr sz="2795" spc="335" dirty="0">
                <a:latin typeface="PMingLiU"/>
                <a:cs typeface="PMingLiU"/>
              </a:rPr>
              <a:t>2.4</a:t>
            </a:r>
            <a:r>
              <a:rPr sz="2795" dirty="0">
                <a:latin typeface="PMingLiU"/>
                <a:cs typeface="PMingLiU"/>
              </a:rPr>
              <a:t>	</a:t>
            </a:r>
            <a:r>
              <a:rPr sz="2795" spc="-40" dirty="0">
                <a:latin typeface="PMingLiU"/>
                <a:cs typeface="PMingLiU"/>
              </a:rPr>
              <a:t>两图像相除</a:t>
            </a:r>
            <a:endParaRPr sz="2795">
              <a:latin typeface="PMingLiU"/>
              <a:cs typeface="PMingLiU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75430" y="1711391"/>
            <a:ext cx="8604157" cy="28670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53842" y="5004246"/>
            <a:ext cx="4902740" cy="51324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195" spc="-10" dirty="0">
                <a:latin typeface="宋体"/>
                <a:cs typeface="宋体"/>
              </a:rPr>
              <a:t>相除：校正设备、比较差异</a:t>
            </a:r>
            <a:endParaRPr sz="3195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663" y="293606"/>
            <a:ext cx="5572680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1750" algn="l"/>
              </a:tabLst>
            </a:pPr>
            <a:r>
              <a:rPr spc="254" dirty="0"/>
              <a:t>2.5</a:t>
            </a:r>
            <a:r>
              <a:rPr dirty="0"/>
              <a:t>	</a:t>
            </a:r>
            <a:r>
              <a:rPr spc="-40" dirty="0"/>
              <a:t>图像像素线性和非线性变换</a:t>
            </a:r>
            <a:endParaRPr spc="-40" dirty="0"/>
          </a:p>
        </p:txBody>
      </p:sp>
      <p:grpSp>
        <p:nvGrpSpPr>
          <p:cNvPr id="3" name="object 3"/>
          <p:cNvGrpSpPr/>
          <p:nvPr/>
        </p:nvGrpSpPr>
        <p:grpSpPr>
          <a:xfrm>
            <a:off x="506571" y="1406872"/>
            <a:ext cx="10876369" cy="4887515"/>
            <a:chOff x="501395" y="1408175"/>
            <a:chExt cx="10886440" cy="48920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840224" y="1408175"/>
              <a:ext cx="6547104" cy="4892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395" y="2240279"/>
              <a:ext cx="4020312" cy="265633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608455" y="2425065"/>
                <a:ext cx="15163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𝛾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55" y="2425065"/>
                <a:ext cx="151638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684655" y="3128010"/>
                <a:ext cx="15163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𝛾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684655" y="3128010"/>
                <a:ext cx="151638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776855" y="3703955"/>
                <a:ext cx="15163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𝛾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2776855" y="3703955"/>
                <a:ext cx="1516380" cy="3683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276" y="293606"/>
            <a:ext cx="536713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215" dirty="0">
                <a:latin typeface="PMingLiU"/>
                <a:cs typeface="PMingLiU"/>
              </a:rPr>
              <a:t>2.6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3606"/>
            <a:ext cx="2511639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实例：图像融合</a:t>
            </a:r>
            <a:endParaRPr spc="-4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98759" y="1898669"/>
            <a:ext cx="8561525" cy="285333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WPS 表格</Application>
  <PresentationFormat>宽屏</PresentationFormat>
  <Paragraphs>157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PMingLiU</vt:lpstr>
      <vt:lpstr>宋体-繁</vt:lpstr>
      <vt:lpstr>宋体</vt:lpstr>
      <vt:lpstr>汉仪书宋二KW</vt:lpstr>
      <vt:lpstr>Arial</vt:lpstr>
      <vt:lpstr>Cambria Math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Kingsoft Math</vt:lpstr>
      <vt:lpstr>Kefa</vt:lpstr>
      <vt:lpstr>DejaVu Math TeX Gyre</vt:lpstr>
      <vt:lpstr>Office 主题​​</vt:lpstr>
      <vt:lpstr>第2章	图像基础</vt:lpstr>
      <vt:lpstr>二值图、灰度图、RGB彩色图</vt:lpstr>
      <vt:lpstr>2.2	图像的矩阵表示</vt:lpstr>
      <vt:lpstr>2.2	图像的矩阵表示</vt:lpstr>
      <vt:lpstr>2.2	二值图、灰度图、RGB彩色图</vt:lpstr>
      <vt:lpstr>2.2	二值图、灰度图、RGB彩色图</vt:lpstr>
      <vt:lpstr>2.3	两图像相加、相减</vt:lpstr>
      <vt:lpstr>PowerPoint 演示文稿</vt:lpstr>
      <vt:lpstr>PowerPoint 演示文稿</vt:lpstr>
      <vt:lpstr>2.5	图像像素线性和非线性变换</vt:lpstr>
      <vt:lpstr>实例：图像融合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a1198</dc:creator>
  <cp:lastModifiedBy>沉默家</cp:lastModifiedBy>
  <cp:revision>11</cp:revision>
  <dcterms:created xsi:type="dcterms:W3CDTF">2025-09-02T08:42:39Z</dcterms:created>
  <dcterms:modified xsi:type="dcterms:W3CDTF">2025-09-02T08:42:39Z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E80D5EE412050DF74802B568F3579AEF_42</vt:lpwstr>
  </property>
  <property fmtid="{D5CDD505-2E9C-101B-9397-08002B2CF9AE}" pid="3" name="KSOProductBuildVer">
    <vt:lpwstr>2052-6.7.1.8828</vt:lpwstr>
  </property>
</Properties>
</file>