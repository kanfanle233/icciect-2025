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62"/>
  </p:notesMasterIdLst>
  <p:handoutMasterIdLst>
    <p:handoutMasterId r:id="rId63"/>
  </p:handoutMasterIdLst>
  <p:sldIdLst>
    <p:sldId id="370" r:id="rId3"/>
    <p:sldId id="371" r:id="rId4"/>
    <p:sldId id="361" r:id="rId5"/>
    <p:sldId id="265" r:id="rId6"/>
    <p:sldId id="373" r:id="rId7"/>
    <p:sldId id="375" r:id="rId8"/>
    <p:sldId id="376" r:id="rId9"/>
    <p:sldId id="377" r:id="rId10"/>
    <p:sldId id="378" r:id="rId11"/>
    <p:sldId id="379" r:id="rId12"/>
    <p:sldId id="380" r:id="rId13"/>
    <p:sldId id="381" r:id="rId14"/>
    <p:sldId id="382" r:id="rId15"/>
    <p:sldId id="383" r:id="rId16"/>
    <p:sldId id="384" r:id="rId17"/>
    <p:sldId id="385" r:id="rId18"/>
    <p:sldId id="386" r:id="rId19"/>
    <p:sldId id="387" r:id="rId20"/>
    <p:sldId id="388" r:id="rId21"/>
    <p:sldId id="389" r:id="rId22"/>
    <p:sldId id="390" r:id="rId23"/>
    <p:sldId id="391" r:id="rId24"/>
    <p:sldId id="392" r:id="rId25"/>
    <p:sldId id="394" r:id="rId26"/>
    <p:sldId id="396" r:id="rId27"/>
    <p:sldId id="397" r:id="rId28"/>
    <p:sldId id="398" r:id="rId29"/>
    <p:sldId id="399" r:id="rId30"/>
    <p:sldId id="400" r:id="rId31"/>
    <p:sldId id="401" r:id="rId32"/>
    <p:sldId id="402" r:id="rId33"/>
    <p:sldId id="403" r:id="rId34"/>
    <p:sldId id="404" r:id="rId35"/>
    <p:sldId id="405" r:id="rId36"/>
    <p:sldId id="406" r:id="rId37"/>
    <p:sldId id="407" r:id="rId38"/>
    <p:sldId id="408" r:id="rId39"/>
    <p:sldId id="409" r:id="rId40"/>
    <p:sldId id="410" r:id="rId41"/>
    <p:sldId id="411"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Lst>
  <p:sldSz cx="9145588" cy="6859588"/>
  <p:notesSz cx="6858000" cy="9144000"/>
  <p:custDataLst>
    <p:tags r:id="rId64"/>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目录" id="{4EE71614-7711-104E-AA42-7AB3F055AAA2}">
          <p14:sldIdLst>
            <p14:sldId id="370"/>
            <p14:sldId id="371"/>
            <p14:sldId id="361"/>
          </p14:sldIdLst>
        </p14:section>
        <p14:section name="1平移" id="{747B74CB-CBAF-994D-B79C-A701F8C76065}">
          <p14:sldIdLst>
            <p14:sldId id="265"/>
            <p14:sldId id="373"/>
            <p14:sldId id="375"/>
            <p14:sldId id="376"/>
            <p14:sldId id="377"/>
          </p14:sldIdLst>
        </p14:section>
        <p14:section name="2旋转" id="{4F4703C4-CB5C-8249-A78C-D361E11B4C29}">
          <p14:sldIdLst>
            <p14:sldId id="378"/>
            <p14:sldId id="379"/>
            <p14:sldId id="380"/>
            <p14:sldId id="381"/>
            <p14:sldId id="382"/>
            <p14:sldId id="383"/>
            <p14:sldId id="384"/>
          </p14:sldIdLst>
        </p14:section>
        <p14:section name="3缩放" id="{8F08C645-F50D-134F-BAB8-9812B140393F}">
          <p14:sldIdLst>
            <p14:sldId id="385"/>
            <p14:sldId id="386"/>
            <p14:sldId id="387"/>
            <p14:sldId id="388"/>
            <p14:sldId id="389"/>
          </p14:sldIdLst>
        </p14:section>
        <p14:section name="4转置" id="{9D5435DA-B3EB-CE4C-9421-304460DF267E}">
          <p14:sldIdLst>
            <p14:sldId id="390"/>
            <p14:sldId id="391"/>
            <p14:sldId id="392"/>
            <p14:sldId id="394"/>
          </p14:sldIdLst>
        </p14:section>
        <p14:section name="5翻转" id="{7E491B66-B8B8-B746-86B3-896B64133302}">
          <p14:sldIdLst>
            <p14:sldId id="396"/>
            <p14:sldId id="397"/>
            <p14:sldId id="398"/>
            <p14:sldId id="399"/>
            <p14:sldId id="400"/>
          </p14:sldIdLst>
        </p14:section>
        <p14:section name="6插值" id="{67FB8312-AAD2-214E-918A-91A6C8E49659}">
          <p14:sldIdLst>
            <p14:sldId id="401"/>
            <p14:sldId id="402"/>
            <p14:sldId id="403"/>
            <p14:sldId id="404"/>
            <p14:sldId id="405"/>
            <p14:sldId id="406"/>
            <p14:sldId id="407"/>
            <p14:sldId id="408"/>
            <p14:sldId id="409"/>
            <p14:sldId id="410"/>
            <p14:sldId id="411"/>
            <p14:sldId id="412"/>
            <p14:sldId id="413"/>
            <p14:sldId id="414"/>
            <p14:sldId id="415"/>
            <p14:sldId id="416"/>
          </p14:sldIdLst>
        </p14:section>
        <p14:section name="7配准" id="{2245DBA0-8A04-EC4A-9823-E5C5EA0BF555}">
          <p14:sldIdLst>
            <p14:sldId id="417"/>
            <p14:sldId id="418"/>
            <p14:sldId id="419"/>
            <p14:sldId id="420"/>
            <p14:sldId id="421"/>
            <p14:sldId id="422"/>
            <p14:sldId id="423"/>
            <p14:sldId id="424"/>
            <p14:sldId id="425"/>
            <p14:sldId id="426"/>
            <p14:sldId id="427"/>
            <p14:sldId id="428"/>
            <p14:sldId id="429"/>
            <p14:sldId id="430"/>
          </p14:sldIdLst>
        </p14:section>
      </p14:sectionLst>
    </p:ext>
    <p:ext uri="{EFAFB233-063F-42B5-8137-9DF3F51BA10A}">
      <p15:sldGuideLst xmlns:p15="http://schemas.microsoft.com/office/powerpoint/2012/main">
        <p15:guide id="1" orient="horz" pos="2160" userDrawn="1">
          <p15:clr>
            <a:srgbClr val="A4A3A4"/>
          </p15:clr>
        </p15:guide>
        <p15:guide id="2" orient="horz" pos="3838" userDrawn="1">
          <p15:clr>
            <a:srgbClr val="A4A3A4"/>
          </p15:clr>
        </p15:guide>
        <p15:guide id="3" pos="2880" userDrawn="1">
          <p15:clr>
            <a:srgbClr val="A4A3A4"/>
          </p15:clr>
        </p15:guide>
        <p15:guide id="4" pos="5399" userDrawn="1">
          <p15:clr>
            <a:srgbClr val="A4A3A4"/>
          </p15:clr>
        </p15:guide>
        <p15:guide id="5" pos="43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5F5"/>
    <a:srgbClr val="38B1BF"/>
    <a:srgbClr val="EF7768"/>
    <a:srgbClr val="FF9933"/>
    <a:srgbClr val="C7C7C7"/>
    <a:srgbClr val="00458E"/>
    <a:srgbClr val="8B8B8B"/>
    <a:srgbClr val="B11212"/>
    <a:srgbClr val="022A4F"/>
    <a:srgbClr val="007A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05" autoAdjust="0"/>
    <p:restoredTop sz="94660"/>
  </p:normalViewPr>
  <p:slideViewPr>
    <p:cSldViewPr showGuides="1">
      <p:cViewPr varScale="1">
        <p:scale>
          <a:sx n="127" d="100"/>
          <a:sy n="127" d="100"/>
        </p:scale>
        <p:origin x="2000" y="192"/>
      </p:cViewPr>
      <p:guideLst>
        <p:guide orient="horz" pos="2160"/>
        <p:guide orient="horz" pos="3838"/>
        <p:guide pos="2880"/>
        <p:guide pos="5399"/>
        <p:guide pos="43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3" d="100"/>
          <a:sy n="83"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1C15E6-6BD2-4E4B-B1D4-218C26E1B228}" type="datetimeFigureOut">
              <a:rPr lang="zh-CN" altLang="en-US" smtClean="0"/>
              <a:t>2025/10/8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55EDCA-2189-4435-B38B-6F3C2C04435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7430C-5A66-4BD0-A971-34190B6C6019}" type="datetimeFigureOut">
              <a:rPr lang="zh-CN" altLang="en-US" smtClean="0"/>
              <a:t>2025/10/8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C173A-3DA8-4893-B28A-1E15F55C330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54</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55</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56</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57</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58</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2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3_两栏内容">
    <p:bg>
      <p:bgPr>
        <a:solidFill>
          <a:srgbClr val="F5F5F5"/>
        </a:solidFill>
        <a:effectLst/>
      </p:bgPr>
    </p:bg>
    <p:spTree>
      <p:nvGrpSpPr>
        <p:cNvPr id="1" name=""/>
        <p:cNvGrpSpPr/>
        <p:nvPr/>
      </p:nvGrpSpPr>
      <p:grpSpPr>
        <a:xfrm>
          <a:off x="0" y="0"/>
          <a:ext cx="0" cy="0"/>
          <a:chOff x="0" y="0"/>
          <a:chExt cx="0" cy="0"/>
        </a:xfrm>
      </p:grpSpPr>
      <p:sp>
        <p:nvSpPr>
          <p:cNvPr id="11" name="TextBox 15"/>
          <p:cNvSpPr txBox="1"/>
          <p:nvPr userDrawn="1"/>
        </p:nvSpPr>
        <p:spPr>
          <a:xfrm>
            <a:off x="8080932" y="405459"/>
            <a:ext cx="849913" cy="323165"/>
          </a:xfrm>
          <a:prstGeom prst="rect">
            <a:avLst/>
          </a:prstGeom>
          <a:noFill/>
        </p:spPr>
        <p:txBody>
          <a:bodyPr wrap="none"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第</a:t>
            </a:r>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fld id="{2EEF1883-7A0E-4F66-9932-E581691AD397}" type="slidenum">
              <a:rPr lang="zh-CN" altLang="en-US" sz="1500" smtClean="0">
                <a:solidFill>
                  <a:schemeClr val="tx1">
                    <a:lumMod val="50000"/>
                    <a:lumOff val="50000"/>
                  </a:schemeClr>
                </a:solidFill>
                <a:latin typeface="微软雅黑" panose="020B0503020204020204" pitchFamily="34" charset="-122"/>
                <a:ea typeface="微软雅黑" panose="020B0503020204020204" pitchFamily="34" charset="-122"/>
              </a:rPr>
              <a:t>‹#›</a:t>
            </a:fld>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页</a:t>
            </a:r>
            <a:endParaRPr lang="zh-CN" altLang="en-US" sz="12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1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8" name="그림 6" descr="0006.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1" y="3"/>
            <a:ext cx="9145588" cy="669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9" y="4407925"/>
            <a:ext cx="7773750" cy="1362391"/>
          </a:xfrm>
        </p:spPr>
        <p:txBody>
          <a:bodyPr anchor="t"/>
          <a:lstStyle>
            <a:lvl1pPr algn="l">
              <a:defRPr sz="3975" b="1" cap="all"/>
            </a:lvl1pPr>
          </a:lstStyle>
          <a:p>
            <a:r>
              <a:rPr lang="zh-CN" altLang="en-US"/>
              <a:t>单击此处编辑母版标题样式</a:t>
            </a:r>
          </a:p>
        </p:txBody>
      </p:sp>
      <p:sp>
        <p:nvSpPr>
          <p:cNvPr id="3" name="文本占位符 2"/>
          <p:cNvSpPr>
            <a:spLocks noGrp="1"/>
          </p:cNvSpPr>
          <p:nvPr>
            <p:ph type="body" idx="1"/>
          </p:nvPr>
        </p:nvSpPr>
        <p:spPr>
          <a:xfrm>
            <a:off x="722439" y="2907386"/>
            <a:ext cx="7773750" cy="1500534"/>
          </a:xfrm>
        </p:spPr>
        <p:txBody>
          <a:bodyPr anchor="b"/>
          <a:lstStyle>
            <a:lvl1pPr marL="0" indent="0">
              <a:buNone/>
              <a:defRPr sz="2025">
                <a:solidFill>
                  <a:schemeClr val="tx1">
                    <a:tint val="75000"/>
                  </a:schemeClr>
                </a:solidFill>
              </a:defRPr>
            </a:lvl1pPr>
            <a:lvl2pPr marL="457200" indent="0">
              <a:buNone/>
              <a:defRPr sz="1800">
                <a:solidFill>
                  <a:schemeClr val="tx1">
                    <a:tint val="75000"/>
                  </a:schemeClr>
                </a:solidFill>
              </a:defRPr>
            </a:lvl2pPr>
            <a:lvl3pPr marL="914400" indent="0">
              <a:buNone/>
              <a:defRPr sz="1575">
                <a:solidFill>
                  <a:schemeClr val="tx1">
                    <a:tint val="75000"/>
                  </a:schemeClr>
                </a:solidFill>
              </a:defRPr>
            </a:lvl3pPr>
            <a:lvl4pPr marL="1372235" indent="0">
              <a:buNone/>
              <a:defRPr sz="1425">
                <a:solidFill>
                  <a:schemeClr val="tx1">
                    <a:tint val="75000"/>
                  </a:schemeClr>
                </a:solidFill>
              </a:defRPr>
            </a:lvl4pPr>
            <a:lvl5pPr marL="1829435" indent="0">
              <a:buNone/>
              <a:defRPr sz="1425">
                <a:solidFill>
                  <a:schemeClr val="tx1">
                    <a:tint val="75000"/>
                  </a:schemeClr>
                </a:solidFill>
              </a:defRPr>
            </a:lvl5pPr>
            <a:lvl6pPr marL="2286635" indent="0">
              <a:buNone/>
              <a:defRPr sz="1425">
                <a:solidFill>
                  <a:schemeClr val="tx1">
                    <a:tint val="75000"/>
                  </a:schemeClr>
                </a:solidFill>
              </a:defRPr>
            </a:lvl6pPr>
            <a:lvl7pPr marL="2743835" indent="0">
              <a:buNone/>
              <a:defRPr sz="1425">
                <a:solidFill>
                  <a:schemeClr val="tx1">
                    <a:tint val="75000"/>
                  </a:schemeClr>
                </a:solidFill>
              </a:defRPr>
            </a:lvl7pPr>
            <a:lvl8pPr marL="3201035" indent="0">
              <a:buNone/>
              <a:defRPr sz="1425">
                <a:solidFill>
                  <a:schemeClr val="tx1">
                    <a:tint val="75000"/>
                  </a:schemeClr>
                </a:solidFill>
              </a:defRPr>
            </a:lvl8pPr>
            <a:lvl9pPr marL="3658235" indent="0">
              <a:buNone/>
              <a:defRPr sz="1425">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80"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008"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79" y="1535469"/>
            <a:ext cx="4040890"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p>
        </p:txBody>
      </p:sp>
      <p:sp>
        <p:nvSpPr>
          <p:cNvPr id="4" name="内容占位符 3"/>
          <p:cNvSpPr>
            <a:spLocks noGrp="1"/>
          </p:cNvSpPr>
          <p:nvPr>
            <p:ph sz="half" idx="2"/>
          </p:nvPr>
        </p:nvSpPr>
        <p:spPr>
          <a:xfrm>
            <a:off x="457279" y="2175378"/>
            <a:ext cx="4040890"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836" y="1535469"/>
            <a:ext cx="4042477"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p>
        </p:txBody>
      </p:sp>
      <p:sp>
        <p:nvSpPr>
          <p:cNvPr id="6" name="内容占位符 5"/>
          <p:cNvSpPr>
            <a:spLocks noGrp="1"/>
          </p:cNvSpPr>
          <p:nvPr>
            <p:ph sz="quarter" idx="4"/>
          </p:nvPr>
        </p:nvSpPr>
        <p:spPr>
          <a:xfrm>
            <a:off x="4645836" y="2175378"/>
            <a:ext cx="4042477"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82" y="273114"/>
            <a:ext cx="3008836" cy="1162320"/>
          </a:xfrm>
        </p:spPr>
        <p:txBody>
          <a:bodyPr anchor="b"/>
          <a:lstStyle>
            <a:lvl1pPr algn="l">
              <a:defRPr sz="2025" b="1"/>
            </a:lvl1pPr>
          </a:lstStyle>
          <a:p>
            <a:r>
              <a:rPr lang="zh-CN" altLang="en-US"/>
              <a:t>单击此处编辑母版标题样式</a:t>
            </a:r>
          </a:p>
        </p:txBody>
      </p:sp>
      <p:sp>
        <p:nvSpPr>
          <p:cNvPr id="3" name="内容占位符 2"/>
          <p:cNvSpPr>
            <a:spLocks noGrp="1"/>
          </p:cNvSpPr>
          <p:nvPr>
            <p:ph idx="1"/>
          </p:nvPr>
        </p:nvSpPr>
        <p:spPr>
          <a:xfrm>
            <a:off x="3575672" y="273117"/>
            <a:ext cx="5112637" cy="5854469"/>
          </a:xfrm>
        </p:spPr>
        <p:txBody>
          <a:bodyPr/>
          <a:lstStyle>
            <a:lvl1pPr>
              <a:defRPr sz="3225"/>
            </a:lvl1pPr>
            <a:lvl2pPr>
              <a:defRPr sz="2775"/>
            </a:lvl2pPr>
            <a:lvl3pPr>
              <a:defRPr sz="2400"/>
            </a:lvl3pPr>
            <a:lvl4pPr>
              <a:defRPr sz="2025"/>
            </a:lvl4pPr>
            <a:lvl5pPr>
              <a:defRPr sz="2025"/>
            </a:lvl5pPr>
            <a:lvl6pPr>
              <a:defRPr sz="2025"/>
            </a:lvl6pPr>
            <a:lvl7pPr>
              <a:defRPr sz="2025"/>
            </a:lvl7pPr>
            <a:lvl8pPr>
              <a:defRPr sz="2025"/>
            </a:lvl8pPr>
            <a:lvl9pPr>
              <a:defRPr sz="202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82" y="1435437"/>
            <a:ext cx="3008836" cy="4692149"/>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99" y="4801713"/>
            <a:ext cx="5487353" cy="566870"/>
          </a:xfrm>
        </p:spPr>
        <p:txBody>
          <a:bodyPr anchor="b"/>
          <a:lstStyle>
            <a:lvl1pPr algn="l">
              <a:defRPr sz="2025" b="1"/>
            </a:lvl1pPr>
          </a:lstStyle>
          <a:p>
            <a:r>
              <a:rPr lang="zh-CN" altLang="en-US"/>
              <a:t>单击此处编辑母版标题样式</a:t>
            </a:r>
          </a:p>
        </p:txBody>
      </p:sp>
      <p:sp>
        <p:nvSpPr>
          <p:cNvPr id="3" name="图片占位符 2"/>
          <p:cNvSpPr>
            <a:spLocks noGrp="1"/>
          </p:cNvSpPr>
          <p:nvPr>
            <p:ph type="pic" idx="1"/>
          </p:nvPr>
        </p:nvSpPr>
        <p:spPr>
          <a:xfrm>
            <a:off x="1792599" y="612917"/>
            <a:ext cx="5487353" cy="4115753"/>
          </a:xfrm>
        </p:spPr>
        <p:txBody>
          <a:bodyPr/>
          <a:lstStyle>
            <a:lvl1pPr marL="0" indent="0">
              <a:buNone/>
              <a:defRPr sz="3225"/>
            </a:lvl1pPr>
            <a:lvl2pPr marL="457200" indent="0">
              <a:buNone/>
              <a:defRPr sz="2775"/>
            </a:lvl2pPr>
            <a:lvl3pPr marL="914400" indent="0">
              <a:buNone/>
              <a:defRPr sz="2400"/>
            </a:lvl3pPr>
            <a:lvl4pPr marL="1372235" indent="0">
              <a:buNone/>
              <a:defRPr sz="2025"/>
            </a:lvl4pPr>
            <a:lvl5pPr marL="1829435" indent="0">
              <a:buNone/>
              <a:defRPr sz="2025"/>
            </a:lvl5pPr>
            <a:lvl6pPr marL="2286635" indent="0">
              <a:buNone/>
              <a:defRPr sz="2025"/>
            </a:lvl6pPr>
            <a:lvl7pPr marL="2743835" indent="0">
              <a:buNone/>
              <a:defRPr sz="2025"/>
            </a:lvl7pPr>
            <a:lvl8pPr marL="3201035" indent="0">
              <a:buNone/>
              <a:defRPr sz="2025"/>
            </a:lvl8pPr>
            <a:lvl9pPr marL="3658235" indent="0">
              <a:buNone/>
              <a:defRPr sz="2025"/>
            </a:lvl9pPr>
          </a:lstStyle>
          <a:p>
            <a:endParaRPr lang="zh-CN" altLang="en-US"/>
          </a:p>
        </p:txBody>
      </p:sp>
      <p:sp>
        <p:nvSpPr>
          <p:cNvPr id="4" name="文本占位符 3"/>
          <p:cNvSpPr>
            <a:spLocks noGrp="1"/>
          </p:cNvSpPr>
          <p:nvPr>
            <p:ph type="body" sz="half" idx="2"/>
          </p:nvPr>
        </p:nvSpPr>
        <p:spPr>
          <a:xfrm>
            <a:off x="1792599" y="5368583"/>
            <a:ext cx="5487353" cy="805048"/>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8"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ppt_w</p:attrName>
                                        </p:attrNameLst>
                                      </p:cBhvr>
                                      <p:tavLst>
                                        <p:tav tm="0" fmla="#ppt_w*sin(2.5*pi*$)">
                                          <p:val>
                                            <p:fltVal val="0"/>
                                          </p:val>
                                        </p:tav>
                                        <p:tav tm="100000">
                                          <p:val>
                                            <p:fltVal val="1"/>
                                          </p:val>
                                        </p:tav>
                                      </p:tavLst>
                                    </p:anim>
                                    <p:anim calcmode="lin" valueType="num">
                                      <p:cBhvr>
                                        <p:cTn id="9"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552" y="274702"/>
            <a:ext cx="2057757"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80" y="274702"/>
            <a:ext cx="602084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advClick="0" advTm="0">
    <p:wipe/>
  </p:transition>
  <p:txStyles>
    <p:titleStyle>
      <a:lvl1pPr algn="ctr" defTabSz="816610" rtl="0" eaLnBrk="1" latinLnBrk="0" hangingPunct="1">
        <a:spcBef>
          <a:spcPct val="0"/>
        </a:spcBef>
        <a:buNone/>
        <a:defRPr sz="3900" kern="1200">
          <a:solidFill>
            <a:schemeClr val="tx1"/>
          </a:solidFill>
          <a:latin typeface="+mj-lt"/>
          <a:ea typeface="+mj-ea"/>
          <a:cs typeface="+mj-cs"/>
        </a:defRPr>
      </a:lvl1pPr>
    </p:titleStyle>
    <p:body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816610" rtl="0" eaLnBrk="1" latinLnBrk="0" hangingPunct="1">
        <a:defRPr sz="1575" kern="1200">
          <a:solidFill>
            <a:schemeClr val="tx1"/>
          </a:solidFill>
          <a:latin typeface="+mn-lt"/>
          <a:ea typeface="+mn-ea"/>
          <a:cs typeface="+mn-cs"/>
        </a:defRPr>
      </a:lvl1pPr>
      <a:lvl2pPr marL="408305" algn="l" defTabSz="816610" rtl="0" eaLnBrk="1" latinLnBrk="0" hangingPunct="1">
        <a:defRPr sz="1575" kern="1200">
          <a:solidFill>
            <a:schemeClr val="tx1"/>
          </a:solidFill>
          <a:latin typeface="+mn-lt"/>
          <a:ea typeface="+mn-ea"/>
          <a:cs typeface="+mn-cs"/>
        </a:defRPr>
      </a:lvl2pPr>
      <a:lvl3pPr marL="816610" algn="l" defTabSz="816610" rtl="0" eaLnBrk="1" latinLnBrk="0" hangingPunct="1">
        <a:defRPr sz="1575" kern="1200">
          <a:solidFill>
            <a:schemeClr val="tx1"/>
          </a:solidFill>
          <a:latin typeface="+mn-lt"/>
          <a:ea typeface="+mn-ea"/>
          <a:cs typeface="+mn-cs"/>
        </a:defRPr>
      </a:lvl3pPr>
      <a:lvl4pPr marL="1224915" algn="l" defTabSz="816610" rtl="0" eaLnBrk="1" latinLnBrk="0" hangingPunct="1">
        <a:defRPr sz="1575" kern="1200">
          <a:solidFill>
            <a:schemeClr val="tx1"/>
          </a:solidFill>
          <a:latin typeface="+mn-lt"/>
          <a:ea typeface="+mn-ea"/>
          <a:cs typeface="+mn-cs"/>
        </a:defRPr>
      </a:lvl4pPr>
      <a:lvl5pPr marL="1633220" algn="l" defTabSz="816610" rtl="0" eaLnBrk="1" latinLnBrk="0" hangingPunct="1">
        <a:defRPr sz="1575" kern="1200">
          <a:solidFill>
            <a:schemeClr val="tx1"/>
          </a:solidFill>
          <a:latin typeface="+mn-lt"/>
          <a:ea typeface="+mn-ea"/>
          <a:cs typeface="+mn-cs"/>
        </a:defRPr>
      </a:lvl5pPr>
      <a:lvl6pPr marL="2041525" algn="l" defTabSz="816610" rtl="0" eaLnBrk="1" latinLnBrk="0" hangingPunct="1">
        <a:defRPr sz="1575" kern="1200">
          <a:solidFill>
            <a:schemeClr val="tx1"/>
          </a:solidFill>
          <a:latin typeface="+mn-lt"/>
          <a:ea typeface="+mn-ea"/>
          <a:cs typeface="+mn-cs"/>
        </a:defRPr>
      </a:lvl6pPr>
      <a:lvl7pPr marL="2449830" algn="l" defTabSz="816610" rtl="0" eaLnBrk="1" latinLnBrk="0" hangingPunct="1">
        <a:defRPr sz="1575" kern="1200">
          <a:solidFill>
            <a:schemeClr val="tx1"/>
          </a:solidFill>
          <a:latin typeface="+mn-lt"/>
          <a:ea typeface="+mn-ea"/>
          <a:cs typeface="+mn-cs"/>
        </a:defRPr>
      </a:lvl7pPr>
      <a:lvl8pPr marL="2858135" algn="l" defTabSz="816610" rtl="0" eaLnBrk="1" latinLnBrk="0" hangingPunct="1">
        <a:defRPr sz="1575" kern="1200">
          <a:solidFill>
            <a:schemeClr val="tx1"/>
          </a:solidFill>
          <a:latin typeface="+mn-lt"/>
          <a:ea typeface="+mn-ea"/>
          <a:cs typeface="+mn-cs"/>
        </a:defRPr>
      </a:lvl8pPr>
      <a:lvl9pPr marL="3266440" algn="l" defTabSz="816610" rtl="0" eaLnBrk="1" latinLnBrk="0" hangingPunct="1">
        <a:defRPr sz="15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80" y="274702"/>
            <a:ext cx="8231029"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80" y="1600573"/>
            <a:ext cx="8231029"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80" y="6357824"/>
            <a:ext cx="2133971" cy="365210"/>
          </a:xfrm>
          <a:prstGeom prst="rect">
            <a:avLst/>
          </a:prstGeom>
        </p:spPr>
        <p:txBody>
          <a:bodyPr vert="horz" lIns="121917" tIns="60958" rIns="121917" bIns="60958" rtlCol="0" anchor="ctr"/>
          <a:lstStyle>
            <a:lvl1pPr algn="l">
              <a:defRPr sz="1200">
                <a:solidFill>
                  <a:schemeClr val="tx1">
                    <a:tint val="75000"/>
                  </a:schemeClr>
                </a:solidFill>
              </a:defRPr>
            </a:lvl1pPr>
          </a:lstStyle>
          <a:p>
            <a:pPr defTabSz="914400"/>
            <a:fld id="{8B8CD9F9-72C8-4589-8A77-E0EAAC1A9441}" type="datetimeFigureOut">
              <a:rPr lang="zh-CN" altLang="en-US" smtClean="0">
                <a:solidFill>
                  <a:prstClr val="black">
                    <a:tint val="75000"/>
                  </a:prstClr>
                </a:solidFill>
              </a:rPr>
              <a:t>2025/10/8</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743" y="6357824"/>
            <a:ext cx="2896103" cy="365210"/>
          </a:xfrm>
          <a:prstGeom prst="rect">
            <a:avLst/>
          </a:prstGeom>
        </p:spPr>
        <p:txBody>
          <a:bodyPr vert="horz" lIns="121917" tIns="60958" rIns="121917" bIns="60958"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4338" y="6357824"/>
            <a:ext cx="2133971" cy="365210"/>
          </a:xfrm>
          <a:prstGeom prst="rect">
            <a:avLst/>
          </a:prstGeom>
        </p:spPr>
        <p:txBody>
          <a:bodyPr vert="horz" lIns="121917" tIns="60958" rIns="121917" bIns="60958" rtlCol="0" anchor="ctr"/>
          <a:lstStyle>
            <a:lvl1pPr algn="r">
              <a:defRPr sz="1200">
                <a:solidFill>
                  <a:schemeClr val="tx1">
                    <a:tint val="75000"/>
                  </a:schemeClr>
                </a:solidFill>
              </a:defRPr>
            </a:lvl1pPr>
          </a:lstStyle>
          <a:p>
            <a:pPr defTabSz="914400"/>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ctr" defTabSz="914400" rtl="0" eaLnBrk="1" latinLnBrk="0" hangingPunct="1">
        <a:spcBef>
          <a:spcPct val="0"/>
        </a:spcBef>
        <a:buNone/>
        <a:defRPr sz="4425"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25"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775"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4pPr>
      <a:lvl5pPr marL="20580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5pPr>
      <a:lvl6pPr marL="25152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6pPr>
      <a:lvl7pPr marL="29724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7pPr>
      <a:lvl8pPr marL="34296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8pPr>
      <a:lvl9pPr marL="3886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2235"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4.wmf"/><Relationship Id="rId4" Type="http://schemas.openxmlformats.org/officeDocument/2006/relationships/oleObject" Target="../embeddings/oleObject1.bin"/><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17.png"/><Relationship Id="rId7"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1.jpeg"/><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37.jpeg"/></Relationships>
</file>

<file path=ppt/slides/_rels/slide2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9.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41.wmf"/><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40.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67.png"/></Relationships>
</file>

<file path=ppt/slides/_rels/slide4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43.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2.png"/><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3492346" y="1702544"/>
            <a:ext cx="2160896" cy="1862841"/>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grpSp>
        <p:nvGrpSpPr>
          <p:cNvPr id="3" name="组合 2"/>
          <p:cNvGrpSpPr/>
          <p:nvPr/>
        </p:nvGrpSpPr>
        <p:grpSpPr>
          <a:xfrm>
            <a:off x="1" y="5663237"/>
            <a:ext cx="9145587" cy="339684"/>
            <a:chOff x="1" y="6406814"/>
            <a:chExt cx="12190412" cy="452774"/>
          </a:xfrm>
        </p:grpSpPr>
        <p:sp>
          <p:nvSpPr>
            <p:cNvPr id="32" name="六边形 31"/>
            <p:cNvSpPr/>
            <p:nvPr/>
          </p:nvSpPr>
          <p:spPr>
            <a:xfrm>
              <a:off x="1" y="6406814"/>
              <a:ext cx="3041773" cy="45277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3" name="六边形 32"/>
            <p:cNvSpPr/>
            <p:nvPr/>
          </p:nvSpPr>
          <p:spPr>
            <a:xfrm>
              <a:off x="3041775" y="6406814"/>
              <a:ext cx="3063750" cy="45277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4" name="六边形 33"/>
            <p:cNvSpPr/>
            <p:nvPr/>
          </p:nvSpPr>
          <p:spPr>
            <a:xfrm>
              <a:off x="6095207" y="6406814"/>
              <a:ext cx="3047603" cy="45277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5" name="六边形 34"/>
            <p:cNvSpPr/>
            <p:nvPr/>
          </p:nvSpPr>
          <p:spPr>
            <a:xfrm>
              <a:off x="9142810" y="6406814"/>
              <a:ext cx="3047603" cy="45277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36" name="六边形 35"/>
          <p:cNvSpPr/>
          <p:nvPr/>
        </p:nvSpPr>
        <p:spPr>
          <a:xfrm flipV="1">
            <a:off x="1" y="856667"/>
            <a:ext cx="2286397" cy="70072"/>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41" name="文本框 5"/>
          <p:cNvSpPr txBox="1"/>
          <p:nvPr/>
        </p:nvSpPr>
        <p:spPr>
          <a:xfrm>
            <a:off x="3708698" y="4437906"/>
            <a:ext cx="1467534" cy="288549"/>
          </a:xfrm>
          <a:prstGeom prst="rect">
            <a:avLst/>
          </a:prstGeom>
          <a:noFill/>
        </p:spPr>
        <p:txBody>
          <a:bodyPr wrap="none" lIns="68588" tIns="34294" rIns="68588" bIns="34294" rtlCol="0">
            <a:spAutoFit/>
          </a:bodyPr>
          <a:lstStyle/>
          <a:p>
            <a:pPr algn="ctr"/>
            <a:r>
              <a:rPr lang="zh-CN" altLang="en-US" sz="1425" dirty="0">
                <a:solidFill>
                  <a:schemeClr val="tx1">
                    <a:lumMod val="85000"/>
                    <a:lumOff val="15000"/>
                  </a:schemeClr>
                </a:solidFill>
                <a:latin typeface="微软雅黑" panose="020B0503020204020204" pitchFamily="34" charset="-122"/>
                <a:ea typeface="微软雅黑" panose="020B0503020204020204" pitchFamily="34" charset="-122"/>
              </a:rPr>
              <a:t>清华大学出版社</a:t>
            </a:r>
            <a:endParaRPr lang="en-US" altLang="zh-CN" sz="14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2" name="矩形 41"/>
          <p:cNvSpPr/>
          <p:nvPr/>
        </p:nvSpPr>
        <p:spPr>
          <a:xfrm>
            <a:off x="2844602" y="2268005"/>
            <a:ext cx="3601002" cy="761883"/>
          </a:xfrm>
          <a:prstGeom prst="rect">
            <a:avLst/>
          </a:prstGeom>
          <a:noFill/>
          <a:ln>
            <a:noFill/>
          </a:ln>
          <a:effectLst>
            <a:glow rad="1905000">
              <a:srgbClr val="F14124">
                <a:alpha val="40000"/>
              </a:srgbClr>
            </a:glow>
            <a:softEdge rad="1270000"/>
          </a:effectLst>
        </p:spPr>
        <p:txBody>
          <a:bodyPr wrap="none" lIns="68588" tIns="34294" rIns="68588" bIns="34294">
            <a:spAutoFit/>
          </a:bodyPr>
          <a:lstStyle/>
          <a:p>
            <a:pPr algn="ctr"/>
            <a:r>
              <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rPr>
              <a:t>数字图像处理</a:t>
            </a:r>
          </a:p>
        </p:txBody>
      </p:sp>
      <p:sp>
        <p:nvSpPr>
          <p:cNvPr id="19" name="六边形 18"/>
          <p:cNvSpPr/>
          <p:nvPr/>
        </p:nvSpPr>
        <p:spPr>
          <a:xfrm flipV="1">
            <a:off x="2282024" y="858642"/>
            <a:ext cx="2286397" cy="70072"/>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0" name="六边形 19"/>
          <p:cNvSpPr/>
          <p:nvPr/>
        </p:nvSpPr>
        <p:spPr>
          <a:xfrm flipV="1">
            <a:off x="4564048" y="858642"/>
            <a:ext cx="2286397" cy="70072"/>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1" name="六边形 20"/>
          <p:cNvSpPr/>
          <p:nvPr/>
        </p:nvSpPr>
        <p:spPr>
          <a:xfrm flipV="1">
            <a:off x="6859192" y="858642"/>
            <a:ext cx="2286397" cy="70072"/>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barn(outVertical)">
                                      <p:cBhvr>
                                        <p:cTn id="11" dur="1000"/>
                                        <p:tgtEl>
                                          <p:spTgt spid="42"/>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p:tgtEl>
                                          <p:spTgt spid="41"/>
                                        </p:tgtEl>
                                        <p:attrNameLst>
                                          <p:attrName>ppt_y</p:attrName>
                                        </p:attrNameLst>
                                      </p:cBhvr>
                                      <p:tavLst>
                                        <p:tav tm="0">
                                          <p:val>
                                            <p:strVal val="#ppt_y+#ppt_h*1.125000"/>
                                          </p:val>
                                        </p:tav>
                                        <p:tav tm="100000">
                                          <p:val>
                                            <p:strVal val="#ppt_y"/>
                                          </p:val>
                                        </p:tav>
                                      </p:tavLst>
                                    </p:anim>
                                    <p:animEffect transition="in" filter="wipe(up)">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p:bldP spid="42" grpId="0"/>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层"/>
          <p:cNvSpPr txBox="1"/>
          <p:nvPr/>
        </p:nvSpPr>
        <p:spPr bwMode="auto">
          <a:xfrm>
            <a:off x="2180380" y="17369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1</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71" name="直接连接符 70"/>
          <p:cNvCxnSpPr/>
          <p:nvPr/>
        </p:nvCxnSpPr>
        <p:spPr>
          <a:xfrm>
            <a:off x="2839809" y="1789898"/>
            <a:ext cx="0" cy="417566"/>
          </a:xfrm>
          <a:prstGeom prst="line">
            <a:avLst/>
          </a:prstGeom>
          <a:noFill/>
          <a:ln w="9525" cap="flat" cmpd="sng" algn="ctr">
            <a:solidFill>
              <a:schemeClr val="tx1">
                <a:lumMod val="65000"/>
                <a:lumOff val="35000"/>
              </a:schemeClr>
            </a:solidFill>
            <a:prstDash val="solid"/>
          </a:ln>
          <a:effectLst/>
        </p:spPr>
      </p:cxnSp>
      <p:sp>
        <p:nvSpPr>
          <p:cNvPr id="72" name="标题层"/>
          <p:cNvSpPr txBox="1"/>
          <p:nvPr/>
        </p:nvSpPr>
        <p:spPr bwMode="auto">
          <a:xfrm>
            <a:off x="2908279" y="1736931"/>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 图像的平移</a:t>
            </a:r>
          </a:p>
        </p:txBody>
      </p:sp>
      <p:sp>
        <p:nvSpPr>
          <p:cNvPr id="90" name="标题层"/>
          <p:cNvSpPr txBox="1"/>
          <p:nvPr/>
        </p:nvSpPr>
        <p:spPr bwMode="auto">
          <a:xfrm>
            <a:off x="2180380" y="230536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2</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1" name="直接连接符 90"/>
          <p:cNvCxnSpPr/>
          <p:nvPr/>
        </p:nvCxnSpPr>
        <p:spPr>
          <a:xfrm>
            <a:off x="2839809" y="2358335"/>
            <a:ext cx="0" cy="417566"/>
          </a:xfrm>
          <a:prstGeom prst="line">
            <a:avLst/>
          </a:prstGeom>
          <a:noFill/>
          <a:ln w="9525" cap="flat" cmpd="sng" algn="ctr">
            <a:solidFill>
              <a:schemeClr val="tx1">
                <a:lumMod val="65000"/>
                <a:lumOff val="35000"/>
              </a:schemeClr>
            </a:solidFill>
            <a:prstDash val="solid"/>
          </a:ln>
          <a:effectLst/>
        </p:spPr>
      </p:cxnSp>
      <p:sp>
        <p:nvSpPr>
          <p:cNvPr id="92" name="标题层"/>
          <p:cNvSpPr txBox="1"/>
          <p:nvPr/>
        </p:nvSpPr>
        <p:spPr bwMode="auto">
          <a:xfrm>
            <a:off x="2908279" y="2277666"/>
            <a:ext cx="3536723"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 图像的旋转</a:t>
            </a:r>
          </a:p>
        </p:txBody>
      </p:sp>
      <p:sp>
        <p:nvSpPr>
          <p:cNvPr id="95" name="标题层"/>
          <p:cNvSpPr txBox="1"/>
          <p:nvPr/>
        </p:nvSpPr>
        <p:spPr bwMode="auto">
          <a:xfrm>
            <a:off x="2180380" y="28630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3</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6" name="直接连接符 95"/>
          <p:cNvCxnSpPr/>
          <p:nvPr/>
        </p:nvCxnSpPr>
        <p:spPr>
          <a:xfrm>
            <a:off x="2839809" y="2915998"/>
            <a:ext cx="0" cy="417566"/>
          </a:xfrm>
          <a:prstGeom prst="line">
            <a:avLst/>
          </a:prstGeom>
          <a:noFill/>
          <a:ln w="9525" cap="flat" cmpd="sng" algn="ctr">
            <a:solidFill>
              <a:schemeClr val="tx1">
                <a:lumMod val="65000"/>
                <a:lumOff val="35000"/>
              </a:schemeClr>
            </a:solidFill>
            <a:prstDash val="solid"/>
          </a:ln>
          <a:effectLst/>
        </p:spPr>
      </p:cxnSp>
      <p:sp>
        <p:nvSpPr>
          <p:cNvPr id="97" name="标题层"/>
          <p:cNvSpPr txBox="1"/>
          <p:nvPr/>
        </p:nvSpPr>
        <p:spPr bwMode="auto">
          <a:xfrm>
            <a:off x="2908278" y="2863031"/>
            <a:ext cx="4184795"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 图像的缩放</a:t>
            </a:r>
          </a:p>
        </p:txBody>
      </p:sp>
      <p:sp>
        <p:nvSpPr>
          <p:cNvPr id="100" name="标题层"/>
          <p:cNvSpPr txBox="1"/>
          <p:nvPr/>
        </p:nvSpPr>
        <p:spPr bwMode="auto">
          <a:xfrm>
            <a:off x="2180380" y="3429794"/>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4</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101" name="直接连接符 100"/>
          <p:cNvCxnSpPr/>
          <p:nvPr/>
        </p:nvCxnSpPr>
        <p:spPr>
          <a:xfrm>
            <a:off x="2839809" y="3482761"/>
            <a:ext cx="0" cy="417566"/>
          </a:xfrm>
          <a:prstGeom prst="line">
            <a:avLst/>
          </a:prstGeom>
          <a:noFill/>
          <a:ln w="9525" cap="flat" cmpd="sng" algn="ctr">
            <a:solidFill>
              <a:schemeClr val="tx1">
                <a:lumMod val="65000"/>
                <a:lumOff val="35000"/>
              </a:schemeClr>
            </a:solidFill>
            <a:prstDash val="solid"/>
          </a:ln>
          <a:effectLst/>
        </p:spPr>
      </p:cxnSp>
      <p:sp>
        <p:nvSpPr>
          <p:cNvPr id="102" name="标题层"/>
          <p:cNvSpPr txBox="1"/>
          <p:nvPr/>
        </p:nvSpPr>
        <p:spPr bwMode="auto">
          <a:xfrm>
            <a:off x="2908279" y="3429794"/>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 图像的转置</a:t>
            </a:r>
          </a:p>
        </p:txBody>
      </p:sp>
      <p:sp>
        <p:nvSpPr>
          <p:cNvPr id="31" name="矩形 30"/>
          <p:cNvSpPr/>
          <p:nvPr/>
        </p:nvSpPr>
        <p:spPr>
          <a:xfrm>
            <a:off x="1" y="856667"/>
            <a:ext cx="9146778" cy="844410"/>
          </a:xfrm>
          <a:prstGeom prst="rect">
            <a:avLst/>
          </a:prstGeom>
          <a:solidFill>
            <a:srgbClr val="319095"/>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defTabSz="685800">
              <a:defRPr/>
            </a:pPr>
            <a:endParaRPr lang="zh-CN" altLang="en-US" sz="1350" kern="0">
              <a:solidFill>
                <a:prstClr val="white"/>
              </a:solidFill>
              <a:latin typeface="Calibri"/>
              <a:ea typeface="宋体"/>
            </a:endParaRPr>
          </a:p>
        </p:txBody>
      </p:sp>
      <p:sp>
        <p:nvSpPr>
          <p:cNvPr id="32" name="矩形 31"/>
          <p:cNvSpPr/>
          <p:nvPr/>
        </p:nvSpPr>
        <p:spPr>
          <a:xfrm>
            <a:off x="2314099" y="1015776"/>
            <a:ext cx="4517390" cy="598805"/>
          </a:xfrm>
          <a:prstGeom prst="rect">
            <a:avLst/>
          </a:prstGeom>
        </p:spPr>
        <p:txBody>
          <a:bodyPr wrap="none">
            <a:spAutoFit/>
          </a:bodyPr>
          <a:lstStyle/>
          <a:p>
            <a:pPr algn="ctr"/>
            <a:r>
              <a:rPr lang="zh-CN" altLang="en-US" sz="3300" b="1" dirty="0">
                <a:solidFill>
                  <a:prstClr val="white"/>
                </a:solidFill>
                <a:latin typeface="微软雅黑" panose="020B0503020204020204" pitchFamily="34" charset="-122"/>
                <a:ea typeface="微软雅黑" panose="020B0503020204020204" pitchFamily="34" charset="-122"/>
              </a:rPr>
              <a:t>第四章</a:t>
            </a:r>
            <a:r>
              <a:rPr lang="en-US" altLang="zh-CN" sz="3300" b="1" dirty="0">
                <a:solidFill>
                  <a:prstClr val="white"/>
                </a:solidFill>
                <a:latin typeface="微软雅黑" panose="020B0503020204020204" pitchFamily="34" charset="-122"/>
                <a:ea typeface="微软雅黑" panose="020B0503020204020204" pitchFamily="34" charset="-122"/>
              </a:rPr>
              <a:t> </a:t>
            </a:r>
            <a:r>
              <a:rPr lang="zh-CN" altLang="en-US" sz="3300" b="1" dirty="0">
                <a:solidFill>
                  <a:prstClr val="white"/>
                </a:solidFill>
                <a:latin typeface="微软雅黑" panose="020B0503020204020204" pitchFamily="34" charset="-122"/>
                <a:ea typeface="微软雅黑" panose="020B0503020204020204" pitchFamily="34" charset="-122"/>
              </a:rPr>
              <a:t>图像的几何变换</a:t>
            </a:r>
          </a:p>
        </p:txBody>
      </p:sp>
      <p:grpSp>
        <p:nvGrpSpPr>
          <p:cNvPr id="2" name="组合 1"/>
          <p:cNvGrpSpPr/>
          <p:nvPr/>
        </p:nvGrpSpPr>
        <p:grpSpPr>
          <a:xfrm>
            <a:off x="1" y="5819780"/>
            <a:ext cx="9145587" cy="183141"/>
            <a:chOff x="-42912" y="6615474"/>
            <a:chExt cx="12190412" cy="244114"/>
          </a:xfrm>
        </p:grpSpPr>
        <p:sp>
          <p:nvSpPr>
            <p:cNvPr id="24" name="六边形 23"/>
            <p:cNvSpPr/>
            <p:nvPr/>
          </p:nvSpPr>
          <p:spPr>
            <a:xfrm>
              <a:off x="-42912" y="6615474"/>
              <a:ext cx="3041773" cy="24411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5" name="六边形 24"/>
            <p:cNvSpPr/>
            <p:nvPr/>
          </p:nvSpPr>
          <p:spPr>
            <a:xfrm>
              <a:off x="2998862" y="6615474"/>
              <a:ext cx="3063750" cy="24411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6" name="六边形 25"/>
            <p:cNvSpPr/>
            <p:nvPr/>
          </p:nvSpPr>
          <p:spPr>
            <a:xfrm>
              <a:off x="6052294" y="6615474"/>
              <a:ext cx="3047603" cy="24411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7" name="六边形 26"/>
            <p:cNvSpPr/>
            <p:nvPr/>
          </p:nvSpPr>
          <p:spPr>
            <a:xfrm>
              <a:off x="9099897" y="6615474"/>
              <a:ext cx="3047603" cy="24411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29" name="标题层"/>
          <p:cNvSpPr txBox="1"/>
          <p:nvPr/>
        </p:nvSpPr>
        <p:spPr bwMode="auto">
          <a:xfrm>
            <a:off x="2180380" y="400585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5</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0" name="直接连接符 29"/>
          <p:cNvCxnSpPr/>
          <p:nvPr/>
        </p:nvCxnSpPr>
        <p:spPr>
          <a:xfrm>
            <a:off x="2839809" y="4058825"/>
            <a:ext cx="0" cy="417566"/>
          </a:xfrm>
          <a:prstGeom prst="line">
            <a:avLst/>
          </a:prstGeom>
          <a:noFill/>
          <a:ln w="9525" cap="flat" cmpd="sng" algn="ctr">
            <a:solidFill>
              <a:schemeClr val="tx1">
                <a:lumMod val="65000"/>
                <a:lumOff val="35000"/>
              </a:schemeClr>
            </a:solidFill>
            <a:prstDash val="solid"/>
          </a:ln>
          <a:effectLst/>
        </p:spPr>
      </p:cxnSp>
      <p:sp>
        <p:nvSpPr>
          <p:cNvPr id="33" name="标题层"/>
          <p:cNvSpPr txBox="1"/>
          <p:nvPr/>
        </p:nvSpPr>
        <p:spPr bwMode="auto">
          <a:xfrm>
            <a:off x="2908278" y="4028726"/>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 图像的翻转</a:t>
            </a:r>
          </a:p>
        </p:txBody>
      </p:sp>
      <p:sp>
        <p:nvSpPr>
          <p:cNvPr id="34" name="标题层"/>
          <p:cNvSpPr txBox="1"/>
          <p:nvPr/>
        </p:nvSpPr>
        <p:spPr bwMode="auto">
          <a:xfrm>
            <a:off x="2180379" y="4595489"/>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6</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5" name="直接连接符 34"/>
          <p:cNvCxnSpPr/>
          <p:nvPr/>
        </p:nvCxnSpPr>
        <p:spPr>
          <a:xfrm>
            <a:off x="2839808" y="4648456"/>
            <a:ext cx="0" cy="417566"/>
          </a:xfrm>
          <a:prstGeom prst="line">
            <a:avLst/>
          </a:prstGeom>
          <a:noFill/>
          <a:ln w="9525" cap="flat" cmpd="sng" algn="ctr">
            <a:solidFill>
              <a:schemeClr val="tx1">
                <a:lumMod val="65000"/>
                <a:lumOff val="35000"/>
              </a:schemeClr>
            </a:solidFill>
            <a:prstDash val="solid"/>
          </a:ln>
          <a:effectLst/>
        </p:spPr>
      </p:cxnSp>
      <p:sp>
        <p:nvSpPr>
          <p:cNvPr id="36" name="标题层"/>
          <p:cNvSpPr txBox="1"/>
          <p:nvPr/>
        </p:nvSpPr>
        <p:spPr bwMode="auto">
          <a:xfrm>
            <a:off x="2908278" y="4595489"/>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 图像的插值</a:t>
            </a:r>
          </a:p>
        </p:txBody>
      </p:sp>
      <p:sp>
        <p:nvSpPr>
          <p:cNvPr id="28" name="标题层"/>
          <p:cNvSpPr txBox="1"/>
          <p:nvPr/>
        </p:nvSpPr>
        <p:spPr bwMode="auto">
          <a:xfrm>
            <a:off x="2177231" y="5113274"/>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7</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7" name="直接连接符 36"/>
          <p:cNvCxnSpPr/>
          <p:nvPr/>
        </p:nvCxnSpPr>
        <p:spPr>
          <a:xfrm>
            <a:off x="2836660" y="5166241"/>
            <a:ext cx="0" cy="417566"/>
          </a:xfrm>
          <a:prstGeom prst="line">
            <a:avLst/>
          </a:prstGeom>
          <a:noFill/>
          <a:ln w="9525" cap="flat" cmpd="sng" algn="ctr">
            <a:solidFill>
              <a:schemeClr val="tx1">
                <a:lumMod val="65000"/>
                <a:lumOff val="35000"/>
              </a:schemeClr>
            </a:solidFill>
            <a:prstDash val="solid"/>
          </a:ln>
          <a:effectLst/>
        </p:spPr>
      </p:cxnSp>
      <p:sp>
        <p:nvSpPr>
          <p:cNvPr id="38" name="标题层"/>
          <p:cNvSpPr txBox="1"/>
          <p:nvPr/>
        </p:nvSpPr>
        <p:spPr bwMode="auto">
          <a:xfrm>
            <a:off x="2905130" y="5113274"/>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 图像的配准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1000"/>
                            </p:stCondLst>
                            <p:childTnLst>
                              <p:par>
                                <p:cTn id="13" presetID="47" presetClass="entr" presetSubtype="0"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fade">
                                      <p:cBhvr>
                                        <p:cTn id="15" dur="600"/>
                                        <p:tgtEl>
                                          <p:spTgt spid="71"/>
                                        </p:tgtEl>
                                      </p:cBhvr>
                                    </p:animEffect>
                                    <p:anim calcmode="lin" valueType="num">
                                      <p:cBhvr>
                                        <p:cTn id="16" dur="600" fill="hold"/>
                                        <p:tgtEl>
                                          <p:spTgt spid="71"/>
                                        </p:tgtEl>
                                        <p:attrNameLst>
                                          <p:attrName>ppt_x</p:attrName>
                                        </p:attrNameLst>
                                      </p:cBhvr>
                                      <p:tavLst>
                                        <p:tav tm="0">
                                          <p:val>
                                            <p:strVal val="#ppt_x"/>
                                          </p:val>
                                        </p:tav>
                                        <p:tav tm="100000">
                                          <p:val>
                                            <p:strVal val="#ppt_x"/>
                                          </p:val>
                                        </p:tav>
                                      </p:tavLst>
                                    </p:anim>
                                    <p:anim calcmode="lin" valueType="num">
                                      <p:cBhvr>
                                        <p:cTn id="17" dur="600" fill="hold"/>
                                        <p:tgtEl>
                                          <p:spTgt spid="71"/>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 presetClass="entr" presetSubtype="8" decel="52500" fill="hold" grpId="0" nodeType="after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400" fill="hold"/>
                                        <p:tgtEl>
                                          <p:spTgt spid="70"/>
                                        </p:tgtEl>
                                        <p:attrNameLst>
                                          <p:attrName>ppt_x</p:attrName>
                                        </p:attrNameLst>
                                      </p:cBhvr>
                                      <p:tavLst>
                                        <p:tav tm="0">
                                          <p:val>
                                            <p:strVal val="0-#ppt_w/2"/>
                                          </p:val>
                                        </p:tav>
                                        <p:tav tm="100000">
                                          <p:val>
                                            <p:strVal val="#ppt_x"/>
                                          </p:val>
                                        </p:tav>
                                      </p:tavLst>
                                    </p:anim>
                                    <p:anim calcmode="lin" valueType="num">
                                      <p:cBhvr additive="base">
                                        <p:cTn id="22" dur="400" fill="hold"/>
                                        <p:tgtEl>
                                          <p:spTgt spid="70"/>
                                        </p:tgtEl>
                                        <p:attrNameLst>
                                          <p:attrName>ppt_y</p:attrName>
                                        </p:attrNameLst>
                                      </p:cBhvr>
                                      <p:tavLst>
                                        <p:tav tm="0">
                                          <p:val>
                                            <p:strVal val="#ppt_y"/>
                                          </p:val>
                                        </p:tav>
                                        <p:tav tm="100000">
                                          <p:val>
                                            <p:strVal val="#ppt_y"/>
                                          </p:val>
                                        </p:tav>
                                      </p:tavLst>
                                    </p:anim>
                                  </p:childTnLst>
                                </p:cTn>
                              </p:par>
                              <p:par>
                                <p:cTn id="23" presetID="2" presetClass="entr" presetSubtype="2" decel="5250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anim calcmode="lin" valueType="num">
                                      <p:cBhvr additive="base">
                                        <p:cTn id="25" dur="400" fill="hold"/>
                                        <p:tgtEl>
                                          <p:spTgt spid="72"/>
                                        </p:tgtEl>
                                        <p:attrNameLst>
                                          <p:attrName>ppt_x</p:attrName>
                                        </p:attrNameLst>
                                      </p:cBhvr>
                                      <p:tavLst>
                                        <p:tav tm="0">
                                          <p:val>
                                            <p:strVal val="1+#ppt_w/2"/>
                                          </p:val>
                                        </p:tav>
                                        <p:tav tm="100000">
                                          <p:val>
                                            <p:strVal val="#ppt_x"/>
                                          </p:val>
                                        </p:tav>
                                      </p:tavLst>
                                    </p:anim>
                                    <p:anim calcmode="lin" valueType="num">
                                      <p:cBhvr additive="base">
                                        <p:cTn id="26" dur="400" fill="hold"/>
                                        <p:tgtEl>
                                          <p:spTgt spid="72"/>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47" presetClass="entr" presetSubtype="0" fill="hold" nodeType="after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fade">
                                      <p:cBhvr>
                                        <p:cTn id="30" dur="600"/>
                                        <p:tgtEl>
                                          <p:spTgt spid="91"/>
                                        </p:tgtEl>
                                      </p:cBhvr>
                                    </p:animEffect>
                                    <p:anim calcmode="lin" valueType="num">
                                      <p:cBhvr>
                                        <p:cTn id="31" dur="600" fill="hold"/>
                                        <p:tgtEl>
                                          <p:spTgt spid="91"/>
                                        </p:tgtEl>
                                        <p:attrNameLst>
                                          <p:attrName>ppt_x</p:attrName>
                                        </p:attrNameLst>
                                      </p:cBhvr>
                                      <p:tavLst>
                                        <p:tav tm="0">
                                          <p:val>
                                            <p:strVal val="#ppt_x"/>
                                          </p:val>
                                        </p:tav>
                                        <p:tav tm="100000">
                                          <p:val>
                                            <p:strVal val="#ppt_x"/>
                                          </p:val>
                                        </p:tav>
                                      </p:tavLst>
                                    </p:anim>
                                    <p:anim calcmode="lin" valueType="num">
                                      <p:cBhvr>
                                        <p:cTn id="32" dur="600" fill="hold"/>
                                        <p:tgtEl>
                                          <p:spTgt spid="91"/>
                                        </p:tgtEl>
                                        <p:attrNameLst>
                                          <p:attrName>ppt_y</p:attrName>
                                        </p:attrNameLst>
                                      </p:cBhvr>
                                      <p:tavLst>
                                        <p:tav tm="0">
                                          <p:val>
                                            <p:strVal val="#ppt_y-.1"/>
                                          </p:val>
                                        </p:tav>
                                        <p:tav tm="100000">
                                          <p:val>
                                            <p:strVal val="#ppt_y"/>
                                          </p:val>
                                        </p:tav>
                                      </p:tavLst>
                                    </p:anim>
                                  </p:childTnLst>
                                </p:cTn>
                              </p:par>
                            </p:childTnLst>
                          </p:cTn>
                        </p:par>
                        <p:par>
                          <p:cTn id="33" fill="hold">
                            <p:stCondLst>
                              <p:cond delay="3500"/>
                            </p:stCondLst>
                            <p:childTnLst>
                              <p:par>
                                <p:cTn id="34" presetID="2" presetClass="entr" presetSubtype="8" decel="52500" fill="hold" grpId="0" nodeType="afterEffect">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cBhvr additive="base">
                                        <p:cTn id="36" dur="400" fill="hold"/>
                                        <p:tgtEl>
                                          <p:spTgt spid="90"/>
                                        </p:tgtEl>
                                        <p:attrNameLst>
                                          <p:attrName>ppt_x</p:attrName>
                                        </p:attrNameLst>
                                      </p:cBhvr>
                                      <p:tavLst>
                                        <p:tav tm="0">
                                          <p:val>
                                            <p:strVal val="0-#ppt_w/2"/>
                                          </p:val>
                                        </p:tav>
                                        <p:tav tm="100000">
                                          <p:val>
                                            <p:strVal val="#ppt_x"/>
                                          </p:val>
                                        </p:tav>
                                      </p:tavLst>
                                    </p:anim>
                                    <p:anim calcmode="lin" valueType="num">
                                      <p:cBhvr additive="base">
                                        <p:cTn id="37" dur="400" fill="hold"/>
                                        <p:tgtEl>
                                          <p:spTgt spid="90"/>
                                        </p:tgtEl>
                                        <p:attrNameLst>
                                          <p:attrName>ppt_y</p:attrName>
                                        </p:attrNameLst>
                                      </p:cBhvr>
                                      <p:tavLst>
                                        <p:tav tm="0">
                                          <p:val>
                                            <p:strVal val="#ppt_y"/>
                                          </p:val>
                                        </p:tav>
                                        <p:tav tm="100000">
                                          <p:val>
                                            <p:strVal val="#ppt_y"/>
                                          </p:val>
                                        </p:tav>
                                      </p:tavLst>
                                    </p:anim>
                                  </p:childTnLst>
                                </p:cTn>
                              </p:par>
                              <p:par>
                                <p:cTn id="38" presetID="2" presetClass="entr" presetSubtype="2" decel="52500" fill="hold" grpId="0" nodeType="withEffect">
                                  <p:stCondLst>
                                    <p:cond delay="0"/>
                                  </p:stCondLst>
                                  <p:childTnLst>
                                    <p:set>
                                      <p:cBhvr>
                                        <p:cTn id="39" dur="1" fill="hold">
                                          <p:stCondLst>
                                            <p:cond delay="0"/>
                                          </p:stCondLst>
                                        </p:cTn>
                                        <p:tgtEl>
                                          <p:spTgt spid="92"/>
                                        </p:tgtEl>
                                        <p:attrNameLst>
                                          <p:attrName>style.visibility</p:attrName>
                                        </p:attrNameLst>
                                      </p:cBhvr>
                                      <p:to>
                                        <p:strVal val="visible"/>
                                      </p:to>
                                    </p:set>
                                    <p:anim calcmode="lin" valueType="num">
                                      <p:cBhvr additive="base">
                                        <p:cTn id="40" dur="400" fill="hold"/>
                                        <p:tgtEl>
                                          <p:spTgt spid="92"/>
                                        </p:tgtEl>
                                        <p:attrNameLst>
                                          <p:attrName>ppt_x</p:attrName>
                                        </p:attrNameLst>
                                      </p:cBhvr>
                                      <p:tavLst>
                                        <p:tav tm="0">
                                          <p:val>
                                            <p:strVal val="1+#ppt_w/2"/>
                                          </p:val>
                                        </p:tav>
                                        <p:tav tm="100000">
                                          <p:val>
                                            <p:strVal val="#ppt_x"/>
                                          </p:val>
                                        </p:tav>
                                      </p:tavLst>
                                    </p:anim>
                                    <p:anim calcmode="lin" valueType="num">
                                      <p:cBhvr additive="base">
                                        <p:cTn id="41" dur="400" fill="hold"/>
                                        <p:tgtEl>
                                          <p:spTgt spid="92"/>
                                        </p:tgtEl>
                                        <p:attrNameLst>
                                          <p:attrName>ppt_y</p:attrName>
                                        </p:attrNameLst>
                                      </p:cBhvr>
                                      <p:tavLst>
                                        <p:tav tm="0">
                                          <p:val>
                                            <p:strVal val="#ppt_y"/>
                                          </p:val>
                                        </p:tav>
                                        <p:tav tm="100000">
                                          <p:val>
                                            <p:strVal val="#ppt_y"/>
                                          </p:val>
                                        </p:tav>
                                      </p:tavLst>
                                    </p:anim>
                                  </p:childTnLst>
                                </p:cTn>
                              </p:par>
                            </p:childTnLst>
                          </p:cTn>
                        </p:par>
                        <p:par>
                          <p:cTn id="42" fill="hold">
                            <p:stCondLst>
                              <p:cond delay="4000"/>
                            </p:stCondLst>
                            <p:childTnLst>
                              <p:par>
                                <p:cTn id="43" presetID="47" presetClass="entr" presetSubtype="0" fill="hold" nodeType="after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600"/>
                                        <p:tgtEl>
                                          <p:spTgt spid="96"/>
                                        </p:tgtEl>
                                      </p:cBhvr>
                                    </p:animEffect>
                                    <p:anim calcmode="lin" valueType="num">
                                      <p:cBhvr>
                                        <p:cTn id="46" dur="600" fill="hold"/>
                                        <p:tgtEl>
                                          <p:spTgt spid="96"/>
                                        </p:tgtEl>
                                        <p:attrNameLst>
                                          <p:attrName>ppt_x</p:attrName>
                                        </p:attrNameLst>
                                      </p:cBhvr>
                                      <p:tavLst>
                                        <p:tav tm="0">
                                          <p:val>
                                            <p:strVal val="#ppt_x"/>
                                          </p:val>
                                        </p:tav>
                                        <p:tav tm="100000">
                                          <p:val>
                                            <p:strVal val="#ppt_x"/>
                                          </p:val>
                                        </p:tav>
                                      </p:tavLst>
                                    </p:anim>
                                    <p:anim calcmode="lin" valueType="num">
                                      <p:cBhvr>
                                        <p:cTn id="47" dur="600" fill="hold"/>
                                        <p:tgtEl>
                                          <p:spTgt spid="96"/>
                                        </p:tgtEl>
                                        <p:attrNameLst>
                                          <p:attrName>ppt_y</p:attrName>
                                        </p:attrNameLst>
                                      </p:cBhvr>
                                      <p:tavLst>
                                        <p:tav tm="0">
                                          <p:val>
                                            <p:strVal val="#ppt_y-.1"/>
                                          </p:val>
                                        </p:tav>
                                        <p:tav tm="100000">
                                          <p:val>
                                            <p:strVal val="#ppt_y"/>
                                          </p:val>
                                        </p:tav>
                                      </p:tavLst>
                                    </p:anim>
                                  </p:childTnLst>
                                </p:cTn>
                              </p:par>
                            </p:childTnLst>
                          </p:cTn>
                        </p:par>
                        <p:par>
                          <p:cTn id="48" fill="hold">
                            <p:stCondLst>
                              <p:cond delay="5000"/>
                            </p:stCondLst>
                            <p:childTnLst>
                              <p:par>
                                <p:cTn id="49" presetID="2" presetClass="entr" presetSubtype="8" decel="52500" fill="hold" grpId="0" nodeType="afterEffect">
                                  <p:stCondLst>
                                    <p:cond delay="0"/>
                                  </p:stCondLst>
                                  <p:childTnLst>
                                    <p:set>
                                      <p:cBhvr>
                                        <p:cTn id="50" dur="1" fill="hold">
                                          <p:stCondLst>
                                            <p:cond delay="0"/>
                                          </p:stCondLst>
                                        </p:cTn>
                                        <p:tgtEl>
                                          <p:spTgt spid="95"/>
                                        </p:tgtEl>
                                        <p:attrNameLst>
                                          <p:attrName>style.visibility</p:attrName>
                                        </p:attrNameLst>
                                      </p:cBhvr>
                                      <p:to>
                                        <p:strVal val="visible"/>
                                      </p:to>
                                    </p:set>
                                    <p:anim calcmode="lin" valueType="num">
                                      <p:cBhvr additive="base">
                                        <p:cTn id="51" dur="400" fill="hold"/>
                                        <p:tgtEl>
                                          <p:spTgt spid="95"/>
                                        </p:tgtEl>
                                        <p:attrNameLst>
                                          <p:attrName>ppt_x</p:attrName>
                                        </p:attrNameLst>
                                      </p:cBhvr>
                                      <p:tavLst>
                                        <p:tav tm="0">
                                          <p:val>
                                            <p:strVal val="0-#ppt_w/2"/>
                                          </p:val>
                                        </p:tav>
                                        <p:tav tm="100000">
                                          <p:val>
                                            <p:strVal val="#ppt_x"/>
                                          </p:val>
                                        </p:tav>
                                      </p:tavLst>
                                    </p:anim>
                                    <p:anim calcmode="lin" valueType="num">
                                      <p:cBhvr additive="base">
                                        <p:cTn id="52" dur="400" fill="hold"/>
                                        <p:tgtEl>
                                          <p:spTgt spid="95"/>
                                        </p:tgtEl>
                                        <p:attrNameLst>
                                          <p:attrName>ppt_y</p:attrName>
                                        </p:attrNameLst>
                                      </p:cBhvr>
                                      <p:tavLst>
                                        <p:tav tm="0">
                                          <p:val>
                                            <p:strVal val="#ppt_y"/>
                                          </p:val>
                                        </p:tav>
                                        <p:tav tm="100000">
                                          <p:val>
                                            <p:strVal val="#ppt_y"/>
                                          </p:val>
                                        </p:tav>
                                      </p:tavLst>
                                    </p:anim>
                                  </p:childTnLst>
                                </p:cTn>
                              </p:par>
                              <p:par>
                                <p:cTn id="53" presetID="2" presetClass="entr" presetSubtype="2" decel="5250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anim calcmode="lin" valueType="num">
                                      <p:cBhvr additive="base">
                                        <p:cTn id="55" dur="400" fill="hold"/>
                                        <p:tgtEl>
                                          <p:spTgt spid="97"/>
                                        </p:tgtEl>
                                        <p:attrNameLst>
                                          <p:attrName>ppt_x</p:attrName>
                                        </p:attrNameLst>
                                      </p:cBhvr>
                                      <p:tavLst>
                                        <p:tav tm="0">
                                          <p:val>
                                            <p:strVal val="1+#ppt_w/2"/>
                                          </p:val>
                                        </p:tav>
                                        <p:tav tm="100000">
                                          <p:val>
                                            <p:strVal val="#ppt_x"/>
                                          </p:val>
                                        </p:tav>
                                      </p:tavLst>
                                    </p:anim>
                                    <p:anim calcmode="lin" valueType="num">
                                      <p:cBhvr additive="base">
                                        <p:cTn id="56" dur="400" fill="hold"/>
                                        <p:tgtEl>
                                          <p:spTgt spid="97"/>
                                        </p:tgtEl>
                                        <p:attrNameLst>
                                          <p:attrName>ppt_y</p:attrName>
                                        </p:attrNameLst>
                                      </p:cBhvr>
                                      <p:tavLst>
                                        <p:tav tm="0">
                                          <p:val>
                                            <p:strVal val="#ppt_y"/>
                                          </p:val>
                                        </p:tav>
                                        <p:tav tm="100000">
                                          <p:val>
                                            <p:strVal val="#ppt_y"/>
                                          </p:val>
                                        </p:tav>
                                      </p:tavLst>
                                    </p:anim>
                                  </p:childTnLst>
                                </p:cTn>
                              </p:par>
                            </p:childTnLst>
                          </p:cTn>
                        </p:par>
                        <p:par>
                          <p:cTn id="57" fill="hold">
                            <p:stCondLst>
                              <p:cond delay="5500"/>
                            </p:stCondLst>
                            <p:childTnLst>
                              <p:par>
                                <p:cTn id="58" presetID="47" presetClass="entr" presetSubtype="0" fill="hold" nodeType="afterEffect">
                                  <p:stCondLst>
                                    <p:cond delay="0"/>
                                  </p:stCondLst>
                                  <p:childTnLst>
                                    <p:set>
                                      <p:cBhvr>
                                        <p:cTn id="59" dur="1" fill="hold">
                                          <p:stCondLst>
                                            <p:cond delay="0"/>
                                          </p:stCondLst>
                                        </p:cTn>
                                        <p:tgtEl>
                                          <p:spTgt spid="101"/>
                                        </p:tgtEl>
                                        <p:attrNameLst>
                                          <p:attrName>style.visibility</p:attrName>
                                        </p:attrNameLst>
                                      </p:cBhvr>
                                      <p:to>
                                        <p:strVal val="visible"/>
                                      </p:to>
                                    </p:set>
                                    <p:animEffect transition="in" filter="fade">
                                      <p:cBhvr>
                                        <p:cTn id="60" dur="600"/>
                                        <p:tgtEl>
                                          <p:spTgt spid="101"/>
                                        </p:tgtEl>
                                      </p:cBhvr>
                                    </p:animEffect>
                                    <p:anim calcmode="lin" valueType="num">
                                      <p:cBhvr>
                                        <p:cTn id="61" dur="600" fill="hold"/>
                                        <p:tgtEl>
                                          <p:spTgt spid="101"/>
                                        </p:tgtEl>
                                        <p:attrNameLst>
                                          <p:attrName>ppt_x</p:attrName>
                                        </p:attrNameLst>
                                      </p:cBhvr>
                                      <p:tavLst>
                                        <p:tav tm="0">
                                          <p:val>
                                            <p:strVal val="#ppt_x"/>
                                          </p:val>
                                        </p:tav>
                                        <p:tav tm="100000">
                                          <p:val>
                                            <p:strVal val="#ppt_x"/>
                                          </p:val>
                                        </p:tav>
                                      </p:tavLst>
                                    </p:anim>
                                    <p:anim calcmode="lin" valueType="num">
                                      <p:cBhvr>
                                        <p:cTn id="62" dur="600" fill="hold"/>
                                        <p:tgtEl>
                                          <p:spTgt spid="101"/>
                                        </p:tgtEl>
                                        <p:attrNameLst>
                                          <p:attrName>ppt_y</p:attrName>
                                        </p:attrNameLst>
                                      </p:cBhvr>
                                      <p:tavLst>
                                        <p:tav tm="0">
                                          <p:val>
                                            <p:strVal val="#ppt_y-.1"/>
                                          </p:val>
                                        </p:tav>
                                        <p:tav tm="100000">
                                          <p:val>
                                            <p:strVal val="#ppt_y"/>
                                          </p:val>
                                        </p:tav>
                                      </p:tavLst>
                                    </p:anim>
                                  </p:childTnLst>
                                </p:cTn>
                              </p:par>
                            </p:childTnLst>
                          </p:cTn>
                        </p:par>
                        <p:par>
                          <p:cTn id="63" fill="hold">
                            <p:stCondLst>
                              <p:cond delay="6500"/>
                            </p:stCondLst>
                            <p:childTnLst>
                              <p:par>
                                <p:cTn id="64" presetID="2" presetClass="entr" presetSubtype="8" decel="52500" fill="hold" grpId="0" nodeType="afterEffect">
                                  <p:stCondLst>
                                    <p:cond delay="0"/>
                                  </p:stCondLst>
                                  <p:childTnLst>
                                    <p:set>
                                      <p:cBhvr>
                                        <p:cTn id="65" dur="1" fill="hold">
                                          <p:stCondLst>
                                            <p:cond delay="0"/>
                                          </p:stCondLst>
                                        </p:cTn>
                                        <p:tgtEl>
                                          <p:spTgt spid="100"/>
                                        </p:tgtEl>
                                        <p:attrNameLst>
                                          <p:attrName>style.visibility</p:attrName>
                                        </p:attrNameLst>
                                      </p:cBhvr>
                                      <p:to>
                                        <p:strVal val="visible"/>
                                      </p:to>
                                    </p:set>
                                    <p:anim calcmode="lin" valueType="num">
                                      <p:cBhvr additive="base">
                                        <p:cTn id="66" dur="400" fill="hold"/>
                                        <p:tgtEl>
                                          <p:spTgt spid="100"/>
                                        </p:tgtEl>
                                        <p:attrNameLst>
                                          <p:attrName>ppt_x</p:attrName>
                                        </p:attrNameLst>
                                      </p:cBhvr>
                                      <p:tavLst>
                                        <p:tav tm="0">
                                          <p:val>
                                            <p:strVal val="0-#ppt_w/2"/>
                                          </p:val>
                                        </p:tav>
                                        <p:tav tm="100000">
                                          <p:val>
                                            <p:strVal val="#ppt_x"/>
                                          </p:val>
                                        </p:tav>
                                      </p:tavLst>
                                    </p:anim>
                                    <p:anim calcmode="lin" valueType="num">
                                      <p:cBhvr additive="base">
                                        <p:cTn id="67" dur="400" fill="hold"/>
                                        <p:tgtEl>
                                          <p:spTgt spid="100"/>
                                        </p:tgtEl>
                                        <p:attrNameLst>
                                          <p:attrName>ppt_y</p:attrName>
                                        </p:attrNameLst>
                                      </p:cBhvr>
                                      <p:tavLst>
                                        <p:tav tm="0">
                                          <p:val>
                                            <p:strVal val="#ppt_y"/>
                                          </p:val>
                                        </p:tav>
                                        <p:tav tm="100000">
                                          <p:val>
                                            <p:strVal val="#ppt_y"/>
                                          </p:val>
                                        </p:tav>
                                      </p:tavLst>
                                    </p:anim>
                                  </p:childTnLst>
                                </p:cTn>
                              </p:par>
                              <p:par>
                                <p:cTn id="68" presetID="2" presetClass="entr" presetSubtype="2" decel="52500" fill="hold" grpId="0" nodeType="withEffect">
                                  <p:stCondLst>
                                    <p:cond delay="0"/>
                                  </p:stCondLst>
                                  <p:childTnLst>
                                    <p:set>
                                      <p:cBhvr>
                                        <p:cTn id="69" dur="1" fill="hold">
                                          <p:stCondLst>
                                            <p:cond delay="0"/>
                                          </p:stCondLst>
                                        </p:cTn>
                                        <p:tgtEl>
                                          <p:spTgt spid="102"/>
                                        </p:tgtEl>
                                        <p:attrNameLst>
                                          <p:attrName>style.visibility</p:attrName>
                                        </p:attrNameLst>
                                      </p:cBhvr>
                                      <p:to>
                                        <p:strVal val="visible"/>
                                      </p:to>
                                    </p:set>
                                    <p:anim calcmode="lin" valueType="num">
                                      <p:cBhvr additive="base">
                                        <p:cTn id="70" dur="400" fill="hold"/>
                                        <p:tgtEl>
                                          <p:spTgt spid="102"/>
                                        </p:tgtEl>
                                        <p:attrNameLst>
                                          <p:attrName>ppt_x</p:attrName>
                                        </p:attrNameLst>
                                      </p:cBhvr>
                                      <p:tavLst>
                                        <p:tav tm="0">
                                          <p:val>
                                            <p:strVal val="1+#ppt_w/2"/>
                                          </p:val>
                                        </p:tav>
                                        <p:tav tm="100000">
                                          <p:val>
                                            <p:strVal val="#ppt_x"/>
                                          </p:val>
                                        </p:tav>
                                      </p:tavLst>
                                    </p:anim>
                                    <p:anim calcmode="lin" valueType="num">
                                      <p:cBhvr additive="base">
                                        <p:cTn id="71" dur="400" fill="hold"/>
                                        <p:tgtEl>
                                          <p:spTgt spid="102"/>
                                        </p:tgtEl>
                                        <p:attrNameLst>
                                          <p:attrName>ppt_y</p:attrName>
                                        </p:attrNameLst>
                                      </p:cBhvr>
                                      <p:tavLst>
                                        <p:tav tm="0">
                                          <p:val>
                                            <p:strVal val="#ppt_y"/>
                                          </p:val>
                                        </p:tav>
                                        <p:tav tm="100000">
                                          <p:val>
                                            <p:strVal val="#ppt_y"/>
                                          </p:val>
                                        </p:tav>
                                      </p:tavLst>
                                    </p:anim>
                                  </p:childTnLst>
                                </p:cTn>
                              </p:par>
                            </p:childTnLst>
                          </p:cTn>
                        </p:par>
                        <p:par>
                          <p:cTn id="72" fill="hold">
                            <p:stCondLst>
                              <p:cond delay="7000"/>
                            </p:stCondLst>
                            <p:childTnLst>
                              <p:par>
                                <p:cTn id="73" presetID="47" presetClass="entr" presetSubtype="0" fill="hold"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600"/>
                                        <p:tgtEl>
                                          <p:spTgt spid="30"/>
                                        </p:tgtEl>
                                      </p:cBhvr>
                                    </p:animEffect>
                                    <p:anim calcmode="lin" valueType="num">
                                      <p:cBhvr>
                                        <p:cTn id="76" dur="600" fill="hold"/>
                                        <p:tgtEl>
                                          <p:spTgt spid="30"/>
                                        </p:tgtEl>
                                        <p:attrNameLst>
                                          <p:attrName>ppt_x</p:attrName>
                                        </p:attrNameLst>
                                      </p:cBhvr>
                                      <p:tavLst>
                                        <p:tav tm="0">
                                          <p:val>
                                            <p:strVal val="#ppt_x"/>
                                          </p:val>
                                        </p:tav>
                                        <p:tav tm="100000">
                                          <p:val>
                                            <p:strVal val="#ppt_x"/>
                                          </p:val>
                                        </p:tav>
                                      </p:tavLst>
                                    </p:anim>
                                    <p:anim calcmode="lin" valueType="num">
                                      <p:cBhvr>
                                        <p:cTn id="77" dur="600" fill="hold"/>
                                        <p:tgtEl>
                                          <p:spTgt spid="30"/>
                                        </p:tgtEl>
                                        <p:attrNameLst>
                                          <p:attrName>ppt_y</p:attrName>
                                        </p:attrNameLst>
                                      </p:cBhvr>
                                      <p:tavLst>
                                        <p:tav tm="0">
                                          <p:val>
                                            <p:strVal val="#ppt_y-.1"/>
                                          </p:val>
                                        </p:tav>
                                        <p:tav tm="100000">
                                          <p:val>
                                            <p:strVal val="#ppt_y"/>
                                          </p:val>
                                        </p:tav>
                                      </p:tavLst>
                                    </p:anim>
                                  </p:childTnLst>
                                </p:cTn>
                              </p:par>
                            </p:childTnLst>
                          </p:cTn>
                        </p:par>
                        <p:par>
                          <p:cTn id="78" fill="hold">
                            <p:stCondLst>
                              <p:cond delay="8000"/>
                            </p:stCondLst>
                            <p:childTnLst>
                              <p:par>
                                <p:cTn id="79" presetID="2" presetClass="entr" presetSubtype="8" decel="5250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additive="base">
                                        <p:cTn id="81" dur="400" fill="hold"/>
                                        <p:tgtEl>
                                          <p:spTgt spid="29"/>
                                        </p:tgtEl>
                                        <p:attrNameLst>
                                          <p:attrName>ppt_x</p:attrName>
                                        </p:attrNameLst>
                                      </p:cBhvr>
                                      <p:tavLst>
                                        <p:tav tm="0">
                                          <p:val>
                                            <p:strVal val="0-#ppt_w/2"/>
                                          </p:val>
                                        </p:tav>
                                        <p:tav tm="100000">
                                          <p:val>
                                            <p:strVal val="#ppt_x"/>
                                          </p:val>
                                        </p:tav>
                                      </p:tavLst>
                                    </p:anim>
                                    <p:anim calcmode="lin" valueType="num">
                                      <p:cBhvr additive="base">
                                        <p:cTn id="82" dur="400" fill="hold"/>
                                        <p:tgtEl>
                                          <p:spTgt spid="29"/>
                                        </p:tgtEl>
                                        <p:attrNameLst>
                                          <p:attrName>ppt_y</p:attrName>
                                        </p:attrNameLst>
                                      </p:cBhvr>
                                      <p:tavLst>
                                        <p:tav tm="0">
                                          <p:val>
                                            <p:strVal val="#ppt_y"/>
                                          </p:val>
                                        </p:tav>
                                        <p:tav tm="100000">
                                          <p:val>
                                            <p:strVal val="#ppt_y"/>
                                          </p:val>
                                        </p:tav>
                                      </p:tavLst>
                                    </p:anim>
                                  </p:childTnLst>
                                </p:cTn>
                              </p:par>
                              <p:par>
                                <p:cTn id="83" presetID="2" presetClass="entr" presetSubtype="2" decel="5250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400" fill="hold"/>
                                        <p:tgtEl>
                                          <p:spTgt spid="33"/>
                                        </p:tgtEl>
                                        <p:attrNameLst>
                                          <p:attrName>ppt_x</p:attrName>
                                        </p:attrNameLst>
                                      </p:cBhvr>
                                      <p:tavLst>
                                        <p:tav tm="0">
                                          <p:val>
                                            <p:strVal val="1+#ppt_w/2"/>
                                          </p:val>
                                        </p:tav>
                                        <p:tav tm="100000">
                                          <p:val>
                                            <p:strVal val="#ppt_x"/>
                                          </p:val>
                                        </p:tav>
                                      </p:tavLst>
                                    </p:anim>
                                    <p:anim calcmode="lin" valueType="num">
                                      <p:cBhvr additive="base">
                                        <p:cTn id="86" dur="400" fill="hold"/>
                                        <p:tgtEl>
                                          <p:spTgt spid="33"/>
                                        </p:tgtEl>
                                        <p:attrNameLst>
                                          <p:attrName>ppt_y</p:attrName>
                                        </p:attrNameLst>
                                      </p:cBhvr>
                                      <p:tavLst>
                                        <p:tav tm="0">
                                          <p:val>
                                            <p:strVal val="#ppt_y"/>
                                          </p:val>
                                        </p:tav>
                                        <p:tav tm="100000">
                                          <p:val>
                                            <p:strVal val="#ppt_y"/>
                                          </p:val>
                                        </p:tav>
                                      </p:tavLst>
                                    </p:anim>
                                  </p:childTnLst>
                                </p:cTn>
                              </p:par>
                            </p:childTnLst>
                          </p:cTn>
                        </p:par>
                        <p:par>
                          <p:cTn id="87" fill="hold">
                            <p:stCondLst>
                              <p:cond delay="8500"/>
                            </p:stCondLst>
                            <p:childTnLst>
                              <p:par>
                                <p:cTn id="88" presetID="47" presetClass="entr" presetSubtype="0" fill="hold" nodeType="after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600"/>
                                        <p:tgtEl>
                                          <p:spTgt spid="35"/>
                                        </p:tgtEl>
                                      </p:cBhvr>
                                    </p:animEffect>
                                    <p:anim calcmode="lin" valueType="num">
                                      <p:cBhvr>
                                        <p:cTn id="91" dur="600" fill="hold"/>
                                        <p:tgtEl>
                                          <p:spTgt spid="35"/>
                                        </p:tgtEl>
                                        <p:attrNameLst>
                                          <p:attrName>ppt_x</p:attrName>
                                        </p:attrNameLst>
                                      </p:cBhvr>
                                      <p:tavLst>
                                        <p:tav tm="0">
                                          <p:val>
                                            <p:strVal val="#ppt_x"/>
                                          </p:val>
                                        </p:tav>
                                        <p:tav tm="100000">
                                          <p:val>
                                            <p:strVal val="#ppt_x"/>
                                          </p:val>
                                        </p:tav>
                                      </p:tavLst>
                                    </p:anim>
                                    <p:anim calcmode="lin" valueType="num">
                                      <p:cBhvr>
                                        <p:cTn id="92" dur="600" fill="hold"/>
                                        <p:tgtEl>
                                          <p:spTgt spid="35"/>
                                        </p:tgtEl>
                                        <p:attrNameLst>
                                          <p:attrName>ppt_y</p:attrName>
                                        </p:attrNameLst>
                                      </p:cBhvr>
                                      <p:tavLst>
                                        <p:tav tm="0">
                                          <p:val>
                                            <p:strVal val="#ppt_y-.1"/>
                                          </p:val>
                                        </p:tav>
                                        <p:tav tm="100000">
                                          <p:val>
                                            <p:strVal val="#ppt_y"/>
                                          </p:val>
                                        </p:tav>
                                      </p:tavLst>
                                    </p:anim>
                                  </p:childTnLst>
                                </p:cTn>
                              </p:par>
                            </p:childTnLst>
                          </p:cTn>
                        </p:par>
                        <p:par>
                          <p:cTn id="93" fill="hold">
                            <p:stCondLst>
                              <p:cond delay="9500"/>
                            </p:stCondLst>
                            <p:childTnLst>
                              <p:par>
                                <p:cTn id="94" presetID="2" presetClass="entr" presetSubtype="8" decel="52500" fill="hold" grpId="0" nodeType="after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400" fill="hold"/>
                                        <p:tgtEl>
                                          <p:spTgt spid="34"/>
                                        </p:tgtEl>
                                        <p:attrNameLst>
                                          <p:attrName>ppt_x</p:attrName>
                                        </p:attrNameLst>
                                      </p:cBhvr>
                                      <p:tavLst>
                                        <p:tav tm="0">
                                          <p:val>
                                            <p:strVal val="0-#ppt_w/2"/>
                                          </p:val>
                                        </p:tav>
                                        <p:tav tm="100000">
                                          <p:val>
                                            <p:strVal val="#ppt_x"/>
                                          </p:val>
                                        </p:tav>
                                      </p:tavLst>
                                    </p:anim>
                                    <p:anim calcmode="lin" valueType="num">
                                      <p:cBhvr additive="base">
                                        <p:cTn id="97" dur="400" fill="hold"/>
                                        <p:tgtEl>
                                          <p:spTgt spid="34"/>
                                        </p:tgtEl>
                                        <p:attrNameLst>
                                          <p:attrName>ppt_y</p:attrName>
                                        </p:attrNameLst>
                                      </p:cBhvr>
                                      <p:tavLst>
                                        <p:tav tm="0">
                                          <p:val>
                                            <p:strVal val="#ppt_y"/>
                                          </p:val>
                                        </p:tav>
                                        <p:tav tm="100000">
                                          <p:val>
                                            <p:strVal val="#ppt_y"/>
                                          </p:val>
                                        </p:tav>
                                      </p:tavLst>
                                    </p:anim>
                                  </p:childTnLst>
                                </p:cTn>
                              </p:par>
                              <p:par>
                                <p:cTn id="98" presetID="2" presetClass="entr" presetSubtype="2" decel="5250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 calcmode="lin" valueType="num">
                                      <p:cBhvr additive="base">
                                        <p:cTn id="100" dur="400" fill="hold"/>
                                        <p:tgtEl>
                                          <p:spTgt spid="36"/>
                                        </p:tgtEl>
                                        <p:attrNameLst>
                                          <p:attrName>ppt_x</p:attrName>
                                        </p:attrNameLst>
                                      </p:cBhvr>
                                      <p:tavLst>
                                        <p:tav tm="0">
                                          <p:val>
                                            <p:strVal val="1+#ppt_w/2"/>
                                          </p:val>
                                        </p:tav>
                                        <p:tav tm="100000">
                                          <p:val>
                                            <p:strVal val="#ppt_x"/>
                                          </p:val>
                                        </p:tav>
                                      </p:tavLst>
                                    </p:anim>
                                    <p:anim calcmode="lin" valueType="num">
                                      <p:cBhvr additive="base">
                                        <p:cTn id="101" dur="400" fill="hold"/>
                                        <p:tgtEl>
                                          <p:spTgt spid="36"/>
                                        </p:tgtEl>
                                        <p:attrNameLst>
                                          <p:attrName>ppt_y</p:attrName>
                                        </p:attrNameLst>
                                      </p:cBhvr>
                                      <p:tavLst>
                                        <p:tav tm="0">
                                          <p:val>
                                            <p:strVal val="#ppt_y"/>
                                          </p:val>
                                        </p:tav>
                                        <p:tav tm="100000">
                                          <p:val>
                                            <p:strVal val="#ppt_y"/>
                                          </p:val>
                                        </p:tav>
                                      </p:tavLst>
                                    </p:anim>
                                  </p:childTnLst>
                                </p:cTn>
                              </p:par>
                            </p:childTnLst>
                          </p:cTn>
                        </p:par>
                        <p:par>
                          <p:cTn id="102" fill="hold">
                            <p:stCondLst>
                              <p:cond delay="10000"/>
                            </p:stCondLst>
                            <p:childTnLst>
                              <p:par>
                                <p:cTn id="103" presetID="47" presetClass="entr" presetSubtype="0" fill="hold" nodeType="after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600"/>
                                        <p:tgtEl>
                                          <p:spTgt spid="37"/>
                                        </p:tgtEl>
                                      </p:cBhvr>
                                    </p:animEffect>
                                    <p:anim calcmode="lin" valueType="num">
                                      <p:cBhvr>
                                        <p:cTn id="106" dur="600" fill="hold"/>
                                        <p:tgtEl>
                                          <p:spTgt spid="37"/>
                                        </p:tgtEl>
                                        <p:attrNameLst>
                                          <p:attrName>ppt_x</p:attrName>
                                        </p:attrNameLst>
                                      </p:cBhvr>
                                      <p:tavLst>
                                        <p:tav tm="0">
                                          <p:val>
                                            <p:strVal val="#ppt_x"/>
                                          </p:val>
                                        </p:tav>
                                        <p:tav tm="100000">
                                          <p:val>
                                            <p:strVal val="#ppt_x"/>
                                          </p:val>
                                        </p:tav>
                                      </p:tavLst>
                                    </p:anim>
                                    <p:anim calcmode="lin" valueType="num">
                                      <p:cBhvr>
                                        <p:cTn id="107" dur="600" fill="hold"/>
                                        <p:tgtEl>
                                          <p:spTgt spid="37"/>
                                        </p:tgtEl>
                                        <p:attrNameLst>
                                          <p:attrName>ppt_y</p:attrName>
                                        </p:attrNameLst>
                                      </p:cBhvr>
                                      <p:tavLst>
                                        <p:tav tm="0">
                                          <p:val>
                                            <p:strVal val="#ppt_y-.1"/>
                                          </p:val>
                                        </p:tav>
                                        <p:tav tm="100000">
                                          <p:val>
                                            <p:strVal val="#ppt_y"/>
                                          </p:val>
                                        </p:tav>
                                      </p:tavLst>
                                    </p:anim>
                                  </p:childTnLst>
                                </p:cTn>
                              </p:par>
                            </p:childTnLst>
                          </p:cTn>
                        </p:par>
                        <p:par>
                          <p:cTn id="108" fill="hold">
                            <p:stCondLst>
                              <p:cond delay="11000"/>
                            </p:stCondLst>
                            <p:childTnLst>
                              <p:par>
                                <p:cTn id="109" presetID="2" presetClass="entr" presetSubtype="8" decel="52500"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anim calcmode="lin" valueType="num">
                                      <p:cBhvr additive="base">
                                        <p:cTn id="111" dur="400" fill="hold"/>
                                        <p:tgtEl>
                                          <p:spTgt spid="28"/>
                                        </p:tgtEl>
                                        <p:attrNameLst>
                                          <p:attrName>ppt_x</p:attrName>
                                        </p:attrNameLst>
                                      </p:cBhvr>
                                      <p:tavLst>
                                        <p:tav tm="0">
                                          <p:val>
                                            <p:strVal val="0-#ppt_w/2"/>
                                          </p:val>
                                        </p:tav>
                                        <p:tav tm="100000">
                                          <p:val>
                                            <p:strVal val="#ppt_x"/>
                                          </p:val>
                                        </p:tav>
                                      </p:tavLst>
                                    </p:anim>
                                    <p:anim calcmode="lin" valueType="num">
                                      <p:cBhvr additive="base">
                                        <p:cTn id="112" dur="400" fill="hold"/>
                                        <p:tgtEl>
                                          <p:spTgt spid="28"/>
                                        </p:tgtEl>
                                        <p:attrNameLst>
                                          <p:attrName>ppt_y</p:attrName>
                                        </p:attrNameLst>
                                      </p:cBhvr>
                                      <p:tavLst>
                                        <p:tav tm="0">
                                          <p:val>
                                            <p:strVal val="#ppt_y"/>
                                          </p:val>
                                        </p:tav>
                                        <p:tav tm="100000">
                                          <p:val>
                                            <p:strVal val="#ppt_y"/>
                                          </p:val>
                                        </p:tav>
                                      </p:tavLst>
                                    </p:anim>
                                  </p:childTnLst>
                                </p:cTn>
                              </p:par>
                              <p:par>
                                <p:cTn id="113" presetID="2" presetClass="entr" presetSubtype="2" decel="5250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 calcmode="lin" valueType="num">
                                      <p:cBhvr additive="base">
                                        <p:cTn id="115" dur="400" fill="hold"/>
                                        <p:tgtEl>
                                          <p:spTgt spid="38"/>
                                        </p:tgtEl>
                                        <p:attrNameLst>
                                          <p:attrName>ppt_x</p:attrName>
                                        </p:attrNameLst>
                                      </p:cBhvr>
                                      <p:tavLst>
                                        <p:tav tm="0">
                                          <p:val>
                                            <p:strVal val="1+#ppt_w/2"/>
                                          </p:val>
                                        </p:tav>
                                        <p:tav tm="100000">
                                          <p:val>
                                            <p:strVal val="#ppt_x"/>
                                          </p:val>
                                        </p:tav>
                                      </p:tavLst>
                                    </p:anim>
                                    <p:anim calcmode="lin" valueType="num">
                                      <p:cBhvr additive="base">
                                        <p:cTn id="116" dur="4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2" grpId="0"/>
      <p:bldP spid="90" grpId="0"/>
      <p:bldP spid="92" grpId="0"/>
      <p:bldP spid="95" grpId="0"/>
      <p:bldP spid="97" grpId="0"/>
      <p:bldP spid="100" grpId="0"/>
      <p:bldP spid="102" grpId="0"/>
      <p:bldP spid="32" grpId="0"/>
      <p:bldP spid="29" grpId="0"/>
      <p:bldP spid="33" grpId="0"/>
      <p:bldP spid="34" grpId="0"/>
      <p:bldP spid="36" grpId="0"/>
      <p:bldP spid="28"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a:off x="2548034" y="2061053"/>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23" name="六边形 22"/>
          <p:cNvSpPr/>
          <p:nvPr/>
        </p:nvSpPr>
        <p:spPr>
          <a:xfrm>
            <a:off x="3187187" y="1923285"/>
            <a:ext cx="3978683" cy="337269"/>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1</a:t>
            </a:r>
            <a:endParaRPr lang="zh-CN" altLang="en-US" sz="1350" dirty="0">
              <a:latin typeface="微软雅黑" panose="020B0503020204020204" pitchFamily="34" charset="-122"/>
              <a:ea typeface="微软雅黑" panose="020B0503020204020204" pitchFamily="34" charset="-122"/>
            </a:endParaRPr>
          </a:p>
        </p:txBody>
      </p:sp>
      <p:sp>
        <p:nvSpPr>
          <p:cNvPr id="24" name="六边形 23"/>
          <p:cNvSpPr/>
          <p:nvPr/>
        </p:nvSpPr>
        <p:spPr>
          <a:xfrm>
            <a:off x="546918" y="3484278"/>
            <a:ext cx="1190654" cy="1026664"/>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800" dirty="0">
                <a:latin typeface="微软雅黑" panose="020B0503020204020204" pitchFamily="34" charset="-122"/>
                <a:ea typeface="微软雅黑" panose="020B0503020204020204" pitchFamily="34" charset="-122"/>
              </a:rPr>
              <a:t>学习目标</a:t>
            </a:r>
          </a:p>
        </p:txBody>
      </p:sp>
      <p:cxnSp>
        <p:nvCxnSpPr>
          <p:cNvPr id="25" name="直接箭头连接符 24"/>
          <p:cNvCxnSpPr>
            <a:stCxn id="24" idx="5"/>
            <a:endCxn id="22" idx="1"/>
          </p:cNvCxnSpPr>
          <p:nvPr/>
        </p:nvCxnSpPr>
        <p:spPr>
          <a:xfrm flipV="1">
            <a:off x="1480906" y="2547100"/>
            <a:ext cx="1067128" cy="937178"/>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4" idx="1"/>
            <a:endCxn id="29" idx="1"/>
          </p:cNvCxnSpPr>
          <p:nvPr/>
        </p:nvCxnSpPr>
        <p:spPr>
          <a:xfrm>
            <a:off x="1480906" y="4510942"/>
            <a:ext cx="1089814" cy="1040986"/>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893460" y="2301442"/>
            <a:ext cx="4871059" cy="392460"/>
          </a:xfrm>
          <a:prstGeom prst="rect">
            <a:avLst/>
          </a:prstGeom>
          <a:noFill/>
        </p:spPr>
        <p:txBody>
          <a:bodyPr wrap="square" lIns="68625" tIns="34312" rIns="68625" bIns="34312" rtlCol="0">
            <a:spAutoFit/>
          </a:bodyPr>
          <a:lstStyle/>
          <a:p>
            <a:pPr lvl="0"/>
            <a:r>
              <a:rPr lang="zh-CN" altLang="en-US" dirty="0"/>
              <a:t>了解各种图像几何变换的相关知识</a:t>
            </a:r>
            <a:endParaRPr lang="zh-CN" altLang="zh-CN" dirty="0"/>
          </a:p>
        </p:txBody>
      </p:sp>
      <p:sp>
        <p:nvSpPr>
          <p:cNvPr id="29" name="圆角矩形 28"/>
          <p:cNvSpPr/>
          <p:nvPr/>
        </p:nvSpPr>
        <p:spPr>
          <a:xfrm>
            <a:off x="2570720" y="5065881"/>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30" name="六边形 29"/>
          <p:cNvSpPr/>
          <p:nvPr/>
        </p:nvSpPr>
        <p:spPr>
          <a:xfrm>
            <a:off x="3226449" y="4014256"/>
            <a:ext cx="3978683" cy="337269"/>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2</a:t>
            </a:r>
            <a:endParaRPr lang="zh-CN" altLang="en-US" sz="1350" dirty="0">
              <a:latin typeface="微软雅黑" panose="020B0503020204020204" pitchFamily="34" charset="-122"/>
              <a:ea typeface="微软雅黑" panose="020B0503020204020204" pitchFamily="34" charset="-122"/>
            </a:endParaRPr>
          </a:p>
        </p:txBody>
      </p:sp>
      <p:sp>
        <p:nvSpPr>
          <p:cNvPr id="31" name="TextBox 30"/>
          <p:cNvSpPr txBox="1"/>
          <p:nvPr/>
        </p:nvSpPr>
        <p:spPr>
          <a:xfrm>
            <a:off x="2916147" y="5298812"/>
            <a:ext cx="4920678" cy="715625"/>
          </a:xfrm>
          <a:prstGeom prst="rect">
            <a:avLst/>
          </a:prstGeom>
          <a:noFill/>
        </p:spPr>
        <p:txBody>
          <a:bodyPr wrap="square" lIns="68625" tIns="34312" rIns="68625" bIns="34312" rtlCol="0">
            <a:spAutoFit/>
          </a:bodyPr>
          <a:lstStyle/>
          <a:p>
            <a:pPr lvl="0"/>
            <a:r>
              <a:rPr lang="zh-CN" altLang="en-US" dirty="0"/>
              <a:t>熟练掌握各种图像几何变换的</a:t>
            </a:r>
            <a:r>
              <a:rPr lang="en-US" altLang="zh-CN" dirty="0"/>
              <a:t>Python</a:t>
            </a:r>
            <a:r>
              <a:rPr lang="zh-CN" altLang="en-US" dirty="0"/>
              <a:t>和</a:t>
            </a:r>
            <a:r>
              <a:rPr lang="en-US" altLang="zh-CN" dirty="0"/>
              <a:t>OpenCV</a:t>
            </a:r>
            <a:r>
              <a:rPr lang="zh-CN" altLang="en-US" dirty="0"/>
              <a:t>实现原理和代码操作</a:t>
            </a:r>
            <a:endParaRPr lang="zh-CN" altLang="zh-CN" dirty="0"/>
          </a:p>
        </p:txBody>
      </p:sp>
      <p:cxnSp>
        <p:nvCxnSpPr>
          <p:cNvPr id="15" name="直接连接符 14"/>
          <p:cNvCxnSpPr/>
          <p:nvPr/>
        </p:nvCxnSpPr>
        <p:spPr>
          <a:xfrm>
            <a:off x="1" y="1539010"/>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16" name="TextBox 43"/>
          <p:cNvSpPr txBox="1">
            <a:spLocks noChangeArrowheads="1"/>
          </p:cNvSpPr>
          <p:nvPr/>
        </p:nvSpPr>
        <p:spPr bwMode="auto">
          <a:xfrm>
            <a:off x="1838129" y="776842"/>
            <a:ext cx="3061562" cy="5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pPr indent="304800" algn="just">
              <a:lnSpc>
                <a:spcPct val="150000"/>
              </a:lnSpc>
            </a:pPr>
            <a:r>
              <a:rPr lang="zh-CN" altLang="zh-CN" sz="2400" dirty="0">
                <a:latin typeface="Eras Bold ITC" panose="020B0907030504020204" pitchFamily="34" charset="0"/>
              </a:rPr>
              <a:t>本章学习目标</a:t>
            </a:r>
          </a:p>
        </p:txBody>
      </p:sp>
      <p:sp>
        <p:nvSpPr>
          <p:cNvPr id="17" name="燕尾形 16"/>
          <p:cNvSpPr/>
          <p:nvPr/>
        </p:nvSpPr>
        <p:spPr>
          <a:xfrm>
            <a:off x="1190107" y="85666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18" name="TextBox 7"/>
          <p:cNvSpPr txBox="1"/>
          <p:nvPr/>
        </p:nvSpPr>
        <p:spPr>
          <a:xfrm>
            <a:off x="142957" y="992251"/>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9" name="圆角矩形 28"/>
          <p:cNvSpPr/>
          <p:nvPr/>
        </p:nvSpPr>
        <p:spPr>
          <a:xfrm>
            <a:off x="2568372" y="3494732"/>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20" name="六边形 19"/>
          <p:cNvSpPr/>
          <p:nvPr/>
        </p:nvSpPr>
        <p:spPr>
          <a:xfrm>
            <a:off x="3207525" y="3356963"/>
            <a:ext cx="3978683" cy="337269"/>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2</a:t>
            </a:r>
            <a:endParaRPr lang="zh-CN" altLang="en-US" sz="1350" dirty="0">
              <a:latin typeface="微软雅黑" panose="020B0503020204020204" pitchFamily="34" charset="-122"/>
              <a:ea typeface="微软雅黑" panose="020B0503020204020204" pitchFamily="34" charset="-122"/>
            </a:endParaRPr>
          </a:p>
        </p:txBody>
      </p:sp>
      <p:sp>
        <p:nvSpPr>
          <p:cNvPr id="21" name="TextBox 30"/>
          <p:cNvSpPr txBox="1"/>
          <p:nvPr/>
        </p:nvSpPr>
        <p:spPr>
          <a:xfrm>
            <a:off x="2913799" y="3727663"/>
            <a:ext cx="4920678" cy="392460"/>
          </a:xfrm>
          <a:prstGeom prst="rect">
            <a:avLst/>
          </a:prstGeom>
          <a:noFill/>
        </p:spPr>
        <p:txBody>
          <a:bodyPr wrap="square" lIns="68625" tIns="34312" rIns="68625" bIns="34312" rtlCol="0">
            <a:spAutoFit/>
          </a:bodyPr>
          <a:lstStyle/>
          <a:p>
            <a:pPr lvl="0"/>
            <a:r>
              <a:rPr lang="zh-CN" altLang="en-US" dirty="0"/>
              <a:t>熟练掌握各种图像几何变换的基本原理</a:t>
            </a:r>
            <a:endParaRPr lang="zh-CN" altLang="zh-CN" dirty="0"/>
          </a:p>
        </p:txBody>
      </p:sp>
      <p:sp>
        <p:nvSpPr>
          <p:cNvPr id="27" name="六边形 26"/>
          <p:cNvSpPr/>
          <p:nvPr/>
        </p:nvSpPr>
        <p:spPr>
          <a:xfrm>
            <a:off x="3187187" y="4891204"/>
            <a:ext cx="3978683" cy="337269"/>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3</a:t>
            </a:r>
            <a:endParaRPr lang="zh-CN" altLang="en-US" sz="1350" dirty="0">
              <a:latin typeface="微软雅黑" panose="020B0503020204020204" pitchFamily="34" charset="-122"/>
              <a:ea typeface="微软雅黑" panose="020B0503020204020204" pitchFamily="34" charset="-122"/>
            </a:endParaRPr>
          </a:p>
        </p:txBody>
      </p:sp>
      <p:cxnSp>
        <p:nvCxnSpPr>
          <p:cNvPr id="32" name="直接箭头连接符 31"/>
          <p:cNvCxnSpPr>
            <a:stCxn id="24" idx="0"/>
            <a:endCxn id="19" idx="1"/>
          </p:cNvCxnSpPr>
          <p:nvPr/>
        </p:nvCxnSpPr>
        <p:spPr>
          <a:xfrm flipV="1">
            <a:off x="1737572" y="3980779"/>
            <a:ext cx="830800" cy="16831"/>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Click="0" advTm="0">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14:presetBounceEnd="50000">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14:bounceEnd="50000">
                                          <p:cBhvr additive="base">
                                            <p:cTn id="22" dur="500" fill="hold"/>
                                            <p:tgtEl>
                                              <p:spTgt spid="22"/>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14:presetBounceEnd="50000">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14:bounceEnd="50000">
                                          <p:cBhvr additive="base">
                                            <p:cTn id="35"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par>
                              <p:cTn id="41" fill="hold">
                                <p:stCondLst>
                                  <p:cond delay="5000"/>
                                </p:stCondLst>
                                <p:childTnLst>
                                  <p:par>
                                    <p:cTn id="42" presetID="16" presetClass="entr" presetSubtype="37"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arn(outVertical)">
                                          <p:cBhvr>
                                            <p:cTn id="44" dur="500"/>
                                            <p:tgtEl>
                                              <p:spTgt spid="20"/>
                                            </p:tgtEl>
                                          </p:cBhvr>
                                        </p:animEffect>
                                      </p:childTnLst>
                                    </p:cTn>
                                  </p:par>
                                </p:childTnLst>
                              </p:cTn>
                            </p:par>
                            <p:par>
                              <p:cTn id="45" fill="hold">
                                <p:stCondLst>
                                  <p:cond delay="5500"/>
                                </p:stCondLst>
                                <p:childTnLst>
                                  <p:par>
                                    <p:cTn id="46" presetID="2" presetClass="entr" presetSubtype="1" fill="hold" grpId="0" nodeType="afterEffect" p14:presetBounceEnd="50000">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14:bounceEnd="50000">
                                          <p:cBhvr additive="base">
                                            <p:cTn id="48" dur="500" fill="hold"/>
                                            <p:tgtEl>
                                              <p:spTgt spid="19"/>
                                            </p:tgtEl>
                                            <p:attrNameLst>
                                              <p:attrName>ppt_x</p:attrName>
                                            </p:attrNameLst>
                                          </p:cBhvr>
                                          <p:tavLst>
                                            <p:tav tm="0">
                                              <p:val>
                                                <p:strVal val="#ppt_x"/>
                                              </p:val>
                                            </p:tav>
                                            <p:tav tm="100000">
                                              <p:val>
                                                <p:strVal val="#ppt_x"/>
                                              </p:val>
                                            </p:tav>
                                          </p:tavLst>
                                        </p:anim>
                                        <p:anim calcmode="lin" valueType="num" p14:bounceEnd="50000">
                                          <p:cBhvr additive="base">
                                            <p:cTn id="49" dur="500" fill="hold"/>
                                            <p:tgtEl>
                                              <p:spTgt spid="19"/>
                                            </p:tgtEl>
                                            <p:attrNameLst>
                                              <p:attrName>ppt_y</p:attrName>
                                            </p:attrNameLst>
                                          </p:cBhvr>
                                          <p:tavLst>
                                            <p:tav tm="0">
                                              <p:val>
                                                <p:strVal val="0-#ppt_h/2"/>
                                              </p:val>
                                            </p:tav>
                                            <p:tav tm="100000">
                                              <p:val>
                                                <p:strVal val="#ppt_y"/>
                                              </p:val>
                                            </p:tav>
                                          </p:tavLst>
                                        </p:anim>
                                      </p:childTnLst>
                                    </p:cTn>
                                  </p:par>
                                </p:childTnLst>
                              </p:cTn>
                            </p:par>
                            <p:par>
                              <p:cTn id="50" fill="hold">
                                <p:stCondLst>
                                  <p:cond delay="6000"/>
                                </p:stCondLst>
                                <p:childTnLst>
                                  <p:par>
                                    <p:cTn id="51" presetID="22" presetClass="entr" presetSubtype="8"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1000"/>
                                            <p:tgtEl>
                                              <p:spTgt spid="21"/>
                                            </p:tgtEl>
                                          </p:cBhvr>
                                        </p:animEffect>
                                      </p:childTnLst>
                                    </p:cTn>
                                  </p:par>
                                </p:childTnLst>
                              </p:cTn>
                            </p:par>
                            <p:par>
                              <p:cTn id="54" fill="hold">
                                <p:stCondLst>
                                  <p:cond delay="7000"/>
                                </p:stCondLst>
                                <p:childTnLst>
                                  <p:par>
                                    <p:cTn id="55" presetID="16" presetClass="entr" presetSubtype="37"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barn(outVertical)">
                                          <p:cBhvr>
                                            <p:cTn id="57" dur="500"/>
                                            <p:tgtEl>
                                              <p:spTgt spid="27"/>
                                            </p:tgtEl>
                                          </p:cBhvr>
                                        </p:animEffect>
                                      </p:childTnLst>
                                    </p:cTn>
                                  </p:par>
                                </p:childTnLst>
                              </p:cTn>
                            </p:par>
                            <p:par>
                              <p:cTn id="58" fill="hold">
                                <p:stCondLst>
                                  <p:cond delay="7500"/>
                                </p:stCondLst>
                                <p:childTnLst>
                                  <p:par>
                                    <p:cTn id="59" presetID="22" presetClass="entr" presetSubtype="8" fill="hold" nodeType="after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wipe(left)">
                                          <p:cBhvr>
                                            <p:cTn id="6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19" grpId="0" animBg="1"/>
          <p:bldP spid="20" grpId="0" animBg="1"/>
          <p:bldP spid="21" grpId="0"/>
          <p:bldP spid="2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ppt_x"/>
                                              </p:val>
                                            </p:tav>
                                            <p:tav tm="100000">
                                              <p:val>
                                                <p:strVal val="#ppt_x"/>
                                              </p:val>
                                            </p:tav>
                                          </p:tavLst>
                                        </p:anim>
                                        <p:anim calcmode="lin" valueType="num">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par>
                              <p:cTn id="41" fill="hold">
                                <p:stCondLst>
                                  <p:cond delay="5000"/>
                                </p:stCondLst>
                                <p:childTnLst>
                                  <p:par>
                                    <p:cTn id="42" presetID="16" presetClass="entr" presetSubtype="37"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arn(outVertical)">
                                          <p:cBhvr>
                                            <p:cTn id="44" dur="500"/>
                                            <p:tgtEl>
                                              <p:spTgt spid="20"/>
                                            </p:tgtEl>
                                          </p:cBhvr>
                                        </p:animEffect>
                                      </p:childTnLst>
                                    </p:cTn>
                                  </p:par>
                                </p:childTnLst>
                              </p:cTn>
                            </p:par>
                            <p:par>
                              <p:cTn id="45" fill="hold">
                                <p:stCondLst>
                                  <p:cond delay="5500"/>
                                </p:stCondLst>
                                <p:childTnLst>
                                  <p:par>
                                    <p:cTn id="46" presetID="2" presetClass="entr" presetSubtype="1"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0-#ppt_h/2"/>
                                              </p:val>
                                            </p:tav>
                                            <p:tav tm="100000">
                                              <p:val>
                                                <p:strVal val="#ppt_y"/>
                                              </p:val>
                                            </p:tav>
                                          </p:tavLst>
                                        </p:anim>
                                      </p:childTnLst>
                                    </p:cTn>
                                  </p:par>
                                </p:childTnLst>
                              </p:cTn>
                            </p:par>
                            <p:par>
                              <p:cTn id="50" fill="hold">
                                <p:stCondLst>
                                  <p:cond delay="6000"/>
                                </p:stCondLst>
                                <p:childTnLst>
                                  <p:par>
                                    <p:cTn id="51" presetID="22" presetClass="entr" presetSubtype="8"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1000"/>
                                            <p:tgtEl>
                                              <p:spTgt spid="21"/>
                                            </p:tgtEl>
                                          </p:cBhvr>
                                        </p:animEffect>
                                      </p:childTnLst>
                                    </p:cTn>
                                  </p:par>
                                </p:childTnLst>
                              </p:cTn>
                            </p:par>
                            <p:par>
                              <p:cTn id="54" fill="hold">
                                <p:stCondLst>
                                  <p:cond delay="7000"/>
                                </p:stCondLst>
                                <p:childTnLst>
                                  <p:par>
                                    <p:cTn id="55" presetID="16" presetClass="entr" presetSubtype="37"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barn(outVertical)">
                                          <p:cBhvr>
                                            <p:cTn id="57" dur="500"/>
                                            <p:tgtEl>
                                              <p:spTgt spid="27"/>
                                            </p:tgtEl>
                                          </p:cBhvr>
                                        </p:animEffect>
                                      </p:childTnLst>
                                    </p:cTn>
                                  </p:par>
                                </p:childTnLst>
                              </p:cTn>
                            </p:par>
                            <p:par>
                              <p:cTn id="58" fill="hold">
                                <p:stCondLst>
                                  <p:cond delay="7500"/>
                                </p:stCondLst>
                                <p:childTnLst>
                                  <p:par>
                                    <p:cTn id="59" presetID="22" presetClass="entr" presetSubtype="8" fill="hold" nodeType="after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wipe(left)">
                                          <p:cBhvr>
                                            <p:cTn id="6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19" grpId="0" animBg="1"/>
          <p:bldP spid="20" grpId="0" animBg="1"/>
          <p:bldP spid="21" grpId="0"/>
          <p:bldP spid="27" grpId="0"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464560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4.1.1  </a:t>
            </a:r>
            <a:r>
              <a:rPr lang="zh-CN" altLang="en-US" sz="2100" b="1" dirty="0">
                <a:solidFill>
                  <a:schemeClr val="tx1">
                    <a:lumMod val="75000"/>
                    <a:lumOff val="25000"/>
                  </a:schemeClr>
                </a:solidFill>
                <a:latin typeface="微软雅黑" panose="020B0503020204020204" pitchFamily="34" charset="-122"/>
              </a:rPr>
              <a:t>图像平移的基本原理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1952" y="1306207"/>
            <a:ext cx="8267306" cy="738664"/>
          </a:xfrm>
          <a:prstGeom prst="rect">
            <a:avLst/>
          </a:prstGeom>
          <a:noFill/>
        </p:spPr>
        <p:txBody>
          <a:bodyPr wrap="square">
            <a:spAutoFit/>
          </a:bodyPr>
          <a:lstStyle/>
          <a:p>
            <a:r>
              <a:rPr lang="zh-CN" altLang="en-US" kern="100" dirty="0">
                <a:effectLst/>
                <a:latin typeface="Times New Roman" panose="02020603050405020304" pitchFamily="18" charset="0"/>
                <a:ea typeface="宋体" pitchFamily="2" charset="-122"/>
                <a:cs typeface="Times New Roman" panose="02020603050405020304" pitchFamily="18" charset="0"/>
              </a:rPr>
              <a:t>        图像平移就是将图像上的像素点按照指定的平移量整体水平或者垂直移动。首先，举一个简单的例子，如图</a:t>
            </a:r>
            <a:r>
              <a:rPr lang="en-US" altLang="zh-CN" kern="100" dirty="0">
                <a:effectLst/>
                <a:latin typeface="Times New Roman" panose="02020603050405020304" pitchFamily="18" charset="0"/>
                <a:ea typeface="宋体" pitchFamily="2" charset="-122"/>
                <a:cs typeface="Times New Roman" panose="02020603050405020304" pitchFamily="18" charset="0"/>
              </a:rPr>
              <a:t>4.1</a:t>
            </a:r>
            <a:r>
              <a:rPr lang="zh-CN" altLang="en-US"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dirty="0"/>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rcRect b="984"/>
          <a:stretch>
            <a:fillRect/>
          </a:stretch>
        </p:blipFill>
        <p:spPr>
          <a:xfrm>
            <a:off x="2051424" y="2009418"/>
            <a:ext cx="4429582" cy="4236439"/>
          </a:xfrm>
          <a:prstGeom prst="rect">
            <a:avLst/>
          </a:prstGeom>
          <a:noFill/>
          <a:ln>
            <a:noFill/>
          </a:ln>
        </p:spPr>
      </p:pic>
      <p:sp>
        <p:nvSpPr>
          <p:cNvPr id="12" name="文本框 11"/>
          <p:cNvSpPr txBox="1"/>
          <p:nvPr/>
        </p:nvSpPr>
        <p:spPr>
          <a:xfrm>
            <a:off x="2083788" y="6245857"/>
            <a:ext cx="4589754" cy="338554"/>
          </a:xfrm>
          <a:prstGeom prst="rect">
            <a:avLst/>
          </a:prstGeom>
          <a:noFill/>
        </p:spPr>
        <p:txBody>
          <a:bodyPr wrap="square">
            <a:spAutoFit/>
          </a:bodyPr>
          <a:lstStyle/>
          <a:p>
            <a:pPr indent="266700" algn="ctr"/>
            <a:r>
              <a:rPr lang="zh-CN" altLang="zh-CN" sz="1600" b="1" kern="100" dirty="0">
                <a:latin typeface="黑体" panose="02010609060101010101" pitchFamily="49" charset="-122"/>
                <a:ea typeface="黑体" panose="02010609060101010101" pitchFamily="49" charset="-122"/>
              </a:rPr>
              <a:t>图</a:t>
            </a:r>
            <a:r>
              <a:rPr lang="en-US" altLang="zh-CN" sz="1600" b="1" kern="100" dirty="0">
                <a:latin typeface="黑体" panose="02010609060101010101" pitchFamily="49" charset="-122"/>
                <a:ea typeface="黑体" panose="02010609060101010101" pitchFamily="49" charset="-122"/>
              </a:rPr>
              <a:t>4.1  </a:t>
            </a:r>
            <a:r>
              <a:rPr lang="zh-CN" altLang="zh-CN" sz="1600" b="1" kern="100" dirty="0">
                <a:latin typeface="黑体" panose="02010609060101010101" pitchFamily="49" charset="-122"/>
                <a:ea typeface="黑体" panose="02010609060101010101" pitchFamily="49" charset="-122"/>
              </a:rPr>
              <a:t>图形平移</a:t>
            </a:r>
          </a:p>
        </p:txBody>
      </p:sp>
    </p:spTree>
  </p:cSld>
  <p:clrMapOvr>
    <a:masterClrMapping/>
  </p:clrMapOvr>
  <p:transition spd="slow" advClick="0"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4.1.2  </a:t>
            </a:r>
            <a:r>
              <a:rPr lang="zh-CN" altLang="en-US" sz="2100" b="1" dirty="0">
                <a:solidFill>
                  <a:schemeClr val="tx1">
                    <a:lumMod val="75000"/>
                    <a:lumOff val="25000"/>
                  </a:schemeClr>
                </a:solidFill>
                <a:latin typeface="微软雅黑" panose="020B0503020204020204" pitchFamily="34" charset="-122"/>
              </a:rPr>
              <a:t>图像平移的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540346" y="1269554"/>
            <a:ext cx="7848872" cy="2354491"/>
          </a:xfrm>
          <a:prstGeom prst="rect">
            <a:avLst/>
          </a:prstGeom>
          <a:noFill/>
        </p:spPr>
        <p:txBody>
          <a:bodyPr wrap="square" rtlCol="0">
            <a:spAutoFit/>
          </a:bodyPr>
          <a:lstStyle/>
          <a:p>
            <a:pPr indent="457200"/>
            <a:r>
              <a:rPr lang="zh-CN" altLang="en-US" dirty="0"/>
              <a:t>一般以左上角为坐标系原点，水平向右为</a:t>
            </a:r>
            <a:r>
              <a:rPr lang="en-US" altLang="zh-CN" dirty="0"/>
              <a:t>X</a:t>
            </a:r>
            <a:r>
              <a:rPr lang="zh-CN" altLang="en-US" dirty="0"/>
              <a:t>轴正方向，垂直向下为</a:t>
            </a:r>
            <a:r>
              <a:rPr lang="en-US" altLang="zh-CN" dirty="0"/>
              <a:t>Y</a:t>
            </a:r>
            <a:r>
              <a:rPr lang="zh-CN" altLang="en-US" dirty="0"/>
              <a:t>轴正方向。图形的初始位置在左上角，图形先沿</a:t>
            </a:r>
            <a:r>
              <a:rPr lang="en-US" altLang="zh-CN" dirty="0"/>
              <a:t>X</a:t>
            </a:r>
            <a:r>
              <a:rPr lang="zh-CN" altLang="en-US" dirty="0"/>
              <a:t>轴正方向平移</a:t>
            </a:r>
            <a:r>
              <a:rPr lang="en-US" altLang="zh-CN" dirty="0"/>
              <a:t>300</a:t>
            </a:r>
            <a:r>
              <a:rPr lang="zh-CN" altLang="en-US" dirty="0"/>
              <a:t>，再沿</a:t>
            </a:r>
            <a:r>
              <a:rPr lang="en-US" altLang="zh-CN" dirty="0"/>
              <a:t>Y</a:t>
            </a:r>
            <a:r>
              <a:rPr lang="zh-CN" altLang="en-US" dirty="0"/>
              <a:t>轴正方向平移</a:t>
            </a:r>
            <a:r>
              <a:rPr lang="en-US" altLang="zh-CN" dirty="0"/>
              <a:t>400</a:t>
            </a:r>
            <a:r>
              <a:rPr lang="zh-CN" altLang="en-US" dirty="0"/>
              <a:t>，得到如图</a:t>
            </a:r>
            <a:r>
              <a:rPr lang="en-US" altLang="zh-CN" dirty="0"/>
              <a:t>4.1</a:t>
            </a:r>
            <a:r>
              <a:rPr lang="zh-CN" altLang="en-US" dirty="0"/>
              <a:t>所示的平移图形。例子很容易理解，那么接下来我们用公式和矩阵的方式对图像的平移进行更加精确地描述。假设图像的原坐标</a:t>
            </a:r>
            <a:r>
              <a:rPr lang="en-US" altLang="zh-CN" dirty="0"/>
              <a:t>"(</a:t>
            </a:r>
            <a:r>
              <a:rPr lang="en-US" altLang="zh-CN" dirty="0" err="1"/>
              <a:t>x,y</a:t>
            </a:r>
            <a:r>
              <a:rPr lang="en-US" altLang="zh-CN" dirty="0"/>
              <a:t>)" </a:t>
            </a:r>
            <a:r>
              <a:rPr lang="zh-CN" altLang="en-US" dirty="0"/>
              <a:t>，先沿</a:t>
            </a:r>
            <a:r>
              <a:rPr lang="en-US" altLang="zh-CN" dirty="0"/>
              <a:t>X</a:t>
            </a:r>
            <a:r>
              <a:rPr lang="zh-CN" altLang="en-US" dirty="0"/>
              <a:t>轴平移</a:t>
            </a:r>
            <a:r>
              <a:rPr lang="en-US" altLang="zh-CN" dirty="0"/>
              <a:t>"dx" </a:t>
            </a:r>
            <a:r>
              <a:rPr lang="zh-CN" altLang="en-US" dirty="0"/>
              <a:t>，再沿</a:t>
            </a:r>
            <a:r>
              <a:rPr lang="en-US" altLang="zh-CN" dirty="0"/>
              <a:t>Y</a:t>
            </a:r>
            <a:r>
              <a:rPr lang="zh-CN" altLang="en-US" dirty="0"/>
              <a:t>轴平移</a:t>
            </a:r>
            <a:r>
              <a:rPr lang="en-US" altLang="zh-CN" dirty="0"/>
              <a:t>"</a:t>
            </a:r>
            <a:r>
              <a:rPr lang="en-US" altLang="zh-CN" dirty="0" err="1"/>
              <a:t>dy</a:t>
            </a:r>
            <a:r>
              <a:rPr lang="en-US" altLang="zh-CN" dirty="0"/>
              <a:t>" </a:t>
            </a:r>
            <a:r>
              <a:rPr lang="zh-CN" altLang="en-US" dirty="0"/>
              <a:t>，则目标坐标</a:t>
            </a:r>
            <a:r>
              <a:rPr lang="en-US" altLang="zh-CN" dirty="0"/>
              <a:t>(</a:t>
            </a:r>
            <a:r>
              <a:rPr lang="en-US" altLang="zh-CN" dirty="0" err="1"/>
              <a:t>x^',y</a:t>
            </a:r>
            <a:r>
              <a:rPr lang="en-US" altLang="zh-CN" dirty="0"/>
              <a:t>^' )</a:t>
            </a:r>
            <a:r>
              <a:rPr lang="zh-CN" altLang="en-US" dirty="0"/>
              <a:t>的计算方式如公式 </a:t>
            </a:r>
            <a:r>
              <a:rPr lang="en-US" altLang="zh-CN" dirty="0"/>
              <a:t>(4-1)</a:t>
            </a:r>
            <a:r>
              <a:rPr lang="zh-CN" altLang="en-US" dirty="0"/>
              <a:t>所示。</a:t>
            </a:r>
          </a:p>
        </p:txBody>
      </p:sp>
      <mc:AlternateContent xmlns:mc="http://schemas.openxmlformats.org/markup-compatibility/2006" xmlns:a14="http://schemas.microsoft.com/office/drawing/2010/main">
        <mc:Choice Requires="a14">
          <p:sp>
            <p:nvSpPr>
              <p:cNvPr id="12" name="文本框 11"/>
              <p:cNvSpPr txBox="1"/>
              <p:nvPr/>
            </p:nvSpPr>
            <p:spPr>
              <a:xfrm>
                <a:off x="1906750" y="3624045"/>
                <a:ext cx="4589754"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CN" altLang="en-US" i="1" smtClean="0">
                              <a:solidFill>
                                <a:srgbClr val="836967"/>
                              </a:solidFill>
                              <a:latin typeface="Cambria Math" panose="02040503050406030204" pitchFamily="18" charset="0"/>
                            </a:rPr>
                          </m:ctrlPr>
                        </m:dP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𝑦</m:t>
                              </m:r>
                            </m:e>
                            <m:sup>
                              <m:r>
                                <a:rPr lang="zh-CN" altLang="en-US" i="0">
                                  <a:latin typeface="Cambria Math" panose="02040503050406030204" pitchFamily="18" charset="0"/>
                                </a:rPr>
                                <m:t>′</m:t>
                              </m:r>
                            </m:sup>
                          </m:sSup>
                        </m:e>
                      </m:d>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r>
                            <m:rPr>
                              <m:sty m:val="p"/>
                            </m:rPr>
                            <a:rPr lang="zh-CN" altLang="en-US" i="0">
                              <a:latin typeface="Cambria Math" panose="02040503050406030204" pitchFamily="18" charset="0"/>
                            </a:rPr>
                            <m:t>x</m:t>
                          </m:r>
                          <m:r>
                            <a:rPr lang="zh-CN" altLang="en-US" i="0">
                              <a:latin typeface="Cambria Math" panose="02040503050406030204" pitchFamily="18" charset="0"/>
                            </a:rPr>
                            <m:t>+</m:t>
                          </m:r>
                          <m:r>
                            <m:rPr>
                              <m:sty m:val="p"/>
                            </m:rPr>
                            <a:rPr lang="zh-CN" altLang="en-US" i="0">
                              <a:latin typeface="Cambria Math" panose="02040503050406030204" pitchFamily="18" charset="0"/>
                            </a:rPr>
                            <m:t>dx</m:t>
                          </m:r>
                          <m:r>
                            <a:rPr lang="zh-CN" altLang="en-US" i="0">
                              <a:latin typeface="Cambria Math" panose="02040503050406030204" pitchFamily="18" charset="0"/>
                            </a:rPr>
                            <m:t>,</m:t>
                          </m:r>
                          <m:r>
                            <m:rPr>
                              <m:sty m:val="p"/>
                            </m:rPr>
                            <a:rPr lang="zh-CN" altLang="en-US" i="0">
                              <a:latin typeface="Cambria Math" panose="02040503050406030204" pitchFamily="18" charset="0"/>
                            </a:rPr>
                            <m:t>y</m:t>
                          </m:r>
                          <m:r>
                            <a:rPr lang="zh-CN" altLang="en-US" i="0">
                              <a:latin typeface="Cambria Math" panose="02040503050406030204" pitchFamily="18" charset="0"/>
                            </a:rPr>
                            <m:t>+</m:t>
                          </m:r>
                          <m:r>
                            <m:rPr>
                              <m:sty m:val="p"/>
                            </m:rPr>
                            <a:rPr lang="zh-CN" altLang="en-US" i="0">
                              <a:latin typeface="Cambria Math" panose="02040503050406030204" pitchFamily="18" charset="0"/>
                            </a:rPr>
                            <m:t>dy</m:t>
                          </m:r>
                        </m:e>
                      </m:d>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906750" y="3624045"/>
                <a:ext cx="4589754" cy="415498"/>
              </a:xfrm>
              <a:prstGeom prst="rect">
                <a:avLst/>
              </a:prstGeom>
              <a:blipFill rotWithShape="1">
                <a:blip r:embed="rId3"/>
                <a:stretch>
                  <a:fillRect l="-10" t="-24" r="10" b="-1149"/>
                </a:stretch>
              </a:blipFill>
            </p:spPr>
            <p:txBody>
              <a:bodyPr/>
              <a:lstStyle/>
              <a:p>
                <a:r>
                  <a:rPr lang="zh-CN" altLang="en-US">
                    <a:noFill/>
                  </a:rPr>
                  <a:t> </a:t>
                </a:r>
              </a:p>
            </p:txBody>
          </p:sp>
        </mc:Fallback>
      </mc:AlternateContent>
      <p:sp>
        <p:nvSpPr>
          <p:cNvPr id="14" name="文本框 13"/>
          <p:cNvSpPr txBox="1"/>
          <p:nvPr/>
        </p:nvSpPr>
        <p:spPr>
          <a:xfrm>
            <a:off x="7165082" y="3621132"/>
            <a:ext cx="819526" cy="369332"/>
          </a:xfrm>
          <a:prstGeom prst="rect">
            <a:avLst/>
          </a:prstGeom>
          <a:noFill/>
        </p:spPr>
        <p:txBody>
          <a:bodyPr wrap="square" rtlCol="0">
            <a:spAutoFit/>
          </a:bodyPr>
          <a:lstStyle/>
          <a:p>
            <a:r>
              <a:rPr lang="en-US" altLang="zh-CN" sz="1800" dirty="0">
                <a:effectLst/>
                <a:latin typeface="宋体" pitchFamily="2" charset="-122"/>
                <a:ea typeface="等线" panose="02010600030101010101" pitchFamily="2" charset="-122"/>
                <a:cs typeface="宋体" pitchFamily="2" charset="-122"/>
              </a:rPr>
              <a:t>(4-1)</a:t>
            </a:r>
            <a:endParaRPr lang="zh-CN" altLang="en-US" dirty="0"/>
          </a:p>
        </p:txBody>
      </p:sp>
      <p:graphicFrame>
        <p:nvGraphicFramePr>
          <p:cNvPr id="7" name="对象 6"/>
          <p:cNvGraphicFramePr>
            <a:graphicFrameLocks noChangeAspect="1"/>
          </p:cNvGraphicFramePr>
          <p:nvPr/>
        </p:nvGraphicFramePr>
        <p:xfrm>
          <a:off x="3060626" y="4293890"/>
          <a:ext cx="2093478" cy="720080"/>
        </p:xfrm>
        <a:graphic>
          <a:graphicData uri="http://schemas.openxmlformats.org/presentationml/2006/ole">
            <mc:AlternateContent xmlns:mc="http://schemas.openxmlformats.org/markup-compatibility/2006">
              <mc:Choice xmlns:v="urn:schemas-microsoft-com:vml" Requires="v">
                <p:oleObj r:id="rId4" imgW="1397000" imgH="482600" progId="Equation.KSEE3">
                  <p:embed/>
                </p:oleObj>
              </mc:Choice>
              <mc:Fallback>
                <p:oleObj r:id="rId4" imgW="1397000" imgH="482600" progId="Equation.KSEE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0626" y="4293890"/>
                        <a:ext cx="2093478" cy="720080"/>
                      </a:xfrm>
                      <a:prstGeom prst="rect">
                        <a:avLst/>
                      </a:prstGeom>
                      <a:noFill/>
                    </p:spPr>
                  </p:pic>
                </p:oleObj>
              </mc:Fallback>
            </mc:AlternateContent>
          </a:graphicData>
        </a:graphic>
      </p:graphicFrame>
      <p:sp>
        <p:nvSpPr>
          <p:cNvPr id="18" name="文本框 17"/>
          <p:cNvSpPr txBox="1"/>
          <p:nvPr/>
        </p:nvSpPr>
        <p:spPr>
          <a:xfrm>
            <a:off x="7165082" y="4492123"/>
            <a:ext cx="819526" cy="369332"/>
          </a:xfrm>
          <a:prstGeom prst="rect">
            <a:avLst/>
          </a:prstGeom>
          <a:noFill/>
        </p:spPr>
        <p:txBody>
          <a:bodyPr wrap="square" rtlCol="0">
            <a:spAutoFit/>
          </a:bodyPr>
          <a:lstStyle/>
          <a:p>
            <a:r>
              <a:rPr lang="en-US" altLang="zh-CN" sz="1800" dirty="0">
                <a:effectLst/>
                <a:latin typeface="宋体" pitchFamily="2" charset="-122"/>
                <a:ea typeface="等线" panose="02010600030101010101" pitchFamily="2" charset="-122"/>
                <a:cs typeface="宋体" pitchFamily="2" charset="-122"/>
              </a:rPr>
              <a:t>(4-2)</a:t>
            </a:r>
            <a:endParaRPr lang="zh-CN" altLang="en-US" dirty="0"/>
          </a:p>
        </p:txBody>
      </p:sp>
      <mc:AlternateContent xmlns:mc="http://schemas.openxmlformats.org/markup-compatibility/2006" xmlns:a14="http://schemas.microsoft.com/office/drawing/2010/main">
        <mc:Choice Requires="a14">
          <p:sp>
            <p:nvSpPr>
              <p:cNvPr id="8" name="文本框 7"/>
              <p:cNvSpPr txBox="1"/>
              <p:nvPr/>
            </p:nvSpPr>
            <p:spPr>
              <a:xfrm>
                <a:off x="648358" y="5088049"/>
                <a:ext cx="7740860" cy="1384995"/>
              </a:xfrm>
              <a:prstGeom prst="rect">
                <a:avLst/>
              </a:prstGeom>
              <a:noFill/>
            </p:spPr>
            <p:txBody>
              <a:bodyPr wrap="square" rtlCol="0">
                <a:spAutoFit/>
              </a:bodyPr>
              <a:lstStyle/>
              <a:p>
                <a:r>
                  <a:rPr lang="zh-CN" altLang="en-US" dirty="0"/>
                  <a:t>         </a:t>
                </a:r>
                <a:r>
                  <a:rPr lang="zh-CN" altLang="en-US" dirty="0">
                    <a:latin typeface="+mn-ea"/>
                  </a:rPr>
                  <a:t>公式 </a:t>
                </a:r>
                <a:r>
                  <a:rPr lang="en-US" altLang="zh-CN" dirty="0">
                    <a:latin typeface="+mn-ea"/>
                  </a:rPr>
                  <a:t>(4-2)</a:t>
                </a:r>
                <a:r>
                  <a:rPr lang="zh-CN" altLang="en-US" dirty="0">
                    <a:latin typeface="+mn-ea"/>
                  </a:rPr>
                  <a:t>是图像平移过程的矩阵表示形式。其中，当   时，表示图像沿</a:t>
                </a:r>
                <a:r>
                  <a:rPr lang="en-US" altLang="zh-CN" dirty="0">
                    <a:latin typeface="+mn-ea"/>
                  </a:rPr>
                  <a:t>X</a:t>
                </a:r>
                <a:r>
                  <a:rPr lang="zh-CN" altLang="en-US" dirty="0">
                    <a:latin typeface="+mn-ea"/>
                  </a:rPr>
                  <a:t>轴正方向移动；当      时，表示图像沿</a:t>
                </a:r>
                <a:r>
                  <a:rPr lang="en-US" altLang="zh-CN" dirty="0">
                    <a:latin typeface="+mn-ea"/>
                  </a:rPr>
                  <a:t>X</a:t>
                </a:r>
                <a:r>
                  <a:rPr lang="zh-CN" altLang="en-US" dirty="0">
                    <a:latin typeface="+mn-ea"/>
                  </a:rPr>
                  <a:t>轴负方向移动。以此类推，当      时，表示图像沿</a:t>
                </a:r>
                <a:r>
                  <a:rPr lang="en-US" altLang="zh-CN" dirty="0">
                    <a:latin typeface="+mn-ea"/>
                  </a:rPr>
                  <a:t>Y</a:t>
                </a:r>
                <a:r>
                  <a:rPr lang="zh-CN" altLang="en-US" dirty="0">
                    <a:latin typeface="+mn-ea"/>
                  </a:rPr>
                  <a:t>轴正方向移动；当</a:t>
                </a:r>
                <a14:m>
                  <m:oMath xmlns:m="http://schemas.openxmlformats.org/officeDocument/2006/math">
                    <m:r>
                      <a:rPr lang="en-US" altLang="zh-CN" i="1" kern="100" smtClean="0">
                        <a:effectLst/>
                        <a:latin typeface="Cambria Math" panose="02040503050406030204" pitchFamily="18" charset="0"/>
                        <a:ea typeface="宋体" pitchFamily="2" charset="-122"/>
                        <a:cs typeface="Times New Roman" panose="02020603050405020304" pitchFamily="18" charset="0"/>
                      </a:rPr>
                      <m:t>𝑑𝑦</m:t>
                    </m:r>
                    <m:r>
                      <a:rPr lang="en-US" altLang="zh-CN" i="1" kern="100" smtClean="0">
                        <a:effectLst/>
                        <a:latin typeface="Cambria Math" panose="02040503050406030204" pitchFamily="18" charset="0"/>
                        <a:ea typeface="宋体" pitchFamily="2" charset="-122"/>
                        <a:cs typeface="Times New Roman" panose="02020603050405020304" pitchFamily="18" charset="0"/>
                      </a:rPr>
                      <m:t>&lt;0</m:t>
                    </m:r>
                  </m:oMath>
                </a14:m>
                <a:r>
                  <a:rPr lang="zh-CN" altLang="en-US" dirty="0">
                    <a:latin typeface="+mn-ea"/>
                  </a:rPr>
                  <a:t>时，表示图像沿</a:t>
                </a:r>
                <a:r>
                  <a:rPr lang="en-US" altLang="zh-CN" dirty="0">
                    <a:latin typeface="+mn-ea"/>
                  </a:rPr>
                  <a:t>Y</a:t>
                </a:r>
                <a:r>
                  <a:rPr lang="zh-CN" altLang="en-US" dirty="0">
                    <a:latin typeface="+mn-ea"/>
                  </a:rPr>
                  <a:t>轴负方向移动。</a:t>
                </a:r>
              </a:p>
            </p:txBody>
          </p:sp>
        </mc:Choice>
        <mc:Fallback xmlns="">
          <p:sp>
            <p:nvSpPr>
              <p:cNvPr id="8" name="文本框 7"/>
              <p:cNvSpPr txBox="1">
                <a:spLocks noRot="1" noChangeAspect="1" noMove="1" noResize="1" noEditPoints="1" noAdjustHandles="1" noChangeArrowheads="1" noChangeShapeType="1" noTextEdit="1"/>
              </p:cNvSpPr>
              <p:nvPr/>
            </p:nvSpPr>
            <p:spPr>
              <a:xfrm>
                <a:off x="648358" y="5088049"/>
                <a:ext cx="7740860" cy="1384995"/>
              </a:xfrm>
              <a:prstGeom prst="rect">
                <a:avLst/>
              </a:prstGeom>
              <a:blipFill rotWithShape="1">
                <a:blip r:embed="rId6"/>
                <a:stretch>
                  <a:fillRect t="-31" r="3" b="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7596358" y="5088049"/>
                <a:ext cx="1008112"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𝑑𝑥</m:t>
                      </m:r>
                      <m:r>
                        <a:rPr lang="zh-CN" altLang="en-US" i="0">
                          <a:latin typeface="Cambria Math" panose="02040503050406030204" pitchFamily="18" charset="0"/>
                        </a:rPr>
                        <m:t>&gt;0</m:t>
                      </m:r>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7596358" y="5088049"/>
                <a:ext cx="1008112" cy="415498"/>
              </a:xfrm>
              <a:prstGeom prst="rect">
                <a:avLst/>
              </a:prstGeom>
              <a:blipFill rotWithShape="1">
                <a:blip r:embed="rId7"/>
                <a:stretch>
                  <a:fillRect l="-48" t="-103" r="22" b="-10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4716810" y="5384834"/>
                <a:ext cx="1125788"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𝑑𝑥</m:t>
                      </m:r>
                      <m:r>
                        <a:rPr lang="zh-CN" altLang="en-US" i="0">
                          <a:latin typeface="Cambria Math" panose="02040503050406030204" pitchFamily="18" charset="0"/>
                        </a:rPr>
                        <m:t>&lt;0</m:t>
                      </m:r>
                    </m:oMath>
                  </m:oMathPara>
                </a14:m>
                <a:endParaRPr lang="zh-CN" altLang="en-US" dirty="0"/>
              </a:p>
            </p:txBody>
          </p:sp>
        </mc:Choice>
        <mc:Fallback xmlns="">
          <p:sp>
            <p:nvSpPr>
              <p:cNvPr id="23" name="文本框 22"/>
              <p:cNvSpPr txBox="1">
                <a:spLocks noRot="1" noChangeAspect="1" noMove="1" noResize="1" noEditPoints="1" noAdjustHandles="1" noChangeArrowheads="1" noChangeShapeType="1" noTextEdit="1"/>
              </p:cNvSpPr>
              <p:nvPr/>
            </p:nvSpPr>
            <p:spPr>
              <a:xfrm>
                <a:off x="4716810" y="5384834"/>
                <a:ext cx="1125788" cy="415498"/>
              </a:xfrm>
              <a:prstGeom prst="rect">
                <a:avLst/>
              </a:prstGeom>
              <a:blipFill rotWithShape="1">
                <a:blip r:embed="rId8"/>
                <a:stretch>
                  <a:fillRect l="-3" t="-8" r="53" b="-11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3548331" y="5760879"/>
                <a:ext cx="1053780"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𝑑𝑦</m:t>
                      </m:r>
                      <m:r>
                        <a:rPr lang="zh-CN" altLang="en-US" i="0">
                          <a:latin typeface="Cambria Math" panose="02040503050406030204" pitchFamily="18" charset="0"/>
                        </a:rPr>
                        <m:t>&gt;0</m:t>
                      </m:r>
                    </m:oMath>
                  </m:oMathPara>
                </a14:m>
                <a:endParaRPr lang="zh-CN" altLang="en-US" dirty="0"/>
              </a:p>
            </p:txBody>
          </p:sp>
        </mc:Choice>
        <mc:Fallback xmlns="">
          <p:sp>
            <p:nvSpPr>
              <p:cNvPr id="25" name="文本框 24"/>
              <p:cNvSpPr txBox="1">
                <a:spLocks noRot="1" noChangeAspect="1" noMove="1" noResize="1" noEditPoints="1" noAdjustHandles="1" noChangeArrowheads="1" noChangeShapeType="1" noTextEdit="1"/>
              </p:cNvSpPr>
              <p:nvPr/>
            </p:nvSpPr>
            <p:spPr>
              <a:xfrm>
                <a:off x="3548331" y="5760879"/>
                <a:ext cx="1053780" cy="415498"/>
              </a:xfrm>
              <a:prstGeom prst="rect">
                <a:avLst/>
              </a:prstGeom>
              <a:blipFill rotWithShape="1">
                <a:blip r:embed="rId9"/>
                <a:stretch>
                  <a:fillRect l="-56" t="-38" r="25" b="-1134"/>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4.1.2  </a:t>
            </a:r>
            <a:r>
              <a:rPr lang="zh-CN" altLang="en-US" sz="2100" b="1" dirty="0">
                <a:solidFill>
                  <a:schemeClr val="tx1">
                    <a:lumMod val="75000"/>
                    <a:lumOff val="25000"/>
                  </a:schemeClr>
                </a:solidFill>
                <a:latin typeface="微软雅黑" panose="020B0503020204020204" pitchFamily="34" charset="-122"/>
              </a:rPr>
              <a:t>图像平移的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540346" y="1212398"/>
            <a:ext cx="7848872" cy="1384995"/>
          </a:xfrm>
          <a:prstGeom prst="rect">
            <a:avLst/>
          </a:prstGeom>
          <a:noFill/>
        </p:spPr>
        <p:txBody>
          <a:bodyPr wrap="square" rtlCol="0">
            <a:spAutoFit/>
          </a:bodyPr>
          <a:lstStyle/>
          <a:p>
            <a:pPr indent="457200"/>
            <a:r>
              <a:rPr lang="zh-CN" altLang="en-US" dirty="0"/>
              <a:t>在我们实现图像的平移之前，首先需要构建一个如公式 </a:t>
            </a:r>
            <a:r>
              <a:rPr lang="en-US" altLang="zh-CN" dirty="0"/>
              <a:t>(4-3)</a:t>
            </a:r>
            <a:r>
              <a:rPr lang="zh-CN" altLang="en-US" dirty="0"/>
              <a:t>所示的变换矩阵，然后使用</a:t>
            </a:r>
            <a:r>
              <a:rPr lang="en-US" altLang="zh-CN" dirty="0"/>
              <a:t>OpenCV</a:t>
            </a:r>
            <a:r>
              <a:rPr lang="zh-CN" altLang="en-US" dirty="0"/>
              <a:t>提供的仿射变换函数进行图像矩阵转换，得到一个平移变换后的图像。使用该函数进行仿射变换调用的语法为：</a:t>
            </a:r>
          </a:p>
        </p:txBody>
      </p:sp>
      <p:sp>
        <p:nvSpPr>
          <p:cNvPr id="19" name="文本框 18"/>
          <p:cNvSpPr txBox="1"/>
          <p:nvPr/>
        </p:nvSpPr>
        <p:spPr>
          <a:xfrm>
            <a:off x="288143" y="2566105"/>
            <a:ext cx="8749148" cy="4293483"/>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res = cv2.warpAffine(</a:t>
            </a:r>
            <a:r>
              <a:rPr lang="en-US" altLang="zh-CN" kern="100" dirty="0" err="1">
                <a:effectLst/>
                <a:latin typeface="Times New Roman" panose="02020603050405020304" pitchFamily="18" charset="0"/>
                <a:ea typeface="宋体" pitchFamily="2" charset="-122"/>
              </a:rPr>
              <a:t>img</a:t>
            </a:r>
            <a:r>
              <a:rPr lang="en-US" altLang="zh-CN" kern="100" dirty="0">
                <a:effectLst/>
                <a:latin typeface="Times New Roman" panose="02020603050405020304" pitchFamily="18" charset="0"/>
                <a:ea typeface="宋体" pitchFamily="2" charset="-122"/>
              </a:rPr>
              <a:t>, H, (cols, rows), </a:t>
            </a:r>
            <a:r>
              <a:rPr lang="en-US" altLang="zh-CN" kern="100" dirty="0" err="1">
                <a:effectLst/>
                <a:latin typeface="Times New Roman" panose="02020603050405020304" pitchFamily="18" charset="0"/>
                <a:ea typeface="宋体" pitchFamily="2" charset="-122"/>
              </a:rPr>
              <a:t>borderValue</a:t>
            </a:r>
            <a:r>
              <a:rPr lang="en-US" altLang="zh-CN" kern="100" dirty="0">
                <a:effectLst/>
                <a:latin typeface="Times New Roman" panose="02020603050405020304" pitchFamily="18" charset="0"/>
                <a:ea typeface="宋体" pitchFamily="2" charset="-122"/>
              </a:rPr>
              <a:t>=(255, 255, 255))</a:t>
            </a:r>
            <a:endParaRPr lang="zh-CN" altLang="zh-CN" kern="100" dirty="0">
              <a:effectLst/>
              <a:latin typeface="Times New Roman" panose="02020603050405020304" pitchFamily="18" charset="0"/>
              <a:ea typeface="宋体" pitchFamily="2" charset="-122"/>
            </a:endParaRPr>
          </a:p>
          <a:p>
            <a:pPr indent="266700" algn="just"/>
            <a:endParaRPr lang="en-US"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res</a:t>
            </a:r>
            <a:r>
              <a:rPr lang="zh-CN" altLang="zh-CN" kern="100" dirty="0">
                <a:effectLst/>
                <a:latin typeface="Times New Roman" panose="02020603050405020304" pitchFamily="18" charset="0"/>
                <a:ea typeface="宋体" pitchFamily="2" charset="-122"/>
              </a:rPr>
              <a:t>：表示输出的平移图像</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img</a:t>
            </a:r>
            <a:r>
              <a:rPr lang="zh-CN" altLang="zh-CN" kern="100" dirty="0">
                <a:effectLst/>
                <a:latin typeface="Times New Roman" panose="02020603050405020304" pitchFamily="18" charset="0"/>
                <a:ea typeface="宋体" pitchFamily="2" charset="-122"/>
              </a:rPr>
              <a:t>：表示输入的原始图像。</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H</a:t>
            </a:r>
            <a:r>
              <a:rPr lang="zh-CN" altLang="zh-CN" kern="100" dirty="0">
                <a:effectLst/>
                <a:latin typeface="Times New Roman" panose="02020603050405020304" pitchFamily="18" charset="0"/>
                <a:ea typeface="宋体" pitchFamily="2" charset="-122"/>
              </a:rPr>
              <a:t>：表示变换矩阵。矩阵是</a:t>
            </a:r>
            <a:r>
              <a:rPr lang="en-US" altLang="zh-CN" kern="100" dirty="0">
                <a:effectLst/>
                <a:latin typeface="Times New Roman" panose="02020603050405020304" pitchFamily="18" charset="0"/>
                <a:ea typeface="宋体" pitchFamily="2" charset="-122"/>
              </a:rPr>
              <a:t>2</a:t>
            </a:r>
            <a:r>
              <a:rPr lang="zh-CN" altLang="zh-CN" kern="100" dirty="0">
                <a:effectLst/>
                <a:latin typeface="Times New Roman" panose="02020603050405020304" pitchFamily="18" charset="0"/>
                <a:ea typeface="宋体" pitchFamily="2" charset="-122"/>
              </a:rPr>
              <a:t>行</a:t>
            </a:r>
            <a:r>
              <a:rPr lang="en-US" altLang="zh-CN" kern="100" dirty="0">
                <a:effectLst/>
                <a:latin typeface="Times New Roman" panose="02020603050405020304" pitchFamily="18" charset="0"/>
                <a:ea typeface="宋体" pitchFamily="2" charset="-122"/>
              </a:rPr>
              <a:t>3</a:t>
            </a:r>
            <a:r>
              <a:rPr lang="zh-CN" altLang="zh-CN" kern="100" dirty="0">
                <a:effectLst/>
                <a:latin typeface="Times New Roman" panose="02020603050405020304" pitchFamily="18" charset="0"/>
                <a:ea typeface="宋体" pitchFamily="2" charset="-122"/>
              </a:rPr>
              <a:t>列矩阵，须使用浮点型数据，否则出错。</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cols</a:t>
            </a:r>
            <a:r>
              <a:rPr lang="zh-CN" altLang="zh-CN" kern="100" dirty="0">
                <a:effectLst/>
                <a:latin typeface="Times New Roman" panose="02020603050405020304" pitchFamily="18" charset="0"/>
                <a:ea typeface="宋体" pitchFamily="2" charset="-122"/>
              </a:rPr>
              <a:t>：表示输出图像的列宽。</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row</a:t>
            </a:r>
            <a:r>
              <a:rPr lang="zh-CN" altLang="zh-CN" kern="100" dirty="0">
                <a:effectLst/>
                <a:latin typeface="Times New Roman" panose="02020603050405020304" pitchFamily="18" charset="0"/>
                <a:ea typeface="宋体" pitchFamily="2" charset="-122"/>
              </a:rPr>
              <a:t>：表示输出图像的行高。</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(cols, rows)</a:t>
            </a:r>
            <a:r>
              <a:rPr lang="zh-CN" altLang="zh-CN" kern="100" dirty="0">
                <a:effectLst/>
                <a:latin typeface="Times New Roman" panose="02020603050405020304" pitchFamily="18" charset="0"/>
                <a:ea typeface="宋体" pitchFamily="2" charset="-122"/>
              </a:rPr>
              <a:t>：表示输出图像的大小。</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borderValue</a:t>
            </a:r>
            <a:r>
              <a:rPr lang="en-US" altLang="zh-CN" kern="100" dirty="0">
                <a:effectLst/>
                <a:latin typeface="Times New Roman" panose="02020603050405020304" pitchFamily="18" charset="0"/>
                <a:ea typeface="宋体" pitchFamily="2" charset="-122"/>
              </a:rPr>
              <a:t>=(255,255,255)</a:t>
            </a:r>
            <a:r>
              <a:rPr lang="zh-CN" altLang="zh-CN" kern="100" dirty="0">
                <a:effectLst/>
                <a:latin typeface="Times New Roman" panose="02020603050405020304" pitchFamily="18" charset="0"/>
                <a:ea typeface="宋体" pitchFamily="2" charset="-122"/>
              </a:rPr>
              <a:t>：表示画布的颜色，即移动区域填充的颜色。括号中的</a:t>
            </a:r>
            <a:r>
              <a:rPr lang="en-US" altLang="zh-CN" kern="100" dirty="0">
                <a:effectLst/>
                <a:latin typeface="Times New Roman" panose="02020603050405020304" pitchFamily="18" charset="0"/>
                <a:ea typeface="宋体" pitchFamily="2" charset="-122"/>
              </a:rPr>
              <a:t>3</a:t>
            </a:r>
            <a:r>
              <a:rPr lang="zh-CN" altLang="zh-CN" kern="100" dirty="0">
                <a:effectLst/>
                <a:latin typeface="Times New Roman" panose="02020603050405020304" pitchFamily="18" charset="0"/>
                <a:ea typeface="宋体" pitchFamily="2" charset="-122"/>
              </a:rPr>
              <a:t>个数值分别代表</a:t>
            </a:r>
            <a:r>
              <a:rPr lang="en-US" altLang="zh-CN" kern="100" dirty="0">
                <a:effectLst/>
                <a:latin typeface="Times New Roman" panose="02020603050405020304" pitchFamily="18" charset="0"/>
                <a:ea typeface="宋体" pitchFamily="2" charset="-122"/>
              </a:rPr>
              <a:t>B</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G</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R</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3</a:t>
            </a:r>
            <a:r>
              <a:rPr lang="zh-CN" altLang="zh-CN" kern="100" dirty="0">
                <a:effectLst/>
                <a:latin typeface="Times New Roman" panose="02020603050405020304" pitchFamily="18" charset="0"/>
                <a:ea typeface="宋体" pitchFamily="2" charset="-122"/>
              </a:rPr>
              <a:t>个数的取值不同移动区域填充的颜色不同。如果数值全为</a:t>
            </a:r>
            <a:r>
              <a:rPr lang="en-US" altLang="zh-CN" kern="100" dirty="0">
                <a:effectLst/>
                <a:latin typeface="Times New Roman" panose="02020603050405020304" pitchFamily="18" charset="0"/>
                <a:ea typeface="宋体" pitchFamily="2" charset="-122"/>
              </a:rPr>
              <a:t>255</a:t>
            </a:r>
            <a:r>
              <a:rPr lang="zh-CN" altLang="zh-CN" kern="100" dirty="0">
                <a:effectLst/>
                <a:latin typeface="Times New Roman" panose="02020603050405020304" pitchFamily="18" charset="0"/>
                <a:ea typeface="宋体" pitchFamily="2" charset="-122"/>
              </a:rPr>
              <a:t>，则表示画布颜色为白色。如果数值全为</a:t>
            </a:r>
            <a:r>
              <a:rPr lang="en-US" altLang="zh-CN" kern="100" dirty="0">
                <a:effectLst/>
                <a:latin typeface="Times New Roman" panose="02020603050405020304" pitchFamily="18" charset="0"/>
                <a:ea typeface="宋体" pitchFamily="2" charset="-122"/>
              </a:rPr>
              <a:t>0</a:t>
            </a:r>
            <a:r>
              <a:rPr lang="zh-CN" altLang="zh-CN" kern="100" dirty="0">
                <a:effectLst/>
                <a:latin typeface="Times New Roman" panose="02020603050405020304" pitchFamily="18" charset="0"/>
                <a:ea typeface="宋体" pitchFamily="2" charset="-122"/>
              </a:rPr>
              <a:t>，即表示画布颜色为黑色。</a:t>
            </a:r>
          </a:p>
        </p:txBody>
      </p:sp>
    </p:spTree>
  </p:cSld>
  <p:clrMapOvr>
    <a:masterClrMapping/>
  </p:clrMapOvr>
  <p:transition spd="slow" advClick="0"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4.1.2  </a:t>
            </a:r>
            <a:r>
              <a:rPr lang="zh-CN" altLang="en-US" sz="2100" b="1" dirty="0">
                <a:solidFill>
                  <a:schemeClr val="tx1">
                    <a:lumMod val="75000"/>
                    <a:lumOff val="25000"/>
                  </a:schemeClr>
                </a:solidFill>
                <a:latin typeface="微软雅黑" panose="020B0503020204020204" pitchFamily="34" charset="-122"/>
              </a:rPr>
              <a:t>图像平移的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540346" y="1246973"/>
            <a:ext cx="7920880" cy="106182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需要说明的是图像本身并不会放大或者缩小，只是显示区域的大小或图像的显示位置发生了变化，也就是把移出显示区域的图像截去，只保留显示区域图像。</a:t>
            </a:r>
          </a:p>
        </p:txBody>
      </p:sp>
      <p:graphicFrame>
        <p:nvGraphicFramePr>
          <p:cNvPr id="8" name="对象 7"/>
          <p:cNvGraphicFramePr>
            <a:graphicFrameLocks noChangeAspect="1"/>
          </p:cNvGraphicFramePr>
          <p:nvPr/>
        </p:nvGraphicFramePr>
        <p:xfrm>
          <a:off x="2916610" y="2308802"/>
          <a:ext cx="1988134" cy="873349"/>
        </p:xfrm>
        <a:graphic>
          <a:graphicData uri="http://schemas.openxmlformats.org/presentationml/2006/ole">
            <mc:AlternateContent xmlns:mc="http://schemas.openxmlformats.org/markup-compatibility/2006">
              <mc:Choice xmlns:v="urn:schemas-microsoft-com:vml" Requires="v">
                <p:oleObj r:id="rId3" imgW="1041400" imgH="457200" progId="Equation.KSEE3">
                  <p:embed/>
                </p:oleObj>
              </mc:Choice>
              <mc:Fallback>
                <p:oleObj r:id="rId3" imgW="1041400" imgH="457200" progId="Equation.KSEE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610" y="2308802"/>
                        <a:ext cx="1988134" cy="873349"/>
                      </a:xfrm>
                      <a:prstGeom prst="rect">
                        <a:avLst/>
                      </a:prstGeom>
                      <a:noFill/>
                    </p:spPr>
                  </p:pic>
                </p:oleObj>
              </mc:Fallback>
            </mc:AlternateContent>
          </a:graphicData>
        </a:graphic>
      </p:graphicFrame>
      <p:sp>
        <p:nvSpPr>
          <p:cNvPr id="16" name="文本框 15"/>
          <p:cNvSpPr txBox="1"/>
          <p:nvPr/>
        </p:nvSpPr>
        <p:spPr>
          <a:xfrm>
            <a:off x="7320751" y="2560810"/>
            <a:ext cx="819526" cy="369332"/>
          </a:xfrm>
          <a:prstGeom prst="rect">
            <a:avLst/>
          </a:prstGeom>
          <a:noFill/>
        </p:spPr>
        <p:txBody>
          <a:bodyPr wrap="square" rtlCol="0">
            <a:spAutoFit/>
          </a:bodyPr>
          <a:lstStyle/>
          <a:p>
            <a:r>
              <a:rPr lang="en-US" altLang="zh-CN" sz="1800" dirty="0">
                <a:effectLst/>
                <a:latin typeface="宋体" pitchFamily="2" charset="-122"/>
                <a:ea typeface="等线" panose="02010600030101010101" pitchFamily="2" charset="-122"/>
                <a:cs typeface="宋体" pitchFamily="2" charset="-122"/>
              </a:rPr>
              <a:t>(4-2)</a:t>
            </a:r>
            <a:endParaRPr lang="zh-CN" altLang="en-US" dirty="0"/>
          </a:p>
        </p:txBody>
      </p:sp>
      <p:sp>
        <p:nvSpPr>
          <p:cNvPr id="18" name="文本框 17"/>
          <p:cNvSpPr txBox="1"/>
          <p:nvPr/>
        </p:nvSpPr>
        <p:spPr>
          <a:xfrm>
            <a:off x="252314" y="3307729"/>
            <a:ext cx="6924582" cy="461665"/>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图像平移的代码如下</a:t>
            </a:r>
            <a:r>
              <a:rPr lang="zh-CN" altLang="zh-CN" sz="2400" kern="100" dirty="0">
                <a:effectLst/>
                <a:latin typeface="Times New Roman" panose="02020603050405020304" pitchFamily="18" charset="0"/>
                <a:ea typeface="宋体" pitchFamily="2" charset="-122"/>
              </a:rPr>
              <a:t>：</a:t>
            </a:r>
          </a:p>
        </p:txBody>
      </p:sp>
      <p:sp>
        <p:nvSpPr>
          <p:cNvPr id="20" name="文本框 19"/>
          <p:cNvSpPr txBox="1"/>
          <p:nvPr/>
        </p:nvSpPr>
        <p:spPr>
          <a:xfrm>
            <a:off x="712183" y="3739145"/>
            <a:ext cx="9150923" cy="2862322"/>
          </a:xfrm>
          <a:prstGeom prst="rect">
            <a:avLst/>
          </a:prstGeom>
          <a:no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 cv2.imread('D:\ lena.jpg ',1) 	#</a:t>
            </a:r>
            <a:r>
              <a:rPr lang="zh-CN" altLang="zh-CN" sz="1800" kern="100" dirty="0">
                <a:solidFill>
                  <a:srgbClr val="000000"/>
                </a:solidFill>
                <a:effectLst/>
                <a:latin typeface="Times New Roman" panose="02020603050405020304" pitchFamily="18" charset="0"/>
                <a:ea typeface="宋体" pitchFamily="2" charset="-122"/>
              </a:rPr>
              <a:t>读取原始图像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H = np.float32([[1, 0, 50], [0, 1, 25]])	#</a:t>
            </a:r>
            <a:r>
              <a:rPr lang="zh-CN" altLang="zh-CN" sz="1800" kern="100" dirty="0">
                <a:solidFill>
                  <a:srgbClr val="000000"/>
                </a:solidFill>
                <a:effectLst/>
                <a:latin typeface="Times New Roman" panose="02020603050405020304" pitchFamily="18" charset="0"/>
                <a:ea typeface="宋体" pitchFamily="2" charset="-122"/>
              </a:rPr>
              <a:t>构建一个形如</a:t>
            </a:r>
            <a:r>
              <a:rPr lang="en-US" altLang="zh-CN" sz="1800" kern="100" dirty="0">
                <a:solidFill>
                  <a:srgbClr val="000000"/>
                </a:solidFill>
                <a:effectLst/>
                <a:latin typeface="Times New Roman" panose="02020603050405020304" pitchFamily="18" charset="0"/>
                <a:ea typeface="宋体" pitchFamily="2" charset="-122"/>
              </a:rPr>
              <a:t> (4-3)</a:t>
            </a:r>
            <a:r>
              <a:rPr lang="zh-CN" altLang="zh-CN" sz="1800" kern="100" dirty="0">
                <a:solidFill>
                  <a:srgbClr val="000000"/>
                </a:solidFill>
                <a:effectLst/>
                <a:latin typeface="Times New Roman" panose="02020603050405020304" pitchFamily="18" charset="0"/>
                <a:ea typeface="宋体" pitchFamily="2" charset="-122"/>
              </a:rPr>
              <a:t>所示的转换矩阵</a:t>
            </a:r>
            <a:r>
              <a:rPr lang="en-US" altLang="zh-CN" sz="1800" kern="100" dirty="0">
                <a:solidFill>
                  <a:srgbClr val="000000"/>
                </a:solidFill>
                <a:effectLst/>
                <a:latin typeface="Times New Roman" panose="02020603050405020304" pitchFamily="18" charset="0"/>
                <a:ea typeface="宋体" pitchFamily="2" charset="-122"/>
              </a:rPr>
              <a:t>H</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rows, cols = </a:t>
            </a:r>
            <a:r>
              <a:rPr lang="en-US" altLang="zh-CN" sz="1800" kern="100" dirty="0" err="1">
                <a:solidFill>
                  <a:srgbClr val="000000"/>
                </a:solidFill>
                <a:effectLst/>
                <a:latin typeface="Times New Roman" panose="02020603050405020304" pitchFamily="18" charset="0"/>
                <a:ea typeface="宋体" pitchFamily="2" charset="-122"/>
              </a:rPr>
              <a:t>img.shape</a:t>
            </a:r>
            <a:r>
              <a:rPr lang="en-US" altLang="zh-CN" sz="1800" kern="100" dirty="0">
                <a:solidFill>
                  <a:srgbClr val="000000"/>
                </a:solidFill>
                <a:effectLst/>
                <a:latin typeface="Times New Roman" panose="02020603050405020304" pitchFamily="18" charset="0"/>
                <a:ea typeface="宋体" pitchFamily="2" charset="-122"/>
              </a:rPr>
              <a:t>[:2] 		#</a:t>
            </a:r>
            <a:r>
              <a:rPr lang="zh-CN" altLang="zh-CN" sz="1800" kern="100" dirty="0">
                <a:solidFill>
                  <a:srgbClr val="000000"/>
                </a:solidFill>
                <a:effectLst/>
                <a:latin typeface="Times New Roman" panose="02020603050405020304" pitchFamily="18" charset="0"/>
                <a:ea typeface="宋体" pitchFamily="2" charset="-122"/>
              </a:rPr>
              <a:t>返回原图像像素的行和列</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注意这里</a:t>
            </a:r>
            <a:r>
              <a:rPr lang="en-US" altLang="zh-CN" sz="1800" kern="100" dirty="0">
                <a:solidFill>
                  <a:srgbClr val="000000"/>
                </a:solidFill>
                <a:effectLst/>
                <a:latin typeface="Times New Roman" panose="02020603050405020304" pitchFamily="18" charset="0"/>
                <a:ea typeface="宋体" pitchFamily="2" charset="-122"/>
              </a:rPr>
              <a:t>rows</a:t>
            </a:r>
            <a:r>
              <a:rPr lang="zh-CN" altLang="zh-CN" sz="1800" kern="100" dirty="0">
                <a:solidFill>
                  <a:srgbClr val="000000"/>
                </a:solidFill>
                <a:effectLst/>
                <a:latin typeface="Times New Roman" panose="02020603050405020304" pitchFamily="18" charset="0"/>
                <a:ea typeface="宋体" pitchFamily="2" charset="-122"/>
              </a:rPr>
              <a:t>和</a:t>
            </a:r>
            <a:r>
              <a:rPr lang="en-US" altLang="zh-CN" sz="1800" kern="100" dirty="0">
                <a:solidFill>
                  <a:srgbClr val="000000"/>
                </a:solidFill>
                <a:effectLst/>
                <a:latin typeface="Times New Roman" panose="02020603050405020304" pitchFamily="18" charset="0"/>
                <a:ea typeface="宋体" pitchFamily="2" charset="-122"/>
              </a:rPr>
              <a:t>cols</a:t>
            </a:r>
            <a:r>
              <a:rPr lang="zh-CN" altLang="zh-CN" sz="1800" kern="100" dirty="0">
                <a:solidFill>
                  <a:srgbClr val="000000"/>
                </a:solidFill>
                <a:effectLst/>
                <a:latin typeface="Times New Roman" panose="02020603050405020304" pitchFamily="18" charset="0"/>
                <a:ea typeface="宋体" pitchFamily="2" charset="-122"/>
              </a:rPr>
              <a:t>需要反置</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移动区域填充颜色白色</a:t>
            </a:r>
            <a:r>
              <a:rPr lang="en-US" altLang="zh-CN" sz="1800" kern="100" dirty="0">
                <a:solidFill>
                  <a:srgbClr val="000000"/>
                </a:solidFill>
                <a:effectLst/>
                <a:latin typeface="Times New Roman" panose="02020603050405020304" pitchFamily="18" charset="0"/>
                <a:ea typeface="宋体" pitchFamily="2" charset="-122"/>
              </a:rPr>
              <a:t>(255, 255, 255)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res = cv2.warpAffine(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H, (cols, rows),</a:t>
            </a:r>
            <a:r>
              <a:rPr lang="en-US" altLang="zh-CN" sz="1800" kern="100" dirty="0" err="1">
                <a:solidFill>
                  <a:srgbClr val="000000"/>
                </a:solidFill>
                <a:effectLst/>
                <a:latin typeface="Times New Roman" panose="02020603050405020304" pitchFamily="18" charset="0"/>
                <a:ea typeface="宋体" pitchFamily="2" charset="-122"/>
              </a:rPr>
              <a:t>borderValue</a:t>
            </a:r>
            <a:r>
              <a:rPr lang="en-US" altLang="zh-CN" sz="1800" kern="100" dirty="0">
                <a:solidFill>
                  <a:srgbClr val="000000"/>
                </a:solidFill>
                <a:effectLst/>
                <a:latin typeface="Times New Roman" panose="02020603050405020304" pitchFamily="18" charset="0"/>
                <a:ea typeface="宋体" pitchFamily="2" charset="-122"/>
              </a:rPr>
              <a:t>=(255, 255,255))</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a:t>
            </a:r>
            <a:r>
              <a:rPr lang="en-US" altLang="zh-CN" sz="1800" kern="100" dirty="0" err="1">
                <a:solidFill>
                  <a:srgbClr val="000000"/>
                </a:solidFill>
                <a:effectLst/>
                <a:latin typeface="Times New Roman" panose="02020603050405020304" pitchFamily="18" charset="0"/>
                <a:ea typeface="宋体" pitchFamily="2" charset="-122"/>
              </a:rPr>
              <a:t>origin_picture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输出原始图像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a:t>
            </a:r>
            <a:r>
              <a:rPr lang="en-US" altLang="zh-CN" sz="1800" kern="100" dirty="0" err="1">
                <a:solidFill>
                  <a:srgbClr val="000000"/>
                </a:solidFill>
                <a:effectLst/>
                <a:latin typeface="Times New Roman" panose="02020603050405020304" pitchFamily="18" charset="0"/>
                <a:ea typeface="宋体" pitchFamily="2" charset="-122"/>
              </a:rPr>
              <a:t>new_picture</a:t>
            </a:r>
            <a:r>
              <a:rPr lang="en-US" altLang="zh-CN" sz="1800" kern="100" dirty="0">
                <a:solidFill>
                  <a:srgbClr val="000000"/>
                </a:solidFill>
                <a:effectLst/>
                <a:latin typeface="Times New Roman" panose="02020603050405020304" pitchFamily="18" charset="0"/>
                <a:ea typeface="宋体" pitchFamily="2" charset="-122"/>
              </a:rPr>
              <a:t>', res) 		#</a:t>
            </a:r>
            <a:r>
              <a:rPr lang="zh-CN" altLang="zh-CN" sz="1800" kern="100" dirty="0">
                <a:solidFill>
                  <a:srgbClr val="000000"/>
                </a:solidFill>
                <a:effectLst/>
                <a:latin typeface="Times New Roman" panose="02020603050405020304" pitchFamily="18" charset="0"/>
                <a:ea typeface="宋体" pitchFamily="2" charset="-122"/>
              </a:rPr>
              <a:t>输出平移图像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 </a:t>
            </a:r>
            <a:endParaRPr lang="zh-CN"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4.1.2  </a:t>
            </a:r>
            <a:r>
              <a:rPr lang="zh-CN" altLang="en-US" sz="2100" b="1" dirty="0">
                <a:solidFill>
                  <a:schemeClr val="tx1">
                    <a:lumMod val="75000"/>
                    <a:lumOff val="25000"/>
                  </a:schemeClr>
                </a:solidFill>
                <a:latin typeface="微软雅黑" panose="020B0503020204020204" pitchFamily="34" charset="-122"/>
              </a:rPr>
              <a:t>图像平移的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12" name="图片 11"/>
          <p:cNvPicPr>
            <a:picLocks noChangeAspect="1"/>
          </p:cNvPicPr>
          <p:nvPr/>
        </p:nvPicPr>
        <p:blipFill>
          <a:blip r:embed="rId3"/>
          <a:srcRect l="1895" t="10930" r="2030" b="1614"/>
          <a:stretch>
            <a:fillRect/>
          </a:stretch>
        </p:blipFill>
        <p:spPr>
          <a:xfrm>
            <a:off x="854824" y="1341228"/>
            <a:ext cx="3141906" cy="3109961"/>
          </a:xfrm>
          <a:prstGeom prst="rect">
            <a:avLst/>
          </a:prstGeom>
          <a:noFill/>
          <a:ln>
            <a:noFill/>
          </a:ln>
        </p:spPr>
      </p:pic>
      <p:pic>
        <p:nvPicPr>
          <p:cNvPr id="13" name="图片 12"/>
          <p:cNvPicPr>
            <a:picLocks noChangeAspect="1"/>
          </p:cNvPicPr>
          <p:nvPr/>
        </p:nvPicPr>
        <p:blipFill>
          <a:blip r:embed="rId4"/>
          <a:srcRect l="1264" t="10011" r="2630" b="1598"/>
          <a:stretch>
            <a:fillRect/>
          </a:stretch>
        </p:blipFill>
        <p:spPr>
          <a:xfrm>
            <a:off x="4932834" y="1338111"/>
            <a:ext cx="3141906" cy="3109961"/>
          </a:xfrm>
          <a:prstGeom prst="rect">
            <a:avLst/>
          </a:prstGeom>
          <a:noFill/>
          <a:ln>
            <a:noFill/>
          </a:ln>
        </p:spPr>
      </p:pic>
      <p:sp>
        <p:nvSpPr>
          <p:cNvPr id="14" name="文本框 13"/>
          <p:cNvSpPr txBox="1"/>
          <p:nvPr/>
        </p:nvSpPr>
        <p:spPr>
          <a:xfrm>
            <a:off x="1525086" y="4544098"/>
            <a:ext cx="1801381"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15" name="文本框 14"/>
          <p:cNvSpPr txBox="1"/>
          <p:nvPr/>
        </p:nvSpPr>
        <p:spPr>
          <a:xfrm>
            <a:off x="1580173" y="4966210"/>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4.2  </a:t>
            </a:r>
            <a:r>
              <a:rPr lang="zh-CN" altLang="en-US" sz="1800" b="1" kern="0" dirty="0">
                <a:latin typeface="黑体" panose="02010609060101010101" pitchFamily="49" charset="-122"/>
                <a:ea typeface="黑体" panose="02010609060101010101" pitchFamily="49" charset="-122"/>
              </a:rPr>
              <a:t>平移变换效果图</a:t>
            </a:r>
          </a:p>
        </p:txBody>
      </p:sp>
      <p:sp>
        <p:nvSpPr>
          <p:cNvPr id="21" name="文本框 20"/>
          <p:cNvSpPr txBox="1"/>
          <p:nvPr/>
        </p:nvSpPr>
        <p:spPr>
          <a:xfrm>
            <a:off x="5819123" y="4537864"/>
            <a:ext cx="244945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en-US" sz="1600" b="1" dirty="0">
                <a:solidFill>
                  <a:srgbClr val="000000"/>
                </a:solidFill>
                <a:latin typeface="黑体" panose="02010609060101010101" pitchFamily="49" charset="-122"/>
                <a:ea typeface="黑体" panose="02010609060101010101" pitchFamily="49" charset="-122"/>
              </a:rPr>
              <a:t>平移变换图像</a:t>
            </a:r>
          </a:p>
        </p:txBody>
      </p:sp>
      <p:sp>
        <p:nvSpPr>
          <p:cNvPr id="22" name="文本框 21"/>
          <p:cNvSpPr txBox="1"/>
          <p:nvPr/>
        </p:nvSpPr>
        <p:spPr>
          <a:xfrm>
            <a:off x="408089" y="5335542"/>
            <a:ext cx="8329409" cy="1384995"/>
          </a:xfrm>
          <a:prstGeom prst="rect">
            <a:avLst/>
          </a:prstGeom>
          <a:noFill/>
        </p:spPr>
        <p:txBody>
          <a:bodyPr wrap="square">
            <a:spAutoFit/>
          </a:bodyPr>
          <a:lstStyle/>
          <a:p>
            <a:r>
              <a:rPr lang="zh-CN" altLang="en-US" dirty="0"/>
              <a:t>         上述程序的运行结果如图</a:t>
            </a:r>
            <a:r>
              <a:rPr lang="en-US" altLang="zh-CN" dirty="0"/>
              <a:t>4.2</a:t>
            </a:r>
            <a:r>
              <a:rPr lang="zh-CN" altLang="en-US" dirty="0"/>
              <a:t>所示。首先通过</a:t>
            </a:r>
            <a:r>
              <a:rPr lang="en-US" altLang="zh-CN" dirty="0"/>
              <a:t>cv2.imread()</a:t>
            </a:r>
            <a:r>
              <a:rPr lang="zh-CN" altLang="en-US" dirty="0"/>
              <a:t>函数对</a:t>
            </a:r>
            <a:r>
              <a:rPr lang="en-US" altLang="zh-CN" dirty="0"/>
              <a:t>4.2 (a)</a:t>
            </a:r>
            <a:r>
              <a:rPr lang="zh-CN" altLang="en-US" dirty="0"/>
              <a:t>中的原始图像进行读取，然后根据平移量构建变换矩阵</a:t>
            </a:r>
            <a:r>
              <a:rPr lang="en-US" altLang="zh-CN" dirty="0"/>
              <a:t>H</a:t>
            </a:r>
            <a:r>
              <a:rPr lang="zh-CN" altLang="en-US" dirty="0"/>
              <a:t>。接下来使用</a:t>
            </a:r>
            <a:r>
              <a:rPr lang="en-US" altLang="zh-CN" dirty="0"/>
              <a:t>H</a:t>
            </a:r>
            <a:r>
              <a:rPr lang="zh-CN" altLang="en-US" dirty="0"/>
              <a:t>对图像进行平移变换，将图像在</a:t>
            </a:r>
            <a:r>
              <a:rPr lang="en-US" altLang="zh-CN" dirty="0"/>
              <a:t>X</a:t>
            </a:r>
            <a:r>
              <a:rPr lang="zh-CN" altLang="en-US" dirty="0"/>
              <a:t>轴方向移动</a:t>
            </a:r>
            <a:r>
              <a:rPr lang="en-US" altLang="zh-CN" dirty="0"/>
              <a:t>50</a:t>
            </a:r>
            <a:r>
              <a:rPr lang="zh-CN" altLang="en-US" dirty="0"/>
              <a:t>像素，在</a:t>
            </a:r>
            <a:r>
              <a:rPr lang="en-US" altLang="zh-CN" dirty="0"/>
              <a:t>Y</a:t>
            </a:r>
            <a:r>
              <a:rPr lang="zh-CN" altLang="en-US" dirty="0"/>
              <a:t>轴方向移动</a:t>
            </a:r>
            <a:r>
              <a:rPr lang="en-US" altLang="zh-CN" dirty="0"/>
              <a:t>25</a:t>
            </a:r>
            <a:r>
              <a:rPr lang="zh-CN" altLang="en-US" dirty="0"/>
              <a:t>像素，得到最终的平移图像</a:t>
            </a:r>
            <a:r>
              <a:rPr lang="en-US" altLang="zh-CN" dirty="0"/>
              <a:t>4.2 (b)</a:t>
            </a:r>
            <a:r>
              <a:rPr lang="zh-CN" altLang="en-US" dirty="0"/>
              <a:t>。</a:t>
            </a:r>
          </a:p>
        </p:txBody>
      </p:sp>
    </p:spTree>
  </p:cSld>
  <p:clrMapOvr>
    <a:masterClrMapping/>
  </p:clrMapOvr>
  <p:transition spd="slow" advClick="0"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4.2  </a:t>
            </a:r>
            <a:r>
              <a:rPr lang="zh-CN" altLang="en-US" sz="2100" b="1" dirty="0">
                <a:solidFill>
                  <a:schemeClr val="tx1">
                    <a:lumMod val="75000"/>
                    <a:lumOff val="25000"/>
                  </a:schemeClr>
                </a:solidFill>
                <a:latin typeface="微软雅黑" panose="020B0503020204020204" pitchFamily="34" charset="-122"/>
              </a:rPr>
              <a:t>图像的旋转</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6" name="文本框 15"/>
          <p:cNvSpPr txBox="1"/>
          <p:nvPr/>
        </p:nvSpPr>
        <p:spPr>
          <a:xfrm>
            <a:off x="792374" y="1269554"/>
            <a:ext cx="7560840" cy="1384995"/>
          </a:xfrm>
          <a:prstGeom prst="rect">
            <a:avLst/>
          </a:prstGeom>
          <a:noFill/>
        </p:spPr>
        <p:txBody>
          <a:bodyPr wrap="square">
            <a:spAutoFit/>
          </a:bodyPr>
          <a:lstStyle/>
          <a:p>
            <a:r>
              <a:rPr lang="zh-CN" altLang="en-US" dirty="0"/>
              <a:t>         旋转是指物体围绕一个点或一个轴做圆周运动。同样，图像的旋转是将图像围绕某一指定点进行旋转，但是旋转后图像的大小通常会改变，我们可以将转出显示区域的图像截去，来显示图像。</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rcRect l="949" t="8443" r="1710" b="2060"/>
          <a:stretch>
            <a:fillRect/>
          </a:stretch>
        </p:blipFill>
        <p:spPr>
          <a:xfrm>
            <a:off x="1044402" y="3234965"/>
            <a:ext cx="2915757" cy="2886111"/>
          </a:xfrm>
          <a:prstGeom prst="rect">
            <a:avLst/>
          </a:prstGeom>
          <a:noFill/>
          <a:ln>
            <a:noFill/>
          </a:ln>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rcRect l="631" t="9008" r="1669" b="1110"/>
          <a:stretch>
            <a:fillRect/>
          </a:stretch>
        </p:blipFill>
        <p:spPr>
          <a:xfrm>
            <a:off x="4932834" y="3234965"/>
            <a:ext cx="2915756" cy="2886110"/>
          </a:xfrm>
          <a:prstGeom prst="rect">
            <a:avLst/>
          </a:prstGeom>
          <a:noFill/>
          <a:ln>
            <a:noFill/>
          </a:ln>
        </p:spPr>
      </p:pic>
      <p:sp>
        <p:nvSpPr>
          <p:cNvPr id="2" name="箭头: 右 1"/>
          <p:cNvSpPr/>
          <p:nvPr/>
        </p:nvSpPr>
        <p:spPr>
          <a:xfrm>
            <a:off x="4104175" y="4437906"/>
            <a:ext cx="720080" cy="216024"/>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Tree>
  </p:cSld>
  <p:clrMapOvr>
    <a:masterClrMapping/>
  </p:clrMapOvr>
  <p:transition spd="slow" advClick="0"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4.2  </a:t>
            </a:r>
            <a:r>
              <a:rPr lang="zh-CN" altLang="en-US" sz="2100" b="1" dirty="0">
                <a:solidFill>
                  <a:schemeClr val="tx1">
                    <a:lumMod val="75000"/>
                    <a:lumOff val="25000"/>
                  </a:schemeClr>
                </a:solidFill>
                <a:latin typeface="微软雅黑" panose="020B0503020204020204" pitchFamily="34" charset="-122"/>
              </a:rPr>
              <a:t>图像的旋转</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文本框 15"/>
              <p:cNvSpPr txBox="1"/>
              <p:nvPr/>
            </p:nvSpPr>
            <p:spPr>
              <a:xfrm>
                <a:off x="792374" y="1269554"/>
                <a:ext cx="7560840" cy="1892826"/>
              </a:xfrm>
              <a:prstGeom prst="rect">
                <a:avLst/>
              </a:prstGeom>
              <a:noFill/>
            </p:spPr>
            <p:txBody>
              <a:bodyPr wrap="square">
                <a:spAutoFit/>
              </a:bodyPr>
              <a:lstStyle/>
              <a:p>
                <a:r>
                  <a:rPr lang="zh-CN" altLang="en-US" dirty="0"/>
                  <a:t>         图像的旋转是指图像以某一点为中心，绕着这个点旋转一定的角度，形成一幅新的图像的过程。</a:t>
                </a:r>
                <a:endParaRPr lang="en-US" altLang="zh-CN" dirty="0"/>
              </a:p>
              <a:p>
                <a:r>
                  <a:rPr lang="en-US" altLang="zh-CN" sz="1800" kern="100" dirty="0">
                    <a:effectLst/>
                    <a:latin typeface="Times New Roman" panose="02020603050405020304" pitchFamily="18" charset="0"/>
                    <a:ea typeface="宋体" pitchFamily="2" charset="-122"/>
                  </a:rPr>
                  <a:t>          </a:t>
                </a:r>
                <a:r>
                  <a:rPr lang="zh-CN" altLang="zh-CN" sz="1800" kern="100" dirty="0">
                    <a:effectLst/>
                    <a:latin typeface="Times New Roman" panose="02020603050405020304" pitchFamily="18" charset="0"/>
                    <a:ea typeface="宋体" pitchFamily="2" charset="-122"/>
                  </a:rPr>
                  <a:t>例如，坐标系中假设点</a:t>
                </a:r>
                <a14:m>
                  <m:oMath xmlns:m="http://schemas.openxmlformats.org/officeDocument/2006/math">
                    <m:r>
                      <a:rPr lang="en-US" altLang="zh-CN" sz="1800" i="1" kern="100">
                        <a:effectLst/>
                        <a:latin typeface="Cambria Math" panose="02040503050406030204" pitchFamily="18" charset="0"/>
                        <a:ea typeface="宋体"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rPr>
                          <m:t>𝑥</m:t>
                        </m:r>
                      </m:e>
                      <m:sub>
                        <m:r>
                          <a:rPr lang="en-US" altLang="zh-CN" sz="1800" i="1" kern="100">
                            <a:effectLst/>
                            <a:latin typeface="Cambria Math" panose="02040503050406030204" pitchFamily="18" charset="0"/>
                            <a:ea typeface="宋体" pitchFamily="2" charset="-122"/>
                          </a:rPr>
                          <m:t>0</m:t>
                        </m:r>
                      </m:sub>
                    </m:sSub>
                    <m:r>
                      <a:rPr lang="en-US" altLang="zh-CN" sz="1800" i="1" kern="100">
                        <a:effectLst/>
                        <a:latin typeface="Cambria Math" panose="02040503050406030204" pitchFamily="18" charset="0"/>
                        <a:ea typeface="宋体"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rPr>
                          <m:t>𝑦</m:t>
                        </m:r>
                      </m:e>
                      <m:sub>
                        <m:r>
                          <a:rPr lang="en-US" altLang="zh-CN" sz="1800" i="1" kern="100">
                            <a:effectLst/>
                            <a:latin typeface="Cambria Math" panose="02040503050406030204" pitchFamily="18" charset="0"/>
                            <a:ea typeface="宋体" pitchFamily="2" charset="-122"/>
                          </a:rPr>
                          <m:t>0</m:t>
                        </m:r>
                      </m:sub>
                    </m:sSub>
                    <m:r>
                      <a:rPr lang="en-US" altLang="zh-CN" sz="1800" i="1" kern="100">
                        <a:effectLst/>
                        <a:latin typeface="Cambria Math" panose="02040503050406030204" pitchFamily="18" charset="0"/>
                        <a:ea typeface="宋体" pitchFamily="2" charset="-122"/>
                      </a:rPr>
                      <m:t>)</m:t>
                    </m:r>
                  </m:oMath>
                </a14:m>
                <a:r>
                  <a:rPr lang="zh-CN" altLang="zh-CN" sz="1800" kern="100" dirty="0">
                    <a:effectLst/>
                    <a:latin typeface="Times New Roman" panose="02020603050405020304" pitchFamily="18" charset="0"/>
                    <a:ea typeface="宋体" pitchFamily="2" charset="-122"/>
                  </a:rPr>
                  <a:t>与原点</a:t>
                </a:r>
                <a14:m>
                  <m:oMath xmlns:m="http://schemas.openxmlformats.org/officeDocument/2006/math">
                    <m:r>
                      <a:rPr lang="en-US" altLang="zh-CN" sz="1800" i="1" kern="100">
                        <a:effectLst/>
                        <a:latin typeface="Cambria Math" panose="02040503050406030204" pitchFamily="18" charset="0"/>
                        <a:ea typeface="宋体" pitchFamily="2" charset="-122"/>
                      </a:rPr>
                      <m:t>(0,0)</m:t>
                    </m:r>
                  </m:oMath>
                </a14:m>
                <a:r>
                  <a:rPr lang="zh-CN" altLang="zh-CN" sz="1800" kern="100" dirty="0">
                    <a:effectLst/>
                    <a:latin typeface="Times New Roman" panose="02020603050405020304" pitchFamily="18" charset="0"/>
                    <a:ea typeface="宋体" pitchFamily="2" charset="-122"/>
                  </a:rPr>
                  <a:t>之间的距离是</a:t>
                </a:r>
                <a14:m>
                  <m:oMath xmlns:m="http://schemas.openxmlformats.org/officeDocument/2006/math">
                    <m:r>
                      <a:rPr lang="en-US" altLang="zh-CN" sz="1800" i="1" kern="100">
                        <a:effectLst/>
                        <a:latin typeface="Cambria Math" panose="02040503050406030204" pitchFamily="18" charset="0"/>
                        <a:ea typeface="宋体" pitchFamily="2" charset="-122"/>
                      </a:rPr>
                      <m:t>𝑟</m:t>
                    </m:r>
                  </m:oMath>
                </a14:m>
                <a:r>
                  <a:rPr lang="zh-CN" altLang="zh-CN" sz="1800" kern="100" dirty="0">
                    <a:effectLst/>
                    <a:latin typeface="Times New Roman" panose="02020603050405020304" pitchFamily="18" charset="0"/>
                    <a:ea typeface="宋体" pitchFamily="2" charset="-122"/>
                  </a:rPr>
                  <a:t>，且两点间的连线</a:t>
                </a:r>
                <a:r>
                  <a:rPr lang="en-US" altLang="zh-CN" sz="1800" kern="100" dirty="0">
                    <a:effectLst/>
                    <a:latin typeface="Times New Roman" panose="02020603050405020304" pitchFamily="18" charset="0"/>
                    <a:ea typeface="宋体" pitchFamily="2" charset="-122"/>
                  </a:rPr>
                  <a:t>OA</a:t>
                </a:r>
                <a:r>
                  <a:rPr lang="zh-CN" altLang="zh-CN" sz="1800" kern="100" dirty="0">
                    <a:effectLst/>
                    <a:latin typeface="Times New Roman" panose="02020603050405020304" pitchFamily="18" charset="0"/>
                    <a:ea typeface="宋体" pitchFamily="2" charset="-122"/>
                  </a:rPr>
                  <a:t>与</a:t>
                </a:r>
                <a:r>
                  <a:rPr lang="en-US" altLang="zh-CN" sz="1800" kern="100" dirty="0">
                    <a:effectLst/>
                    <a:latin typeface="Times New Roman" panose="02020603050405020304" pitchFamily="18" charset="0"/>
                    <a:ea typeface="宋体" pitchFamily="2" charset="-122"/>
                  </a:rPr>
                  <a:t>X</a:t>
                </a:r>
                <a:r>
                  <a:rPr lang="zh-CN" altLang="zh-CN" sz="1800" kern="100" dirty="0">
                    <a:effectLst/>
                    <a:latin typeface="Times New Roman" panose="02020603050405020304" pitchFamily="18" charset="0"/>
                    <a:ea typeface="宋体" pitchFamily="2" charset="-122"/>
                  </a:rPr>
                  <a:t>轴正方向的夹角为</a:t>
                </a:r>
                <a14:m>
                  <m:oMath xmlns:m="http://schemas.openxmlformats.org/officeDocument/2006/math">
                    <m:r>
                      <a:rPr lang="en-US" altLang="zh-CN" sz="1800" i="1" kern="100">
                        <a:effectLst/>
                        <a:latin typeface="Cambria Math" panose="02040503050406030204" pitchFamily="18" charset="0"/>
                        <a:ea typeface="宋体" pitchFamily="2" charset="-122"/>
                      </a:rPr>
                      <m:t>𝑏</m:t>
                    </m:r>
                  </m:oMath>
                </a14:m>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OA</a:t>
                </a:r>
                <a:r>
                  <a:rPr lang="zh-CN" altLang="zh-CN" sz="1800" kern="100" dirty="0">
                    <a:effectLst/>
                    <a:latin typeface="Times New Roman" panose="02020603050405020304" pitchFamily="18" charset="0"/>
                    <a:ea typeface="宋体" pitchFamily="2" charset="-122"/>
                  </a:rPr>
                  <a:t>绕原点顺时针旋转至</a:t>
                </a:r>
                <a:r>
                  <a:rPr lang="en-US" altLang="zh-CN" sz="1800" kern="100" dirty="0">
                    <a:effectLst/>
                    <a:latin typeface="Times New Roman" panose="02020603050405020304" pitchFamily="18" charset="0"/>
                    <a:ea typeface="宋体" pitchFamily="2" charset="-122"/>
                  </a:rPr>
                  <a:t>OB</a:t>
                </a:r>
                <a:r>
                  <a:rPr lang="zh-CN" altLang="zh-CN" sz="1800" kern="100" dirty="0">
                    <a:effectLst/>
                    <a:latin typeface="Times New Roman" panose="02020603050405020304" pitchFamily="18" charset="0"/>
                    <a:ea typeface="宋体" pitchFamily="2" charset="-122"/>
                  </a:rPr>
                  <a:t>，旋转角为</a:t>
                </a:r>
                <a14:m>
                  <m:oMath xmlns:m="http://schemas.openxmlformats.org/officeDocument/2006/math">
                    <m:r>
                      <a:rPr lang="en-US" altLang="zh-CN" sz="1800" i="1" kern="100">
                        <a:effectLst/>
                        <a:latin typeface="Cambria Math" panose="02040503050406030204" pitchFamily="18" charset="0"/>
                        <a:ea typeface="宋体" pitchFamily="2" charset="-122"/>
                      </a:rPr>
                      <m:t>𝑎</m:t>
                    </m:r>
                  </m:oMath>
                </a14:m>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B</a:t>
                </a:r>
                <a:r>
                  <a:rPr lang="zh-CN" altLang="zh-CN" sz="1800" kern="100" dirty="0">
                    <a:effectLst/>
                    <a:latin typeface="Times New Roman" panose="02020603050405020304" pitchFamily="18" charset="0"/>
                    <a:ea typeface="宋体" pitchFamily="2" charset="-122"/>
                  </a:rPr>
                  <a:t>点的坐标为</a:t>
                </a:r>
                <a14:m>
                  <m:oMath xmlns:m="http://schemas.openxmlformats.org/officeDocument/2006/math">
                    <m:r>
                      <a:rPr lang="en-US" altLang="zh-CN" sz="1800" i="1" kern="100">
                        <a:effectLst/>
                        <a:latin typeface="Cambria Math" panose="02040503050406030204" pitchFamily="18" charset="0"/>
                        <a:ea typeface="宋体"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rPr>
                          <m:t>𝑥</m:t>
                        </m:r>
                      </m:e>
                      <m:sub>
                        <m:r>
                          <a:rPr lang="en-US" altLang="zh-CN" sz="1800" i="1" kern="100">
                            <a:effectLst/>
                            <a:latin typeface="Cambria Math" panose="02040503050406030204" pitchFamily="18" charset="0"/>
                            <a:ea typeface="宋体" pitchFamily="2" charset="-122"/>
                          </a:rPr>
                          <m:t>1</m:t>
                        </m:r>
                      </m:sub>
                    </m:sSub>
                    <m:r>
                      <a:rPr lang="en-US" altLang="zh-CN" sz="1800" i="1" kern="100">
                        <a:effectLst/>
                        <a:latin typeface="Cambria Math" panose="02040503050406030204" pitchFamily="18" charset="0"/>
                        <a:ea typeface="宋体"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rPr>
                          <m:t>𝑦</m:t>
                        </m:r>
                      </m:e>
                      <m:sub>
                        <m:r>
                          <a:rPr lang="en-US" altLang="zh-CN" sz="1800" i="1" kern="100">
                            <a:effectLst/>
                            <a:latin typeface="Cambria Math" panose="02040503050406030204" pitchFamily="18" charset="0"/>
                            <a:ea typeface="宋体" pitchFamily="2" charset="-122"/>
                          </a:rPr>
                          <m:t>1</m:t>
                        </m:r>
                      </m:sub>
                    </m:sSub>
                    <m:r>
                      <a:rPr lang="en-US" altLang="zh-CN" sz="1800" i="1" kern="100">
                        <a:effectLst/>
                        <a:latin typeface="Cambria Math" panose="02040503050406030204" pitchFamily="18" charset="0"/>
                        <a:ea typeface="宋体" pitchFamily="2" charset="-122"/>
                      </a:rPr>
                      <m:t>)</m:t>
                    </m:r>
                  </m:oMath>
                </a14:m>
                <a:r>
                  <a:rPr lang="zh-CN" altLang="zh-CN" sz="1800" kern="100" dirty="0">
                    <a:effectLst/>
                    <a:latin typeface="Times New Roman" panose="02020603050405020304" pitchFamily="18" charset="0"/>
                    <a:ea typeface="宋体" pitchFamily="2" charset="-122"/>
                  </a:rPr>
                  <a:t>，如图</a:t>
                </a:r>
                <a:r>
                  <a:rPr lang="en-US" altLang="zh-CN" sz="1800" kern="100" dirty="0">
                    <a:effectLst/>
                    <a:latin typeface="Times New Roman" panose="02020603050405020304" pitchFamily="18" charset="0"/>
                    <a:ea typeface="宋体" pitchFamily="2" charset="-122"/>
                  </a:rPr>
                  <a:t>4.3</a:t>
                </a:r>
                <a:r>
                  <a:rPr lang="zh-CN" altLang="zh-CN" sz="1800" kern="100" dirty="0">
                    <a:effectLst/>
                    <a:latin typeface="Times New Roman" panose="02020603050405020304" pitchFamily="18" charset="0"/>
                    <a:ea typeface="宋体" pitchFamily="2" charset="-122"/>
                  </a:rPr>
                  <a:t>所示。</a:t>
                </a:r>
              </a:p>
              <a:p>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792374" y="1269554"/>
                <a:ext cx="7560840" cy="1892826"/>
              </a:xfrm>
              <a:prstGeom prst="rect">
                <a:avLst/>
              </a:prstGeom>
              <a:blipFill rotWithShape="1">
                <a:blip r:embed="rId3"/>
                <a:stretch>
                  <a:fillRect l="-7" t="-10" r="6" b="-4055"/>
                </a:stretch>
              </a:blipFill>
            </p:spPr>
            <p:txBody>
              <a:bodyPr/>
              <a:lstStyle/>
              <a:p>
                <a:r>
                  <a:rPr lang="zh-CN" altLang="en-US">
                    <a:noFill/>
                  </a:rPr>
                  <a:t> </a:t>
                </a:r>
              </a:p>
            </p:txBody>
          </p:sp>
        </mc:Fallback>
      </mc:AlternateContent>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736590" y="2907454"/>
            <a:ext cx="3672408" cy="3243111"/>
          </a:xfrm>
          <a:prstGeom prst="rect">
            <a:avLst/>
          </a:prstGeom>
          <a:noFill/>
          <a:ln>
            <a:noFill/>
          </a:ln>
        </p:spPr>
      </p:pic>
      <p:sp>
        <p:nvSpPr>
          <p:cNvPr id="9" name="文本框 8"/>
          <p:cNvSpPr txBox="1"/>
          <p:nvPr/>
        </p:nvSpPr>
        <p:spPr>
          <a:xfrm>
            <a:off x="2277917" y="6238106"/>
            <a:ext cx="4589754" cy="338554"/>
          </a:xfrm>
          <a:prstGeom prst="rect">
            <a:avLst/>
          </a:prstGeom>
          <a:noFill/>
        </p:spPr>
        <p:txBody>
          <a:bodyPr wrap="square">
            <a:spAutoFit/>
          </a:bodyPr>
          <a:lstStyle/>
          <a:p>
            <a:pPr indent="266700" algn="ctr"/>
            <a:r>
              <a:rPr lang="zh-CN" altLang="en-US" sz="1600" b="1" kern="100" dirty="0">
                <a:latin typeface="黑体" panose="02010609060101010101" pitchFamily="49" charset="-122"/>
                <a:ea typeface="黑体" panose="02010609060101010101" pitchFamily="49" charset="-122"/>
              </a:rPr>
              <a:t>图</a:t>
            </a:r>
            <a:r>
              <a:rPr lang="en-US" altLang="zh-CN" sz="1600" b="1" kern="100" dirty="0">
                <a:latin typeface="黑体" panose="02010609060101010101" pitchFamily="49" charset="-122"/>
                <a:ea typeface="黑体" panose="02010609060101010101" pitchFamily="49" charset="-122"/>
              </a:rPr>
              <a:t>4.3  </a:t>
            </a:r>
            <a:r>
              <a:rPr lang="zh-CN" altLang="en-US" sz="1600" b="1" kern="100" dirty="0">
                <a:latin typeface="黑体" panose="02010609060101010101" pitchFamily="49" charset="-122"/>
                <a:ea typeface="黑体" panose="02010609060101010101" pitchFamily="49" charset="-122"/>
              </a:rPr>
              <a:t>旋转坐标图</a:t>
            </a:r>
            <a:endParaRPr lang="zh-CN" altLang="zh-CN" sz="1600" b="1" kern="100" dirty="0">
              <a:latin typeface="黑体" panose="02010609060101010101" pitchFamily="49" charset="-122"/>
              <a:ea typeface="黑体" panose="02010609060101010101" pitchFamily="49" charset="-122"/>
            </a:endParaRPr>
          </a:p>
        </p:txBody>
      </p:sp>
    </p:spTree>
  </p:cSld>
  <p:clrMapOvr>
    <a:masterClrMapping/>
  </p:clrMapOvr>
  <p:transition spd="slow" advClick="0"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4.2.1  </a:t>
            </a:r>
            <a:r>
              <a:rPr lang="zh-CN" altLang="en-US" sz="2100" b="1" dirty="0">
                <a:solidFill>
                  <a:schemeClr val="tx1">
                    <a:lumMod val="75000"/>
                    <a:lumOff val="25000"/>
                  </a:schemeClr>
                </a:solidFill>
                <a:latin typeface="微软雅黑" panose="020B0503020204020204" pitchFamily="34" charset="-122"/>
              </a:rPr>
              <a:t>图像旋转的基本原理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5" name="文本框 14"/>
          <p:cNvSpPr txBox="1"/>
          <p:nvPr/>
        </p:nvSpPr>
        <p:spPr>
          <a:xfrm>
            <a:off x="540346" y="1172767"/>
            <a:ext cx="8208912" cy="4616648"/>
          </a:xfrm>
          <a:prstGeom prst="rect">
            <a:avLst/>
          </a:prstGeom>
          <a:noFill/>
        </p:spPr>
        <p:txBody>
          <a:bodyPr wrap="square">
            <a:spAutoFit/>
          </a:bodyPr>
          <a:lstStyle/>
          <a:p>
            <a:r>
              <a:rPr lang="zh-CN" altLang="en-US" dirty="0"/>
              <a:t>由上述已知条件可以推导出</a:t>
            </a:r>
            <a:r>
              <a:rPr lang="en-US" altLang="zh-CN" dirty="0"/>
              <a:t>A</a:t>
            </a:r>
            <a:r>
              <a:rPr lang="zh-CN" altLang="en-US" dirty="0"/>
              <a:t>、</a:t>
            </a:r>
            <a:r>
              <a:rPr lang="en-US" altLang="zh-CN" dirty="0"/>
              <a:t>B</a:t>
            </a:r>
            <a:r>
              <a:rPr lang="zh-CN" altLang="en-US" dirty="0"/>
              <a:t>两点坐标之间的关系，如 </a:t>
            </a:r>
            <a:r>
              <a:rPr lang="en-US" altLang="zh-CN" dirty="0"/>
              <a:t>(4-4)</a:t>
            </a:r>
            <a:r>
              <a:rPr lang="zh-CN" altLang="en-US" dirty="0"/>
              <a:t>、</a:t>
            </a:r>
            <a:r>
              <a:rPr lang="en-US" altLang="zh-CN" dirty="0"/>
              <a:t>(4-5)</a:t>
            </a:r>
            <a:r>
              <a:rPr lang="zh-CN" altLang="en-US" dirty="0"/>
              <a:t>所示：</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以旋转角度为</a:t>
            </a:r>
            <a:r>
              <a:rPr lang="en-US" altLang="zh-CN" dirty="0"/>
              <a:t>a</a:t>
            </a:r>
            <a:r>
              <a:rPr lang="zh-CN" altLang="en-US" dirty="0"/>
              <a:t>的旋转变换公式的矩阵形式，如 </a:t>
            </a:r>
            <a:r>
              <a:rPr lang="en-US" altLang="zh-CN" dirty="0"/>
              <a:t>(4-6)</a:t>
            </a:r>
            <a:r>
              <a:rPr lang="zh-CN" altLang="en-US" dirty="0"/>
              <a:t>所示，相应的逆运算，如</a:t>
            </a:r>
            <a:r>
              <a:rPr lang="en-US" altLang="zh-CN" dirty="0"/>
              <a:t>(4-7)</a:t>
            </a:r>
            <a:r>
              <a:rPr lang="zh-CN" altLang="en-US" dirty="0"/>
              <a:t>所示。我们可以通过公式 </a:t>
            </a:r>
            <a:r>
              <a:rPr lang="en-US" altLang="zh-CN" dirty="0"/>
              <a:t>(4-6)</a:t>
            </a:r>
            <a:r>
              <a:rPr lang="zh-CN" altLang="en-US" dirty="0"/>
              <a:t>将图像顺时针旋转</a:t>
            </a:r>
            <a:r>
              <a:rPr lang="en-US" altLang="zh-CN" dirty="0"/>
              <a:t>a</a:t>
            </a:r>
            <a:r>
              <a:rPr lang="zh-CN" altLang="en-US" dirty="0"/>
              <a:t>个角度，同样，我们也可以将图像使用公式</a:t>
            </a:r>
            <a:r>
              <a:rPr lang="en-US" altLang="zh-CN" dirty="0"/>
              <a:t>(4-7)</a:t>
            </a:r>
            <a:r>
              <a:rPr lang="zh-CN" altLang="en-US" dirty="0"/>
              <a:t>将图像逆时针旋转</a:t>
            </a:r>
            <a:r>
              <a:rPr lang="en-US" altLang="zh-CN" dirty="0"/>
              <a:t>a</a:t>
            </a:r>
            <a:r>
              <a:rPr lang="zh-CN" altLang="en-US" dirty="0"/>
              <a:t>个角度。</a:t>
            </a:r>
          </a:p>
          <a:p>
            <a:r>
              <a:rPr lang="zh-CN" altLang="en-US" dirty="0"/>
              <a:t>	 </a:t>
            </a:r>
          </a:p>
        </p:txBody>
      </p:sp>
      <mc:AlternateContent xmlns:mc="http://schemas.openxmlformats.org/markup-compatibility/2006" xmlns:a14="http://schemas.microsoft.com/office/drawing/2010/main">
        <mc:Choice Requires="a14">
          <p:sp>
            <p:nvSpPr>
              <p:cNvPr id="22" name="文本框 21"/>
              <p:cNvSpPr txBox="1"/>
              <p:nvPr/>
            </p:nvSpPr>
            <p:spPr>
              <a:xfrm>
                <a:off x="1667630" y="1752625"/>
                <a:ext cx="458975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smtClean="0">
                              <a:solidFill>
                                <a:srgbClr val="836967"/>
                              </a:solidFill>
                              <a:latin typeface="Cambria Math" panose="02040503050406030204" pitchFamily="18" charset="0"/>
                            </a:rPr>
                          </m:ctrlPr>
                        </m:mP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0</m:t>
                                </m:r>
                              </m:sub>
                            </m:sSub>
                            <m:r>
                              <a:rPr lang="zh-CN" altLang="en-US" i="0">
                                <a:latin typeface="Cambria Math" panose="02040503050406030204" pitchFamily="18" charset="0"/>
                              </a:rPr>
                              <m:t> = </m:t>
                            </m:r>
                            <m:r>
                              <a:rPr lang="zh-CN" altLang="en-US" i="1">
                                <a:latin typeface="Cambria Math" panose="02040503050406030204" pitchFamily="18" charset="0"/>
                              </a:rPr>
                              <m:t>𝑟</m:t>
                            </m:r>
                            <m:r>
                              <a:rPr lang="zh-CN" altLang="en-US" i="0">
                                <a:latin typeface="Cambria Math" panose="02040503050406030204" pitchFamily="18" charset="0"/>
                              </a:rPr>
                              <m:t>∙</m:t>
                            </m:r>
                            <m:r>
                              <a:rPr lang="zh-CN" altLang="en-US" i="1">
                                <a:latin typeface="Cambria Math" panose="02040503050406030204" pitchFamily="18" charset="0"/>
                              </a:rPr>
                              <m:t>𝑐𝑜𝑠𝑏</m:t>
                            </m:r>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 = </m:t>
                            </m:r>
                            <m:r>
                              <a:rPr lang="zh-CN" altLang="en-US" i="1">
                                <a:latin typeface="Cambria Math" panose="02040503050406030204" pitchFamily="18" charset="0"/>
                              </a:rPr>
                              <m:t>𝑟</m:t>
                            </m:r>
                            <m:r>
                              <a:rPr lang="zh-CN" altLang="en-US" i="0">
                                <a:latin typeface="Cambria Math" panose="02040503050406030204" pitchFamily="18" charset="0"/>
                              </a:rPr>
                              <m:t>∙</m:t>
                            </m:r>
                            <m:r>
                              <a:rPr lang="zh-CN" altLang="en-US" i="1">
                                <a:latin typeface="Cambria Math" panose="02040503050406030204" pitchFamily="18" charset="0"/>
                              </a:rPr>
                              <m:t>𝑠𝑖𝑛𝑏</m:t>
                            </m:r>
                          </m:e>
                        </m:mr>
                      </m:m>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667630" y="1752625"/>
                <a:ext cx="4589754" cy="708079"/>
              </a:xfrm>
              <a:prstGeom prst="rect">
                <a:avLst/>
              </a:prstGeom>
              <a:blipFill rotWithShape="1">
                <a:blip r:embed="rId3"/>
                <a:stretch>
                  <a:fillRect l="-3" t="-4" r="2" b="11"/>
                </a:stretch>
              </a:blipFill>
            </p:spPr>
            <p:txBody>
              <a:bodyPr/>
              <a:lstStyle/>
              <a:p>
                <a:r>
                  <a:rPr lang="zh-CN" altLang="en-US">
                    <a:noFill/>
                  </a:rPr>
                  <a:t> </a:t>
                </a:r>
              </a:p>
            </p:txBody>
          </p:sp>
        </mc:Fallback>
      </mc:AlternateContent>
      <p:sp>
        <p:nvSpPr>
          <p:cNvPr id="25" name="文本框 24"/>
          <p:cNvSpPr txBox="1"/>
          <p:nvPr/>
        </p:nvSpPr>
        <p:spPr>
          <a:xfrm>
            <a:off x="7669138" y="1898915"/>
            <a:ext cx="819526" cy="415498"/>
          </a:xfrm>
          <a:prstGeom prst="rect">
            <a:avLst/>
          </a:prstGeom>
          <a:noFill/>
        </p:spPr>
        <p:txBody>
          <a:bodyPr wrap="square" rtlCol="0">
            <a:spAutoFit/>
          </a:bodyPr>
          <a:lstStyle/>
          <a:p>
            <a:r>
              <a:rPr lang="en-US" altLang="zh-CN" dirty="0"/>
              <a:t>(4-4)</a:t>
            </a:r>
            <a:endParaRPr lang="zh-CN" altLang="en-US" dirty="0"/>
          </a:p>
        </p:txBody>
      </p:sp>
      <mc:AlternateContent xmlns:mc="http://schemas.openxmlformats.org/markup-compatibility/2006" xmlns:a14="http://schemas.microsoft.com/office/drawing/2010/main">
        <mc:Choice Requires="a14">
          <p:sp>
            <p:nvSpPr>
              <p:cNvPr id="27" name="文本框 26"/>
              <p:cNvSpPr txBox="1"/>
              <p:nvPr/>
            </p:nvSpPr>
            <p:spPr>
              <a:xfrm>
                <a:off x="972394" y="2591617"/>
                <a:ext cx="4589754" cy="13742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i="1" smtClean="0">
                              <a:solidFill>
                                <a:srgbClr val="836967"/>
                              </a:solidFill>
                              <a:latin typeface="Cambria Math" panose="02040503050406030204" pitchFamily="18" charset="0"/>
                            </a:rPr>
                          </m:ctrlPr>
                        </m:mPr>
                        <m:mr>
                          <m:e>
                            <m:m>
                              <m:mPr>
                                <m:plcHide m:val="on"/>
                                <m:mcs>
                                  <m:mc>
                                    <m:mcPr>
                                      <m:count m:val="1"/>
                                      <m:mcJc m:val="center"/>
                                    </m:mcPr>
                                  </m:mc>
                                </m:mcs>
                                <m:ctrlPr>
                                  <a:rPr lang="zh-CN" altLang="en-US" i="1">
                                    <a:solidFill>
                                      <a:srgbClr val="836967"/>
                                    </a:solidFill>
                                    <a:latin typeface="Cambria Math" panose="02040503050406030204" pitchFamily="18" charset="0"/>
                                  </a:rPr>
                                </m:ctrlPr>
                              </m:mP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r>
                                    <a:rPr lang="zh-CN" altLang="en-US" i="0">
                                      <a:latin typeface="Cambria Math" panose="02040503050406030204" pitchFamily="18" charset="0"/>
                                    </a:rPr>
                                    <m:t> = </m:t>
                                  </m:r>
                                  <m:r>
                                    <a:rPr lang="zh-CN" altLang="en-US" i="1">
                                      <a:latin typeface="Cambria Math" panose="02040503050406030204" pitchFamily="18" charset="0"/>
                                    </a:rPr>
                                    <m:t>𝑟</m:t>
                                  </m:r>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𝑏</m:t>
                                          </m:r>
                                          <m:r>
                                            <a:rPr lang="zh-CN" altLang="en-US" i="0">
                                              <a:latin typeface="Cambria Math" panose="02040503050406030204" pitchFamily="18" charset="0"/>
                                            </a:rPr>
                                            <m:t>−</m:t>
                                          </m:r>
                                          <m:r>
                                            <a:rPr lang="zh-CN" altLang="en-US" i="1">
                                              <a:latin typeface="Cambria Math" panose="02040503050406030204" pitchFamily="18" charset="0"/>
                                            </a:rPr>
                                            <m:t>𝑎</m:t>
                                          </m:r>
                                        </m:e>
                                      </m:d>
                                    </m:e>
                                  </m:func>
                                  <m:r>
                                    <a:rPr lang="zh-CN" altLang="en-US" i="0">
                                      <a:latin typeface="Cambria Math" panose="02040503050406030204" pitchFamily="18" charset="0"/>
                                    </a:rPr>
                                    <m:t>= </m:t>
                                  </m:r>
                                  <m:r>
                                    <a:rPr lang="zh-CN" altLang="en-US" i="1">
                                      <a:latin typeface="Cambria Math" panose="02040503050406030204" pitchFamily="18" charset="0"/>
                                    </a:rPr>
                                    <m:t>𝑟</m:t>
                                  </m:r>
                                  <m:r>
                                    <a:rPr lang="zh-CN" altLang="en-US" i="0">
                                      <a:latin typeface="Cambria Math" panose="02040503050406030204" pitchFamily="18" charset="0"/>
                                    </a:rPr>
                                    <m:t>∙</m:t>
                                  </m:r>
                                  <m:r>
                                    <a:rPr lang="zh-CN" altLang="en-US" i="1">
                                      <a:latin typeface="Cambria Math" panose="02040503050406030204" pitchFamily="18" charset="0"/>
                                    </a:rPr>
                                    <m:t>𝑐𝑜𝑠𝑏</m:t>
                                  </m:r>
                                  <m:r>
                                    <a:rPr lang="zh-CN" altLang="en-US" i="0">
                                      <a:latin typeface="Cambria Math" panose="02040503050406030204" pitchFamily="18" charset="0"/>
                                    </a:rPr>
                                    <m:t>∙</m:t>
                                  </m:r>
                                  <m:r>
                                    <a:rPr lang="zh-CN" altLang="en-US" i="1">
                                      <a:latin typeface="Cambria Math" panose="02040503050406030204" pitchFamily="18" charset="0"/>
                                    </a:rPr>
                                    <m:t>𝑐𝑜𝑠𝑎</m:t>
                                  </m:r>
                                  <m:r>
                                    <a:rPr lang="zh-CN" altLang="en-US" i="0">
                                      <a:latin typeface="Cambria Math" panose="02040503050406030204" pitchFamily="18" charset="0"/>
                                    </a:rPr>
                                    <m:t>+</m:t>
                                  </m:r>
                                  <m:r>
                                    <a:rPr lang="zh-CN" altLang="en-US" i="1">
                                      <a:latin typeface="Cambria Math" panose="02040503050406030204" pitchFamily="18" charset="0"/>
                                    </a:rPr>
                                    <m:t>𝑟</m:t>
                                  </m:r>
                                  <m:r>
                                    <a:rPr lang="zh-CN" altLang="en-US" i="0">
                                      <a:latin typeface="Cambria Math" panose="02040503050406030204" pitchFamily="18" charset="0"/>
                                    </a:rPr>
                                    <m:t>∙</m:t>
                                  </m:r>
                                  <m:r>
                                    <a:rPr lang="zh-CN" altLang="en-US" i="1">
                                      <a:latin typeface="Cambria Math" panose="02040503050406030204" pitchFamily="18" charset="0"/>
                                    </a:rPr>
                                    <m:t>𝑠𝑖𝑛𝑏</m:t>
                                  </m:r>
                                  <m:r>
                                    <a:rPr lang="zh-CN" altLang="en-US" i="0">
                                      <a:latin typeface="Cambria Math" panose="02040503050406030204" pitchFamily="18" charset="0"/>
                                    </a:rPr>
                                    <m:t>∙</m:t>
                                  </m:r>
                                  <m:r>
                                    <a:rPr lang="zh-CN" altLang="en-US" i="1">
                                      <a:latin typeface="Cambria Math" panose="02040503050406030204" pitchFamily="18" charset="0"/>
                                    </a:rPr>
                                    <m:t>𝑠𝑖𝑛𝑎</m:t>
                                  </m:r>
                                </m:e>
                              </m:mr>
                              <m:mr>
                                <m:e>
                                  <m:r>
                                    <a:rPr lang="zh-CN" altLang="en-US" i="0">
                                      <a:latin typeface="Cambria Math" panose="02040503050406030204" pitchFamily="18" charset="0"/>
                                    </a:rPr>
                                    <m:t>= </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𝑐𝑜𝑠𝑎</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𝑠𝑖𝑛𝑎</m:t>
                                  </m:r>
                                  <m:r>
                                    <a:rPr lang="zh-CN" altLang="en-US" i="0">
                                      <a:latin typeface="Cambria Math" panose="02040503050406030204" pitchFamily="18" charset="0"/>
                                    </a:rPr>
                                    <m:t> </m:t>
                                  </m:r>
                                </m:e>
                              </m:mr>
                              <m:mr>
                                <m:e>
                                  <m:r>
                                    <a:rPr lang="zh-CN" altLang="en-US" i="0">
                                      <a:latin typeface="Cambria Math" panose="02040503050406030204" pitchFamily="18" charset="0"/>
                                    </a:rPr>
                                    <m:t> </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r>
                                    <a:rPr lang="zh-CN" altLang="en-US" i="0">
                                      <a:latin typeface="Cambria Math" panose="02040503050406030204" pitchFamily="18" charset="0"/>
                                    </a:rPr>
                                    <m:t> = </m:t>
                                  </m:r>
                                  <m:r>
                                    <a:rPr lang="zh-CN" altLang="en-US" i="1">
                                      <a:latin typeface="Cambria Math" panose="02040503050406030204" pitchFamily="18" charset="0"/>
                                    </a:rPr>
                                    <m:t>𝑟</m:t>
                                  </m:r>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𝑏</m:t>
                                          </m:r>
                                          <m:r>
                                            <a:rPr lang="zh-CN" altLang="en-US" i="0">
                                              <a:latin typeface="Cambria Math" panose="02040503050406030204" pitchFamily="18" charset="0"/>
                                            </a:rPr>
                                            <m:t>−</m:t>
                                          </m:r>
                                          <m:r>
                                            <a:rPr lang="zh-CN" altLang="en-US" i="1">
                                              <a:latin typeface="Cambria Math" panose="02040503050406030204" pitchFamily="18" charset="0"/>
                                            </a:rPr>
                                            <m:t>𝑎</m:t>
                                          </m:r>
                                        </m:e>
                                      </m:d>
                                    </m:e>
                                  </m:func>
                                  <m:r>
                                    <a:rPr lang="zh-CN" altLang="en-US" i="0">
                                      <a:latin typeface="Cambria Math" panose="02040503050406030204" pitchFamily="18" charset="0"/>
                                    </a:rPr>
                                    <m:t>= </m:t>
                                  </m:r>
                                  <m:r>
                                    <a:rPr lang="zh-CN" altLang="en-US" i="1">
                                      <a:latin typeface="Cambria Math" panose="02040503050406030204" pitchFamily="18" charset="0"/>
                                    </a:rPr>
                                    <m:t>𝑟</m:t>
                                  </m:r>
                                  <m:r>
                                    <a:rPr lang="zh-CN" altLang="en-US" i="0">
                                      <a:latin typeface="Cambria Math" panose="02040503050406030204" pitchFamily="18" charset="0"/>
                                    </a:rPr>
                                    <m:t>∙</m:t>
                                  </m:r>
                                  <m:r>
                                    <a:rPr lang="zh-CN" altLang="en-US" i="1">
                                      <a:latin typeface="Cambria Math" panose="02040503050406030204" pitchFamily="18" charset="0"/>
                                    </a:rPr>
                                    <m:t>𝑠𝑖𝑛𝑏</m:t>
                                  </m:r>
                                  <m:r>
                                    <a:rPr lang="zh-CN" altLang="en-US" i="0">
                                      <a:latin typeface="Cambria Math" panose="02040503050406030204" pitchFamily="18" charset="0"/>
                                    </a:rPr>
                                    <m:t>∙</m:t>
                                  </m:r>
                                  <m:r>
                                    <a:rPr lang="zh-CN" altLang="en-US" i="1">
                                      <a:latin typeface="Cambria Math" panose="02040503050406030204" pitchFamily="18" charset="0"/>
                                    </a:rPr>
                                    <m:t>𝑐𝑜𝑠𝑎</m:t>
                                  </m:r>
                                  <m:r>
                                    <a:rPr lang="zh-CN" altLang="en-US" i="0">
                                      <a:latin typeface="Cambria Math" panose="02040503050406030204" pitchFamily="18" charset="0"/>
                                    </a:rPr>
                                    <m:t>−</m:t>
                                  </m:r>
                                  <m:r>
                                    <a:rPr lang="zh-CN" altLang="en-US" i="1">
                                      <a:latin typeface="Cambria Math" panose="02040503050406030204" pitchFamily="18" charset="0"/>
                                    </a:rPr>
                                    <m:t>𝑟</m:t>
                                  </m:r>
                                  <m:r>
                                    <a:rPr lang="zh-CN" altLang="en-US" i="0">
                                      <a:latin typeface="Cambria Math" panose="02040503050406030204" pitchFamily="18" charset="0"/>
                                    </a:rPr>
                                    <m:t>∙</m:t>
                                  </m:r>
                                  <m:r>
                                    <a:rPr lang="zh-CN" altLang="en-US" i="1">
                                      <a:latin typeface="Cambria Math" panose="02040503050406030204" pitchFamily="18" charset="0"/>
                                    </a:rPr>
                                    <m:t>𝑐𝑜𝑠𝑏</m:t>
                                  </m:r>
                                  <m:r>
                                    <a:rPr lang="zh-CN" altLang="en-US" i="0">
                                      <a:latin typeface="Cambria Math" panose="02040503050406030204" pitchFamily="18" charset="0"/>
                                    </a:rPr>
                                    <m:t>∙</m:t>
                                  </m:r>
                                  <m:r>
                                    <a:rPr lang="zh-CN" altLang="en-US" i="1">
                                      <a:latin typeface="Cambria Math" panose="02040503050406030204" pitchFamily="18" charset="0"/>
                                    </a:rPr>
                                    <m:t>𝑠𝑖𝑛𝑎</m:t>
                                  </m:r>
                                </m:e>
                              </m:mr>
                            </m:m>
                            <m:r>
                              <a:rPr lang="zh-CN" altLang="en-US" i="0">
                                <a:latin typeface="Cambria Math" panose="02040503050406030204" pitchFamily="18" charset="0"/>
                              </a:rPr>
                              <m:t>       </m:t>
                            </m:r>
                          </m:e>
                        </m:mr>
                        <m:mr>
                          <m:e>
                            <m:r>
                              <a:rPr lang="zh-CN" altLang="en-US" i="0">
                                <a:latin typeface="Cambria Math" panose="02040503050406030204" pitchFamily="18" charset="0"/>
                              </a:rPr>
                              <m:t>= −</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𝑠𝑖𝑛𝑎</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𝑐𝑜𝑠𝑎</m:t>
                            </m:r>
                          </m:e>
                        </m:mr>
                      </m:m>
                    </m:oMath>
                  </m:oMathPara>
                </a14:m>
                <a:endParaRPr lang="zh-CN" altLang="en-US" dirty="0"/>
              </a:p>
            </p:txBody>
          </p:sp>
        </mc:Choice>
        <mc:Fallback xmlns="">
          <p:sp>
            <p:nvSpPr>
              <p:cNvPr id="27" name="文本框 26"/>
              <p:cNvSpPr txBox="1">
                <a:spLocks noRot="1" noChangeAspect="1" noMove="1" noResize="1" noEditPoints="1" noAdjustHandles="1" noChangeArrowheads="1" noChangeShapeType="1" noTextEdit="1"/>
              </p:cNvSpPr>
              <p:nvPr/>
            </p:nvSpPr>
            <p:spPr>
              <a:xfrm>
                <a:off x="972394" y="2591617"/>
                <a:ext cx="4589754" cy="1374222"/>
              </a:xfrm>
              <a:prstGeom prst="rect">
                <a:avLst/>
              </a:prstGeom>
              <a:blipFill rotWithShape="1">
                <a:blip r:embed="rId4"/>
                <a:stretch>
                  <a:fillRect l="-5" t="-13" r="-43480" b="19"/>
                </a:stretch>
              </a:blipFill>
            </p:spPr>
            <p:txBody>
              <a:bodyPr/>
              <a:lstStyle/>
              <a:p>
                <a:r>
                  <a:rPr lang="zh-CN" altLang="en-US">
                    <a:noFill/>
                  </a:rPr>
                  <a:t> </a:t>
                </a:r>
              </a:p>
            </p:txBody>
          </p:sp>
        </mc:Fallback>
      </mc:AlternateContent>
      <p:sp>
        <p:nvSpPr>
          <p:cNvPr id="28" name="文本框 27"/>
          <p:cNvSpPr txBox="1"/>
          <p:nvPr/>
        </p:nvSpPr>
        <p:spPr>
          <a:xfrm>
            <a:off x="7669138" y="2892519"/>
            <a:ext cx="819526" cy="415498"/>
          </a:xfrm>
          <a:prstGeom prst="rect">
            <a:avLst/>
          </a:prstGeom>
          <a:noFill/>
        </p:spPr>
        <p:txBody>
          <a:bodyPr wrap="square" rtlCol="0">
            <a:spAutoFit/>
          </a:bodyPr>
          <a:lstStyle/>
          <a:p>
            <a:r>
              <a:rPr lang="en-US" altLang="zh-CN" dirty="0"/>
              <a:t>(4-5)</a:t>
            </a:r>
            <a:endParaRPr lang="zh-CN" altLang="en-US" dirty="0"/>
          </a:p>
        </p:txBody>
      </p:sp>
      <p:graphicFrame>
        <p:nvGraphicFramePr>
          <p:cNvPr id="23" name="对象 22"/>
          <p:cNvGraphicFramePr>
            <a:graphicFrameLocks noChangeAspect="1"/>
          </p:cNvGraphicFramePr>
          <p:nvPr/>
        </p:nvGraphicFramePr>
        <p:xfrm>
          <a:off x="612353" y="5553359"/>
          <a:ext cx="2772426" cy="1028229"/>
        </p:xfrm>
        <a:graphic>
          <a:graphicData uri="http://schemas.openxmlformats.org/presentationml/2006/ole">
            <mc:AlternateContent xmlns:mc="http://schemas.openxmlformats.org/markup-compatibility/2006">
              <mc:Choice xmlns:v="urn:schemas-microsoft-com:vml" Requires="v">
                <p:oleObj r:id="rId5" imgW="1955800" imgH="711200" progId="Equation.KSEE3">
                  <p:embed/>
                </p:oleObj>
              </mc:Choice>
              <mc:Fallback>
                <p:oleObj r:id="rId5" imgW="1955800" imgH="711200" progId="Equation.KSEE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353" y="5553359"/>
                        <a:ext cx="2772426" cy="1028229"/>
                      </a:xfrm>
                      <a:prstGeom prst="rect">
                        <a:avLst/>
                      </a:prstGeom>
                      <a:noFill/>
                    </p:spPr>
                  </p:pic>
                </p:oleObj>
              </mc:Fallback>
            </mc:AlternateContent>
          </a:graphicData>
        </a:graphic>
      </p:graphicFrame>
      <p:sp>
        <p:nvSpPr>
          <p:cNvPr id="32" name="文本框 31"/>
          <p:cNvSpPr txBox="1"/>
          <p:nvPr/>
        </p:nvSpPr>
        <p:spPr>
          <a:xfrm>
            <a:off x="3636690" y="5818916"/>
            <a:ext cx="648072" cy="415498"/>
          </a:xfrm>
          <a:prstGeom prst="rect">
            <a:avLst/>
          </a:prstGeom>
          <a:noFill/>
        </p:spPr>
        <p:txBody>
          <a:bodyPr wrap="square">
            <a:spAutoFit/>
          </a:bodyPr>
          <a:lstStyle/>
          <a:p>
            <a:r>
              <a:rPr lang="en-US" altLang="zh-CN" dirty="0"/>
              <a:t>(4-6)</a:t>
            </a:r>
            <a:endParaRPr lang="zh-CN" altLang="en-US" dirty="0"/>
          </a:p>
        </p:txBody>
      </p:sp>
      <p:graphicFrame>
        <p:nvGraphicFramePr>
          <p:cNvPr id="29" name="对象 28"/>
          <p:cNvGraphicFramePr>
            <a:graphicFrameLocks noChangeAspect="1"/>
          </p:cNvGraphicFramePr>
          <p:nvPr/>
        </p:nvGraphicFramePr>
        <p:xfrm>
          <a:off x="4562004" y="5523897"/>
          <a:ext cx="2829892" cy="1087151"/>
        </p:xfrm>
        <a:graphic>
          <a:graphicData uri="http://schemas.openxmlformats.org/presentationml/2006/ole">
            <mc:AlternateContent xmlns:mc="http://schemas.openxmlformats.org/markup-compatibility/2006">
              <mc:Choice xmlns:v="urn:schemas-microsoft-com:vml" Requires="v">
                <p:oleObj r:id="rId7" imgW="1917700" imgH="711200" progId="Equation.KSEE3">
                  <p:embed/>
                </p:oleObj>
              </mc:Choice>
              <mc:Fallback>
                <p:oleObj r:id="rId7" imgW="1917700" imgH="711200" progId="Equation.KSEE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2004" y="5523897"/>
                        <a:ext cx="2829892" cy="1087151"/>
                      </a:xfrm>
                      <a:prstGeom prst="rect">
                        <a:avLst/>
                      </a:prstGeom>
                      <a:noFill/>
                    </p:spPr>
                  </p:pic>
                </p:oleObj>
              </mc:Fallback>
            </mc:AlternateContent>
          </a:graphicData>
        </a:graphic>
      </p:graphicFrame>
      <p:sp>
        <p:nvSpPr>
          <p:cNvPr id="35" name="文本框 34"/>
          <p:cNvSpPr txBox="1"/>
          <p:nvPr/>
        </p:nvSpPr>
        <p:spPr>
          <a:xfrm>
            <a:off x="7669138" y="5780547"/>
            <a:ext cx="648072" cy="415498"/>
          </a:xfrm>
          <a:prstGeom prst="rect">
            <a:avLst/>
          </a:prstGeom>
          <a:noFill/>
        </p:spPr>
        <p:txBody>
          <a:bodyPr wrap="square">
            <a:spAutoFit/>
          </a:bodyPr>
          <a:lstStyle/>
          <a:p>
            <a:r>
              <a:rPr lang="en-US" altLang="zh-CN" dirty="0"/>
              <a:t>(4-7)</a:t>
            </a:r>
            <a:endParaRPr lang="zh-CN" altLang="en-US" dirty="0"/>
          </a:p>
        </p:txBody>
      </p:sp>
    </p:spTree>
  </p:cSld>
  <p:clrMapOvr>
    <a:masterClrMapping/>
  </p:clrMapOvr>
  <p:transition spd="slow" advClick="0" advTm="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4.2.2  </a:t>
            </a:r>
            <a:r>
              <a:rPr lang="zh-CN" altLang="en-US" sz="2100" b="1" dirty="0">
                <a:solidFill>
                  <a:schemeClr val="tx1">
                    <a:lumMod val="75000"/>
                    <a:lumOff val="25000"/>
                  </a:schemeClr>
                </a:solidFill>
                <a:latin typeface="微软雅黑" panose="020B0503020204020204" pitchFamily="34" charset="-122"/>
              </a:rPr>
              <a:t>图像旋转的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6" name="文本框 15"/>
          <p:cNvSpPr txBox="1"/>
          <p:nvPr/>
        </p:nvSpPr>
        <p:spPr>
          <a:xfrm>
            <a:off x="252314" y="1190688"/>
            <a:ext cx="8640960" cy="5909310"/>
          </a:xfrm>
          <a:prstGeom prst="rect">
            <a:avLst/>
          </a:prstGeom>
          <a:noFill/>
        </p:spPr>
        <p:txBody>
          <a:bodyPr wrap="square">
            <a:spAutoFit/>
          </a:bodyPr>
          <a:lstStyle/>
          <a:p>
            <a:r>
              <a:rPr lang="zh-CN" altLang="en-US" kern="100" dirty="0">
                <a:latin typeface="Times New Roman" panose="02020603050405020304" pitchFamily="18" charset="0"/>
                <a:ea typeface="宋体" pitchFamily="2" charset="-122"/>
                <a:cs typeface="Times New Roman" panose="02020603050405020304" pitchFamily="18" charset="0"/>
              </a:rPr>
              <a:t>        对于输入的原始图像，我们首先需要根据旋转中心和旋转角度等参数计算用于旋转的仿射变换矩阵，然后将计算得出的仿射变换矩阵应用于输入图像上进行图像的旋转。这里我们使用</a:t>
            </a:r>
            <a:r>
              <a:rPr lang="en-US" altLang="zh-CN" kern="100" dirty="0">
                <a:latin typeface="Times New Roman" panose="02020603050405020304" pitchFamily="18" charset="0"/>
                <a:ea typeface="宋体" pitchFamily="2" charset="-122"/>
                <a:cs typeface="Times New Roman" panose="02020603050405020304" pitchFamily="18" charset="0"/>
              </a:rPr>
              <a:t>OpenCV</a:t>
            </a:r>
            <a:r>
              <a:rPr lang="zh-CN" altLang="en-US" kern="100" dirty="0">
                <a:latin typeface="Times New Roman" panose="02020603050405020304" pitchFamily="18" charset="0"/>
                <a:ea typeface="宋体" pitchFamily="2" charset="-122"/>
                <a:cs typeface="Times New Roman" panose="02020603050405020304" pitchFamily="18" charset="0"/>
              </a:rPr>
              <a:t>提供的</a:t>
            </a:r>
            <a:r>
              <a:rPr lang="en-US" altLang="zh-CN" kern="100" dirty="0">
                <a:latin typeface="Times New Roman" panose="02020603050405020304" pitchFamily="18" charset="0"/>
                <a:ea typeface="宋体" pitchFamily="2" charset="-122"/>
                <a:cs typeface="Times New Roman" panose="02020603050405020304" pitchFamily="18" charset="0"/>
              </a:rPr>
              <a:t>cv2.getRotationMatrix2D()</a:t>
            </a:r>
            <a:r>
              <a:rPr lang="zh-CN" altLang="en-US" kern="100" dirty="0">
                <a:latin typeface="Times New Roman" panose="02020603050405020304" pitchFamily="18" charset="0"/>
                <a:ea typeface="宋体" pitchFamily="2" charset="-122"/>
                <a:cs typeface="Times New Roman" panose="02020603050405020304" pitchFamily="18" charset="0"/>
              </a:rPr>
              <a:t>函数获取图像的仿射变换矩阵，使用</a:t>
            </a:r>
            <a:r>
              <a:rPr lang="en-US" altLang="zh-CN" kern="100" dirty="0">
                <a:latin typeface="Times New Roman" panose="02020603050405020304" pitchFamily="18" charset="0"/>
                <a:ea typeface="宋体" pitchFamily="2" charset="-122"/>
                <a:cs typeface="Times New Roman" panose="02020603050405020304" pitchFamily="18" charset="0"/>
              </a:rPr>
              <a:t>cv2.warpAffine()</a:t>
            </a:r>
            <a:r>
              <a:rPr lang="zh-CN" altLang="en-US" kern="100" dirty="0">
                <a:latin typeface="Times New Roman" panose="02020603050405020304" pitchFamily="18" charset="0"/>
                <a:ea typeface="宋体" pitchFamily="2" charset="-122"/>
                <a:cs typeface="Times New Roman" panose="02020603050405020304" pitchFamily="18" charset="0"/>
              </a:rPr>
              <a:t>函数将仿射变换矩阵应用于输入的原始图像。</a:t>
            </a:r>
            <a:r>
              <a:rPr lang="en-US" altLang="zh-CN" kern="100" dirty="0">
                <a:latin typeface="Times New Roman" panose="02020603050405020304" pitchFamily="18" charset="0"/>
                <a:ea typeface="宋体" pitchFamily="2" charset="-122"/>
                <a:cs typeface="Times New Roman" panose="02020603050405020304" pitchFamily="18" charset="0"/>
              </a:rPr>
              <a:t>cv2.getRotationMatrix2D()</a:t>
            </a:r>
            <a:r>
              <a:rPr lang="zh-CN" altLang="en-US" kern="100" dirty="0">
                <a:latin typeface="Times New Roman" panose="02020603050405020304" pitchFamily="18" charset="0"/>
                <a:ea typeface="宋体" pitchFamily="2" charset="-122"/>
                <a:cs typeface="Times New Roman" panose="02020603050405020304" pitchFamily="18" charset="0"/>
              </a:rPr>
              <a:t>函数的调用语法为：</a:t>
            </a:r>
            <a:endParaRPr lang="en-US"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matRotate</a:t>
            </a:r>
            <a:r>
              <a:rPr lang="en-US" altLang="zh-CN" kern="100" dirty="0">
                <a:effectLst/>
                <a:latin typeface="Times New Roman" panose="02020603050405020304" pitchFamily="18" charset="0"/>
                <a:ea typeface="宋体" pitchFamily="2" charset="-122"/>
              </a:rPr>
              <a:t>=cv2.getRotationMatrix2D(center, angle, scale)</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zh-CN" altLang="zh-CN" kern="100" dirty="0">
                <a:solidFill>
                  <a:srgbClr val="000000"/>
                </a:solidFill>
                <a:effectLst/>
                <a:latin typeface="Times New Roman" panose="02020603050405020304" pitchFamily="18" charset="0"/>
                <a:ea typeface="宋体" pitchFamily="2" charset="-122"/>
              </a:rPr>
              <a:t>参数说明：</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err="1">
                <a:solidFill>
                  <a:srgbClr val="000000"/>
                </a:solidFill>
                <a:effectLst/>
                <a:latin typeface="Times New Roman" panose="02020603050405020304" pitchFamily="18" charset="0"/>
                <a:ea typeface="宋体" pitchFamily="2" charset="-122"/>
              </a:rPr>
              <a:t>matRotate</a:t>
            </a:r>
            <a:r>
              <a:rPr lang="zh-CN" altLang="zh-CN" kern="100" dirty="0">
                <a:solidFill>
                  <a:srgbClr val="000000"/>
                </a:solidFill>
                <a:effectLst/>
                <a:latin typeface="Times New Roman" panose="02020603050405020304" pitchFamily="18" charset="0"/>
                <a:ea typeface="宋体" pitchFamily="2" charset="-122"/>
              </a:rPr>
              <a:t>：表示旋转的仿射变换矩阵。</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solidFill>
                  <a:srgbClr val="000000"/>
                </a:solidFill>
                <a:effectLst/>
                <a:latin typeface="Times New Roman" panose="02020603050405020304" pitchFamily="18" charset="0"/>
                <a:ea typeface="宋体" pitchFamily="2" charset="-122"/>
              </a:rPr>
              <a:t>center</a:t>
            </a:r>
            <a:r>
              <a:rPr lang="zh-CN" altLang="zh-CN" kern="100" dirty="0">
                <a:solidFill>
                  <a:srgbClr val="000000"/>
                </a:solidFill>
                <a:effectLst/>
                <a:latin typeface="Times New Roman" panose="02020603050405020304" pitchFamily="18" charset="0"/>
                <a:ea typeface="宋体" pitchFamily="2" charset="-122"/>
              </a:rPr>
              <a:t>：表示旋转中心点。旋转一般是图像的中心，用</a:t>
            </a:r>
            <a:r>
              <a:rPr lang="en-US" altLang="zh-CN" kern="100" dirty="0" err="1">
                <a:solidFill>
                  <a:srgbClr val="000000"/>
                </a:solidFill>
                <a:effectLst/>
                <a:latin typeface="Times New Roman" panose="02020603050405020304" pitchFamily="18" charset="0"/>
                <a:ea typeface="宋体" pitchFamily="2" charset="-122"/>
              </a:rPr>
              <a:t>img.shape</a:t>
            </a:r>
            <a:r>
              <a:rPr lang="en-US" altLang="zh-CN" kern="100" dirty="0">
                <a:solidFill>
                  <a:srgbClr val="000000"/>
                </a:solidFill>
                <a:effectLst/>
                <a:latin typeface="Times New Roman" panose="02020603050405020304" pitchFamily="18" charset="0"/>
                <a:ea typeface="宋体" pitchFamily="2" charset="-122"/>
              </a:rPr>
              <a:t>[:]</a:t>
            </a:r>
            <a:r>
              <a:rPr lang="zh-CN" altLang="zh-CN" kern="100" dirty="0">
                <a:solidFill>
                  <a:srgbClr val="000000"/>
                </a:solidFill>
                <a:effectLst/>
                <a:latin typeface="Times New Roman" panose="02020603050405020304" pitchFamily="18" charset="0"/>
                <a:ea typeface="宋体" pitchFamily="2" charset="-122"/>
              </a:rPr>
              <a:t>取得长宽，然后取一半。</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solidFill>
                  <a:srgbClr val="000000"/>
                </a:solidFill>
                <a:effectLst/>
                <a:latin typeface="Times New Roman" panose="02020603050405020304" pitchFamily="18" charset="0"/>
                <a:ea typeface="宋体" pitchFamily="2" charset="-122"/>
              </a:rPr>
              <a:t>angle</a:t>
            </a:r>
            <a:r>
              <a:rPr lang="zh-CN" altLang="zh-CN" kern="100" dirty="0">
                <a:solidFill>
                  <a:srgbClr val="000000"/>
                </a:solidFill>
                <a:effectLst/>
                <a:latin typeface="Times New Roman" panose="02020603050405020304" pitchFamily="18" charset="0"/>
                <a:ea typeface="宋体" pitchFamily="2" charset="-122"/>
              </a:rPr>
              <a:t>：表示旋转角度。正值表示逆时针旋转；负值表示顺时针旋转。</a:t>
            </a:r>
            <a:endParaRPr lang="zh-CN" altLang="zh-CN"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kern="100" dirty="0">
                <a:solidFill>
                  <a:srgbClr val="000000"/>
                </a:solidFill>
                <a:effectLst/>
                <a:latin typeface="Times New Roman" panose="02020603050405020304" pitchFamily="18" charset="0"/>
                <a:ea typeface="宋体" pitchFamily="2" charset="-122"/>
              </a:rPr>
              <a:t>scale</a:t>
            </a:r>
            <a:r>
              <a:rPr lang="zh-CN" altLang="zh-CN" kern="100" dirty="0">
                <a:solidFill>
                  <a:srgbClr val="000000"/>
                </a:solidFill>
                <a:effectLst/>
                <a:latin typeface="Times New Roman" panose="02020603050405020304" pitchFamily="18" charset="0"/>
                <a:ea typeface="宋体" pitchFamily="2" charset="-122"/>
              </a:rPr>
              <a:t>：表示缩放因子。等于</a:t>
            </a:r>
            <a:r>
              <a:rPr lang="en-US" altLang="zh-CN" kern="100" dirty="0">
                <a:solidFill>
                  <a:srgbClr val="000000"/>
                </a:solidFill>
                <a:effectLst/>
                <a:latin typeface="Times New Roman" panose="02020603050405020304" pitchFamily="18" charset="0"/>
                <a:ea typeface="宋体" pitchFamily="2" charset="-122"/>
              </a:rPr>
              <a:t>1</a:t>
            </a:r>
            <a:r>
              <a:rPr lang="zh-CN" altLang="zh-CN" kern="100" dirty="0">
                <a:solidFill>
                  <a:srgbClr val="000000"/>
                </a:solidFill>
                <a:effectLst/>
                <a:latin typeface="Times New Roman" panose="02020603050405020304" pitchFamily="18" charset="0"/>
                <a:ea typeface="宋体" pitchFamily="2" charset="-122"/>
              </a:rPr>
              <a:t>表示等比例缩放；小于</a:t>
            </a:r>
            <a:r>
              <a:rPr lang="en-US" altLang="zh-CN" kern="100" dirty="0">
                <a:solidFill>
                  <a:srgbClr val="000000"/>
                </a:solidFill>
                <a:effectLst/>
                <a:latin typeface="Times New Roman" panose="02020603050405020304" pitchFamily="18" charset="0"/>
                <a:ea typeface="宋体" pitchFamily="2" charset="-122"/>
              </a:rPr>
              <a:t>1</a:t>
            </a:r>
            <a:r>
              <a:rPr lang="zh-CN" altLang="zh-CN" kern="100" dirty="0">
                <a:solidFill>
                  <a:srgbClr val="000000"/>
                </a:solidFill>
                <a:effectLst/>
                <a:latin typeface="Times New Roman" panose="02020603050405020304" pitchFamily="18" charset="0"/>
                <a:ea typeface="宋体" pitchFamily="2" charset="-122"/>
              </a:rPr>
              <a:t>表示缩小；大于</a:t>
            </a:r>
            <a:r>
              <a:rPr lang="en-US" altLang="zh-CN" kern="100" dirty="0">
                <a:solidFill>
                  <a:srgbClr val="000000"/>
                </a:solidFill>
                <a:effectLst/>
                <a:latin typeface="Times New Roman" panose="02020603050405020304" pitchFamily="18" charset="0"/>
                <a:ea typeface="宋体" pitchFamily="2" charset="-122"/>
              </a:rPr>
              <a:t>1</a:t>
            </a:r>
            <a:r>
              <a:rPr lang="zh-CN" altLang="zh-CN" kern="100" dirty="0">
                <a:solidFill>
                  <a:srgbClr val="000000"/>
                </a:solidFill>
                <a:effectLst/>
                <a:latin typeface="Times New Roman" panose="02020603050405020304" pitchFamily="18" charset="0"/>
                <a:ea typeface="宋体" pitchFamily="2" charset="-122"/>
              </a:rPr>
              <a:t>表示放大。</a:t>
            </a:r>
            <a:endParaRPr lang="en-US" altLang="zh-CN" kern="100" dirty="0">
              <a:latin typeface="Times New Roman" panose="02020603050405020304" pitchFamily="18" charset="0"/>
              <a:ea typeface="宋体" pitchFamily="2" charset="-122"/>
            </a:endParaRPr>
          </a:p>
          <a:p>
            <a:pPr lvl="0" algn="just"/>
            <a:r>
              <a:rPr lang="en-US" altLang="zh-CN" kern="100" dirty="0">
                <a:solidFill>
                  <a:srgbClr val="000000"/>
                </a:solidFill>
                <a:effectLst/>
                <a:latin typeface="Times New Roman" panose="02020603050405020304" pitchFamily="18" charset="0"/>
                <a:ea typeface="宋体" pitchFamily="2" charset="-122"/>
              </a:rPr>
              <a:t>cv2.warpAffine()</a:t>
            </a:r>
            <a:r>
              <a:rPr lang="zh-CN" altLang="zh-CN" kern="100" dirty="0">
                <a:solidFill>
                  <a:srgbClr val="000000"/>
                </a:solidFill>
                <a:effectLst/>
                <a:latin typeface="Times New Roman" panose="02020603050405020304" pitchFamily="18" charset="0"/>
                <a:ea typeface="宋体" pitchFamily="2" charset="-122"/>
              </a:rPr>
              <a:t>函数的</a:t>
            </a:r>
            <a:r>
              <a:rPr lang="zh-CN" altLang="zh-CN" kern="100" dirty="0">
                <a:effectLst/>
                <a:latin typeface="Times New Roman" panose="02020603050405020304" pitchFamily="18" charset="0"/>
                <a:ea typeface="宋体" pitchFamily="2" charset="-122"/>
              </a:rPr>
              <a:t>调用语法为：</a:t>
            </a:r>
            <a:endParaRPr lang="en-US" altLang="zh-CN" kern="100" dirty="0">
              <a:effectLst/>
              <a:latin typeface="Times New Roman" panose="02020603050405020304" pitchFamily="18" charset="0"/>
              <a:ea typeface="宋体" pitchFamily="2" charset="-122"/>
            </a:endParaRPr>
          </a:p>
          <a:p>
            <a:pPr lvl="0" algn="just"/>
            <a:r>
              <a:rPr lang="en-US" altLang="zh-CN" kern="100" dirty="0" err="1">
                <a:effectLst/>
                <a:latin typeface="Times New Roman" panose="02020603050405020304" pitchFamily="18" charset="0"/>
                <a:ea typeface="宋体" pitchFamily="2" charset="-122"/>
              </a:rPr>
              <a:t>dst</a:t>
            </a:r>
            <a:r>
              <a:rPr lang="en-US" altLang="zh-CN" kern="100" dirty="0">
                <a:effectLst/>
                <a:latin typeface="Times New Roman" panose="02020603050405020304" pitchFamily="18" charset="0"/>
                <a:ea typeface="宋体" pitchFamily="2" charset="-122"/>
              </a:rPr>
              <a:t> = cv2.warpAffine(</a:t>
            </a:r>
            <a:r>
              <a:rPr lang="en-US" altLang="zh-CN" kern="100" dirty="0" err="1">
                <a:effectLst/>
                <a:latin typeface="Times New Roman" panose="02020603050405020304" pitchFamily="18" charset="0"/>
                <a:ea typeface="宋体" pitchFamily="2" charset="-122"/>
              </a:rPr>
              <a:t>img</a:t>
            </a:r>
            <a:r>
              <a:rPr lang="en-US" altLang="zh-CN" kern="100" dirty="0">
                <a:effectLst/>
                <a:latin typeface="Times New Roman" panose="02020603050405020304" pitchFamily="18" charset="0"/>
                <a:ea typeface="宋体" pitchFamily="2" charset="-122"/>
              </a:rPr>
              <a:t>, </a:t>
            </a:r>
            <a:r>
              <a:rPr lang="en-US" altLang="zh-CN" kern="100" dirty="0" err="1">
                <a:effectLst/>
                <a:latin typeface="Times New Roman" panose="02020603050405020304" pitchFamily="18" charset="0"/>
                <a:ea typeface="宋体" pitchFamily="2" charset="-122"/>
              </a:rPr>
              <a:t>matRotate</a:t>
            </a:r>
            <a:r>
              <a:rPr lang="en-US" altLang="zh-CN" kern="100" dirty="0">
                <a:effectLst/>
                <a:latin typeface="Times New Roman" panose="02020603050405020304" pitchFamily="18" charset="0"/>
                <a:ea typeface="宋体" pitchFamily="2" charset="-122"/>
              </a:rPr>
              <a:t>, (rows, cols), </a:t>
            </a:r>
            <a:r>
              <a:rPr lang="en-US" altLang="zh-CN" kern="100" dirty="0" err="1">
                <a:effectLst/>
                <a:latin typeface="Times New Roman" panose="02020603050405020304" pitchFamily="18" charset="0"/>
                <a:ea typeface="宋体" pitchFamily="2" charset="-122"/>
              </a:rPr>
              <a:t>borderValue</a:t>
            </a:r>
            <a:r>
              <a:rPr lang="en-US" altLang="zh-CN" kern="100" dirty="0">
                <a:effectLst/>
                <a:latin typeface="Times New Roman" panose="02020603050405020304" pitchFamily="18" charset="0"/>
                <a:ea typeface="宋体" pitchFamily="2" charset="-122"/>
              </a:rPr>
              <a:t>=(255, 255, 255))</a:t>
            </a:r>
            <a:endParaRPr lang="zh-CN" altLang="zh-CN" kern="100" dirty="0">
              <a:effectLst/>
              <a:latin typeface="Times New Roman" panose="02020603050405020304" pitchFamily="18" charset="0"/>
              <a:ea typeface="宋体" pitchFamily="2" charset="-122"/>
            </a:endParaRPr>
          </a:p>
          <a:p>
            <a:endParaRPr lang="zh-CN" altLang="en-US" dirty="0"/>
          </a:p>
        </p:txBody>
      </p:sp>
    </p:spTree>
  </p:cSld>
  <p:clrMapOvr>
    <a:masterClrMapping/>
  </p:clrMapOvr>
  <p:transition spd="slow" advClick="0" advTm="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4.2.2  </a:t>
            </a:r>
            <a:r>
              <a:rPr lang="zh-CN" altLang="en-US" sz="2100" b="1" dirty="0">
                <a:solidFill>
                  <a:schemeClr val="tx1">
                    <a:lumMod val="75000"/>
                    <a:lumOff val="25000"/>
                  </a:schemeClr>
                </a:solidFill>
                <a:latin typeface="微软雅黑" panose="020B0503020204020204" pitchFamily="34" charset="-122"/>
              </a:rPr>
              <a:t>图像旋转的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文本框 7"/>
          <p:cNvSpPr txBox="1"/>
          <p:nvPr/>
        </p:nvSpPr>
        <p:spPr>
          <a:xfrm>
            <a:off x="468338" y="1172767"/>
            <a:ext cx="7920880" cy="1061829"/>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参数说明：参考</a:t>
            </a:r>
            <a:r>
              <a:rPr lang="en-US" altLang="zh-CN" kern="100" dirty="0">
                <a:effectLst/>
                <a:latin typeface="Times New Roman" panose="02020603050405020304" pitchFamily="18" charset="0"/>
                <a:ea typeface="宋体" pitchFamily="2" charset="-122"/>
              </a:rPr>
              <a:t>4.1</a:t>
            </a:r>
            <a:r>
              <a:rPr lang="zh-CN" altLang="zh-CN" kern="100" dirty="0">
                <a:effectLst/>
                <a:latin typeface="Times New Roman" panose="02020603050405020304" pitchFamily="18" charset="0"/>
                <a:ea typeface="宋体" pitchFamily="2" charset="-122"/>
              </a:rPr>
              <a:t>节仿射变换函数的参数说明。</a:t>
            </a:r>
          </a:p>
          <a:p>
            <a:pPr indent="266700" algn="just"/>
            <a:r>
              <a:rPr lang="zh-CN" altLang="zh-CN" kern="100" dirty="0">
                <a:effectLst/>
                <a:latin typeface="Times New Roman" panose="02020603050405020304" pitchFamily="18" charset="0"/>
                <a:ea typeface="宋体" pitchFamily="2" charset="-122"/>
              </a:rPr>
              <a:t>将原图像绕中心点分别逆时针旋转</a:t>
            </a:r>
            <a:r>
              <a:rPr lang="en-US" altLang="zh-CN" kern="100" dirty="0">
                <a:effectLst/>
                <a:latin typeface="Times New Roman" panose="02020603050405020304" pitchFamily="18" charset="0"/>
                <a:ea typeface="宋体" pitchFamily="2" charset="-122"/>
              </a:rPr>
              <a:t>45°</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90°</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180°</a:t>
            </a:r>
            <a:r>
              <a:rPr lang="zh-CN" altLang="zh-CN" kern="100" dirty="0">
                <a:effectLst/>
                <a:latin typeface="Times New Roman" panose="02020603050405020304" pitchFamily="18" charset="0"/>
                <a:ea typeface="宋体" pitchFamily="2" charset="-122"/>
              </a:rPr>
              <a:t>，相应的代码如下：</a:t>
            </a:r>
          </a:p>
        </p:txBody>
      </p:sp>
      <p:sp>
        <p:nvSpPr>
          <p:cNvPr id="3" name="文本框 2"/>
          <p:cNvSpPr txBox="1"/>
          <p:nvPr/>
        </p:nvSpPr>
        <p:spPr>
          <a:xfrm>
            <a:off x="612354" y="2069005"/>
            <a:ext cx="7920880" cy="4801314"/>
          </a:xfrm>
          <a:prstGeom prst="rect">
            <a:avLst/>
          </a:prstGeom>
          <a:noFill/>
        </p:spPr>
        <p:txBody>
          <a:bodyPr wrap="square" rtlCol="0">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 cv2.imread('D:\ lena.jpg ',1) 	#</a:t>
            </a:r>
            <a:r>
              <a:rPr lang="zh-CN" altLang="zh-CN" sz="1800" kern="100" dirty="0">
                <a:solidFill>
                  <a:srgbClr val="000000"/>
                </a:solidFill>
                <a:effectLst/>
                <a:latin typeface="Times New Roman" panose="02020603050405020304" pitchFamily="18" charset="0"/>
                <a:ea typeface="宋体" pitchFamily="2" charset="-122"/>
              </a:rPr>
              <a:t>读取原始图像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rows, cols = </a:t>
            </a:r>
            <a:r>
              <a:rPr lang="en-US" altLang="zh-CN" sz="1800" kern="100" dirty="0" err="1">
                <a:solidFill>
                  <a:srgbClr val="000000"/>
                </a:solidFill>
                <a:effectLst/>
                <a:latin typeface="Times New Roman" panose="02020603050405020304" pitchFamily="18" charset="0"/>
                <a:ea typeface="宋体" pitchFamily="2" charset="-122"/>
              </a:rPr>
              <a:t>img.shape</a:t>
            </a:r>
            <a:r>
              <a:rPr lang="en-US" altLang="zh-CN" sz="1800" kern="100" dirty="0">
                <a:solidFill>
                  <a:srgbClr val="000000"/>
                </a:solidFill>
                <a:effectLst/>
                <a:latin typeface="Times New Roman" panose="02020603050405020304" pitchFamily="18" charset="0"/>
                <a:ea typeface="宋体" pitchFamily="2" charset="-122"/>
              </a:rPr>
              <a:t>[:2] 		#</a:t>
            </a:r>
            <a:r>
              <a:rPr lang="zh-CN" altLang="zh-CN" sz="1800" kern="100" dirty="0">
                <a:solidFill>
                  <a:srgbClr val="000000"/>
                </a:solidFill>
                <a:effectLst/>
                <a:latin typeface="Times New Roman" panose="02020603050405020304" pitchFamily="18" charset="0"/>
                <a:ea typeface="宋体" pitchFamily="2" charset="-122"/>
              </a:rPr>
              <a:t>返回原图像像素的行和列</a:t>
            </a:r>
            <a:r>
              <a:rPr lang="en-US" altLang="zh-CN" sz="1800" kern="100" dirty="0">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获取仿射变换矩阵</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matRotate</a:t>
            </a:r>
            <a:r>
              <a:rPr lang="en-US" altLang="zh-CN" sz="1800" kern="100" dirty="0">
                <a:solidFill>
                  <a:srgbClr val="000000"/>
                </a:solidFill>
                <a:effectLst/>
                <a:latin typeface="Times New Roman" panose="02020603050405020304" pitchFamily="18" charset="0"/>
                <a:ea typeface="宋体" pitchFamily="2" charset="-122"/>
              </a:rPr>
              <a:t> = cv2.getRotationMatrix2D(center, 45, 1) 	#</a:t>
            </a:r>
            <a:r>
              <a:rPr lang="zh-CN" altLang="zh-CN" sz="1800" kern="100" dirty="0">
                <a:solidFill>
                  <a:srgbClr val="000000"/>
                </a:solidFill>
                <a:effectLst/>
                <a:latin typeface="Times New Roman" panose="02020603050405020304" pitchFamily="18" charset="0"/>
                <a:ea typeface="宋体" pitchFamily="2" charset="-122"/>
              </a:rPr>
              <a:t>中心旋转</a:t>
            </a:r>
            <a:r>
              <a:rPr lang="en-US" altLang="zh-CN" sz="1800" kern="100" dirty="0">
                <a:solidFill>
                  <a:srgbClr val="000000"/>
                </a:solidFill>
                <a:effectLst/>
                <a:latin typeface="Times New Roman" panose="02020603050405020304" pitchFamily="18" charset="0"/>
                <a:ea typeface="宋体" pitchFamily="2" charset="-122"/>
              </a:rPr>
              <a:t>45</a:t>
            </a:r>
            <a:r>
              <a:rPr lang="zh-CN"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center = cv2.getRotationMatrix2D(center, 90, 1) 	#</a:t>
            </a:r>
            <a:r>
              <a:rPr lang="zh-CN" altLang="zh-CN" sz="1800" kern="100" dirty="0">
                <a:solidFill>
                  <a:srgbClr val="000000"/>
                </a:solidFill>
                <a:effectLst/>
                <a:latin typeface="Times New Roman" panose="02020603050405020304" pitchFamily="18" charset="0"/>
                <a:ea typeface="宋体" pitchFamily="2" charset="-122"/>
              </a:rPr>
              <a:t>中心旋转</a:t>
            </a:r>
            <a:r>
              <a:rPr lang="en-US" altLang="zh-CN" sz="1800" kern="100" dirty="0">
                <a:solidFill>
                  <a:srgbClr val="000000"/>
                </a:solidFill>
                <a:effectLst/>
                <a:latin typeface="Times New Roman" panose="02020603050405020304" pitchFamily="18" charset="0"/>
                <a:ea typeface="宋体" pitchFamily="2" charset="-122"/>
              </a:rPr>
              <a:t>90</a:t>
            </a:r>
            <a:r>
              <a:rPr lang="zh-CN"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angle = cv2.getRotationMatrix2D(center, 180, 1)	#</a:t>
            </a:r>
            <a:r>
              <a:rPr lang="zh-CN" altLang="zh-CN" sz="1800" kern="100" dirty="0">
                <a:solidFill>
                  <a:srgbClr val="000000"/>
                </a:solidFill>
                <a:effectLst/>
                <a:latin typeface="Times New Roman" panose="02020603050405020304" pitchFamily="18" charset="0"/>
                <a:ea typeface="宋体" pitchFamily="2" charset="-122"/>
              </a:rPr>
              <a:t>中心旋转</a:t>
            </a:r>
            <a:r>
              <a:rPr lang="en-US" altLang="zh-CN" sz="1800" kern="100" dirty="0">
                <a:solidFill>
                  <a:srgbClr val="000000"/>
                </a:solidFill>
                <a:effectLst/>
                <a:latin typeface="Times New Roman" panose="02020603050405020304" pitchFamily="18" charset="0"/>
                <a:ea typeface="宋体" pitchFamily="2" charset="-122"/>
              </a:rPr>
              <a:t>180</a:t>
            </a:r>
            <a:r>
              <a:rPr lang="zh-CN"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进行仿射变换</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 cv2.warpAffine(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matRotate</a:t>
            </a:r>
            <a:r>
              <a:rPr lang="en-US" altLang="zh-CN" sz="1800" kern="100" dirty="0">
                <a:solidFill>
                  <a:srgbClr val="000000"/>
                </a:solidFill>
                <a:effectLst/>
                <a:latin typeface="Times New Roman" panose="02020603050405020304" pitchFamily="18" charset="0"/>
                <a:ea typeface="宋体" pitchFamily="2" charset="-122"/>
              </a:rPr>
              <a:t>, (rows, cols), </a:t>
            </a:r>
            <a:r>
              <a:rPr lang="en-US" altLang="zh-CN" sz="1800" kern="100" dirty="0" err="1">
                <a:solidFill>
                  <a:srgbClr val="000000"/>
                </a:solidFill>
                <a:effectLst/>
                <a:latin typeface="Times New Roman" panose="02020603050405020304" pitchFamily="18" charset="0"/>
                <a:ea typeface="宋体" pitchFamily="2" charset="-122"/>
              </a:rPr>
              <a:t>borderValue</a:t>
            </a:r>
            <a:r>
              <a:rPr lang="en-US" altLang="zh-CN" sz="1800" kern="100" dirty="0">
                <a:solidFill>
                  <a:srgbClr val="000000"/>
                </a:solidFill>
                <a:effectLst/>
                <a:latin typeface="Times New Roman" panose="02020603050405020304" pitchFamily="18" charset="0"/>
                <a:ea typeface="宋体" pitchFamily="2" charset="-122"/>
              </a:rPr>
              <a:t>=(255, 255, 255))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 = cv2.warpAffine(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center, (rows, cols), </a:t>
            </a:r>
            <a:r>
              <a:rPr lang="en-US" altLang="zh-CN" sz="1800" kern="100" dirty="0" err="1">
                <a:solidFill>
                  <a:srgbClr val="000000"/>
                </a:solidFill>
                <a:effectLst/>
                <a:latin typeface="Times New Roman" panose="02020603050405020304" pitchFamily="18" charset="0"/>
                <a:ea typeface="宋体" pitchFamily="2" charset="-122"/>
              </a:rPr>
              <a:t>borderValue</a:t>
            </a:r>
            <a:r>
              <a:rPr lang="en-US" altLang="zh-CN" sz="1800" kern="100" dirty="0">
                <a:solidFill>
                  <a:srgbClr val="000000"/>
                </a:solidFill>
                <a:effectLst/>
                <a:latin typeface="Times New Roman" panose="02020603050405020304" pitchFamily="18" charset="0"/>
                <a:ea typeface="宋体" pitchFamily="2" charset="-122"/>
              </a:rPr>
              <a:t>=(255, 255, 255))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mat = cv2.warpAffine(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angle, (rows, cols), </a:t>
            </a:r>
            <a:r>
              <a:rPr lang="en-US" altLang="zh-CN" sz="1800" kern="100" dirty="0" err="1">
                <a:solidFill>
                  <a:srgbClr val="000000"/>
                </a:solidFill>
                <a:effectLst/>
                <a:latin typeface="Times New Roman" panose="02020603050405020304" pitchFamily="18" charset="0"/>
                <a:ea typeface="宋体" pitchFamily="2" charset="-122"/>
              </a:rPr>
              <a:t>borderValue</a:t>
            </a:r>
            <a:r>
              <a:rPr lang="en-US" altLang="zh-CN" sz="1800" kern="100" dirty="0">
                <a:solidFill>
                  <a:srgbClr val="000000"/>
                </a:solidFill>
                <a:effectLst/>
                <a:latin typeface="Times New Roman" panose="02020603050405020304" pitchFamily="18" charset="0"/>
                <a:ea typeface="宋体" pitchFamily="2" charset="-122"/>
              </a:rPr>
              <a:t>=(255, 255, 255))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a:t>
            </a:r>
            <a:r>
              <a:rPr lang="en-US" altLang="zh-CN" sz="1800" kern="100" dirty="0" err="1">
                <a:solidFill>
                  <a:srgbClr val="000000"/>
                </a:solidFill>
                <a:effectLst/>
                <a:latin typeface="Times New Roman" panose="02020603050405020304" pitchFamily="18" charset="0"/>
                <a:ea typeface="宋体" pitchFamily="2" charset="-122"/>
              </a:rPr>
              <a:t>origin_picture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输出原始图像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cv2.imshow('new_picture1', </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输出中心旋转</a:t>
            </a:r>
            <a:r>
              <a:rPr lang="en-US" altLang="zh-CN" sz="1800" kern="100" dirty="0">
                <a:solidFill>
                  <a:srgbClr val="000000"/>
                </a:solidFill>
                <a:effectLst/>
                <a:latin typeface="Times New Roman" panose="02020603050405020304" pitchFamily="18" charset="0"/>
                <a:ea typeface="宋体" pitchFamily="2" charset="-122"/>
              </a:rPr>
              <a:t>45</a:t>
            </a:r>
            <a:r>
              <a:rPr lang="zh-CN" altLang="zh-CN" sz="1800" kern="100" dirty="0">
                <a:solidFill>
                  <a:srgbClr val="000000"/>
                </a:solidFill>
                <a:effectLst/>
                <a:latin typeface="Times New Roman" panose="02020603050405020304" pitchFamily="18" charset="0"/>
                <a:ea typeface="宋体" pitchFamily="2" charset="-122"/>
              </a:rPr>
              <a:t>°图像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cv2.imshow('new_picture2', </a:t>
            </a:r>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输出中心旋转</a:t>
            </a:r>
            <a:r>
              <a:rPr lang="en-US" altLang="zh-CN" sz="1800" kern="100" dirty="0">
                <a:solidFill>
                  <a:srgbClr val="000000"/>
                </a:solidFill>
                <a:effectLst/>
                <a:latin typeface="Times New Roman" panose="02020603050405020304" pitchFamily="18" charset="0"/>
                <a:ea typeface="宋体" pitchFamily="2" charset="-122"/>
              </a:rPr>
              <a:t>90</a:t>
            </a:r>
            <a:r>
              <a:rPr lang="zh-CN" altLang="zh-CN" sz="1800" kern="100" dirty="0">
                <a:solidFill>
                  <a:srgbClr val="000000"/>
                </a:solidFill>
                <a:effectLst/>
                <a:latin typeface="Times New Roman" panose="02020603050405020304" pitchFamily="18" charset="0"/>
                <a:ea typeface="宋体" pitchFamily="2" charset="-122"/>
              </a:rPr>
              <a:t>°图像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cv2.imshow('new_picture3', mat) 	#</a:t>
            </a:r>
            <a:r>
              <a:rPr lang="zh-CN" altLang="zh-CN" sz="1800" kern="100" dirty="0">
                <a:solidFill>
                  <a:srgbClr val="000000"/>
                </a:solidFill>
                <a:effectLst/>
                <a:latin typeface="Times New Roman" panose="02020603050405020304" pitchFamily="18" charset="0"/>
                <a:ea typeface="宋体" pitchFamily="2" charset="-122"/>
              </a:rPr>
              <a:t>输出中心旋转</a:t>
            </a:r>
            <a:r>
              <a:rPr lang="en-US" altLang="zh-CN" sz="1800" kern="100" dirty="0">
                <a:solidFill>
                  <a:srgbClr val="000000"/>
                </a:solidFill>
                <a:effectLst/>
                <a:latin typeface="Times New Roman" panose="02020603050405020304" pitchFamily="18" charset="0"/>
                <a:ea typeface="宋体" pitchFamily="2" charset="-122"/>
              </a:rPr>
              <a:t>180</a:t>
            </a:r>
            <a:r>
              <a:rPr lang="zh-CN" altLang="zh-CN" sz="1800" kern="100" dirty="0">
                <a:solidFill>
                  <a:srgbClr val="000000"/>
                </a:solidFill>
                <a:effectLst/>
                <a:latin typeface="Times New Roman" panose="02020603050405020304" pitchFamily="18" charset="0"/>
                <a:ea typeface="宋体" pitchFamily="2" charset="-122"/>
              </a:rPr>
              <a:t>°图像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 </a:t>
            </a:r>
            <a:endParaRPr lang="zh-CN"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4.2.2  </a:t>
            </a:r>
            <a:r>
              <a:rPr lang="zh-CN" altLang="en-US" sz="2100" b="1" dirty="0">
                <a:solidFill>
                  <a:schemeClr val="tx1">
                    <a:lumMod val="75000"/>
                    <a:lumOff val="25000"/>
                  </a:schemeClr>
                </a:solidFill>
                <a:latin typeface="微软雅黑" panose="020B0503020204020204" pitchFamily="34" charset="-122"/>
              </a:rPr>
              <a:t>图像旋转的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文本框 8"/>
          <p:cNvSpPr txBox="1"/>
          <p:nvPr/>
        </p:nvSpPr>
        <p:spPr>
          <a:xfrm>
            <a:off x="396330" y="1203640"/>
            <a:ext cx="8064896" cy="2031325"/>
          </a:xfrm>
          <a:prstGeom prst="rect">
            <a:avLst/>
          </a:prstGeom>
          <a:noFill/>
        </p:spPr>
        <p:txBody>
          <a:bodyPr wrap="square">
            <a:spAutoFit/>
          </a:bodyPr>
          <a:lstStyle/>
          <a:p>
            <a:r>
              <a:rPr lang="zh-CN" altLang="en-US" dirty="0"/>
              <a:t>上述程序的运行结果如图</a:t>
            </a:r>
            <a:r>
              <a:rPr lang="en-US" altLang="zh-CN" dirty="0"/>
              <a:t>4.4</a:t>
            </a:r>
            <a:r>
              <a:rPr lang="zh-CN" altLang="en-US" dirty="0"/>
              <a:t>所示。</a:t>
            </a:r>
          </a:p>
          <a:p>
            <a:r>
              <a:rPr lang="zh-CN" altLang="en-US" dirty="0"/>
              <a:t>我们使用函数</a:t>
            </a:r>
            <a:r>
              <a:rPr lang="en-US" altLang="zh-CN" dirty="0"/>
              <a:t>cv2.getRotationMatrix2D()</a:t>
            </a:r>
            <a:r>
              <a:rPr lang="zh-CN" altLang="en-US" dirty="0"/>
              <a:t>对</a:t>
            </a:r>
            <a:r>
              <a:rPr lang="en-US" altLang="zh-CN" dirty="0"/>
              <a:t>4.4 (a)</a:t>
            </a:r>
            <a:r>
              <a:rPr lang="zh-CN" altLang="en-US" dirty="0"/>
              <a:t>所示的原始图像分别计算并获取中心旋转</a:t>
            </a:r>
            <a:r>
              <a:rPr lang="en-US" altLang="zh-CN" dirty="0"/>
              <a:t>45°</a:t>
            </a:r>
            <a:r>
              <a:rPr lang="zh-CN" altLang="en-US" dirty="0"/>
              <a:t>、</a:t>
            </a:r>
            <a:r>
              <a:rPr lang="en-US" altLang="zh-CN" dirty="0"/>
              <a:t>90°</a:t>
            </a:r>
            <a:r>
              <a:rPr lang="zh-CN" altLang="en-US" dirty="0"/>
              <a:t>、</a:t>
            </a:r>
            <a:r>
              <a:rPr lang="en-US" altLang="zh-CN" dirty="0"/>
              <a:t>180°</a:t>
            </a:r>
            <a:r>
              <a:rPr lang="zh-CN" altLang="en-US" dirty="0"/>
              <a:t>的图像仿射变换矩阵。然后，调用函数</a:t>
            </a:r>
            <a:r>
              <a:rPr lang="en-US" altLang="zh-CN" dirty="0"/>
              <a:t>cv2.warpAffine()</a:t>
            </a:r>
            <a:r>
              <a:rPr lang="zh-CN" altLang="en-US" dirty="0"/>
              <a:t>将得到的</a:t>
            </a:r>
            <a:r>
              <a:rPr lang="en-US" altLang="zh-CN" dirty="0"/>
              <a:t>3</a:t>
            </a:r>
            <a:r>
              <a:rPr lang="zh-CN" altLang="en-US" dirty="0"/>
              <a:t>个仿射变换矩阵分别应用于原始图像。最后，我们得到了图</a:t>
            </a:r>
            <a:r>
              <a:rPr lang="en-US" altLang="zh-CN" dirty="0"/>
              <a:t>4.4 (a)</a:t>
            </a:r>
            <a:r>
              <a:rPr lang="zh-CN" altLang="en-US" dirty="0"/>
              <a:t>的中心旋转</a:t>
            </a:r>
            <a:r>
              <a:rPr lang="en-US" altLang="zh-CN" dirty="0"/>
              <a:t>45°</a:t>
            </a:r>
            <a:r>
              <a:rPr lang="zh-CN" altLang="en-US" dirty="0"/>
              <a:t>、</a:t>
            </a:r>
            <a:r>
              <a:rPr lang="en-US" altLang="zh-CN" dirty="0"/>
              <a:t>90°</a:t>
            </a:r>
            <a:r>
              <a:rPr lang="zh-CN" altLang="en-US" dirty="0"/>
              <a:t>、</a:t>
            </a:r>
            <a:r>
              <a:rPr lang="en-US" altLang="zh-CN" dirty="0"/>
              <a:t>180°</a:t>
            </a:r>
            <a:r>
              <a:rPr lang="zh-CN" altLang="en-US" dirty="0"/>
              <a:t>的图像，如图</a:t>
            </a:r>
            <a:r>
              <a:rPr lang="en-US" altLang="zh-CN" dirty="0"/>
              <a:t>4.4(b)</a:t>
            </a:r>
            <a:r>
              <a:rPr lang="zh-CN" altLang="en-US" dirty="0"/>
              <a:t>、</a:t>
            </a:r>
            <a:r>
              <a:rPr lang="en-US" altLang="zh-CN" dirty="0"/>
              <a:t>(c)</a:t>
            </a:r>
            <a:r>
              <a:rPr lang="zh-CN" altLang="en-US" dirty="0"/>
              <a:t>、</a:t>
            </a:r>
            <a:r>
              <a:rPr lang="en-US" altLang="zh-CN" dirty="0"/>
              <a:t>(d)</a:t>
            </a:r>
            <a:r>
              <a:rPr lang="zh-CN" altLang="en-US" dirty="0"/>
              <a:t>所示。</a:t>
            </a: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rcRect l="949" t="8443" r="1710" b="2060"/>
          <a:stretch>
            <a:fillRect/>
          </a:stretch>
        </p:blipFill>
        <p:spPr>
          <a:xfrm>
            <a:off x="1044402" y="3234965"/>
            <a:ext cx="2915757" cy="2886111"/>
          </a:xfrm>
          <a:prstGeom prst="rect">
            <a:avLst/>
          </a:prstGeom>
          <a:noFill/>
          <a:ln>
            <a:noFill/>
          </a:ln>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rcRect l="631" t="9008" r="1669" b="1110"/>
          <a:stretch>
            <a:fillRect/>
          </a:stretch>
        </p:blipFill>
        <p:spPr>
          <a:xfrm>
            <a:off x="4632519" y="3234964"/>
            <a:ext cx="2915756" cy="2886110"/>
          </a:xfrm>
          <a:prstGeom prst="rect">
            <a:avLst/>
          </a:prstGeom>
          <a:noFill/>
          <a:ln>
            <a:noFill/>
          </a:ln>
        </p:spPr>
      </p:pic>
      <p:sp>
        <p:nvSpPr>
          <p:cNvPr id="12" name="文本框 11"/>
          <p:cNvSpPr txBox="1"/>
          <p:nvPr/>
        </p:nvSpPr>
        <p:spPr>
          <a:xfrm>
            <a:off x="1764482" y="6151494"/>
            <a:ext cx="1801381"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13" name="文本框 12"/>
          <p:cNvSpPr txBox="1"/>
          <p:nvPr/>
        </p:nvSpPr>
        <p:spPr>
          <a:xfrm>
            <a:off x="5153605" y="6151494"/>
            <a:ext cx="2160240"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en-US" sz="1600" b="1" dirty="0">
                <a:solidFill>
                  <a:srgbClr val="000000"/>
                </a:solidFill>
                <a:latin typeface="黑体" panose="02010609060101010101" pitchFamily="49" charset="-122"/>
                <a:ea typeface="黑体" panose="02010609060101010101" pitchFamily="49" charset="-122"/>
              </a:rPr>
              <a:t>中心旋转</a:t>
            </a:r>
            <a:r>
              <a:rPr lang="en-US" altLang="zh-CN" sz="1600" b="1" dirty="0">
                <a:solidFill>
                  <a:srgbClr val="000000"/>
                </a:solidFill>
                <a:latin typeface="黑体" panose="02010609060101010101" pitchFamily="49" charset="-122"/>
                <a:ea typeface="黑体" panose="02010609060101010101" pitchFamily="49" charset="-122"/>
              </a:rPr>
              <a:t>45°</a:t>
            </a:r>
            <a:r>
              <a:rPr lang="zh-CN" altLang="en-US" sz="1600" b="1" dirty="0">
                <a:solidFill>
                  <a:srgbClr val="000000"/>
                </a:solidFill>
                <a:latin typeface="黑体" panose="02010609060101010101" pitchFamily="49" charset="-122"/>
                <a:ea typeface="黑体" panose="02010609060101010101" pitchFamily="49" charset="-122"/>
              </a:rPr>
              <a:t>图像</a:t>
            </a:r>
          </a:p>
        </p:txBody>
      </p:sp>
    </p:spTree>
  </p:cSld>
  <p:clrMapOvr>
    <a:masterClrMapping/>
  </p:clrMapOvr>
  <p:transition spd="slow" advClick="0" advTm="0">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4.2.2  </a:t>
            </a:r>
            <a:r>
              <a:rPr lang="zh-CN" altLang="en-US" sz="2100" b="1" dirty="0">
                <a:solidFill>
                  <a:schemeClr val="tx1">
                    <a:lumMod val="75000"/>
                    <a:lumOff val="25000"/>
                  </a:schemeClr>
                </a:solidFill>
                <a:latin typeface="微软雅黑" panose="020B0503020204020204" pitchFamily="34" charset="-122"/>
              </a:rPr>
              <a:t>图像旋转的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l="924" t="10279" r="2424" b="2632"/>
          <a:stretch>
            <a:fillRect/>
          </a:stretch>
        </p:blipFill>
        <p:spPr>
          <a:xfrm>
            <a:off x="972392" y="1989634"/>
            <a:ext cx="2996407" cy="2965941"/>
          </a:xfrm>
          <a:prstGeom prst="rect">
            <a:avLst/>
          </a:prstGeom>
          <a:noFill/>
          <a:ln>
            <a:noFill/>
          </a:ln>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rcRect l="947" t="11564" r="2026" b="1268"/>
          <a:stretch>
            <a:fillRect/>
          </a:stretch>
        </p:blipFill>
        <p:spPr>
          <a:xfrm>
            <a:off x="4874790" y="1984756"/>
            <a:ext cx="2996407" cy="2965941"/>
          </a:xfrm>
          <a:prstGeom prst="rect">
            <a:avLst/>
          </a:prstGeom>
          <a:noFill/>
          <a:ln>
            <a:noFill/>
          </a:ln>
        </p:spPr>
      </p:pic>
      <p:sp>
        <p:nvSpPr>
          <p:cNvPr id="11" name="文本框 10"/>
          <p:cNvSpPr txBox="1"/>
          <p:nvPr/>
        </p:nvSpPr>
        <p:spPr>
          <a:xfrm>
            <a:off x="1346259" y="5286528"/>
            <a:ext cx="2248675"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(c)</a:t>
            </a:r>
            <a:r>
              <a:rPr lang="zh-CN" altLang="en-US" sz="1600" b="1" dirty="0">
                <a:solidFill>
                  <a:srgbClr val="000000"/>
                </a:solidFill>
                <a:latin typeface="黑体" panose="02010609060101010101" pitchFamily="49" charset="-122"/>
                <a:ea typeface="黑体" panose="02010609060101010101" pitchFamily="49" charset="-122"/>
              </a:rPr>
              <a:t>中心旋转</a:t>
            </a:r>
            <a:r>
              <a:rPr lang="en-US" altLang="zh-CN" sz="1600" b="1" dirty="0">
                <a:solidFill>
                  <a:srgbClr val="000000"/>
                </a:solidFill>
                <a:latin typeface="黑体" panose="02010609060101010101" pitchFamily="49" charset="-122"/>
                <a:ea typeface="黑体" panose="02010609060101010101" pitchFamily="49" charset="-122"/>
              </a:rPr>
              <a:t>90°</a:t>
            </a:r>
            <a:r>
              <a:rPr lang="zh-CN" altLang="en-US" sz="1600" b="1" dirty="0">
                <a:solidFill>
                  <a:srgbClr val="000000"/>
                </a:solidFill>
                <a:latin typeface="黑体" panose="02010609060101010101" pitchFamily="49" charset="-122"/>
                <a:ea typeface="黑体" panose="02010609060101010101" pitchFamily="49" charset="-122"/>
              </a:rPr>
              <a:t>图像</a:t>
            </a:r>
          </a:p>
        </p:txBody>
      </p:sp>
      <p:sp>
        <p:nvSpPr>
          <p:cNvPr id="12" name="文本框 11"/>
          <p:cNvSpPr txBox="1"/>
          <p:nvPr/>
        </p:nvSpPr>
        <p:spPr>
          <a:xfrm>
            <a:off x="5148858" y="5290842"/>
            <a:ext cx="2448272"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(d)</a:t>
            </a:r>
            <a:r>
              <a:rPr lang="zh-CN" altLang="en-US" sz="1600" b="1" dirty="0">
                <a:solidFill>
                  <a:srgbClr val="000000"/>
                </a:solidFill>
                <a:latin typeface="黑体" panose="02010609060101010101" pitchFamily="49" charset="-122"/>
                <a:ea typeface="黑体" panose="02010609060101010101" pitchFamily="49" charset="-122"/>
              </a:rPr>
              <a:t>中心旋转</a:t>
            </a:r>
            <a:r>
              <a:rPr lang="en-US" altLang="zh-CN" sz="1600" b="1" dirty="0">
                <a:solidFill>
                  <a:srgbClr val="000000"/>
                </a:solidFill>
                <a:latin typeface="黑体" panose="02010609060101010101" pitchFamily="49" charset="-122"/>
                <a:ea typeface="黑体" panose="02010609060101010101" pitchFamily="49" charset="-122"/>
              </a:rPr>
              <a:t>180°</a:t>
            </a:r>
            <a:r>
              <a:rPr lang="zh-CN" altLang="en-US" sz="1600" b="1" dirty="0">
                <a:solidFill>
                  <a:srgbClr val="000000"/>
                </a:solidFill>
                <a:latin typeface="黑体" panose="02010609060101010101" pitchFamily="49" charset="-122"/>
                <a:ea typeface="黑体" panose="02010609060101010101" pitchFamily="49" charset="-122"/>
              </a:rPr>
              <a:t>图像</a:t>
            </a:r>
          </a:p>
        </p:txBody>
      </p:sp>
      <p:sp>
        <p:nvSpPr>
          <p:cNvPr id="13" name="文本框 12"/>
          <p:cNvSpPr txBox="1"/>
          <p:nvPr/>
        </p:nvSpPr>
        <p:spPr>
          <a:xfrm>
            <a:off x="2124522" y="5965227"/>
            <a:ext cx="4589754"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4.4  </a:t>
            </a:r>
            <a:r>
              <a:rPr lang="zh-CN" altLang="en-US" sz="1800" b="1" kern="0" dirty="0">
                <a:latin typeface="黑体" panose="02010609060101010101" pitchFamily="49" charset="-122"/>
                <a:ea typeface="黑体" panose="02010609060101010101" pitchFamily="49" charset="-122"/>
              </a:rPr>
              <a:t>图像旋转效果图</a:t>
            </a:r>
          </a:p>
        </p:txBody>
      </p:sp>
    </p:spTree>
  </p:cSld>
  <p:clrMapOvr>
    <a:masterClrMapping/>
  </p:clrMapOvr>
  <p:transition spd="slow" advClick="0"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4.3  </a:t>
            </a:r>
            <a:r>
              <a:rPr lang="zh-CN" altLang="en-US" sz="2100" b="1" dirty="0">
                <a:solidFill>
                  <a:schemeClr val="tx1">
                    <a:lumMod val="75000"/>
                    <a:lumOff val="25000"/>
                  </a:schemeClr>
                </a:solidFill>
                <a:latin typeface="微软雅黑" panose="020B0503020204020204" pitchFamily="34" charset="-122"/>
              </a:rPr>
              <a:t>图像的缩放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4" name="文本框 13"/>
          <p:cNvSpPr txBox="1"/>
          <p:nvPr/>
        </p:nvSpPr>
        <p:spPr>
          <a:xfrm>
            <a:off x="682395" y="1216703"/>
            <a:ext cx="4589754" cy="415498"/>
          </a:xfrm>
          <a:prstGeom prst="rect">
            <a:avLst/>
          </a:prstGeom>
          <a:noFill/>
        </p:spPr>
        <p:txBody>
          <a:bodyPr wrap="square">
            <a:spAutoFit/>
          </a:bodyPr>
          <a:lstStyle/>
          <a:p>
            <a:r>
              <a:rPr lang="en-US" altLang="zh-CN" b="1" dirty="0"/>
              <a:t>4.3.1  </a:t>
            </a:r>
            <a:r>
              <a:rPr lang="zh-CN" altLang="en-US" b="1" dirty="0"/>
              <a:t>图像缩放的基本原理</a:t>
            </a:r>
          </a:p>
        </p:txBody>
      </p:sp>
      <p:sp>
        <p:nvSpPr>
          <p:cNvPr id="15" name="文本框 14"/>
          <p:cNvSpPr txBox="1"/>
          <p:nvPr/>
        </p:nvSpPr>
        <p:spPr>
          <a:xfrm>
            <a:off x="682395" y="1628028"/>
            <a:ext cx="7780798" cy="2089798"/>
          </a:xfrm>
          <a:prstGeom prst="rect">
            <a:avLst/>
          </a:prstGeom>
          <a:noFill/>
        </p:spPr>
        <p:txBody>
          <a:bodyPr wrap="square">
            <a:spAutoFit/>
          </a:bodyPr>
          <a:lstStyle/>
          <a:p>
            <a:r>
              <a:rPr lang="zh-CN" altLang="en-US" dirty="0"/>
              <a:t>         图像的缩放是指对图像的大小进行调整的过程。例如，坐标系中有一个大小</a:t>
            </a:r>
            <a:r>
              <a:rPr lang="en-US" altLang="zh-CN" dirty="0"/>
              <a:t>100×100</a:t>
            </a:r>
            <a:r>
              <a:rPr lang="zh-CN" altLang="en-US" dirty="0"/>
              <a:t>的绿色图像，一个大小为</a:t>
            </a:r>
            <a:r>
              <a:rPr lang="en-US" altLang="zh-CN" dirty="0"/>
              <a:t>200×200</a:t>
            </a:r>
            <a:r>
              <a:rPr lang="zh-CN" altLang="en-US" dirty="0"/>
              <a:t>的蓝色图像和一个大小</a:t>
            </a:r>
            <a:r>
              <a:rPr lang="en-US" altLang="zh-CN" dirty="0"/>
              <a:t>400×400</a:t>
            </a:r>
            <a:r>
              <a:rPr lang="zh-CN" altLang="en-US" dirty="0"/>
              <a:t>的红色图像。假设蓝色图像为原始图像，那么绿色图像则是通过蓝色图像的长和宽分别缩小</a:t>
            </a:r>
            <a:r>
              <a:rPr lang="en-US" altLang="zh-CN" dirty="0"/>
              <a:t>1</a:t>
            </a:r>
            <a:r>
              <a:rPr lang="zh-CN" altLang="en-US" dirty="0"/>
              <a:t>倍后的图像，红色图像则是通过蓝色图像的长和宽分别放大</a:t>
            </a:r>
            <a:r>
              <a:rPr lang="en-US" altLang="zh-CN" dirty="0"/>
              <a:t>1</a:t>
            </a:r>
            <a:r>
              <a:rPr lang="zh-CN" altLang="en-US" dirty="0"/>
              <a:t>倍后的图像。原始图像、缩小图像、放大图像的示意图如图</a:t>
            </a:r>
            <a:r>
              <a:rPr lang="en-US" altLang="zh-CN" dirty="0"/>
              <a:t>4.5</a:t>
            </a:r>
            <a:r>
              <a:rPr lang="zh-CN" altLang="en-US" dirty="0"/>
              <a:t>所示。</a:t>
            </a:r>
          </a:p>
        </p:txBody>
      </p:sp>
      <p:pic>
        <p:nvPicPr>
          <p:cNvPr id="16" name="图片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3312954" y="3645818"/>
            <a:ext cx="2844016" cy="2844016"/>
          </a:xfrm>
          <a:prstGeom prst="rect">
            <a:avLst/>
          </a:prstGeom>
          <a:noFill/>
          <a:ln>
            <a:noFill/>
          </a:ln>
        </p:spPr>
      </p:pic>
      <p:sp>
        <p:nvSpPr>
          <p:cNvPr id="17" name="文本框 16"/>
          <p:cNvSpPr txBox="1"/>
          <p:nvPr/>
        </p:nvSpPr>
        <p:spPr>
          <a:xfrm>
            <a:off x="2440085" y="6305168"/>
            <a:ext cx="4589754" cy="369332"/>
          </a:xfrm>
          <a:prstGeom prst="rect">
            <a:avLst/>
          </a:prstGeom>
          <a:noFill/>
        </p:spPr>
        <p:txBody>
          <a:bodyPr wrap="square">
            <a:spAutoFit/>
          </a:bodyPr>
          <a:lstStyle/>
          <a:p>
            <a:pPr indent="266700" algn="ctr"/>
            <a:r>
              <a:rPr lang="zh-CN" altLang="zh-CN"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4.5  </a:t>
            </a:r>
            <a:r>
              <a:rPr lang="zh-CN" altLang="zh-CN" sz="1800" b="1" kern="0" dirty="0">
                <a:latin typeface="黑体" panose="02010609060101010101" pitchFamily="49" charset="-122"/>
                <a:ea typeface="黑体" panose="02010609060101010101" pitchFamily="49" charset="-122"/>
              </a:rPr>
              <a:t>图像缩放</a:t>
            </a:r>
          </a:p>
        </p:txBody>
      </p:sp>
    </p:spTree>
  </p:cSld>
  <p:clrMapOvr>
    <a:masterClrMapping/>
  </p:clrMapOvr>
  <p:transition spd="slow" advClick="0" advTm="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4.3.1  </a:t>
            </a:r>
            <a:r>
              <a:rPr lang="zh-CN" altLang="en-US" sz="2100" b="1" dirty="0">
                <a:solidFill>
                  <a:schemeClr val="tx1">
                    <a:lumMod val="75000"/>
                    <a:lumOff val="25000"/>
                  </a:schemeClr>
                </a:solidFill>
                <a:latin typeface="微软雅黑" panose="020B0503020204020204" pitchFamily="34" charset="-122"/>
              </a:rPr>
              <a:t>图像缩放的基本原理</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5" name="文本框 14"/>
              <p:cNvSpPr txBox="1"/>
              <p:nvPr/>
            </p:nvSpPr>
            <p:spPr>
              <a:xfrm>
                <a:off x="682395" y="1212398"/>
                <a:ext cx="7780798" cy="2779479"/>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接下来我们用矩阵公式对图像的缩放进行更加精确地描述。假设图像的原坐标为</a:t>
                </a:r>
                <a14:m>
                  <m:oMath xmlns:m="http://schemas.openxmlformats.org/officeDocument/2006/math">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𝑥</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𝑦</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，沿</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rPr>
                  <a:t>轴正方向缩放的比率是</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𝑥</m:t>
                        </m:r>
                      </m:sub>
                    </m:sSub>
                  </m:oMath>
                </a14:m>
                <a:r>
                  <a:rPr lang="zh-CN" altLang="zh-CN" kern="100" dirty="0">
                    <a:effectLst/>
                    <a:latin typeface="Times New Roman" panose="02020603050405020304" pitchFamily="18" charset="0"/>
                    <a:ea typeface="宋体" pitchFamily="2" charset="-122"/>
                  </a:rPr>
                  <a:t>，沿</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rPr>
                  <a:t>轴正方向缩放的比率是</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𝑦</m:t>
                        </m:r>
                      </m:sub>
                    </m:sSub>
                  </m:oMath>
                </a14:m>
                <a:r>
                  <a:rPr lang="zh-CN" altLang="zh-CN" kern="100" dirty="0">
                    <a:effectLst/>
                    <a:latin typeface="Times New Roman" panose="02020603050405020304" pitchFamily="18" charset="0"/>
                    <a:ea typeface="宋体" pitchFamily="2" charset="-122"/>
                  </a:rPr>
                  <a:t>，则目标图像坐标</a:t>
                </a:r>
                <a14:m>
                  <m:oMath xmlns:m="http://schemas.openxmlformats.org/officeDocument/2006/math">
                    <m:d>
                      <m:dPr>
                        <m:ctrlPr>
                          <a:rPr lang="zh-CN" altLang="zh-CN" i="1" kern="100">
                            <a:effectLst/>
                            <a:latin typeface="Cambria Math" panose="02040503050406030204" pitchFamily="18" charset="0"/>
                            <a:ea typeface="Cambria Math" panose="02040503050406030204" pitchFamily="18" charset="0"/>
                          </a:rPr>
                        </m:ctrlPr>
                      </m:dPr>
                      <m:e>
                        <m:sSup>
                          <m:sSupPr>
                            <m:ctrlPr>
                              <a:rPr lang="zh-CN" altLang="zh-CN" i="1" kern="100">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rPr>
                              <m:t>𝑥</m:t>
                            </m:r>
                          </m:e>
                          <m:sup>
                            <m:r>
                              <a:rPr lang="en-US" altLang="zh-CN" i="1" kern="100">
                                <a:effectLst/>
                                <a:latin typeface="Cambria Math" panose="02040503050406030204" pitchFamily="18" charset="0"/>
                                <a:ea typeface="宋体" pitchFamily="2" charset="-122"/>
                              </a:rPr>
                              <m:t>′</m:t>
                            </m:r>
                          </m:sup>
                        </m:sSup>
                        <m:r>
                          <a:rPr lang="en-US" altLang="zh-CN" kern="100">
                            <a:effectLst/>
                            <a:latin typeface="Cambria Math" panose="02040503050406030204" pitchFamily="18" charset="0"/>
                            <a:ea typeface="宋体" pitchFamily="2" charset="-122"/>
                          </a:rPr>
                          <m:t>,</m:t>
                        </m:r>
                        <m:sSup>
                          <m:sSupPr>
                            <m:ctrlPr>
                              <a:rPr lang="zh-CN" altLang="zh-CN" i="1" kern="100">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rPr>
                              <m:t>𝑦</m:t>
                            </m:r>
                          </m:e>
                          <m:sup>
                            <m:r>
                              <a:rPr lang="en-US" altLang="zh-CN" i="1" kern="100">
                                <a:effectLst/>
                                <a:latin typeface="Cambria Math" panose="02040503050406030204" pitchFamily="18" charset="0"/>
                                <a:ea typeface="宋体" pitchFamily="2" charset="-122"/>
                              </a:rPr>
                              <m:t>′</m:t>
                            </m:r>
                          </m:sup>
                        </m:sSup>
                      </m:e>
                    </m:d>
                  </m:oMath>
                </a14:m>
                <a:r>
                  <a:rPr lang="zh-CN" altLang="zh-CN" kern="100" dirty="0">
                    <a:effectLst/>
                    <a:latin typeface="Times New Roman" panose="02020603050405020304" pitchFamily="18" charset="0"/>
                    <a:ea typeface="宋体" pitchFamily="2" charset="-122"/>
                  </a:rPr>
                  <a:t>的计算方式如公式</a:t>
                </a:r>
                <a:r>
                  <a:rPr lang="en-US" altLang="zh-CN" kern="100" dirty="0">
                    <a:effectLst/>
                    <a:latin typeface="Times New Roman" panose="02020603050405020304" pitchFamily="18" charset="0"/>
                    <a:ea typeface="宋体" pitchFamily="2" charset="-122"/>
                  </a:rPr>
                  <a:t> (4-8)</a:t>
                </a:r>
                <a:r>
                  <a:rPr lang="zh-CN" altLang="zh-CN" kern="100" dirty="0">
                    <a:effectLst/>
                    <a:latin typeface="Times New Roman" panose="02020603050405020304" pitchFamily="18" charset="0"/>
                    <a:ea typeface="宋体" pitchFamily="2" charset="-122"/>
                  </a:rPr>
                  <a:t>所示。其中，当</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0&lt;</m:t>
                        </m:r>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𝑥</m:t>
                        </m:r>
                      </m:sub>
                    </m:sSub>
                    <m:r>
                      <a:rPr lang="en-US" altLang="zh-CN" i="1" kern="100">
                        <a:effectLst/>
                        <a:latin typeface="Cambria Math" panose="02040503050406030204" pitchFamily="18" charset="0"/>
                        <a:ea typeface="宋体" pitchFamily="2" charset="-122"/>
                      </a:rPr>
                      <m:t>&lt;1</m:t>
                    </m:r>
                  </m:oMath>
                </a14:m>
                <a:r>
                  <a:rPr lang="zh-CN" altLang="zh-CN" kern="100" dirty="0">
                    <a:effectLst/>
                    <a:latin typeface="Times New Roman" panose="02020603050405020304" pitchFamily="18" charset="0"/>
                    <a:ea typeface="宋体" pitchFamily="2" charset="-122"/>
                  </a:rPr>
                  <a:t>时，图像沿</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rPr>
                  <a:t>轴正方向缩小</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𝑥</m:t>
                        </m:r>
                      </m:sub>
                    </m:sSub>
                  </m:oMath>
                </a14:m>
                <a:r>
                  <a:rPr lang="zh-CN" altLang="zh-CN" kern="100" dirty="0">
                    <a:effectLst/>
                    <a:latin typeface="Times New Roman" panose="02020603050405020304" pitchFamily="18" charset="0"/>
                    <a:ea typeface="宋体" pitchFamily="2" charset="-122"/>
                  </a:rPr>
                  <a:t>，当</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𝑥</m:t>
                        </m:r>
                      </m:sub>
                    </m:sSub>
                    <m:r>
                      <a:rPr lang="en-US" altLang="zh-CN" i="1" kern="100">
                        <a:effectLst/>
                        <a:latin typeface="Cambria Math" panose="02040503050406030204" pitchFamily="18" charset="0"/>
                        <a:ea typeface="宋体" pitchFamily="2" charset="-122"/>
                      </a:rPr>
                      <m:t>&gt;1</m:t>
                    </m:r>
                  </m:oMath>
                </a14:m>
                <a:r>
                  <a:rPr lang="zh-CN" altLang="zh-CN" kern="100" dirty="0">
                    <a:effectLst/>
                    <a:latin typeface="Times New Roman" panose="02020603050405020304" pitchFamily="18" charset="0"/>
                    <a:ea typeface="宋体" pitchFamily="2" charset="-122"/>
                  </a:rPr>
                  <a:t>时，图像沿</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rPr>
                  <a:t>轴正方向放大</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𝑥</m:t>
                        </m:r>
                      </m:sub>
                    </m:sSub>
                  </m:oMath>
                </a14:m>
                <a:r>
                  <a:rPr lang="zh-CN" altLang="zh-CN" kern="100" dirty="0">
                    <a:effectLst/>
                    <a:latin typeface="Times New Roman" panose="02020603050405020304" pitchFamily="18" charset="0"/>
                    <a:ea typeface="宋体" pitchFamily="2" charset="-122"/>
                  </a:rPr>
                  <a:t>。同理，当</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0&lt;</m:t>
                        </m:r>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𝑦</m:t>
                        </m:r>
                      </m:sub>
                    </m:sSub>
                    <m:r>
                      <a:rPr lang="en-US" altLang="zh-CN" i="1" kern="100">
                        <a:effectLst/>
                        <a:latin typeface="Cambria Math" panose="02040503050406030204" pitchFamily="18" charset="0"/>
                        <a:ea typeface="宋体" pitchFamily="2" charset="-122"/>
                      </a:rPr>
                      <m:t>&lt;1</m:t>
                    </m:r>
                  </m:oMath>
                </a14:m>
                <a:r>
                  <a:rPr lang="zh-CN" altLang="zh-CN" kern="100" dirty="0">
                    <a:effectLst/>
                    <a:latin typeface="Times New Roman" panose="02020603050405020304" pitchFamily="18" charset="0"/>
                    <a:ea typeface="宋体" pitchFamily="2" charset="-122"/>
                  </a:rPr>
                  <a:t>时，图像沿</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rPr>
                  <a:t>轴正方向缩小</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𝑦</m:t>
                        </m:r>
                      </m:sub>
                    </m:sSub>
                  </m:oMath>
                </a14:m>
                <a:r>
                  <a:rPr lang="zh-CN" altLang="zh-CN" kern="100" dirty="0">
                    <a:effectLst/>
                    <a:latin typeface="Times New Roman" panose="02020603050405020304" pitchFamily="18" charset="0"/>
                    <a:ea typeface="宋体" pitchFamily="2" charset="-122"/>
                  </a:rPr>
                  <a:t>，当</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𝑦</m:t>
                        </m:r>
                      </m:sub>
                    </m:sSub>
                    <m:r>
                      <a:rPr lang="en-US" altLang="zh-CN" i="1" kern="100">
                        <a:effectLst/>
                        <a:latin typeface="Cambria Math" panose="02040503050406030204" pitchFamily="18" charset="0"/>
                        <a:ea typeface="宋体" pitchFamily="2" charset="-122"/>
                      </a:rPr>
                      <m:t>&gt;1</m:t>
                    </m:r>
                  </m:oMath>
                </a14:m>
                <a:r>
                  <a:rPr lang="zh-CN" altLang="zh-CN" kern="100" dirty="0">
                    <a:effectLst/>
                    <a:latin typeface="Times New Roman" panose="02020603050405020304" pitchFamily="18" charset="0"/>
                    <a:ea typeface="宋体" pitchFamily="2" charset="-122"/>
                  </a:rPr>
                  <a:t>时，图像沿</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rPr>
                  <a:t>轴正方向放大</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𝑆</m:t>
                        </m:r>
                      </m:e>
                      <m:sub>
                        <m:r>
                          <a:rPr lang="en-US" altLang="zh-CN" i="1" kern="100">
                            <a:effectLst/>
                            <a:latin typeface="Cambria Math" panose="02040503050406030204" pitchFamily="18" charset="0"/>
                            <a:ea typeface="宋体" pitchFamily="2" charset="-122"/>
                          </a:rPr>
                          <m:t>𝑦</m:t>
                        </m:r>
                      </m:sub>
                    </m:sSub>
                  </m:oMath>
                </a14:m>
                <a:r>
                  <a:rPr lang="zh-CN" altLang="zh-CN" kern="100" dirty="0">
                    <a:effectLst/>
                    <a:latin typeface="Times New Roman" panose="02020603050405020304" pitchFamily="18" charset="0"/>
                    <a:ea typeface="宋体" pitchFamily="2" charset="-122"/>
                  </a:rPr>
                  <a:t>。</a:t>
                </a:r>
              </a:p>
              <a:p>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682395" y="1212398"/>
                <a:ext cx="7780798" cy="2779479"/>
              </a:xfrm>
              <a:prstGeom prst="rect">
                <a:avLst/>
              </a:prstGeom>
              <a:blipFill rotWithShape="1">
                <a:blip r:embed="rId3"/>
                <a:stretch>
                  <a:fillRect l="-5" t="-7" r="7" b="-65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2277917" y="3861842"/>
                <a:ext cx="4589754" cy="1119409"/>
              </a:xfrm>
              <a:prstGeom prst="rect">
                <a:avLst/>
              </a:prstGeom>
              <a:noFill/>
            </p:spPr>
            <p:txBody>
              <a:bodyPr wrap="square">
                <a:spAutoFit/>
              </a:bodyPr>
              <a:lstStyle/>
              <a:p>
                <a14:m>
                  <m:oMath xmlns:m="http://schemas.openxmlformats.org/officeDocument/2006/math">
                    <m:d>
                      <m:dPr>
                        <m:begChr m:val="["/>
                        <m:endChr m:val="]"/>
                        <m:ctrlPr>
                          <a:rPr lang="zh-CN" altLang="zh-CN" i="1" smtClean="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sSup>
                                <m:sSupPr>
                                  <m:ctrlPr>
                                    <a:rPr lang="zh-CN" altLang="zh-CN" i="1">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cs typeface="Times New Roman" panose="02020603050405020304" pitchFamily="18" charset="0"/>
                                    </a:rPr>
                                    <m:t>𝑥</m:t>
                                  </m:r>
                                </m:e>
                                <m:sup>
                                  <m:r>
                                    <a:rPr lang="en-US" altLang="zh-CN" sz="2400" i="1" kern="100">
                                      <a:effectLst/>
                                      <a:latin typeface="Cambria Math" panose="02040503050406030204" pitchFamily="18" charset="0"/>
                                      <a:ea typeface="宋体" pitchFamily="2" charset="-122"/>
                                      <a:cs typeface="Times New Roman" panose="02020603050405020304" pitchFamily="18" charset="0"/>
                                    </a:rPr>
                                    <m:t>′</m:t>
                                  </m:r>
                                </m:sup>
                              </m:sSup>
                            </m:e>
                          </m:mr>
                          <m:mr>
                            <m:e>
                              <m:sSup>
                                <m:sSupPr>
                                  <m:ctrlPr>
                                    <a:rPr lang="zh-CN" altLang="zh-CN" i="1">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cs typeface="Times New Roman" panose="02020603050405020304" pitchFamily="18" charset="0"/>
                                    </a:rPr>
                                    <m:t>𝑦</m:t>
                                  </m:r>
                                </m:e>
                                <m:sup>
                                  <m:r>
                                    <a:rPr lang="en-US" altLang="zh-CN" sz="2400" i="1" kern="100">
                                      <a:effectLst/>
                                      <a:latin typeface="Cambria Math" panose="02040503050406030204" pitchFamily="18" charset="0"/>
                                      <a:ea typeface="宋体" pitchFamily="2" charset="-122"/>
                                      <a:cs typeface="Times New Roman" panose="02020603050405020304" pitchFamily="18" charset="0"/>
                                    </a:rPr>
                                    <m:t>′</m:t>
                                  </m:r>
                                </m:sup>
                              </m:sSup>
                            </m:e>
                          </m:mr>
                          <m:mr>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r>
                      <a:rPr lang="en-US" altLang="zh-CN" sz="2400" kern="100">
                        <a:effectLst/>
                        <a:latin typeface="Cambria Math" panose="02040503050406030204" pitchFamily="18" charset="0"/>
                        <a:ea typeface="宋体" pitchFamily="2" charset="-122"/>
                        <a:cs typeface="Times New Roman" panose="02020603050405020304" pitchFamily="18" charset="0"/>
                      </a:rPr>
                      <m:t>=</m:t>
                    </m:r>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3"/>
                                  <m:mcJc m:val="center"/>
                                </m:mcPr>
                              </m:mc>
                            </m:mcs>
                            <m:ctrlPr>
                              <a:rPr lang="zh-CN" altLang="zh-CN" i="1">
                                <a:effectLst/>
                                <a:latin typeface="Cambria Math" panose="02040503050406030204" pitchFamily="18" charset="0"/>
                                <a:ea typeface="Cambria Math" panose="02040503050406030204" pitchFamily="18" charset="0"/>
                              </a:rPr>
                            </m:ctrlPr>
                          </m:mPr>
                          <m:mr>
                            <m:e>
                              <m:sSub>
                                <m:sSubPr>
                                  <m:ctrlPr>
                                    <a:rPr lang="zh-CN" altLang="zh-CN" i="1">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cs typeface="Times New Roman" panose="02020603050405020304" pitchFamily="18" charset="0"/>
                                    </a:rPr>
                                    <m:t>𝑆</m:t>
                                  </m:r>
                                </m:e>
                                <m:sub>
                                  <m:r>
                                    <a:rPr lang="en-US" altLang="zh-CN" sz="2400" i="1" kern="100">
                                      <a:effectLst/>
                                      <a:latin typeface="Cambria Math" panose="02040503050406030204" pitchFamily="18" charset="0"/>
                                      <a:ea typeface="宋体" pitchFamily="2" charset="-122"/>
                                      <a:cs typeface="Times New Roman" panose="02020603050405020304" pitchFamily="18" charset="0"/>
                                    </a:rPr>
                                    <m:t>𝑥</m:t>
                                  </m:r>
                                </m:sub>
                              </m:sSub>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sSub>
                                <m:sSubPr>
                                  <m:ctrlPr>
                                    <a:rPr lang="zh-CN" altLang="zh-CN" i="1">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cs typeface="Times New Roman" panose="02020603050405020304" pitchFamily="18" charset="0"/>
                                    </a:rPr>
                                    <m:t>𝑆</m:t>
                                  </m:r>
                                </m:e>
                                <m:sub>
                                  <m:r>
                                    <a:rPr lang="en-US" altLang="zh-CN" sz="2400" i="1" kern="100">
                                      <a:effectLst/>
                                      <a:latin typeface="Cambria Math" panose="02040503050406030204" pitchFamily="18" charset="0"/>
                                      <a:ea typeface="宋体" pitchFamily="2" charset="-122"/>
                                      <a:cs typeface="Times New Roman" panose="02020603050405020304" pitchFamily="18" charset="0"/>
                                    </a:rPr>
                                    <m:t>𝑦</m:t>
                                  </m:r>
                                </m:sub>
                              </m:sSub>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ea typeface="宋体" pitchFamily="2" charset="-122"/>
                                  <a:cs typeface="Times New Roman" panose="02020603050405020304" pitchFamily="18" charset="0"/>
                                </a:rPr>
                                <m:t>𝑥</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𝑦</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oMath>
                </a14:m>
                <a:r>
                  <a:rPr lang="en-US" altLang="zh-CN" sz="2400" kern="100" dirty="0">
                    <a:effectLst/>
                    <a:latin typeface="Times New Roman" panose="02020603050405020304" pitchFamily="18" charset="0"/>
                    <a:ea typeface="宋体" pitchFamily="2" charset="-122"/>
                  </a:rPr>
                  <a:t>=</a:t>
                </a:r>
                <a14:m>
                  <m:oMath xmlns:m="http://schemas.openxmlformats.org/officeDocument/2006/math">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ea typeface="宋体" pitchFamily="2" charset="-122"/>
                                  <a:cs typeface="Times New Roman" panose="02020603050405020304" pitchFamily="18" charset="0"/>
                                </a:rPr>
                                <m:t>𝑥</m:t>
                              </m:r>
                              <m:r>
                                <a:rPr lang="en-US" altLang="zh-CN" sz="24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cs typeface="Times New Roman" panose="02020603050405020304" pitchFamily="18" charset="0"/>
                                    </a:rPr>
                                    <m:t>𝑆</m:t>
                                  </m:r>
                                </m:e>
                                <m:sub>
                                  <m:r>
                                    <a:rPr lang="en-US" altLang="zh-CN" sz="2400" i="1" kern="100">
                                      <a:effectLst/>
                                      <a:latin typeface="Cambria Math" panose="02040503050406030204" pitchFamily="18" charset="0"/>
                                      <a:ea typeface="宋体" pitchFamily="2" charset="-122"/>
                                      <a:cs typeface="Times New Roman" panose="02020603050405020304" pitchFamily="18" charset="0"/>
                                    </a:rPr>
                                    <m:t>𝑥</m:t>
                                  </m:r>
                                </m:sub>
                              </m:sSub>
                            </m:e>
                          </m:mr>
                          <m:mr>
                            <m:e>
                              <m:r>
                                <a:rPr lang="en-US" altLang="zh-CN" sz="2400" i="1" kern="100">
                                  <a:effectLst/>
                                  <a:latin typeface="Cambria Math" panose="02040503050406030204" pitchFamily="18" charset="0"/>
                                  <a:ea typeface="宋体" pitchFamily="2" charset="-122"/>
                                  <a:cs typeface="Times New Roman" panose="02020603050405020304" pitchFamily="18" charset="0"/>
                                </a:rPr>
                                <m:t>𝑦</m:t>
                              </m:r>
                              <m:r>
                                <a:rPr lang="en-US" altLang="zh-CN" sz="24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cs typeface="Times New Roman" panose="02020603050405020304" pitchFamily="18" charset="0"/>
                                    </a:rPr>
                                    <m:t>𝑆</m:t>
                                  </m:r>
                                </m:e>
                                <m:sub>
                                  <m:r>
                                    <a:rPr lang="en-US" altLang="zh-CN" sz="2400" i="1" kern="100">
                                      <a:effectLst/>
                                      <a:latin typeface="Cambria Math" panose="02040503050406030204" pitchFamily="18" charset="0"/>
                                      <a:ea typeface="宋体" pitchFamily="2" charset="-122"/>
                                      <a:cs typeface="Times New Roman" panose="02020603050405020304" pitchFamily="18" charset="0"/>
                                    </a:rPr>
                                    <m:t>𝑦</m:t>
                                  </m:r>
                                </m:sub>
                              </m:sSub>
                            </m:e>
                          </m:mr>
                          <m:mr>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oMath>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277917" y="3861842"/>
                <a:ext cx="4589754" cy="1119409"/>
              </a:xfrm>
              <a:prstGeom prst="rect">
                <a:avLst/>
              </a:prstGeom>
              <a:blipFill rotWithShape="1">
                <a:blip r:embed="rId4"/>
                <a:stretch>
                  <a:fillRect l="-4" t="-36" r="3" b="28"/>
                </a:stretch>
              </a:blipFill>
            </p:spPr>
            <p:txBody>
              <a:bodyPr/>
              <a:lstStyle/>
              <a:p>
                <a:r>
                  <a:rPr lang="zh-CN" altLang="en-US">
                    <a:noFill/>
                  </a:rPr>
                  <a:t> </a:t>
                </a:r>
              </a:p>
            </p:txBody>
          </p:sp>
        </mc:Fallback>
      </mc:AlternateContent>
      <p:sp>
        <p:nvSpPr>
          <p:cNvPr id="12" name="文本框 11"/>
          <p:cNvSpPr txBox="1"/>
          <p:nvPr/>
        </p:nvSpPr>
        <p:spPr>
          <a:xfrm>
            <a:off x="7452995" y="4124960"/>
            <a:ext cx="857250" cy="414020"/>
          </a:xfrm>
          <a:prstGeom prst="rect">
            <a:avLst/>
          </a:prstGeom>
          <a:noFill/>
        </p:spPr>
        <p:txBody>
          <a:bodyPr wrap="square">
            <a:spAutoFit/>
          </a:bodyPr>
          <a:lstStyle/>
          <a:p>
            <a:r>
              <a:rPr lang="en-US" altLang="zh-CN" dirty="0"/>
              <a:t>(4-8)</a:t>
            </a:r>
            <a:endParaRPr lang="zh-CN" altLang="en-US" dirty="0"/>
          </a:p>
        </p:txBody>
      </p:sp>
      <p:sp>
        <p:nvSpPr>
          <p:cNvPr id="18" name="文本框 17"/>
          <p:cNvSpPr txBox="1"/>
          <p:nvPr/>
        </p:nvSpPr>
        <p:spPr>
          <a:xfrm>
            <a:off x="757361" y="5365048"/>
            <a:ext cx="7705832" cy="784830"/>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根据缩放公式</a:t>
            </a:r>
            <a:r>
              <a:rPr lang="en-US" altLang="zh-CN" kern="100" dirty="0">
                <a:effectLst/>
                <a:latin typeface="Times New Roman" panose="02020603050405020304" pitchFamily="18" charset="0"/>
                <a:ea typeface="宋体" pitchFamily="2" charset="-122"/>
              </a:rPr>
              <a:t> (4-8)</a:t>
            </a:r>
            <a:r>
              <a:rPr lang="zh-CN" altLang="zh-CN" kern="100" dirty="0">
                <a:effectLst/>
                <a:latin typeface="Times New Roman" panose="02020603050405020304" pitchFamily="18" charset="0"/>
                <a:ea typeface="宋体" pitchFamily="2" charset="-122"/>
                <a:cs typeface="Times New Roman" panose="02020603050405020304" pitchFamily="18" charset="0"/>
              </a:rPr>
              <a:t>计算得到的目标图像中，某些映射源坐标可能不是整数，从而找不到对应的像素位置。</a:t>
            </a:r>
            <a:endParaRPr lang="zh-CN" altLang="en-US" dirty="0"/>
          </a:p>
        </p:txBody>
      </p:sp>
    </p:spTree>
  </p:cSld>
  <p:clrMapOvr>
    <a:masterClrMapping/>
  </p:clrMapOvr>
  <p:transition spd="slow" advClick="0" advTm="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4.3.2  </a:t>
            </a:r>
            <a:r>
              <a:rPr lang="zh-CN" altLang="en-US" sz="2100" b="1" dirty="0">
                <a:solidFill>
                  <a:schemeClr val="tx1">
                    <a:lumMod val="75000"/>
                    <a:lumOff val="25000"/>
                  </a:schemeClr>
                </a:solidFill>
                <a:latin typeface="微软雅黑" panose="020B0503020204020204" pitchFamily="34" charset="-122"/>
              </a:rPr>
              <a:t>图像缩放的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5" name="文本框 14"/>
          <p:cNvSpPr txBox="1"/>
          <p:nvPr/>
        </p:nvSpPr>
        <p:spPr>
          <a:xfrm>
            <a:off x="468338" y="1150099"/>
            <a:ext cx="8208912" cy="738664"/>
          </a:xfrm>
          <a:prstGeom prst="rect">
            <a:avLst/>
          </a:prstGeom>
          <a:noFill/>
        </p:spPr>
        <p:txBody>
          <a:bodyPr wrap="square">
            <a:spAutoFit/>
          </a:bodyPr>
          <a:lstStyle/>
          <a:p>
            <a:r>
              <a:rPr lang="zh-CN" altLang="en-US" kern="100" dirty="0">
                <a:latin typeface="Times New Roman" panose="02020603050405020304" pitchFamily="18" charset="0"/>
              </a:rPr>
              <a:t>        对于输入的原始图像，我们使用</a:t>
            </a:r>
            <a:r>
              <a:rPr lang="en-US" altLang="zh-CN" kern="100" dirty="0">
                <a:latin typeface="Times New Roman" panose="02020603050405020304" pitchFamily="18" charset="0"/>
              </a:rPr>
              <a:t>OpenCV</a:t>
            </a:r>
            <a:r>
              <a:rPr lang="zh-CN" altLang="en-US" kern="100" dirty="0">
                <a:latin typeface="Times New Roman" panose="02020603050405020304" pitchFamily="18" charset="0"/>
              </a:rPr>
              <a:t>提供的</a:t>
            </a:r>
            <a:r>
              <a:rPr lang="en-US" altLang="zh-CN" kern="100" dirty="0">
                <a:latin typeface="Times New Roman" panose="02020603050405020304" pitchFamily="18" charset="0"/>
              </a:rPr>
              <a:t>cv2.resize()</a:t>
            </a:r>
            <a:r>
              <a:rPr lang="zh-CN" altLang="en-US" kern="100" dirty="0">
                <a:latin typeface="Times New Roman" panose="02020603050405020304" pitchFamily="18" charset="0"/>
              </a:rPr>
              <a:t>函数对图像进行缩放。</a:t>
            </a:r>
            <a:r>
              <a:rPr lang="en-US" altLang="zh-CN" kern="100" dirty="0">
                <a:latin typeface="Times New Roman" panose="02020603050405020304" pitchFamily="18" charset="0"/>
              </a:rPr>
              <a:t>cv2.resize()</a:t>
            </a:r>
            <a:r>
              <a:rPr lang="zh-CN" altLang="en-US" kern="100" dirty="0">
                <a:latin typeface="Times New Roman" panose="02020603050405020304" pitchFamily="18" charset="0"/>
              </a:rPr>
              <a:t>函数的调用语法为：</a:t>
            </a:r>
            <a:endParaRPr lang="zh-CN" altLang="en-US" dirty="0"/>
          </a:p>
        </p:txBody>
      </p:sp>
      <p:sp>
        <p:nvSpPr>
          <p:cNvPr id="13" name="文本框 12"/>
          <p:cNvSpPr txBox="1"/>
          <p:nvPr/>
        </p:nvSpPr>
        <p:spPr>
          <a:xfrm>
            <a:off x="155436" y="1835371"/>
            <a:ext cx="7894236" cy="41549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dst1=cv2.resize(</a:t>
            </a:r>
            <a:r>
              <a:rPr lang="en-US" altLang="zh-CN" kern="100" dirty="0" err="1">
                <a:effectLst/>
                <a:latin typeface="Times New Roman" panose="02020603050405020304" pitchFamily="18" charset="0"/>
                <a:ea typeface="宋体" pitchFamily="2" charset="-122"/>
              </a:rPr>
              <a:t>src</a:t>
            </a:r>
            <a:r>
              <a:rPr lang="en-US" altLang="zh-CN" kern="100" dirty="0">
                <a:effectLst/>
                <a:latin typeface="Times New Roman" panose="02020603050405020304" pitchFamily="18" charset="0"/>
                <a:ea typeface="宋体" pitchFamily="2" charset="-122"/>
              </a:rPr>
              <a:t>, </a:t>
            </a:r>
            <a:r>
              <a:rPr lang="en-US" altLang="zh-CN" kern="100" dirty="0" err="1">
                <a:effectLst/>
                <a:latin typeface="Times New Roman" panose="02020603050405020304" pitchFamily="18" charset="0"/>
                <a:ea typeface="宋体" pitchFamily="2" charset="-122"/>
              </a:rPr>
              <a:t>dsize</a:t>
            </a:r>
            <a:r>
              <a:rPr lang="en-US" altLang="zh-CN" kern="100" dirty="0">
                <a:effectLst/>
                <a:latin typeface="Times New Roman" panose="02020603050405020304" pitchFamily="18" charset="0"/>
                <a:ea typeface="宋体" pitchFamily="2" charset="-122"/>
              </a:rPr>
              <a:t>, </a:t>
            </a:r>
            <a:r>
              <a:rPr lang="en-US" altLang="zh-CN" kern="100" dirty="0" err="1">
                <a:effectLst/>
                <a:latin typeface="Times New Roman" panose="02020603050405020304" pitchFamily="18" charset="0"/>
                <a:ea typeface="宋体" pitchFamily="2" charset="-122"/>
              </a:rPr>
              <a:t>dst</a:t>
            </a:r>
            <a:r>
              <a:rPr lang="en-US" altLang="zh-CN" kern="100" dirty="0">
                <a:effectLst/>
                <a:latin typeface="Times New Roman" panose="02020603050405020304" pitchFamily="18" charset="0"/>
                <a:ea typeface="宋体" pitchFamily="2" charset="-122"/>
              </a:rPr>
              <a:t>=None, </a:t>
            </a:r>
            <a:r>
              <a:rPr lang="en-US" altLang="zh-CN" kern="100" dirty="0" err="1">
                <a:effectLst/>
                <a:latin typeface="Times New Roman" panose="02020603050405020304" pitchFamily="18" charset="0"/>
                <a:ea typeface="宋体" pitchFamily="2" charset="-122"/>
              </a:rPr>
              <a:t>fx</a:t>
            </a:r>
            <a:r>
              <a:rPr lang="en-US" altLang="zh-CN" kern="100" dirty="0">
                <a:effectLst/>
                <a:latin typeface="Times New Roman" panose="02020603050405020304" pitchFamily="18" charset="0"/>
                <a:ea typeface="宋体" pitchFamily="2" charset="-122"/>
              </a:rPr>
              <a:t>, </a:t>
            </a:r>
            <a:r>
              <a:rPr lang="en-US" altLang="zh-CN" kern="100" dirty="0" err="1">
                <a:effectLst/>
                <a:latin typeface="Times New Roman" panose="02020603050405020304" pitchFamily="18" charset="0"/>
                <a:ea typeface="宋体" pitchFamily="2" charset="-122"/>
              </a:rPr>
              <a:t>fy</a:t>
            </a:r>
            <a:r>
              <a:rPr lang="en-US" altLang="zh-CN" kern="100" dirty="0">
                <a:effectLst/>
                <a:latin typeface="Times New Roman" panose="02020603050405020304" pitchFamily="18" charset="0"/>
                <a:ea typeface="宋体" pitchFamily="2" charset="-122"/>
              </a:rPr>
              <a:t>, interpolation)</a:t>
            </a:r>
            <a:endParaRPr lang="zh-CN" altLang="zh-CN" kern="100" dirty="0">
              <a:effectLst/>
              <a:latin typeface="Times New Roman" panose="02020603050405020304" pitchFamily="18" charset="0"/>
              <a:ea typeface="宋体" pitchFamily="2" charset="-122"/>
            </a:endParaRPr>
          </a:p>
        </p:txBody>
      </p:sp>
      <p:sp>
        <p:nvSpPr>
          <p:cNvPr id="14" name="文本框 13"/>
          <p:cNvSpPr txBox="1"/>
          <p:nvPr/>
        </p:nvSpPr>
        <p:spPr>
          <a:xfrm>
            <a:off x="155436" y="2250869"/>
            <a:ext cx="4589754" cy="415498"/>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参数说明：</a:t>
            </a:r>
          </a:p>
        </p:txBody>
      </p:sp>
      <p:sp>
        <p:nvSpPr>
          <p:cNvPr id="16" name="文本框 15"/>
          <p:cNvSpPr txBox="1"/>
          <p:nvPr/>
        </p:nvSpPr>
        <p:spPr>
          <a:xfrm>
            <a:off x="468338" y="2666367"/>
            <a:ext cx="8064896" cy="3970318"/>
          </a:xfrm>
          <a:prstGeom prst="rect">
            <a:avLst/>
          </a:prstGeom>
          <a:noFill/>
        </p:spPr>
        <p:txBody>
          <a:bodyPr wrap="square">
            <a:spAutoFit/>
          </a:bodyPr>
          <a:lstStyle/>
          <a:p>
            <a:pPr marL="342900" lvl="0" indent="-342900" algn="just">
              <a:buFont typeface="Wingdings" panose="05000000000000000000" pitchFamily="2" charset="2"/>
              <a:buChar char=""/>
            </a:pPr>
            <a:r>
              <a:rPr lang="en-US" altLang="zh-CN" sz="1800" kern="100" dirty="0">
                <a:solidFill>
                  <a:srgbClr val="000000"/>
                </a:solidFill>
                <a:effectLst/>
                <a:latin typeface="Times New Roman" panose="02020603050405020304" pitchFamily="18" charset="0"/>
                <a:ea typeface="宋体" pitchFamily="2" charset="-122"/>
              </a:rPr>
              <a:t>dst1</a:t>
            </a:r>
            <a:r>
              <a:rPr lang="zh-CN" altLang="zh-CN" sz="1800" kern="100" dirty="0">
                <a:solidFill>
                  <a:srgbClr val="000000"/>
                </a:solidFill>
                <a:effectLst/>
                <a:latin typeface="Times New Roman" panose="02020603050405020304" pitchFamily="18" charset="0"/>
                <a:ea typeface="宋体" pitchFamily="2" charset="-122"/>
              </a:rPr>
              <a:t>：表示输出的缩放图像。</a:t>
            </a:r>
            <a:r>
              <a:rPr lang="zh-CN" altLang="zh-CN" sz="1800" kern="100" dirty="0">
                <a:effectLst/>
                <a:latin typeface="Times New Roman" panose="02020603050405020304" pitchFamily="18" charset="0"/>
                <a:ea typeface="宋体" pitchFamily="2" charset="-122"/>
              </a:rPr>
              <a:t>输出图像类型和输入图像类型相同。</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src</a:t>
            </a:r>
            <a:r>
              <a:rPr lang="zh-CN" altLang="zh-CN" sz="1800" kern="100" dirty="0">
                <a:effectLst/>
                <a:latin typeface="Times New Roman" panose="02020603050405020304" pitchFamily="18" charset="0"/>
                <a:ea typeface="宋体" pitchFamily="2" charset="-122"/>
              </a:rPr>
              <a:t>：表示输入的原始图像。</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dsize</a:t>
            </a:r>
            <a:r>
              <a:rPr lang="zh-CN" altLang="zh-CN" sz="1800" kern="100" dirty="0">
                <a:effectLst/>
                <a:latin typeface="Times New Roman" panose="02020603050405020304" pitchFamily="18" charset="0"/>
                <a:ea typeface="宋体" pitchFamily="2" charset="-122"/>
              </a:rPr>
              <a:t>：表示目标图像的大小，默认值为</a:t>
            </a:r>
            <a:r>
              <a:rPr lang="en-US" altLang="zh-CN" sz="1800" kern="100" dirty="0">
                <a:effectLst/>
                <a:latin typeface="Times New Roman" panose="02020603050405020304" pitchFamily="18" charset="0"/>
                <a:ea typeface="宋体" pitchFamily="2" charset="-122"/>
              </a:rPr>
              <a:t>None</a:t>
            </a:r>
            <a:r>
              <a:rPr lang="zh-CN" altLang="zh-CN" sz="1800" kern="100" dirty="0">
                <a:effectLst/>
                <a:latin typeface="Times New Roman" panose="02020603050405020304" pitchFamily="18" charset="0"/>
                <a:ea typeface="宋体" pitchFamily="2" charset="-122"/>
              </a:rPr>
              <a:t>或</a:t>
            </a:r>
            <a:r>
              <a:rPr lang="en-US" altLang="zh-CN" sz="1800" kern="100" dirty="0">
                <a:effectLst/>
                <a:latin typeface="Times New Roman" panose="02020603050405020304" pitchFamily="18" charset="0"/>
                <a:ea typeface="宋体" pitchFamily="2" charset="-122"/>
              </a:rPr>
              <a:t>(0,0)</a:t>
            </a:r>
            <a:r>
              <a:rPr lang="zh-CN" altLang="zh-CN" sz="1800" kern="100" dirty="0">
                <a:effectLst/>
                <a:latin typeface="Times New Roman" panose="02020603050405020304" pitchFamily="18" charset="0"/>
                <a:ea typeface="宋体" pitchFamily="2" charset="-122"/>
              </a:rPr>
              <a:t>。当</a:t>
            </a:r>
            <a:r>
              <a:rPr lang="en-US" altLang="zh-CN" sz="1800" kern="100" dirty="0" err="1">
                <a:effectLst/>
                <a:latin typeface="Times New Roman" panose="02020603050405020304" pitchFamily="18" charset="0"/>
                <a:ea typeface="宋体" pitchFamily="2" charset="-122"/>
              </a:rPr>
              <a:t>dsize</a:t>
            </a:r>
            <a:r>
              <a:rPr lang="zh-CN" altLang="zh-CN" sz="1800" kern="100" dirty="0">
                <a:effectLst/>
                <a:latin typeface="Times New Roman" panose="02020603050405020304" pitchFamily="18" charset="0"/>
                <a:ea typeface="宋体" pitchFamily="2" charset="-122"/>
              </a:rPr>
              <a:t>不为</a:t>
            </a:r>
            <a:r>
              <a:rPr lang="en-US" altLang="zh-CN" sz="1800" kern="100" dirty="0">
                <a:effectLst/>
                <a:latin typeface="Times New Roman" panose="02020603050405020304" pitchFamily="18" charset="0"/>
                <a:ea typeface="宋体" pitchFamily="2" charset="-122"/>
              </a:rPr>
              <a:t>None</a:t>
            </a:r>
            <a:r>
              <a:rPr lang="zh-CN" altLang="zh-CN" sz="1800" kern="100" dirty="0">
                <a:effectLst/>
                <a:latin typeface="Times New Roman" panose="02020603050405020304" pitchFamily="18" charset="0"/>
                <a:ea typeface="宋体" pitchFamily="2" charset="-122"/>
              </a:rPr>
              <a:t>时，输出图像的大小为</a:t>
            </a:r>
            <a:r>
              <a:rPr lang="en-US" altLang="zh-CN" sz="1800" kern="100" dirty="0" err="1">
                <a:effectLst/>
                <a:latin typeface="Times New Roman" panose="02020603050405020304" pitchFamily="18" charset="0"/>
                <a:ea typeface="宋体" pitchFamily="2" charset="-122"/>
              </a:rPr>
              <a:t>dsize</a:t>
            </a:r>
            <a:r>
              <a:rPr lang="zh-CN" altLang="zh-CN" sz="1800" kern="100" dirty="0">
                <a:effectLst/>
                <a:latin typeface="Times New Roman" panose="02020603050405020304" pitchFamily="18" charset="0"/>
                <a:ea typeface="宋体" pitchFamily="2" charset="-122"/>
              </a:rPr>
              <a:t>；否则，输出图像的大小需要根据输入图像的大小和参数</a:t>
            </a:r>
            <a:r>
              <a:rPr lang="en-US" altLang="zh-CN" sz="1800" kern="100" dirty="0" err="1">
                <a:effectLst/>
                <a:latin typeface="Times New Roman" panose="02020603050405020304" pitchFamily="18" charset="0"/>
                <a:ea typeface="宋体" pitchFamily="2" charset="-122"/>
              </a:rPr>
              <a:t>fx</a:t>
            </a:r>
            <a:r>
              <a:rPr lang="zh-CN"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fy</a:t>
            </a:r>
            <a:r>
              <a:rPr lang="zh-CN" altLang="zh-CN" sz="1800" kern="100" dirty="0">
                <a:effectLst/>
                <a:latin typeface="Times New Roman" panose="02020603050405020304" pitchFamily="18" charset="0"/>
                <a:ea typeface="宋体" pitchFamily="2" charset="-122"/>
              </a:rPr>
              <a:t>的值来决定。</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dst</a:t>
            </a:r>
            <a:r>
              <a:rPr lang="zh-CN" altLang="zh-CN" sz="1800" kern="100" dirty="0">
                <a:effectLst/>
                <a:latin typeface="Times New Roman" panose="02020603050405020304" pitchFamily="18" charset="0"/>
                <a:ea typeface="宋体" pitchFamily="2" charset="-122"/>
              </a:rPr>
              <a:t>：表示目标图像，默认值为</a:t>
            </a:r>
            <a:r>
              <a:rPr lang="en-US" altLang="zh-CN" sz="1800" kern="100" dirty="0">
                <a:effectLst/>
                <a:latin typeface="Times New Roman" panose="02020603050405020304" pitchFamily="18" charset="0"/>
                <a:ea typeface="宋体" pitchFamily="2" charset="-122"/>
              </a:rPr>
              <a:t>None</a:t>
            </a:r>
            <a:r>
              <a:rPr lang="zh-CN" altLang="zh-CN" sz="18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fx</a:t>
            </a:r>
            <a:r>
              <a:rPr lang="zh-CN" altLang="zh-CN" sz="1800" kern="100" dirty="0">
                <a:effectLst/>
                <a:latin typeface="Times New Roman" panose="02020603050405020304" pitchFamily="18" charset="0"/>
                <a:ea typeface="宋体" pitchFamily="2" charset="-122"/>
              </a:rPr>
              <a:t>：表示水平轴上的比例因子。</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fy</a:t>
            </a:r>
            <a:r>
              <a:rPr lang="zh-CN" altLang="zh-CN" sz="1800" kern="100" dirty="0">
                <a:effectLst/>
                <a:latin typeface="Times New Roman" panose="02020603050405020304" pitchFamily="18" charset="0"/>
                <a:ea typeface="宋体" pitchFamily="2" charset="-122"/>
              </a:rPr>
              <a:t>：表示垂直轴上的比例因子。</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Interpolation</a:t>
            </a:r>
            <a:r>
              <a:rPr lang="zh-CN" altLang="zh-CN" sz="1800" kern="100" dirty="0">
                <a:effectLst/>
                <a:latin typeface="Times New Roman" panose="02020603050405020304" pitchFamily="18" charset="0"/>
                <a:ea typeface="宋体" pitchFamily="2" charset="-122"/>
              </a:rPr>
              <a:t>：表示插值方法。共有</a:t>
            </a:r>
            <a:r>
              <a:rPr lang="en-US" altLang="zh-CN" sz="1800" kern="100" dirty="0">
                <a:effectLst/>
                <a:latin typeface="Times New Roman" panose="02020603050405020304" pitchFamily="18" charset="0"/>
                <a:ea typeface="宋体" pitchFamily="2" charset="-122"/>
              </a:rPr>
              <a:t>5</a:t>
            </a:r>
            <a:r>
              <a:rPr lang="zh-CN" altLang="zh-CN" sz="1800" kern="100" dirty="0">
                <a:effectLst/>
                <a:latin typeface="Times New Roman" panose="02020603050405020304" pitchFamily="18" charset="0"/>
                <a:ea typeface="宋体" pitchFamily="2" charset="-122"/>
              </a:rPr>
              <a:t>种插值方法，</a:t>
            </a:r>
            <a:r>
              <a:rPr lang="en-US" altLang="zh-CN" sz="1800" kern="100" dirty="0">
                <a:effectLst/>
                <a:latin typeface="Times New Roman" panose="02020603050405020304" pitchFamily="18" charset="0"/>
                <a:ea typeface="宋体" pitchFamily="2" charset="-122"/>
              </a:rPr>
              <a:t>INTER_NEAREST</a:t>
            </a:r>
            <a:r>
              <a:rPr lang="zh-CN" altLang="zh-CN" sz="1800" kern="100" dirty="0">
                <a:effectLst/>
                <a:latin typeface="Times New Roman" panose="02020603050405020304" pitchFamily="18" charset="0"/>
                <a:ea typeface="宋体" pitchFamily="2" charset="-122"/>
              </a:rPr>
              <a:t>表示最近邻插值法。</a:t>
            </a:r>
            <a:r>
              <a:rPr lang="en-US" altLang="zh-CN" sz="1800" kern="100" dirty="0">
                <a:effectLst/>
                <a:latin typeface="Times New Roman" panose="02020603050405020304" pitchFamily="18" charset="0"/>
                <a:ea typeface="宋体" pitchFamily="2" charset="-122"/>
              </a:rPr>
              <a:t>INTER_LINEAR</a:t>
            </a:r>
            <a:r>
              <a:rPr lang="zh-CN" altLang="zh-CN" sz="1800" kern="100" dirty="0">
                <a:effectLst/>
                <a:latin typeface="Times New Roman" panose="02020603050405020304" pitchFamily="18" charset="0"/>
                <a:ea typeface="宋体" pitchFamily="2" charset="-122"/>
              </a:rPr>
              <a:t>表示双线性插值法</a:t>
            </a:r>
            <a:r>
              <a:rPr lang="en-US" altLang="zh-CN" sz="1800" kern="100" dirty="0">
                <a:effectLst/>
                <a:latin typeface="Times New Roman" panose="02020603050405020304" pitchFamily="18" charset="0"/>
                <a:ea typeface="宋体" pitchFamily="2" charset="-122"/>
              </a:rPr>
              <a:t>(</a:t>
            </a:r>
            <a:r>
              <a:rPr lang="zh-CN" altLang="zh-CN" sz="1800" kern="100" dirty="0">
                <a:effectLst/>
                <a:latin typeface="Times New Roman" panose="02020603050405020304" pitchFamily="18" charset="0"/>
                <a:ea typeface="宋体" pitchFamily="2" charset="-122"/>
              </a:rPr>
              <a:t>默认</a:t>
            </a:r>
            <a:r>
              <a:rPr lang="en-US" altLang="zh-CN" sz="1800" kern="100" dirty="0">
                <a:effectLst/>
                <a:latin typeface="Times New Roman" panose="02020603050405020304" pitchFamily="18" charset="0"/>
                <a:ea typeface="宋体" pitchFamily="2" charset="-122"/>
              </a:rPr>
              <a:t>)</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INTER_AREA</a:t>
            </a:r>
            <a:r>
              <a:rPr lang="zh-CN" altLang="zh-CN" sz="1800" kern="100" dirty="0">
                <a:effectLst/>
                <a:latin typeface="Times New Roman" panose="02020603050405020304" pitchFamily="18" charset="0"/>
                <a:ea typeface="宋体" pitchFamily="2" charset="-122"/>
              </a:rPr>
              <a:t>表示</a:t>
            </a:r>
            <a:r>
              <a:rPr lang="zh-CN" altLang="zh-CN" sz="1800" kern="100" dirty="0">
                <a:solidFill>
                  <a:srgbClr val="000000"/>
                </a:solidFill>
                <a:effectLst/>
                <a:latin typeface="Times New Roman" panose="02020603050405020304" pitchFamily="18" charset="0"/>
                <a:ea typeface="宋体" pitchFamily="2" charset="-122"/>
              </a:rPr>
              <a:t>基于局部像素的重采样，如果是缩小图像，此插值法可能是一个更好的方法，但如果是放大图像，它与最近邻插值法的效果类似。</a:t>
            </a:r>
            <a:r>
              <a:rPr lang="en-US" altLang="zh-CN" sz="1800" kern="100" dirty="0">
                <a:effectLst/>
                <a:latin typeface="Times New Roman" panose="02020603050405020304" pitchFamily="18" charset="0"/>
                <a:ea typeface="宋体" pitchFamily="2" charset="-122"/>
              </a:rPr>
              <a:t>INTER_CUBIC</a:t>
            </a:r>
            <a:r>
              <a:rPr lang="zh-CN" altLang="zh-CN" sz="1800" kern="100" dirty="0">
                <a:effectLst/>
                <a:latin typeface="Times New Roman" panose="02020603050405020304" pitchFamily="18" charset="0"/>
                <a:ea typeface="宋体" pitchFamily="2" charset="-122"/>
              </a:rPr>
              <a:t>表示基于</a:t>
            </a:r>
            <a:r>
              <a:rPr lang="en-US" altLang="zh-CN" sz="1800" kern="100" dirty="0">
                <a:effectLst/>
                <a:latin typeface="Times New Roman" panose="02020603050405020304" pitchFamily="18" charset="0"/>
                <a:ea typeface="宋体" pitchFamily="2" charset="-122"/>
              </a:rPr>
              <a:t>4×4</a:t>
            </a:r>
            <a:r>
              <a:rPr lang="zh-CN" altLang="zh-CN" sz="1800" kern="100" dirty="0">
                <a:solidFill>
                  <a:srgbClr val="000000"/>
                </a:solidFill>
                <a:effectLst/>
                <a:latin typeface="Times New Roman" panose="02020603050405020304" pitchFamily="18" charset="0"/>
                <a:ea typeface="宋体" pitchFamily="2" charset="-122"/>
              </a:rPr>
              <a:t>像素邻域的</a:t>
            </a:r>
            <a:r>
              <a:rPr lang="zh-CN" altLang="zh-CN" sz="1800" kern="100" dirty="0">
                <a:effectLst/>
                <a:latin typeface="Times New Roman" panose="02020603050405020304" pitchFamily="18" charset="0"/>
                <a:ea typeface="宋体" pitchFamily="2" charset="-122"/>
              </a:rPr>
              <a:t>双三次插值法。</a:t>
            </a:r>
            <a:r>
              <a:rPr lang="en-US" altLang="zh-CN" sz="1800" kern="100" dirty="0">
                <a:effectLst/>
                <a:latin typeface="Times New Roman" panose="02020603050405020304" pitchFamily="18" charset="0"/>
                <a:ea typeface="宋体" pitchFamily="2" charset="-122"/>
              </a:rPr>
              <a:t>INTER_LANCZOS4</a:t>
            </a:r>
            <a:r>
              <a:rPr lang="zh-CN" altLang="zh-CN" sz="1800" kern="100" dirty="0">
                <a:effectLst/>
                <a:latin typeface="Times New Roman" panose="02020603050405020304" pitchFamily="18" charset="0"/>
                <a:ea typeface="宋体" pitchFamily="2" charset="-122"/>
              </a:rPr>
              <a:t>表示基于</a:t>
            </a:r>
            <a:r>
              <a:rPr lang="en-US" altLang="zh-CN" sz="1800" kern="100" dirty="0">
                <a:effectLst/>
                <a:latin typeface="Times New Roman" panose="02020603050405020304" pitchFamily="18" charset="0"/>
                <a:ea typeface="宋体" pitchFamily="2" charset="-122"/>
              </a:rPr>
              <a:t>8×8</a:t>
            </a:r>
            <a:r>
              <a:rPr lang="zh-CN" altLang="zh-CN" sz="1800" kern="100" dirty="0">
                <a:solidFill>
                  <a:srgbClr val="000000"/>
                </a:solidFill>
                <a:effectLst/>
                <a:latin typeface="Times New Roman" panose="02020603050405020304" pitchFamily="18" charset="0"/>
                <a:ea typeface="宋体" pitchFamily="2" charset="-122"/>
              </a:rPr>
              <a:t>像素邻域的</a:t>
            </a:r>
            <a:r>
              <a:rPr lang="en-US" altLang="zh-CN" sz="1800" kern="100" dirty="0" err="1">
                <a:solidFill>
                  <a:srgbClr val="000000"/>
                </a:solidFill>
                <a:effectLst/>
                <a:latin typeface="Times New Roman" panose="02020603050405020304" pitchFamily="18" charset="0"/>
                <a:ea typeface="宋体" pitchFamily="2" charset="-122"/>
              </a:rPr>
              <a:t>Lanczos</a:t>
            </a:r>
            <a:r>
              <a:rPr lang="zh-CN" altLang="zh-CN" sz="1800" kern="100" dirty="0">
                <a:solidFill>
                  <a:srgbClr val="000000"/>
                </a:solidFill>
                <a:effectLst/>
                <a:latin typeface="Times New Roman" panose="02020603050405020304" pitchFamily="18" charset="0"/>
                <a:ea typeface="宋体" pitchFamily="2" charset="-122"/>
              </a:rPr>
              <a:t>插值</a:t>
            </a:r>
            <a:r>
              <a:rPr lang="zh-CN" altLang="zh-CN" sz="1800" kern="100" dirty="0">
                <a:effectLst/>
                <a:latin typeface="Times New Roman" panose="02020603050405020304" pitchFamily="18" charset="0"/>
                <a:ea typeface="宋体" pitchFamily="2" charset="-122"/>
              </a:rPr>
              <a:t>。</a:t>
            </a:r>
          </a:p>
        </p:txBody>
      </p:sp>
    </p:spTree>
  </p:cSld>
  <p:clrMapOvr>
    <a:masterClrMapping/>
  </p:clrMapOvr>
  <p:transition spd="slow" advClick="0" advTm="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4.3.2  </a:t>
            </a:r>
            <a:r>
              <a:rPr lang="zh-CN" altLang="en-US" sz="2100" b="1" dirty="0">
                <a:solidFill>
                  <a:schemeClr val="tx1">
                    <a:lumMod val="75000"/>
                    <a:lumOff val="25000"/>
                  </a:schemeClr>
                </a:solidFill>
                <a:latin typeface="微软雅黑" panose="020B0503020204020204" pitchFamily="34" charset="-122"/>
              </a:rPr>
              <a:t>图像缩放的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4" name="文本框 13"/>
          <p:cNvSpPr txBox="1"/>
          <p:nvPr/>
        </p:nvSpPr>
        <p:spPr>
          <a:xfrm>
            <a:off x="252314" y="1118672"/>
            <a:ext cx="4589754" cy="461665"/>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上述程序运行结果如图</a:t>
            </a:r>
            <a:r>
              <a:rPr lang="en-US" altLang="zh-CN" kern="100" dirty="0">
                <a:effectLst/>
                <a:latin typeface="Times New Roman" panose="02020603050405020304" pitchFamily="18" charset="0"/>
                <a:ea typeface="宋体" pitchFamily="2" charset="-122"/>
              </a:rPr>
              <a:t>4.6</a:t>
            </a:r>
            <a:r>
              <a:rPr lang="zh-CN" altLang="zh-CN" kern="100" dirty="0">
                <a:effectLst/>
                <a:latin typeface="Times New Roman" panose="02020603050405020304" pitchFamily="18" charset="0"/>
                <a:ea typeface="宋体" pitchFamily="2" charset="-122"/>
              </a:rPr>
              <a:t>所示</a:t>
            </a:r>
            <a:r>
              <a:rPr lang="zh-CN" altLang="zh-CN" sz="2400" kern="100" dirty="0">
                <a:effectLst/>
                <a:latin typeface="Times New Roman" panose="02020603050405020304" pitchFamily="18" charset="0"/>
                <a:ea typeface="宋体" pitchFamily="2" charset="-122"/>
              </a:rPr>
              <a:t>：</a:t>
            </a:r>
          </a:p>
        </p:txBody>
      </p:sp>
      <p:pic>
        <p:nvPicPr>
          <p:cNvPr id="16" name="图片 15"/>
          <p:cNvPicPr>
            <a:picLocks noChangeAspect="1"/>
          </p:cNvPicPr>
          <p:nvPr/>
        </p:nvPicPr>
        <p:blipFill>
          <a:blip r:embed="rId3"/>
          <a:srcRect l="949" t="1968" r="1426" b="3289"/>
          <a:stretch>
            <a:fillRect/>
          </a:stretch>
        </p:blipFill>
        <p:spPr>
          <a:xfrm>
            <a:off x="3132634" y="1582655"/>
            <a:ext cx="2232248" cy="2209552"/>
          </a:xfrm>
          <a:prstGeom prst="rect">
            <a:avLst/>
          </a:prstGeom>
          <a:ln>
            <a:noFill/>
          </a:ln>
        </p:spPr>
      </p:pic>
      <p:sp>
        <p:nvSpPr>
          <p:cNvPr id="17" name="文本框 16"/>
          <p:cNvSpPr txBox="1"/>
          <p:nvPr/>
        </p:nvSpPr>
        <p:spPr>
          <a:xfrm>
            <a:off x="1764482" y="3792207"/>
            <a:ext cx="4589754"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(a) </a:t>
            </a:r>
            <a:r>
              <a:rPr lang="zh-CN" altLang="zh-CN" sz="1600" b="1" dirty="0">
                <a:solidFill>
                  <a:srgbClr val="000000"/>
                </a:solidFill>
                <a:latin typeface="黑体" panose="02010609060101010101" pitchFamily="49" charset="-122"/>
                <a:ea typeface="黑体" panose="02010609060101010101" pitchFamily="49" charset="-122"/>
              </a:rPr>
              <a:t>原始图像</a:t>
            </a:r>
          </a:p>
        </p:txBody>
      </p:sp>
      <p:pic>
        <p:nvPicPr>
          <p:cNvPr id="19" name="图片 18"/>
          <p:cNvPicPr>
            <a:picLocks noChangeAspect="1"/>
          </p:cNvPicPr>
          <p:nvPr/>
        </p:nvPicPr>
        <p:blipFill>
          <a:blip r:embed="rId4">
            <a:extLst>
              <a:ext uri="{28A0092B-C50C-407E-A947-70E740481C1C}">
                <a14:useLocalDpi xmlns:a14="http://schemas.microsoft.com/office/drawing/2010/main" val="0"/>
              </a:ext>
            </a:extLst>
          </a:blip>
          <a:srcRect l="1975" t="12343" r="1301" b="2040"/>
          <a:stretch>
            <a:fillRect/>
          </a:stretch>
        </p:blipFill>
        <p:spPr>
          <a:xfrm>
            <a:off x="774779" y="4067111"/>
            <a:ext cx="2303780" cy="2278380"/>
          </a:xfrm>
          <a:prstGeom prst="rect">
            <a:avLst/>
          </a:prstGeom>
          <a:noFill/>
          <a:ln>
            <a:noFill/>
          </a:ln>
        </p:spPr>
      </p:pic>
      <p:pic>
        <p:nvPicPr>
          <p:cNvPr id="20" name="图片 19"/>
          <p:cNvPicPr>
            <a:picLocks noChangeAspect="1"/>
          </p:cNvPicPr>
          <p:nvPr/>
        </p:nvPicPr>
        <p:blipFill>
          <a:blip r:embed="rId5">
            <a:extLst>
              <a:ext uri="{28A0092B-C50C-407E-A947-70E740481C1C}">
                <a14:useLocalDpi xmlns:a14="http://schemas.microsoft.com/office/drawing/2010/main" val="0"/>
              </a:ext>
            </a:extLst>
          </a:blip>
          <a:srcRect l="3134" t="12645" r="2672" b="2998"/>
          <a:stretch>
            <a:fillRect/>
          </a:stretch>
        </p:blipFill>
        <p:spPr>
          <a:xfrm>
            <a:off x="5580906" y="4047328"/>
            <a:ext cx="2303780" cy="2292985"/>
          </a:xfrm>
          <a:prstGeom prst="rect">
            <a:avLst/>
          </a:prstGeom>
          <a:noFill/>
          <a:ln>
            <a:noFill/>
          </a:ln>
        </p:spPr>
      </p:pic>
      <p:sp>
        <p:nvSpPr>
          <p:cNvPr id="21" name="文本框 20"/>
          <p:cNvSpPr txBox="1"/>
          <p:nvPr/>
        </p:nvSpPr>
        <p:spPr>
          <a:xfrm>
            <a:off x="-539470" y="6448258"/>
            <a:ext cx="4589754"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(b) </a:t>
            </a:r>
            <a:r>
              <a:rPr lang="zh-CN" altLang="en-US" sz="1600" b="1" dirty="0">
                <a:solidFill>
                  <a:srgbClr val="000000"/>
                </a:solidFill>
                <a:latin typeface="黑体" panose="02010609060101010101" pitchFamily="49" charset="-122"/>
                <a:ea typeface="黑体" panose="02010609060101010101" pitchFamily="49" charset="-122"/>
              </a:rPr>
              <a:t>最近邻插值法放大图片</a:t>
            </a:r>
            <a:endParaRPr lang="zh-CN" altLang="zh-CN" sz="1600" b="1" dirty="0">
              <a:solidFill>
                <a:srgbClr val="000000"/>
              </a:solidFill>
              <a:latin typeface="黑体" panose="02010609060101010101" pitchFamily="49" charset="-122"/>
              <a:ea typeface="黑体" panose="02010609060101010101" pitchFamily="49" charset="-122"/>
            </a:endParaRPr>
          </a:p>
        </p:txBody>
      </p:sp>
      <p:sp>
        <p:nvSpPr>
          <p:cNvPr id="22" name="文本框 21"/>
          <p:cNvSpPr txBox="1"/>
          <p:nvPr/>
        </p:nvSpPr>
        <p:spPr>
          <a:xfrm>
            <a:off x="4356770" y="6460205"/>
            <a:ext cx="4589754"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(c) </a:t>
            </a:r>
            <a:r>
              <a:rPr lang="zh-CN" altLang="en-US" sz="1600" b="1" dirty="0">
                <a:solidFill>
                  <a:srgbClr val="000000"/>
                </a:solidFill>
                <a:latin typeface="黑体" panose="02010609060101010101" pitchFamily="49" charset="-122"/>
                <a:ea typeface="黑体" panose="02010609060101010101" pitchFamily="49" charset="-122"/>
              </a:rPr>
              <a:t>双线性插值法放大图像</a:t>
            </a:r>
            <a:endParaRPr lang="zh-CN" altLang="zh-CN" sz="16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spd="slow" advClick="0" advTm="0">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4.3.2  </a:t>
            </a:r>
            <a:r>
              <a:rPr lang="zh-CN" altLang="en-US" sz="2100" b="1" dirty="0">
                <a:solidFill>
                  <a:schemeClr val="tx1">
                    <a:lumMod val="75000"/>
                    <a:lumOff val="25000"/>
                  </a:schemeClr>
                </a:solidFill>
                <a:latin typeface="微软雅黑" panose="020B0503020204020204" pitchFamily="34" charset="-122"/>
              </a:rPr>
              <a:t>图像缩放的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13" name="图片 12"/>
          <p:cNvPicPr>
            <a:picLocks noChangeAspect="1"/>
          </p:cNvPicPr>
          <p:nvPr/>
        </p:nvPicPr>
        <p:blipFill>
          <a:blip r:embed="rId3"/>
          <a:srcRect t="1723" r="618" b="2169"/>
          <a:stretch>
            <a:fillRect/>
          </a:stretch>
        </p:blipFill>
        <p:spPr>
          <a:xfrm>
            <a:off x="1350465" y="1304371"/>
            <a:ext cx="2214218" cy="2163587"/>
          </a:xfrm>
          <a:prstGeom prst="rect">
            <a:avLst/>
          </a:prstGeom>
          <a:ln>
            <a:noFill/>
          </a:ln>
        </p:spPr>
      </p:pic>
      <p:pic>
        <p:nvPicPr>
          <p:cNvPr id="15" name="图片 14"/>
          <p:cNvPicPr>
            <a:picLocks noChangeAspect="1"/>
          </p:cNvPicPr>
          <p:nvPr/>
        </p:nvPicPr>
        <p:blipFill>
          <a:blip r:embed="rId4"/>
          <a:srcRect l="1700" t="2154" r="3203" b="2604"/>
          <a:stretch>
            <a:fillRect/>
          </a:stretch>
        </p:blipFill>
        <p:spPr>
          <a:xfrm>
            <a:off x="4932834" y="1304474"/>
            <a:ext cx="2160240" cy="2131508"/>
          </a:xfrm>
          <a:prstGeom prst="rect">
            <a:avLst/>
          </a:prstGeom>
          <a:ln>
            <a:noFill/>
          </a:ln>
        </p:spPr>
      </p:pic>
      <p:sp>
        <p:nvSpPr>
          <p:cNvPr id="18" name="文本框 17"/>
          <p:cNvSpPr txBox="1"/>
          <p:nvPr/>
        </p:nvSpPr>
        <p:spPr>
          <a:xfrm>
            <a:off x="-16960" y="3554283"/>
            <a:ext cx="4589754"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(d) </a:t>
            </a:r>
            <a:r>
              <a:rPr lang="zh-CN" altLang="en-US" sz="1600" b="1" dirty="0">
                <a:solidFill>
                  <a:srgbClr val="000000"/>
                </a:solidFill>
                <a:latin typeface="黑体" panose="02010609060101010101" pitchFamily="49" charset="-122"/>
                <a:ea typeface="黑体" panose="02010609060101010101" pitchFamily="49" charset="-122"/>
              </a:rPr>
              <a:t>最近邻插值法缩小图像</a:t>
            </a:r>
            <a:endParaRPr lang="zh-CN" altLang="zh-CN" sz="1600" b="1" dirty="0">
              <a:solidFill>
                <a:srgbClr val="000000"/>
              </a:solidFill>
              <a:latin typeface="黑体" panose="02010609060101010101" pitchFamily="49" charset="-122"/>
              <a:ea typeface="黑体" panose="02010609060101010101" pitchFamily="49" charset="-122"/>
            </a:endParaRPr>
          </a:p>
        </p:txBody>
      </p:sp>
      <p:sp>
        <p:nvSpPr>
          <p:cNvPr id="23" name="文本框 22"/>
          <p:cNvSpPr txBox="1"/>
          <p:nvPr/>
        </p:nvSpPr>
        <p:spPr>
          <a:xfrm>
            <a:off x="3564683" y="3570436"/>
            <a:ext cx="4589754"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(e) </a:t>
            </a:r>
            <a:r>
              <a:rPr lang="zh-CN" altLang="en-US" sz="1600" b="1" dirty="0">
                <a:solidFill>
                  <a:srgbClr val="000000"/>
                </a:solidFill>
                <a:latin typeface="黑体" panose="02010609060101010101" pitchFamily="49" charset="-122"/>
                <a:ea typeface="黑体" panose="02010609060101010101" pitchFamily="49" charset="-122"/>
              </a:rPr>
              <a:t>双线性插值法缩小图像</a:t>
            </a:r>
            <a:endParaRPr lang="zh-CN" altLang="zh-CN" sz="1600" b="1" dirty="0">
              <a:solidFill>
                <a:srgbClr val="000000"/>
              </a:solidFill>
              <a:latin typeface="黑体" panose="02010609060101010101" pitchFamily="49" charset="-122"/>
              <a:ea typeface="黑体" panose="02010609060101010101" pitchFamily="49" charset="-122"/>
            </a:endParaRPr>
          </a:p>
        </p:txBody>
      </p:sp>
      <p:sp>
        <p:nvSpPr>
          <p:cNvPr id="24" name="文本框 23"/>
          <p:cNvSpPr txBox="1"/>
          <p:nvPr/>
        </p:nvSpPr>
        <p:spPr>
          <a:xfrm>
            <a:off x="1926669" y="3919765"/>
            <a:ext cx="4589754" cy="461665"/>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4.6</a:t>
            </a:r>
            <a:r>
              <a:rPr lang="en-US" altLang="zh-CN" sz="2400" kern="100" dirty="0">
                <a:effectLst/>
                <a:latin typeface="Times New Roman" panose="02020603050405020304" pitchFamily="18" charset="0"/>
                <a:ea typeface="宋体" pitchFamily="2" charset="-122"/>
              </a:rPr>
              <a:t>  </a:t>
            </a:r>
            <a:r>
              <a:rPr lang="zh-CN" altLang="zh-CN" sz="1800" b="1" kern="0" dirty="0">
                <a:latin typeface="黑体" panose="02010609060101010101" pitchFamily="49" charset="-122"/>
                <a:ea typeface="黑体" panose="02010609060101010101" pitchFamily="49" charset="-122"/>
              </a:rPr>
              <a:t>图像缩放效果图</a:t>
            </a:r>
          </a:p>
        </p:txBody>
      </p:sp>
      <p:sp>
        <p:nvSpPr>
          <p:cNvPr id="25" name="文本框 24"/>
          <p:cNvSpPr txBox="1"/>
          <p:nvPr/>
        </p:nvSpPr>
        <p:spPr>
          <a:xfrm>
            <a:off x="407152" y="4421974"/>
            <a:ext cx="8331284" cy="2354491"/>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我们通过</a:t>
            </a:r>
            <a:r>
              <a:rPr lang="en-US" altLang="zh-CN" kern="100" dirty="0">
                <a:effectLst/>
                <a:latin typeface="Times New Roman" panose="02020603050405020304" pitchFamily="18" charset="0"/>
                <a:ea typeface="宋体" pitchFamily="2" charset="-122"/>
              </a:rPr>
              <a:t>cv2.imread()</a:t>
            </a:r>
            <a:r>
              <a:rPr lang="zh-CN" altLang="zh-CN" kern="100" dirty="0">
                <a:effectLst/>
                <a:latin typeface="Times New Roman" panose="02020603050405020304" pitchFamily="18" charset="0"/>
                <a:ea typeface="宋体" pitchFamily="2" charset="-122"/>
              </a:rPr>
              <a:t>函数对</a:t>
            </a:r>
            <a:r>
              <a:rPr lang="en-US" altLang="zh-CN" kern="100" dirty="0">
                <a:effectLst/>
                <a:latin typeface="Times New Roman" panose="02020603050405020304" pitchFamily="18" charset="0"/>
                <a:ea typeface="宋体" pitchFamily="2" charset="-122"/>
              </a:rPr>
              <a:t>4.6 (a)</a:t>
            </a:r>
            <a:r>
              <a:rPr lang="zh-CN" altLang="zh-CN" kern="100" dirty="0">
                <a:effectLst/>
                <a:latin typeface="Times New Roman" panose="02020603050405020304" pitchFamily="18" charset="0"/>
                <a:ea typeface="宋体" pitchFamily="2" charset="-122"/>
              </a:rPr>
              <a:t>中的原始图像进行读取，然后对该图像使用最近邻插值法和双线性插值法进行大小变换。图</a:t>
            </a:r>
            <a:r>
              <a:rPr lang="en-US" altLang="zh-CN" kern="100" dirty="0">
                <a:effectLst/>
                <a:latin typeface="Times New Roman" panose="02020603050405020304" pitchFamily="18" charset="0"/>
                <a:ea typeface="宋体" pitchFamily="2" charset="-122"/>
              </a:rPr>
              <a:t>4.6</a:t>
            </a:r>
            <a:r>
              <a:rPr lang="zh-CN" altLang="zh-CN" kern="100" dirty="0">
                <a:effectLst/>
                <a:latin typeface="Times New Roman" panose="02020603050405020304" pitchFamily="18" charset="0"/>
                <a:ea typeface="宋体" pitchFamily="2" charset="-122"/>
              </a:rPr>
              <a:t>中的</a:t>
            </a:r>
            <a:r>
              <a:rPr lang="en-US" altLang="zh-CN" kern="100" dirty="0">
                <a:effectLst/>
                <a:latin typeface="Times New Roman" panose="02020603050405020304" pitchFamily="18" charset="0"/>
                <a:ea typeface="宋体" pitchFamily="2" charset="-122"/>
              </a:rPr>
              <a:t>(b) </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(c)</a:t>
            </a:r>
            <a:r>
              <a:rPr lang="zh-CN" altLang="zh-CN" kern="100" dirty="0">
                <a:effectLst/>
                <a:latin typeface="Times New Roman" panose="02020603050405020304" pitchFamily="18" charset="0"/>
                <a:ea typeface="宋体" pitchFamily="2" charset="-122"/>
              </a:rPr>
              <a:t>为两种插值方法的放大图像，缩放因子为</a:t>
            </a:r>
            <a:r>
              <a:rPr lang="en-US" altLang="zh-CN" kern="100" dirty="0">
                <a:effectLst/>
                <a:latin typeface="Times New Roman" panose="02020603050405020304" pitchFamily="18" charset="0"/>
                <a:ea typeface="宋体" pitchFamily="2" charset="-122"/>
              </a:rPr>
              <a:t>1.2</a:t>
            </a:r>
            <a:r>
              <a:rPr lang="zh-CN" altLang="zh-CN" kern="100" dirty="0">
                <a:effectLst/>
                <a:latin typeface="Times New Roman" panose="02020603050405020304" pitchFamily="18" charset="0"/>
                <a:ea typeface="宋体" pitchFamily="2" charset="-122"/>
              </a:rPr>
              <a:t>，图</a:t>
            </a:r>
            <a:r>
              <a:rPr lang="en-US" altLang="zh-CN" kern="100" dirty="0">
                <a:effectLst/>
                <a:latin typeface="Times New Roman" panose="02020603050405020304" pitchFamily="18" charset="0"/>
                <a:ea typeface="宋体" pitchFamily="2" charset="-122"/>
              </a:rPr>
              <a:t>4.6</a:t>
            </a:r>
            <a:r>
              <a:rPr lang="zh-CN" altLang="zh-CN" kern="100" dirty="0">
                <a:effectLst/>
                <a:latin typeface="Times New Roman" panose="02020603050405020304" pitchFamily="18" charset="0"/>
                <a:ea typeface="宋体" pitchFamily="2" charset="-122"/>
              </a:rPr>
              <a:t>中的</a:t>
            </a:r>
            <a:r>
              <a:rPr lang="en-US" altLang="zh-CN" kern="100" dirty="0">
                <a:effectLst/>
                <a:latin typeface="Times New Roman" panose="02020603050405020304" pitchFamily="18" charset="0"/>
                <a:ea typeface="宋体" pitchFamily="2" charset="-122"/>
              </a:rPr>
              <a:t>(d) </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(e)</a:t>
            </a:r>
            <a:r>
              <a:rPr lang="zh-CN" altLang="zh-CN" kern="100" dirty="0">
                <a:effectLst/>
                <a:latin typeface="Times New Roman" panose="02020603050405020304" pitchFamily="18" charset="0"/>
                <a:ea typeface="宋体" pitchFamily="2" charset="-122"/>
              </a:rPr>
              <a:t>为两种插值方法的缩小图像，缩放因子为</a:t>
            </a:r>
            <a:r>
              <a:rPr lang="en-US" altLang="zh-CN" kern="100" dirty="0">
                <a:effectLst/>
                <a:latin typeface="Times New Roman" panose="02020603050405020304" pitchFamily="18" charset="0"/>
                <a:ea typeface="宋体" pitchFamily="2" charset="-122"/>
              </a:rPr>
              <a:t>0.8</a:t>
            </a:r>
            <a:r>
              <a:rPr lang="zh-CN" altLang="zh-CN" kern="100" dirty="0">
                <a:effectLst/>
                <a:latin typeface="Times New Roman" panose="02020603050405020304" pitchFamily="18" charset="0"/>
                <a:ea typeface="宋体" pitchFamily="2" charset="-122"/>
              </a:rPr>
              <a:t>。从图像缩放效果图中可以看出，不同的插值方法对图像的影响不同，尤其是颜色急剧变化的位置。例如图</a:t>
            </a:r>
            <a:r>
              <a:rPr lang="en-US" altLang="zh-CN" kern="100" dirty="0">
                <a:effectLst/>
                <a:latin typeface="Times New Roman" panose="02020603050405020304" pitchFamily="18" charset="0"/>
                <a:ea typeface="宋体" pitchFamily="2" charset="-122"/>
              </a:rPr>
              <a:t>4.6(b) </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(c)</a:t>
            </a:r>
            <a:r>
              <a:rPr lang="zh-CN" altLang="zh-CN" kern="100" dirty="0">
                <a:effectLst/>
                <a:latin typeface="Times New Roman" panose="02020603050405020304" pitchFamily="18" charset="0"/>
                <a:ea typeface="宋体" pitchFamily="2" charset="-122"/>
              </a:rPr>
              <a:t>中帽子上羽毛处</a:t>
            </a:r>
            <a:r>
              <a:rPr lang="en-US" altLang="zh-CN" kern="100" dirty="0">
                <a:effectLst/>
                <a:latin typeface="Times New Roman" panose="02020603050405020304" pitchFamily="18" charset="0"/>
                <a:ea typeface="宋体" pitchFamily="2" charset="-122"/>
              </a:rPr>
              <a:t>, (c)</a:t>
            </a:r>
            <a:r>
              <a:rPr lang="zh-CN" altLang="zh-CN" kern="100" dirty="0">
                <a:effectLst/>
                <a:latin typeface="Times New Roman" panose="02020603050405020304" pitchFamily="18" charset="0"/>
                <a:ea typeface="宋体" pitchFamily="2" charset="-122"/>
              </a:rPr>
              <a:t>中纹理比较清晰，</a:t>
            </a:r>
            <a:r>
              <a:rPr lang="en-US" altLang="zh-CN" kern="100" dirty="0">
                <a:effectLst/>
                <a:latin typeface="Times New Roman" panose="02020603050405020304" pitchFamily="18" charset="0"/>
                <a:ea typeface="宋体" pitchFamily="2" charset="-122"/>
              </a:rPr>
              <a:t>(b)</a:t>
            </a:r>
            <a:r>
              <a:rPr lang="zh-CN" altLang="zh-CN" kern="100" dirty="0">
                <a:effectLst/>
                <a:latin typeface="Times New Roman" panose="02020603050405020304" pitchFamily="18" charset="0"/>
                <a:ea typeface="宋体" pitchFamily="2" charset="-122"/>
              </a:rPr>
              <a:t>则相对较模糊。由此，我们可以根据不同需求选择不同的插值方法。 </a:t>
            </a:r>
          </a:p>
        </p:txBody>
      </p:sp>
    </p:spTree>
  </p:cSld>
  <p:clrMapOvr>
    <a:masterClrMapping/>
  </p:clrMapOvr>
  <p:transition spd="slow" advClick="0" advTm="0">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4.4  </a:t>
            </a:r>
            <a:r>
              <a:rPr lang="zh-CN" altLang="en-US" sz="2100" b="1" dirty="0">
                <a:solidFill>
                  <a:schemeClr val="tx1">
                    <a:lumMod val="75000"/>
                    <a:lumOff val="25000"/>
                  </a:schemeClr>
                </a:solidFill>
                <a:latin typeface="微软雅黑" panose="020B0503020204020204" pitchFamily="34" charset="-122"/>
              </a:rPr>
              <a:t>图像的转置</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4" name="文本框 13"/>
          <p:cNvSpPr txBox="1"/>
          <p:nvPr/>
        </p:nvSpPr>
        <p:spPr>
          <a:xfrm>
            <a:off x="686338" y="1128584"/>
            <a:ext cx="4589754" cy="415498"/>
          </a:xfrm>
          <a:prstGeom prst="rect">
            <a:avLst/>
          </a:prstGeom>
          <a:noFill/>
        </p:spPr>
        <p:txBody>
          <a:bodyPr wrap="square">
            <a:spAutoFit/>
          </a:bodyPr>
          <a:lstStyle/>
          <a:p>
            <a:r>
              <a:rPr lang="en-US" altLang="zh-CN" b="1" dirty="0"/>
              <a:t>4.4.1  </a:t>
            </a:r>
            <a:r>
              <a:rPr lang="zh-CN" altLang="en-US" b="1" dirty="0"/>
              <a:t>图像转置的基本原理</a:t>
            </a:r>
          </a:p>
        </p:txBody>
      </p:sp>
      <p:sp>
        <p:nvSpPr>
          <p:cNvPr id="16" name="文本框 15"/>
          <p:cNvSpPr txBox="1"/>
          <p:nvPr/>
        </p:nvSpPr>
        <p:spPr>
          <a:xfrm>
            <a:off x="612354" y="1628027"/>
            <a:ext cx="8064896" cy="1061829"/>
          </a:xfrm>
          <a:prstGeom prst="rect">
            <a:avLst/>
          </a:prstGeom>
          <a:noFill/>
        </p:spPr>
        <p:txBody>
          <a:bodyPr wrap="square">
            <a:spAutoFit/>
          </a:bodyPr>
          <a:lstStyle/>
          <a:p>
            <a:r>
              <a:rPr lang="zh-CN" altLang="en-US" dirty="0"/>
              <a:t>         图像的转置是指将图像像素的</a:t>
            </a:r>
            <a:r>
              <a:rPr lang="en-US" altLang="zh-CN" dirty="0"/>
              <a:t>x</a:t>
            </a:r>
            <a:r>
              <a:rPr lang="zh-CN" altLang="en-US" dirty="0"/>
              <a:t>坐标和</a:t>
            </a:r>
            <a:r>
              <a:rPr lang="en-US" altLang="zh-CN" dirty="0"/>
              <a:t>y</a:t>
            </a:r>
            <a:r>
              <a:rPr lang="zh-CN" altLang="en-US" dirty="0"/>
              <a:t>坐标互换，也即是图像的高度和宽度互换。如图</a:t>
            </a:r>
            <a:r>
              <a:rPr lang="en-US" altLang="zh-CN" dirty="0"/>
              <a:t>4.7</a:t>
            </a:r>
            <a:r>
              <a:rPr lang="zh-CN" altLang="en-US" dirty="0"/>
              <a:t>所示，蓝色矩形为原始图像，红色矩形为转置后的图像。</a:t>
            </a:r>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583195" y="2565698"/>
            <a:ext cx="3312368" cy="3312368"/>
          </a:xfrm>
          <a:prstGeom prst="rect">
            <a:avLst/>
          </a:prstGeom>
          <a:noFill/>
          <a:ln>
            <a:noFill/>
          </a:ln>
        </p:spPr>
      </p:pic>
      <p:sp>
        <p:nvSpPr>
          <p:cNvPr id="19" name="文本框 18"/>
          <p:cNvSpPr txBox="1"/>
          <p:nvPr/>
        </p:nvSpPr>
        <p:spPr>
          <a:xfrm>
            <a:off x="1836490" y="6136105"/>
            <a:ext cx="4589754" cy="369332"/>
          </a:xfrm>
          <a:prstGeom prst="rect">
            <a:avLst/>
          </a:prstGeom>
          <a:noFill/>
        </p:spPr>
        <p:txBody>
          <a:bodyPr wrap="square">
            <a:spAutoFit/>
          </a:bodyPr>
          <a:lstStyle/>
          <a:p>
            <a:pPr indent="266700" algn="ctr"/>
            <a:r>
              <a:rPr lang="zh-CN" altLang="zh-CN"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4.7  </a:t>
            </a:r>
            <a:r>
              <a:rPr lang="zh-CN" altLang="zh-CN" sz="1800" b="1" kern="0" dirty="0">
                <a:latin typeface="黑体" panose="02010609060101010101" pitchFamily="49" charset="-122"/>
                <a:ea typeface="黑体" panose="02010609060101010101" pitchFamily="49" charset="-122"/>
              </a:rPr>
              <a:t>图像转置</a:t>
            </a:r>
          </a:p>
        </p:txBody>
      </p:sp>
    </p:spTree>
  </p:cSld>
  <p:clrMapOvr>
    <a:masterClrMapping/>
  </p:clrMapOvr>
  <p:transition spd="slow" advClick="0" advTm="0">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4.4.1  </a:t>
            </a:r>
            <a:r>
              <a:rPr lang="zh-CN" altLang="en-US" sz="2100" b="1" dirty="0">
                <a:solidFill>
                  <a:schemeClr val="tx1">
                    <a:lumMod val="75000"/>
                    <a:lumOff val="25000"/>
                  </a:schemeClr>
                </a:solidFill>
                <a:latin typeface="微软雅黑" panose="020B0503020204020204" pitchFamily="34" charset="-122"/>
              </a:rPr>
              <a:t>图像转置的基本原理</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p:cNvSpPr txBox="1"/>
              <p:nvPr/>
            </p:nvSpPr>
            <p:spPr>
              <a:xfrm>
                <a:off x="493715" y="1216215"/>
                <a:ext cx="8255543" cy="3443122"/>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假设坐标</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m:t>
                    </m:r>
                    <m:r>
                      <a:rPr lang="en-US" altLang="zh-CN" i="1" kern="100">
                        <a:effectLst/>
                        <a:latin typeface="Cambria Math" panose="02040503050406030204" pitchFamily="18" charset="0"/>
                        <a:ea typeface="宋体" pitchFamily="2" charset="-122"/>
                        <a:cs typeface="Times New Roman" panose="02020603050405020304" pitchFamily="18" charset="0"/>
                      </a:rPr>
                      <m:t>𝑥</m:t>
                    </m:r>
                    <m:r>
                      <a:rPr lang="en-US" altLang="zh-CN" i="1" kern="100">
                        <a:effectLst/>
                        <a:latin typeface="Cambria Math" panose="02040503050406030204" pitchFamily="18" charset="0"/>
                        <a:ea typeface="宋体" pitchFamily="2" charset="-122"/>
                        <a:cs typeface="Times New Roman" panose="02020603050405020304" pitchFamily="18" charset="0"/>
                      </a:rPr>
                      <m:t>,</m:t>
                    </m:r>
                    <m:r>
                      <a:rPr lang="en-US" altLang="zh-CN" i="1" kern="100">
                        <a:effectLst/>
                        <a:latin typeface="Cambria Math" panose="02040503050406030204" pitchFamily="18" charset="0"/>
                        <a:ea typeface="宋体" pitchFamily="2" charset="-122"/>
                        <a:cs typeface="Times New Roman" panose="02020603050405020304" pitchFamily="18" charset="0"/>
                      </a:rPr>
                      <m:t>𝑦</m:t>
                    </m:r>
                    <m:r>
                      <a:rPr lang="en-US" altLang="zh-CN" i="1" kern="100">
                        <a:effectLst/>
                        <a:latin typeface="Cambria Math" panose="02040503050406030204" pitchFamily="18" charset="0"/>
                        <a:ea typeface="宋体" pitchFamily="2" charset="-122"/>
                        <a:cs typeface="Times New Roman" panose="02020603050405020304" pitchFamily="18" charset="0"/>
                      </a:rPr>
                      <m:t>)</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为原始图像上任意一点，坐标</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cs typeface="Times New Roman" panose="02020603050405020304" pitchFamily="18" charset="0"/>
                          </a:rPr>
                          <m:t>𝑥</m:t>
                        </m:r>
                      </m:e>
                      <m:sup>
                        <m:r>
                          <a:rPr lang="en-US" altLang="zh-CN" i="1" kern="100">
                            <a:effectLst/>
                            <a:latin typeface="Cambria Math" panose="02040503050406030204" pitchFamily="18" charset="0"/>
                            <a:ea typeface="宋体" pitchFamily="2" charset="-122"/>
                            <a:cs typeface="Times New Roman" panose="02020603050405020304" pitchFamily="18" charset="0"/>
                          </a:rPr>
                          <m:t>′</m:t>
                        </m:r>
                      </m:sup>
                    </m:sSup>
                    <m:r>
                      <a:rPr lang="en-US" altLang="zh-CN" i="1" kern="100">
                        <a:effectLst/>
                        <a:latin typeface="Cambria Math" panose="02040503050406030204" pitchFamily="18" charset="0"/>
                        <a:ea typeface="宋体"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cs typeface="Times New Roman" panose="02020603050405020304" pitchFamily="18" charset="0"/>
                          </a:rPr>
                          <m:t>𝑦</m:t>
                        </m:r>
                      </m:e>
                      <m:sup>
                        <m:r>
                          <a:rPr lang="en-US" altLang="zh-CN" i="1" kern="100">
                            <a:effectLst/>
                            <a:latin typeface="Cambria Math" panose="02040503050406030204" pitchFamily="18" charset="0"/>
                            <a:ea typeface="宋体" pitchFamily="2" charset="-122"/>
                            <a:cs typeface="Times New Roman" panose="02020603050405020304" pitchFamily="18" charset="0"/>
                          </a:rPr>
                          <m:t>′</m:t>
                        </m:r>
                      </m:sup>
                    </m:sSup>
                    <m:r>
                      <a:rPr lang="en-US" altLang="zh-CN" i="1" kern="100">
                        <a:effectLst/>
                        <a:latin typeface="Cambria Math" panose="02040503050406030204" pitchFamily="18" charset="0"/>
                        <a:ea typeface="宋体" pitchFamily="2" charset="-122"/>
                        <a:cs typeface="Times New Roman" panose="02020603050405020304" pitchFamily="18" charset="0"/>
                      </a:rPr>
                      <m:t>)</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为图像进行转置变换后相对应的点，则转置变换公式，如公式</a:t>
                </a:r>
                <a:r>
                  <a:rPr lang="en-US" altLang="zh-CN" kern="100" dirty="0">
                    <a:effectLst/>
                    <a:latin typeface="Times New Roman" panose="02020603050405020304" pitchFamily="18" charset="0"/>
                    <a:ea typeface="宋体" pitchFamily="2" charset="-122"/>
                  </a:rPr>
                  <a:t> (4-9)</a:t>
                </a:r>
                <a:r>
                  <a:rPr lang="zh-CN" altLang="zh-CN" kern="100" dirty="0">
                    <a:effectLst/>
                    <a:latin typeface="Times New Roman" panose="02020603050405020304" pitchFamily="18" charset="0"/>
                    <a:ea typeface="宋体" pitchFamily="2" charset="-122"/>
                    <a:cs typeface="Times New Roman" panose="02020603050405020304" pitchFamily="18" charset="0"/>
                  </a:rPr>
                  <a:t>所示。也就是说原始图像中任一坐标</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m:t>
                    </m:r>
                    <m:r>
                      <a:rPr lang="en-US" altLang="zh-CN" i="1" kern="100">
                        <a:effectLst/>
                        <a:latin typeface="Cambria Math" panose="02040503050406030204" pitchFamily="18" charset="0"/>
                        <a:ea typeface="宋体" pitchFamily="2" charset="-122"/>
                        <a:cs typeface="Times New Roman" panose="02020603050405020304" pitchFamily="18" charset="0"/>
                      </a:rPr>
                      <m:t>𝑥</m:t>
                    </m:r>
                    <m:r>
                      <a:rPr lang="en-US" altLang="zh-CN" i="1" kern="100">
                        <a:effectLst/>
                        <a:latin typeface="Cambria Math" panose="02040503050406030204" pitchFamily="18" charset="0"/>
                        <a:ea typeface="宋体" pitchFamily="2" charset="-122"/>
                        <a:cs typeface="Times New Roman" panose="02020603050405020304" pitchFamily="18" charset="0"/>
                      </a:rPr>
                      <m:t>,</m:t>
                    </m:r>
                    <m:r>
                      <a:rPr lang="en-US" altLang="zh-CN" i="1" kern="100">
                        <a:effectLst/>
                        <a:latin typeface="Cambria Math" panose="02040503050406030204" pitchFamily="18" charset="0"/>
                        <a:ea typeface="宋体" pitchFamily="2" charset="-122"/>
                        <a:cs typeface="Times New Roman" panose="02020603050405020304" pitchFamily="18" charset="0"/>
                      </a:rPr>
                      <m:t>𝑦</m:t>
                    </m:r>
                    <m:r>
                      <a:rPr lang="en-US" altLang="zh-CN" i="1" kern="100">
                        <a:effectLst/>
                        <a:latin typeface="Cambria Math" panose="02040503050406030204" pitchFamily="18" charset="0"/>
                        <a:ea typeface="宋体" pitchFamily="2" charset="-122"/>
                        <a:cs typeface="Times New Roman" panose="02020603050405020304" pitchFamily="18" charset="0"/>
                      </a:rPr>
                      <m:t>)</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经过转置变换公式计算都能得到对应的目标图像坐标</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m:t>
                    </m:r>
                    <m:r>
                      <a:rPr lang="en-US" altLang="zh-CN" i="1" kern="100">
                        <a:effectLst/>
                        <a:latin typeface="Cambria Math" panose="02040503050406030204" pitchFamily="18" charset="0"/>
                        <a:ea typeface="宋体" pitchFamily="2" charset="-122"/>
                        <a:cs typeface="Times New Roman" panose="02020603050405020304" pitchFamily="18" charset="0"/>
                      </a:rPr>
                      <m:t>𝑦</m:t>
                    </m:r>
                    <m:r>
                      <a:rPr lang="en-US" altLang="zh-CN" i="1" kern="100">
                        <a:effectLst/>
                        <a:latin typeface="Cambria Math" panose="02040503050406030204" pitchFamily="18" charset="0"/>
                        <a:ea typeface="宋体" pitchFamily="2" charset="-122"/>
                        <a:cs typeface="Times New Roman" panose="02020603050405020304" pitchFamily="18" charset="0"/>
                      </a:rPr>
                      <m:t>,</m:t>
                    </m:r>
                    <m:r>
                      <a:rPr lang="en-US" altLang="zh-CN" i="1" kern="100">
                        <a:effectLst/>
                        <a:latin typeface="Cambria Math" panose="02040503050406030204" pitchFamily="18" charset="0"/>
                        <a:ea typeface="宋体" pitchFamily="2" charset="-122"/>
                        <a:cs typeface="Times New Roman" panose="02020603050405020304" pitchFamily="18" charset="0"/>
                      </a:rPr>
                      <m:t>𝑥</m:t>
                    </m:r>
                    <m:r>
                      <a:rPr lang="en-US" altLang="zh-CN" i="1" kern="100">
                        <a:effectLst/>
                        <a:latin typeface="Cambria Math" panose="02040503050406030204" pitchFamily="18" charset="0"/>
                        <a:ea typeface="宋体" pitchFamily="2" charset="-122"/>
                        <a:cs typeface="Times New Roman" panose="02020603050405020304" pitchFamily="18" charset="0"/>
                      </a:rPr>
                      <m:t>)</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，即图像像素的</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cs typeface="Times New Roman" panose="02020603050405020304" pitchFamily="18" charset="0"/>
                  </a:rPr>
                  <a:t>坐标和</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cs typeface="Times New Roman" panose="02020603050405020304" pitchFamily="18" charset="0"/>
                  </a:rPr>
                  <a:t>坐标相互交换。公式</a:t>
                </a:r>
                <a:r>
                  <a:rPr lang="en-US" altLang="zh-CN" kern="100" dirty="0">
                    <a:effectLst/>
                    <a:latin typeface="Times New Roman" panose="02020603050405020304" pitchFamily="18" charset="0"/>
                    <a:ea typeface="宋体" pitchFamily="2" charset="-122"/>
                  </a:rPr>
                  <a:t> (4-10)</a:t>
                </a:r>
                <a:r>
                  <a:rPr lang="zh-CN" altLang="zh-CN" kern="100" dirty="0">
                    <a:effectLst/>
                    <a:latin typeface="Times New Roman" panose="02020603050405020304" pitchFamily="18" charset="0"/>
                    <a:ea typeface="宋体" pitchFamily="2" charset="-122"/>
                    <a:cs typeface="Times New Roman" panose="02020603050405020304" pitchFamily="18" charset="0"/>
                  </a:rPr>
                  <a:t>是转置变换的矩阵表示形式。公式将原图像坐标的增广矩阵</a:t>
                </a:r>
                <a14:m>
                  <m:oMath xmlns:m="http://schemas.openxmlformats.org/officeDocument/2006/math">
                    <m:sSup>
                      <m:sSupPr>
                        <m:ctrlPr>
                          <a:rPr lang="zh-CN" altLang="zh-CN" i="1">
                            <a:effectLst/>
                            <a:latin typeface="Cambria Math" panose="02040503050406030204" pitchFamily="18" charset="0"/>
                            <a:ea typeface="Cambria Math" panose="02040503050406030204" pitchFamily="18" charset="0"/>
                          </a:rPr>
                        </m:ctrlPr>
                      </m:sSupPr>
                      <m:e>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3"/>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i="1" kern="100">
                                      <a:effectLst/>
                                      <a:latin typeface="Cambria Math" panose="02040503050406030204" pitchFamily="18" charset="0"/>
                                      <a:ea typeface="宋体" pitchFamily="2" charset="-122"/>
                                      <a:cs typeface="Times New Roman" panose="02020603050405020304" pitchFamily="18" charset="0"/>
                                    </a:rPr>
                                    <m:t>𝑥</m:t>
                                  </m:r>
                                </m:e>
                                <m:e>
                                  <m:r>
                                    <a:rPr lang="en-US" altLang="zh-CN" i="1" kern="100">
                                      <a:effectLst/>
                                      <a:latin typeface="Cambria Math" panose="02040503050406030204" pitchFamily="18" charset="0"/>
                                      <a:ea typeface="宋体" pitchFamily="2" charset="-122"/>
                                      <a:cs typeface="Times New Roman" panose="02020603050405020304" pitchFamily="18" charset="0"/>
                                    </a:rPr>
                                    <m:t>𝑦</m:t>
                                  </m:r>
                                </m:e>
                                <m:e>
                                  <m:r>
                                    <a:rPr lang="en-US" altLang="zh-CN" i="1" kern="100">
                                      <a:effectLst/>
                                      <a:latin typeface="Cambria Math" panose="02040503050406030204" pitchFamily="18" charset="0"/>
                                      <a:ea typeface="宋体" pitchFamily="2" charset="-122"/>
                                      <a:cs typeface="Times New Roman" panose="02020603050405020304" pitchFamily="18" charset="0"/>
                                    </a:rPr>
                                    <m:t>1</m:t>
                                  </m:r>
                                </m:e>
                              </m:mr>
                            </m:m>
                          </m:e>
                        </m:d>
                      </m:e>
                      <m:sup>
                        <m:r>
                          <a:rPr lang="en-US" altLang="zh-CN" i="1" kern="100">
                            <a:effectLst/>
                            <a:latin typeface="Cambria Math" panose="02040503050406030204" pitchFamily="18" charset="0"/>
                            <a:ea typeface="宋体" pitchFamily="2" charset="-122"/>
                            <a:cs typeface="Times New Roman" panose="02020603050405020304" pitchFamily="18" charset="0"/>
                          </a:rPr>
                          <m:t>𝑇</m:t>
                        </m:r>
                      </m:sup>
                    </m:sSup>
                  </m:oMath>
                </a14:m>
                <a:r>
                  <a:rPr lang="zh-CN" altLang="zh-CN" kern="100" dirty="0">
                    <a:effectLst/>
                    <a:latin typeface="Times New Roman" panose="02020603050405020304" pitchFamily="18" charset="0"/>
                    <a:ea typeface="宋体" pitchFamily="2" charset="-122"/>
                    <a:cs typeface="Times New Roman" panose="02020603050405020304" pitchFamily="18" charset="0"/>
                  </a:rPr>
                  <a:t>和转置矩阵</a:t>
                </a:r>
                <a14:m>
                  <m:oMath xmlns:m="http://schemas.openxmlformats.org/officeDocument/2006/math">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3"/>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i="1" kern="100">
                                  <a:effectLst/>
                                  <a:latin typeface="Cambria Math" panose="02040503050406030204" pitchFamily="18" charset="0"/>
                                  <a:ea typeface="宋体" pitchFamily="2" charset="-122"/>
                                  <a:cs typeface="Times New Roman" panose="02020603050405020304" pitchFamily="18" charset="0"/>
                                </a:rPr>
                                <m:t>0</m:t>
                              </m:r>
                            </m:e>
                            <m:e>
                              <m:r>
                                <a:rPr lang="en-US" altLang="zh-CN" i="1" kern="100">
                                  <a:effectLst/>
                                  <a:latin typeface="Cambria Math" panose="02040503050406030204" pitchFamily="18" charset="0"/>
                                  <a:ea typeface="宋体" pitchFamily="2" charset="-122"/>
                                  <a:cs typeface="Times New Roman" panose="02020603050405020304" pitchFamily="18" charset="0"/>
                                </a:rPr>
                                <m:t>1</m:t>
                              </m:r>
                            </m:e>
                            <m:e>
                              <m:r>
                                <a:rPr lang="en-US" altLang="zh-CN" i="1" kern="100">
                                  <a:effectLst/>
                                  <a:latin typeface="Cambria Math" panose="02040503050406030204" pitchFamily="18" charset="0"/>
                                  <a:ea typeface="宋体" pitchFamily="2" charset="-122"/>
                                  <a:cs typeface="Times New Roman" panose="02020603050405020304" pitchFamily="18" charset="0"/>
                                </a:rPr>
                                <m:t>0</m:t>
                              </m:r>
                            </m:e>
                          </m:mr>
                          <m:mr>
                            <m:e>
                              <m:r>
                                <a:rPr lang="en-US" altLang="zh-CN" i="1" kern="100">
                                  <a:effectLst/>
                                  <a:latin typeface="Cambria Math" panose="02040503050406030204" pitchFamily="18" charset="0"/>
                                  <a:ea typeface="宋体" pitchFamily="2" charset="-122"/>
                                  <a:cs typeface="Times New Roman" panose="02020603050405020304" pitchFamily="18" charset="0"/>
                                </a:rPr>
                                <m:t>1</m:t>
                              </m:r>
                            </m:e>
                            <m:e>
                              <m:r>
                                <a:rPr lang="en-US" altLang="zh-CN" i="1" kern="100">
                                  <a:effectLst/>
                                  <a:latin typeface="Cambria Math" panose="02040503050406030204" pitchFamily="18" charset="0"/>
                                  <a:ea typeface="宋体" pitchFamily="2" charset="-122"/>
                                  <a:cs typeface="Times New Roman" panose="02020603050405020304" pitchFamily="18" charset="0"/>
                                </a:rPr>
                                <m:t>0</m:t>
                              </m:r>
                            </m:e>
                            <m:e>
                              <m:r>
                                <a:rPr lang="en-US" altLang="zh-CN" i="1" kern="100">
                                  <a:effectLst/>
                                  <a:latin typeface="Cambria Math" panose="02040503050406030204" pitchFamily="18" charset="0"/>
                                  <a:ea typeface="宋体" pitchFamily="2" charset="-122"/>
                                  <a:cs typeface="Times New Roman" panose="02020603050405020304" pitchFamily="18" charset="0"/>
                                </a:rPr>
                                <m:t>0</m:t>
                              </m:r>
                            </m:e>
                          </m:mr>
                          <m:mr>
                            <m:e>
                              <m:r>
                                <a:rPr lang="en-US" altLang="zh-CN" i="1" kern="100">
                                  <a:effectLst/>
                                  <a:latin typeface="Cambria Math" panose="02040503050406030204" pitchFamily="18" charset="0"/>
                                  <a:ea typeface="宋体" pitchFamily="2" charset="-122"/>
                                  <a:cs typeface="Times New Roman" panose="02020603050405020304" pitchFamily="18" charset="0"/>
                                </a:rPr>
                                <m:t>0</m:t>
                              </m:r>
                            </m:e>
                            <m:e>
                              <m:r>
                                <a:rPr lang="en-US" altLang="zh-CN" i="1" kern="100">
                                  <a:effectLst/>
                                  <a:latin typeface="Cambria Math" panose="02040503050406030204" pitchFamily="18" charset="0"/>
                                  <a:ea typeface="宋体" pitchFamily="2" charset="-122"/>
                                  <a:cs typeface="Times New Roman" panose="02020603050405020304" pitchFamily="18" charset="0"/>
                                </a:rPr>
                                <m:t>0</m:t>
                              </m:r>
                            </m:e>
                            <m:e>
                              <m:r>
                                <a:rPr lang="en-US" altLang="zh-CN" i="1" kern="100">
                                  <a:effectLst/>
                                  <a:latin typeface="Cambria Math" panose="02040503050406030204" pitchFamily="18" charset="0"/>
                                  <a:ea typeface="宋体" pitchFamily="2" charset="-122"/>
                                  <a:cs typeface="Times New Roman" panose="02020603050405020304" pitchFamily="18" charset="0"/>
                                </a:rPr>
                                <m:t>1</m:t>
                              </m:r>
                            </m:e>
                          </m:mr>
                        </m:m>
                      </m:e>
                    </m:d>
                  </m:oMath>
                </a14:m>
                <a:r>
                  <a:rPr lang="zh-CN" altLang="zh-CN" kern="100" dirty="0">
                    <a:effectLst/>
                    <a:latin typeface="Times New Roman" panose="02020603050405020304" pitchFamily="18" charset="0"/>
                    <a:ea typeface="宋体" pitchFamily="2" charset="-122"/>
                    <a:cs typeface="Times New Roman" panose="02020603050405020304" pitchFamily="18" charset="0"/>
                  </a:rPr>
                  <a:t>相乘得到目标图像坐标的增广矩阵</a:t>
                </a:r>
                <a14:m>
                  <m:oMath xmlns:m="http://schemas.openxmlformats.org/officeDocument/2006/math">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sSup>
                                <m:sSupPr>
                                  <m:ctrlPr>
                                    <a:rPr lang="zh-CN" altLang="zh-CN" i="1">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cs typeface="Times New Roman" panose="02020603050405020304" pitchFamily="18" charset="0"/>
                                    </a:rPr>
                                    <m:t>𝑥</m:t>
                                  </m:r>
                                </m:e>
                                <m:sup>
                                  <m:r>
                                    <a:rPr lang="en-US" altLang="zh-CN" i="1" kern="100">
                                      <a:effectLst/>
                                      <a:latin typeface="Cambria Math" panose="02040503050406030204" pitchFamily="18" charset="0"/>
                                      <a:ea typeface="宋体" pitchFamily="2" charset="-122"/>
                                      <a:cs typeface="Times New Roman" panose="02020603050405020304" pitchFamily="18" charset="0"/>
                                    </a:rPr>
                                    <m:t>′</m:t>
                                  </m:r>
                                </m:sup>
                              </m:sSup>
                            </m:e>
                          </m:mr>
                          <m:mr>
                            <m:e>
                              <m:sSup>
                                <m:sSupPr>
                                  <m:ctrlPr>
                                    <a:rPr lang="zh-CN" altLang="zh-CN" i="1">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cs typeface="Times New Roman" panose="02020603050405020304" pitchFamily="18" charset="0"/>
                                    </a:rPr>
                                    <m:t>𝑦</m:t>
                                  </m:r>
                                </m:e>
                                <m:sup>
                                  <m:r>
                                    <a:rPr lang="en-US" altLang="zh-CN" i="1" kern="100">
                                      <a:effectLst/>
                                      <a:latin typeface="Cambria Math" panose="02040503050406030204" pitchFamily="18" charset="0"/>
                                      <a:ea typeface="宋体" pitchFamily="2" charset="-122"/>
                                      <a:cs typeface="Times New Roman" panose="02020603050405020304" pitchFamily="18" charset="0"/>
                                    </a:rPr>
                                    <m:t>′</m:t>
                                  </m:r>
                                </m:sup>
                              </m:sSup>
                            </m:e>
                          </m:mr>
                          <m:mr>
                            <m:e>
                              <m:r>
                                <a:rPr lang="en-US" altLang="zh-CN" i="1" kern="100">
                                  <a:effectLst/>
                                  <a:latin typeface="Cambria Math" panose="02040503050406030204" pitchFamily="18" charset="0"/>
                                  <a:ea typeface="宋体" pitchFamily="2" charset="-122"/>
                                  <a:cs typeface="Times New Roman" panose="02020603050405020304" pitchFamily="18" charset="0"/>
                                </a:rPr>
                                <m:t>1</m:t>
                              </m:r>
                            </m:e>
                          </m:mr>
                        </m:m>
                      </m:e>
                    </m:d>
                  </m:oMath>
                </a14:m>
                <a:r>
                  <a:rPr lang="zh-CN" altLang="zh-CN" kern="100" dirty="0">
                    <a:effectLst/>
                    <a:latin typeface="Times New Roman" panose="02020603050405020304" pitchFamily="18" charset="0"/>
                    <a:ea typeface="宋体" pitchFamily="2" charset="-122"/>
                    <a:cs typeface="Times New Roman" panose="02020603050405020304" pitchFamily="18" charset="0"/>
                  </a:rPr>
                  <a:t>，而这个目标图像坐标的增广矩阵也就等于</a:t>
                </a:r>
                <a14:m>
                  <m:oMath xmlns:m="http://schemas.openxmlformats.org/officeDocument/2006/math">
                    <m:sSup>
                      <m:sSupPr>
                        <m:ctrlPr>
                          <a:rPr lang="zh-CN" altLang="zh-CN" i="1">
                            <a:effectLst/>
                            <a:latin typeface="Cambria Math" panose="02040503050406030204" pitchFamily="18" charset="0"/>
                            <a:ea typeface="Cambria Math" panose="02040503050406030204" pitchFamily="18" charset="0"/>
                          </a:rPr>
                        </m:ctrlPr>
                      </m:sSupPr>
                      <m:e>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3"/>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i="1" kern="100">
                                      <a:effectLst/>
                                      <a:latin typeface="Cambria Math" panose="02040503050406030204" pitchFamily="18" charset="0"/>
                                      <a:ea typeface="宋体" pitchFamily="2" charset="-122"/>
                                      <a:cs typeface="Times New Roman" panose="02020603050405020304" pitchFamily="18" charset="0"/>
                                    </a:rPr>
                                    <m:t>𝑦</m:t>
                                  </m:r>
                                </m:e>
                                <m:e>
                                  <m:r>
                                    <a:rPr lang="en-US" altLang="zh-CN" i="1" kern="100">
                                      <a:effectLst/>
                                      <a:latin typeface="Cambria Math" panose="02040503050406030204" pitchFamily="18" charset="0"/>
                                      <a:ea typeface="宋体" pitchFamily="2" charset="-122"/>
                                      <a:cs typeface="Times New Roman" panose="02020603050405020304" pitchFamily="18" charset="0"/>
                                    </a:rPr>
                                    <m:t>𝑥</m:t>
                                  </m:r>
                                </m:e>
                                <m:e>
                                  <m:r>
                                    <a:rPr lang="en-US" altLang="zh-CN" i="1" kern="100">
                                      <a:effectLst/>
                                      <a:latin typeface="Cambria Math" panose="02040503050406030204" pitchFamily="18" charset="0"/>
                                      <a:ea typeface="宋体" pitchFamily="2" charset="-122"/>
                                      <a:cs typeface="Times New Roman" panose="02020603050405020304" pitchFamily="18" charset="0"/>
                                    </a:rPr>
                                    <m:t>1</m:t>
                                  </m:r>
                                </m:e>
                              </m:mr>
                            </m:m>
                          </m:e>
                        </m:d>
                      </m:e>
                      <m:sup>
                        <m:r>
                          <a:rPr lang="en-US" altLang="zh-CN" i="1" kern="100">
                            <a:effectLst/>
                            <a:latin typeface="Cambria Math" panose="02040503050406030204" pitchFamily="18" charset="0"/>
                            <a:ea typeface="宋体" pitchFamily="2" charset="-122"/>
                            <a:cs typeface="Times New Roman" panose="02020603050405020304" pitchFamily="18" charset="0"/>
                          </a:rPr>
                          <m:t>𝑇</m:t>
                        </m:r>
                      </m:sup>
                    </m:sSup>
                  </m:oMath>
                </a14:m>
                <a:r>
                  <a:rPr lang="zh-CN" altLang="zh-CN"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493715" y="1216215"/>
                <a:ext cx="8255543" cy="3443122"/>
              </a:xfrm>
              <a:prstGeom prst="rect">
                <a:avLst/>
              </a:prstGeom>
              <a:blipFill rotWithShape="1">
                <a:blip r:embed="rId3"/>
                <a:stretch>
                  <a:fillRect l="-4" t="-6" r="3" b="-37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1836490" y="4580002"/>
                <a:ext cx="4589754"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r>
                        <a:rPr lang="zh-CN" altLang="en-US" i="0">
                          <a:latin typeface="Cambria Math" panose="02040503050406030204" pitchFamily="18" charset="0"/>
                        </a:rPr>
                        <m:t>=</m:t>
                      </m:r>
                      <m:r>
                        <a:rPr lang="zh-CN" altLang="en-US" i="1">
                          <a:latin typeface="Cambria Math" panose="02040503050406030204" pitchFamily="18" charset="0"/>
                        </a:rPr>
                        <m:t>𝑦</m:t>
                      </m:r>
                      <m:r>
                        <a:rPr lang="zh-CN" altLang="en-US" i="0">
                          <a:latin typeface="Cambria Math" panose="02040503050406030204" pitchFamily="18" charset="0"/>
                        </a:rPr>
                        <m:t>     </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𝑦</m:t>
                          </m:r>
                        </m:e>
                        <m:sup>
                          <m:r>
                            <a:rPr lang="zh-CN" altLang="en-US" i="0">
                              <a:latin typeface="Cambria Math" panose="02040503050406030204" pitchFamily="18" charset="0"/>
                            </a:rPr>
                            <m:t>′</m:t>
                          </m:r>
                        </m:sup>
                      </m:sSup>
                      <m:r>
                        <a:rPr lang="zh-CN" altLang="en-US" i="0">
                          <a:latin typeface="Cambria Math" panose="02040503050406030204" pitchFamily="18" charset="0"/>
                        </a:rPr>
                        <m:t>=</m:t>
                      </m:r>
                      <m:r>
                        <a:rPr lang="zh-CN" altLang="en-US" i="1">
                          <a:latin typeface="Cambria Math" panose="02040503050406030204" pitchFamily="18" charset="0"/>
                        </a:rPr>
                        <m:t>𝑥</m:t>
                      </m:r>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1836490" y="4580002"/>
                <a:ext cx="4589754" cy="415498"/>
              </a:xfrm>
              <a:prstGeom prst="rect">
                <a:avLst/>
              </a:prstGeom>
              <a:blipFill rotWithShape="1">
                <a:blip r:embed="rId4"/>
                <a:stretch>
                  <a:fillRect l="-2" t="-92" r="1" b="-10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2412554" y="5201362"/>
                <a:ext cx="4589754" cy="1119409"/>
              </a:xfrm>
              <a:prstGeom prst="rect">
                <a:avLst/>
              </a:prstGeom>
              <a:noFill/>
            </p:spPr>
            <p:txBody>
              <a:bodyPr wrap="square">
                <a:spAutoFit/>
              </a:bodyPr>
              <a:lstStyle/>
              <a:p>
                <a14:m>
                  <m:oMath xmlns:m="http://schemas.openxmlformats.org/officeDocument/2006/math">
                    <m:d>
                      <m:dPr>
                        <m:begChr m:val="["/>
                        <m:endChr m:val="]"/>
                        <m:ctrlPr>
                          <a:rPr lang="zh-CN" altLang="zh-CN" i="1" smtClean="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sSup>
                                <m:sSupPr>
                                  <m:ctrlPr>
                                    <a:rPr lang="zh-CN" altLang="zh-CN" i="1">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cs typeface="Times New Roman" panose="02020603050405020304" pitchFamily="18" charset="0"/>
                                    </a:rPr>
                                    <m:t>𝑥</m:t>
                                  </m:r>
                                </m:e>
                                <m:sup>
                                  <m:r>
                                    <a:rPr lang="en-US" altLang="zh-CN" sz="2400" i="1" kern="100">
                                      <a:effectLst/>
                                      <a:latin typeface="Cambria Math" panose="02040503050406030204" pitchFamily="18" charset="0"/>
                                      <a:ea typeface="宋体" pitchFamily="2" charset="-122"/>
                                      <a:cs typeface="Times New Roman" panose="02020603050405020304" pitchFamily="18" charset="0"/>
                                    </a:rPr>
                                    <m:t>′</m:t>
                                  </m:r>
                                </m:sup>
                              </m:sSup>
                            </m:e>
                          </m:mr>
                          <m:mr>
                            <m:e>
                              <m:sSup>
                                <m:sSupPr>
                                  <m:ctrlPr>
                                    <a:rPr lang="zh-CN" altLang="zh-CN" i="1">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cs typeface="Times New Roman" panose="02020603050405020304" pitchFamily="18" charset="0"/>
                                    </a:rPr>
                                    <m:t>𝑦</m:t>
                                  </m:r>
                                </m:e>
                                <m:sup>
                                  <m:r>
                                    <a:rPr lang="en-US" altLang="zh-CN" sz="2400" i="1" kern="100">
                                      <a:effectLst/>
                                      <a:latin typeface="Cambria Math" panose="02040503050406030204" pitchFamily="18" charset="0"/>
                                      <a:ea typeface="宋体" pitchFamily="2" charset="-122"/>
                                      <a:cs typeface="Times New Roman" panose="02020603050405020304" pitchFamily="18" charset="0"/>
                                    </a:rPr>
                                    <m:t>′</m:t>
                                  </m:r>
                                </m:sup>
                              </m:sSup>
                            </m:e>
                          </m:mr>
                          <m:mr>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r>
                      <a:rPr lang="en-US" altLang="zh-CN" sz="2400" kern="100">
                        <a:effectLst/>
                        <a:latin typeface="Cambria Math" panose="02040503050406030204" pitchFamily="18" charset="0"/>
                        <a:ea typeface="宋体" pitchFamily="2" charset="-122"/>
                        <a:cs typeface="Times New Roman" panose="02020603050405020304" pitchFamily="18" charset="0"/>
                      </a:rPr>
                      <m:t>=</m:t>
                    </m:r>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ea typeface="宋体" pitchFamily="2" charset="-122"/>
                                  <a:cs typeface="Times New Roman" panose="02020603050405020304" pitchFamily="18" charset="0"/>
                                </a:rPr>
                                <m:t>𝑥</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𝑦</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3"/>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r>
                                <a:rPr lang="en-US" altLang="zh-CN" sz="2400" i="1" kern="100">
                                  <a:effectLst/>
                                  <a:latin typeface="Cambria Math" panose="02040503050406030204" pitchFamily="18" charset="0"/>
                                  <a:ea typeface="宋体" pitchFamily="2" charset="-122"/>
                                  <a:cs typeface="Times New Roman" panose="02020603050405020304" pitchFamily="18" charset="0"/>
                                </a:rPr>
                                <m:t>1</m:t>
                              </m:r>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1</m:t>
                              </m:r>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r>
                                <a:rPr lang="en-US" altLang="zh-CN" sz="2400" i="1" kern="100">
                                  <a:effectLst/>
                                  <a:latin typeface="Cambria Math" panose="02040503050406030204" pitchFamily="18" charset="0"/>
                                  <a:ea typeface="宋体" pitchFamily="2" charset="-122"/>
                                  <a:cs typeface="Times New Roman" panose="02020603050405020304" pitchFamily="18" charset="0"/>
                                </a:rPr>
                                <m:t>0</m:t>
                              </m:r>
                            </m:e>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oMath>
                </a14:m>
                <a:r>
                  <a:rPr lang="en-US" altLang="zh-CN" sz="2400" kern="100" dirty="0">
                    <a:effectLst/>
                    <a:latin typeface="Times New Roman" panose="02020603050405020304" pitchFamily="18" charset="0"/>
                    <a:ea typeface="宋体" pitchFamily="2" charset="-122"/>
                  </a:rPr>
                  <a:t>=</a:t>
                </a:r>
                <a14:m>
                  <m:oMath xmlns:m="http://schemas.openxmlformats.org/officeDocument/2006/math">
                    <m:d>
                      <m:dPr>
                        <m:begChr m:val="["/>
                        <m:endChr m:val="]"/>
                        <m:ctrlPr>
                          <a:rPr lang="zh-CN" altLang="zh-CN"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sz="2400" i="1" kern="100">
                                  <a:effectLst/>
                                  <a:latin typeface="Cambria Math" panose="02040503050406030204" pitchFamily="18" charset="0"/>
                                  <a:ea typeface="宋体" pitchFamily="2" charset="-122"/>
                                  <a:cs typeface="Times New Roman" panose="02020603050405020304" pitchFamily="18" charset="0"/>
                                </a:rPr>
                                <m:t>𝑦</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𝑥</m:t>
                              </m:r>
                            </m:e>
                          </m:mr>
                          <m:mr>
                            <m:e>
                              <m:r>
                                <a:rPr lang="en-US" altLang="zh-CN" sz="2400" i="1" kern="100">
                                  <a:effectLst/>
                                  <a:latin typeface="Cambria Math" panose="02040503050406030204" pitchFamily="18" charset="0"/>
                                  <a:ea typeface="宋体" pitchFamily="2" charset="-122"/>
                                  <a:cs typeface="Times New Roman" panose="02020603050405020304" pitchFamily="18" charset="0"/>
                                </a:rPr>
                                <m:t>1</m:t>
                              </m:r>
                            </m:e>
                          </m:mr>
                        </m:m>
                      </m:e>
                    </m:d>
                  </m:oMath>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2412554" y="5201362"/>
                <a:ext cx="4589754" cy="1119409"/>
              </a:xfrm>
              <a:prstGeom prst="rect">
                <a:avLst/>
              </a:prstGeom>
              <a:blipFill rotWithShape="1">
                <a:blip r:embed="rId5"/>
                <a:stretch>
                  <a:fillRect l="-4" t="-7" r="4" b="55"/>
                </a:stretch>
              </a:blipFill>
            </p:spPr>
            <p:txBody>
              <a:bodyPr/>
              <a:lstStyle/>
              <a:p>
                <a:r>
                  <a:rPr lang="zh-CN" altLang="en-US">
                    <a:noFill/>
                  </a:rPr>
                  <a:t> </a:t>
                </a:r>
              </a:p>
            </p:txBody>
          </p:sp>
        </mc:Fallback>
      </mc:AlternateContent>
      <p:sp>
        <p:nvSpPr>
          <p:cNvPr id="22" name="文本框 21"/>
          <p:cNvSpPr txBox="1"/>
          <p:nvPr/>
        </p:nvSpPr>
        <p:spPr>
          <a:xfrm>
            <a:off x="7309098" y="4565528"/>
            <a:ext cx="648072" cy="415498"/>
          </a:xfrm>
          <a:prstGeom prst="rect">
            <a:avLst/>
          </a:prstGeom>
          <a:noFill/>
        </p:spPr>
        <p:txBody>
          <a:bodyPr wrap="square">
            <a:spAutoFit/>
          </a:bodyPr>
          <a:lstStyle/>
          <a:p>
            <a:r>
              <a:rPr lang="en-US" altLang="zh-CN" dirty="0"/>
              <a:t>(4-9)</a:t>
            </a:r>
            <a:endParaRPr lang="zh-CN" altLang="en-US" dirty="0"/>
          </a:p>
        </p:txBody>
      </p:sp>
      <p:sp>
        <p:nvSpPr>
          <p:cNvPr id="23" name="文本框 22"/>
          <p:cNvSpPr txBox="1"/>
          <p:nvPr/>
        </p:nvSpPr>
        <p:spPr>
          <a:xfrm>
            <a:off x="7329630" y="5572798"/>
            <a:ext cx="915571" cy="415498"/>
          </a:xfrm>
          <a:prstGeom prst="rect">
            <a:avLst/>
          </a:prstGeom>
          <a:noFill/>
        </p:spPr>
        <p:txBody>
          <a:bodyPr wrap="square">
            <a:spAutoFit/>
          </a:bodyPr>
          <a:lstStyle/>
          <a:p>
            <a:r>
              <a:rPr lang="en-US" altLang="zh-CN" dirty="0"/>
              <a:t>(4-10)</a:t>
            </a:r>
            <a:endParaRPr lang="zh-CN" altLang="en-US" dirty="0"/>
          </a:p>
        </p:txBody>
      </p:sp>
    </p:spTree>
  </p:cSld>
  <p:clrMapOvr>
    <a:masterClrMapping/>
  </p:clrMapOvr>
  <p:transition spd="slow" advClick="0" advTm="0">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4.4.2  </a:t>
            </a:r>
            <a:r>
              <a:rPr lang="zh-CN" altLang="en-US" sz="2100" b="1" dirty="0">
                <a:solidFill>
                  <a:schemeClr val="tx1">
                    <a:lumMod val="75000"/>
                    <a:lumOff val="25000"/>
                  </a:schemeClr>
                </a:solidFill>
                <a:latin typeface="微软雅黑" panose="020B0503020204020204" pitchFamily="34" charset="-122"/>
              </a:rPr>
              <a:t>图像转置的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4" name="文本框 13"/>
          <p:cNvSpPr txBox="1"/>
          <p:nvPr/>
        </p:nvSpPr>
        <p:spPr>
          <a:xfrm>
            <a:off x="540346" y="1212398"/>
            <a:ext cx="7848872" cy="2354491"/>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我们使用</a:t>
            </a:r>
            <a:r>
              <a:rPr lang="en-US" altLang="zh-CN" kern="100" dirty="0">
                <a:effectLst/>
                <a:latin typeface="Times New Roman" panose="02020603050405020304" pitchFamily="18" charset="0"/>
                <a:ea typeface="宋体" pitchFamily="2" charset="-122"/>
              </a:rPr>
              <a:t>OpenCV</a:t>
            </a:r>
            <a:r>
              <a:rPr lang="zh-CN" altLang="zh-CN" kern="100" dirty="0">
                <a:effectLst/>
                <a:latin typeface="Times New Roman" panose="02020603050405020304" pitchFamily="18" charset="0"/>
                <a:ea typeface="宋体" pitchFamily="2" charset="-122"/>
              </a:rPr>
              <a:t>提供的</a:t>
            </a:r>
            <a:r>
              <a:rPr lang="en-US" altLang="zh-CN" kern="100" dirty="0">
                <a:effectLst/>
                <a:latin typeface="Times New Roman" panose="02020603050405020304" pitchFamily="18" charset="0"/>
                <a:ea typeface="宋体" pitchFamily="2" charset="-122"/>
              </a:rPr>
              <a:t>cv2.transpose()</a:t>
            </a:r>
            <a:r>
              <a:rPr lang="zh-CN" altLang="zh-CN" kern="100" dirty="0">
                <a:effectLst/>
                <a:latin typeface="Times New Roman" panose="02020603050405020304" pitchFamily="18" charset="0"/>
                <a:ea typeface="宋体" pitchFamily="2" charset="-122"/>
              </a:rPr>
              <a:t>函数实现图像的转置。</a:t>
            </a:r>
            <a:r>
              <a:rPr lang="en-US" altLang="zh-CN" kern="100" dirty="0">
                <a:effectLst/>
                <a:latin typeface="Times New Roman" panose="02020603050405020304" pitchFamily="18" charset="0"/>
                <a:ea typeface="宋体" pitchFamily="2" charset="-122"/>
              </a:rPr>
              <a:t>cv2.transpose()</a:t>
            </a:r>
            <a:r>
              <a:rPr lang="zh-CN" altLang="zh-CN" kern="100" dirty="0">
                <a:effectLst/>
                <a:latin typeface="Times New Roman" panose="02020603050405020304" pitchFamily="18" charset="0"/>
                <a:ea typeface="宋体" pitchFamily="2" charset="-122"/>
              </a:rPr>
              <a:t>函数的调用语法为：</a:t>
            </a:r>
          </a:p>
          <a:p>
            <a:pPr indent="266700" algn="just"/>
            <a:r>
              <a:rPr lang="en-US" altLang="zh-CN" kern="100" dirty="0" err="1">
                <a:effectLst/>
                <a:latin typeface="Times New Roman" panose="02020603050405020304" pitchFamily="18" charset="0"/>
                <a:ea typeface="宋体" pitchFamily="2" charset="-122"/>
              </a:rPr>
              <a:t>dst</a:t>
            </a:r>
            <a:r>
              <a:rPr lang="en-US" altLang="zh-CN" kern="100" dirty="0">
                <a:effectLst/>
                <a:latin typeface="Times New Roman" panose="02020603050405020304" pitchFamily="18" charset="0"/>
                <a:ea typeface="宋体" pitchFamily="2" charset="-122"/>
              </a:rPr>
              <a:t> = cv2.transpose(</a:t>
            </a:r>
            <a:r>
              <a:rPr lang="en-US" altLang="zh-CN" kern="100" dirty="0" err="1">
                <a:effectLst/>
                <a:latin typeface="Times New Roman" panose="02020603050405020304" pitchFamily="18" charset="0"/>
                <a:ea typeface="宋体" pitchFamily="2" charset="-122"/>
              </a:rPr>
              <a:t>img</a:t>
            </a:r>
            <a:r>
              <a:rPr lang="en-US" altLang="zh-CN" kern="100" dirty="0">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dst</a:t>
            </a:r>
            <a:r>
              <a:rPr lang="zh-CN" altLang="zh-CN" kern="100" dirty="0">
                <a:effectLst/>
                <a:latin typeface="Times New Roman" panose="02020603050405020304" pitchFamily="18" charset="0"/>
                <a:ea typeface="宋体" pitchFamily="2" charset="-122"/>
              </a:rPr>
              <a:t>：表示输出的转置图像。</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img</a:t>
            </a:r>
            <a:r>
              <a:rPr lang="zh-CN" altLang="zh-CN" kern="100" dirty="0">
                <a:effectLst/>
                <a:latin typeface="Times New Roman" panose="02020603050405020304" pitchFamily="18" charset="0"/>
                <a:ea typeface="宋体" pitchFamily="2" charset="-122"/>
              </a:rPr>
              <a:t>：表示输入的原始图像。</a:t>
            </a:r>
          </a:p>
          <a:p>
            <a:r>
              <a:rPr lang="zh-CN" altLang="zh-CN" kern="100" dirty="0">
                <a:effectLst/>
                <a:latin typeface="Times New Roman" panose="02020603050405020304" pitchFamily="18" charset="0"/>
                <a:ea typeface="宋体" pitchFamily="2" charset="-122"/>
                <a:cs typeface="Times New Roman" panose="02020603050405020304" pitchFamily="18" charset="0"/>
              </a:rPr>
              <a:t>相应的代码如下：</a:t>
            </a:r>
            <a:endParaRPr lang="zh-CN" altLang="en-US" dirty="0"/>
          </a:p>
        </p:txBody>
      </p:sp>
      <p:sp>
        <p:nvSpPr>
          <p:cNvPr id="16" name="文本框 15"/>
          <p:cNvSpPr txBox="1"/>
          <p:nvPr/>
        </p:nvSpPr>
        <p:spPr>
          <a:xfrm>
            <a:off x="395149" y="3566889"/>
            <a:ext cx="8208912" cy="2677656"/>
          </a:xfrm>
          <a:prstGeom prst="rect">
            <a:avLst/>
          </a:prstGeom>
          <a:noFill/>
        </p:spPr>
        <p:txBody>
          <a:bodyPr wrap="square">
            <a:spAutoFit/>
          </a:bodyPr>
          <a:lstStyle/>
          <a:p>
            <a:pPr indent="266700" algn="just"/>
            <a:r>
              <a:rPr lang="en-US" altLang="zh-CN" kern="100" dirty="0">
                <a:solidFill>
                  <a:srgbClr val="000000"/>
                </a:solidFill>
                <a:effectLst/>
                <a:latin typeface="Times New Roman" panose="02020603050405020304" pitchFamily="18" charset="0"/>
                <a:ea typeface="宋体" pitchFamily="2" charset="-122"/>
              </a:rPr>
              <a:t>import cv2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import </a:t>
            </a:r>
            <a:r>
              <a:rPr lang="en-US" altLang="zh-CN" kern="100" dirty="0" err="1">
                <a:solidFill>
                  <a:srgbClr val="000000"/>
                </a:solidFill>
                <a:effectLst/>
                <a:latin typeface="Times New Roman" panose="02020603050405020304" pitchFamily="18" charset="0"/>
                <a:ea typeface="宋体" pitchFamily="2" charset="-122"/>
              </a:rPr>
              <a:t>numpy</a:t>
            </a:r>
            <a:r>
              <a:rPr lang="en-US" altLang="zh-CN" kern="100" dirty="0">
                <a:solidFill>
                  <a:srgbClr val="000000"/>
                </a:solidFill>
                <a:effectLst/>
                <a:latin typeface="Times New Roman" panose="02020603050405020304" pitchFamily="18" charset="0"/>
                <a:ea typeface="宋体" pitchFamily="2" charset="-122"/>
              </a:rPr>
              <a:t> as np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 </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 cv2.imread('D:\ lena.jpg',1) 	#</a:t>
            </a:r>
            <a:r>
              <a:rPr lang="zh-CN" altLang="zh-CN" kern="100" dirty="0">
                <a:solidFill>
                  <a:srgbClr val="000000"/>
                </a:solidFill>
                <a:effectLst/>
                <a:latin typeface="Times New Roman" panose="02020603050405020304" pitchFamily="18" charset="0"/>
                <a:ea typeface="宋体" pitchFamily="2" charset="-122"/>
              </a:rPr>
              <a:t>读取原始图像 </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solidFill>
                  <a:srgbClr val="000000"/>
                </a:solidFill>
                <a:effectLst/>
                <a:latin typeface="Times New Roman" panose="02020603050405020304" pitchFamily="18" charset="0"/>
                <a:ea typeface="宋体" pitchFamily="2" charset="-122"/>
              </a:rPr>
              <a:t>dst</a:t>
            </a:r>
            <a:r>
              <a:rPr lang="en-US" altLang="zh-CN" kern="100" dirty="0">
                <a:solidFill>
                  <a:srgbClr val="000000"/>
                </a:solidFill>
                <a:effectLst/>
                <a:latin typeface="Times New Roman" panose="02020603050405020304" pitchFamily="18" charset="0"/>
                <a:ea typeface="宋体" pitchFamily="2" charset="-122"/>
              </a:rPr>
              <a:t> = cv2.transpose(</a:t>
            </a:r>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Times New Roman" panose="02020603050405020304" pitchFamily="18" charset="0"/>
                <a:ea typeface="宋体" pitchFamily="2" charset="-122"/>
              </a:rPr>
              <a:t>图像转置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cv2.imshow('</a:t>
            </a:r>
            <a:r>
              <a:rPr lang="en-US" altLang="zh-CN" kern="100" dirty="0" err="1">
                <a:solidFill>
                  <a:srgbClr val="000000"/>
                </a:solidFill>
                <a:effectLst/>
                <a:latin typeface="Times New Roman" panose="02020603050405020304" pitchFamily="18" charset="0"/>
                <a:ea typeface="宋体" pitchFamily="2" charset="-122"/>
              </a:rPr>
              <a:t>origin_picture</a:t>
            </a:r>
            <a:r>
              <a:rPr lang="en-US" altLang="zh-CN" kern="100" dirty="0">
                <a:solidFill>
                  <a:srgbClr val="000000"/>
                </a:solidFill>
                <a:effectLst/>
                <a:latin typeface="Times New Roman" panose="02020603050405020304" pitchFamily="18" charset="0"/>
                <a:ea typeface="宋体" pitchFamily="2" charset="-122"/>
              </a:rPr>
              <a:t>', </a:t>
            </a:r>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Times New Roman" panose="02020603050405020304" pitchFamily="18" charset="0"/>
                <a:ea typeface="宋体" pitchFamily="2" charset="-122"/>
              </a:rPr>
              <a:t>输出原始图像</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cv2.imshow('new1', </a:t>
            </a:r>
            <a:r>
              <a:rPr lang="en-US" altLang="zh-CN" kern="100" dirty="0" err="1">
                <a:solidFill>
                  <a:srgbClr val="000000"/>
                </a:solidFill>
                <a:effectLst/>
                <a:latin typeface="Times New Roman" panose="02020603050405020304" pitchFamily="18" charset="0"/>
                <a:ea typeface="宋体" pitchFamily="2" charset="-122"/>
              </a:rPr>
              <a:t>dst</a:t>
            </a:r>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Times New Roman" panose="02020603050405020304" pitchFamily="18" charset="0"/>
                <a:ea typeface="宋体" pitchFamily="2" charset="-122"/>
              </a:rPr>
              <a:t>输出转置图像</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cv2.waitKey(0) </a:t>
            </a:r>
            <a:endParaRPr lang="zh-CN" altLang="zh-CN"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4.4.2  </a:t>
            </a:r>
            <a:r>
              <a:rPr lang="zh-CN" altLang="en-US" sz="2100" b="1" dirty="0">
                <a:solidFill>
                  <a:schemeClr val="tx1">
                    <a:lumMod val="75000"/>
                    <a:lumOff val="25000"/>
                  </a:schemeClr>
                </a:solidFill>
                <a:latin typeface="微软雅黑" panose="020B0503020204020204" pitchFamily="34" charset="-122"/>
              </a:rPr>
              <a:t>图像转置的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文本框 8"/>
          <p:cNvSpPr txBox="1"/>
          <p:nvPr/>
        </p:nvSpPr>
        <p:spPr>
          <a:xfrm>
            <a:off x="540346" y="1252160"/>
            <a:ext cx="4589754" cy="415498"/>
          </a:xfrm>
          <a:prstGeom prst="rect">
            <a:avLst/>
          </a:prstGeom>
          <a:noFill/>
        </p:spPr>
        <p:txBody>
          <a:bodyPr wrap="square">
            <a:spAutoFit/>
          </a:bodyPr>
          <a:lstStyle/>
          <a:p>
            <a:r>
              <a:rPr lang="zh-CN" altLang="en-US" dirty="0"/>
              <a:t>上述程序的运行结果如图</a:t>
            </a:r>
            <a:r>
              <a:rPr lang="en-US" altLang="zh-CN" dirty="0"/>
              <a:t>4.8</a:t>
            </a:r>
            <a:r>
              <a:rPr lang="zh-CN" altLang="en-US" dirty="0"/>
              <a:t>所示：</a:t>
            </a:r>
          </a:p>
        </p:txBody>
      </p:sp>
      <p:pic>
        <p:nvPicPr>
          <p:cNvPr id="10" name="图片 9"/>
          <p:cNvPicPr>
            <a:picLocks noChangeAspect="1"/>
          </p:cNvPicPr>
          <p:nvPr/>
        </p:nvPicPr>
        <p:blipFill>
          <a:blip r:embed="rId3"/>
          <a:srcRect l="2456" t="1495" r="2925" b="3283"/>
          <a:stretch>
            <a:fillRect/>
          </a:stretch>
        </p:blipFill>
        <p:spPr>
          <a:xfrm>
            <a:off x="1261228" y="1752625"/>
            <a:ext cx="2592288" cy="2565931"/>
          </a:xfrm>
          <a:prstGeom prst="rect">
            <a:avLst/>
          </a:prstGeom>
          <a:ln>
            <a:noFill/>
          </a:ln>
        </p:spPr>
      </p:pic>
      <p:pic>
        <p:nvPicPr>
          <p:cNvPr id="11" name="图片 10"/>
          <p:cNvPicPr>
            <a:picLocks noChangeAspect="1"/>
          </p:cNvPicPr>
          <p:nvPr/>
        </p:nvPicPr>
        <p:blipFill>
          <a:blip r:embed="rId4"/>
          <a:srcRect l="1888" t="2069" r="2407" b="1344"/>
          <a:stretch>
            <a:fillRect/>
          </a:stretch>
        </p:blipFill>
        <p:spPr>
          <a:xfrm>
            <a:off x="5004842" y="1752625"/>
            <a:ext cx="2592288" cy="2565931"/>
          </a:xfrm>
          <a:prstGeom prst="rect">
            <a:avLst/>
          </a:prstGeom>
          <a:ln>
            <a:noFill/>
          </a:ln>
        </p:spPr>
      </p:pic>
      <p:sp>
        <p:nvSpPr>
          <p:cNvPr id="12" name="文本框 11"/>
          <p:cNvSpPr txBox="1"/>
          <p:nvPr/>
        </p:nvSpPr>
        <p:spPr>
          <a:xfrm>
            <a:off x="42036" y="4426711"/>
            <a:ext cx="4589754"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(a) </a:t>
            </a:r>
            <a:r>
              <a:rPr lang="zh-CN" altLang="zh-CN" sz="1600" b="1" dirty="0">
                <a:solidFill>
                  <a:srgbClr val="000000"/>
                </a:solidFill>
                <a:latin typeface="黑体" panose="02010609060101010101" pitchFamily="49" charset="-122"/>
                <a:ea typeface="黑体" panose="02010609060101010101" pitchFamily="49" charset="-122"/>
              </a:rPr>
              <a:t>原始图像</a:t>
            </a:r>
          </a:p>
        </p:txBody>
      </p:sp>
      <p:sp>
        <p:nvSpPr>
          <p:cNvPr id="15" name="文本框 14"/>
          <p:cNvSpPr txBox="1"/>
          <p:nvPr/>
        </p:nvSpPr>
        <p:spPr>
          <a:xfrm>
            <a:off x="5508898" y="4493922"/>
            <a:ext cx="1728192"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 </a:t>
            </a:r>
            <a:r>
              <a:rPr lang="zh-CN" altLang="zh-CN" sz="1600" b="1" dirty="0">
                <a:solidFill>
                  <a:srgbClr val="000000"/>
                </a:solidFill>
                <a:latin typeface="黑体" panose="02010609060101010101" pitchFamily="49" charset="-122"/>
                <a:ea typeface="黑体" panose="02010609060101010101" pitchFamily="49" charset="-122"/>
              </a:rPr>
              <a:t>转置图像</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8" name="文本框 17"/>
          <p:cNvSpPr txBox="1"/>
          <p:nvPr/>
        </p:nvSpPr>
        <p:spPr>
          <a:xfrm>
            <a:off x="2052514" y="4823176"/>
            <a:ext cx="4589754"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4.8  </a:t>
            </a:r>
            <a:r>
              <a:rPr lang="zh-CN" altLang="en-US" sz="1800" b="1" kern="0" dirty="0">
                <a:latin typeface="黑体" panose="02010609060101010101" pitchFamily="49" charset="-122"/>
                <a:ea typeface="黑体" panose="02010609060101010101" pitchFamily="49" charset="-122"/>
              </a:rPr>
              <a:t>图像转置效果图</a:t>
            </a:r>
            <a:endParaRPr lang="zh-CN" altLang="zh-CN" sz="1800" b="1" kern="0" dirty="0">
              <a:latin typeface="黑体" panose="02010609060101010101" pitchFamily="49" charset="-122"/>
              <a:ea typeface="黑体" panose="02010609060101010101" pitchFamily="49" charset="-122"/>
            </a:endParaRPr>
          </a:p>
        </p:txBody>
      </p:sp>
      <p:sp>
        <p:nvSpPr>
          <p:cNvPr id="13" name="文本框 12"/>
          <p:cNvSpPr txBox="1"/>
          <p:nvPr/>
        </p:nvSpPr>
        <p:spPr>
          <a:xfrm>
            <a:off x="540346" y="5337097"/>
            <a:ext cx="7704856" cy="1061829"/>
          </a:xfrm>
          <a:prstGeom prst="rect">
            <a:avLst/>
          </a:prstGeom>
          <a:noFill/>
        </p:spPr>
        <p:txBody>
          <a:bodyPr wrap="square">
            <a:spAutoFit/>
          </a:bodyPr>
          <a:lstStyle/>
          <a:p>
            <a:r>
              <a:rPr lang="zh-CN" altLang="en-US" dirty="0"/>
              <a:t>         将</a:t>
            </a:r>
            <a:r>
              <a:rPr lang="en-US" altLang="zh-CN" dirty="0"/>
              <a:t>4.8(a) </a:t>
            </a:r>
            <a:r>
              <a:rPr lang="zh-CN" altLang="en-US" dirty="0"/>
              <a:t>所示的原始图像通过函数</a:t>
            </a:r>
            <a:r>
              <a:rPr lang="en-US" altLang="zh-CN" dirty="0"/>
              <a:t>cv2.transpose()</a:t>
            </a:r>
            <a:r>
              <a:rPr lang="zh-CN" altLang="en-US" dirty="0"/>
              <a:t>实现转置变换，使得整个图像中像素点的横纵坐标发生变化，得到转置图像</a:t>
            </a:r>
            <a:r>
              <a:rPr lang="en-US" altLang="zh-CN" dirty="0"/>
              <a:t>4.8 (b)</a:t>
            </a:r>
            <a:r>
              <a:rPr lang="zh-CN" altLang="en-US" dirty="0"/>
              <a:t>。我们可以通过这种方式对图像进行多方位的展示。</a:t>
            </a:r>
          </a:p>
        </p:txBody>
      </p:sp>
    </p:spTree>
  </p:cSld>
  <p:clrMapOvr>
    <a:masterClrMapping/>
  </p:clrMapOvr>
  <p:transition spd="slow" advClick="0" advTm="0">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4.5  </a:t>
            </a:r>
            <a:r>
              <a:rPr lang="zh-CN" altLang="en-US" sz="2100" b="1" dirty="0">
                <a:solidFill>
                  <a:schemeClr val="tx1">
                    <a:lumMod val="75000"/>
                    <a:lumOff val="25000"/>
                  </a:schemeClr>
                </a:solidFill>
                <a:latin typeface="微软雅黑" panose="020B0503020204020204" pitchFamily="34" charset="-122"/>
              </a:rPr>
              <a:t>图像的翻转</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4" name="文本框 13"/>
          <p:cNvSpPr txBox="1"/>
          <p:nvPr/>
        </p:nvSpPr>
        <p:spPr>
          <a:xfrm>
            <a:off x="712183" y="1164008"/>
            <a:ext cx="4589754" cy="415498"/>
          </a:xfrm>
          <a:prstGeom prst="rect">
            <a:avLst/>
          </a:prstGeom>
          <a:noFill/>
        </p:spPr>
        <p:txBody>
          <a:bodyPr wrap="square">
            <a:spAutoFit/>
          </a:bodyPr>
          <a:lstStyle/>
          <a:p>
            <a:pPr algn="just">
              <a:spcBef>
                <a:spcPts val="1200"/>
              </a:spcBef>
              <a:spcAft>
                <a:spcPts val="600"/>
              </a:spcAft>
            </a:pPr>
            <a:r>
              <a:rPr lang="en-US" altLang="zh-CN" b="1" kern="100" dirty="0">
                <a:effectLst/>
                <a:latin typeface="Arial" panose="020B0604020202090204" pitchFamily="34" charset="0"/>
                <a:ea typeface="宋体" pitchFamily="2" charset="-122"/>
                <a:cs typeface="Times New Roman" panose="02020603050405020304" pitchFamily="18" charset="0"/>
              </a:rPr>
              <a:t>4.5.1  </a:t>
            </a:r>
            <a:r>
              <a:rPr lang="zh-CN" altLang="zh-CN" b="1" kern="100" dirty="0">
                <a:effectLst/>
                <a:latin typeface="Arial" panose="020B0604020202090204" pitchFamily="34" charset="0"/>
                <a:ea typeface="宋体" pitchFamily="2" charset="-122"/>
                <a:cs typeface="Times New Roman" panose="02020603050405020304" pitchFamily="18" charset="0"/>
              </a:rPr>
              <a:t>图像翻转的基本原理</a:t>
            </a:r>
          </a:p>
        </p:txBody>
      </p:sp>
      <p:sp>
        <p:nvSpPr>
          <p:cNvPr id="16" name="文本框 15"/>
          <p:cNvSpPr txBox="1"/>
          <p:nvPr/>
        </p:nvSpPr>
        <p:spPr>
          <a:xfrm>
            <a:off x="712183" y="1628027"/>
            <a:ext cx="6858452" cy="784830"/>
          </a:xfrm>
          <a:prstGeom prst="rect">
            <a:avLst/>
          </a:prstGeom>
          <a:noFill/>
        </p:spPr>
        <p:txBody>
          <a:bodyPr wrap="square">
            <a:spAutoFit/>
          </a:bodyPr>
          <a:lstStyle/>
          <a:p>
            <a:pPr indent="266700" algn="just"/>
            <a:r>
              <a:rPr lang="en-US" altLang="zh-CN" dirty="0">
                <a:latin typeface="Times New Roman" panose="02020603050405020304" pitchFamily="18" charset="0"/>
                <a:ea typeface="宋体" pitchFamily="2" charset="-122"/>
              </a:rPr>
              <a:t>     </a:t>
            </a:r>
            <a:r>
              <a:rPr lang="zh-CN" altLang="zh-CN" dirty="0">
                <a:effectLst/>
                <a:latin typeface="Times New Roman" panose="02020603050405020304" pitchFamily="18" charset="0"/>
                <a:ea typeface="宋体" pitchFamily="2" charset="-122"/>
              </a:rPr>
              <a:t>图像翻转是指图像关于翻转轴做空间</a:t>
            </a:r>
            <a:r>
              <a:rPr lang="en-US" altLang="zh-CN" dirty="0">
                <a:effectLst/>
                <a:latin typeface="Times New Roman" panose="02020603050405020304" pitchFamily="18" charset="0"/>
                <a:ea typeface="宋体" pitchFamily="2" charset="-122"/>
              </a:rPr>
              <a:t>180</a:t>
            </a:r>
            <a:r>
              <a:rPr lang="zh-CN" altLang="zh-CN" dirty="0">
                <a:effectLst/>
                <a:latin typeface="Times New Roman" panose="02020603050405020304" pitchFamily="18" charset="0"/>
                <a:ea typeface="宋体" pitchFamily="2" charset="-122"/>
              </a:rPr>
              <a:t>°的变换如图</a:t>
            </a:r>
            <a:r>
              <a:rPr lang="en-US" altLang="zh-CN" dirty="0">
                <a:effectLst/>
                <a:latin typeface="Times New Roman" panose="02020603050405020304" pitchFamily="18" charset="0"/>
                <a:ea typeface="宋体" pitchFamily="2" charset="-122"/>
              </a:rPr>
              <a:t>4.9</a:t>
            </a:r>
            <a:r>
              <a:rPr lang="zh-CN" altLang="zh-CN" dirty="0">
                <a:effectLst/>
                <a:latin typeface="Times New Roman" panose="02020603050405020304" pitchFamily="18" charset="0"/>
                <a:ea typeface="宋体" pitchFamily="2" charset="-122"/>
              </a:rPr>
              <a:t>所示</a:t>
            </a:r>
            <a:r>
              <a:rPr lang="zh-CN" altLang="zh-CN" sz="2400" dirty="0">
                <a:effectLst/>
                <a:latin typeface="Times New Roman" panose="02020603050405020304" pitchFamily="18" charset="0"/>
                <a:ea typeface="宋体" pitchFamily="2" charset="-122"/>
              </a:rPr>
              <a:t>。</a:t>
            </a:r>
          </a:p>
        </p:txBody>
      </p:sp>
      <p:pic>
        <p:nvPicPr>
          <p:cNvPr id="31" name="图片 30"/>
          <p:cNvPicPr>
            <a:picLocks noChangeAspect="1"/>
          </p:cNvPicPr>
          <p:nvPr/>
        </p:nvPicPr>
        <p:blipFill>
          <a:blip r:embed="rId3"/>
          <a:stretch>
            <a:fillRect/>
          </a:stretch>
        </p:blipFill>
        <p:spPr>
          <a:xfrm>
            <a:off x="1756531" y="2461378"/>
            <a:ext cx="876770" cy="1357077"/>
          </a:xfrm>
          <a:prstGeom prst="rect">
            <a:avLst/>
          </a:prstGeom>
        </p:spPr>
      </p:pic>
      <p:pic>
        <p:nvPicPr>
          <p:cNvPr id="32" name="图片 31"/>
          <p:cNvPicPr>
            <a:picLocks noChangeAspect="1"/>
          </p:cNvPicPr>
          <p:nvPr/>
        </p:nvPicPr>
        <p:blipFill>
          <a:blip r:embed="rId4"/>
          <a:stretch>
            <a:fillRect/>
          </a:stretch>
        </p:blipFill>
        <p:spPr>
          <a:xfrm>
            <a:off x="5852559" y="2452633"/>
            <a:ext cx="876770" cy="1357077"/>
          </a:xfrm>
          <a:prstGeom prst="rect">
            <a:avLst/>
          </a:prstGeom>
        </p:spPr>
      </p:pic>
      <p:pic>
        <p:nvPicPr>
          <p:cNvPr id="33" name="图片 32"/>
          <p:cNvPicPr>
            <a:picLocks noChangeAspect="1"/>
          </p:cNvPicPr>
          <p:nvPr/>
        </p:nvPicPr>
        <p:blipFill>
          <a:blip r:embed="rId5"/>
          <a:stretch>
            <a:fillRect/>
          </a:stretch>
        </p:blipFill>
        <p:spPr>
          <a:xfrm>
            <a:off x="1758303" y="4388639"/>
            <a:ext cx="874998" cy="1354334"/>
          </a:xfrm>
          <a:prstGeom prst="rect">
            <a:avLst/>
          </a:prstGeom>
        </p:spPr>
      </p:pic>
      <p:pic>
        <p:nvPicPr>
          <p:cNvPr id="34" name="图片 33"/>
          <p:cNvPicPr>
            <a:picLocks noChangeAspect="1"/>
          </p:cNvPicPr>
          <p:nvPr/>
        </p:nvPicPr>
        <p:blipFill>
          <a:blip r:embed="rId6"/>
          <a:stretch>
            <a:fillRect/>
          </a:stretch>
        </p:blipFill>
        <p:spPr>
          <a:xfrm>
            <a:off x="5852559" y="4459616"/>
            <a:ext cx="874998" cy="1354334"/>
          </a:xfrm>
          <a:prstGeom prst="rect">
            <a:avLst/>
          </a:prstGeom>
        </p:spPr>
      </p:pic>
      <p:sp>
        <p:nvSpPr>
          <p:cNvPr id="36" name="文本框 35"/>
          <p:cNvSpPr txBox="1"/>
          <p:nvPr/>
        </p:nvSpPr>
        <p:spPr>
          <a:xfrm>
            <a:off x="1943412" y="3818455"/>
            <a:ext cx="422006" cy="415498"/>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(a)</a:t>
            </a:r>
            <a:endParaRPr lang="zh-CN" altLang="en-US" dirty="0"/>
          </a:p>
        </p:txBody>
      </p:sp>
      <p:sp>
        <p:nvSpPr>
          <p:cNvPr id="37" name="文本框 36"/>
          <p:cNvSpPr txBox="1"/>
          <p:nvPr/>
        </p:nvSpPr>
        <p:spPr>
          <a:xfrm>
            <a:off x="6012954" y="3866976"/>
            <a:ext cx="422006" cy="415498"/>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(b)</a:t>
            </a:r>
            <a:endParaRPr lang="zh-CN" altLang="en-US" dirty="0"/>
          </a:p>
        </p:txBody>
      </p:sp>
      <p:sp>
        <p:nvSpPr>
          <p:cNvPr id="38" name="文本框 37"/>
          <p:cNvSpPr txBox="1"/>
          <p:nvPr/>
        </p:nvSpPr>
        <p:spPr>
          <a:xfrm>
            <a:off x="1894104" y="5742973"/>
            <a:ext cx="422006" cy="415498"/>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(c)</a:t>
            </a:r>
            <a:endParaRPr lang="zh-CN" altLang="en-US" dirty="0"/>
          </a:p>
        </p:txBody>
      </p:sp>
      <p:sp>
        <p:nvSpPr>
          <p:cNvPr id="39" name="文本框 38"/>
          <p:cNvSpPr txBox="1"/>
          <p:nvPr/>
        </p:nvSpPr>
        <p:spPr>
          <a:xfrm>
            <a:off x="6012954" y="5823160"/>
            <a:ext cx="422006" cy="415498"/>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(d)</a:t>
            </a:r>
            <a:endParaRPr lang="zh-CN" altLang="en-US" dirty="0"/>
          </a:p>
        </p:txBody>
      </p:sp>
      <p:sp>
        <p:nvSpPr>
          <p:cNvPr id="40" name="文本框 39"/>
          <p:cNvSpPr txBox="1"/>
          <p:nvPr/>
        </p:nvSpPr>
        <p:spPr>
          <a:xfrm>
            <a:off x="1964593" y="6302983"/>
            <a:ext cx="4589754"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4.9  </a:t>
            </a:r>
            <a:r>
              <a:rPr lang="zh-CN" altLang="en-US" sz="1800" b="1" kern="0" dirty="0">
                <a:latin typeface="黑体" panose="02010609060101010101" pitchFamily="49" charset="-122"/>
                <a:ea typeface="黑体" panose="02010609060101010101" pitchFamily="49" charset="-122"/>
              </a:rPr>
              <a:t>图像翻转</a:t>
            </a:r>
            <a:endParaRPr lang="zh-CN" altLang="zh-CN" sz="1800" b="1" kern="0" dirty="0">
              <a:latin typeface="黑体" panose="02010609060101010101" pitchFamily="49" charset="-122"/>
              <a:ea typeface="黑体" panose="02010609060101010101" pitchFamily="49" charset="-122"/>
            </a:endParaRPr>
          </a:p>
        </p:txBody>
      </p:sp>
    </p:spTree>
  </p:cSld>
  <p:clrMapOvr>
    <a:masterClrMapping/>
  </p:clrMapOvr>
  <p:transition spd="slow" advClick="0" advTm="0">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4.5.1  </a:t>
            </a:r>
            <a:r>
              <a:rPr lang="zh-CN" altLang="en-US" sz="2100" b="1" dirty="0">
                <a:solidFill>
                  <a:schemeClr val="tx1">
                    <a:lumMod val="75000"/>
                    <a:lumOff val="25000"/>
                  </a:schemeClr>
                </a:solidFill>
                <a:latin typeface="微软雅黑" panose="020B0503020204020204" pitchFamily="34" charset="-122"/>
              </a:rPr>
              <a:t>图像翻转的基本原理</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 name="文本框 17"/>
          <p:cNvSpPr txBox="1"/>
          <p:nvPr/>
        </p:nvSpPr>
        <p:spPr>
          <a:xfrm>
            <a:off x="504342" y="1658828"/>
            <a:ext cx="8136904" cy="3323987"/>
          </a:xfrm>
          <a:prstGeom prst="rect">
            <a:avLst/>
          </a:prstGeom>
          <a:noFill/>
        </p:spPr>
        <p:txBody>
          <a:bodyPr wrap="square">
            <a:spAutoFit/>
          </a:bodyPr>
          <a:lstStyle/>
          <a:p>
            <a:r>
              <a:rPr lang="zh-CN" altLang="en-US" dirty="0"/>
              <a:t>        图像翻转得到的图形与原图形关于翻转轴对称。图像的翻转主要包括三种翻转方式，分别是水平翻转、垂直翻转和水平垂直翻转。如图</a:t>
            </a:r>
            <a:r>
              <a:rPr lang="en-US" altLang="zh-CN" dirty="0"/>
              <a:t>4.9</a:t>
            </a:r>
            <a:r>
              <a:rPr lang="zh-CN" altLang="en-US" dirty="0"/>
              <a:t>，就是通过这三种方式得到的翻转图形。</a:t>
            </a:r>
            <a:endParaRPr lang="en-US" altLang="zh-CN" dirty="0"/>
          </a:p>
          <a:p>
            <a:endParaRPr lang="zh-CN" altLang="en-US" dirty="0"/>
          </a:p>
          <a:p>
            <a:r>
              <a:rPr lang="zh-CN" altLang="en-US" dirty="0"/>
              <a:t>        </a:t>
            </a:r>
            <a:endParaRPr lang="en-US" altLang="zh-CN" dirty="0"/>
          </a:p>
          <a:p>
            <a:r>
              <a:rPr lang="en-US" altLang="zh-CN" dirty="0"/>
              <a:t>         </a:t>
            </a:r>
            <a:r>
              <a:rPr lang="zh-CN" altLang="en-US" dirty="0"/>
              <a:t>图</a:t>
            </a:r>
            <a:r>
              <a:rPr lang="en-US" altLang="zh-CN" dirty="0"/>
              <a:t>4.9</a:t>
            </a:r>
            <a:r>
              <a:rPr lang="zh-CN" altLang="en-US" dirty="0"/>
              <a:t>可以看出，图</a:t>
            </a:r>
            <a:r>
              <a:rPr lang="en-US" altLang="zh-CN" dirty="0"/>
              <a:t>4.9 (b)</a:t>
            </a:r>
            <a:r>
              <a:rPr lang="zh-CN" altLang="en-US" dirty="0"/>
              <a:t>中的所有像素点都是将原图像</a:t>
            </a:r>
            <a:r>
              <a:rPr lang="en-US" altLang="zh-CN" dirty="0"/>
              <a:t>4.9 (a)</a:t>
            </a:r>
            <a:r>
              <a:rPr lang="zh-CN" altLang="en-US" dirty="0"/>
              <a:t>按照垂直方向的固定轴进行轴对称复制后产生的。同理，图像</a:t>
            </a:r>
            <a:r>
              <a:rPr lang="en-US" altLang="zh-CN" dirty="0"/>
              <a:t>4.9 (c)</a:t>
            </a:r>
            <a:r>
              <a:rPr lang="zh-CN" altLang="en-US" dirty="0"/>
              <a:t>是通过原图像</a:t>
            </a:r>
            <a:r>
              <a:rPr lang="en-US" altLang="zh-CN" dirty="0"/>
              <a:t>4.9 (a)</a:t>
            </a:r>
            <a:r>
              <a:rPr lang="zh-CN" altLang="en-US" dirty="0"/>
              <a:t>按照水平方向的固定轴进行轴对称复制后产生的。图像</a:t>
            </a:r>
            <a:r>
              <a:rPr lang="en-US" altLang="zh-CN" dirty="0"/>
              <a:t>4.9 (d)</a:t>
            </a:r>
            <a:r>
              <a:rPr lang="zh-CN" altLang="en-US" dirty="0"/>
              <a:t>是将原图像</a:t>
            </a:r>
            <a:r>
              <a:rPr lang="en-US" altLang="zh-CN" dirty="0"/>
              <a:t>4.9 (a)</a:t>
            </a:r>
            <a:r>
              <a:rPr lang="zh-CN" altLang="en-US" dirty="0"/>
              <a:t>按照某一个固定点实现中心对称复制后产生的。</a:t>
            </a:r>
          </a:p>
        </p:txBody>
      </p:sp>
    </p:spTree>
  </p:cSld>
  <p:clrMapOvr>
    <a:masterClrMapping/>
  </p:clrMapOvr>
  <p:transition spd="slow" advClick="0" advTm="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4.5.2  </a:t>
            </a:r>
            <a:r>
              <a:rPr lang="zh-CN" altLang="en-US" sz="2100" b="1" dirty="0">
                <a:solidFill>
                  <a:schemeClr val="tx1">
                    <a:lumMod val="75000"/>
                    <a:lumOff val="25000"/>
                  </a:schemeClr>
                </a:solidFill>
                <a:latin typeface="微软雅黑" panose="020B0503020204020204" pitchFamily="34" charset="-122"/>
              </a:rPr>
              <a:t>图像翻转的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文本框 7"/>
          <p:cNvSpPr txBox="1"/>
          <p:nvPr/>
        </p:nvSpPr>
        <p:spPr>
          <a:xfrm>
            <a:off x="468338" y="1212398"/>
            <a:ext cx="8208912" cy="3000821"/>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我们使用</a:t>
            </a:r>
            <a:r>
              <a:rPr lang="en-US" altLang="zh-CN" kern="100" dirty="0">
                <a:effectLst/>
                <a:latin typeface="Times New Roman" panose="02020603050405020304" pitchFamily="18" charset="0"/>
                <a:ea typeface="宋体" pitchFamily="2" charset="-122"/>
              </a:rPr>
              <a:t>OpenCV</a:t>
            </a:r>
            <a:r>
              <a:rPr lang="zh-CN" altLang="zh-CN" kern="100" dirty="0">
                <a:effectLst/>
                <a:latin typeface="Times New Roman" panose="02020603050405020304" pitchFamily="18" charset="0"/>
                <a:ea typeface="宋体" pitchFamily="2" charset="-122"/>
              </a:rPr>
              <a:t>提供的函数</a:t>
            </a:r>
            <a:r>
              <a:rPr lang="en-US" altLang="zh-CN" kern="100" dirty="0">
                <a:effectLst/>
                <a:latin typeface="Times New Roman" panose="02020603050405020304" pitchFamily="18" charset="0"/>
                <a:ea typeface="宋体" pitchFamily="2" charset="-122"/>
              </a:rPr>
              <a:t>cv2.flip()</a:t>
            </a:r>
            <a:r>
              <a:rPr lang="zh-CN" altLang="zh-CN" kern="100" dirty="0">
                <a:effectLst/>
                <a:latin typeface="Times New Roman" panose="02020603050405020304" pitchFamily="18" charset="0"/>
                <a:ea typeface="宋体" pitchFamily="2" charset="-122"/>
              </a:rPr>
              <a:t>对图像进行翻转。</a:t>
            </a:r>
            <a:r>
              <a:rPr lang="en-US" altLang="zh-CN" kern="100" dirty="0">
                <a:effectLst/>
                <a:latin typeface="Times New Roman" panose="02020603050405020304" pitchFamily="18" charset="0"/>
                <a:ea typeface="宋体" pitchFamily="2" charset="-122"/>
              </a:rPr>
              <a:t>cv2.flip()</a:t>
            </a:r>
            <a:r>
              <a:rPr lang="zh-CN" altLang="zh-CN" kern="100" dirty="0">
                <a:effectLst/>
                <a:latin typeface="Times New Roman" panose="02020603050405020304" pitchFamily="18" charset="0"/>
                <a:ea typeface="宋体" pitchFamily="2" charset="-122"/>
              </a:rPr>
              <a:t>函数的调用语法为：</a:t>
            </a:r>
          </a:p>
          <a:p>
            <a:pPr indent="266700" algn="just"/>
            <a:r>
              <a:rPr lang="en-US" altLang="zh-CN" kern="100" dirty="0">
                <a:effectLst/>
                <a:latin typeface="Times New Roman" panose="02020603050405020304" pitchFamily="18" charset="0"/>
                <a:ea typeface="宋体" pitchFamily="2" charset="-122"/>
              </a:rPr>
              <a:t> </a:t>
            </a:r>
            <a:r>
              <a:rPr lang="en-US" altLang="zh-CN" kern="100" dirty="0" err="1">
                <a:effectLst/>
                <a:latin typeface="Times New Roman" panose="02020603050405020304" pitchFamily="18" charset="0"/>
                <a:ea typeface="宋体" pitchFamily="2" charset="-122"/>
              </a:rPr>
              <a:t>dst</a:t>
            </a:r>
            <a:r>
              <a:rPr lang="en-US" altLang="zh-CN" kern="100" dirty="0">
                <a:effectLst/>
                <a:latin typeface="Times New Roman" panose="02020603050405020304" pitchFamily="18" charset="0"/>
                <a:ea typeface="宋体" pitchFamily="2" charset="-122"/>
              </a:rPr>
              <a:t> = cv2.flip(</a:t>
            </a:r>
            <a:r>
              <a:rPr lang="en-US" altLang="zh-CN" kern="100" dirty="0" err="1">
                <a:effectLst/>
                <a:latin typeface="Times New Roman" panose="02020603050405020304" pitchFamily="18" charset="0"/>
                <a:ea typeface="宋体" pitchFamily="2" charset="-122"/>
              </a:rPr>
              <a:t>img</a:t>
            </a:r>
            <a:r>
              <a:rPr lang="en-US" altLang="zh-CN" kern="100" dirty="0">
                <a:effectLst/>
                <a:latin typeface="Times New Roman" panose="02020603050405020304" pitchFamily="18" charset="0"/>
                <a:ea typeface="宋体" pitchFamily="2" charset="-122"/>
              </a:rPr>
              <a:t>, </a:t>
            </a:r>
            <a:r>
              <a:rPr lang="en-US" altLang="zh-CN" kern="100" dirty="0" err="1">
                <a:effectLst/>
                <a:latin typeface="Times New Roman" panose="02020603050405020304" pitchFamily="18" charset="0"/>
                <a:ea typeface="宋体" pitchFamily="2" charset="-122"/>
              </a:rPr>
              <a:t>flipCode</a:t>
            </a:r>
            <a:r>
              <a:rPr lang="en-US" altLang="zh-CN" kern="100" dirty="0">
                <a:effectLst/>
                <a:latin typeface="Times New Roman" panose="02020603050405020304" pitchFamily="18" charset="0"/>
                <a:ea typeface="宋体" pitchFamily="2" charset="-122"/>
              </a:rPr>
              <a:t>) </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dst</a:t>
            </a:r>
            <a:r>
              <a:rPr lang="zh-CN" altLang="zh-CN" kern="100" dirty="0">
                <a:effectLst/>
                <a:latin typeface="Times New Roman" panose="02020603050405020304" pitchFamily="18" charset="0"/>
                <a:ea typeface="宋体" pitchFamily="2" charset="-122"/>
              </a:rPr>
              <a:t>：表示输出的翻转图像。</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img</a:t>
            </a:r>
            <a:r>
              <a:rPr lang="zh-CN" altLang="zh-CN" kern="100" dirty="0">
                <a:effectLst/>
                <a:latin typeface="Times New Roman" panose="02020603050405020304" pitchFamily="18" charset="0"/>
                <a:ea typeface="宋体" pitchFamily="2" charset="-122"/>
              </a:rPr>
              <a:t>：表示输入的原始图像。</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flipCode</a:t>
            </a:r>
            <a:r>
              <a:rPr lang="zh-CN" altLang="zh-CN" kern="100" dirty="0">
                <a:effectLst/>
                <a:latin typeface="Times New Roman" panose="02020603050405020304" pitchFamily="18" charset="0"/>
                <a:ea typeface="宋体" pitchFamily="2" charset="-122"/>
              </a:rPr>
              <a:t>：表示翻转类型。</a:t>
            </a:r>
            <a:r>
              <a:rPr lang="en-US" altLang="zh-CN" kern="100" dirty="0" err="1">
                <a:effectLst/>
                <a:latin typeface="Times New Roman" panose="02020603050405020304" pitchFamily="18" charset="0"/>
                <a:ea typeface="宋体" pitchFamily="2" charset="-122"/>
              </a:rPr>
              <a:t>flipCode</a:t>
            </a:r>
            <a:r>
              <a:rPr lang="zh-CN" altLang="zh-CN" kern="100" dirty="0">
                <a:effectLst/>
                <a:latin typeface="Times New Roman" panose="02020603050405020304" pitchFamily="18" charset="0"/>
                <a:ea typeface="宋体" pitchFamily="2" charset="-122"/>
              </a:rPr>
              <a:t>的值等于</a:t>
            </a:r>
            <a:r>
              <a:rPr lang="en-US" altLang="zh-CN" kern="100" dirty="0">
                <a:effectLst/>
                <a:latin typeface="Times New Roman" panose="02020603050405020304" pitchFamily="18" charset="0"/>
                <a:ea typeface="宋体" pitchFamily="2" charset="-122"/>
              </a:rPr>
              <a:t>0</a:t>
            </a:r>
            <a:r>
              <a:rPr lang="zh-CN" altLang="zh-CN" kern="100" dirty="0">
                <a:effectLst/>
                <a:latin typeface="Times New Roman" panose="02020603050405020304" pitchFamily="18" charset="0"/>
                <a:ea typeface="宋体" pitchFamily="2" charset="-122"/>
              </a:rPr>
              <a:t>表示垂直翻转；</a:t>
            </a:r>
            <a:r>
              <a:rPr lang="en-US" altLang="zh-CN" kern="100" dirty="0" err="1">
                <a:effectLst/>
                <a:latin typeface="Times New Roman" panose="02020603050405020304" pitchFamily="18" charset="0"/>
                <a:ea typeface="宋体" pitchFamily="2" charset="-122"/>
              </a:rPr>
              <a:t>flipCode</a:t>
            </a:r>
            <a:r>
              <a:rPr lang="zh-CN" altLang="zh-CN" kern="100" dirty="0">
                <a:effectLst/>
                <a:latin typeface="Times New Roman" panose="02020603050405020304" pitchFamily="18" charset="0"/>
                <a:ea typeface="宋体" pitchFamily="2" charset="-122"/>
              </a:rPr>
              <a:t>的值大于</a:t>
            </a:r>
            <a:r>
              <a:rPr lang="en-US" altLang="zh-CN" kern="100" dirty="0">
                <a:effectLst/>
                <a:latin typeface="Times New Roman" panose="02020603050405020304" pitchFamily="18" charset="0"/>
                <a:ea typeface="宋体" pitchFamily="2" charset="-122"/>
              </a:rPr>
              <a:t>0</a:t>
            </a:r>
            <a:r>
              <a:rPr lang="zh-CN" altLang="zh-CN" kern="100" dirty="0">
                <a:effectLst/>
                <a:latin typeface="Times New Roman" panose="02020603050405020304" pitchFamily="18" charset="0"/>
                <a:ea typeface="宋体" pitchFamily="2" charset="-122"/>
              </a:rPr>
              <a:t>表示水平翻转；</a:t>
            </a:r>
            <a:r>
              <a:rPr lang="en-US" altLang="zh-CN" kern="100" dirty="0" err="1">
                <a:effectLst/>
                <a:latin typeface="Times New Roman" panose="02020603050405020304" pitchFamily="18" charset="0"/>
                <a:ea typeface="宋体" pitchFamily="2" charset="-122"/>
              </a:rPr>
              <a:t>flipCode</a:t>
            </a:r>
            <a:r>
              <a:rPr lang="zh-CN" altLang="zh-CN" kern="100" dirty="0">
                <a:effectLst/>
                <a:latin typeface="Times New Roman" panose="02020603050405020304" pitchFamily="18" charset="0"/>
                <a:ea typeface="宋体" pitchFamily="2" charset="-122"/>
              </a:rPr>
              <a:t>的值小于</a:t>
            </a:r>
            <a:r>
              <a:rPr lang="en-US" altLang="zh-CN" kern="100" dirty="0">
                <a:effectLst/>
                <a:latin typeface="Times New Roman" panose="02020603050405020304" pitchFamily="18" charset="0"/>
                <a:ea typeface="宋体" pitchFamily="2" charset="-122"/>
              </a:rPr>
              <a:t>0</a:t>
            </a:r>
            <a:r>
              <a:rPr lang="zh-CN" altLang="zh-CN" kern="100" dirty="0">
                <a:effectLst/>
                <a:latin typeface="Times New Roman" panose="02020603050405020304" pitchFamily="18" charset="0"/>
                <a:ea typeface="宋体" pitchFamily="2" charset="-122"/>
              </a:rPr>
              <a:t>表示水平垂直翻转。</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l="2188" t="15000" r="1486" b="2018"/>
          <a:stretch>
            <a:fillRect/>
          </a:stretch>
        </p:blipFill>
        <p:spPr>
          <a:xfrm>
            <a:off x="1398714" y="4218921"/>
            <a:ext cx="2123440" cy="2101850"/>
          </a:xfrm>
          <a:prstGeom prst="rect">
            <a:avLst/>
          </a:prstGeom>
          <a:noFill/>
          <a:ln>
            <a:noFill/>
          </a:ln>
        </p:spPr>
      </p:pic>
      <p:sp>
        <p:nvSpPr>
          <p:cNvPr id="14" name="文本框 13"/>
          <p:cNvSpPr txBox="1"/>
          <p:nvPr/>
        </p:nvSpPr>
        <p:spPr>
          <a:xfrm>
            <a:off x="-16960" y="6454130"/>
            <a:ext cx="4589754"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(a) </a:t>
            </a:r>
            <a:r>
              <a:rPr lang="zh-CN" altLang="zh-CN" sz="1600" b="1" dirty="0">
                <a:solidFill>
                  <a:srgbClr val="000000"/>
                </a:solidFill>
                <a:latin typeface="黑体" panose="02010609060101010101" pitchFamily="49" charset="-122"/>
                <a:ea typeface="黑体" panose="02010609060101010101" pitchFamily="49" charset="-122"/>
              </a:rPr>
              <a:t>原始图像</a:t>
            </a:r>
          </a:p>
        </p:txBody>
      </p:sp>
      <p:pic>
        <p:nvPicPr>
          <p:cNvPr id="15" name="图片 14"/>
          <p:cNvPicPr>
            <a:picLocks noChangeAspect="1"/>
          </p:cNvPicPr>
          <p:nvPr/>
        </p:nvPicPr>
        <p:blipFill>
          <a:blip r:embed="rId4">
            <a:extLst>
              <a:ext uri="{28A0092B-C50C-407E-A947-70E740481C1C}">
                <a14:useLocalDpi xmlns:a14="http://schemas.microsoft.com/office/drawing/2010/main" val="0"/>
              </a:ext>
            </a:extLst>
          </a:blip>
          <a:srcRect l="2164" t="14452" r="2878" b="2290"/>
          <a:stretch>
            <a:fillRect/>
          </a:stretch>
        </p:blipFill>
        <p:spPr>
          <a:xfrm>
            <a:off x="5623433" y="4213219"/>
            <a:ext cx="2123441" cy="2101850"/>
          </a:xfrm>
          <a:prstGeom prst="rect">
            <a:avLst/>
          </a:prstGeom>
          <a:noFill/>
          <a:ln>
            <a:noFill/>
          </a:ln>
        </p:spPr>
      </p:pic>
      <p:sp>
        <p:nvSpPr>
          <p:cNvPr id="17" name="文本框 16"/>
          <p:cNvSpPr txBox="1"/>
          <p:nvPr/>
        </p:nvSpPr>
        <p:spPr>
          <a:xfrm>
            <a:off x="5447558" y="6445316"/>
            <a:ext cx="2299316"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(b) </a:t>
            </a:r>
            <a:r>
              <a:rPr lang="zh-CN" altLang="zh-CN" sz="1600" b="1" dirty="0">
                <a:solidFill>
                  <a:srgbClr val="000000"/>
                </a:solidFill>
                <a:latin typeface="黑体" panose="02010609060101010101" pitchFamily="49" charset="-122"/>
                <a:ea typeface="黑体" panose="02010609060101010101" pitchFamily="49" charset="-122"/>
              </a:rPr>
              <a:t>水平翻转图像</a:t>
            </a:r>
            <a:endParaRPr lang="zh-CN" altLang="en-US" sz="16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spd="slow" advClick="0" advTm="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4.5.2  </a:t>
            </a:r>
            <a:r>
              <a:rPr lang="zh-CN" altLang="en-US" sz="2100" b="1" dirty="0">
                <a:solidFill>
                  <a:schemeClr val="tx1">
                    <a:lumMod val="75000"/>
                    <a:lumOff val="25000"/>
                  </a:schemeClr>
                </a:solidFill>
                <a:latin typeface="微软雅黑" panose="020B0503020204020204" pitchFamily="34" charset="-122"/>
              </a:rPr>
              <a:t>图像翻转的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rcRect l="2213" t="15153" r="2356" b="2800"/>
          <a:stretch>
            <a:fillRect/>
          </a:stretch>
        </p:blipFill>
        <p:spPr>
          <a:xfrm>
            <a:off x="627939" y="1554705"/>
            <a:ext cx="3426882" cy="3392039"/>
          </a:xfrm>
          <a:prstGeom prst="rect">
            <a:avLst/>
          </a:prstGeom>
          <a:noFill/>
          <a:ln>
            <a:noFill/>
          </a:ln>
        </p:spPr>
      </p:pic>
      <p:sp>
        <p:nvSpPr>
          <p:cNvPr id="13" name="文本框 12"/>
          <p:cNvSpPr txBox="1"/>
          <p:nvPr/>
        </p:nvSpPr>
        <p:spPr>
          <a:xfrm>
            <a:off x="707053" y="5177865"/>
            <a:ext cx="2885239" cy="338554"/>
          </a:xfrm>
          <a:prstGeom prst="rect">
            <a:avLst/>
          </a:prstGeom>
          <a:noFill/>
        </p:spPr>
        <p:txBody>
          <a:bodyPr wrap="square">
            <a:spAutoFit/>
          </a:bodyPr>
          <a:lstStyle/>
          <a:p>
            <a:pPr indent="266700" algn="ctr"/>
            <a:r>
              <a:rPr lang="en-US" altLang="zh-CN" sz="1600" b="1" dirty="0">
                <a:solidFill>
                  <a:srgbClr val="000000"/>
                </a:solidFill>
                <a:latin typeface="黑体" panose="02010609060101010101" pitchFamily="49" charset="-122"/>
                <a:ea typeface="黑体" panose="02010609060101010101" pitchFamily="49" charset="-122"/>
              </a:rPr>
              <a:t>(c) </a:t>
            </a:r>
            <a:r>
              <a:rPr lang="zh-CN" altLang="en-US" sz="1600" b="1" dirty="0">
                <a:solidFill>
                  <a:srgbClr val="000000"/>
                </a:solidFill>
                <a:latin typeface="黑体" panose="02010609060101010101" pitchFamily="49" charset="-122"/>
                <a:ea typeface="黑体" panose="02010609060101010101" pitchFamily="49" charset="-122"/>
              </a:rPr>
              <a:t>垂直翻转图像</a:t>
            </a:r>
            <a:endParaRPr lang="zh-CN" altLang="zh-CN" sz="1600" b="1" dirty="0">
              <a:solidFill>
                <a:srgbClr val="000000"/>
              </a:solidFill>
              <a:latin typeface="黑体" panose="02010609060101010101" pitchFamily="49" charset="-122"/>
              <a:ea typeface="黑体" panose="02010609060101010101" pitchFamily="49" charset="-122"/>
            </a:endParaRPr>
          </a:p>
        </p:txBody>
      </p:sp>
      <p:sp>
        <p:nvSpPr>
          <p:cNvPr id="16" name="文本框 15"/>
          <p:cNvSpPr txBox="1"/>
          <p:nvPr/>
        </p:nvSpPr>
        <p:spPr>
          <a:xfrm>
            <a:off x="4932834" y="5180048"/>
            <a:ext cx="2885238" cy="338554"/>
          </a:xfrm>
          <a:prstGeom prst="rect">
            <a:avLst/>
          </a:prstGeom>
          <a:noFill/>
        </p:spPr>
        <p:txBody>
          <a:bodyPr wrap="square">
            <a:spAutoFit/>
          </a:bodyPr>
          <a:lstStyle/>
          <a:p>
            <a:pPr indent="266700" algn="ctr"/>
            <a:r>
              <a:rPr lang="zh-CN" altLang="en-US" sz="1600" b="1" dirty="0">
                <a:solidFill>
                  <a:srgbClr val="000000"/>
                </a:solidFill>
                <a:latin typeface="黑体" panose="02010609060101010101" pitchFamily="49" charset="-122"/>
                <a:ea typeface="黑体" panose="02010609060101010101" pitchFamily="49" charset="-122"/>
              </a:rPr>
              <a:t> </a:t>
            </a:r>
            <a:r>
              <a:rPr lang="en-US" altLang="zh-CN" sz="1600" b="1" dirty="0">
                <a:solidFill>
                  <a:srgbClr val="000000"/>
                </a:solidFill>
                <a:latin typeface="黑体" panose="02010609060101010101" pitchFamily="49" charset="-122"/>
                <a:ea typeface="黑体" panose="02010609060101010101" pitchFamily="49" charset="-122"/>
              </a:rPr>
              <a:t>(d) </a:t>
            </a:r>
            <a:r>
              <a:rPr lang="zh-CN" altLang="en-US" sz="1600" b="1" dirty="0">
                <a:solidFill>
                  <a:srgbClr val="000000"/>
                </a:solidFill>
                <a:latin typeface="黑体" panose="02010609060101010101" pitchFamily="49" charset="-122"/>
                <a:ea typeface="黑体" panose="02010609060101010101" pitchFamily="49" charset="-122"/>
              </a:rPr>
              <a:t>水平垂直翻转图像</a:t>
            </a:r>
          </a:p>
        </p:txBody>
      </p:sp>
      <p:pic>
        <p:nvPicPr>
          <p:cNvPr id="18" name="图片 17"/>
          <p:cNvPicPr>
            <a:picLocks noChangeAspect="1"/>
          </p:cNvPicPr>
          <p:nvPr/>
        </p:nvPicPr>
        <p:blipFill>
          <a:blip r:embed="rId4">
            <a:extLst>
              <a:ext uri="{28A0092B-C50C-407E-A947-70E740481C1C}">
                <a14:useLocalDpi xmlns:a14="http://schemas.microsoft.com/office/drawing/2010/main" val="0"/>
              </a:ext>
            </a:extLst>
          </a:blip>
          <a:srcRect l="980" t="14482" r="2636" b="5087"/>
          <a:stretch>
            <a:fillRect/>
          </a:stretch>
        </p:blipFill>
        <p:spPr>
          <a:xfrm>
            <a:off x="5106352" y="1562285"/>
            <a:ext cx="3426882" cy="3392039"/>
          </a:xfrm>
          <a:prstGeom prst="rect">
            <a:avLst/>
          </a:prstGeom>
          <a:noFill/>
          <a:ln>
            <a:noFill/>
          </a:ln>
        </p:spPr>
      </p:pic>
      <p:sp>
        <p:nvSpPr>
          <p:cNvPr id="19" name="文本框 18"/>
          <p:cNvSpPr txBox="1"/>
          <p:nvPr/>
        </p:nvSpPr>
        <p:spPr>
          <a:xfrm>
            <a:off x="1910696" y="5780547"/>
            <a:ext cx="4589754" cy="369332"/>
          </a:xfrm>
          <a:prstGeom prst="rect">
            <a:avLst/>
          </a:prstGeom>
          <a:noFill/>
        </p:spPr>
        <p:txBody>
          <a:bodyPr wrap="square">
            <a:spAutoFit/>
          </a:bodyPr>
          <a:lstStyle/>
          <a:p>
            <a:pPr indent="266700" algn="ctr"/>
            <a:r>
              <a:rPr lang="zh-CN" altLang="zh-CN"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4.10  </a:t>
            </a:r>
            <a:r>
              <a:rPr lang="zh-CN" altLang="zh-CN" sz="1800" b="1" kern="0" dirty="0">
                <a:latin typeface="黑体" panose="02010609060101010101" pitchFamily="49" charset="-122"/>
                <a:ea typeface="黑体" panose="02010609060101010101" pitchFamily="49" charset="-122"/>
              </a:rPr>
              <a:t>翻转图像效果图</a:t>
            </a:r>
          </a:p>
        </p:txBody>
      </p:sp>
    </p:spTree>
  </p:cSld>
  <p:clrMapOvr>
    <a:masterClrMapping/>
  </p:clrMapOvr>
  <p:transition spd="slow" advClick="0" advTm="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4.5.2  </a:t>
            </a:r>
            <a:r>
              <a:rPr lang="zh-CN" altLang="en-US" sz="2100" b="1" dirty="0">
                <a:solidFill>
                  <a:schemeClr val="tx1">
                    <a:lumMod val="75000"/>
                    <a:lumOff val="25000"/>
                  </a:schemeClr>
                </a:solidFill>
                <a:latin typeface="微软雅黑" panose="020B0503020204020204" pitchFamily="34" charset="-122"/>
              </a:rPr>
              <a:t>图像翻转的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468338" y="1155184"/>
            <a:ext cx="4589754" cy="415498"/>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相应的代码如下：</a:t>
            </a:r>
          </a:p>
        </p:txBody>
      </p:sp>
      <p:sp>
        <p:nvSpPr>
          <p:cNvPr id="14" name="文本框 13"/>
          <p:cNvSpPr txBox="1"/>
          <p:nvPr/>
        </p:nvSpPr>
        <p:spPr>
          <a:xfrm>
            <a:off x="468338" y="1485578"/>
            <a:ext cx="8765442" cy="3647152"/>
          </a:xfrm>
          <a:prstGeom prst="rect">
            <a:avLst/>
          </a:prstGeom>
          <a:noFill/>
        </p:spPr>
        <p:txBody>
          <a:bodyPr wrap="square">
            <a:spAutoFit/>
          </a:bodyPr>
          <a:lstStyle/>
          <a:p>
            <a:pPr indent="266700" algn="just"/>
            <a:r>
              <a:rPr lang="en-US" altLang="zh-CN" kern="100" dirty="0">
                <a:solidFill>
                  <a:srgbClr val="000000"/>
                </a:solidFill>
                <a:effectLst/>
                <a:latin typeface="Times New Roman" panose="02020603050405020304" pitchFamily="18" charset="0"/>
                <a:ea typeface="宋体" pitchFamily="2" charset="-122"/>
              </a:rPr>
              <a:t>import cv2 </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 cv2.imread('D:\ lena.jpg',1)		#</a:t>
            </a:r>
            <a:r>
              <a:rPr lang="zh-CN" altLang="zh-CN" kern="100" dirty="0">
                <a:solidFill>
                  <a:srgbClr val="000000"/>
                </a:solidFill>
                <a:effectLst/>
                <a:latin typeface="Times New Roman" panose="02020603050405020304" pitchFamily="18" charset="0"/>
                <a:ea typeface="宋体" pitchFamily="2" charset="-122"/>
              </a:rPr>
              <a:t>读取原始图像</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dst1 = cv2.flip(img,1) 			#</a:t>
            </a:r>
            <a:r>
              <a:rPr lang="zh-CN" altLang="zh-CN" kern="100" dirty="0">
                <a:solidFill>
                  <a:srgbClr val="000000"/>
                </a:solidFill>
                <a:effectLst/>
                <a:latin typeface="Times New Roman" panose="02020603050405020304" pitchFamily="18" charset="0"/>
                <a:ea typeface="宋体" pitchFamily="2" charset="-122"/>
              </a:rPr>
              <a:t>水平翻转</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dst2 = cv2.flip(img,0)			#</a:t>
            </a:r>
            <a:r>
              <a:rPr lang="zh-CN" altLang="zh-CN" kern="100" dirty="0">
                <a:solidFill>
                  <a:srgbClr val="000000"/>
                </a:solidFill>
                <a:effectLst/>
                <a:latin typeface="Times New Roman" panose="02020603050405020304" pitchFamily="18" charset="0"/>
                <a:ea typeface="宋体" pitchFamily="2" charset="-122"/>
              </a:rPr>
              <a:t>垂直翻转</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dst3 = cv2.flip(img,-1) 			#</a:t>
            </a:r>
            <a:r>
              <a:rPr lang="zh-CN" altLang="zh-CN" kern="100" dirty="0">
                <a:solidFill>
                  <a:srgbClr val="000000"/>
                </a:solidFill>
                <a:effectLst/>
                <a:latin typeface="Times New Roman" panose="02020603050405020304" pitchFamily="18" charset="0"/>
                <a:ea typeface="宋体" pitchFamily="2" charset="-122"/>
              </a:rPr>
              <a:t>水平垂直翻转</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cv2.imshow('</a:t>
            </a:r>
            <a:r>
              <a:rPr lang="en-US" altLang="zh-CN" kern="100" dirty="0" err="1">
                <a:solidFill>
                  <a:srgbClr val="000000"/>
                </a:solidFill>
                <a:effectLst/>
                <a:latin typeface="Times New Roman" panose="02020603050405020304" pitchFamily="18" charset="0"/>
                <a:ea typeface="宋体" pitchFamily="2" charset="-122"/>
              </a:rPr>
              <a:t>origin_picture</a:t>
            </a:r>
            <a:r>
              <a:rPr lang="en-US" altLang="zh-CN" kern="100" dirty="0">
                <a:solidFill>
                  <a:srgbClr val="000000"/>
                </a:solidFill>
                <a:effectLst/>
                <a:latin typeface="Times New Roman" panose="02020603050405020304" pitchFamily="18" charset="0"/>
                <a:ea typeface="宋体" pitchFamily="2" charset="-122"/>
              </a:rPr>
              <a:t>', </a:t>
            </a:r>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Times New Roman" panose="02020603050405020304" pitchFamily="18" charset="0"/>
                <a:ea typeface="宋体" pitchFamily="2" charset="-122"/>
              </a:rPr>
              <a:t>输出原始图像</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cv2.imshow('new1', dst1) 			#</a:t>
            </a:r>
            <a:r>
              <a:rPr lang="zh-CN" altLang="zh-CN" kern="100" dirty="0">
                <a:solidFill>
                  <a:srgbClr val="000000"/>
                </a:solidFill>
                <a:effectLst/>
                <a:latin typeface="Times New Roman" panose="02020603050405020304" pitchFamily="18" charset="0"/>
                <a:ea typeface="宋体" pitchFamily="2" charset="-122"/>
              </a:rPr>
              <a:t>输出水平翻转图像</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cv2.imshow('new2', dst2)			#</a:t>
            </a:r>
            <a:r>
              <a:rPr lang="zh-CN" altLang="zh-CN" kern="100" dirty="0">
                <a:solidFill>
                  <a:srgbClr val="000000"/>
                </a:solidFill>
                <a:effectLst/>
                <a:latin typeface="Times New Roman" panose="02020603050405020304" pitchFamily="18" charset="0"/>
                <a:ea typeface="宋体" pitchFamily="2" charset="-122"/>
              </a:rPr>
              <a:t>输出垂直翻转图像</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cv2.imshow('new3', dst3) 			#</a:t>
            </a:r>
            <a:r>
              <a:rPr lang="zh-CN" altLang="zh-CN" kern="100" dirty="0">
                <a:solidFill>
                  <a:srgbClr val="000000"/>
                </a:solidFill>
                <a:effectLst/>
                <a:latin typeface="Times New Roman" panose="02020603050405020304" pitchFamily="18" charset="0"/>
                <a:ea typeface="宋体" pitchFamily="2" charset="-122"/>
              </a:rPr>
              <a:t>输出水平垂直翻转图像</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cv2.waitKey(0) </a:t>
            </a:r>
            <a:endParaRPr lang="zh-CN" altLang="zh-CN" kern="100" dirty="0">
              <a:effectLst/>
              <a:latin typeface="Times New Roman" panose="02020603050405020304" pitchFamily="18" charset="0"/>
              <a:ea typeface="宋体" pitchFamily="2" charset="-122"/>
            </a:endParaRPr>
          </a:p>
        </p:txBody>
      </p:sp>
      <p:sp>
        <p:nvSpPr>
          <p:cNvPr id="17" name="文本框 16"/>
          <p:cNvSpPr txBox="1"/>
          <p:nvPr/>
        </p:nvSpPr>
        <p:spPr>
          <a:xfrm>
            <a:off x="756370" y="5132730"/>
            <a:ext cx="7776864" cy="139340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上述程序的运行结果如图</a:t>
            </a:r>
            <a:r>
              <a:rPr lang="en-US" altLang="zh-CN" kern="100" dirty="0">
                <a:effectLst/>
                <a:latin typeface="Times New Roman" panose="02020603050405020304" pitchFamily="18" charset="0"/>
                <a:ea typeface="宋体" pitchFamily="2" charset="-122"/>
              </a:rPr>
              <a:t>4.10</a:t>
            </a:r>
            <a:r>
              <a:rPr lang="zh-CN" altLang="zh-CN" kern="100" dirty="0">
                <a:effectLst/>
                <a:latin typeface="Times New Roman" panose="02020603050405020304" pitchFamily="18" charset="0"/>
                <a:ea typeface="宋体" pitchFamily="2" charset="-122"/>
              </a:rPr>
              <a:t>所示。</a:t>
            </a:r>
            <a:r>
              <a:rPr lang="zh-CN" altLang="zh-CN" kern="100" dirty="0">
                <a:solidFill>
                  <a:srgbClr val="000000"/>
                </a:solidFill>
                <a:effectLst/>
                <a:latin typeface="Times New Roman" panose="02020603050405020304" pitchFamily="18" charset="0"/>
                <a:ea typeface="宋体" pitchFamily="2" charset="-122"/>
              </a:rPr>
              <a:t>程序</a:t>
            </a:r>
            <a:r>
              <a:rPr lang="zh-CN" altLang="zh-CN" kern="100" dirty="0">
                <a:effectLst/>
                <a:latin typeface="Times New Roman" panose="02020603050405020304" pitchFamily="18" charset="0"/>
                <a:ea typeface="宋体" pitchFamily="2" charset="-122"/>
              </a:rPr>
              <a:t>读取原始图像</a:t>
            </a:r>
            <a:r>
              <a:rPr lang="en-US" altLang="zh-CN" kern="100" dirty="0">
                <a:effectLst/>
                <a:latin typeface="Times New Roman" panose="02020603050405020304" pitchFamily="18" charset="0"/>
                <a:ea typeface="宋体" pitchFamily="2" charset="-122"/>
              </a:rPr>
              <a:t>4.10 (a)</a:t>
            </a:r>
            <a:r>
              <a:rPr lang="zh-CN" altLang="zh-CN" kern="100" dirty="0">
                <a:effectLst/>
                <a:latin typeface="Times New Roman" panose="02020603050405020304" pitchFamily="18" charset="0"/>
                <a:ea typeface="宋体" pitchFamily="2" charset="-122"/>
              </a:rPr>
              <a:t>后， 使用翻转函数</a:t>
            </a:r>
            <a:r>
              <a:rPr lang="en-US" altLang="zh-CN" kern="100" dirty="0">
                <a:effectLst/>
                <a:latin typeface="Times New Roman" panose="02020603050405020304" pitchFamily="18" charset="0"/>
                <a:ea typeface="宋体" pitchFamily="2" charset="-122"/>
              </a:rPr>
              <a:t>cv2.flip()</a:t>
            </a:r>
            <a:r>
              <a:rPr lang="zh-CN" altLang="zh-CN" kern="100" dirty="0">
                <a:effectLst/>
                <a:latin typeface="Times New Roman" panose="02020603050405020304" pitchFamily="18" charset="0"/>
                <a:ea typeface="宋体" pitchFamily="2" charset="-122"/>
              </a:rPr>
              <a:t>对图像进行翻转处理。通过控制函数</a:t>
            </a:r>
            <a:r>
              <a:rPr lang="en-US" altLang="zh-CN" kern="100" dirty="0">
                <a:effectLst/>
                <a:latin typeface="Times New Roman" panose="02020603050405020304" pitchFamily="18" charset="0"/>
                <a:ea typeface="宋体" pitchFamily="2" charset="-122"/>
              </a:rPr>
              <a:t>cv2.flip()</a:t>
            </a:r>
            <a:r>
              <a:rPr lang="zh-CN" altLang="zh-CN" kern="100" dirty="0">
                <a:effectLst/>
                <a:latin typeface="Times New Roman" panose="02020603050405020304" pitchFamily="18" charset="0"/>
                <a:ea typeface="宋体" pitchFamily="2" charset="-122"/>
              </a:rPr>
              <a:t>的</a:t>
            </a:r>
            <a:r>
              <a:rPr lang="en-US" altLang="zh-CN" kern="100" dirty="0" err="1">
                <a:effectLst/>
                <a:latin typeface="Times New Roman" panose="02020603050405020304" pitchFamily="18" charset="0"/>
                <a:ea typeface="宋体" pitchFamily="2" charset="-122"/>
              </a:rPr>
              <a:t>flipCode</a:t>
            </a:r>
            <a:r>
              <a:rPr lang="zh-CN" altLang="zh-CN" kern="100" dirty="0">
                <a:effectLst/>
                <a:latin typeface="Times New Roman" panose="02020603050405020304" pitchFamily="18" charset="0"/>
                <a:ea typeface="宋体" pitchFamily="2" charset="-122"/>
              </a:rPr>
              <a:t>参数分别进行水平翻转、垂直翻转和水平垂直翻转，得到图</a:t>
            </a:r>
            <a:r>
              <a:rPr lang="en-US" altLang="zh-CN" kern="100" dirty="0">
                <a:effectLst/>
                <a:latin typeface="Times New Roman" panose="02020603050405020304" pitchFamily="18" charset="0"/>
                <a:ea typeface="宋体" pitchFamily="2" charset="-122"/>
              </a:rPr>
              <a:t>4.10 (b)</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(c)</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(d)</a:t>
            </a:r>
            <a:r>
              <a:rPr lang="zh-CN" altLang="zh-CN" kern="100" dirty="0">
                <a:effectLst/>
                <a:latin typeface="Times New Roman" panose="02020603050405020304" pitchFamily="18" charset="0"/>
                <a:ea typeface="宋体" pitchFamily="2" charset="-122"/>
              </a:rPr>
              <a:t>。</a:t>
            </a:r>
          </a:p>
        </p:txBody>
      </p:sp>
    </p:spTree>
  </p:cSld>
  <p:clrMapOvr>
    <a:masterClrMapping/>
  </p:clrMapOvr>
  <p:transition spd="slow" advClick="0" advTm="0">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  </a:t>
            </a:r>
            <a:r>
              <a:rPr lang="zh-CN" altLang="en-US" sz="2100" b="1" dirty="0">
                <a:solidFill>
                  <a:schemeClr val="tx1">
                    <a:lumMod val="75000"/>
                    <a:lumOff val="25000"/>
                  </a:schemeClr>
                </a:solidFill>
                <a:latin typeface="微软雅黑" panose="020B0503020204020204" pitchFamily="34" charset="-122"/>
              </a:rPr>
              <a:t>图像的插值</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0" name="文本框 9"/>
          <p:cNvSpPr txBox="1"/>
          <p:nvPr/>
        </p:nvSpPr>
        <p:spPr>
          <a:xfrm>
            <a:off x="652603" y="1212398"/>
            <a:ext cx="4589754" cy="415498"/>
          </a:xfrm>
          <a:prstGeom prst="rect">
            <a:avLst/>
          </a:prstGeom>
          <a:noFill/>
        </p:spPr>
        <p:txBody>
          <a:bodyPr wrap="square">
            <a:spAutoFit/>
          </a:bodyPr>
          <a:lstStyle/>
          <a:p>
            <a:pPr algn="just">
              <a:spcBef>
                <a:spcPts val="1200"/>
              </a:spcBef>
              <a:spcAft>
                <a:spcPts val="600"/>
              </a:spcAft>
            </a:pPr>
            <a:r>
              <a:rPr lang="en-US" altLang="zh-CN" b="1" kern="100" dirty="0">
                <a:effectLst/>
                <a:latin typeface="Arial" panose="020B0604020202090204" pitchFamily="34" charset="0"/>
                <a:ea typeface="宋体" pitchFamily="2" charset="-122"/>
                <a:cs typeface="Times New Roman" panose="02020603050405020304" pitchFamily="18" charset="0"/>
              </a:rPr>
              <a:t>4.6.1  </a:t>
            </a:r>
            <a:r>
              <a:rPr lang="zh-CN" altLang="zh-CN" b="1" kern="100" dirty="0">
                <a:effectLst/>
                <a:latin typeface="Arial" panose="020B0604020202090204" pitchFamily="34" charset="0"/>
                <a:ea typeface="宋体" pitchFamily="2" charset="-122"/>
                <a:cs typeface="Times New Roman" panose="02020603050405020304" pitchFamily="18" charset="0"/>
              </a:rPr>
              <a:t>图像插值的基本原理</a:t>
            </a:r>
          </a:p>
        </p:txBody>
      </p:sp>
      <p:sp>
        <p:nvSpPr>
          <p:cNvPr id="13" name="文本框 12"/>
          <p:cNvSpPr txBox="1"/>
          <p:nvPr/>
        </p:nvSpPr>
        <p:spPr>
          <a:xfrm>
            <a:off x="540346" y="2049582"/>
            <a:ext cx="8064896" cy="2677656"/>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实现几何运算有两种方法。第一种是向前映射法，其原理是将输入图像的灰度逐个像素地转移到输出图像中。第二种是向后映射法，它是向前映射变换的逆操作，即输出图像的灰度逐个像素地映射回输入图像中。如果输出图像的任一像素点映射回输入图像的对应像素点不在整数坐标处，则其灰度值就需要基于整数坐标的灰度值进行推断，这就是插值。</a:t>
            </a:r>
          </a:p>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本节将介绍</a:t>
            </a:r>
            <a:r>
              <a:rPr lang="en-US" altLang="zh-CN" kern="100" dirty="0">
                <a:effectLst/>
                <a:latin typeface="Times New Roman" panose="02020603050405020304" pitchFamily="18" charset="0"/>
                <a:ea typeface="宋体" pitchFamily="2" charset="-122"/>
              </a:rPr>
              <a:t>3</a:t>
            </a:r>
            <a:r>
              <a:rPr lang="zh-CN" altLang="zh-CN" kern="100" dirty="0">
                <a:effectLst/>
                <a:latin typeface="Times New Roman" panose="02020603050405020304" pitchFamily="18" charset="0"/>
                <a:ea typeface="宋体" pitchFamily="2" charset="-122"/>
              </a:rPr>
              <a:t>种不同的插值方法：最近邻插值法、双线性插值法和双三次插值法。</a:t>
            </a:r>
          </a:p>
        </p:txBody>
      </p:sp>
    </p:spTree>
  </p:cSld>
  <p:clrMapOvr>
    <a:masterClrMapping/>
  </p:clrMapOvr>
  <p:transition spd="slow" advClick="0"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4.6.2  </a:t>
            </a:r>
            <a:r>
              <a:rPr lang="zh-CN" altLang="en-US" sz="2100" b="1" dirty="0">
                <a:solidFill>
                  <a:schemeClr val="tx1">
                    <a:lumMod val="75000"/>
                    <a:lumOff val="25000"/>
                  </a:schemeClr>
                </a:solidFill>
                <a:latin typeface="微软雅黑" panose="020B0503020204020204" pitchFamily="34" charset="-122"/>
              </a:rPr>
              <a:t>最近邻插值法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文本框 8"/>
          <p:cNvSpPr txBox="1"/>
          <p:nvPr/>
        </p:nvSpPr>
        <p:spPr>
          <a:xfrm>
            <a:off x="396330" y="1212398"/>
            <a:ext cx="8139861" cy="3323987"/>
          </a:xfrm>
          <a:prstGeom prst="rect">
            <a:avLst/>
          </a:prstGeom>
          <a:noFill/>
        </p:spPr>
        <p:txBody>
          <a:bodyPr wrap="square">
            <a:spAutoFit/>
          </a:bodyPr>
          <a:lstStyle/>
          <a:p>
            <a:r>
              <a:rPr lang="zh-CN" altLang="en-US" dirty="0"/>
              <a:t>          最近邻插值法是最简单的灰度值插值方法，也称作零阶插值法。最近邻插值法就是令变换后像素点的灰度值等于距离此点最近的输入像素点的灰度值。</a:t>
            </a:r>
          </a:p>
          <a:p>
            <a:r>
              <a:rPr lang="zh-CN" altLang="en-US" dirty="0"/>
              <a:t>          例如，一张</a:t>
            </a:r>
            <a:r>
              <a:rPr lang="en-US" altLang="zh-CN" dirty="0"/>
              <a:t>3×3</a:t>
            </a:r>
            <a:r>
              <a:rPr lang="zh-CN" altLang="en-US" dirty="0"/>
              <a:t>的</a:t>
            </a:r>
            <a:r>
              <a:rPr lang="en-US" altLang="zh-CN" dirty="0"/>
              <a:t>256</a:t>
            </a:r>
            <a:r>
              <a:rPr lang="zh-CN" altLang="en-US" dirty="0"/>
              <a:t>级灰度图，高度和宽度均为</a:t>
            </a:r>
            <a:r>
              <a:rPr lang="en-US" altLang="zh-CN" dirty="0"/>
              <a:t>3</a:t>
            </a:r>
            <a:r>
              <a:rPr lang="zh-CN" altLang="en-US" dirty="0"/>
              <a:t>的图像，每个像素的取值是</a:t>
            </a:r>
            <a:r>
              <a:rPr lang="en-US" altLang="zh-CN" dirty="0"/>
              <a:t>0~255</a:t>
            </a:r>
            <a:r>
              <a:rPr lang="zh-CN" altLang="en-US" dirty="0"/>
              <a:t>，共</a:t>
            </a:r>
            <a:r>
              <a:rPr lang="en-US" altLang="zh-CN" dirty="0"/>
              <a:t>256</a:t>
            </a:r>
            <a:r>
              <a:rPr lang="zh-CN" altLang="en-US" dirty="0"/>
              <a:t>级，此取值代表像素的明亮程度，</a:t>
            </a:r>
            <a:r>
              <a:rPr lang="en-US" altLang="zh-CN" dirty="0"/>
              <a:t>0</a:t>
            </a:r>
            <a:r>
              <a:rPr lang="zh-CN" altLang="en-US" dirty="0"/>
              <a:t>代表最暗，即黑色，</a:t>
            </a:r>
            <a:r>
              <a:rPr lang="en-US" altLang="zh-CN" dirty="0"/>
              <a:t>255</a:t>
            </a:r>
            <a:r>
              <a:rPr lang="zh-CN" altLang="en-US" dirty="0"/>
              <a:t>代表最亮，即白色。假设把图</a:t>
            </a:r>
            <a:r>
              <a:rPr lang="en-US" altLang="zh-CN" dirty="0"/>
              <a:t>4.11</a:t>
            </a:r>
            <a:r>
              <a:rPr lang="zh-CN" altLang="en-US" dirty="0"/>
              <a:t>所示的像素点阵叫做源图，记作</a:t>
            </a:r>
            <a:r>
              <a:rPr lang="en-US" altLang="zh-CN" dirty="0"/>
              <a:t>Source</a:t>
            </a:r>
            <a:r>
              <a:rPr lang="zh-CN" altLang="en-US" dirty="0"/>
              <a:t>。在这个像素点阵中，元素坐标系是以左上角为原点</a:t>
            </a:r>
            <a:r>
              <a:rPr lang="en-US" altLang="zh-CN" dirty="0"/>
              <a:t>(0,0)</a:t>
            </a:r>
            <a:r>
              <a:rPr lang="zh-CN" altLang="en-US" dirty="0"/>
              <a:t>，水平向右为</a:t>
            </a:r>
            <a:r>
              <a:rPr lang="en-US" altLang="zh-CN" dirty="0"/>
              <a:t>X</a:t>
            </a:r>
            <a:r>
              <a:rPr lang="zh-CN" altLang="en-US" dirty="0"/>
              <a:t>轴正方向，竖直向下为</a:t>
            </a:r>
            <a:r>
              <a:rPr lang="en-US" altLang="zh-CN" dirty="0"/>
              <a:t>Y</a:t>
            </a:r>
            <a:r>
              <a:rPr lang="zh-CN" altLang="en-US" dirty="0"/>
              <a:t>轴正方向。元素坐标</a:t>
            </a:r>
            <a:r>
              <a:rPr lang="en-US" altLang="zh-CN" dirty="0"/>
              <a:t>(</a:t>
            </a:r>
            <a:r>
              <a:rPr lang="en-US" altLang="zh-CN" dirty="0" err="1"/>
              <a:t>x,y</a:t>
            </a:r>
            <a:r>
              <a:rPr lang="en-US" altLang="zh-CN" dirty="0"/>
              <a:t>)</a:t>
            </a:r>
            <a:r>
              <a:rPr lang="zh-CN" altLang="en-US" dirty="0"/>
              <a:t>的确定方法是</a:t>
            </a:r>
            <a:r>
              <a:rPr lang="en-US" altLang="zh-CN" dirty="0"/>
              <a:t>x</a:t>
            </a:r>
            <a:r>
              <a:rPr lang="zh-CN" altLang="en-US" dirty="0"/>
              <a:t>从左到右，初始值是</a:t>
            </a:r>
            <a:r>
              <a:rPr lang="en-US" altLang="zh-CN" dirty="0"/>
              <a:t>0</a:t>
            </a:r>
            <a:r>
              <a:rPr lang="zh-CN" altLang="en-US" dirty="0"/>
              <a:t>，</a:t>
            </a:r>
            <a:r>
              <a:rPr lang="en-US" altLang="zh-CN" dirty="0"/>
              <a:t>y</a:t>
            </a:r>
            <a:r>
              <a:rPr lang="zh-CN" altLang="en-US" dirty="0"/>
              <a:t>从上到下，初始值也是</a:t>
            </a:r>
            <a:r>
              <a:rPr lang="en-US" altLang="zh-CN" dirty="0"/>
              <a:t>0</a:t>
            </a:r>
            <a:r>
              <a:rPr lang="zh-CN" altLang="en-US" dirty="0"/>
              <a:t>。</a:t>
            </a:r>
          </a:p>
        </p:txBody>
      </p:sp>
      <p:graphicFrame>
        <p:nvGraphicFramePr>
          <p:cNvPr id="5" name="表格 4"/>
          <p:cNvGraphicFramePr>
            <a:graphicFrameLocks noGrp="1"/>
          </p:cNvGraphicFramePr>
          <p:nvPr/>
        </p:nvGraphicFramePr>
        <p:xfrm>
          <a:off x="2988618" y="4197776"/>
          <a:ext cx="2448273" cy="2122995"/>
        </p:xfrm>
        <a:graphic>
          <a:graphicData uri="http://schemas.openxmlformats.org/drawingml/2006/table">
            <a:tbl>
              <a:tblPr firstRow="1" firstCol="1" bandRow="1">
                <a:tableStyleId>{5C22544A-7EE6-4342-B048-85BDC9FD1C3A}</a:tableStyleId>
              </a:tblPr>
              <a:tblGrid>
                <a:gridCol w="753315">
                  <a:extLst>
                    <a:ext uri="{9D8B030D-6E8A-4147-A177-3AD203B41FA5}">
                      <a16:colId xmlns:a16="http://schemas.microsoft.com/office/drawing/2014/main" val="20000"/>
                    </a:ext>
                  </a:extLst>
                </a:gridCol>
                <a:gridCol w="847479">
                  <a:extLst>
                    <a:ext uri="{9D8B030D-6E8A-4147-A177-3AD203B41FA5}">
                      <a16:colId xmlns:a16="http://schemas.microsoft.com/office/drawing/2014/main" val="20001"/>
                    </a:ext>
                  </a:extLst>
                </a:gridCol>
                <a:gridCol w="847479">
                  <a:extLst>
                    <a:ext uri="{9D8B030D-6E8A-4147-A177-3AD203B41FA5}">
                      <a16:colId xmlns:a16="http://schemas.microsoft.com/office/drawing/2014/main" val="20002"/>
                    </a:ext>
                  </a:extLst>
                </a:gridCol>
              </a:tblGrid>
              <a:tr h="707665">
                <a:tc>
                  <a:txBody>
                    <a:bodyPr/>
                    <a:lstStyle/>
                    <a:p>
                      <a:pPr indent="266700" algn="ctr"/>
                      <a:r>
                        <a:rPr lang="en-US" sz="2000" kern="100" dirty="0">
                          <a:solidFill>
                            <a:schemeClr val="tx1"/>
                          </a:solidFill>
                          <a:effectLst/>
                          <a:highlight>
                            <a:srgbClr val="F5F5F5"/>
                          </a:highlight>
                        </a:rPr>
                        <a:t>23</a:t>
                      </a:r>
                      <a:endParaRPr lang="zh-CN" sz="2000" kern="100" dirty="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r>
                        <a:rPr lang="en-US" sz="2000" kern="100" dirty="0">
                          <a:solidFill>
                            <a:schemeClr val="tx1"/>
                          </a:solidFill>
                          <a:effectLst/>
                          <a:highlight>
                            <a:srgbClr val="F5F5F5"/>
                          </a:highlight>
                        </a:rPr>
                        <a:t>238</a:t>
                      </a:r>
                      <a:endParaRPr lang="zh-CN" sz="2000" kern="100" dirty="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r>
                        <a:rPr lang="en-US" sz="2000" kern="100">
                          <a:solidFill>
                            <a:schemeClr val="tx1"/>
                          </a:solidFill>
                          <a:effectLst/>
                          <a:highlight>
                            <a:srgbClr val="F5F5F5"/>
                          </a:highlight>
                        </a:rPr>
                        <a:t>56</a:t>
                      </a:r>
                      <a:endParaRPr lang="zh-CN" sz="2000" kern="10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07665">
                <a:tc>
                  <a:txBody>
                    <a:bodyPr/>
                    <a:lstStyle/>
                    <a:p>
                      <a:pPr indent="266700" algn="ctr"/>
                      <a:r>
                        <a:rPr lang="en-US" sz="2000" kern="100" dirty="0">
                          <a:solidFill>
                            <a:schemeClr val="tx1"/>
                          </a:solidFill>
                          <a:effectLst/>
                          <a:highlight>
                            <a:srgbClr val="F5F5F5"/>
                          </a:highlight>
                        </a:rPr>
                        <a:t>70</a:t>
                      </a:r>
                      <a:endParaRPr lang="zh-CN" sz="2000" kern="100" dirty="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r>
                        <a:rPr lang="en-US" sz="2000" b="1" kern="100" dirty="0">
                          <a:solidFill>
                            <a:schemeClr val="tx1"/>
                          </a:solidFill>
                          <a:effectLst/>
                          <a:highlight>
                            <a:srgbClr val="F5F5F5"/>
                          </a:highlight>
                        </a:rPr>
                        <a:t>44</a:t>
                      </a:r>
                      <a:endParaRPr lang="zh-CN" sz="2000" b="1" kern="100" dirty="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r>
                        <a:rPr lang="en-US" sz="2000" b="1" kern="100" dirty="0">
                          <a:solidFill>
                            <a:schemeClr val="tx1"/>
                          </a:solidFill>
                          <a:effectLst/>
                          <a:highlight>
                            <a:srgbClr val="F5F5F5"/>
                          </a:highlight>
                        </a:rPr>
                        <a:t>112</a:t>
                      </a:r>
                      <a:endParaRPr lang="zh-CN" sz="2000" b="1" kern="100" dirty="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07665">
                <a:tc>
                  <a:txBody>
                    <a:bodyPr/>
                    <a:lstStyle/>
                    <a:p>
                      <a:pPr indent="266700" algn="ctr"/>
                      <a:r>
                        <a:rPr lang="en-US" sz="2000" kern="100">
                          <a:solidFill>
                            <a:schemeClr val="tx1"/>
                          </a:solidFill>
                          <a:effectLst/>
                          <a:highlight>
                            <a:srgbClr val="F5F5F5"/>
                          </a:highlight>
                        </a:rPr>
                        <a:t>89</a:t>
                      </a:r>
                      <a:endParaRPr lang="zh-CN" sz="2000" kern="10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r>
                        <a:rPr lang="en-US" sz="2000" b="1" kern="100" dirty="0">
                          <a:solidFill>
                            <a:schemeClr val="tx1"/>
                          </a:solidFill>
                          <a:effectLst/>
                          <a:highlight>
                            <a:srgbClr val="F5F5F5"/>
                          </a:highlight>
                        </a:rPr>
                        <a:t>51</a:t>
                      </a:r>
                      <a:endParaRPr lang="zh-CN" sz="2000" b="1" kern="100" dirty="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r>
                        <a:rPr lang="en-US" sz="2000" b="1" kern="100" dirty="0">
                          <a:solidFill>
                            <a:schemeClr val="tx1"/>
                          </a:solidFill>
                          <a:effectLst/>
                          <a:highlight>
                            <a:srgbClr val="F5F5F5"/>
                          </a:highlight>
                        </a:rPr>
                        <a:t>22</a:t>
                      </a:r>
                      <a:endParaRPr lang="zh-CN" sz="2000" b="1" kern="100" dirty="0">
                        <a:solidFill>
                          <a:schemeClr val="tx1"/>
                        </a:solidFill>
                        <a:effectLst/>
                        <a:highlight>
                          <a:srgbClr val="F5F5F5"/>
                        </a:highligh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5" name="文本框 14"/>
          <p:cNvSpPr txBox="1"/>
          <p:nvPr/>
        </p:nvSpPr>
        <p:spPr>
          <a:xfrm>
            <a:off x="1764482" y="6454130"/>
            <a:ext cx="4589754"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4.11  3×3</a:t>
            </a:r>
            <a:r>
              <a:rPr lang="zh-CN" altLang="en-US" sz="1800" b="1" kern="0" dirty="0">
                <a:latin typeface="黑体" panose="02010609060101010101" pitchFamily="49" charset="-122"/>
                <a:ea typeface="黑体" panose="02010609060101010101" pitchFamily="49" charset="-122"/>
              </a:rPr>
              <a:t>源图像素点阵</a:t>
            </a:r>
          </a:p>
        </p:txBody>
      </p:sp>
    </p:spTree>
  </p:cSld>
  <p:clrMapOvr>
    <a:masterClrMapping/>
  </p:clrMapOvr>
  <p:transition spd="slow" advClick="0" advTm="0">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4.6.2  </a:t>
            </a:r>
            <a:r>
              <a:rPr lang="zh-CN" altLang="en-US" sz="2100" b="1" dirty="0">
                <a:solidFill>
                  <a:schemeClr val="tx1">
                    <a:lumMod val="75000"/>
                    <a:lumOff val="25000"/>
                  </a:schemeClr>
                </a:solidFill>
                <a:latin typeface="微软雅黑" panose="020B0503020204020204" pitchFamily="34" charset="-122"/>
              </a:rPr>
              <a:t>最近邻插值法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9"/>
              <p:cNvSpPr txBox="1"/>
              <p:nvPr/>
            </p:nvSpPr>
            <p:spPr>
              <a:xfrm>
                <a:off x="468338" y="1212398"/>
                <a:ext cx="7992888" cy="1708160"/>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现将上述</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3×3</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的图像放大为</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4×4</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的图像。首先，画出</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4×4</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的点阵，如图</a:t>
                </a:r>
                <a:r>
                  <a:rPr lang="en-US" altLang="zh-CN" kern="100" dirty="0">
                    <a:effectLst/>
                    <a:latin typeface="Times New Roman" panose="02020603050405020304" pitchFamily="18" charset="0"/>
                    <a:ea typeface="宋体" pitchFamily="2" charset="-122"/>
                  </a:rPr>
                  <a:t>4.12</a:t>
                </a:r>
                <a:r>
                  <a:rPr lang="zh-CN" altLang="zh-CN" kern="100" dirty="0">
                    <a:effectLst/>
                    <a:latin typeface="Times New Roman" panose="02020603050405020304" pitchFamily="18" charset="0"/>
                    <a:ea typeface="宋体" pitchFamily="2" charset="-122"/>
                    <a:cs typeface="Times New Roman" panose="02020603050405020304" pitchFamily="18" charset="0"/>
                  </a:rPr>
                  <a:t>所示，点阵的每个像素都是未知数，等待着我们去填充，这个待填充的图像叫做目标图，记作</a:t>
                </a:r>
                <a:r>
                  <a:rPr lang="en-US" altLang="zh-CN" kern="100" dirty="0">
                    <a:effectLst/>
                    <a:latin typeface="Times New Roman" panose="02020603050405020304" pitchFamily="18" charset="0"/>
                    <a:ea typeface="宋体" pitchFamily="2" charset="-122"/>
                  </a:rPr>
                  <a:t>Destination</a:t>
                </a:r>
                <a:r>
                  <a:rPr lang="zh-CN" altLang="zh-CN" kern="100" dirty="0">
                    <a:effectLst/>
                    <a:latin typeface="Times New Roman" panose="02020603050405020304" pitchFamily="18" charset="0"/>
                    <a:ea typeface="宋体" pitchFamily="2" charset="-122"/>
                    <a:cs typeface="Times New Roman" panose="02020603050405020304" pitchFamily="18" charset="0"/>
                  </a:rPr>
                  <a:t>。其次，从目标图左上角坐标</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(0,0)</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开始填充，坐标</a:t>
                </a:r>
                <a14:m>
                  <m:oMath xmlns:m="http://schemas.openxmlformats.org/officeDocument/2006/math">
                    <m:r>
                      <a:rPr lang="en-US" altLang="zh-CN" i="1" kern="100">
                        <a:effectLst/>
                        <a:latin typeface="Cambria Math" panose="02040503050406030204" pitchFamily="18" charset="0"/>
                        <a:ea typeface="宋体" pitchFamily="2" charset="-122"/>
                        <a:cs typeface="Times New Roman" panose="02020603050405020304" pitchFamily="18" charset="0"/>
                      </a:rPr>
                      <m:t>(0,0)</m:t>
                    </m:r>
                  </m:oMath>
                </a14:m>
                <a:r>
                  <a:rPr lang="zh-CN" altLang="zh-CN" kern="100" dirty="0">
                    <a:effectLst/>
                    <a:latin typeface="Times New Roman" panose="02020603050405020304" pitchFamily="18" charset="0"/>
                    <a:ea typeface="宋体" pitchFamily="2" charset="-122"/>
                    <a:cs typeface="Times New Roman" panose="02020603050405020304" pitchFamily="18" charset="0"/>
                  </a:rPr>
                  <a:t>反推回源图中对应坐标的计算公式，如公式</a:t>
                </a:r>
                <a:r>
                  <a:rPr lang="en-US" altLang="zh-CN" kern="100" dirty="0">
                    <a:effectLst/>
                    <a:latin typeface="Times New Roman" panose="02020603050405020304" pitchFamily="18" charset="0"/>
                    <a:ea typeface="宋体" pitchFamily="2" charset="-122"/>
                  </a:rPr>
                  <a:t> (4-11)</a:t>
                </a:r>
                <a:r>
                  <a:rPr lang="zh-CN" altLang="zh-CN" kern="100" dirty="0">
                    <a:effectLst/>
                    <a:latin typeface="Times New Roman" panose="02020603050405020304" pitchFamily="18" charset="0"/>
                    <a:ea typeface="宋体" pitchFamily="2" charset="-122"/>
                    <a:cs typeface="Times New Roman" panose="02020603050405020304" pitchFamily="18" charset="0"/>
                  </a:rPr>
                  <a:t>和</a:t>
                </a:r>
                <a:r>
                  <a:rPr lang="en-US" altLang="zh-CN" kern="100" dirty="0">
                    <a:effectLst/>
                    <a:latin typeface="Times New Roman" panose="02020603050405020304" pitchFamily="18" charset="0"/>
                    <a:ea typeface="宋体" pitchFamily="2" charset="-122"/>
                  </a:rPr>
                  <a:t>(4-12)</a:t>
                </a:r>
                <a:r>
                  <a:rPr lang="zh-CN" altLang="zh-CN"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468338" y="1212398"/>
                <a:ext cx="7992888" cy="1708160"/>
              </a:xfrm>
              <a:prstGeom prst="rect">
                <a:avLst/>
              </a:prstGeom>
              <a:blipFill rotWithShape="1">
                <a:blip r:embed="rId3"/>
                <a:stretch>
                  <a:fillRect l="-4" t="-11" r="6" b="-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2124522" y="3020579"/>
                <a:ext cx="4589754" cy="8184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𝑠𝑟𝑐𝑋</m:t>
                      </m:r>
                      <m:r>
                        <a:rPr lang="zh-CN" altLang="en-US" i="0">
                          <a:latin typeface="Cambria Math" panose="02040503050406030204" pitchFamily="18" charset="0"/>
                        </a:rPr>
                        <m:t> = </m:t>
                      </m:r>
                      <m:r>
                        <a:rPr lang="zh-CN" altLang="en-US" i="1">
                          <a:latin typeface="Cambria Math" panose="02040503050406030204" pitchFamily="18" charset="0"/>
                        </a:rPr>
                        <m:t>𝑑𝑠𝑡𝑋</m:t>
                      </m:r>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𝑠𝑟𝑐𝑊𝑖𝑑𝑡h</m:t>
                              </m:r>
                            </m:num>
                            <m:den>
                              <m:r>
                                <a:rPr lang="zh-CN" altLang="en-US" i="1">
                                  <a:latin typeface="Cambria Math" panose="02040503050406030204" pitchFamily="18" charset="0"/>
                                </a:rPr>
                                <m:t>𝑑𝑠𝑡𝑊𝑖𝑑𝑡h</m:t>
                              </m:r>
                            </m:den>
                          </m:f>
                        </m:e>
                      </m:d>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2124522" y="3020579"/>
                <a:ext cx="4589754" cy="818429"/>
              </a:xfrm>
              <a:prstGeom prst="rect">
                <a:avLst/>
              </a:prstGeom>
              <a:blipFill rotWithShape="1">
                <a:blip r:embed="rId4"/>
                <a:stretch>
                  <a:fillRect l="-10" t="-63" r="9" b="53"/>
                </a:stretch>
              </a:blipFill>
            </p:spPr>
            <p:txBody>
              <a:bodyPr/>
              <a:lstStyle/>
              <a:p>
                <a:r>
                  <a:rPr lang="zh-CN" altLang="en-US">
                    <a:noFill/>
                  </a:rPr>
                  <a:t> </a:t>
                </a:r>
              </a:p>
            </p:txBody>
          </p:sp>
        </mc:Fallback>
      </mc:AlternateContent>
      <p:sp>
        <p:nvSpPr>
          <p:cNvPr id="13" name="文本框 12"/>
          <p:cNvSpPr txBox="1"/>
          <p:nvPr/>
        </p:nvSpPr>
        <p:spPr>
          <a:xfrm>
            <a:off x="7453114" y="3141762"/>
            <a:ext cx="915571" cy="415498"/>
          </a:xfrm>
          <a:prstGeom prst="rect">
            <a:avLst/>
          </a:prstGeom>
          <a:noFill/>
        </p:spPr>
        <p:txBody>
          <a:bodyPr wrap="square">
            <a:spAutoFit/>
          </a:bodyPr>
          <a:lstStyle/>
          <a:p>
            <a:r>
              <a:rPr lang="en-US" altLang="zh-CN" dirty="0"/>
              <a:t>(4-11)</a:t>
            </a:r>
            <a:endParaRPr lang="zh-CN" altLang="en-US" dirty="0"/>
          </a:p>
        </p:txBody>
      </p:sp>
      <mc:AlternateContent xmlns:mc="http://schemas.openxmlformats.org/markup-compatibility/2006" xmlns:a14="http://schemas.microsoft.com/office/drawing/2010/main">
        <mc:Choice Requires="a14">
          <p:sp>
            <p:nvSpPr>
              <p:cNvPr id="16" name="文本框 15"/>
              <p:cNvSpPr txBox="1"/>
              <p:nvPr/>
            </p:nvSpPr>
            <p:spPr>
              <a:xfrm>
                <a:off x="2124522" y="3939029"/>
                <a:ext cx="4589754" cy="8184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𝑠𝑟𝑐𝑌</m:t>
                      </m:r>
                      <m:r>
                        <a:rPr lang="zh-CN" altLang="en-US" i="0">
                          <a:latin typeface="Cambria Math" panose="02040503050406030204" pitchFamily="18" charset="0"/>
                        </a:rPr>
                        <m:t> = </m:t>
                      </m:r>
                      <m:r>
                        <a:rPr lang="zh-CN" altLang="en-US" i="1">
                          <a:latin typeface="Cambria Math" panose="02040503050406030204" pitchFamily="18" charset="0"/>
                        </a:rPr>
                        <m:t>𝑑𝑠𝑡𝑌</m:t>
                      </m:r>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𝑠𝑟𝑐𝐻𝑒𝑖𝑔h𝑡</m:t>
                              </m:r>
                            </m:num>
                            <m:den>
                              <m:r>
                                <a:rPr lang="zh-CN" altLang="en-US" i="1">
                                  <a:latin typeface="Cambria Math" panose="02040503050406030204" pitchFamily="18" charset="0"/>
                                </a:rPr>
                                <m:t>𝑑𝑠𝑡𝐻𝑒𝑖𝑔h𝑡</m:t>
                              </m:r>
                            </m:den>
                          </m:f>
                        </m:e>
                      </m:d>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2124522" y="3939029"/>
                <a:ext cx="4589754" cy="818429"/>
              </a:xfrm>
              <a:prstGeom prst="rect">
                <a:avLst/>
              </a:prstGeom>
              <a:blipFill rotWithShape="1">
                <a:blip r:embed="rId5"/>
                <a:stretch>
                  <a:fillRect l="-10" t="-15" r="9" b="5"/>
                </a:stretch>
              </a:blipFill>
            </p:spPr>
            <p:txBody>
              <a:bodyPr/>
              <a:lstStyle/>
              <a:p>
                <a:r>
                  <a:rPr lang="zh-CN" altLang="en-US">
                    <a:noFill/>
                  </a:rPr>
                  <a:t> </a:t>
                </a:r>
              </a:p>
            </p:txBody>
          </p:sp>
        </mc:Fallback>
      </mc:AlternateContent>
      <p:sp>
        <p:nvSpPr>
          <p:cNvPr id="17" name="文本框 16"/>
          <p:cNvSpPr txBox="1"/>
          <p:nvPr/>
        </p:nvSpPr>
        <p:spPr>
          <a:xfrm>
            <a:off x="7503422" y="4140494"/>
            <a:ext cx="915571" cy="415498"/>
          </a:xfrm>
          <a:prstGeom prst="rect">
            <a:avLst/>
          </a:prstGeom>
          <a:noFill/>
        </p:spPr>
        <p:txBody>
          <a:bodyPr wrap="square">
            <a:spAutoFit/>
          </a:bodyPr>
          <a:lstStyle/>
          <a:p>
            <a:r>
              <a:rPr lang="en-US" altLang="zh-CN" dirty="0"/>
              <a:t>(4-12)</a:t>
            </a:r>
            <a:endParaRPr lang="zh-CN" altLang="en-US" dirty="0"/>
          </a:p>
        </p:txBody>
      </p:sp>
      <mc:AlternateContent xmlns:mc="http://schemas.openxmlformats.org/markup-compatibility/2006" xmlns:a14="http://schemas.microsoft.com/office/drawing/2010/main">
        <mc:Choice Requires="a14">
          <p:sp>
            <p:nvSpPr>
              <p:cNvPr id="18" name="文本框 17"/>
              <p:cNvSpPr txBox="1"/>
              <p:nvPr/>
            </p:nvSpPr>
            <p:spPr>
              <a:xfrm>
                <a:off x="490643" y="4921656"/>
                <a:ext cx="7950655" cy="1384995"/>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其中，</a:t>
                </a:r>
                <a14:m>
                  <m:oMath xmlns:m="http://schemas.openxmlformats.org/officeDocument/2006/math">
                    <m:r>
                      <a:rPr lang="en-US" altLang="zh-CN" i="1" kern="100">
                        <a:effectLst/>
                        <a:latin typeface="Cambria Math" panose="02040503050406030204" pitchFamily="18" charset="0"/>
                        <a:ea typeface="宋体" pitchFamily="2" charset="-122"/>
                      </a:rPr>
                      <m:t>𝑠𝑟𝑐𝑋</m:t>
                    </m:r>
                  </m:oMath>
                </a14:m>
                <a:r>
                  <a:rPr lang="zh-CN" altLang="zh-CN" kern="100" dirty="0">
                    <a:effectLst/>
                    <a:latin typeface="Times New Roman" panose="02020603050405020304" pitchFamily="18" charset="0"/>
                    <a:ea typeface="宋体" pitchFamily="2" charset="-122"/>
                  </a:rPr>
                  <a:t>是源图</a:t>
                </a:r>
                <a14:m>
                  <m:oMath xmlns:m="http://schemas.openxmlformats.org/officeDocument/2006/math">
                    <m:r>
                      <a:rPr lang="en-US" altLang="zh-CN" i="1" kern="100">
                        <a:effectLst/>
                        <a:latin typeface="Cambria Math" panose="02040503050406030204" pitchFamily="18" charset="0"/>
                        <a:ea typeface="宋体" pitchFamily="2" charset="-122"/>
                      </a:rPr>
                      <m:t>𝑋</m:t>
                    </m:r>
                  </m:oMath>
                </a14:m>
                <a:r>
                  <a:rPr lang="zh-CN" altLang="zh-CN" kern="100" dirty="0">
                    <a:effectLst/>
                    <a:latin typeface="Times New Roman" panose="02020603050405020304" pitchFamily="18" charset="0"/>
                    <a:ea typeface="宋体" pitchFamily="2" charset="-122"/>
                  </a:rPr>
                  <a:t>坐标值，</a:t>
                </a:r>
                <a14:m>
                  <m:oMath xmlns:m="http://schemas.openxmlformats.org/officeDocument/2006/math">
                    <m:r>
                      <a:rPr lang="en-US" altLang="zh-CN" i="1" kern="100">
                        <a:effectLst/>
                        <a:latin typeface="Cambria Math" panose="02040503050406030204" pitchFamily="18" charset="0"/>
                        <a:ea typeface="宋体" pitchFamily="2" charset="-122"/>
                      </a:rPr>
                      <m:t>𝑠𝑟𝑐𝑌</m:t>
                    </m:r>
                  </m:oMath>
                </a14:m>
                <a:r>
                  <a:rPr lang="zh-CN" altLang="zh-CN" kern="100" dirty="0">
                    <a:effectLst/>
                    <a:latin typeface="Times New Roman" panose="02020603050405020304" pitchFamily="18" charset="0"/>
                    <a:ea typeface="宋体" pitchFamily="2" charset="-122"/>
                  </a:rPr>
                  <a:t>是源图</a:t>
                </a:r>
                <a14:m>
                  <m:oMath xmlns:m="http://schemas.openxmlformats.org/officeDocument/2006/math">
                    <m:r>
                      <a:rPr lang="en-US" altLang="zh-CN" i="1" kern="100">
                        <a:effectLst/>
                        <a:latin typeface="Cambria Math" panose="02040503050406030204" pitchFamily="18" charset="0"/>
                        <a:ea typeface="宋体" pitchFamily="2" charset="-122"/>
                      </a:rPr>
                      <m:t>𝑌</m:t>
                    </m:r>
                  </m:oMath>
                </a14:m>
                <a:r>
                  <a:rPr lang="zh-CN" altLang="zh-CN" kern="100" dirty="0">
                    <a:effectLst/>
                    <a:latin typeface="Times New Roman" panose="02020603050405020304" pitchFamily="18" charset="0"/>
                    <a:ea typeface="宋体" pitchFamily="2" charset="-122"/>
                  </a:rPr>
                  <a:t>坐标值，</a:t>
                </a:r>
                <a14:m>
                  <m:oMath xmlns:m="http://schemas.openxmlformats.org/officeDocument/2006/math">
                    <m:r>
                      <a:rPr lang="en-US" altLang="zh-CN" i="1" kern="100">
                        <a:effectLst/>
                        <a:latin typeface="Cambria Math" panose="02040503050406030204" pitchFamily="18" charset="0"/>
                        <a:ea typeface="宋体" pitchFamily="2" charset="-122"/>
                      </a:rPr>
                      <m:t>𝑑𝑠𝑡𝑋</m:t>
                    </m:r>
                  </m:oMath>
                </a14:m>
                <a:r>
                  <a:rPr lang="zh-CN" altLang="zh-CN" kern="100" dirty="0">
                    <a:effectLst/>
                    <a:latin typeface="Times New Roman" panose="02020603050405020304" pitchFamily="18" charset="0"/>
                    <a:ea typeface="宋体" pitchFamily="2" charset="-122"/>
                  </a:rPr>
                  <a:t>是目标图</a:t>
                </a:r>
                <a14:m>
                  <m:oMath xmlns:m="http://schemas.openxmlformats.org/officeDocument/2006/math">
                    <m:r>
                      <a:rPr lang="en-US" altLang="zh-CN" i="1" kern="100">
                        <a:effectLst/>
                        <a:latin typeface="Cambria Math" panose="02040503050406030204" pitchFamily="18" charset="0"/>
                        <a:ea typeface="宋体" pitchFamily="2" charset="-122"/>
                      </a:rPr>
                      <m:t>𝑋</m:t>
                    </m:r>
                  </m:oMath>
                </a14:m>
                <a:r>
                  <a:rPr lang="zh-CN" altLang="zh-CN" kern="100" dirty="0">
                    <a:effectLst/>
                    <a:latin typeface="Times New Roman" panose="02020603050405020304" pitchFamily="18" charset="0"/>
                    <a:ea typeface="宋体" pitchFamily="2" charset="-122"/>
                  </a:rPr>
                  <a:t>坐标值，</a:t>
                </a:r>
                <a14:m>
                  <m:oMath xmlns:m="http://schemas.openxmlformats.org/officeDocument/2006/math">
                    <m:r>
                      <a:rPr lang="en-US" altLang="zh-CN" i="1" kern="100">
                        <a:effectLst/>
                        <a:latin typeface="Cambria Math" panose="02040503050406030204" pitchFamily="18" charset="0"/>
                        <a:ea typeface="宋体" pitchFamily="2" charset="-122"/>
                      </a:rPr>
                      <m:t>𝑑𝑠𝑡𝑌</m:t>
                    </m:r>
                  </m:oMath>
                </a14:m>
                <a:r>
                  <a:rPr lang="zh-CN" altLang="zh-CN" kern="100" dirty="0">
                    <a:effectLst/>
                    <a:latin typeface="Times New Roman" panose="02020603050405020304" pitchFamily="18" charset="0"/>
                    <a:ea typeface="宋体" pitchFamily="2" charset="-122"/>
                  </a:rPr>
                  <a:t>是目标图</a:t>
                </a:r>
                <a14:m>
                  <m:oMath xmlns:m="http://schemas.openxmlformats.org/officeDocument/2006/math">
                    <m:r>
                      <a:rPr lang="en-US" altLang="zh-CN" i="1" kern="100">
                        <a:effectLst/>
                        <a:latin typeface="Cambria Math" panose="02040503050406030204" pitchFamily="18" charset="0"/>
                        <a:ea typeface="宋体" pitchFamily="2" charset="-122"/>
                      </a:rPr>
                      <m:t>𝑌</m:t>
                    </m:r>
                  </m:oMath>
                </a14:m>
                <a:r>
                  <a:rPr lang="zh-CN" altLang="zh-CN" kern="100" dirty="0">
                    <a:effectLst/>
                    <a:latin typeface="Times New Roman" panose="02020603050405020304" pitchFamily="18" charset="0"/>
                    <a:ea typeface="宋体" pitchFamily="2" charset="-122"/>
                  </a:rPr>
                  <a:t>坐标值，</a:t>
                </a:r>
                <a14:m>
                  <m:oMath xmlns:m="http://schemas.openxmlformats.org/officeDocument/2006/math">
                    <m:r>
                      <a:rPr lang="en-US" altLang="zh-CN" i="1" kern="100">
                        <a:effectLst/>
                        <a:latin typeface="Cambria Math" panose="02040503050406030204" pitchFamily="18" charset="0"/>
                        <a:ea typeface="宋体" pitchFamily="2" charset="-122"/>
                      </a:rPr>
                      <m:t>𝑠𝑟𝑐𝑊𝑖𝑑𝑡h</m:t>
                    </m:r>
                  </m:oMath>
                </a14:m>
                <a:r>
                  <a:rPr lang="zh-CN" altLang="zh-CN" kern="100" dirty="0">
                    <a:effectLst/>
                    <a:latin typeface="Times New Roman" panose="02020603050405020304" pitchFamily="18" charset="0"/>
                    <a:ea typeface="宋体" pitchFamily="2" charset="-122"/>
                  </a:rPr>
                  <a:t>是源图的宽度，</a:t>
                </a:r>
                <a14:m>
                  <m:oMath xmlns:m="http://schemas.openxmlformats.org/officeDocument/2006/math">
                    <m:r>
                      <a:rPr lang="en-US" altLang="zh-CN" i="1" kern="100">
                        <a:effectLst/>
                        <a:latin typeface="Cambria Math" panose="02040503050406030204" pitchFamily="18" charset="0"/>
                        <a:ea typeface="宋体" pitchFamily="2" charset="-122"/>
                      </a:rPr>
                      <m:t>𝑠𝑟𝑐𝐻𝑒𝑖𝑔h𝑡</m:t>
                    </m:r>
                  </m:oMath>
                </a14:m>
                <a:r>
                  <a:rPr lang="zh-CN" altLang="zh-CN" kern="100" dirty="0">
                    <a:effectLst/>
                    <a:latin typeface="Times New Roman" panose="02020603050405020304" pitchFamily="18" charset="0"/>
                    <a:ea typeface="宋体" pitchFamily="2" charset="-122"/>
                  </a:rPr>
                  <a:t>是源图的长度，</a:t>
                </a:r>
                <a14:m>
                  <m:oMath xmlns:m="http://schemas.openxmlformats.org/officeDocument/2006/math">
                    <m:r>
                      <a:rPr lang="en-US" altLang="zh-CN" i="1" kern="100">
                        <a:effectLst/>
                        <a:latin typeface="Cambria Math" panose="02040503050406030204" pitchFamily="18" charset="0"/>
                        <a:ea typeface="宋体" pitchFamily="2" charset="-122"/>
                      </a:rPr>
                      <m:t>𝑑𝑠𝑡𝑊𝑖𝑑𝑡h</m:t>
                    </m:r>
                  </m:oMath>
                </a14:m>
                <a:r>
                  <a:rPr lang="zh-CN" altLang="zh-CN" kern="100" dirty="0">
                    <a:effectLst/>
                    <a:latin typeface="Times New Roman" panose="02020603050405020304" pitchFamily="18" charset="0"/>
                    <a:ea typeface="宋体" pitchFamily="2" charset="-122"/>
                  </a:rPr>
                  <a:t>是目标图的宽度，</a:t>
                </a:r>
                <a14:m>
                  <m:oMath xmlns:m="http://schemas.openxmlformats.org/officeDocument/2006/math">
                    <m:r>
                      <a:rPr lang="en-US" altLang="zh-CN" i="1" kern="100">
                        <a:effectLst/>
                        <a:latin typeface="Cambria Math" panose="02040503050406030204" pitchFamily="18" charset="0"/>
                        <a:ea typeface="宋体" pitchFamily="2" charset="-122"/>
                      </a:rPr>
                      <m:t>𝑑𝑠𝑡𝐻𝑒𝑖𝑔h𝑡</m:t>
                    </m:r>
                  </m:oMath>
                </a14:m>
                <a:r>
                  <a:rPr lang="zh-CN" altLang="zh-CN" kern="100" dirty="0">
                    <a:effectLst/>
                    <a:latin typeface="Times New Roman" panose="02020603050405020304" pitchFamily="18" charset="0"/>
                    <a:ea typeface="宋体" pitchFamily="2" charset="-122"/>
                  </a:rPr>
                  <a:t>是目标图的长度。</a:t>
                </a:r>
              </a:p>
            </p:txBody>
          </p:sp>
        </mc:Choice>
        <mc:Fallback xmlns="">
          <p:sp>
            <p:nvSpPr>
              <p:cNvPr id="18" name="文本框 17"/>
              <p:cNvSpPr txBox="1">
                <a:spLocks noRot="1" noChangeAspect="1" noMove="1" noResize="1" noEditPoints="1" noAdjustHandles="1" noChangeArrowheads="1" noChangeShapeType="1" noTextEdit="1"/>
              </p:cNvSpPr>
              <p:nvPr/>
            </p:nvSpPr>
            <p:spPr>
              <a:xfrm>
                <a:off x="490643" y="4921656"/>
                <a:ext cx="7950655" cy="1384995"/>
              </a:xfrm>
              <a:prstGeom prst="rect">
                <a:avLst/>
              </a:prstGeom>
              <a:blipFill rotWithShape="1">
                <a:blip r:embed="rId6"/>
                <a:stretch>
                  <a:fillRect l="-5" t="-29" r="3" b="-7531"/>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4.6.2  </a:t>
            </a:r>
            <a:r>
              <a:rPr lang="zh-CN" altLang="en-US" sz="2100" b="1" dirty="0">
                <a:solidFill>
                  <a:schemeClr val="tx1">
                    <a:lumMod val="75000"/>
                    <a:lumOff val="25000"/>
                  </a:schemeClr>
                </a:solidFill>
                <a:latin typeface="微软雅黑" panose="020B0503020204020204" pitchFamily="34" charset="-122"/>
              </a:rPr>
              <a:t>最近邻插值法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5" name="文本框 14"/>
              <p:cNvSpPr txBox="1"/>
              <p:nvPr/>
            </p:nvSpPr>
            <p:spPr>
              <a:xfrm>
                <a:off x="485795" y="1372083"/>
                <a:ext cx="8280920" cy="4453976"/>
              </a:xfrm>
              <a:prstGeom prst="rect">
                <a:avLst/>
              </a:prstGeom>
              <a:noFill/>
            </p:spPr>
            <p:txBody>
              <a:bodyPr wrap="square">
                <a:spAutoFit/>
              </a:bodyPr>
              <a:lstStyle/>
              <a:p>
                <a:r>
                  <a:rPr lang="zh-CN" altLang="en-US" dirty="0"/>
                  <a:t>          将目标图中</a:t>
                </a:r>
                <a:r>
                  <a:rPr lang="en-US" altLang="zh-CN" dirty="0"/>
                  <a:t>(0, 0)</a:t>
                </a:r>
                <a:r>
                  <a:rPr lang="zh-CN" altLang="en-US" dirty="0"/>
                  <a:t>坐标带入公式，对应的源图坐标计算过程，如</a:t>
                </a:r>
                <a:r>
                  <a:rPr lang="en-US" altLang="zh-CN" dirty="0"/>
                  <a:t>(4-13)</a:t>
                </a:r>
                <a:r>
                  <a:rPr lang="zh-CN" altLang="en-US" dirty="0"/>
                  <a:t>所示。</a:t>
                </a:r>
              </a:p>
              <a:p>
                <a:endParaRPr lang="en-US" altLang="zh-CN" dirty="0"/>
              </a:p>
              <a:p>
                <a:r>
                  <a:rPr lang="en-US" altLang="zh-CN" dirty="0"/>
                  <a:t>                                                                                                                          (4-13)</a:t>
                </a:r>
              </a:p>
              <a:p>
                <a:r>
                  <a:rPr lang="zh-CN" altLang="en-US" dirty="0"/>
                  <a:t>       </a:t>
                </a:r>
                <a:endParaRPr lang="en-US" altLang="zh-CN" dirty="0"/>
              </a:p>
              <a:p>
                <a:r>
                  <a:rPr lang="zh-CN" altLang="en-US" dirty="0"/>
                  <a:t>         上述计算过程反推源图的坐标为</a:t>
                </a:r>
                <a:r>
                  <a:rPr lang="en-US" altLang="zh-CN" dirty="0"/>
                  <a:t>(0,0)</a:t>
                </a:r>
                <a:r>
                  <a:rPr lang="zh-CN" altLang="en-US" dirty="0"/>
                  <a:t>，将源图中坐标</a:t>
                </a:r>
                <a:r>
                  <a:rPr lang="en-US" altLang="zh-CN" dirty="0"/>
                  <a:t>(0,0)</a:t>
                </a:r>
                <a:r>
                  <a:rPr lang="zh-CN" altLang="en-US" dirty="0"/>
                  <a:t>处的像素值</a:t>
                </a:r>
                <a:r>
                  <a:rPr lang="en-US" altLang="zh-CN" dirty="0"/>
                  <a:t>23</a:t>
                </a:r>
                <a:r>
                  <a:rPr lang="zh-CN" altLang="en-US" dirty="0"/>
                  <a:t>填充到目标图坐标</a:t>
                </a:r>
                <a:r>
                  <a:rPr lang="en-US" altLang="zh-CN" dirty="0"/>
                  <a:t>(0,0)</a:t>
                </a:r>
                <a:r>
                  <a:rPr lang="zh-CN" altLang="en-US" dirty="0"/>
                  <a:t>所在位置。如法炮制，由目标图</a:t>
                </a:r>
                <a:r>
                  <a:rPr lang="en-US" altLang="zh-CN" dirty="0"/>
                  <a:t>(1, 0)</a:t>
                </a:r>
                <a:r>
                  <a:rPr lang="zh-CN" altLang="en-US" dirty="0"/>
                  <a:t>反推源图中的坐标，可以套用公式 </a:t>
                </a:r>
                <a:r>
                  <a:rPr lang="en-US" altLang="zh-CN" dirty="0"/>
                  <a:t>(4-11)</a:t>
                </a:r>
                <a:r>
                  <a:rPr lang="zh-CN" altLang="en-US" dirty="0"/>
                  <a:t>和</a:t>
                </a:r>
                <a:r>
                  <a:rPr lang="en-US" altLang="zh-CN" dirty="0"/>
                  <a:t>(4-12)</a:t>
                </a:r>
                <a:r>
                  <a:rPr lang="zh-CN" altLang="en-US" dirty="0"/>
                  <a:t>，计算过程，如 </a:t>
                </a:r>
                <a:r>
                  <a:rPr lang="en-US" altLang="zh-CN" dirty="0"/>
                  <a:t>(4-14)</a:t>
                </a:r>
                <a:r>
                  <a:rPr lang="zh-CN" altLang="en-US" dirty="0"/>
                  <a:t>所示。</a:t>
                </a:r>
                <a:endParaRPr lang="en-US" altLang="zh-CN" dirty="0"/>
              </a:p>
              <a:p>
                <a:pPr/>
                <a14:m>
                  <m:oMathPara xmlns:m="http://schemas.openxmlformats.org/officeDocument/2006/math">
                    <m:oMathParaPr>
                      <m:jc m:val="centerGroup"/>
                    </m:oMathParaPr>
                    <m:oMath xmlns:m="http://schemas.openxmlformats.org/officeDocument/2006/math">
                      <m:r>
                        <a:rPr lang="en-US" altLang="zh-CN" b="0" i="1" kern="100" smtClean="0">
                          <a:effectLst/>
                          <a:latin typeface="Cambria Math" panose="02040503050406030204" pitchFamily="18" charset="0"/>
                          <a:ea typeface="宋体" pitchFamily="2" charset="-122"/>
                          <a:cs typeface="Times New Roman" panose="02020603050405020304" pitchFamily="18" charset="0"/>
                        </a:rPr>
                        <m:t>           </m:t>
                      </m:r>
                    </m:oMath>
                  </m:oMathPara>
                </a14:m>
                <a:endParaRPr lang="en-US" altLang="zh-CN" b="0" i="1" kern="100" dirty="0">
                  <a:effectLst/>
                  <a:latin typeface="Cambria Math" panose="02040503050406030204" pitchFamily="18" charset="0"/>
                  <a:ea typeface="宋体" pitchFamily="2" charset="-122"/>
                  <a:cs typeface="Times New Roman" panose="02020603050405020304" pitchFamily="18" charset="0"/>
                </a:endParaRPr>
              </a:p>
              <a:p>
                <a:r>
                  <a:rPr lang="en-US" altLang="zh-CN" b="0" kern="100" dirty="0">
                    <a:effectLst/>
                    <a:ea typeface="宋体" pitchFamily="2" charset="-122"/>
                    <a:cs typeface="Times New Roman" panose="02020603050405020304" pitchFamily="18" charset="0"/>
                  </a:rPr>
                  <a:t>            </a:t>
                </a:r>
                <a14:m>
                  <m:oMath xmlns:m="http://schemas.openxmlformats.org/officeDocument/2006/math">
                    <m:r>
                      <a:rPr lang="en-US" altLang="zh-CN" b="0" i="1" kern="100" smtClean="0">
                        <a:effectLst/>
                        <a:latin typeface="Cambria Math" panose="02040503050406030204" pitchFamily="18" charset="0"/>
                        <a:ea typeface="宋体" pitchFamily="2" charset="-122"/>
                        <a:cs typeface="Times New Roman" panose="02020603050405020304" pitchFamily="18" charset="0"/>
                      </a:rPr>
                      <m:t> </m:t>
                    </m:r>
                    <m:r>
                      <a:rPr lang="en-US" altLang="zh-CN" i="1" kern="100" smtClean="0">
                        <a:effectLst/>
                        <a:latin typeface="Cambria Math" panose="02040503050406030204" pitchFamily="18" charset="0"/>
                        <a:ea typeface="宋体" pitchFamily="2" charset="-122"/>
                        <a:cs typeface="Times New Roman" panose="02020603050405020304" pitchFamily="18" charset="0"/>
                      </a:rPr>
                      <m:t>(1×</m:t>
                    </m:r>
                    <m:d>
                      <m:dPr>
                        <m:ctrlPr>
                          <a:rPr lang="zh-CN" altLang="zh-CN" i="1">
                            <a:effectLst/>
                            <a:latin typeface="Cambria Math" panose="02040503050406030204" pitchFamily="18" charset="0"/>
                            <a:ea typeface="Cambria Math" panose="02040503050406030204" pitchFamily="18" charset="0"/>
                          </a:rPr>
                        </m:ctrlPr>
                      </m:dPr>
                      <m:e>
                        <m:f>
                          <m:fPr>
                            <m:ctrlPr>
                              <a:rPr lang="zh-CN" altLang="zh-CN" i="1">
                                <a:effectLst/>
                                <a:latin typeface="Cambria Math" panose="02040503050406030204" pitchFamily="18" charset="0"/>
                                <a:ea typeface="Cambria Math" panose="02040503050406030204" pitchFamily="18" charset="0"/>
                              </a:rPr>
                            </m:ctrlPr>
                          </m:fPr>
                          <m:num>
                            <m:r>
                              <a:rPr lang="en-US" altLang="zh-CN" i="1" kern="100">
                                <a:effectLst/>
                                <a:latin typeface="Cambria Math" panose="02040503050406030204" pitchFamily="18" charset="0"/>
                                <a:ea typeface="宋体" pitchFamily="2" charset="-122"/>
                                <a:cs typeface="Times New Roman" panose="02020603050405020304" pitchFamily="18" charset="0"/>
                              </a:rPr>
                              <m:t>3</m:t>
                            </m:r>
                          </m:num>
                          <m:den>
                            <m:r>
                              <a:rPr lang="en-US" altLang="zh-CN" i="1" kern="100">
                                <a:effectLst/>
                                <a:latin typeface="Cambria Math" panose="02040503050406030204" pitchFamily="18" charset="0"/>
                                <a:ea typeface="宋体" pitchFamily="2" charset="-122"/>
                                <a:cs typeface="Times New Roman" panose="02020603050405020304" pitchFamily="18" charset="0"/>
                              </a:rPr>
                              <m:t>4</m:t>
                            </m:r>
                          </m:den>
                        </m:f>
                      </m:e>
                    </m:d>
                    <m:r>
                      <a:rPr lang="en-US" altLang="zh-CN" i="1" kern="100">
                        <a:effectLst/>
                        <a:latin typeface="Cambria Math" panose="02040503050406030204" pitchFamily="18" charset="0"/>
                        <a:ea typeface="宋体" pitchFamily="2" charset="-122"/>
                        <a:cs typeface="Times New Roman" panose="02020603050405020304" pitchFamily="18" charset="0"/>
                      </a:rPr>
                      <m:t>, 0×</m:t>
                    </m:r>
                    <m:d>
                      <m:dPr>
                        <m:ctrlPr>
                          <a:rPr lang="zh-CN" altLang="zh-CN" i="1">
                            <a:effectLst/>
                            <a:latin typeface="Cambria Math" panose="02040503050406030204" pitchFamily="18" charset="0"/>
                            <a:ea typeface="Cambria Math" panose="02040503050406030204" pitchFamily="18" charset="0"/>
                          </a:rPr>
                        </m:ctrlPr>
                      </m:dPr>
                      <m:e>
                        <m:f>
                          <m:fPr>
                            <m:ctrlPr>
                              <a:rPr lang="zh-CN" altLang="zh-CN" i="1">
                                <a:effectLst/>
                                <a:latin typeface="Cambria Math" panose="02040503050406030204" pitchFamily="18" charset="0"/>
                                <a:ea typeface="Cambria Math" panose="02040503050406030204" pitchFamily="18" charset="0"/>
                              </a:rPr>
                            </m:ctrlPr>
                          </m:fPr>
                          <m:num>
                            <m:r>
                              <a:rPr lang="en-US" altLang="zh-CN" i="1" kern="100">
                                <a:effectLst/>
                                <a:latin typeface="Cambria Math" panose="02040503050406030204" pitchFamily="18" charset="0"/>
                                <a:ea typeface="宋体" pitchFamily="2" charset="-122"/>
                                <a:cs typeface="Times New Roman" panose="02020603050405020304" pitchFamily="18" charset="0"/>
                              </a:rPr>
                              <m:t>3</m:t>
                            </m:r>
                          </m:num>
                          <m:den>
                            <m:r>
                              <a:rPr lang="en-US" altLang="zh-CN" i="1" kern="100">
                                <a:effectLst/>
                                <a:latin typeface="Cambria Math" panose="02040503050406030204" pitchFamily="18" charset="0"/>
                                <a:ea typeface="宋体" pitchFamily="2" charset="-122"/>
                                <a:cs typeface="Times New Roman" panose="02020603050405020304" pitchFamily="18" charset="0"/>
                              </a:rPr>
                              <m:t>4</m:t>
                            </m:r>
                          </m:den>
                        </m:f>
                      </m:e>
                    </m:d>
                    <m:r>
                      <a:rPr lang="en-US" altLang="zh-CN" i="1" kern="100">
                        <a:effectLst/>
                        <a:latin typeface="Cambria Math" panose="02040503050406030204" pitchFamily="18" charset="0"/>
                        <a:ea typeface="宋体" pitchFamily="2" charset="-122"/>
                        <a:cs typeface="Times New Roman" panose="02020603050405020304" pitchFamily="18" charset="0"/>
                      </a:rPr>
                      <m:t>)=&gt;(1×0.75, 0×0.75)=&gt;(0.75, 0)</m:t>
                    </m:r>
                  </m:oMath>
                </a14:m>
                <a:r>
                  <a:rPr lang="en-US" altLang="zh-CN" dirty="0"/>
                  <a:t>     (4-14)</a:t>
                </a:r>
              </a:p>
              <a:p>
                <a:endParaRPr lang="en-US" altLang="zh-CN" dirty="0"/>
              </a:p>
              <a:p>
                <a:r>
                  <a:rPr lang="en-US" altLang="zh-CN" dirty="0"/>
                  <a:t>          </a:t>
                </a:r>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485795" y="1372083"/>
                <a:ext cx="8280920" cy="4453976"/>
              </a:xfrm>
              <a:prstGeom prst="rect">
                <a:avLst/>
              </a:prstGeom>
              <a:blipFill rotWithShape="1">
                <a:blip r:embed="rId3"/>
                <a:stretch>
                  <a:fillRect t="-11" r="7" b="-130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2158295" y="2271507"/>
                <a:ext cx="6459736"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0" smtClean="0">
                          <a:latin typeface="Cambria Math" panose="02040503050406030204" pitchFamily="18" charset="0"/>
                        </a:rPr>
                        <m:t>=&gt;</m:t>
                      </m:r>
                      <m:d>
                        <m:dPr>
                          <m:ctrlPr>
                            <a:rPr lang="zh-CN" altLang="en-US" i="1">
                              <a:latin typeface="Cambria Math" panose="02040503050406030204" pitchFamily="18" charset="0"/>
                            </a:rPr>
                          </m:ctrlPr>
                        </m:dPr>
                        <m:e>
                          <m:r>
                            <a:rPr lang="zh-CN" altLang="en-US" i="0">
                              <a:latin typeface="Cambria Math" panose="02040503050406030204" pitchFamily="18" charset="0"/>
                            </a:rPr>
                            <m:t>0×0.75,0×0.75</m:t>
                          </m:r>
                        </m:e>
                      </m:d>
                      <m:r>
                        <a:rPr lang="zh-CN" altLang="en-US" i="0">
                          <a:latin typeface="Cambria Math" panose="02040503050406030204" pitchFamily="18" charset="0"/>
                        </a:rPr>
                        <m:t>=&gt;</m:t>
                      </m:r>
                      <m:d>
                        <m:dPr>
                          <m:ctrlPr>
                            <a:rPr lang="zh-CN" altLang="en-US" i="1">
                              <a:latin typeface="Cambria Math" panose="02040503050406030204" pitchFamily="18" charset="0"/>
                            </a:rPr>
                          </m:ctrlPr>
                        </m:dPr>
                        <m:e>
                          <m:r>
                            <a:rPr lang="zh-CN" altLang="en-US" i="0">
                              <a:latin typeface="Cambria Math" panose="02040503050406030204" pitchFamily="18" charset="0"/>
                            </a:rPr>
                            <m:t>0,0</m:t>
                          </m:r>
                        </m:e>
                      </m:d>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2158295" y="2271507"/>
                <a:ext cx="6459736" cy="415498"/>
              </a:xfrm>
              <a:prstGeom prst="rect">
                <a:avLst/>
              </a:prstGeom>
              <a:blipFill rotWithShape="1">
                <a:blip r:embed="rId4"/>
                <a:stretch>
                  <a:fillRect l="-9" t="-27" r="7" b="-11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188418" y="2059526"/>
                <a:ext cx="2304256" cy="8352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zh-CN" altLang="en-US" i="1" smtClean="0">
                              <a:solidFill>
                                <a:srgbClr val="836967"/>
                              </a:solidFill>
                              <a:latin typeface="Cambria Math" panose="02040503050406030204" pitchFamily="18" charset="0"/>
                            </a:rPr>
                          </m:ctrlPr>
                        </m:dPr>
                        <m:e>
                          <m:r>
                            <a:rPr lang="zh-CN" altLang="en-US">
                              <a:latin typeface="Cambria Math" panose="02040503050406030204" pitchFamily="18" charset="0"/>
                            </a:rPr>
                            <m:t>0</m:t>
                          </m:r>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m:t>
                                  </m:r>
                                </m:num>
                                <m:den>
                                  <m:r>
                                    <a:rPr lang="zh-CN" altLang="en-US" i="0">
                                      <a:latin typeface="Cambria Math" panose="02040503050406030204" pitchFamily="18" charset="0"/>
                                    </a:rPr>
                                    <m:t>4</m:t>
                                  </m:r>
                                </m:den>
                              </m:f>
                            </m:e>
                          </m:d>
                          <m:r>
                            <a:rPr lang="zh-CN" altLang="en-US" i="0">
                              <a:latin typeface="Cambria Math" panose="02040503050406030204" pitchFamily="18" charset="0"/>
                            </a:rPr>
                            <m:t>,0×</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3</m:t>
                                  </m:r>
                                </m:num>
                                <m:den>
                                  <m:r>
                                    <a:rPr lang="zh-CN" altLang="en-US" i="0">
                                      <a:latin typeface="Cambria Math" panose="02040503050406030204" pitchFamily="18" charset="0"/>
                                    </a:rPr>
                                    <m:t>4</m:t>
                                  </m:r>
                                </m:den>
                              </m:f>
                            </m:e>
                          </m:d>
                        </m:e>
                      </m:d>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1188418" y="2059526"/>
                <a:ext cx="2304256" cy="835229"/>
              </a:xfrm>
              <a:prstGeom prst="rect">
                <a:avLst/>
              </a:prstGeom>
              <a:blipFill rotWithShape="1">
                <a:blip r:embed="rId5"/>
                <a:stretch>
                  <a:fillRect l="-14" t="-26" r="8" b="51"/>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4.6.2  </a:t>
            </a:r>
            <a:r>
              <a:rPr lang="zh-CN" altLang="en-US" sz="2100" b="1" dirty="0">
                <a:solidFill>
                  <a:schemeClr val="tx1">
                    <a:lumMod val="75000"/>
                    <a:lumOff val="25000"/>
                  </a:schemeClr>
                </a:solidFill>
                <a:latin typeface="微软雅黑" panose="020B0503020204020204" pitchFamily="34" charset="-122"/>
              </a:rPr>
              <a:t>最近邻插值法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6" name="文本框 5"/>
          <p:cNvSpPr txBox="1"/>
          <p:nvPr/>
        </p:nvSpPr>
        <p:spPr>
          <a:xfrm>
            <a:off x="540346" y="1316377"/>
            <a:ext cx="8280920" cy="1708160"/>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我们可以发现，坐标中出现了小数，而计算机中的图像是数字图像，像素是最小单位，都是整数。所以，我们一般采用四舍五入的方法或直接舍弃小数位的方法，把非整数坐标转化为整数坐标。在此说明，本节采用的是四舍五入的方法。那么式</a:t>
            </a:r>
            <a:r>
              <a:rPr lang="en-US" altLang="zh-CN" kern="100" dirty="0">
                <a:effectLst/>
                <a:latin typeface="Times New Roman" panose="02020603050405020304" pitchFamily="18" charset="0"/>
                <a:ea typeface="宋体" pitchFamily="2" charset="-122"/>
              </a:rPr>
              <a:t> (4-14)</a:t>
            </a:r>
            <a:r>
              <a:rPr lang="zh-CN" altLang="zh-CN" kern="100" dirty="0">
                <a:effectLst/>
                <a:latin typeface="Times New Roman" panose="02020603050405020304" pitchFamily="18" charset="0"/>
                <a:ea typeface="宋体" pitchFamily="2" charset="-122"/>
              </a:rPr>
              <a:t>完整的运算过程，如</a:t>
            </a:r>
            <a:r>
              <a:rPr lang="en-US" altLang="zh-CN" kern="100" dirty="0">
                <a:effectLst/>
                <a:latin typeface="Times New Roman" panose="02020603050405020304" pitchFamily="18" charset="0"/>
                <a:ea typeface="宋体" pitchFamily="2" charset="-122"/>
              </a:rPr>
              <a:t> (4-15)</a:t>
            </a:r>
            <a:r>
              <a:rPr lang="zh-CN" altLang="zh-CN" kern="100" dirty="0">
                <a:effectLst/>
                <a:latin typeface="Times New Roman" panose="02020603050405020304" pitchFamily="18" charset="0"/>
                <a:ea typeface="宋体" pitchFamily="2" charset="-122"/>
              </a:rPr>
              <a:t>所示。</a:t>
            </a:r>
          </a:p>
        </p:txBody>
      </p:sp>
      <p:sp>
        <p:nvSpPr>
          <p:cNvPr id="12" name="文本框 11"/>
          <p:cNvSpPr txBox="1"/>
          <p:nvPr/>
        </p:nvSpPr>
        <p:spPr>
          <a:xfrm>
            <a:off x="1021568" y="3379456"/>
            <a:ext cx="7102452" cy="415498"/>
          </a:xfrm>
          <a:prstGeom prst="rect">
            <a:avLst/>
          </a:prstGeom>
          <a:noFill/>
        </p:spPr>
        <p:txBody>
          <a:bodyPr wrap="square">
            <a:spAutoFit/>
          </a:bodyPr>
          <a:lstStyle/>
          <a:p>
            <a:r>
              <a:rPr lang="en-US" altLang="zh-CN" dirty="0"/>
              <a:t>(1×(3/4),0×(3/4))=&gt;(1×0.75,0×0.75)=&gt;(0.75,0)=&gt;(1,0)</a:t>
            </a:r>
            <a:endParaRPr lang="zh-CN" altLang="en-US" dirty="0"/>
          </a:p>
        </p:txBody>
      </p:sp>
      <p:sp>
        <p:nvSpPr>
          <p:cNvPr id="14" name="文本框 13"/>
          <p:cNvSpPr txBox="1"/>
          <p:nvPr/>
        </p:nvSpPr>
        <p:spPr>
          <a:xfrm>
            <a:off x="7957170" y="3392219"/>
            <a:ext cx="864096" cy="415490"/>
          </a:xfrm>
          <a:prstGeom prst="rect">
            <a:avLst/>
          </a:prstGeom>
          <a:noFill/>
        </p:spPr>
        <p:txBody>
          <a:bodyPr wrap="square">
            <a:spAutoFit/>
          </a:bodyPr>
          <a:lstStyle/>
          <a:p>
            <a:r>
              <a:rPr lang="en-US" altLang="zh-CN" dirty="0"/>
              <a:t>(4-15)</a:t>
            </a:r>
          </a:p>
        </p:txBody>
      </p:sp>
      <p:sp>
        <p:nvSpPr>
          <p:cNvPr id="16" name="文本框 15"/>
          <p:cNvSpPr txBox="1"/>
          <p:nvPr/>
        </p:nvSpPr>
        <p:spPr>
          <a:xfrm>
            <a:off x="468338" y="4149874"/>
            <a:ext cx="8208912" cy="1061829"/>
          </a:xfrm>
          <a:prstGeom prst="rect">
            <a:avLst/>
          </a:prstGeom>
          <a:noFill/>
        </p:spPr>
        <p:txBody>
          <a:bodyPr wrap="square">
            <a:spAutoFit/>
          </a:bodyPr>
          <a:lstStyle/>
          <a:p>
            <a:r>
              <a:rPr lang="zh-CN" altLang="en-US" dirty="0"/>
              <a:t>        将源图中坐标</a:t>
            </a:r>
            <a:r>
              <a:rPr lang="en-US" altLang="zh-CN" dirty="0"/>
              <a:t>(1,0)</a:t>
            </a:r>
            <a:r>
              <a:rPr lang="zh-CN" altLang="en-US" dirty="0"/>
              <a:t>处的像素值</a:t>
            </a:r>
            <a:r>
              <a:rPr lang="en-US" altLang="zh-CN" dirty="0"/>
              <a:t>238</a:t>
            </a:r>
            <a:r>
              <a:rPr lang="zh-CN" altLang="en-US" dirty="0"/>
              <a:t>填充到目标图坐标</a:t>
            </a:r>
            <a:r>
              <a:rPr lang="en-US" altLang="zh-CN" dirty="0"/>
              <a:t>(1,0)</a:t>
            </a:r>
            <a:r>
              <a:rPr lang="zh-CN" altLang="en-US" dirty="0"/>
              <a:t>所在位置。以此类推，可以利用公式 </a:t>
            </a:r>
            <a:r>
              <a:rPr lang="en-US" altLang="zh-CN" dirty="0"/>
              <a:t>(4-11)</a:t>
            </a:r>
            <a:r>
              <a:rPr lang="zh-CN" altLang="en-US" dirty="0"/>
              <a:t>求出目标图中所有未知像素的值。最后我们求得</a:t>
            </a:r>
            <a:r>
              <a:rPr lang="en-US" altLang="zh-CN" dirty="0"/>
              <a:t>4×4</a:t>
            </a:r>
            <a:r>
              <a:rPr lang="zh-CN" altLang="en-US" dirty="0"/>
              <a:t>目标图像素点阵，如图</a:t>
            </a:r>
            <a:r>
              <a:rPr lang="en-US" altLang="zh-CN" dirty="0"/>
              <a:t>4.13</a:t>
            </a:r>
            <a:r>
              <a:rPr lang="zh-CN" altLang="en-US" dirty="0"/>
              <a:t>所示。</a:t>
            </a:r>
          </a:p>
        </p:txBody>
      </p:sp>
    </p:spTree>
  </p:cSld>
  <p:clrMapOvr>
    <a:masterClrMapping/>
  </p:clrMapOvr>
  <p:transition spd="slow" advClick="0" advTm="0">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4.6.2  </a:t>
            </a:r>
            <a:r>
              <a:rPr lang="zh-CN" altLang="en-US" sz="2100" b="1" dirty="0">
                <a:solidFill>
                  <a:schemeClr val="tx1">
                    <a:lumMod val="75000"/>
                    <a:lumOff val="25000"/>
                  </a:schemeClr>
                </a:solidFill>
                <a:latin typeface="微软雅黑" panose="020B0503020204020204" pitchFamily="34" charset="-122"/>
              </a:rPr>
              <a:t>最近邻插值法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6" name="文本框 5"/>
          <p:cNvSpPr txBox="1"/>
          <p:nvPr/>
        </p:nvSpPr>
        <p:spPr>
          <a:xfrm>
            <a:off x="540346" y="1316377"/>
            <a:ext cx="8280920" cy="2354491"/>
          </a:xfrm>
          <a:prstGeom prst="rect">
            <a:avLst/>
          </a:prstGeom>
          <a:noFill/>
        </p:spPr>
        <p:txBody>
          <a:bodyPr wrap="square">
            <a:spAutoFit/>
          </a:bodyPr>
          <a:lstStyle/>
          <a:p>
            <a:pPr indent="266700" algn="just"/>
            <a:r>
              <a:rPr lang="zh-CN" altLang="en-US" kern="100" dirty="0">
                <a:effectLst/>
                <a:latin typeface="Times New Roman" panose="02020603050405020304" pitchFamily="18" charset="0"/>
                <a:ea typeface="宋体" pitchFamily="2" charset="-122"/>
              </a:rPr>
              <a:t>    上述图像放大的方法就是最近邻插值法，这是最基本、最简单的图像插值法，但是这种方法的实现效果不太好。一般，经过最近邻插值法缩放的图像会出现严重失真现象。效果不好的主要原因是由于在目标图像素坐标反推源图对应坐标时，采用了四舍五入的方法，直接用和这个浮点数最接近的整数值，这种方法很不科学。目标图的像素坐标位置其实应该根据距离源图像素值最近的四个像素点来计算，这样才能达到更好的效果，这就是我们接下来要介绍的双线性插值法。</a:t>
            </a:r>
            <a:endParaRPr lang="zh-CN" altLang="zh-CN" kern="100" dirty="0">
              <a:effectLst/>
              <a:latin typeface="Times New Roman" panose="02020603050405020304" pitchFamily="18" charset="0"/>
              <a:ea typeface="宋体" pitchFamily="2" charset="-122"/>
            </a:endParaRPr>
          </a:p>
        </p:txBody>
      </p:sp>
      <p:graphicFrame>
        <p:nvGraphicFramePr>
          <p:cNvPr id="3" name="表格 2"/>
          <p:cNvGraphicFramePr>
            <a:graphicFrameLocks noGrp="1"/>
          </p:cNvGraphicFramePr>
          <p:nvPr/>
        </p:nvGraphicFramePr>
        <p:xfrm>
          <a:off x="1281410" y="3796390"/>
          <a:ext cx="2355279" cy="2235524"/>
        </p:xfrm>
        <a:graphic>
          <a:graphicData uri="http://schemas.openxmlformats.org/drawingml/2006/table">
            <a:tbl>
              <a:tblPr firstRow="1" firstCol="1" bandRow="1">
                <a:tableStyleId>{5C22544A-7EE6-4342-B048-85BDC9FD1C3A}</a:tableStyleId>
              </a:tblPr>
              <a:tblGrid>
                <a:gridCol w="564675">
                  <a:extLst>
                    <a:ext uri="{9D8B030D-6E8A-4147-A177-3AD203B41FA5}">
                      <a16:colId xmlns:a16="http://schemas.microsoft.com/office/drawing/2014/main" val="20000"/>
                    </a:ext>
                  </a:extLst>
                </a:gridCol>
                <a:gridCol w="596868">
                  <a:extLst>
                    <a:ext uri="{9D8B030D-6E8A-4147-A177-3AD203B41FA5}">
                      <a16:colId xmlns:a16="http://schemas.microsoft.com/office/drawing/2014/main" val="20001"/>
                    </a:ext>
                  </a:extLst>
                </a:gridCol>
                <a:gridCol w="596868">
                  <a:extLst>
                    <a:ext uri="{9D8B030D-6E8A-4147-A177-3AD203B41FA5}">
                      <a16:colId xmlns:a16="http://schemas.microsoft.com/office/drawing/2014/main" val="20002"/>
                    </a:ext>
                  </a:extLst>
                </a:gridCol>
                <a:gridCol w="596868">
                  <a:extLst>
                    <a:ext uri="{9D8B030D-6E8A-4147-A177-3AD203B41FA5}">
                      <a16:colId xmlns:a16="http://schemas.microsoft.com/office/drawing/2014/main" val="20003"/>
                    </a:ext>
                  </a:extLst>
                </a:gridCol>
              </a:tblGrid>
              <a:tr h="558881">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a:solidFill>
                            <a:schemeClr val="tx1"/>
                          </a:solidFill>
                          <a:effectLst/>
                        </a:rPr>
                        <a:t>？</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58881">
                <a:tc>
                  <a:txBody>
                    <a:bodyPr/>
                    <a:lstStyle/>
                    <a:p>
                      <a:pPr indent="266700" algn="ctr"/>
                      <a:r>
                        <a:rPr lang="zh-CN" sz="1600" b="1" kern="100">
                          <a:solidFill>
                            <a:schemeClr val="tx1"/>
                          </a:solidFill>
                          <a:effectLst/>
                        </a:rPr>
                        <a:t>？</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58881">
                <a:tc>
                  <a:txBody>
                    <a:bodyPr/>
                    <a:lstStyle/>
                    <a:p>
                      <a:pPr indent="266700" algn="ctr"/>
                      <a:r>
                        <a:rPr lang="zh-CN" sz="1600" b="1" kern="100">
                          <a:solidFill>
                            <a:schemeClr val="tx1"/>
                          </a:solidFill>
                          <a:effectLst/>
                        </a:rPr>
                        <a:t>？</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a:solidFill>
                            <a:schemeClr val="tx1"/>
                          </a:solidFill>
                          <a:effectLst/>
                        </a:rPr>
                        <a:t>？</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881">
                <a:tc>
                  <a:txBody>
                    <a:bodyPr/>
                    <a:lstStyle/>
                    <a:p>
                      <a:pPr indent="266700" algn="ctr"/>
                      <a:r>
                        <a:rPr lang="zh-CN" sz="1600" b="1" kern="100">
                          <a:solidFill>
                            <a:schemeClr val="tx1"/>
                          </a:solidFill>
                          <a:effectLst/>
                        </a:rPr>
                        <a:t>？</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a:solidFill>
                            <a:schemeClr val="tx1"/>
                          </a:solidFill>
                          <a:effectLst/>
                        </a:rPr>
                        <a:t>？</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zh-CN" sz="1600" b="1" kern="100" dirty="0">
                          <a:solidFill>
                            <a:schemeClr val="tx1"/>
                          </a:solidFill>
                          <a:effectLst/>
                        </a:rPr>
                        <a:t>？</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graphicFrame>
        <p:nvGraphicFramePr>
          <p:cNvPr id="4" name="表格 3"/>
          <p:cNvGraphicFramePr>
            <a:graphicFrameLocks noGrp="1"/>
          </p:cNvGraphicFramePr>
          <p:nvPr/>
        </p:nvGraphicFramePr>
        <p:xfrm>
          <a:off x="4983858" y="3796390"/>
          <a:ext cx="2880320" cy="2235524"/>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tblGrid>
              <a:tr h="558881">
                <a:tc>
                  <a:txBody>
                    <a:bodyPr/>
                    <a:lstStyle/>
                    <a:p>
                      <a:pPr indent="266700" algn="ctr"/>
                      <a:r>
                        <a:rPr lang="en-US" sz="1600" kern="100" dirty="0">
                          <a:solidFill>
                            <a:schemeClr val="tx1"/>
                          </a:solidFill>
                          <a:effectLst/>
                        </a:rPr>
                        <a:t>23</a:t>
                      </a:r>
                      <a:endParaRPr lang="zh-CN" sz="1600"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kern="100" dirty="0">
                          <a:solidFill>
                            <a:schemeClr val="tx1"/>
                          </a:solidFill>
                          <a:effectLst/>
                        </a:rPr>
                        <a:t>238</a:t>
                      </a:r>
                      <a:endParaRPr lang="zh-CN" sz="1600"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kern="100" dirty="0">
                          <a:solidFill>
                            <a:schemeClr val="tx1"/>
                          </a:solidFill>
                          <a:effectLst/>
                        </a:rPr>
                        <a:t>56</a:t>
                      </a:r>
                      <a:endParaRPr lang="zh-CN" sz="1600"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kern="100" dirty="0">
                          <a:solidFill>
                            <a:schemeClr val="tx1"/>
                          </a:solidFill>
                          <a:effectLst/>
                        </a:rPr>
                        <a:t>56</a:t>
                      </a:r>
                      <a:endParaRPr lang="zh-CN" sz="1600"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58881">
                <a:tc>
                  <a:txBody>
                    <a:bodyPr/>
                    <a:lstStyle/>
                    <a:p>
                      <a:pPr indent="266700" algn="ctr"/>
                      <a:r>
                        <a:rPr lang="en-US" sz="1600" kern="100" dirty="0">
                          <a:solidFill>
                            <a:schemeClr val="tx1"/>
                          </a:solidFill>
                          <a:effectLst/>
                        </a:rPr>
                        <a:t>70</a:t>
                      </a:r>
                      <a:endParaRPr lang="zh-CN" sz="1600"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dirty="0">
                          <a:solidFill>
                            <a:schemeClr val="tx1"/>
                          </a:solidFill>
                          <a:effectLst/>
                        </a:rPr>
                        <a:t>44</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dirty="0">
                          <a:solidFill>
                            <a:schemeClr val="tx1"/>
                          </a:solidFill>
                          <a:effectLst/>
                        </a:rPr>
                        <a:t>112</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dirty="0">
                          <a:solidFill>
                            <a:schemeClr val="tx1"/>
                          </a:solidFill>
                          <a:effectLst/>
                        </a:rPr>
                        <a:t>112</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58881">
                <a:tc>
                  <a:txBody>
                    <a:bodyPr/>
                    <a:lstStyle/>
                    <a:p>
                      <a:pPr indent="266700" algn="ctr"/>
                      <a:r>
                        <a:rPr lang="en-US" sz="1600" kern="100">
                          <a:solidFill>
                            <a:schemeClr val="tx1"/>
                          </a:solidFill>
                          <a:effectLst/>
                        </a:rPr>
                        <a:t>89</a:t>
                      </a:r>
                      <a:endParaRPr lang="zh-CN" sz="1600"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a:solidFill>
                            <a:schemeClr val="tx1"/>
                          </a:solidFill>
                          <a:effectLst/>
                        </a:rPr>
                        <a:t>51</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dirty="0">
                          <a:solidFill>
                            <a:schemeClr val="tx1"/>
                          </a:solidFill>
                          <a:effectLst/>
                        </a:rPr>
                        <a:t>22</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dirty="0">
                          <a:solidFill>
                            <a:schemeClr val="tx1"/>
                          </a:solidFill>
                          <a:effectLst/>
                        </a:rPr>
                        <a:t>22</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881">
                <a:tc>
                  <a:txBody>
                    <a:bodyPr/>
                    <a:lstStyle/>
                    <a:p>
                      <a:pPr indent="266700" algn="ctr"/>
                      <a:r>
                        <a:rPr lang="en-US" sz="1600" kern="100">
                          <a:solidFill>
                            <a:schemeClr val="tx1"/>
                          </a:solidFill>
                          <a:effectLst/>
                        </a:rPr>
                        <a:t>89</a:t>
                      </a:r>
                      <a:endParaRPr lang="zh-CN" sz="1600"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a:solidFill>
                            <a:schemeClr val="tx1"/>
                          </a:solidFill>
                          <a:effectLst/>
                        </a:rPr>
                        <a:t>51</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a:solidFill>
                            <a:schemeClr val="tx1"/>
                          </a:solidFill>
                          <a:effectLst/>
                        </a:rPr>
                        <a:t>22</a:t>
                      </a:r>
                      <a:endParaRPr lang="zh-CN" sz="1600" b="1" kern="10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66700" algn="ctr"/>
                      <a:r>
                        <a:rPr lang="en-US" sz="1600" b="1" kern="100" dirty="0">
                          <a:solidFill>
                            <a:schemeClr val="tx1"/>
                          </a:solidFill>
                          <a:effectLst/>
                        </a:rPr>
                        <a:t>22</a:t>
                      </a:r>
                      <a:endParaRPr lang="zh-CN" sz="1600" b="1" kern="100" dirty="0">
                        <a:solidFill>
                          <a:schemeClr val="tx1"/>
                        </a:solidFill>
                        <a:effectLst/>
                        <a:latin typeface="Times New Roman" panose="02020603050405020304" pitchFamily="18" charset="0"/>
                        <a:ea typeface="宋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5" name="文本框 14"/>
          <p:cNvSpPr txBox="1"/>
          <p:nvPr/>
        </p:nvSpPr>
        <p:spPr>
          <a:xfrm>
            <a:off x="91052" y="6159265"/>
            <a:ext cx="4589754" cy="338554"/>
          </a:xfrm>
          <a:prstGeom prst="rect">
            <a:avLst/>
          </a:prstGeom>
          <a:noFill/>
        </p:spPr>
        <p:txBody>
          <a:bodyPr wrap="square">
            <a:spAutoFit/>
          </a:bodyPr>
          <a:lstStyle/>
          <a:p>
            <a:pPr indent="266700" algn="ctr"/>
            <a:r>
              <a:rPr lang="zh-CN" altLang="en-US" sz="1600" b="1" kern="0" dirty="0">
                <a:latin typeface="黑体" panose="02010609060101010101" pitchFamily="49" charset="-122"/>
                <a:ea typeface="黑体" panose="02010609060101010101" pitchFamily="49" charset="-122"/>
              </a:rPr>
              <a:t>图</a:t>
            </a:r>
            <a:r>
              <a:rPr lang="en-US" altLang="zh-CN" sz="1600" b="1" kern="0" dirty="0">
                <a:latin typeface="黑体" panose="02010609060101010101" pitchFamily="49" charset="-122"/>
                <a:ea typeface="黑体" panose="02010609060101010101" pitchFamily="49" charset="-122"/>
              </a:rPr>
              <a:t>4.12  4×4</a:t>
            </a:r>
            <a:r>
              <a:rPr lang="zh-CN" altLang="en-US" sz="1600" b="1" kern="0" dirty="0">
                <a:latin typeface="黑体" panose="02010609060101010101" pitchFamily="49" charset="-122"/>
                <a:ea typeface="黑体" panose="02010609060101010101" pitchFamily="49" charset="-122"/>
              </a:rPr>
              <a:t>待填充目标图像素点阵</a:t>
            </a:r>
          </a:p>
        </p:txBody>
      </p:sp>
      <p:sp>
        <p:nvSpPr>
          <p:cNvPr id="17" name="文本框 16"/>
          <p:cNvSpPr txBox="1"/>
          <p:nvPr/>
        </p:nvSpPr>
        <p:spPr>
          <a:xfrm>
            <a:off x="4129141" y="6159265"/>
            <a:ext cx="4589754" cy="338554"/>
          </a:xfrm>
          <a:prstGeom prst="rect">
            <a:avLst/>
          </a:prstGeom>
          <a:noFill/>
        </p:spPr>
        <p:txBody>
          <a:bodyPr wrap="square">
            <a:spAutoFit/>
          </a:bodyPr>
          <a:lstStyle/>
          <a:p>
            <a:pPr indent="266700" algn="ctr"/>
            <a:r>
              <a:rPr lang="zh-CN" altLang="en-US" sz="1600" b="1" kern="0" dirty="0">
                <a:latin typeface="黑体" panose="02010609060101010101" pitchFamily="49" charset="-122"/>
                <a:ea typeface="黑体" panose="02010609060101010101" pitchFamily="49" charset="-122"/>
              </a:rPr>
              <a:t>图</a:t>
            </a:r>
            <a:r>
              <a:rPr lang="en-US" altLang="zh-CN" sz="1600" b="1" kern="0" dirty="0">
                <a:latin typeface="黑体" panose="02010609060101010101" pitchFamily="49" charset="-122"/>
                <a:ea typeface="黑体" panose="02010609060101010101" pitchFamily="49" charset="-122"/>
              </a:rPr>
              <a:t>4.13  4×4</a:t>
            </a:r>
            <a:r>
              <a:rPr lang="zh-CN" altLang="en-US" sz="1600" b="1" kern="0" dirty="0">
                <a:latin typeface="黑体" panose="02010609060101010101" pitchFamily="49" charset="-122"/>
                <a:ea typeface="黑体" panose="02010609060101010101" pitchFamily="49" charset="-122"/>
              </a:rPr>
              <a:t>填充后目标图像素点阵</a:t>
            </a:r>
          </a:p>
        </p:txBody>
      </p:sp>
    </p:spTree>
  </p:cSld>
  <p:clrMapOvr>
    <a:masterClrMapping/>
  </p:clrMapOvr>
  <p:transition spd="slow" advClick="0" advTm="0">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4.6.3  </a:t>
            </a:r>
            <a:r>
              <a:rPr lang="zh-CN" altLang="en-US" sz="2100" b="1" dirty="0">
                <a:solidFill>
                  <a:schemeClr val="tx1">
                    <a:lumMod val="75000"/>
                    <a:lumOff val="25000"/>
                  </a:schemeClr>
                </a:solidFill>
                <a:latin typeface="微软雅黑" panose="020B0503020204020204" pitchFamily="34" charset="-122"/>
              </a:rPr>
              <a:t>双线性插值法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6" name="文本框 5"/>
          <p:cNvSpPr txBox="1"/>
          <p:nvPr/>
        </p:nvSpPr>
        <p:spPr>
          <a:xfrm>
            <a:off x="540346" y="1316377"/>
            <a:ext cx="8280920" cy="3323987"/>
          </a:xfrm>
          <a:prstGeom prst="rect">
            <a:avLst/>
          </a:prstGeom>
          <a:noFill/>
        </p:spPr>
        <p:txBody>
          <a:bodyPr wrap="square">
            <a:spAutoFit/>
          </a:bodyPr>
          <a:lstStyle/>
          <a:p>
            <a:pPr indent="266700" algn="just"/>
            <a:r>
              <a:rPr lang="zh-CN" altLang="en-US" kern="100" dirty="0">
                <a:effectLst/>
                <a:latin typeface="Times New Roman" panose="02020603050405020304" pitchFamily="18" charset="0"/>
                <a:ea typeface="宋体" pitchFamily="2" charset="-122"/>
              </a:rPr>
              <a:t>    双线性插值法，又称为双线性内插法。在数学上，双线性插值是有两个变量的插值函数的线性插值扩展，其核心思想是在两个方向分别进行一次线性插值。</a:t>
            </a:r>
            <a:endParaRPr lang="en-US" altLang="zh-CN" kern="100" dirty="0">
              <a:effectLst/>
              <a:latin typeface="Times New Roman" panose="02020603050405020304" pitchFamily="18" charset="0"/>
              <a:ea typeface="宋体" pitchFamily="2" charset="-122"/>
            </a:endParaRPr>
          </a:p>
          <a:p>
            <a:pPr indent="266700" algn="just"/>
            <a:r>
              <a:rPr lang="zh-CN" altLang="en-US" kern="100" dirty="0">
                <a:effectLst/>
                <a:latin typeface="Times New Roman" panose="02020603050405020304" pitchFamily="18" charset="0"/>
                <a:ea typeface="宋体" pitchFamily="2" charset="-122"/>
              </a:rPr>
              <a:t>    </a:t>
            </a:r>
            <a:endParaRPr lang="en-US" altLang="zh-CN" kern="100" dirty="0">
              <a:effectLst/>
              <a:latin typeface="Times New Roman" panose="02020603050405020304" pitchFamily="18" charset="0"/>
              <a:ea typeface="宋体" pitchFamily="2" charset="-122"/>
            </a:endParaRPr>
          </a:p>
          <a:p>
            <a:pPr indent="266700" algn="just"/>
            <a:r>
              <a:rPr lang="en-US" altLang="zh-CN" kern="100" dirty="0">
                <a:latin typeface="Times New Roman" panose="02020603050405020304" pitchFamily="18" charset="0"/>
                <a:ea typeface="宋体" pitchFamily="2" charset="-122"/>
              </a:rPr>
              <a:t>    </a:t>
            </a:r>
            <a:r>
              <a:rPr lang="zh-CN" altLang="en-US" kern="100" dirty="0">
                <a:effectLst/>
                <a:latin typeface="Times New Roman" panose="02020603050405020304" pitchFamily="18" charset="0"/>
                <a:ea typeface="宋体" pitchFamily="2" charset="-122"/>
              </a:rPr>
              <a:t>双线性插值法的描述是：对于一个目标图像素，设置坐标通过反向变换得到的浮点坐标为</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i+u,j+v</a:t>
            </a:r>
            <a:r>
              <a:rPr lang="en-US" altLang="zh-CN" kern="100" dirty="0">
                <a:effectLst/>
                <a:latin typeface="Times New Roman" panose="02020603050405020304" pitchFamily="18" charset="0"/>
                <a:ea typeface="宋体" pitchFamily="2" charset="-122"/>
              </a:rPr>
              <a:t>)</a:t>
            </a:r>
            <a:r>
              <a:rPr lang="zh-CN" altLang="en-US" kern="100" dirty="0">
                <a:effectLst/>
                <a:latin typeface="Times New Roman" panose="02020603050405020304" pitchFamily="18" charset="0"/>
                <a:ea typeface="宋体" pitchFamily="2" charset="-122"/>
              </a:rPr>
              <a:t>，也就是公式 </a:t>
            </a:r>
            <a:r>
              <a:rPr lang="en-US" altLang="zh-CN" kern="100" dirty="0">
                <a:effectLst/>
                <a:latin typeface="Times New Roman" panose="02020603050405020304" pitchFamily="18" charset="0"/>
                <a:ea typeface="宋体" pitchFamily="2" charset="-122"/>
              </a:rPr>
              <a:t>(4-11)</a:t>
            </a:r>
            <a:r>
              <a:rPr lang="zh-CN" altLang="en-US" kern="100" dirty="0">
                <a:effectLst/>
                <a:latin typeface="Times New Roman" panose="02020603050405020304" pitchFamily="18" charset="0"/>
                <a:ea typeface="宋体" pitchFamily="2" charset="-122"/>
              </a:rPr>
              <a:t>和</a:t>
            </a:r>
            <a:r>
              <a:rPr lang="en-US" altLang="zh-CN" kern="100" dirty="0">
                <a:effectLst/>
                <a:latin typeface="Times New Roman" panose="02020603050405020304" pitchFamily="18" charset="0"/>
                <a:ea typeface="宋体" pitchFamily="2" charset="-122"/>
              </a:rPr>
              <a:t>(4-12)</a:t>
            </a:r>
            <a:r>
              <a:rPr lang="zh-CN" altLang="en-US" kern="100" dirty="0">
                <a:effectLst/>
                <a:latin typeface="Times New Roman" panose="02020603050405020304" pitchFamily="18" charset="0"/>
                <a:ea typeface="宋体" pitchFamily="2" charset="-122"/>
              </a:rPr>
              <a:t>中的坐标</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srcX,srcY</a:t>
            </a:r>
            <a:r>
              <a:rPr lang="en-US" altLang="zh-CN" kern="100" dirty="0">
                <a:effectLst/>
                <a:latin typeface="Times New Roman" panose="02020603050405020304" pitchFamily="18" charset="0"/>
                <a:ea typeface="宋体" pitchFamily="2" charset="-122"/>
              </a:rPr>
              <a:t>)</a:t>
            </a:r>
            <a:r>
              <a:rPr lang="zh-CN" altLang="en-US" kern="100" dirty="0">
                <a:effectLst/>
                <a:latin typeface="Times New Roman" panose="02020603050405020304" pitchFamily="18" charset="0"/>
                <a:ea typeface="宋体" pitchFamily="2" charset="-122"/>
              </a:rPr>
              <a:t>。其中，</a:t>
            </a:r>
            <a:r>
              <a:rPr lang="en-US" altLang="zh-CN" kern="100" dirty="0" err="1">
                <a:effectLst/>
                <a:latin typeface="Times New Roman" panose="02020603050405020304" pitchFamily="18" charset="0"/>
                <a:ea typeface="宋体" pitchFamily="2" charset="-122"/>
              </a:rPr>
              <a:t>i</a:t>
            </a:r>
            <a:r>
              <a:rPr lang="zh-CN" altLang="en-US"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j</a:t>
            </a:r>
            <a:r>
              <a:rPr lang="zh-CN" altLang="en-US" kern="100" dirty="0">
                <a:effectLst/>
                <a:latin typeface="Times New Roman" panose="02020603050405020304" pitchFamily="18" charset="0"/>
                <a:ea typeface="宋体" pitchFamily="2" charset="-122"/>
              </a:rPr>
              <a:t>是浮点坐标的整数部分，</a:t>
            </a:r>
            <a:r>
              <a:rPr lang="en-US" altLang="zh-CN" kern="100" dirty="0">
                <a:effectLst/>
                <a:latin typeface="Times New Roman" panose="02020603050405020304" pitchFamily="18" charset="0"/>
                <a:ea typeface="宋体" pitchFamily="2" charset="-122"/>
              </a:rPr>
              <a:t>u</a:t>
            </a:r>
            <a:r>
              <a:rPr lang="zh-CN" altLang="en-US"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v</a:t>
            </a:r>
            <a:r>
              <a:rPr lang="zh-CN" altLang="en-US" kern="100" dirty="0">
                <a:effectLst/>
                <a:latin typeface="Times New Roman" panose="02020603050405020304" pitchFamily="18" charset="0"/>
                <a:ea typeface="宋体" pitchFamily="2" charset="-122"/>
              </a:rPr>
              <a:t>是浮点坐标的小数部分，浮点数的取值区间是</a:t>
            </a:r>
            <a:r>
              <a:rPr lang="en-US" altLang="zh-CN" kern="100" dirty="0">
                <a:effectLst/>
                <a:latin typeface="Times New Roman" panose="02020603050405020304" pitchFamily="18" charset="0"/>
                <a:ea typeface="宋体" pitchFamily="2" charset="-122"/>
              </a:rPr>
              <a:t>[0,1)</a:t>
            </a:r>
            <a:r>
              <a:rPr lang="zh-CN" altLang="en-US" kern="100" dirty="0">
                <a:effectLst/>
                <a:latin typeface="Times New Roman" panose="02020603050405020304" pitchFamily="18" charset="0"/>
                <a:ea typeface="宋体" pitchFamily="2" charset="-122"/>
              </a:rPr>
              <a:t>。坐标像素值</a:t>
            </a:r>
            <a:r>
              <a:rPr lang="en-US" altLang="zh-CN" kern="100" dirty="0">
                <a:effectLst/>
                <a:latin typeface="Times New Roman" panose="02020603050405020304" pitchFamily="18" charset="0"/>
                <a:ea typeface="宋体" pitchFamily="2" charset="-122"/>
              </a:rPr>
              <a:t>f(</a:t>
            </a:r>
            <a:r>
              <a:rPr lang="en-US" altLang="zh-CN" kern="100" dirty="0" err="1">
                <a:effectLst/>
                <a:latin typeface="Times New Roman" panose="02020603050405020304" pitchFamily="18" charset="0"/>
                <a:ea typeface="宋体" pitchFamily="2" charset="-122"/>
              </a:rPr>
              <a:t>i+u,j+v</a:t>
            </a:r>
            <a:r>
              <a:rPr lang="en-US" altLang="zh-CN" kern="100" dirty="0">
                <a:effectLst/>
                <a:latin typeface="Times New Roman" panose="02020603050405020304" pitchFamily="18" charset="0"/>
                <a:ea typeface="宋体" pitchFamily="2" charset="-122"/>
              </a:rPr>
              <a:t>)</a:t>
            </a:r>
            <a:r>
              <a:rPr lang="zh-CN" altLang="en-US" kern="100" dirty="0">
                <a:effectLst/>
                <a:latin typeface="Times New Roman" panose="02020603050405020304" pitchFamily="18" charset="0"/>
                <a:ea typeface="宋体" pitchFamily="2" charset="-122"/>
              </a:rPr>
              <a:t>可由源图中四个坐标</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i,j</a:t>
            </a:r>
            <a:r>
              <a:rPr lang="en-US" altLang="zh-CN" kern="100" dirty="0">
                <a:effectLst/>
                <a:latin typeface="Times New Roman" panose="02020603050405020304" pitchFamily="18" charset="0"/>
                <a:ea typeface="宋体" pitchFamily="2" charset="-122"/>
              </a:rPr>
              <a:t>)</a:t>
            </a:r>
            <a:r>
              <a:rPr lang="zh-CN" altLang="en-US"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(i+1,j)</a:t>
            </a:r>
            <a:r>
              <a:rPr lang="zh-CN" altLang="en-US"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(i,j+1)</a:t>
            </a:r>
            <a:r>
              <a:rPr lang="zh-CN" altLang="en-US"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(i+1,j+1)</a:t>
            </a:r>
            <a:r>
              <a:rPr lang="zh-CN" altLang="en-US" kern="100" dirty="0">
                <a:effectLst/>
                <a:latin typeface="Times New Roman" panose="02020603050405020304" pitchFamily="18" charset="0"/>
                <a:ea typeface="宋体" pitchFamily="2" charset="-122"/>
              </a:rPr>
              <a:t>所对应的像素值决定。</a:t>
            </a:r>
            <a:r>
              <a:rPr lang="en-US" altLang="zh-CN" kern="100" dirty="0">
                <a:effectLst/>
                <a:latin typeface="Times New Roman" panose="02020603050405020304" pitchFamily="18" charset="0"/>
                <a:ea typeface="宋体" pitchFamily="2" charset="-122"/>
              </a:rPr>
              <a:t>f(</a:t>
            </a:r>
            <a:r>
              <a:rPr lang="en-US" altLang="zh-CN" kern="100" dirty="0" err="1">
                <a:effectLst/>
                <a:latin typeface="Times New Roman" panose="02020603050405020304" pitchFamily="18" charset="0"/>
                <a:ea typeface="宋体" pitchFamily="2" charset="-122"/>
              </a:rPr>
              <a:t>i+u,j+v</a:t>
            </a:r>
            <a:r>
              <a:rPr lang="en-US" altLang="zh-CN" kern="100" dirty="0">
                <a:effectLst/>
                <a:latin typeface="Times New Roman" panose="02020603050405020304" pitchFamily="18" charset="0"/>
                <a:ea typeface="宋体" pitchFamily="2" charset="-122"/>
              </a:rPr>
              <a:t>)</a:t>
            </a:r>
            <a:r>
              <a:rPr lang="zh-CN" altLang="en-US" kern="100" dirty="0">
                <a:effectLst/>
                <a:latin typeface="Times New Roman" panose="02020603050405020304" pitchFamily="18" charset="0"/>
                <a:ea typeface="宋体" pitchFamily="2" charset="-122"/>
              </a:rPr>
              <a:t>的计算公式，如 </a:t>
            </a:r>
            <a:r>
              <a:rPr lang="en-US" altLang="zh-CN" kern="100" dirty="0">
                <a:effectLst/>
                <a:latin typeface="Times New Roman" panose="02020603050405020304" pitchFamily="18" charset="0"/>
                <a:ea typeface="宋体" pitchFamily="2" charset="-122"/>
              </a:rPr>
              <a:t>(4-16)</a:t>
            </a:r>
            <a:r>
              <a:rPr lang="zh-CN" altLang="en-US" kern="100" dirty="0">
                <a:effectLst/>
                <a:latin typeface="Times New Roman" panose="02020603050405020304" pitchFamily="18" charset="0"/>
                <a:ea typeface="宋体" pitchFamily="2" charset="-122"/>
              </a:rPr>
              <a:t>所示。</a:t>
            </a:r>
            <a:r>
              <a:rPr lang="en-US" altLang="zh-CN" kern="100" dirty="0">
                <a:effectLst/>
                <a:latin typeface="Times New Roman" panose="02020603050405020304" pitchFamily="18" charset="0"/>
                <a:ea typeface="宋体" pitchFamily="2" charset="-122"/>
              </a:rPr>
              <a:t>f(</a:t>
            </a:r>
            <a:r>
              <a:rPr lang="en-US" altLang="zh-CN" kern="100" dirty="0" err="1">
                <a:effectLst/>
                <a:latin typeface="Times New Roman" panose="02020603050405020304" pitchFamily="18" charset="0"/>
                <a:ea typeface="宋体" pitchFamily="2" charset="-122"/>
              </a:rPr>
              <a:t>i,j</a:t>
            </a:r>
            <a:r>
              <a:rPr lang="en-US" altLang="zh-CN" kern="100" dirty="0">
                <a:effectLst/>
                <a:latin typeface="Times New Roman" panose="02020603050405020304" pitchFamily="18" charset="0"/>
                <a:ea typeface="宋体" pitchFamily="2" charset="-122"/>
              </a:rPr>
              <a:t>)</a:t>
            </a:r>
            <a:r>
              <a:rPr lang="zh-CN" altLang="en-US" kern="100" dirty="0">
                <a:effectLst/>
                <a:latin typeface="Times New Roman" panose="02020603050405020304" pitchFamily="18" charset="0"/>
                <a:ea typeface="宋体" pitchFamily="2" charset="-122"/>
              </a:rPr>
              <a:t>表示源图像</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i,j</a:t>
            </a:r>
            <a:r>
              <a:rPr lang="en-US" altLang="zh-CN" kern="100" dirty="0">
                <a:effectLst/>
                <a:latin typeface="Times New Roman" panose="02020603050405020304" pitchFamily="18" charset="0"/>
                <a:ea typeface="宋体" pitchFamily="2" charset="-122"/>
              </a:rPr>
              <a:t>)</a:t>
            </a:r>
            <a:r>
              <a:rPr lang="zh-CN" altLang="en-US" kern="100" dirty="0">
                <a:effectLst/>
                <a:latin typeface="Times New Roman" panose="02020603050405020304" pitchFamily="18" charset="0"/>
                <a:ea typeface="宋体" pitchFamily="2" charset="-122"/>
              </a:rPr>
              <a:t>处的像素值。</a:t>
            </a:r>
            <a:endParaRPr lang="zh-CN" altLang="zh-CN" kern="100" dirty="0">
              <a:effectLst/>
              <a:latin typeface="Times New Roman" panose="02020603050405020304" pitchFamily="18" charset="0"/>
              <a:ea typeface="宋体" pitchFamily="2" charset="-122"/>
            </a:endParaRPr>
          </a:p>
        </p:txBody>
      </p:sp>
      <p:sp>
        <p:nvSpPr>
          <p:cNvPr id="14" name="文本框 13"/>
          <p:cNvSpPr txBox="1"/>
          <p:nvPr/>
        </p:nvSpPr>
        <p:spPr>
          <a:xfrm>
            <a:off x="540346" y="5262669"/>
            <a:ext cx="7200800" cy="415498"/>
          </a:xfrm>
          <a:prstGeom prst="rect">
            <a:avLst/>
          </a:prstGeom>
          <a:noFill/>
        </p:spPr>
        <p:txBody>
          <a:bodyPr wrap="square">
            <a:spAutoFit/>
          </a:bodyPr>
          <a:lstStyle/>
          <a:p>
            <a:r>
              <a:rPr lang="pl-PL" altLang="zh-CN" dirty="0"/>
              <a:t>f(i+u,j+v)=(1-u)(1-v)f(i,j)+(1-u)vf(i,j+1)+ u(1-v)f(i+1,j)+uvf(i+1,j+1)</a:t>
            </a:r>
            <a:endParaRPr lang="zh-CN" altLang="en-US" dirty="0"/>
          </a:p>
        </p:txBody>
      </p:sp>
      <p:sp>
        <p:nvSpPr>
          <p:cNvPr id="16" name="文本框 15"/>
          <p:cNvSpPr txBox="1"/>
          <p:nvPr/>
        </p:nvSpPr>
        <p:spPr>
          <a:xfrm>
            <a:off x="7957170" y="5262677"/>
            <a:ext cx="864096" cy="415490"/>
          </a:xfrm>
          <a:prstGeom prst="rect">
            <a:avLst/>
          </a:prstGeom>
          <a:noFill/>
        </p:spPr>
        <p:txBody>
          <a:bodyPr wrap="square">
            <a:spAutoFit/>
          </a:bodyPr>
          <a:lstStyle/>
          <a:p>
            <a:r>
              <a:rPr lang="en-US" altLang="zh-CN" dirty="0"/>
              <a:t>(4-15)</a:t>
            </a:r>
          </a:p>
        </p:txBody>
      </p:sp>
    </p:spTree>
  </p:cSld>
  <p:clrMapOvr>
    <a:masterClrMapping/>
  </p:clrMapOvr>
  <p:transition spd="slow" advClick="0" advTm="0">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4.6.3  </a:t>
            </a:r>
            <a:r>
              <a:rPr lang="zh-CN" altLang="en-US" sz="2100" b="1" dirty="0">
                <a:solidFill>
                  <a:schemeClr val="tx1">
                    <a:lumMod val="75000"/>
                    <a:lumOff val="25000"/>
                  </a:schemeClr>
                </a:solidFill>
                <a:latin typeface="微软雅黑" panose="020B0503020204020204" pitchFamily="34" charset="-122"/>
              </a:rPr>
              <a:t>双线性插值法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0" name="文本框 9"/>
          <p:cNvSpPr txBox="1"/>
          <p:nvPr/>
        </p:nvSpPr>
        <p:spPr>
          <a:xfrm>
            <a:off x="712183" y="1189154"/>
            <a:ext cx="7749043" cy="2031325"/>
          </a:xfrm>
          <a:prstGeom prst="rect">
            <a:avLst/>
          </a:prstGeom>
          <a:noFill/>
        </p:spPr>
        <p:txBody>
          <a:bodyPr wrap="square">
            <a:spAutoFit/>
          </a:bodyPr>
          <a:lstStyle/>
          <a:p>
            <a:r>
              <a:rPr lang="zh-CN" altLang="en-US" dirty="0"/>
              <a:t>          在图像处理的时候，先根据公式 </a:t>
            </a:r>
            <a:r>
              <a:rPr lang="en-US" altLang="zh-CN" dirty="0"/>
              <a:t>(4-11)</a:t>
            </a:r>
            <a:r>
              <a:rPr lang="zh-CN" altLang="en-US" dirty="0"/>
              <a:t>来计算目标图像素</a:t>
            </a:r>
            <a:r>
              <a:rPr lang="en-US" altLang="zh-CN" dirty="0"/>
              <a:t>(</a:t>
            </a:r>
            <a:r>
              <a:rPr lang="en-US" altLang="zh-CN" dirty="0" err="1"/>
              <a:t>dstX,dstY</a:t>
            </a:r>
            <a:r>
              <a:rPr lang="en-US" altLang="zh-CN" dirty="0"/>
              <a:t>)</a:t>
            </a:r>
            <a:r>
              <a:rPr lang="zh-CN" altLang="en-US" dirty="0"/>
              <a:t>在源图中对应的像素</a:t>
            </a:r>
            <a:r>
              <a:rPr lang="en-US" altLang="zh-CN" dirty="0"/>
              <a:t>(</a:t>
            </a:r>
            <a:r>
              <a:rPr lang="en-US" altLang="zh-CN" dirty="0" err="1"/>
              <a:t>srcX,srcY</a:t>
            </a:r>
            <a:r>
              <a:rPr lang="en-US" altLang="zh-CN" dirty="0"/>
              <a:t>)</a:t>
            </a:r>
            <a:r>
              <a:rPr lang="zh-CN" altLang="en-US" dirty="0"/>
              <a:t>。计算得到的</a:t>
            </a:r>
            <a:r>
              <a:rPr lang="en-US" altLang="zh-CN" dirty="0" err="1"/>
              <a:t>srcX</a:t>
            </a:r>
            <a:r>
              <a:rPr lang="zh-CN" altLang="en-US" dirty="0"/>
              <a:t>和</a:t>
            </a:r>
            <a:r>
              <a:rPr lang="en-US" altLang="zh-CN" dirty="0" err="1"/>
              <a:t>srcY</a:t>
            </a:r>
            <a:r>
              <a:rPr lang="zh-CN" altLang="en-US" dirty="0"/>
              <a:t>一般都是浮点数，比如</a:t>
            </a:r>
            <a:r>
              <a:rPr lang="en-US" altLang="zh-CN" dirty="0"/>
              <a:t>f(1.4 ,3.1)</a:t>
            </a:r>
            <a:r>
              <a:rPr lang="zh-CN" altLang="en-US" dirty="0"/>
              <a:t>这个像素点是虚拟存在的，先找到与它临近的四个实际存在的像素点</a:t>
            </a:r>
            <a:r>
              <a:rPr lang="en-US" altLang="zh-CN" dirty="0"/>
              <a:t>(1,3)</a:t>
            </a:r>
            <a:r>
              <a:rPr lang="zh-CN" altLang="en-US" dirty="0"/>
              <a:t>、</a:t>
            </a:r>
            <a:r>
              <a:rPr lang="en-US" altLang="zh-CN" dirty="0"/>
              <a:t>(2,3)</a:t>
            </a:r>
            <a:r>
              <a:rPr lang="zh-CN" altLang="en-US" dirty="0"/>
              <a:t>、</a:t>
            </a:r>
            <a:r>
              <a:rPr lang="en-US" altLang="zh-CN" dirty="0"/>
              <a:t>(1,4)</a:t>
            </a:r>
            <a:r>
              <a:rPr lang="zh-CN" altLang="en-US" dirty="0"/>
              <a:t>、</a:t>
            </a:r>
            <a:r>
              <a:rPr lang="en-US" altLang="zh-CN" dirty="0"/>
              <a:t>(2,4)</a:t>
            </a:r>
            <a:r>
              <a:rPr lang="zh-CN" altLang="en-US" dirty="0"/>
              <a:t>。将</a:t>
            </a:r>
            <a:r>
              <a:rPr lang="en-US" altLang="zh-CN" dirty="0"/>
              <a:t>f(1.4 ,3.1)</a:t>
            </a:r>
            <a:r>
              <a:rPr lang="zh-CN" altLang="en-US" dirty="0"/>
              <a:t>写成</a:t>
            </a:r>
            <a:r>
              <a:rPr lang="en-US" altLang="zh-CN" dirty="0"/>
              <a:t>f(</a:t>
            </a:r>
            <a:r>
              <a:rPr lang="en-US" altLang="zh-CN" dirty="0" err="1"/>
              <a:t>i+u</a:t>
            </a:r>
            <a:r>
              <a:rPr lang="en-US" altLang="zh-CN" dirty="0"/>
              <a:t> ,</a:t>
            </a:r>
            <a:r>
              <a:rPr lang="en-US" altLang="zh-CN" dirty="0" err="1"/>
              <a:t>j+v</a:t>
            </a:r>
            <a:r>
              <a:rPr lang="en-US" altLang="zh-CN" dirty="0"/>
              <a:t>)</a:t>
            </a:r>
            <a:r>
              <a:rPr lang="zh-CN" altLang="en-US" dirty="0"/>
              <a:t>的形式，则</a:t>
            </a:r>
            <a:r>
              <a:rPr lang="en-US" altLang="zh-CN" dirty="0" err="1"/>
              <a:t>i</a:t>
            </a:r>
            <a:r>
              <a:rPr lang="en-US" altLang="zh-CN" dirty="0"/>
              <a:t>=1</a:t>
            </a:r>
            <a:r>
              <a:rPr lang="zh-CN" altLang="en-US" dirty="0"/>
              <a:t>，</a:t>
            </a:r>
            <a:r>
              <a:rPr lang="en-US" altLang="zh-CN" dirty="0"/>
              <a:t>j=3</a:t>
            </a:r>
            <a:r>
              <a:rPr lang="zh-CN" altLang="en-US" dirty="0"/>
              <a:t>，</a:t>
            </a:r>
            <a:r>
              <a:rPr lang="en-US" altLang="zh-CN" dirty="0"/>
              <a:t>u=0.4</a:t>
            </a:r>
            <a:r>
              <a:rPr lang="zh-CN" altLang="en-US" dirty="0"/>
              <a:t>，</a:t>
            </a:r>
            <a:r>
              <a:rPr lang="en-US" altLang="zh-CN" dirty="0"/>
              <a:t>v=0.1</a:t>
            </a:r>
            <a:r>
              <a:rPr lang="zh-CN" altLang="en-US" dirty="0"/>
              <a:t>，带入公式</a:t>
            </a:r>
            <a:r>
              <a:rPr lang="en-US" altLang="zh-CN" dirty="0"/>
              <a:t>(4-16)</a:t>
            </a:r>
            <a:r>
              <a:rPr lang="zh-CN" altLang="en-US" dirty="0"/>
              <a:t>即可计算</a:t>
            </a:r>
            <a:r>
              <a:rPr lang="en-US" altLang="zh-CN" dirty="0"/>
              <a:t>(1.4, 3.1)</a:t>
            </a:r>
            <a:r>
              <a:rPr lang="zh-CN" altLang="en-US" dirty="0"/>
              <a:t>处的像素值。</a:t>
            </a: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3060626" y="3300192"/>
            <a:ext cx="3024336" cy="2981421"/>
          </a:xfrm>
          <a:prstGeom prst="rect">
            <a:avLst/>
          </a:prstGeom>
          <a:noFill/>
          <a:ln>
            <a:noFill/>
          </a:ln>
        </p:spPr>
      </p:pic>
      <p:sp>
        <p:nvSpPr>
          <p:cNvPr id="12" name="文本框 11"/>
          <p:cNvSpPr txBox="1"/>
          <p:nvPr/>
        </p:nvSpPr>
        <p:spPr>
          <a:xfrm>
            <a:off x="2196530" y="6375199"/>
            <a:ext cx="4589754" cy="338554"/>
          </a:xfrm>
          <a:prstGeom prst="rect">
            <a:avLst/>
          </a:prstGeom>
          <a:noFill/>
        </p:spPr>
        <p:txBody>
          <a:bodyPr wrap="square">
            <a:spAutoFit/>
          </a:bodyPr>
          <a:lstStyle/>
          <a:p>
            <a:pPr indent="266700" algn="ctr"/>
            <a:r>
              <a:rPr lang="zh-CN" altLang="en-US" sz="1600" b="1" kern="0" dirty="0">
                <a:latin typeface="黑体" panose="02010609060101010101" pitchFamily="49" charset="-122"/>
                <a:ea typeface="黑体" panose="02010609060101010101" pitchFamily="49" charset="-122"/>
              </a:rPr>
              <a:t>图</a:t>
            </a:r>
            <a:r>
              <a:rPr lang="en-US" altLang="zh-CN" sz="1600" b="1" kern="0" dirty="0">
                <a:latin typeface="黑体" panose="02010609060101010101" pitchFamily="49" charset="-122"/>
                <a:ea typeface="黑体" panose="02010609060101010101" pitchFamily="49" charset="-122"/>
              </a:rPr>
              <a:t>4.14  </a:t>
            </a:r>
            <a:r>
              <a:rPr lang="zh-CN" altLang="en-US" sz="1600" b="1" kern="0" dirty="0">
                <a:latin typeface="黑体" panose="02010609060101010101" pitchFamily="49" charset="-122"/>
                <a:ea typeface="黑体" panose="02010609060101010101" pitchFamily="49" charset="-122"/>
              </a:rPr>
              <a:t>双线性插值法示例图</a:t>
            </a:r>
          </a:p>
        </p:txBody>
      </p:sp>
    </p:spTree>
  </p:cSld>
  <p:clrMapOvr>
    <a:masterClrMapping/>
  </p:clrMapOvr>
  <p:transition spd="slow" advClick="0" advTm="0">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4.6.3  </a:t>
            </a:r>
            <a:r>
              <a:rPr lang="zh-CN" altLang="en-US" sz="2100" b="1" dirty="0">
                <a:solidFill>
                  <a:schemeClr val="tx1">
                    <a:lumMod val="75000"/>
                    <a:lumOff val="25000"/>
                  </a:schemeClr>
                </a:solidFill>
                <a:latin typeface="微软雅黑" panose="020B0503020204020204" pitchFamily="34" charset="-122"/>
              </a:rPr>
              <a:t>双线性插值法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p:cNvSpPr txBox="1"/>
              <p:nvPr/>
            </p:nvSpPr>
            <p:spPr>
              <a:xfrm>
                <a:off x="540346" y="1453852"/>
                <a:ext cx="8208912" cy="1384995"/>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如上图</a:t>
                </a:r>
                <a:r>
                  <a:rPr lang="en-US" altLang="zh-CN" kern="100" dirty="0">
                    <a:effectLst/>
                    <a:latin typeface="Times New Roman" panose="02020603050405020304" pitchFamily="18" charset="0"/>
                    <a:ea typeface="宋体" pitchFamily="2" charset="-122"/>
                  </a:rPr>
                  <a:t>4.14</a:t>
                </a:r>
                <a:r>
                  <a:rPr lang="zh-CN" altLang="zh-CN" kern="100" dirty="0">
                    <a:effectLst/>
                    <a:latin typeface="Times New Roman" panose="02020603050405020304" pitchFamily="18" charset="0"/>
                    <a:ea typeface="宋体" pitchFamily="2" charset="-122"/>
                  </a:rPr>
                  <a:t>所示，已知红色数据点</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R</m:t>
                        </m:r>
                      </m:e>
                      <m:sub>
                        <m:r>
                          <a:rPr lang="en-US" altLang="zh-CN" kern="100">
                            <a:effectLst/>
                            <a:latin typeface="Cambria Math" panose="02040503050406030204" pitchFamily="18" charset="0"/>
                            <a:ea typeface="宋体" pitchFamily="2" charset="-122"/>
                          </a:rPr>
                          <m:t>1</m:t>
                        </m:r>
                      </m:sub>
                    </m:sSub>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y</m:t>
                        </m:r>
                      </m:e>
                      <m:sub>
                        <m:r>
                          <a:rPr lang="en-US" altLang="zh-CN" kern="100">
                            <a:effectLst/>
                            <a:latin typeface="Cambria Math" panose="02040503050406030204" pitchFamily="18" charset="0"/>
                            <a:ea typeface="宋体" pitchFamily="2" charset="-122"/>
                          </a:rPr>
                          <m:t>1</m:t>
                        </m:r>
                      </m:sub>
                    </m:sSub>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R</m:t>
                        </m:r>
                      </m:e>
                      <m:sub>
                        <m:r>
                          <a:rPr lang="en-US" altLang="zh-CN" kern="100">
                            <a:effectLst/>
                            <a:latin typeface="Cambria Math" panose="02040503050406030204" pitchFamily="18" charset="0"/>
                            <a:ea typeface="宋体" pitchFamily="2" charset="-122"/>
                          </a:rPr>
                          <m:t>2</m:t>
                        </m:r>
                      </m:sub>
                    </m:sSub>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y</m:t>
                        </m:r>
                      </m:e>
                      <m:sub>
                        <m:r>
                          <a:rPr lang="en-US" altLang="zh-CN" kern="100">
                            <a:effectLst/>
                            <a:latin typeface="Cambria Math" panose="02040503050406030204" pitchFamily="18" charset="0"/>
                            <a:ea typeface="宋体" pitchFamily="2" charset="-122"/>
                          </a:rPr>
                          <m:t>2</m:t>
                        </m:r>
                      </m:sub>
                    </m:sSub>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，蓝色数据点</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Q</m:t>
                        </m:r>
                      </m:e>
                      <m:sub>
                        <m:r>
                          <a:rPr lang="en-US" altLang="zh-CN" kern="100">
                            <a:effectLst/>
                            <a:latin typeface="Cambria Math" panose="02040503050406030204" pitchFamily="18" charset="0"/>
                            <a:ea typeface="宋体" pitchFamily="2" charset="-122"/>
                          </a:rPr>
                          <m:t>11</m:t>
                        </m:r>
                      </m:sub>
                    </m:sSub>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x</m:t>
                        </m:r>
                      </m:e>
                      <m:sub>
                        <m:r>
                          <a:rPr lang="en-US" altLang="zh-CN" kern="100">
                            <a:effectLst/>
                            <a:latin typeface="Cambria Math" panose="02040503050406030204" pitchFamily="18" charset="0"/>
                            <a:ea typeface="宋体" pitchFamily="2" charset="-122"/>
                          </a:rPr>
                          <m:t>1</m:t>
                        </m:r>
                      </m:sub>
                    </m:sSub>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y</m:t>
                        </m:r>
                      </m:e>
                      <m:sub>
                        <m:r>
                          <a:rPr lang="en-US" altLang="zh-CN" kern="100">
                            <a:effectLst/>
                            <a:latin typeface="Cambria Math" panose="02040503050406030204" pitchFamily="18" charset="0"/>
                            <a:ea typeface="宋体" pitchFamily="2" charset="-122"/>
                          </a:rPr>
                          <m:t>1</m:t>
                        </m:r>
                      </m:sub>
                    </m:sSub>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Q</m:t>
                        </m:r>
                      </m:e>
                      <m:sub>
                        <m:r>
                          <a:rPr lang="en-US" altLang="zh-CN" kern="100">
                            <a:effectLst/>
                            <a:latin typeface="Cambria Math" panose="02040503050406030204" pitchFamily="18" charset="0"/>
                            <a:ea typeface="宋体" pitchFamily="2" charset="-122"/>
                          </a:rPr>
                          <m:t>12</m:t>
                        </m:r>
                      </m:sub>
                    </m:sSub>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x</m:t>
                        </m:r>
                      </m:e>
                      <m:sub>
                        <m:r>
                          <a:rPr lang="en-US" altLang="zh-CN" kern="100">
                            <a:effectLst/>
                            <a:latin typeface="Cambria Math" panose="02040503050406030204" pitchFamily="18" charset="0"/>
                            <a:ea typeface="宋体" pitchFamily="2" charset="-122"/>
                          </a:rPr>
                          <m:t>1</m:t>
                        </m:r>
                      </m:sub>
                    </m:sSub>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y</m:t>
                        </m:r>
                      </m:e>
                      <m:sub>
                        <m:r>
                          <a:rPr lang="en-US" altLang="zh-CN" kern="100">
                            <a:effectLst/>
                            <a:latin typeface="Cambria Math" panose="02040503050406030204" pitchFamily="18" charset="0"/>
                            <a:ea typeface="宋体" pitchFamily="2" charset="-122"/>
                          </a:rPr>
                          <m:t>2</m:t>
                        </m:r>
                      </m:sub>
                    </m:sSub>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Q</m:t>
                        </m:r>
                      </m:e>
                      <m:sub>
                        <m:r>
                          <a:rPr lang="en-US" altLang="zh-CN" kern="100">
                            <a:effectLst/>
                            <a:latin typeface="Cambria Math" panose="02040503050406030204" pitchFamily="18" charset="0"/>
                            <a:ea typeface="宋体" pitchFamily="2" charset="-122"/>
                          </a:rPr>
                          <m:t>21</m:t>
                        </m:r>
                      </m:sub>
                    </m:sSub>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x</m:t>
                        </m:r>
                      </m:e>
                      <m:sub>
                        <m:r>
                          <a:rPr lang="en-US" altLang="zh-CN" kern="100">
                            <a:effectLst/>
                            <a:latin typeface="Cambria Math" panose="02040503050406030204" pitchFamily="18" charset="0"/>
                            <a:ea typeface="宋体" pitchFamily="2" charset="-122"/>
                          </a:rPr>
                          <m:t>2</m:t>
                        </m:r>
                      </m:sub>
                    </m:sSub>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y</m:t>
                        </m:r>
                      </m:e>
                      <m:sub>
                        <m:r>
                          <a:rPr lang="en-US" altLang="zh-CN" kern="100">
                            <a:effectLst/>
                            <a:latin typeface="Cambria Math" panose="02040503050406030204" pitchFamily="18" charset="0"/>
                            <a:ea typeface="宋体" pitchFamily="2" charset="-122"/>
                          </a:rPr>
                          <m:t>1</m:t>
                        </m:r>
                      </m:sub>
                    </m:sSub>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Q</m:t>
                        </m:r>
                      </m:e>
                      <m:sub>
                        <m:r>
                          <a:rPr lang="en-US" altLang="zh-CN" kern="100">
                            <a:effectLst/>
                            <a:latin typeface="Cambria Math" panose="02040503050406030204" pitchFamily="18" charset="0"/>
                            <a:ea typeface="宋体" pitchFamily="2" charset="-122"/>
                          </a:rPr>
                          <m:t>22</m:t>
                        </m:r>
                      </m:sub>
                    </m:sSub>
                    <m:r>
                      <a:rPr lang="en-US" altLang="zh-CN" kern="100">
                        <a:effectLst/>
                        <a:latin typeface="Cambria Math" panose="02040503050406030204" pitchFamily="18" charset="0"/>
                        <a:ea typeface="宋体" pitchFamily="2" charset="-122"/>
                      </a:rPr>
                      <m:t>=</m:t>
                    </m:r>
                    <m:d>
                      <m:dPr>
                        <m:ctrlPr>
                          <a:rPr lang="zh-CN" altLang="zh-CN" i="1" kern="100">
                            <a:effectLst/>
                            <a:latin typeface="Cambria Math" panose="02040503050406030204" pitchFamily="18" charset="0"/>
                            <a:ea typeface="Cambria Math" panose="02040503050406030204" pitchFamily="18" charset="0"/>
                          </a:rPr>
                        </m:ctrlPr>
                      </m:dPr>
                      <m:e>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x</m:t>
                            </m:r>
                          </m:e>
                          <m:sub>
                            <m:r>
                              <a:rPr lang="en-US" altLang="zh-CN" kern="100">
                                <a:effectLst/>
                                <a:latin typeface="Cambria Math" panose="02040503050406030204" pitchFamily="18" charset="0"/>
                                <a:ea typeface="宋体" pitchFamily="2" charset="-122"/>
                              </a:rPr>
                              <m:t>2</m:t>
                            </m:r>
                          </m:sub>
                        </m:sSub>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m:rPr>
                                <m:sty m:val="p"/>
                              </m:rPr>
                              <a:rPr lang="en-US" altLang="zh-CN" kern="100">
                                <a:effectLst/>
                                <a:latin typeface="Cambria Math" panose="02040503050406030204" pitchFamily="18" charset="0"/>
                                <a:ea typeface="宋体" pitchFamily="2" charset="-122"/>
                              </a:rPr>
                              <m:t>y</m:t>
                            </m:r>
                          </m:e>
                          <m:sub>
                            <m:r>
                              <a:rPr lang="en-US" altLang="zh-CN" kern="100">
                                <a:effectLst/>
                                <a:latin typeface="Cambria Math" panose="02040503050406030204" pitchFamily="18" charset="0"/>
                                <a:ea typeface="宋体" pitchFamily="2" charset="-122"/>
                              </a:rPr>
                              <m:t>2</m:t>
                            </m:r>
                          </m:sub>
                        </m:sSub>
                      </m:e>
                    </m:d>
                    <m:r>
                      <a:rPr lang="zh-CN"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通过双线性插值法可以得到绿色数据点</a:t>
                </a:r>
                <a:r>
                  <a:rPr lang="en-US" altLang="zh-CN" kern="100" dirty="0">
                    <a:effectLst/>
                    <a:latin typeface="Times New Roman" panose="02020603050405020304" pitchFamily="18" charset="0"/>
                    <a:ea typeface="宋体" pitchFamily="2" charset="-122"/>
                  </a:rPr>
                  <a:t>P</a:t>
                </a:r>
                <a:r>
                  <a:rPr lang="zh-CN" altLang="zh-CN" kern="100" dirty="0">
                    <a:effectLst/>
                    <a:latin typeface="Times New Roman" panose="02020603050405020304" pitchFamily="18" charset="0"/>
                    <a:ea typeface="宋体" pitchFamily="2" charset="-122"/>
                  </a:rPr>
                  <a:t>的值。首先，在</a:t>
                </a:r>
                <a14:m>
                  <m:oMath xmlns:m="http://schemas.openxmlformats.org/officeDocument/2006/math">
                    <m:r>
                      <a:rPr lang="en-US" altLang="zh-CN" i="1" kern="100">
                        <a:effectLst/>
                        <a:latin typeface="Cambria Math" panose="02040503050406030204" pitchFamily="18" charset="0"/>
                        <a:ea typeface="宋体" pitchFamily="2" charset="-122"/>
                      </a:rPr>
                      <m:t>𝑋</m:t>
                    </m:r>
                  </m:oMath>
                </a14:m>
                <a:r>
                  <a:rPr lang="zh-CN" altLang="zh-CN" kern="100" dirty="0">
                    <a:effectLst/>
                    <a:latin typeface="Times New Roman" panose="02020603050405020304" pitchFamily="18" charset="0"/>
                    <a:ea typeface="宋体" pitchFamily="2" charset="-122"/>
                  </a:rPr>
                  <a:t>方向上进行两次线性插值计算，分别为</a:t>
                </a:r>
                <a14:m>
                  <m:oMath xmlns:m="http://schemas.openxmlformats.org/officeDocument/2006/math">
                    <m:r>
                      <a:rPr lang="en-US" altLang="zh-CN" i="1" kern="100">
                        <a:effectLst/>
                        <a:latin typeface="Cambria Math" panose="02040503050406030204" pitchFamily="18" charset="0"/>
                        <a:ea typeface="宋体" pitchFamily="2" charset="-122"/>
                      </a:rPr>
                      <m:t>𝑓</m:t>
                    </m:r>
                    <m:r>
                      <a:rPr lang="en-US" altLang="zh-CN" i="1"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𝑅</m:t>
                        </m:r>
                      </m:e>
                      <m:sub>
                        <m:r>
                          <a:rPr lang="en-US" altLang="zh-CN" i="1" kern="100">
                            <a:effectLst/>
                            <a:latin typeface="Cambria Math" panose="02040503050406030204" pitchFamily="18" charset="0"/>
                            <a:ea typeface="宋体" pitchFamily="2" charset="-122"/>
                          </a:rPr>
                          <m:t>1</m:t>
                        </m:r>
                      </m:sub>
                    </m:sSub>
                  </m:oMath>
                </a14:m>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和</a:t>
                </a:r>
                <a14:m>
                  <m:oMath xmlns:m="http://schemas.openxmlformats.org/officeDocument/2006/math">
                    <m:r>
                      <a:rPr lang="en-US" altLang="zh-CN" i="1" kern="100">
                        <a:effectLst/>
                        <a:latin typeface="Cambria Math" panose="02040503050406030204" pitchFamily="18" charset="0"/>
                        <a:ea typeface="宋体" pitchFamily="2" charset="-122"/>
                      </a:rPr>
                      <m:t>𝑓</m:t>
                    </m:r>
                    <m:r>
                      <a:rPr lang="en-US" altLang="zh-CN" i="1"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𝑅</m:t>
                        </m:r>
                      </m:e>
                      <m:sub>
                        <m:r>
                          <a:rPr lang="en-US" altLang="zh-CN" i="1" kern="100">
                            <a:effectLst/>
                            <a:latin typeface="Cambria Math" panose="02040503050406030204" pitchFamily="18" charset="0"/>
                            <a:ea typeface="宋体" pitchFamily="2" charset="-122"/>
                          </a:rPr>
                          <m:t>2</m:t>
                        </m:r>
                      </m:sub>
                    </m:sSub>
                  </m:oMath>
                </a14:m>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，如</a:t>
                </a:r>
                <a:r>
                  <a:rPr lang="en-US" altLang="zh-CN" kern="100" dirty="0">
                    <a:effectLst/>
                    <a:latin typeface="Times New Roman" panose="02020603050405020304" pitchFamily="18" charset="0"/>
                    <a:ea typeface="宋体" pitchFamily="2" charset="-122"/>
                  </a:rPr>
                  <a:t> (4-17)</a:t>
                </a:r>
                <a:r>
                  <a:rPr lang="zh-CN" altLang="zh-CN" kern="100" dirty="0">
                    <a:effectLst/>
                    <a:latin typeface="Times New Roman" panose="02020603050405020304" pitchFamily="18" charset="0"/>
                    <a:ea typeface="宋体" pitchFamily="2" charset="-122"/>
                  </a:rPr>
                  <a:t>所示。</a:t>
                </a:r>
              </a:p>
            </p:txBody>
          </p:sp>
        </mc:Choice>
        <mc:Fallback xmlns="">
          <p:sp>
            <p:nvSpPr>
              <p:cNvPr id="13" name="文本框 12"/>
              <p:cNvSpPr txBox="1">
                <a:spLocks noRot="1" noChangeAspect="1" noMove="1" noResize="1" noEditPoints="1" noAdjustHandles="1" noChangeArrowheads="1" noChangeShapeType="1" noTextEdit="1"/>
              </p:cNvSpPr>
              <p:nvPr/>
            </p:nvSpPr>
            <p:spPr>
              <a:xfrm>
                <a:off x="540346" y="1453852"/>
                <a:ext cx="8208912" cy="1384995"/>
              </a:xfrm>
              <a:prstGeom prst="rect">
                <a:avLst/>
              </a:prstGeom>
              <a:blipFill rotWithShape="1">
                <a:blip r:embed="rId3"/>
                <a:stretch>
                  <a:fillRect l="-7" t="-24" r="-160" b="-114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1669640" y="3439461"/>
                <a:ext cx="5806308" cy="6986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𝑓</m:t>
                      </m:r>
                      <m:d>
                        <m:dPr>
                          <m:ctrlPr>
                            <a:rPr lang="zh-CN" altLang="en-US" i="1">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𝑥</m:t>
                          </m:r>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11</m:t>
                              </m:r>
                            </m:sub>
                          </m:sSub>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21</m:t>
                              </m:r>
                            </m:sub>
                          </m:sSub>
                        </m:e>
                      </m:d>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669640" y="3439461"/>
                <a:ext cx="5806308" cy="698653"/>
              </a:xfrm>
              <a:prstGeom prst="rect">
                <a:avLst/>
              </a:prstGeom>
              <a:blipFill rotWithShape="1">
                <a:blip r:embed="rId4"/>
                <a:stretch>
                  <a:fillRect l="-4" t="-43" r="2" b="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1849660" y="4685128"/>
                <a:ext cx="5446268" cy="6986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𝑓</m:t>
                      </m:r>
                      <m:d>
                        <m:dPr>
                          <m:ctrlPr>
                            <a:rPr lang="zh-CN" altLang="en-US" i="1">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2</m:t>
                              </m:r>
                            </m:sub>
                          </m:sSub>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𝑥</m:t>
                          </m:r>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12</m:t>
                              </m:r>
                            </m:sub>
                          </m:sSub>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22</m:t>
                              </m:r>
                            </m:sub>
                          </m:sSub>
                        </m:e>
                      </m:d>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1849660" y="4685128"/>
                <a:ext cx="5446268" cy="698653"/>
              </a:xfrm>
              <a:prstGeom prst="rect">
                <a:avLst/>
              </a:prstGeom>
              <a:blipFill rotWithShape="1">
                <a:blip r:embed="rId5"/>
                <a:stretch>
                  <a:fillRect l="-10" t="-14" r="8" b="36"/>
                </a:stretch>
              </a:blipFill>
            </p:spPr>
            <p:txBody>
              <a:bodyPr/>
              <a:lstStyle/>
              <a:p>
                <a:r>
                  <a:rPr lang="zh-CN" altLang="en-US">
                    <a:noFill/>
                  </a:rPr>
                  <a:t> </a:t>
                </a:r>
              </a:p>
            </p:txBody>
          </p:sp>
        </mc:Fallback>
      </mc:AlternateContent>
      <p:sp>
        <p:nvSpPr>
          <p:cNvPr id="16" name="文本框 15"/>
          <p:cNvSpPr txBox="1"/>
          <p:nvPr/>
        </p:nvSpPr>
        <p:spPr>
          <a:xfrm>
            <a:off x="7881035" y="4261803"/>
            <a:ext cx="864096" cy="415490"/>
          </a:xfrm>
          <a:prstGeom prst="rect">
            <a:avLst/>
          </a:prstGeom>
          <a:noFill/>
        </p:spPr>
        <p:txBody>
          <a:bodyPr wrap="square">
            <a:spAutoFit/>
          </a:bodyPr>
          <a:lstStyle/>
          <a:p>
            <a:r>
              <a:rPr lang="en-US" altLang="zh-CN" dirty="0"/>
              <a:t>(4-17)</a:t>
            </a:r>
          </a:p>
        </p:txBody>
      </p:sp>
    </p:spTree>
  </p:cSld>
  <p:clrMapOvr>
    <a:masterClrMapping/>
  </p:clrMapOvr>
  <p:transition spd="slow" advClick="0" advTm="0">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4.6.3  </a:t>
            </a:r>
            <a:r>
              <a:rPr lang="zh-CN" altLang="en-US" sz="2100" b="1" dirty="0">
                <a:solidFill>
                  <a:schemeClr val="tx1">
                    <a:lumMod val="75000"/>
                    <a:lumOff val="25000"/>
                  </a:schemeClr>
                </a:solidFill>
                <a:latin typeface="微软雅黑" panose="020B0503020204020204" pitchFamily="34" charset="-122"/>
              </a:rPr>
              <a:t>双线性插值法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p:cNvSpPr txBox="1"/>
              <p:nvPr/>
            </p:nvSpPr>
            <p:spPr>
              <a:xfrm>
                <a:off x="612354" y="1337127"/>
                <a:ext cx="7776864" cy="41549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然后在</a:t>
                </a:r>
                <a14:m>
                  <m:oMath xmlns:m="http://schemas.openxmlformats.org/officeDocument/2006/math">
                    <m:r>
                      <a:rPr lang="en-US" altLang="zh-CN" i="1" kern="100">
                        <a:effectLst/>
                        <a:latin typeface="Cambria Math" panose="02040503050406030204" pitchFamily="18" charset="0"/>
                        <a:ea typeface="宋体" pitchFamily="2" charset="-122"/>
                      </a:rPr>
                      <m:t>𝑌</m:t>
                    </m:r>
                  </m:oMath>
                </a14:m>
                <a:r>
                  <a:rPr lang="zh-CN" altLang="zh-CN" kern="100" dirty="0">
                    <a:effectLst/>
                    <a:latin typeface="Times New Roman" panose="02020603050405020304" pitchFamily="18" charset="0"/>
                    <a:ea typeface="宋体" pitchFamily="2" charset="-122"/>
                  </a:rPr>
                  <a:t>方向上进行一次插值计算</a:t>
                </a:r>
                <a14:m>
                  <m:oMath xmlns:m="http://schemas.openxmlformats.org/officeDocument/2006/math">
                    <m:r>
                      <a:rPr lang="en-US" altLang="zh-CN" i="1" kern="100">
                        <a:effectLst/>
                        <a:latin typeface="Cambria Math" panose="02040503050406030204" pitchFamily="18" charset="0"/>
                        <a:ea typeface="宋体" pitchFamily="2" charset="-122"/>
                      </a:rPr>
                      <m:t>𝑓</m:t>
                    </m:r>
                    <m:d>
                      <m:dPr>
                        <m:ctrlPr>
                          <a:rPr lang="zh-CN" altLang="zh-CN" i="1" kern="100">
                            <a:effectLst/>
                            <a:latin typeface="Cambria Math" panose="02040503050406030204" pitchFamily="18" charset="0"/>
                            <a:ea typeface="Cambria Math" panose="02040503050406030204" pitchFamily="18" charset="0"/>
                          </a:rPr>
                        </m:ctrlPr>
                      </m:dPr>
                      <m:e>
                        <m:r>
                          <a:rPr lang="en-US" altLang="zh-CN" i="1" kern="100">
                            <a:effectLst/>
                            <a:latin typeface="Cambria Math" panose="02040503050406030204" pitchFamily="18" charset="0"/>
                            <a:ea typeface="宋体" pitchFamily="2" charset="-122"/>
                          </a:rPr>
                          <m:t>𝑃</m:t>
                        </m:r>
                      </m:e>
                    </m:d>
                  </m:oMath>
                </a14:m>
                <a:r>
                  <a:rPr lang="zh-CN" altLang="zh-CN" kern="100" dirty="0">
                    <a:effectLst/>
                    <a:latin typeface="Times New Roman" panose="02020603050405020304" pitchFamily="18" charset="0"/>
                    <a:ea typeface="宋体" pitchFamily="2" charset="-122"/>
                  </a:rPr>
                  <a:t>，如</a:t>
                </a:r>
                <a:r>
                  <a:rPr lang="en-US" altLang="zh-CN" kern="100" dirty="0">
                    <a:effectLst/>
                    <a:latin typeface="Times New Roman" panose="02020603050405020304" pitchFamily="18" charset="0"/>
                    <a:ea typeface="宋体" pitchFamily="2" charset="-122"/>
                  </a:rPr>
                  <a:t> (4-18)</a:t>
                </a:r>
                <a:r>
                  <a:rPr lang="zh-CN" altLang="zh-CN" kern="100" dirty="0">
                    <a:effectLst/>
                    <a:latin typeface="Times New Roman" panose="02020603050405020304" pitchFamily="18" charset="0"/>
                    <a:ea typeface="宋体" pitchFamily="2" charset="-122"/>
                  </a:rPr>
                  <a:t>所示。</a:t>
                </a:r>
              </a:p>
            </p:txBody>
          </p:sp>
        </mc:Choice>
        <mc:Fallback xmlns="">
          <p:sp>
            <p:nvSpPr>
              <p:cNvPr id="11" name="文本框 10"/>
              <p:cNvSpPr txBox="1">
                <a:spLocks noRot="1" noChangeAspect="1" noMove="1" noResize="1" noEditPoints="1" noAdjustHandles="1" noChangeArrowheads="1" noChangeShapeType="1" noTextEdit="1"/>
              </p:cNvSpPr>
              <p:nvPr/>
            </p:nvSpPr>
            <p:spPr>
              <a:xfrm>
                <a:off x="612354" y="1337127"/>
                <a:ext cx="7776864" cy="415498"/>
              </a:xfrm>
              <a:prstGeom prst="rect">
                <a:avLst/>
              </a:prstGeom>
              <a:blipFill rotWithShape="1">
                <a:blip r:embed="rId3"/>
                <a:stretch>
                  <a:fillRect l="-3" t="-109" r="3" b="-10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1926669" y="2035519"/>
                <a:ext cx="4589754" cy="7009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𝑃</m:t>
                          </m:r>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𝑦</m:t>
                          </m:r>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𝑦</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2</m:t>
                              </m:r>
                            </m:sub>
                          </m:sSub>
                        </m:e>
                      </m:d>
                    </m:oMath>
                  </m:oMathPara>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1926669" y="2035519"/>
                <a:ext cx="4589754" cy="700961"/>
              </a:xfrm>
              <a:prstGeom prst="rect">
                <a:avLst/>
              </a:prstGeom>
              <a:blipFill rotWithShape="1">
                <a:blip r:embed="rId4"/>
                <a:stretch>
                  <a:fillRect l="-2" t="-49" r="1" b="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1592164" y="2899615"/>
                <a:ext cx="5950324" cy="8184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mtClean="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𝑦</m:t>
                          </m:r>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den>
                      </m:f>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𝑥</m:t>
                              </m:r>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11</m:t>
                                  </m:r>
                                </m:sub>
                              </m:sSub>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21</m:t>
                                  </m:r>
                                </m:sub>
                              </m:sSub>
                            </m:e>
                          </m:d>
                        </m:e>
                      </m:d>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1592164" y="2899615"/>
                <a:ext cx="5950324" cy="818429"/>
              </a:xfrm>
              <a:prstGeom prst="rect">
                <a:avLst/>
              </a:prstGeom>
              <a:blipFill rotWithShape="1">
                <a:blip r:embed="rId5"/>
                <a:stretch>
                  <a:fillRect l="-4" t="-25" r="10" b="15"/>
                </a:stretch>
              </a:blipFill>
            </p:spPr>
            <p:txBody>
              <a:bodyPr/>
              <a:lstStyle/>
              <a:p>
                <a:r>
                  <a:rPr lang="zh-CN" altLang="en-US">
                    <a:noFill/>
                  </a:rPr>
                  <a:t> </a:t>
                </a:r>
              </a:p>
            </p:txBody>
          </p:sp>
        </mc:Fallback>
      </mc:AlternateContent>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43" name="Rectangle 25"/>
          <p:cNvSpPr>
            <a:spLocks noChangeArrowheads="1"/>
          </p:cNvSpPr>
          <p:nvPr/>
        </p:nvSpPr>
        <p:spPr bwMode="auto">
          <a:xfrm>
            <a:off x="2556570" y="470798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mc:AlternateContent xmlns:mc="http://schemas.openxmlformats.org/markup-compatibility/2006" xmlns:a14="http://schemas.microsoft.com/office/drawing/2010/main">
        <mc:Choice Requires="a14">
          <p:sp>
            <p:nvSpPr>
              <p:cNvPr id="51" name="文本框 50"/>
              <p:cNvSpPr txBox="1"/>
              <p:nvPr/>
            </p:nvSpPr>
            <p:spPr>
              <a:xfrm>
                <a:off x="261106" y="3909593"/>
                <a:ext cx="4589754" cy="7009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mtClean="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𝑦</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den>
                      </m:f>
                    </m:oMath>
                  </m:oMathPara>
                </a14:m>
                <a:endParaRPr lang="zh-CN" altLang="en-US" dirty="0"/>
              </a:p>
            </p:txBody>
          </p:sp>
        </mc:Choice>
        <mc:Fallback xmlns="">
          <p:sp>
            <p:nvSpPr>
              <p:cNvPr id="51" name="文本框 50"/>
              <p:cNvSpPr txBox="1">
                <a:spLocks noRot="1" noChangeAspect="1" noMove="1" noResize="1" noEditPoints="1" noAdjustHandles="1" noChangeArrowheads="1" noChangeShapeType="1" noTextEdit="1"/>
              </p:cNvSpPr>
              <p:nvPr/>
            </p:nvSpPr>
            <p:spPr>
              <a:xfrm>
                <a:off x="261106" y="3909593"/>
                <a:ext cx="4589754" cy="700961"/>
              </a:xfrm>
              <a:prstGeom prst="rect">
                <a:avLst/>
              </a:prstGeom>
              <a:blipFill rotWithShape="1">
                <a:blip r:embed="rId6"/>
                <a:stretch>
                  <a:fillRect l="-3" t="-76" r="2" b="65"/>
                </a:stretch>
              </a:blipFill>
            </p:spPr>
            <p:txBody>
              <a:bodyPr/>
              <a:lstStyle/>
              <a:p>
                <a:r>
                  <a:rPr lang="zh-CN" altLang="en-US">
                    <a:noFill/>
                  </a:rPr>
                  <a:t> </a:t>
                </a:r>
              </a:p>
            </p:txBody>
          </p:sp>
        </mc:Fallback>
      </mc:AlternateContent>
      <p:sp>
        <p:nvSpPr>
          <p:cNvPr id="52" name="Rectangle 27"/>
          <p:cNvSpPr>
            <a:spLocks noChangeArrowheads="1"/>
          </p:cNvSpPr>
          <p:nvPr/>
        </p:nvSpPr>
        <p:spPr bwMode="auto">
          <a:xfrm>
            <a:off x="322044" y="4972349"/>
            <a:ext cx="11217407" cy="5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4" name="Rectangle 28"/>
          <p:cNvSpPr>
            <a:spLocks noChangeArrowheads="1"/>
          </p:cNvSpPr>
          <p:nvPr/>
        </p:nvSpPr>
        <p:spPr bwMode="auto">
          <a:xfrm>
            <a:off x="322044" y="5361287"/>
            <a:ext cx="11217407" cy="5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11286" name="Picture 2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0"/>
            <a:ext cx="1858963" cy="3889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文本框 1"/>
              <p:cNvSpPr txBox="1"/>
              <p:nvPr/>
            </p:nvSpPr>
            <p:spPr>
              <a:xfrm>
                <a:off x="3069418" y="3897025"/>
                <a:ext cx="4049763" cy="7260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zh-CN" altLang="en-US" i="1" smtClean="0">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𝑥</m:t>
                              </m:r>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12</m:t>
                                  </m:r>
                                </m:sub>
                              </m:sSub>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22</m:t>
                                  </m:r>
                                </m:sub>
                              </m:sSub>
                            </m:e>
                          </m:d>
                        </m:e>
                      </m:d>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3069418" y="3897025"/>
                <a:ext cx="4049763" cy="726096"/>
              </a:xfrm>
              <a:prstGeom prst="rect">
                <a:avLst/>
              </a:prstGeom>
              <a:blipFill rotWithShape="1">
                <a:blip r:embed="rId8"/>
                <a:stretch>
                  <a:fillRect l="-11" t="-4" r="5" b="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1682084" y="4803169"/>
                <a:ext cx="5770484" cy="7547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0" smtClean="0">
                          <a:latin typeface="Cambria Math" panose="02040503050406030204" pitchFamily="18" charset="0"/>
                        </a:rPr>
                        <m:t> =</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m:t>
                          </m:r>
                        </m:num>
                        <m:den>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e>
                          </m:d>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e>
                          </m:d>
                        </m:den>
                      </m:f>
                      <m:d>
                        <m:dPr>
                          <m:endChr m:val=""/>
                          <m:ctrlPr>
                            <a:rPr lang="zh-CN" altLang="en-US" i="1">
                              <a:latin typeface="Cambria Math" panose="02040503050406030204" pitchFamily="18" charset="0"/>
                            </a:rPr>
                          </m:ctrlPr>
                        </m:dPr>
                        <m:e>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11</m:t>
                                  </m:r>
                                </m:sub>
                              </m:sSub>
                            </m:e>
                          </m:d>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𝑥</m:t>
                              </m:r>
                            </m:e>
                          </m:d>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𝑦</m:t>
                              </m:r>
                            </m:e>
                          </m:d>
                        </m:e>
                      </m:d>
                    </m:oMath>
                  </m:oMathPara>
                </a14:m>
                <a:endParaRPr lang="zh-CN" altLang="en-US" dirty="0"/>
              </a:p>
            </p:txBody>
          </p:sp>
        </mc:Choice>
        <mc:Fallback xmlns="">
          <p:sp>
            <p:nvSpPr>
              <p:cNvPr id="19" name="文本框 18"/>
              <p:cNvSpPr txBox="1">
                <a:spLocks noRot="1" noChangeAspect="1" noMove="1" noResize="1" noEditPoints="1" noAdjustHandles="1" noChangeArrowheads="1" noChangeShapeType="1" noTextEdit="1"/>
              </p:cNvSpPr>
              <p:nvPr/>
            </p:nvSpPr>
            <p:spPr>
              <a:xfrm>
                <a:off x="1682084" y="4803169"/>
                <a:ext cx="5770484" cy="754758"/>
              </a:xfrm>
              <a:prstGeom prst="rect">
                <a:avLst/>
              </a:prstGeom>
              <a:blipFill rotWithShape="1">
                <a:blip r:embed="rId9"/>
                <a:stretch>
                  <a:fillRect l="-10" t="-4" r="4" b="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678894" y="5724102"/>
                <a:ext cx="7776863"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mtClean="0">
                          <a:latin typeface="Cambria Math" panose="02040503050406030204" pitchFamily="18" charset="0"/>
                        </a:rPr>
                        <m:t>+</m:t>
                      </m:r>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21</m:t>
                              </m:r>
                            </m:sub>
                          </m:sSub>
                        </m:e>
                      </m:d>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e>
                      </m:d>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𝑦</m:t>
                          </m:r>
                        </m:e>
                      </m:d>
                      <m:r>
                        <a:rPr lang="zh-CN" altLang="en-US" i="0">
                          <a:latin typeface="Cambria Math" panose="02040503050406030204" pitchFamily="18" charset="0"/>
                        </a:rPr>
                        <m:t>+</m:t>
                      </m:r>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12</m:t>
                              </m:r>
                            </m:sub>
                          </m:sSub>
                        </m:e>
                      </m:d>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𝑥</m:t>
                          </m:r>
                        </m:e>
                      </m:d>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𝑦</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e>
                      </m:d>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678894" y="5724102"/>
                <a:ext cx="7776863" cy="415498"/>
              </a:xfrm>
              <a:prstGeom prst="rect">
                <a:avLst/>
              </a:prstGeom>
              <a:blipFill rotWithShape="1">
                <a:blip r:embed="rId10"/>
                <a:stretch>
                  <a:fillRect l="-1" t="-51" r="1" b="-11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1389765" y="6294648"/>
                <a:ext cx="5770484" cy="4571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smtClean="0">
                              <a:latin typeface="Cambria Math" panose="02040503050406030204" pitchFamily="18" charset="0"/>
                            </a:rPr>
                          </m:ctrlPr>
                        </m:dPr>
                        <m:e>
                          <m:r>
                            <a:rPr lang="zh-CN" altLang="en-US">
                              <a:latin typeface="Cambria Math" panose="02040503050406030204" pitchFamily="18" charset="0"/>
                            </a:rPr>
                            <m:t> </m:t>
                          </m:r>
                          <m:r>
                            <a:rPr lang="zh-CN" altLang="en-US" i="0">
                              <a:latin typeface="Cambria Math" panose="02040503050406030204" pitchFamily="18" charset="0"/>
                            </a:rPr>
                            <m:t>     +</m:t>
                          </m:r>
                          <m:r>
                            <a:rPr lang="zh-CN" altLang="en-US" i="1">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22</m:t>
                                  </m:r>
                                </m:sub>
                              </m:sSub>
                            </m:e>
                          </m:d>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e>
                          </m:d>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𝑦</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𝑦</m:t>
                                  </m:r>
                                </m:e>
                                <m:sub>
                                  <m:r>
                                    <a:rPr lang="zh-CN" altLang="en-US" i="0">
                                      <a:latin typeface="Cambria Math" panose="02040503050406030204" pitchFamily="18" charset="0"/>
                                    </a:rPr>
                                    <m:t>1</m:t>
                                  </m:r>
                                </m:sub>
                              </m:sSub>
                            </m:e>
                          </m:d>
                        </m:e>
                      </m:d>
                      <m:r>
                        <a:rPr lang="zh-CN" altLang="en-US" i="0">
                          <a:latin typeface="Cambria Math" panose="02040503050406030204" pitchFamily="18" charset="0"/>
                        </a:rPr>
                        <m:t> </m:t>
                      </m:r>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389765" y="6294648"/>
                <a:ext cx="5770484" cy="457113"/>
              </a:xfrm>
              <a:prstGeom prst="rect">
                <a:avLst/>
              </a:prstGeom>
              <a:blipFill rotWithShape="1">
                <a:blip r:embed="rId11"/>
                <a:stretch>
                  <a:fillRect l="-7" t="-116" r="11" b="96"/>
                </a:stretch>
              </a:blipFill>
            </p:spPr>
            <p:txBody>
              <a:bodyPr/>
              <a:lstStyle/>
              <a:p>
                <a:r>
                  <a:rPr lang="zh-CN" altLang="en-US">
                    <a:noFill/>
                  </a:rPr>
                  <a:t> </a:t>
                </a:r>
              </a:p>
            </p:txBody>
          </p:sp>
        </mc:Fallback>
      </mc:AlternateContent>
      <p:sp>
        <p:nvSpPr>
          <p:cNvPr id="23" name="文本框 22"/>
          <p:cNvSpPr txBox="1"/>
          <p:nvPr/>
        </p:nvSpPr>
        <p:spPr>
          <a:xfrm>
            <a:off x="8101186" y="4123108"/>
            <a:ext cx="864096" cy="415490"/>
          </a:xfrm>
          <a:prstGeom prst="rect">
            <a:avLst/>
          </a:prstGeom>
          <a:noFill/>
        </p:spPr>
        <p:txBody>
          <a:bodyPr wrap="square">
            <a:spAutoFit/>
          </a:bodyPr>
          <a:lstStyle/>
          <a:p>
            <a:r>
              <a:rPr lang="en-US" altLang="zh-CN" dirty="0"/>
              <a:t>(4-18)</a:t>
            </a:r>
          </a:p>
        </p:txBody>
      </p:sp>
    </p:spTree>
  </p:cSld>
  <p:clrMapOvr>
    <a:masterClrMapping/>
  </p:clrMapOvr>
  <p:transition spd="slow" advClick="0" advTm="0">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4.6.4 </a:t>
            </a:r>
            <a:r>
              <a:rPr lang="zh-CN" altLang="en-US" sz="2100" b="1" dirty="0">
                <a:solidFill>
                  <a:schemeClr val="tx1">
                    <a:lumMod val="75000"/>
                    <a:lumOff val="25000"/>
                  </a:schemeClr>
                </a:solidFill>
                <a:latin typeface="微软雅黑" panose="020B0503020204020204" pitchFamily="34" charset="-122"/>
              </a:rPr>
              <a:t>双三次插值法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43" name="Rectangle 25"/>
          <p:cNvSpPr>
            <a:spLocks noChangeArrowheads="1"/>
          </p:cNvSpPr>
          <p:nvPr/>
        </p:nvSpPr>
        <p:spPr bwMode="auto">
          <a:xfrm>
            <a:off x="2556570" y="470798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52" name="Rectangle 27"/>
          <p:cNvSpPr>
            <a:spLocks noChangeArrowheads="1"/>
          </p:cNvSpPr>
          <p:nvPr/>
        </p:nvSpPr>
        <p:spPr bwMode="auto">
          <a:xfrm>
            <a:off x="322044" y="4972349"/>
            <a:ext cx="11217407" cy="5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11286" name="Picture 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858963" cy="388938"/>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p:cNvSpPr txBox="1"/>
          <p:nvPr/>
        </p:nvSpPr>
        <p:spPr>
          <a:xfrm>
            <a:off x="452654" y="1314486"/>
            <a:ext cx="8240279" cy="106182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双三次插值法是一种基于</a:t>
            </a:r>
            <a:r>
              <a:rPr lang="en-US" altLang="zh-CN" kern="100" dirty="0">
                <a:effectLst/>
                <a:latin typeface="Times New Roman" panose="02020603050405020304" pitchFamily="18" charset="0"/>
                <a:ea typeface="宋体" pitchFamily="2" charset="-122"/>
              </a:rPr>
              <a:t>4×4</a:t>
            </a:r>
            <a:r>
              <a:rPr lang="zh-CN" altLang="zh-CN" kern="100" dirty="0">
                <a:solidFill>
                  <a:srgbClr val="000000"/>
                </a:solidFill>
                <a:effectLst/>
                <a:latin typeface="Times New Roman" panose="02020603050405020304" pitchFamily="18" charset="0"/>
                <a:ea typeface="宋体" pitchFamily="2" charset="-122"/>
              </a:rPr>
              <a:t>像素邻域的插值方法，比双线性插值法更加复杂，但可以更好的平滑图像边缘。</a:t>
            </a:r>
            <a:r>
              <a:rPr lang="zh-CN" altLang="zh-CN" kern="100" dirty="0">
                <a:effectLst/>
                <a:latin typeface="Times New Roman" panose="02020603050405020304" pitchFamily="18" charset="0"/>
                <a:ea typeface="宋体" pitchFamily="2" charset="-122"/>
              </a:rPr>
              <a:t>双三次插值法又称为双立方插值法。下面通过举例介绍双三次插值法。</a:t>
            </a:r>
          </a:p>
        </p:txBody>
      </p:sp>
      <mc:AlternateContent xmlns:mc="http://schemas.openxmlformats.org/markup-compatibility/2006" xmlns:a14="http://schemas.microsoft.com/office/drawing/2010/main">
        <mc:Choice Requires="a14">
          <p:sp>
            <p:nvSpPr>
              <p:cNvPr id="25" name="文本框 24"/>
              <p:cNvSpPr txBox="1"/>
              <p:nvPr/>
            </p:nvSpPr>
            <p:spPr>
              <a:xfrm>
                <a:off x="540346" y="2376315"/>
                <a:ext cx="8064896" cy="2818207"/>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假设源图像</a:t>
                </a:r>
                <a14:m>
                  <m:oMath xmlns:m="http://schemas.openxmlformats.org/officeDocument/2006/math">
                    <m:r>
                      <a:rPr lang="en-US" altLang="zh-CN" i="1" kern="100">
                        <a:effectLst/>
                        <a:latin typeface="Cambria Math" panose="02040503050406030204" pitchFamily="18" charset="0"/>
                        <a:ea typeface="宋体" pitchFamily="2" charset="-122"/>
                      </a:rPr>
                      <m:t>𝐴</m:t>
                    </m:r>
                  </m:oMath>
                </a14:m>
                <a:r>
                  <a:rPr lang="zh-CN" altLang="zh-CN" kern="100" dirty="0">
                    <a:effectLst/>
                    <a:latin typeface="Times New Roman" panose="02020603050405020304" pitchFamily="18" charset="0"/>
                    <a:ea typeface="宋体" pitchFamily="2" charset="-122"/>
                  </a:rPr>
                  <a:t>大小为</a:t>
                </a:r>
                <a14:m>
                  <m:oMath xmlns:m="http://schemas.openxmlformats.org/officeDocument/2006/math">
                    <m:r>
                      <a:rPr lang="en-US" altLang="zh-CN" i="1" kern="100">
                        <a:effectLst/>
                        <a:latin typeface="Cambria Math" panose="02040503050406030204" pitchFamily="18" charset="0"/>
                        <a:ea typeface="宋体" pitchFamily="2" charset="-122"/>
                      </a:rPr>
                      <m:t>𝑚</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𝑛</m:t>
                    </m:r>
                  </m:oMath>
                </a14:m>
                <a:r>
                  <a:rPr lang="zh-CN" altLang="zh-CN" kern="100" dirty="0">
                    <a:effectLst/>
                    <a:latin typeface="Times New Roman" panose="02020603050405020304" pitchFamily="18" charset="0"/>
                    <a:ea typeface="宋体" pitchFamily="2" charset="-122"/>
                  </a:rPr>
                  <a:t>，缩放</a:t>
                </a:r>
                <a:r>
                  <a:rPr lang="en-US" altLang="zh-CN" kern="100" dirty="0">
                    <a:effectLst/>
                    <a:latin typeface="Times New Roman" panose="02020603050405020304" pitchFamily="18" charset="0"/>
                    <a:ea typeface="宋体" pitchFamily="2" charset="-122"/>
                  </a:rPr>
                  <a:t>K</a:t>
                </a:r>
                <a:r>
                  <a:rPr lang="zh-CN" altLang="zh-CN" kern="100" dirty="0">
                    <a:effectLst/>
                    <a:latin typeface="Times New Roman" panose="02020603050405020304" pitchFamily="18" charset="0"/>
                    <a:ea typeface="宋体" pitchFamily="2" charset="-122"/>
                  </a:rPr>
                  <a:t>倍后的目标图像</a:t>
                </a:r>
                <a14:m>
                  <m:oMath xmlns:m="http://schemas.openxmlformats.org/officeDocument/2006/math">
                    <m:r>
                      <a:rPr lang="en-US" altLang="zh-CN" i="1" kern="100">
                        <a:effectLst/>
                        <a:latin typeface="Cambria Math" panose="02040503050406030204" pitchFamily="18" charset="0"/>
                        <a:ea typeface="宋体" pitchFamily="2" charset="-122"/>
                      </a:rPr>
                      <m:t>𝐵</m:t>
                    </m:r>
                  </m:oMath>
                </a14:m>
                <a:r>
                  <a:rPr lang="zh-CN" altLang="zh-CN" kern="100" dirty="0">
                    <a:effectLst/>
                    <a:latin typeface="Times New Roman" panose="02020603050405020304" pitchFamily="18" charset="0"/>
                    <a:ea typeface="宋体" pitchFamily="2" charset="-122"/>
                  </a:rPr>
                  <a:t>的大小为</a:t>
                </a:r>
                <a14:m>
                  <m:oMath xmlns:m="http://schemas.openxmlformats.org/officeDocument/2006/math">
                    <m:r>
                      <a:rPr lang="en-US" altLang="zh-CN" i="1" kern="100">
                        <a:effectLst/>
                        <a:latin typeface="Cambria Math" panose="02040503050406030204" pitchFamily="18" charset="0"/>
                        <a:ea typeface="宋体" pitchFamily="2" charset="-122"/>
                      </a:rPr>
                      <m:t>𝑀</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𝑁</m:t>
                    </m:r>
                  </m:oMath>
                </a14:m>
                <a:r>
                  <a:rPr lang="zh-CN" altLang="zh-CN" kern="100" dirty="0">
                    <a:effectLst/>
                    <a:latin typeface="Times New Roman" panose="02020603050405020304" pitchFamily="18" charset="0"/>
                    <a:ea typeface="宋体" pitchFamily="2" charset="-122"/>
                  </a:rPr>
                  <a:t>，即</a:t>
                </a:r>
                <a14:m>
                  <m:oMath xmlns:m="http://schemas.openxmlformats.org/officeDocument/2006/math">
                    <m:r>
                      <m:rPr>
                        <m:sty m:val="p"/>
                      </m:rPr>
                      <a:rPr lang="en-US" altLang="zh-CN" kern="100">
                        <a:effectLst/>
                        <a:latin typeface="Cambria Math" panose="02040503050406030204" pitchFamily="18" charset="0"/>
                        <a:ea typeface="宋体" pitchFamily="2" charset="-122"/>
                      </a:rPr>
                      <m:t>K</m:t>
                    </m:r>
                    <m:r>
                      <a:rPr lang="en-US" altLang="zh-CN" kern="100">
                        <a:effectLst/>
                        <a:latin typeface="Cambria Math" panose="02040503050406030204" pitchFamily="18" charset="0"/>
                        <a:ea typeface="宋体" pitchFamily="2" charset="-122"/>
                      </a:rPr>
                      <m:t>=</m:t>
                    </m:r>
                    <m:f>
                      <m:fPr>
                        <m:ctrlPr>
                          <a:rPr lang="zh-CN" altLang="zh-CN" i="1" kern="100">
                            <a:effectLst/>
                            <a:latin typeface="Cambria Math" panose="02040503050406030204" pitchFamily="18" charset="0"/>
                            <a:ea typeface="Cambria Math" panose="02040503050406030204" pitchFamily="18" charset="0"/>
                          </a:rPr>
                        </m:ctrlPr>
                      </m:fPr>
                      <m:num>
                        <m:r>
                          <m:rPr>
                            <m:sty m:val="p"/>
                          </m:rPr>
                          <a:rPr lang="en-US" altLang="zh-CN" kern="100">
                            <a:effectLst/>
                            <a:latin typeface="Cambria Math" panose="02040503050406030204" pitchFamily="18" charset="0"/>
                            <a:ea typeface="宋体" pitchFamily="2" charset="-122"/>
                          </a:rPr>
                          <m:t>M</m:t>
                        </m:r>
                      </m:num>
                      <m:den>
                        <m:r>
                          <m:rPr>
                            <m:sty m:val="p"/>
                          </m:rPr>
                          <a:rPr lang="en-US" altLang="zh-CN" kern="100">
                            <a:effectLst/>
                            <a:latin typeface="Cambria Math" panose="02040503050406030204" pitchFamily="18" charset="0"/>
                            <a:ea typeface="宋体" pitchFamily="2" charset="-122"/>
                          </a:rPr>
                          <m:t>m</m:t>
                        </m:r>
                      </m:den>
                    </m:f>
                    <m:r>
                      <a:rPr lang="en-US" altLang="zh-CN" kern="100">
                        <a:effectLst/>
                        <a:latin typeface="Cambria Math" panose="02040503050406030204" pitchFamily="18" charset="0"/>
                        <a:ea typeface="宋体" pitchFamily="2" charset="-122"/>
                      </a:rPr>
                      <m:t>=</m:t>
                    </m:r>
                    <m:f>
                      <m:fPr>
                        <m:ctrlPr>
                          <a:rPr lang="zh-CN" altLang="zh-CN" i="1" kern="100">
                            <a:effectLst/>
                            <a:latin typeface="Cambria Math" panose="02040503050406030204" pitchFamily="18" charset="0"/>
                            <a:ea typeface="Cambria Math" panose="02040503050406030204" pitchFamily="18" charset="0"/>
                          </a:rPr>
                        </m:ctrlPr>
                      </m:fPr>
                      <m:num>
                        <m:r>
                          <m:rPr>
                            <m:sty m:val="p"/>
                          </m:rPr>
                          <a:rPr lang="en-US" altLang="zh-CN" kern="100">
                            <a:effectLst/>
                            <a:latin typeface="Cambria Math" panose="02040503050406030204" pitchFamily="18" charset="0"/>
                            <a:ea typeface="宋体" pitchFamily="2" charset="-122"/>
                          </a:rPr>
                          <m:t>N</m:t>
                        </m:r>
                      </m:num>
                      <m:den>
                        <m:r>
                          <m:rPr>
                            <m:sty m:val="p"/>
                          </m:rPr>
                          <a:rPr lang="en-US" altLang="zh-CN" kern="100">
                            <a:effectLst/>
                            <a:latin typeface="Cambria Math" panose="02040503050406030204" pitchFamily="18" charset="0"/>
                            <a:ea typeface="宋体" pitchFamily="2" charset="-122"/>
                          </a:rPr>
                          <m:t>n</m:t>
                        </m:r>
                      </m:den>
                    </m:f>
                    <m:r>
                      <a:rPr lang="zh-CN" altLang="zh-CN" kern="100">
                        <a:effectLst/>
                        <a:latin typeface="Cambria Math" panose="02040503050406030204" pitchFamily="18" charset="0"/>
                        <a:ea typeface="宋体" pitchFamily="2" charset="-122"/>
                      </a:rPr>
                      <m:t>。</m:t>
                    </m:r>
                  </m:oMath>
                </a14:m>
                <a:r>
                  <a:rPr lang="en-US" altLang="zh-CN" kern="100" dirty="0">
                    <a:effectLst/>
                    <a:latin typeface="Times New Roman" panose="02020603050405020304" pitchFamily="18" charset="0"/>
                    <a:ea typeface="宋体" pitchFamily="2" charset="-122"/>
                  </a:rPr>
                  <a:t>A</a:t>
                </a:r>
                <a:r>
                  <a:rPr lang="zh-CN" altLang="zh-CN" kern="100" dirty="0">
                    <a:effectLst/>
                    <a:latin typeface="Times New Roman" panose="02020603050405020304" pitchFamily="18" charset="0"/>
                    <a:ea typeface="宋体" pitchFamily="2" charset="-122"/>
                  </a:rPr>
                  <a:t>的每一个像素点是已知的，</a:t>
                </a:r>
                <a:r>
                  <a:rPr lang="en-US" altLang="zh-CN" kern="100" dirty="0">
                    <a:effectLst/>
                    <a:latin typeface="Times New Roman" panose="02020603050405020304" pitchFamily="18" charset="0"/>
                    <a:ea typeface="宋体" pitchFamily="2" charset="-122"/>
                  </a:rPr>
                  <a:t>B</a:t>
                </a:r>
                <a:r>
                  <a:rPr lang="zh-CN" altLang="zh-CN" kern="100" dirty="0">
                    <a:effectLst/>
                    <a:latin typeface="Times New Roman" panose="02020603050405020304" pitchFamily="18" charset="0"/>
                    <a:ea typeface="宋体" pitchFamily="2" charset="-122"/>
                  </a:rPr>
                  <a:t>是未知的，我们想要求出目标图</a:t>
                </a:r>
                <a:r>
                  <a:rPr lang="en-US" altLang="zh-CN" kern="100" dirty="0">
                    <a:effectLst/>
                    <a:latin typeface="Times New Roman" panose="02020603050405020304" pitchFamily="18" charset="0"/>
                    <a:ea typeface="宋体" pitchFamily="2" charset="-122"/>
                  </a:rPr>
                  <a:t>B</a:t>
                </a:r>
                <a:r>
                  <a:rPr lang="zh-CN" altLang="zh-CN" kern="100" dirty="0">
                    <a:effectLst/>
                    <a:latin typeface="Times New Roman" panose="02020603050405020304" pitchFamily="18" charset="0"/>
                    <a:ea typeface="宋体" pitchFamily="2" charset="-122"/>
                  </a:rPr>
                  <a:t>中每一像素点</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的值，必须先找出像素</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在源图</a:t>
                </a:r>
                <a:r>
                  <a:rPr lang="en-US" altLang="zh-CN" kern="100" dirty="0">
                    <a:effectLst/>
                    <a:latin typeface="Times New Roman" panose="02020603050405020304" pitchFamily="18" charset="0"/>
                    <a:ea typeface="宋体" pitchFamily="2" charset="-122"/>
                  </a:rPr>
                  <a:t>A</a:t>
                </a:r>
                <a:r>
                  <a:rPr lang="zh-CN" altLang="zh-CN" kern="100" dirty="0">
                    <a:effectLst/>
                    <a:latin typeface="Times New Roman" panose="02020603050405020304" pitchFamily="18" charset="0"/>
                    <a:ea typeface="宋体" pitchFamily="2" charset="-122"/>
                  </a:rPr>
                  <a:t>中对应的像素</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，再根据源图</a:t>
                </a:r>
                <a:r>
                  <a:rPr lang="en-US" altLang="zh-CN" kern="100" dirty="0">
                    <a:effectLst/>
                    <a:latin typeface="Times New Roman" panose="02020603050405020304" pitchFamily="18" charset="0"/>
                    <a:ea typeface="宋体" pitchFamily="2" charset="-122"/>
                  </a:rPr>
                  <a:t>A</a:t>
                </a:r>
                <a:r>
                  <a:rPr lang="zh-CN" altLang="zh-CN" kern="100" dirty="0">
                    <a:effectLst/>
                    <a:latin typeface="Times New Roman" panose="02020603050405020304" pitchFamily="18" charset="0"/>
                    <a:ea typeface="宋体" pitchFamily="2" charset="-122"/>
                  </a:rPr>
                  <a:t>距离像素</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最近的</a:t>
                </a:r>
                <a:r>
                  <a:rPr lang="en-US" altLang="zh-CN" kern="100" dirty="0">
                    <a:effectLst/>
                    <a:latin typeface="Times New Roman" panose="02020603050405020304" pitchFamily="18" charset="0"/>
                    <a:ea typeface="宋体" pitchFamily="2" charset="-122"/>
                  </a:rPr>
                  <a:t>16</a:t>
                </a:r>
                <a:r>
                  <a:rPr lang="zh-CN" altLang="zh-CN" kern="100" dirty="0">
                    <a:effectLst/>
                    <a:latin typeface="Times New Roman" panose="02020603050405020304" pitchFamily="18" charset="0"/>
                    <a:ea typeface="宋体" pitchFamily="2" charset="-122"/>
                  </a:rPr>
                  <a:t>个像素点作为计算目标图</a:t>
                </a:r>
                <a:r>
                  <a:rPr lang="en-US" altLang="zh-CN" kern="100" dirty="0">
                    <a:effectLst/>
                    <a:latin typeface="Times New Roman" panose="02020603050405020304" pitchFamily="18" charset="0"/>
                    <a:ea typeface="宋体" pitchFamily="2" charset="-122"/>
                  </a:rPr>
                  <a:t>B</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处像素值的参数，利用</a:t>
                </a:r>
                <a:r>
                  <a:rPr lang="en-US" altLang="zh-CN" kern="100" dirty="0" err="1">
                    <a:effectLst/>
                    <a:latin typeface="Times New Roman" panose="02020603050405020304" pitchFamily="18" charset="0"/>
                    <a:ea typeface="宋体" pitchFamily="2" charset="-122"/>
                  </a:rPr>
                  <a:t>BiCubic</a:t>
                </a:r>
                <a:r>
                  <a:rPr lang="zh-CN" altLang="zh-CN" kern="100" dirty="0">
                    <a:effectLst/>
                    <a:latin typeface="Times New Roman" panose="02020603050405020304" pitchFamily="18" charset="0"/>
                    <a:ea typeface="宋体" pitchFamily="2" charset="-122"/>
                  </a:rPr>
                  <a:t>基函数求出</a:t>
                </a:r>
                <a:r>
                  <a:rPr lang="en-US" altLang="zh-CN" kern="100" dirty="0">
                    <a:effectLst/>
                    <a:latin typeface="Times New Roman" panose="02020603050405020304" pitchFamily="18" charset="0"/>
                    <a:ea typeface="宋体" pitchFamily="2" charset="-122"/>
                  </a:rPr>
                  <a:t>16</a:t>
                </a:r>
                <a:r>
                  <a:rPr lang="zh-CN" altLang="zh-CN" kern="100" dirty="0">
                    <a:effectLst/>
                    <a:latin typeface="Times New Roman" panose="02020603050405020304" pitchFamily="18" charset="0"/>
                    <a:ea typeface="宋体" pitchFamily="2" charset="-122"/>
                  </a:rPr>
                  <a:t>个像素点的权重，目标图</a:t>
                </a:r>
                <a:r>
                  <a:rPr lang="en-US" altLang="zh-CN" kern="100" dirty="0">
                    <a:effectLst/>
                    <a:latin typeface="Times New Roman" panose="02020603050405020304" pitchFamily="18" charset="0"/>
                    <a:ea typeface="宋体" pitchFamily="2" charset="-122"/>
                  </a:rPr>
                  <a:t>B</a:t>
                </a:r>
                <a:r>
                  <a:rPr lang="zh-CN" altLang="zh-CN" kern="100" dirty="0">
                    <a:effectLst/>
                    <a:latin typeface="Times New Roman" panose="02020603050405020304" pitchFamily="18" charset="0"/>
                    <a:ea typeface="宋体" pitchFamily="2" charset="-122"/>
                  </a:rPr>
                  <a:t>像素</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的值就等于</a:t>
                </a:r>
                <a:r>
                  <a:rPr lang="en-US" altLang="zh-CN" kern="100" dirty="0">
                    <a:effectLst/>
                    <a:latin typeface="Times New Roman" panose="02020603050405020304" pitchFamily="18" charset="0"/>
                    <a:ea typeface="宋体" pitchFamily="2" charset="-122"/>
                  </a:rPr>
                  <a:t>16</a:t>
                </a:r>
                <a:r>
                  <a:rPr lang="zh-CN" altLang="zh-CN" kern="100" dirty="0">
                    <a:effectLst/>
                    <a:latin typeface="Times New Roman" panose="02020603050405020304" pitchFamily="18" charset="0"/>
                    <a:ea typeface="宋体" pitchFamily="2" charset="-122"/>
                  </a:rPr>
                  <a:t>个像素点的加权叠加。</a:t>
                </a:r>
                <a14:m>
                  <m:oMath xmlns:m="http://schemas.openxmlformats.org/officeDocument/2006/math">
                    <m:r>
                      <a:rPr lang="en-US" altLang="zh-CN" i="1" kern="100">
                        <a:effectLst/>
                        <a:latin typeface="Cambria Math" panose="02040503050406030204" pitchFamily="18" charset="0"/>
                        <a:ea typeface="宋体" pitchFamily="2" charset="-122"/>
                      </a:rPr>
                      <m:t>𝐵</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𝑋</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𝑌</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在</a:t>
                </a:r>
                <a14:m>
                  <m:oMath xmlns:m="http://schemas.openxmlformats.org/officeDocument/2006/math">
                    <m:r>
                      <a:rPr lang="en-US" altLang="zh-CN" i="1" kern="100">
                        <a:effectLst/>
                        <a:latin typeface="Cambria Math" panose="02040503050406030204" pitchFamily="18" charset="0"/>
                        <a:ea typeface="宋体" pitchFamily="2" charset="-122"/>
                      </a:rPr>
                      <m:t>𝐴</m:t>
                    </m:r>
                  </m:oMath>
                </a14:m>
                <a:r>
                  <a:rPr lang="zh-CN" altLang="zh-CN" kern="100" dirty="0">
                    <a:effectLst/>
                    <a:latin typeface="Times New Roman" panose="02020603050405020304" pitchFamily="18" charset="0"/>
                    <a:ea typeface="宋体" pitchFamily="2" charset="-122"/>
                  </a:rPr>
                  <a:t>上的对应坐标</a:t>
                </a:r>
                <a14:m>
                  <m:oMath xmlns:m="http://schemas.openxmlformats.org/officeDocument/2006/math">
                    <m:r>
                      <a:rPr lang="en-US" altLang="zh-CN" i="1" kern="100">
                        <a:effectLst/>
                        <a:latin typeface="Cambria Math" panose="02040503050406030204" pitchFamily="18" charset="0"/>
                        <a:ea typeface="宋体" pitchFamily="2" charset="-122"/>
                      </a:rPr>
                      <m:t>𝐴</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𝑥</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𝑦</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计算公式，如</a:t>
                </a:r>
                <a:r>
                  <a:rPr lang="en-US" altLang="zh-CN" kern="100" dirty="0">
                    <a:effectLst/>
                    <a:latin typeface="Times New Roman" panose="02020603050405020304" pitchFamily="18" charset="0"/>
                    <a:ea typeface="宋体" pitchFamily="2" charset="-122"/>
                  </a:rPr>
                  <a:t> (4-19)</a:t>
                </a:r>
                <a:r>
                  <a:rPr lang="zh-CN" altLang="zh-CN" kern="100" dirty="0">
                    <a:effectLst/>
                    <a:latin typeface="Times New Roman" panose="02020603050405020304" pitchFamily="18" charset="0"/>
                    <a:ea typeface="宋体" pitchFamily="2" charset="-122"/>
                  </a:rPr>
                  <a:t>所示。</a:t>
                </a:r>
              </a:p>
            </p:txBody>
          </p:sp>
        </mc:Choice>
        <mc:Fallback xmlns="">
          <p:sp>
            <p:nvSpPr>
              <p:cNvPr id="25" name="文本框 24"/>
              <p:cNvSpPr txBox="1">
                <a:spLocks noRot="1" noChangeAspect="1" noMove="1" noResize="1" noEditPoints="1" noAdjustHandles="1" noChangeArrowheads="1" noChangeShapeType="1" noTextEdit="1"/>
              </p:cNvSpPr>
              <p:nvPr/>
            </p:nvSpPr>
            <p:spPr>
              <a:xfrm>
                <a:off x="540346" y="2376315"/>
                <a:ext cx="8064896" cy="2818207"/>
              </a:xfrm>
              <a:prstGeom prst="rect">
                <a:avLst/>
              </a:prstGeom>
              <a:blipFill rotWithShape="1">
                <a:blip r:embed="rId4"/>
                <a:stretch>
                  <a:fillRect l="-7" t="-5" r="4" b="-87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1507844" y="5225933"/>
                <a:ext cx="5770484" cy="8184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𝐴</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𝑦</m:t>
                          </m:r>
                        </m:e>
                      </m:d>
                      <m:r>
                        <a:rPr lang="zh-CN" altLang="en-US" i="0">
                          <a:latin typeface="Cambria Math" panose="02040503050406030204" pitchFamily="18" charset="0"/>
                        </a:rPr>
                        <m:t>=</m:t>
                      </m:r>
                      <m:r>
                        <a:rPr lang="zh-CN" altLang="en-US" i="1">
                          <a:latin typeface="Cambria Math" panose="02040503050406030204" pitchFamily="18" charset="0"/>
                        </a:rPr>
                        <m:t>𝐴</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𝑋</m:t>
                          </m:r>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𝑚</m:t>
                                  </m:r>
                                </m:num>
                                <m:den>
                                  <m:r>
                                    <a:rPr lang="zh-CN" altLang="en-US" i="1">
                                      <a:latin typeface="Cambria Math" panose="02040503050406030204" pitchFamily="18" charset="0"/>
                                    </a:rPr>
                                    <m:t>𝑀</m:t>
                                  </m:r>
                                </m:den>
                              </m:f>
                            </m:e>
                          </m:d>
                          <m:r>
                            <a:rPr lang="zh-CN" altLang="en-US" i="0">
                              <a:latin typeface="Cambria Math" panose="02040503050406030204" pitchFamily="18" charset="0"/>
                            </a:rPr>
                            <m:t>,</m:t>
                          </m:r>
                          <m:r>
                            <a:rPr lang="zh-CN" altLang="en-US" i="1">
                              <a:latin typeface="Cambria Math" panose="02040503050406030204" pitchFamily="18" charset="0"/>
                            </a:rPr>
                            <m:t>𝑌</m:t>
                          </m:r>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𝑛</m:t>
                                  </m:r>
                                </m:num>
                                <m:den>
                                  <m:r>
                                    <a:rPr lang="zh-CN" altLang="en-US" i="1">
                                      <a:latin typeface="Cambria Math" panose="02040503050406030204" pitchFamily="18" charset="0"/>
                                    </a:rPr>
                                    <m:t>𝑁</m:t>
                                  </m:r>
                                </m:den>
                              </m:f>
                            </m:e>
                          </m:d>
                        </m:e>
                      </m:d>
                      <m:r>
                        <a:rPr lang="zh-CN" altLang="en-US" i="0">
                          <a:latin typeface="Cambria Math" panose="02040503050406030204" pitchFamily="18" charset="0"/>
                        </a:rPr>
                        <m:t>=</m:t>
                      </m:r>
                      <m:r>
                        <a:rPr lang="zh-CN" altLang="en-US" i="1">
                          <a:latin typeface="Cambria Math" panose="02040503050406030204" pitchFamily="18" charset="0"/>
                        </a:rPr>
                        <m:t>𝐴</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𝑋</m:t>
                              </m:r>
                            </m:num>
                            <m:den>
                              <m:r>
                                <a:rPr lang="zh-CN" altLang="en-US" i="1">
                                  <a:latin typeface="Cambria Math" panose="02040503050406030204" pitchFamily="18" charset="0"/>
                                </a:rPr>
                                <m:t>𝐾</m:t>
                              </m:r>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𝑌</m:t>
                              </m:r>
                            </m:num>
                            <m:den>
                              <m:r>
                                <a:rPr lang="zh-CN" altLang="en-US" i="1">
                                  <a:latin typeface="Cambria Math" panose="02040503050406030204" pitchFamily="18" charset="0"/>
                                </a:rPr>
                                <m:t>𝐾</m:t>
                              </m:r>
                            </m:den>
                          </m:f>
                        </m:e>
                      </m:d>
                    </m:oMath>
                  </m:oMathPara>
                </a14:m>
                <a:endParaRPr lang="zh-CN" altLang="en-US" dirty="0"/>
              </a:p>
            </p:txBody>
          </p:sp>
        </mc:Choice>
        <mc:Fallback xmlns="">
          <p:sp>
            <p:nvSpPr>
              <p:cNvPr id="28" name="文本框 27"/>
              <p:cNvSpPr txBox="1">
                <a:spLocks noRot="1" noChangeAspect="1" noMove="1" noResize="1" noEditPoints="1" noAdjustHandles="1" noChangeArrowheads="1" noChangeShapeType="1" noTextEdit="1"/>
              </p:cNvSpPr>
              <p:nvPr/>
            </p:nvSpPr>
            <p:spPr>
              <a:xfrm>
                <a:off x="1507844" y="5225933"/>
                <a:ext cx="5770484" cy="818429"/>
              </a:xfrm>
              <a:prstGeom prst="rect">
                <a:avLst/>
              </a:prstGeom>
              <a:blipFill rotWithShape="1">
                <a:blip r:embed="rId5"/>
                <a:stretch>
                  <a:fillRect l="-6" t="-63" r="10" b="53"/>
                </a:stretch>
              </a:blipFill>
            </p:spPr>
            <p:txBody>
              <a:bodyPr/>
              <a:lstStyle/>
              <a:p>
                <a:r>
                  <a:rPr lang="zh-CN" altLang="en-US">
                    <a:noFill/>
                  </a:rPr>
                  <a:t> </a:t>
                </a:r>
              </a:p>
            </p:txBody>
          </p:sp>
        </mc:Fallback>
      </mc:AlternateContent>
      <p:sp>
        <p:nvSpPr>
          <p:cNvPr id="29" name="文本框 28"/>
          <p:cNvSpPr txBox="1"/>
          <p:nvPr/>
        </p:nvSpPr>
        <p:spPr>
          <a:xfrm>
            <a:off x="7661239" y="5444150"/>
            <a:ext cx="864096" cy="415490"/>
          </a:xfrm>
          <a:prstGeom prst="rect">
            <a:avLst/>
          </a:prstGeom>
          <a:noFill/>
        </p:spPr>
        <p:txBody>
          <a:bodyPr wrap="square">
            <a:spAutoFit/>
          </a:bodyPr>
          <a:lstStyle/>
          <a:p>
            <a:r>
              <a:rPr lang="en-US" altLang="zh-CN" dirty="0"/>
              <a:t>(4-19)</a:t>
            </a:r>
          </a:p>
        </p:txBody>
      </p:sp>
    </p:spTree>
  </p:cSld>
  <p:clrMapOvr>
    <a:masterClrMapping/>
  </p:clrMapOvr>
  <p:transition spd="slow" advClick="0"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4.6.4 </a:t>
            </a:r>
            <a:r>
              <a:rPr lang="zh-CN" altLang="en-US" sz="2100" b="1" dirty="0">
                <a:solidFill>
                  <a:schemeClr val="tx1">
                    <a:lumMod val="75000"/>
                    <a:lumOff val="25000"/>
                  </a:schemeClr>
                </a:solidFill>
                <a:latin typeface="微软雅黑" panose="020B0503020204020204" pitchFamily="34" charset="-122"/>
              </a:rPr>
              <a:t>双三次插值法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43" name="Rectangle 25"/>
          <p:cNvSpPr>
            <a:spLocks noChangeArrowheads="1"/>
          </p:cNvSpPr>
          <p:nvPr/>
        </p:nvSpPr>
        <p:spPr bwMode="auto">
          <a:xfrm>
            <a:off x="2556570" y="470798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52" name="Rectangle 27"/>
          <p:cNvSpPr>
            <a:spLocks noChangeArrowheads="1"/>
          </p:cNvSpPr>
          <p:nvPr/>
        </p:nvSpPr>
        <p:spPr bwMode="auto">
          <a:xfrm>
            <a:off x="322044" y="4972349"/>
            <a:ext cx="11217407" cy="5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11286" name="Picture 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858963" cy="3889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1" name="文本框 20"/>
              <p:cNvSpPr txBox="1"/>
              <p:nvPr/>
            </p:nvSpPr>
            <p:spPr>
              <a:xfrm>
                <a:off x="452654" y="1314486"/>
                <a:ext cx="8240279" cy="2703625"/>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在双线性插值法中，选取距离源图像素值最近的四个像素点作为计算目标图像素值的坐标位置，而在双三次插值法中，选取距离源图像素值最近的</a:t>
                </a:r>
                <a:r>
                  <a:rPr lang="en-US" altLang="zh-CN" kern="100" dirty="0">
                    <a:effectLst/>
                    <a:latin typeface="Times New Roman" panose="02020603050405020304" pitchFamily="18" charset="0"/>
                    <a:ea typeface="宋体" pitchFamily="2" charset="-122"/>
                  </a:rPr>
                  <a:t>16</a:t>
                </a:r>
                <a:r>
                  <a:rPr lang="zh-CN" altLang="zh-CN" kern="100" dirty="0">
                    <a:effectLst/>
                    <a:latin typeface="Times New Roman" panose="02020603050405020304" pitchFamily="18" charset="0"/>
                    <a:ea typeface="宋体" pitchFamily="2" charset="-122"/>
                  </a:rPr>
                  <a:t>个像素点</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红色点</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作为计算目标图像素值的坐标位置，用</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𝑎</m:t>
                        </m:r>
                      </m:e>
                      <m:sub>
                        <m:r>
                          <a:rPr lang="en-US" altLang="zh-CN" i="1" kern="100">
                            <a:effectLst/>
                            <a:latin typeface="Cambria Math" panose="02040503050406030204" pitchFamily="18" charset="0"/>
                            <a:ea typeface="宋体" pitchFamily="2" charset="-122"/>
                          </a:rPr>
                          <m:t>𝑖𝑗</m:t>
                        </m:r>
                      </m:sub>
                    </m:sSub>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i</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j</m:t>
                    </m:r>
                    <m:r>
                      <a:rPr lang="en-US" altLang="zh-CN" kern="100">
                        <a:effectLst/>
                        <a:latin typeface="Cambria Math" panose="02040503050406030204" pitchFamily="18" charset="0"/>
                        <a:ea typeface="宋体" pitchFamily="2" charset="-122"/>
                      </a:rPr>
                      <m:t>=0,1,2,3)</m:t>
                    </m:r>
                  </m:oMath>
                </a14:m>
                <a:r>
                  <a:rPr lang="zh-CN" altLang="zh-CN" kern="100" dirty="0">
                    <a:effectLst/>
                    <a:latin typeface="Times New Roman" panose="02020603050405020304" pitchFamily="18" charset="0"/>
                    <a:ea typeface="宋体" pitchFamily="2" charset="-122"/>
                  </a:rPr>
                  <a:t>来表示，如图</a:t>
                </a:r>
                <a:r>
                  <a:rPr lang="en-US" altLang="zh-CN" kern="100" dirty="0">
                    <a:effectLst/>
                    <a:latin typeface="Times New Roman" panose="02020603050405020304" pitchFamily="18" charset="0"/>
                    <a:ea typeface="宋体" pitchFamily="2" charset="-122"/>
                  </a:rPr>
                  <a:t>4.15</a:t>
                </a:r>
                <a:r>
                  <a:rPr lang="zh-CN" altLang="zh-CN" kern="100" dirty="0">
                    <a:effectLst/>
                    <a:latin typeface="Times New Roman" panose="02020603050405020304" pitchFamily="18" charset="0"/>
                    <a:ea typeface="宋体" pitchFamily="2" charset="-122"/>
                  </a:rPr>
                  <a:t>所示。在图</a:t>
                </a:r>
                <a:r>
                  <a:rPr lang="en-US" altLang="zh-CN" kern="100" dirty="0">
                    <a:effectLst/>
                    <a:latin typeface="Times New Roman" panose="02020603050405020304" pitchFamily="18" charset="0"/>
                    <a:ea typeface="宋体" pitchFamily="2" charset="-122"/>
                  </a:rPr>
                  <a:t>4.15</a:t>
                </a:r>
                <a:r>
                  <a:rPr lang="zh-CN" altLang="zh-CN" kern="100" dirty="0">
                    <a:effectLst/>
                    <a:latin typeface="Times New Roman" panose="02020603050405020304" pitchFamily="18" charset="0"/>
                    <a:ea typeface="宋体" pitchFamily="2" charset="-122"/>
                  </a:rPr>
                  <a:t>中，</a:t>
                </a:r>
                <a:r>
                  <a:rPr lang="en-US" altLang="zh-CN" kern="100" dirty="0">
                    <a:effectLst/>
                    <a:latin typeface="Times New Roman" panose="02020603050405020304" pitchFamily="18" charset="0"/>
                    <a:ea typeface="宋体" pitchFamily="2" charset="-122"/>
                  </a:rPr>
                  <a:t>P</a:t>
                </a:r>
                <a:r>
                  <a:rPr lang="zh-CN" altLang="zh-CN" kern="100" dirty="0">
                    <a:effectLst/>
                    <a:latin typeface="Times New Roman" panose="02020603050405020304" pitchFamily="18" charset="0"/>
                    <a:ea typeface="宋体" pitchFamily="2" charset="-122"/>
                  </a:rPr>
                  <a:t>点</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蓝色点</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是目标图像</a:t>
                </a:r>
                <a:r>
                  <a:rPr lang="en-US" altLang="zh-CN" kern="100" dirty="0">
                    <a:effectLst/>
                    <a:latin typeface="Times New Roman" panose="02020603050405020304" pitchFamily="18" charset="0"/>
                    <a:ea typeface="宋体" pitchFamily="2" charset="-122"/>
                  </a:rPr>
                  <a:t>B</a:t>
                </a:r>
                <a:r>
                  <a:rPr lang="zh-CN" altLang="zh-CN" kern="100" dirty="0">
                    <a:effectLst/>
                    <a:latin typeface="Times New Roman" panose="02020603050405020304" pitchFamily="18" charset="0"/>
                    <a:ea typeface="宋体" pitchFamily="2" charset="-122"/>
                  </a:rPr>
                  <a:t>在</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solidFill>
                      <a:srgbClr val="000000"/>
                    </a:solidFill>
                    <a:effectLst/>
                    <a:latin typeface="Times New Roman" panose="02020603050405020304" pitchFamily="18" charset="0"/>
                    <a:ea typeface="宋体" pitchFamily="2" charset="-122"/>
                  </a:rPr>
                  <a:t>处对应于源图像</a:t>
                </a:r>
                <a:r>
                  <a:rPr lang="en-US" altLang="zh-CN" kern="100" dirty="0">
                    <a:solidFill>
                      <a:srgbClr val="000000"/>
                    </a:solidFill>
                    <a:effectLst/>
                    <a:latin typeface="Times New Roman" panose="02020603050405020304" pitchFamily="18" charset="0"/>
                    <a:ea typeface="宋体" pitchFamily="2" charset="-122"/>
                  </a:rPr>
                  <a:t>A</a:t>
                </a:r>
                <a:r>
                  <a:rPr lang="zh-CN" altLang="zh-CN" kern="100" dirty="0">
                    <a:solidFill>
                      <a:srgbClr val="000000"/>
                    </a:solidFill>
                    <a:effectLst/>
                    <a:latin typeface="Times New Roman" panose="02020603050405020304" pitchFamily="18" charset="0"/>
                    <a:ea typeface="宋体" pitchFamily="2" charset="-122"/>
                  </a:rPr>
                  <a:t>中的位置</a:t>
                </a:r>
                <a:r>
                  <a:rPr lang="zh-CN" altLang="zh-CN" kern="100" dirty="0">
                    <a:effectLst/>
                    <a:latin typeface="Times New Roman" panose="02020603050405020304" pitchFamily="18" charset="0"/>
                    <a:ea typeface="宋体" pitchFamily="2" charset="-122"/>
                  </a:rPr>
                  <a:t>，</a:t>
                </a:r>
                <a14:m>
                  <m:oMath xmlns:m="http://schemas.openxmlformats.org/officeDocument/2006/math">
                    <m:r>
                      <a:rPr lang="en-US" altLang="zh-CN" i="1" kern="100">
                        <a:effectLst/>
                        <a:latin typeface="Cambria Math" panose="02040503050406030204" pitchFamily="18" charset="0"/>
                        <a:ea typeface="宋体" pitchFamily="2" charset="-122"/>
                      </a:rPr>
                      <m:t>𝑃</m:t>
                    </m:r>
                  </m:oMath>
                </a14:m>
                <a:r>
                  <a:rPr lang="zh-CN" altLang="zh-CN" kern="100" dirty="0">
                    <a:effectLst/>
                    <a:latin typeface="Times New Roman" panose="02020603050405020304" pitchFamily="18" charset="0"/>
                    <a:ea typeface="宋体" pitchFamily="2" charset="-122"/>
                  </a:rPr>
                  <a:t>点的坐标位置会出现小数部分，假设</a:t>
                </a:r>
                <a14:m>
                  <m:oMath xmlns:m="http://schemas.openxmlformats.org/officeDocument/2006/math">
                    <m:r>
                      <a:rPr lang="en-US" altLang="zh-CN" i="1" kern="100">
                        <a:effectLst/>
                        <a:latin typeface="Cambria Math" panose="02040503050406030204" pitchFamily="18" charset="0"/>
                        <a:ea typeface="宋体" pitchFamily="2" charset="-122"/>
                      </a:rPr>
                      <m:t>𝑃</m:t>
                    </m:r>
                  </m:oMath>
                </a14:m>
                <a:r>
                  <a:rPr lang="zh-CN" altLang="zh-CN" kern="100" dirty="0">
                    <a:effectLst/>
                    <a:latin typeface="Times New Roman" panose="02020603050405020304" pitchFamily="18" charset="0"/>
                    <a:ea typeface="宋体" pitchFamily="2" charset="-122"/>
                  </a:rPr>
                  <a:t>的坐标为</a:t>
                </a:r>
                <a14:m>
                  <m:oMath xmlns:m="http://schemas.openxmlformats.org/officeDocument/2006/math">
                    <m:r>
                      <a:rPr lang="en-US" altLang="zh-CN" i="1" kern="100">
                        <a:effectLst/>
                        <a:latin typeface="Cambria Math" panose="02040503050406030204" pitchFamily="18" charset="0"/>
                        <a:ea typeface="宋体" pitchFamily="2" charset="-122"/>
                      </a:rPr>
                      <m:t>𝑃</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𝑖</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𝑢</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𝑗</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𝑣</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，其中</a:t>
                </a:r>
                <a14:m>
                  <m:oMath xmlns:m="http://schemas.openxmlformats.org/officeDocument/2006/math">
                    <m:r>
                      <a:rPr lang="en-US" altLang="zh-CN" i="1" kern="100">
                        <a:effectLst/>
                        <a:latin typeface="Cambria Math" panose="02040503050406030204" pitchFamily="18" charset="0"/>
                        <a:ea typeface="宋体" pitchFamily="2" charset="-122"/>
                      </a:rPr>
                      <m:t>𝑖</m:t>
                    </m:r>
                    <m:r>
                      <a:rPr lang="zh-CN"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𝑗</m:t>
                    </m:r>
                  </m:oMath>
                </a14:m>
                <a:r>
                  <a:rPr lang="zh-CN" altLang="zh-CN" kern="100" dirty="0">
                    <a:effectLst/>
                    <a:latin typeface="Times New Roman" panose="02020603050405020304" pitchFamily="18" charset="0"/>
                    <a:ea typeface="宋体" pitchFamily="2" charset="-122"/>
                  </a:rPr>
                  <a:t>分别表示整数部分，</a:t>
                </a:r>
                <a14:m>
                  <m:oMath xmlns:m="http://schemas.openxmlformats.org/officeDocument/2006/math">
                    <m:r>
                      <a:rPr lang="en-US" altLang="zh-CN" i="1" kern="100">
                        <a:effectLst/>
                        <a:latin typeface="Cambria Math" panose="02040503050406030204" pitchFamily="18" charset="0"/>
                        <a:ea typeface="宋体" pitchFamily="2" charset="-122"/>
                      </a:rPr>
                      <m:t>𝑢</m:t>
                    </m:r>
                    <m:r>
                      <a:rPr lang="zh-CN"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𝑣</m:t>
                    </m:r>
                  </m:oMath>
                </a14:m>
                <a:r>
                  <a:rPr lang="zh-CN" altLang="zh-CN" kern="100" dirty="0">
                    <a:effectLst/>
                    <a:latin typeface="Times New Roman" panose="02020603050405020304" pitchFamily="18" charset="0"/>
                    <a:ea typeface="宋体" pitchFamily="2" charset="-122"/>
                  </a:rPr>
                  <a:t>分别表示小数部分。</a:t>
                </a:r>
              </a:p>
              <a:p>
                <a:pPr indent="266700" algn="just"/>
                <a:endParaRPr lang="zh-CN" altLang="zh-CN" kern="100" dirty="0">
                  <a:effectLst/>
                  <a:latin typeface="Times New Roman" panose="02020603050405020304" pitchFamily="18" charset="0"/>
                  <a:ea typeface="宋体" pitchFamily="2" charset="-122"/>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452654" y="1314486"/>
                <a:ext cx="8240279" cy="2703625"/>
              </a:xfrm>
              <a:prstGeom prst="rect">
                <a:avLst/>
              </a:prstGeom>
              <a:blipFill rotWithShape="1">
                <a:blip r:embed="rId4"/>
                <a:stretch>
                  <a:fillRect l="-6" t="-1" r="5" b="-4774"/>
                </a:stretch>
              </a:blipFill>
            </p:spPr>
            <p:txBody>
              <a:bodyPr/>
              <a:lstStyle/>
              <a:p>
                <a:r>
                  <a:rPr lang="zh-CN" altLang="en-US">
                    <a:noFill/>
                  </a:rPr>
                  <a:t> </a:t>
                </a:r>
              </a:p>
            </p:txBody>
          </p:sp>
        </mc:Fallback>
      </mc:AlternateContent>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l="16974" t="8412" r="43221" b="22282"/>
          <a:stretch>
            <a:fillRect/>
          </a:stretch>
        </p:blipFill>
        <p:spPr>
          <a:xfrm>
            <a:off x="3165972" y="3647419"/>
            <a:ext cx="2813642" cy="2756622"/>
          </a:xfrm>
          <a:prstGeom prst="rect">
            <a:avLst/>
          </a:prstGeom>
          <a:noFill/>
          <a:ln>
            <a:noFill/>
          </a:ln>
        </p:spPr>
      </p:pic>
      <p:sp>
        <p:nvSpPr>
          <p:cNvPr id="16" name="文本框 15"/>
          <p:cNvSpPr txBox="1"/>
          <p:nvPr/>
        </p:nvSpPr>
        <p:spPr>
          <a:xfrm>
            <a:off x="1604039" y="6454194"/>
            <a:ext cx="5770484" cy="338554"/>
          </a:xfrm>
          <a:prstGeom prst="rect">
            <a:avLst/>
          </a:prstGeom>
          <a:noFill/>
        </p:spPr>
        <p:txBody>
          <a:bodyPr wrap="square">
            <a:spAutoFit/>
          </a:bodyPr>
          <a:lstStyle/>
          <a:p>
            <a:pPr indent="266700" algn="ctr"/>
            <a:r>
              <a:rPr lang="zh-CN" altLang="en-US" sz="1600" b="1" kern="0" dirty="0">
                <a:latin typeface="黑体" panose="02010609060101010101" pitchFamily="49" charset="-122"/>
                <a:ea typeface="黑体" panose="02010609060101010101" pitchFamily="49" charset="-122"/>
              </a:rPr>
              <a:t>图</a:t>
            </a:r>
            <a:r>
              <a:rPr lang="en-US" altLang="zh-CN" sz="1600" b="1" kern="0" dirty="0">
                <a:latin typeface="黑体" panose="02010609060101010101" pitchFamily="49" charset="-122"/>
                <a:ea typeface="黑体" panose="02010609060101010101" pitchFamily="49" charset="-122"/>
              </a:rPr>
              <a:t>4.15  </a:t>
            </a:r>
            <a:r>
              <a:rPr lang="zh-CN" altLang="en-US" sz="1600" b="1" kern="0" dirty="0">
                <a:latin typeface="黑体" panose="02010609060101010101" pitchFamily="49" charset="-122"/>
                <a:ea typeface="黑体" panose="02010609060101010101" pitchFamily="49" charset="-122"/>
              </a:rPr>
              <a:t>目标图像素</a:t>
            </a:r>
          </a:p>
        </p:txBody>
      </p:sp>
    </p:spTree>
  </p:cSld>
  <p:clrMapOvr>
    <a:masterClrMapping/>
  </p:clrMapOvr>
  <p:transition spd="slow" advClick="0" advTm="0">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4.6.4 </a:t>
            </a:r>
            <a:r>
              <a:rPr lang="zh-CN" altLang="en-US" sz="2100" b="1" dirty="0">
                <a:solidFill>
                  <a:schemeClr val="tx1">
                    <a:lumMod val="75000"/>
                    <a:lumOff val="25000"/>
                  </a:schemeClr>
                </a:solidFill>
                <a:latin typeface="微软雅黑" panose="020B0503020204020204" pitchFamily="34" charset="-122"/>
              </a:rPr>
              <a:t>双三次插值法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pic>
        <p:nvPicPr>
          <p:cNvPr id="11286" name="Picture 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858963" cy="388938"/>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p:cNvSpPr txBox="1"/>
          <p:nvPr/>
        </p:nvSpPr>
        <p:spPr>
          <a:xfrm>
            <a:off x="452654" y="1376468"/>
            <a:ext cx="8240279" cy="2354491"/>
          </a:xfrm>
          <a:prstGeom prst="rect">
            <a:avLst/>
          </a:prstGeom>
          <a:noFill/>
        </p:spPr>
        <p:txBody>
          <a:bodyPr wrap="square">
            <a:spAutoFit/>
          </a:bodyPr>
          <a:lstStyle/>
          <a:p>
            <a:pPr indent="266700" algn="just"/>
            <a:r>
              <a:rPr lang="zh-CN" altLang="en-US" kern="100" dirty="0">
                <a:latin typeface="Times New Roman" panose="02020603050405020304" pitchFamily="18" charset="0"/>
              </a:rPr>
              <a:t>    双三次插值法的目的就是通过找到一种关系，或者是系数，把这</a:t>
            </a:r>
            <a:r>
              <a:rPr lang="en-US" altLang="zh-CN" kern="100" dirty="0">
                <a:latin typeface="Times New Roman" panose="02020603050405020304" pitchFamily="18" charset="0"/>
              </a:rPr>
              <a:t>16</a:t>
            </a:r>
            <a:r>
              <a:rPr lang="zh-CN" altLang="en-US" kern="100" dirty="0">
                <a:latin typeface="Times New Roman" panose="02020603050405020304" pitchFamily="18" charset="0"/>
              </a:rPr>
              <a:t>个像素对点</a:t>
            </a:r>
            <a:r>
              <a:rPr lang="en-US" altLang="zh-CN" kern="100" dirty="0">
                <a:latin typeface="Times New Roman" panose="02020603050405020304" pitchFamily="18" charset="0"/>
              </a:rPr>
              <a:t>P</a:t>
            </a:r>
            <a:r>
              <a:rPr lang="zh-CN" altLang="en-US" kern="100" dirty="0">
                <a:latin typeface="Times New Roman" panose="02020603050405020304" pitchFamily="18" charset="0"/>
              </a:rPr>
              <a:t>像素值的影响因子找出来，从而根据这个影响因子来获得目标图对应点的像素值，达到图像缩放的目的。</a:t>
            </a:r>
            <a:endParaRPr lang="en-US" altLang="zh-CN" kern="100" dirty="0">
              <a:latin typeface="Times New Roman" panose="02020603050405020304" pitchFamily="18" charset="0"/>
            </a:endParaRPr>
          </a:p>
          <a:p>
            <a:pPr indent="266700" algn="just"/>
            <a:r>
              <a:rPr lang="en-US" altLang="zh-CN" kern="100" dirty="0">
                <a:latin typeface="Times New Roman" panose="02020603050405020304" pitchFamily="18" charset="0"/>
              </a:rPr>
              <a:t>    </a:t>
            </a:r>
          </a:p>
          <a:p>
            <a:pPr indent="266700" algn="just"/>
            <a:r>
              <a:rPr lang="en-US" altLang="zh-CN" kern="100" dirty="0">
                <a:latin typeface="Times New Roman" panose="02020603050405020304" pitchFamily="18" charset="0"/>
              </a:rPr>
              <a:t>    </a:t>
            </a:r>
            <a:r>
              <a:rPr lang="zh-CN" altLang="en-US" kern="100" dirty="0">
                <a:latin typeface="Times New Roman" panose="02020603050405020304" pitchFamily="18" charset="0"/>
              </a:rPr>
              <a:t>本节采用基于</a:t>
            </a:r>
            <a:r>
              <a:rPr lang="en-US" altLang="zh-CN" kern="100" dirty="0" err="1">
                <a:latin typeface="Times New Roman" panose="02020603050405020304" pitchFamily="18" charset="0"/>
              </a:rPr>
              <a:t>BiCubic</a:t>
            </a:r>
            <a:r>
              <a:rPr lang="zh-CN" altLang="en-US" kern="100" dirty="0">
                <a:latin typeface="Times New Roman" panose="02020603050405020304" pitchFamily="18" charset="0"/>
              </a:rPr>
              <a:t>基函数的双三次插值法。</a:t>
            </a:r>
            <a:r>
              <a:rPr lang="en-US" altLang="zh-CN" kern="100" dirty="0" err="1">
                <a:latin typeface="Times New Roman" panose="02020603050405020304" pitchFamily="18" charset="0"/>
              </a:rPr>
              <a:t>BiCubic</a:t>
            </a:r>
            <a:r>
              <a:rPr lang="zh-CN" altLang="en-US" kern="100" dirty="0">
                <a:latin typeface="Times New Roman" panose="02020603050405020304" pitchFamily="18" charset="0"/>
              </a:rPr>
              <a:t>基函数的表示方式，如公式</a:t>
            </a:r>
            <a:r>
              <a:rPr lang="en-US" altLang="zh-CN" kern="100" dirty="0">
                <a:latin typeface="Times New Roman" panose="02020603050405020304" pitchFamily="18" charset="0"/>
              </a:rPr>
              <a:t>(4-20)</a:t>
            </a:r>
            <a:r>
              <a:rPr lang="zh-CN" altLang="en-US" kern="100" dirty="0">
                <a:latin typeface="Times New Roman" panose="02020603050405020304" pitchFamily="18" charset="0"/>
              </a:rPr>
              <a:t>所示。其中，</a:t>
            </a:r>
            <a:r>
              <a:rPr lang="en-US" altLang="zh-CN" kern="100" dirty="0">
                <a:latin typeface="Times New Roman" panose="02020603050405020304" pitchFamily="18" charset="0"/>
              </a:rPr>
              <a:t>a</a:t>
            </a:r>
            <a:r>
              <a:rPr lang="zh-CN" altLang="en-US" kern="100" dirty="0">
                <a:latin typeface="Times New Roman" panose="02020603050405020304" pitchFamily="18" charset="0"/>
              </a:rPr>
              <a:t>取</a:t>
            </a:r>
            <a:r>
              <a:rPr lang="en-US" altLang="zh-CN" kern="100" dirty="0">
                <a:latin typeface="Times New Roman" panose="02020603050405020304" pitchFamily="18" charset="0"/>
              </a:rPr>
              <a:t>-0.5</a:t>
            </a:r>
            <a:r>
              <a:rPr lang="zh-CN" altLang="en-US" kern="100" dirty="0">
                <a:latin typeface="Times New Roman" panose="02020603050405020304" pitchFamily="18" charset="0"/>
              </a:rPr>
              <a:t>。</a:t>
            </a:r>
          </a:p>
          <a:p>
            <a:pPr indent="266700" algn="just"/>
            <a:endParaRPr lang="zh-CN" altLang="zh-CN" kern="100" dirty="0">
              <a:effectLst/>
              <a:latin typeface="Times New Roman" panose="02020603050405020304" pitchFamily="18" charset="0"/>
              <a:ea typeface="宋体" pitchFamily="2" charset="-122"/>
            </a:endParaRPr>
          </a:p>
        </p:txBody>
      </p:sp>
      <mc:AlternateContent xmlns:mc="http://schemas.openxmlformats.org/markup-compatibility/2006" xmlns:a14="http://schemas.microsoft.com/office/drawing/2010/main">
        <mc:Choice Requires="a14">
          <p:sp>
            <p:nvSpPr>
              <p:cNvPr id="15" name="文本框 14"/>
              <p:cNvSpPr txBox="1"/>
              <p:nvPr/>
            </p:nvSpPr>
            <p:spPr>
              <a:xfrm>
                <a:off x="712183" y="3874283"/>
                <a:ext cx="6454274" cy="11240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𝑊</m:t>
                      </m:r>
                      <m:d>
                        <m:dPr>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m>
                            <m:mPr>
                              <m:plcHide m:val="on"/>
                              <m:mcs>
                                <m:mc>
                                  <m:mcPr>
                                    <m:count m:val="2"/>
                                    <m:mcJc m:val="center"/>
                                  </m:mcPr>
                                </m:mc>
                              </m:mcs>
                              <m:ctrlPr>
                                <a:rPr lang="zh-CN" altLang="en-US" i="1">
                                  <a:solidFill>
                                    <a:srgbClr val="836967"/>
                                  </a:solidFill>
                                  <a:latin typeface="Cambria Math" panose="02040503050406030204" pitchFamily="18" charset="0"/>
                                </a:rPr>
                              </m:ctrlPr>
                            </m:mPr>
                            <m:mr>
                              <m:e>
                                <m:r>
                                  <a:rPr lang="zh-CN" altLang="en-US" i="0">
                                    <a:latin typeface="Cambria Math" panose="02040503050406030204" pitchFamily="18" charset="0"/>
                                  </a:rPr>
                                  <m:t> </m:t>
                                </m:r>
                                <m:d>
                                  <m:dPr>
                                    <m:ctrlPr>
                                      <a:rPr lang="zh-CN" altLang="en-US" i="1">
                                        <a:latin typeface="Cambria Math" panose="02040503050406030204" pitchFamily="18" charset="0"/>
                                      </a:rPr>
                                    </m:ctrlPr>
                                  </m:dPr>
                                  <m:e>
                                    <m:r>
                                      <a:rPr lang="zh-CN" altLang="en-US" i="1">
                                        <a:latin typeface="Cambria Math" panose="02040503050406030204" pitchFamily="18" charset="0"/>
                                      </a:rPr>
                                      <m:t>𝑎</m:t>
                                    </m:r>
                                    <m:r>
                                      <a:rPr lang="zh-CN" altLang="en-US" i="0">
                                        <a:latin typeface="Cambria Math" panose="02040503050406030204" pitchFamily="18" charset="0"/>
                                      </a:rPr>
                                      <m:t>+2</m:t>
                                    </m:r>
                                  </m:e>
                                </m:d>
                                <m:sSup>
                                  <m:sSupPr>
                                    <m:ctrlPr>
                                      <a:rPr lang="zh-CN" altLang="en-US" i="1">
                                        <a:solidFill>
                                          <a:srgbClr val="836967"/>
                                        </a:solidFill>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𝑥</m:t>
                                        </m:r>
                                      </m:e>
                                    </m:d>
                                  </m:e>
                                  <m:sup>
                                    <m:r>
                                      <a:rPr lang="zh-CN" altLang="en-US" i="0">
                                        <a:latin typeface="Cambria Math" panose="02040503050406030204" pitchFamily="18" charset="0"/>
                                      </a:rPr>
                                      <m:t>3</m:t>
                                    </m:r>
                                  </m:sup>
                                </m:sSup>
                                <m:r>
                                  <a:rPr lang="zh-CN" altLang="en-US" i="0">
                                    <a:latin typeface="Cambria Math" panose="02040503050406030204" pitchFamily="18" charset="0"/>
                                  </a:rPr>
                                  <m:t>−</m:t>
                                </m:r>
                                <m:d>
                                  <m:dPr>
                                    <m:ctrlPr>
                                      <a:rPr lang="zh-CN" altLang="en-US" i="1">
                                        <a:latin typeface="Cambria Math" panose="02040503050406030204" pitchFamily="18" charset="0"/>
                                      </a:rPr>
                                    </m:ctrlPr>
                                  </m:dPr>
                                  <m:e>
                                    <m:r>
                                      <a:rPr lang="zh-CN" altLang="en-US" i="1">
                                        <a:latin typeface="Cambria Math" panose="02040503050406030204" pitchFamily="18" charset="0"/>
                                      </a:rPr>
                                      <m:t>𝑎</m:t>
                                    </m:r>
                                    <m:r>
                                      <a:rPr lang="zh-CN" altLang="en-US" i="0">
                                        <a:latin typeface="Cambria Math" panose="02040503050406030204" pitchFamily="18" charset="0"/>
                                      </a:rPr>
                                      <m:t>+3</m:t>
                                    </m:r>
                                  </m:e>
                                </m:d>
                                <m:sSup>
                                  <m:sSupPr>
                                    <m:ctrlPr>
                                      <a:rPr lang="zh-CN" altLang="en-US" i="1">
                                        <a:solidFill>
                                          <a:srgbClr val="836967"/>
                                        </a:solidFill>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𝑥</m:t>
                                        </m:r>
                                      </m:e>
                                    </m:d>
                                  </m:e>
                                  <m:sup>
                                    <m:r>
                                      <a:rPr lang="zh-CN" altLang="en-US" i="0">
                                        <a:latin typeface="Cambria Math" panose="02040503050406030204" pitchFamily="18" charset="0"/>
                                      </a:rPr>
                                      <m:t>2</m:t>
                                    </m:r>
                                  </m:sup>
                                </m:sSup>
                                <m:r>
                                  <a:rPr lang="zh-CN" altLang="en-US" i="0">
                                    <a:latin typeface="Cambria Math" panose="02040503050406030204" pitchFamily="18" charset="0"/>
                                  </a:rPr>
                                  <m:t>+1</m:t>
                                </m:r>
                              </m:e>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≤1</m:t>
                                </m:r>
                              </m:e>
                            </m:mr>
                            <m:mr>
                              <m:e>
                                <m:r>
                                  <a:rPr lang="zh-CN" altLang="en-US" i="1">
                                    <a:latin typeface="Cambria Math" panose="02040503050406030204" pitchFamily="18" charset="0"/>
                                  </a:rPr>
                                  <m:t>𝑎</m:t>
                                </m:r>
                                <m:sSup>
                                  <m:sSupPr>
                                    <m:ctrlPr>
                                      <a:rPr lang="zh-CN" altLang="en-US" i="1">
                                        <a:solidFill>
                                          <a:srgbClr val="836967"/>
                                        </a:solidFill>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𝑥</m:t>
                                        </m:r>
                                      </m:e>
                                    </m:d>
                                  </m:e>
                                  <m:sup>
                                    <m:r>
                                      <a:rPr lang="zh-CN" altLang="en-US" i="0">
                                        <a:latin typeface="Cambria Math" panose="02040503050406030204" pitchFamily="18" charset="0"/>
                                      </a:rPr>
                                      <m:t>3</m:t>
                                    </m:r>
                                  </m:sup>
                                </m:sSup>
                                <m:r>
                                  <a:rPr lang="zh-CN" altLang="en-US" i="0">
                                    <a:latin typeface="Cambria Math" panose="02040503050406030204" pitchFamily="18" charset="0"/>
                                  </a:rPr>
                                  <m:t>−5</m:t>
                                </m:r>
                                <m:r>
                                  <a:rPr lang="zh-CN" altLang="en-US" i="1">
                                    <a:latin typeface="Cambria Math" panose="02040503050406030204" pitchFamily="18" charset="0"/>
                                  </a:rPr>
                                  <m:t>𝑎</m:t>
                                </m:r>
                                <m:sSup>
                                  <m:sSupPr>
                                    <m:ctrlPr>
                                      <a:rPr lang="zh-CN" altLang="en-US" i="1">
                                        <a:solidFill>
                                          <a:srgbClr val="836967"/>
                                        </a:solidFill>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𝑥</m:t>
                                        </m:r>
                                      </m:e>
                                    </m:d>
                                  </m:e>
                                  <m:sup>
                                    <m:r>
                                      <a:rPr lang="zh-CN" altLang="en-US" i="0">
                                        <a:latin typeface="Cambria Math" panose="02040503050406030204" pitchFamily="18" charset="0"/>
                                      </a:rPr>
                                      <m:t>2</m:t>
                                    </m:r>
                                  </m:sup>
                                </m:sSup>
                                <m:r>
                                  <a:rPr lang="zh-CN" altLang="en-US" i="0">
                                    <a:latin typeface="Cambria Math" panose="02040503050406030204" pitchFamily="18" charset="0"/>
                                  </a:rPr>
                                  <m:t>+8</m:t>
                                </m:r>
                                <m:r>
                                  <a:rPr lang="zh-CN" altLang="en-US" i="1">
                                    <a:latin typeface="Cambria Math" panose="02040503050406030204" pitchFamily="18" charset="0"/>
                                  </a:rPr>
                                  <m:t>𝑎</m:t>
                                </m:r>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−4</m:t>
                                </m:r>
                                <m:r>
                                  <a:rPr lang="zh-CN" altLang="en-US" i="1">
                                    <a:latin typeface="Cambria Math" panose="02040503050406030204" pitchFamily="18" charset="0"/>
                                  </a:rPr>
                                  <m:t>𝑎</m:t>
                                </m:r>
                              </m:e>
                              <m:e>
                                <m:r>
                                  <a:rPr lang="zh-CN" altLang="en-US" i="0">
                                    <a:latin typeface="Cambria Math" panose="02040503050406030204" pitchFamily="18" charset="0"/>
                                  </a:rPr>
                                  <m:t>1&lt;</m:t>
                                </m:r>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&lt;2</m:t>
                                </m:r>
                              </m:e>
                            </m:mr>
                            <m:mr>
                              <m:e>
                                <m:r>
                                  <a:rPr lang="zh-CN" altLang="en-US" i="0">
                                    <a:latin typeface="Cambria Math" panose="02040503050406030204" pitchFamily="18" charset="0"/>
                                  </a:rPr>
                                  <m:t>0</m:t>
                                </m:r>
                              </m:e>
                              <m:e>
                                <m:r>
                                  <a:rPr lang="zh-CN" altLang="en-US" i="1">
                                    <a:latin typeface="Cambria Math" panose="02040503050406030204" pitchFamily="18" charset="0"/>
                                  </a:rPr>
                                  <m:t>𝑜𝑡h𝑒𝑟𝑤𝑖𝑠𝑒</m:t>
                                </m:r>
                              </m:e>
                            </m:mr>
                          </m:m>
                        </m:e>
                      </m:d>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712183" y="3874283"/>
                <a:ext cx="6454274" cy="1124026"/>
              </a:xfrm>
              <a:prstGeom prst="rect">
                <a:avLst/>
              </a:prstGeom>
              <a:blipFill rotWithShape="1">
                <a:blip r:embed="rId4"/>
                <a:stretch>
                  <a:fillRect l="-5" t="-13" r="7" b="20"/>
                </a:stretch>
              </a:blipFill>
            </p:spPr>
            <p:txBody>
              <a:bodyPr/>
              <a:lstStyle/>
              <a:p>
                <a:r>
                  <a:rPr lang="zh-CN" altLang="en-US">
                    <a:noFill/>
                  </a:rPr>
                  <a:t> </a:t>
                </a:r>
              </a:p>
            </p:txBody>
          </p:sp>
        </mc:Fallback>
      </mc:AlternateContent>
      <p:sp>
        <p:nvSpPr>
          <p:cNvPr id="17" name="文本框 16"/>
          <p:cNvSpPr txBox="1"/>
          <p:nvPr/>
        </p:nvSpPr>
        <p:spPr>
          <a:xfrm>
            <a:off x="7569309" y="4228551"/>
            <a:ext cx="864096" cy="415490"/>
          </a:xfrm>
          <a:prstGeom prst="rect">
            <a:avLst/>
          </a:prstGeom>
          <a:noFill/>
        </p:spPr>
        <p:txBody>
          <a:bodyPr wrap="square">
            <a:spAutoFit/>
          </a:bodyPr>
          <a:lstStyle/>
          <a:p>
            <a:r>
              <a:rPr lang="en-US" altLang="zh-CN" dirty="0"/>
              <a:t>(4-20)</a:t>
            </a:r>
          </a:p>
        </p:txBody>
      </p:sp>
    </p:spTree>
  </p:cSld>
  <p:clrMapOvr>
    <a:masterClrMapping/>
  </p:clrMapOvr>
  <p:transition spd="slow" advClick="0" advTm="0">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4.6.4 </a:t>
            </a:r>
            <a:r>
              <a:rPr lang="zh-CN" altLang="en-US" sz="2100" b="1" dirty="0">
                <a:solidFill>
                  <a:schemeClr val="tx1">
                    <a:lumMod val="75000"/>
                    <a:lumOff val="25000"/>
                  </a:schemeClr>
                </a:solidFill>
                <a:latin typeface="微软雅黑" panose="020B0503020204020204" pitchFamily="34" charset="-122"/>
              </a:rPr>
              <a:t>双三次插值法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mc:AlternateContent xmlns:mc="http://schemas.openxmlformats.org/markup-compatibility/2006" xmlns:a14="http://schemas.microsoft.com/office/drawing/2010/main">
        <mc:Choice Requires="a14">
          <p:sp>
            <p:nvSpPr>
              <p:cNvPr id="14" name="文本框 13"/>
              <p:cNvSpPr txBox="1"/>
              <p:nvPr/>
            </p:nvSpPr>
            <p:spPr>
              <a:xfrm>
                <a:off x="396330" y="1226977"/>
                <a:ext cx="8352928" cy="2761077"/>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接下来要做的是求出</a:t>
                </a:r>
                <a:r>
                  <a:rPr lang="en-US" altLang="zh-CN" kern="100" dirty="0" err="1">
                    <a:effectLst/>
                    <a:latin typeface="Times New Roman" panose="02020603050405020304" pitchFamily="18" charset="0"/>
                    <a:ea typeface="宋体" pitchFamily="2" charset="-122"/>
                  </a:rPr>
                  <a:t>BiCubic</a:t>
                </a:r>
                <a:r>
                  <a:rPr lang="zh-CN" altLang="zh-CN" kern="100" dirty="0">
                    <a:effectLst/>
                    <a:latin typeface="Times New Roman" panose="02020603050405020304" pitchFamily="18" charset="0"/>
                    <a:ea typeface="宋体" pitchFamily="2" charset="-122"/>
                  </a:rPr>
                  <a:t>函数中的参数</a:t>
                </a:r>
                <a14:m>
                  <m:oMath xmlns:m="http://schemas.openxmlformats.org/officeDocument/2006/math">
                    <m:r>
                      <a:rPr lang="en-US" altLang="zh-CN" i="1" kern="100">
                        <a:effectLst/>
                        <a:latin typeface="Cambria Math" panose="02040503050406030204" pitchFamily="18" charset="0"/>
                        <a:ea typeface="宋体" pitchFamily="2" charset="-122"/>
                      </a:rPr>
                      <m:t>𝑥</m:t>
                    </m:r>
                  </m:oMath>
                </a14:m>
                <a:r>
                  <a:rPr lang="zh-CN" altLang="zh-CN" kern="100" dirty="0">
                    <a:effectLst/>
                    <a:latin typeface="Times New Roman" panose="02020603050405020304" pitchFamily="18" charset="0"/>
                    <a:ea typeface="宋体" pitchFamily="2" charset="-122"/>
                  </a:rPr>
                  <a:t>，获得上面所述的</a:t>
                </a:r>
                <a:r>
                  <a:rPr lang="en-US" altLang="zh-CN" kern="100" dirty="0">
                    <a:effectLst/>
                    <a:latin typeface="Times New Roman" panose="02020603050405020304" pitchFamily="18" charset="0"/>
                    <a:ea typeface="宋体" pitchFamily="2" charset="-122"/>
                  </a:rPr>
                  <a:t>16</a:t>
                </a:r>
                <a:r>
                  <a:rPr lang="zh-CN" altLang="zh-CN" kern="100" dirty="0">
                    <a:effectLst/>
                    <a:latin typeface="Times New Roman" panose="02020603050405020304" pitchFamily="18" charset="0"/>
                    <a:ea typeface="宋体" pitchFamily="2" charset="-122"/>
                  </a:rPr>
                  <a:t>个像素所对应的权重</a:t>
                </a:r>
                <a14:m>
                  <m:oMath xmlns:m="http://schemas.openxmlformats.org/officeDocument/2006/math">
                    <m:r>
                      <a:rPr lang="en-US" altLang="zh-CN" i="1" kern="100">
                        <a:effectLst/>
                        <a:latin typeface="Cambria Math" panose="02040503050406030204" pitchFamily="18" charset="0"/>
                        <a:ea typeface="宋体" pitchFamily="2" charset="-122"/>
                      </a:rPr>
                      <m:t>𝑊</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𝑥</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a:t>
                </a:r>
                <a:r>
                  <a:rPr lang="en-US" altLang="zh-CN" kern="100" dirty="0" err="1">
                    <a:solidFill>
                      <a:srgbClr val="000000"/>
                    </a:solidFill>
                    <a:effectLst/>
                    <a:latin typeface="Times New Roman" panose="02020603050405020304" pitchFamily="18" charset="0"/>
                    <a:ea typeface="宋体" pitchFamily="2" charset="-122"/>
                  </a:rPr>
                  <a:t>BiCubic</a:t>
                </a:r>
                <a:r>
                  <a:rPr lang="zh-CN" altLang="zh-CN" kern="100" dirty="0">
                    <a:solidFill>
                      <a:srgbClr val="000000"/>
                    </a:solidFill>
                    <a:effectLst/>
                    <a:latin typeface="Times New Roman" panose="02020603050405020304" pitchFamily="18" charset="0"/>
                    <a:ea typeface="宋体" pitchFamily="2" charset="-122"/>
                  </a:rPr>
                  <a:t>基函数是一维的，而像素是二维的，所以将像素点的行与列分开计算。</a:t>
                </a:r>
                <a:r>
                  <a:rPr lang="en-US" altLang="zh-CN" kern="100" dirty="0" err="1">
                    <a:solidFill>
                      <a:srgbClr val="000000"/>
                    </a:solidFill>
                    <a:effectLst/>
                    <a:latin typeface="Times New Roman" panose="02020603050405020304" pitchFamily="18" charset="0"/>
                    <a:ea typeface="宋体" pitchFamily="2" charset="-122"/>
                  </a:rPr>
                  <a:t>BiCubic</a:t>
                </a:r>
                <a:r>
                  <a:rPr lang="zh-CN" altLang="zh-CN" kern="100" dirty="0">
                    <a:solidFill>
                      <a:srgbClr val="000000"/>
                    </a:solidFill>
                    <a:effectLst/>
                    <a:latin typeface="Times New Roman" panose="02020603050405020304" pitchFamily="18" charset="0"/>
                    <a:ea typeface="宋体" pitchFamily="2" charset="-122"/>
                  </a:rPr>
                  <a:t>函数中的参数</a:t>
                </a:r>
                <a14:m>
                  <m:oMath xmlns:m="http://schemas.openxmlformats.org/officeDocument/2006/math">
                    <m:r>
                      <a:rPr lang="en-US" altLang="zh-CN" i="1" kern="100">
                        <a:effectLst/>
                        <a:latin typeface="Cambria Math" panose="02040503050406030204" pitchFamily="18" charset="0"/>
                        <a:ea typeface="宋体" pitchFamily="2" charset="-122"/>
                      </a:rPr>
                      <m:t>𝑥</m:t>
                    </m:r>
                  </m:oMath>
                </a14:m>
                <a:r>
                  <a:rPr lang="zh-CN" altLang="zh-CN" kern="100" dirty="0">
                    <a:solidFill>
                      <a:srgbClr val="000000"/>
                    </a:solidFill>
                    <a:effectLst/>
                    <a:latin typeface="Times New Roman" panose="02020603050405020304" pitchFamily="18" charset="0"/>
                    <a:ea typeface="宋体" pitchFamily="2" charset="-122"/>
                  </a:rPr>
                  <a:t>表示该像素点到</a:t>
                </a:r>
                <a:r>
                  <a:rPr lang="en-US" altLang="zh-CN" kern="100" dirty="0">
                    <a:solidFill>
                      <a:srgbClr val="000000"/>
                    </a:solidFill>
                    <a:effectLst/>
                    <a:latin typeface="Times New Roman" panose="02020603050405020304" pitchFamily="18" charset="0"/>
                    <a:ea typeface="宋体" pitchFamily="2" charset="-122"/>
                  </a:rPr>
                  <a:t>P</a:t>
                </a:r>
                <a:r>
                  <a:rPr lang="zh-CN" altLang="zh-CN" kern="100" dirty="0">
                    <a:solidFill>
                      <a:srgbClr val="000000"/>
                    </a:solidFill>
                    <a:effectLst/>
                    <a:latin typeface="Times New Roman" panose="02020603050405020304" pitchFamily="18" charset="0"/>
                    <a:ea typeface="宋体" pitchFamily="2" charset="-122"/>
                  </a:rPr>
                  <a:t>点的距离。</a:t>
                </a:r>
                <a:r>
                  <a:rPr lang="zh-CN" altLang="zh-CN" kern="100" dirty="0">
                    <a:effectLst/>
                    <a:latin typeface="Times New Roman" panose="02020603050405020304" pitchFamily="18" charset="0"/>
                    <a:ea typeface="宋体" pitchFamily="2" charset="-122"/>
                  </a:rPr>
                  <a:t>例如，</a:t>
                </a:r>
                <a14:m>
                  <m:oMath xmlns:m="http://schemas.openxmlformats.org/officeDocument/2006/math">
                    <m:r>
                      <a:rPr lang="zh-CN" altLang="zh-CN" i="1" kern="100">
                        <a:effectLst/>
                        <a:latin typeface="Cambria Math" panose="02040503050406030204" pitchFamily="18" charset="0"/>
                        <a:ea typeface="Cambria Math" panose="02040503050406030204" pitchFamily="18" charset="0"/>
                      </a:rPr>
                      <m:t> </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𝑎</m:t>
                        </m:r>
                      </m:e>
                      <m:sub>
                        <m:r>
                          <a:rPr lang="en-US" altLang="zh-CN" i="1" kern="100">
                            <a:effectLst/>
                            <a:latin typeface="Cambria Math" panose="02040503050406030204" pitchFamily="18" charset="0"/>
                            <a:ea typeface="宋体" pitchFamily="2" charset="-122"/>
                          </a:rPr>
                          <m:t>00</m:t>
                        </m:r>
                      </m:sub>
                    </m:sSub>
                  </m:oMath>
                </a14:m>
                <a:r>
                  <a:rPr lang="zh-CN" altLang="zh-CN" kern="100" dirty="0">
                    <a:effectLst/>
                    <a:latin typeface="Times New Roman" panose="02020603050405020304" pitchFamily="18" charset="0"/>
                    <a:ea typeface="宋体" pitchFamily="2" charset="-122"/>
                  </a:rPr>
                  <a:t>与</a:t>
                </a:r>
                <a14:m>
                  <m:oMath xmlns:m="http://schemas.openxmlformats.org/officeDocument/2006/math">
                    <m:r>
                      <a:rPr lang="en-US" altLang="zh-CN" i="1" kern="100">
                        <a:effectLst/>
                        <a:latin typeface="Cambria Math" panose="02040503050406030204" pitchFamily="18" charset="0"/>
                        <a:ea typeface="宋体" pitchFamily="2" charset="-122"/>
                      </a:rPr>
                      <m:t>𝑃</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𝑖</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𝑢</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𝑗</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𝑣</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的距离为</a:t>
                </a:r>
                <a14:m>
                  <m:oMath xmlns:m="http://schemas.openxmlformats.org/officeDocument/2006/math">
                    <m:r>
                      <a:rPr lang="en-US" altLang="zh-CN" i="1" kern="100">
                        <a:effectLst/>
                        <a:latin typeface="Cambria Math" panose="02040503050406030204" pitchFamily="18" charset="0"/>
                        <a:ea typeface="宋体" pitchFamily="2" charset="-122"/>
                      </a:rPr>
                      <m:t>(1+</m:t>
                    </m:r>
                    <m:r>
                      <a:rPr lang="en-US" altLang="zh-CN" i="1" kern="100">
                        <a:effectLst/>
                        <a:latin typeface="Cambria Math" panose="02040503050406030204" pitchFamily="18" charset="0"/>
                        <a:ea typeface="宋体" pitchFamily="2" charset="-122"/>
                      </a:rPr>
                      <m:t>𝑢</m:t>
                    </m:r>
                    <m:r>
                      <a:rPr lang="en-US" altLang="zh-CN" i="1" kern="100">
                        <a:effectLst/>
                        <a:latin typeface="Cambria Math" panose="02040503050406030204" pitchFamily="18" charset="0"/>
                        <a:ea typeface="宋体" pitchFamily="2" charset="-122"/>
                      </a:rPr>
                      <m:t>,1+</m:t>
                    </m:r>
                    <m:r>
                      <a:rPr lang="en-US" altLang="zh-CN" i="1" kern="100">
                        <a:effectLst/>
                        <a:latin typeface="Cambria Math" panose="02040503050406030204" pitchFamily="18" charset="0"/>
                        <a:ea typeface="宋体" pitchFamily="2" charset="-122"/>
                      </a:rPr>
                      <m:t>𝑣</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，因此</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𝑎</m:t>
                        </m:r>
                      </m:e>
                      <m:sub>
                        <m:r>
                          <a:rPr lang="en-US" altLang="zh-CN" i="1" kern="100">
                            <a:effectLst/>
                            <a:latin typeface="Cambria Math" panose="02040503050406030204" pitchFamily="18" charset="0"/>
                            <a:ea typeface="宋体" pitchFamily="2" charset="-122"/>
                          </a:rPr>
                          <m:t>00</m:t>
                        </m:r>
                      </m:sub>
                    </m:sSub>
                  </m:oMath>
                </a14:m>
                <a:r>
                  <a:rPr lang="zh-CN" altLang="zh-CN" kern="100" dirty="0">
                    <a:effectLst/>
                    <a:latin typeface="Times New Roman" panose="02020603050405020304" pitchFamily="18" charset="0"/>
                    <a:ea typeface="宋体" pitchFamily="2" charset="-122"/>
                  </a:rPr>
                  <a:t>的横坐标权重</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𝑘</m:t>
                        </m:r>
                      </m:e>
                      <m:sub>
                        <m:r>
                          <a:rPr lang="en-US" altLang="zh-CN" i="1" kern="100">
                            <a:effectLst/>
                            <a:latin typeface="Cambria Math" panose="02040503050406030204" pitchFamily="18" charset="0"/>
                            <a:ea typeface="宋体" pitchFamily="2" charset="-122"/>
                          </a:rPr>
                          <m:t>𝑖</m:t>
                        </m:r>
                        <m:r>
                          <a:rPr lang="en-US" altLang="zh-CN" i="1" kern="100">
                            <a:effectLst/>
                            <a:latin typeface="Cambria Math" panose="02040503050406030204" pitchFamily="18" charset="0"/>
                            <a:ea typeface="宋体" pitchFamily="2" charset="-122"/>
                          </a:rPr>
                          <m:t>0</m:t>
                        </m:r>
                      </m:sub>
                    </m:sSub>
                    <m:r>
                      <a:rPr lang="en-US" altLang="zh-CN"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𝑊</m:t>
                    </m:r>
                    <m:r>
                      <a:rPr lang="en-US" altLang="zh-CN" i="1" kern="100">
                        <a:effectLst/>
                        <a:latin typeface="Cambria Math" panose="02040503050406030204" pitchFamily="18" charset="0"/>
                        <a:ea typeface="宋体" pitchFamily="2" charset="-122"/>
                      </a:rPr>
                      <m:t>(1+</m:t>
                    </m:r>
                    <m:r>
                      <a:rPr lang="en-US" altLang="zh-CN" i="1" kern="100">
                        <a:effectLst/>
                        <a:latin typeface="Cambria Math" panose="02040503050406030204" pitchFamily="18" charset="0"/>
                        <a:ea typeface="宋体" pitchFamily="2" charset="-122"/>
                      </a:rPr>
                      <m:t>𝑢</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，纵坐标权重</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𝑘</m:t>
                        </m:r>
                      </m:e>
                      <m:sub>
                        <m:r>
                          <a:rPr lang="en-US" altLang="zh-CN" i="1" kern="100">
                            <a:effectLst/>
                            <a:latin typeface="Cambria Math" panose="02040503050406030204" pitchFamily="18" charset="0"/>
                            <a:ea typeface="宋体" pitchFamily="2" charset="-122"/>
                          </a:rPr>
                          <m:t>0</m:t>
                        </m:r>
                        <m:r>
                          <a:rPr lang="en-US" altLang="zh-CN" i="1" kern="100">
                            <a:effectLst/>
                            <a:latin typeface="Cambria Math" panose="02040503050406030204" pitchFamily="18" charset="0"/>
                            <a:ea typeface="宋体" pitchFamily="2" charset="-122"/>
                          </a:rPr>
                          <m:t>𝑗</m:t>
                        </m:r>
                      </m:sub>
                    </m:sSub>
                    <m:r>
                      <a:rPr lang="en-US" altLang="zh-CN"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𝑊</m:t>
                    </m:r>
                    <m:r>
                      <a:rPr lang="en-US" altLang="zh-CN" i="1" kern="100">
                        <a:effectLst/>
                        <a:latin typeface="Cambria Math" panose="02040503050406030204" pitchFamily="18" charset="0"/>
                        <a:ea typeface="宋体" pitchFamily="2" charset="-122"/>
                      </a:rPr>
                      <m:t>(1+</m:t>
                    </m:r>
                    <m:r>
                      <a:rPr lang="en-US" altLang="zh-CN" i="1" kern="100">
                        <a:effectLst/>
                        <a:latin typeface="Cambria Math" panose="02040503050406030204" pitchFamily="18" charset="0"/>
                        <a:ea typeface="宋体" pitchFamily="2" charset="-122"/>
                      </a:rPr>
                      <m:t>𝑣</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𝑎</m:t>
                        </m:r>
                      </m:e>
                      <m:sub>
                        <m:r>
                          <a:rPr lang="en-US" altLang="zh-CN" i="1" kern="100">
                            <a:effectLst/>
                            <a:latin typeface="Cambria Math" panose="02040503050406030204" pitchFamily="18" charset="0"/>
                            <a:ea typeface="宋体" pitchFamily="2" charset="-122"/>
                          </a:rPr>
                          <m:t>00</m:t>
                        </m:r>
                      </m:sub>
                    </m:sSub>
                  </m:oMath>
                </a14:m>
                <a:r>
                  <a:rPr lang="zh-CN" altLang="zh-CN" kern="100" dirty="0">
                    <a:effectLst/>
                    <a:latin typeface="Times New Roman" panose="02020603050405020304" pitchFamily="18" charset="0"/>
                    <a:ea typeface="宋体" pitchFamily="2" charset="-122"/>
                  </a:rPr>
                  <a:t>对</a:t>
                </a:r>
                <a:r>
                  <a:rPr lang="en-US" altLang="zh-CN" kern="100" dirty="0">
                    <a:effectLst/>
                    <a:latin typeface="Times New Roman" panose="02020603050405020304" pitchFamily="18" charset="0"/>
                    <a:ea typeface="宋体" pitchFamily="2" charset="-122"/>
                  </a:rPr>
                  <a:t>B</a:t>
                </a:r>
                <a14:m>
                  <m:oMath xmlns:m="http://schemas.openxmlformats.org/officeDocument/2006/math">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X</m:t>
                    </m:r>
                    <m:r>
                      <a:rPr lang="en-US" altLang="zh-CN" kern="100">
                        <a:effectLst/>
                        <a:latin typeface="Cambria Math" panose="02040503050406030204" pitchFamily="18" charset="0"/>
                        <a:ea typeface="宋体" pitchFamily="2" charset="-122"/>
                      </a:rPr>
                      <m:t>,</m:t>
                    </m:r>
                    <m:r>
                      <m:rPr>
                        <m:sty m:val="p"/>
                      </m:rPr>
                      <a:rPr lang="en-US" altLang="zh-CN" kern="100">
                        <a:effectLst/>
                        <a:latin typeface="Cambria Math" panose="02040503050406030204" pitchFamily="18" charset="0"/>
                        <a:ea typeface="宋体" pitchFamily="2" charset="-122"/>
                      </a:rPr>
                      <m:t>Y</m:t>
                    </m:r>
                    <m:r>
                      <a:rPr lang="en-US" altLang="zh-CN"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的权重为：</a:t>
                </a:r>
                <a14:m>
                  <m:oMath xmlns:m="http://schemas.openxmlformats.org/officeDocument/2006/math">
                    <m:r>
                      <a:rPr lang="zh-CN" altLang="zh-CN" i="1" kern="100">
                        <a:effectLst/>
                        <a:latin typeface="Cambria Math" panose="02040503050406030204" pitchFamily="18" charset="0"/>
                        <a:ea typeface="Cambria Math" panose="02040503050406030204" pitchFamily="18" charset="0"/>
                      </a:rPr>
                      <m:t> </m:t>
                    </m:r>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𝑎</m:t>
                        </m:r>
                      </m:e>
                      <m:sub>
                        <m:r>
                          <a:rPr lang="en-US" altLang="zh-CN" i="1" kern="100">
                            <a:effectLst/>
                            <a:latin typeface="Cambria Math" panose="02040503050406030204" pitchFamily="18" charset="0"/>
                            <a:ea typeface="宋体" pitchFamily="2" charset="-122"/>
                          </a:rPr>
                          <m:t>00</m:t>
                        </m:r>
                      </m:sub>
                    </m:sSub>
                    <m:r>
                      <a:rPr lang="zh-CN" altLang="zh-CN" kern="100">
                        <a:effectLst/>
                        <a:latin typeface="Cambria Math" panose="02040503050406030204" pitchFamily="18" charset="0"/>
                        <a:ea typeface="宋体" pitchFamily="2" charset="-122"/>
                      </a:rPr>
                      <m:t>像素值</m:t>
                    </m:r>
                    <m:r>
                      <a:rPr lang="en-US" altLang="zh-CN"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𝑘</m:t>
                        </m:r>
                      </m:e>
                      <m:sub>
                        <m:r>
                          <a:rPr lang="en-US" altLang="zh-CN" i="1" kern="100">
                            <a:effectLst/>
                            <a:latin typeface="Cambria Math" panose="02040503050406030204" pitchFamily="18" charset="0"/>
                            <a:ea typeface="宋体" pitchFamily="2" charset="-122"/>
                          </a:rPr>
                          <m:t>𝑖</m:t>
                        </m:r>
                        <m:r>
                          <a:rPr lang="en-US" altLang="zh-CN" i="1" kern="100">
                            <a:effectLst/>
                            <a:latin typeface="Cambria Math" panose="02040503050406030204" pitchFamily="18" charset="0"/>
                            <a:ea typeface="宋体" pitchFamily="2" charset="-122"/>
                          </a:rPr>
                          <m:t>0</m:t>
                        </m:r>
                      </m:sub>
                    </m:sSub>
                    <m:r>
                      <a:rPr lang="en-US" altLang="zh-CN" i="1" kern="100">
                        <a:effectLst/>
                        <a:latin typeface="Cambria Math" panose="02040503050406030204" pitchFamily="18" charset="0"/>
                        <a:ea typeface="宋体" pitchFamily="2" charset="-122"/>
                      </a:rPr>
                      <m:t>×</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𝑘</m:t>
                        </m:r>
                      </m:e>
                      <m:sub>
                        <m:r>
                          <a:rPr lang="en-US" altLang="zh-CN" i="1" kern="100">
                            <a:effectLst/>
                            <a:latin typeface="Cambria Math" panose="02040503050406030204" pitchFamily="18" charset="0"/>
                            <a:ea typeface="宋体" pitchFamily="2" charset="-122"/>
                          </a:rPr>
                          <m:t>0</m:t>
                        </m:r>
                        <m:r>
                          <a:rPr lang="en-US" altLang="zh-CN" i="1" kern="100">
                            <a:effectLst/>
                            <a:latin typeface="Cambria Math" panose="02040503050406030204" pitchFamily="18" charset="0"/>
                            <a:ea typeface="宋体" pitchFamily="2" charset="-122"/>
                          </a:rPr>
                          <m:t>𝑗</m:t>
                        </m:r>
                      </m:sub>
                    </m:sSub>
                  </m:oMath>
                </a14:m>
                <a:r>
                  <a:rPr lang="zh-CN" altLang="zh-CN" kern="100" dirty="0">
                    <a:effectLst/>
                    <a:latin typeface="Times New Roman" panose="02020603050405020304" pitchFamily="18" charset="0"/>
                    <a:ea typeface="宋体" pitchFamily="2" charset="-122"/>
                  </a:rPr>
                  <a:t>。其中，</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𝑘</m:t>
                        </m:r>
                      </m:e>
                      <m:sub>
                        <m:r>
                          <a:rPr lang="en-US" altLang="zh-CN" i="1" kern="100">
                            <a:effectLst/>
                            <a:latin typeface="Cambria Math" panose="02040503050406030204" pitchFamily="18" charset="0"/>
                            <a:ea typeface="宋体" pitchFamily="2" charset="-122"/>
                          </a:rPr>
                          <m:t>𝑖</m:t>
                        </m:r>
                        <m:r>
                          <a:rPr lang="en-US" altLang="zh-CN" i="1" kern="100">
                            <a:effectLst/>
                            <a:latin typeface="Cambria Math" panose="02040503050406030204" pitchFamily="18" charset="0"/>
                            <a:ea typeface="宋体" pitchFamily="2" charset="-122"/>
                          </a:rPr>
                          <m:t>0</m:t>
                        </m:r>
                      </m:sub>
                    </m:sSub>
                  </m:oMath>
                </a14:m>
                <a:r>
                  <a:rPr lang="zh-CN" altLang="zh-CN" kern="100" dirty="0">
                    <a:effectLst/>
                    <a:latin typeface="Times New Roman" panose="02020603050405020304" pitchFamily="18" charset="0"/>
                    <a:ea typeface="宋体" pitchFamily="2" charset="-122"/>
                  </a:rPr>
                  <a:t>代表</a:t>
                </a:r>
                <a14:m>
                  <m:oMath xmlns:m="http://schemas.openxmlformats.org/officeDocument/2006/math">
                    <m:r>
                      <a:rPr lang="zh-CN" altLang="zh-CN" i="1" kern="100">
                        <a:effectLst/>
                        <a:latin typeface="Cambria Math" panose="02040503050406030204" pitchFamily="18" charset="0"/>
                        <a:ea typeface="Cambria Math" panose="02040503050406030204" pitchFamily="18" charset="0"/>
                      </a:rPr>
                      <m:t> </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𝑎</m:t>
                        </m:r>
                      </m:e>
                      <m:sub>
                        <m:r>
                          <a:rPr lang="en-US" altLang="zh-CN" i="1" kern="100">
                            <a:effectLst/>
                            <a:latin typeface="Cambria Math" panose="02040503050406030204" pitchFamily="18" charset="0"/>
                            <a:ea typeface="宋体" pitchFamily="2" charset="-122"/>
                          </a:rPr>
                          <m:t>𝑖</m:t>
                        </m:r>
                        <m:r>
                          <a:rPr lang="en-US" altLang="zh-CN" i="1" kern="100">
                            <a:effectLst/>
                            <a:latin typeface="Cambria Math" panose="02040503050406030204" pitchFamily="18" charset="0"/>
                            <a:ea typeface="宋体" pitchFamily="2" charset="-122"/>
                          </a:rPr>
                          <m:t>0</m:t>
                        </m:r>
                      </m:sub>
                    </m:sSub>
                  </m:oMath>
                </a14:m>
                <a:r>
                  <a:rPr lang="zh-CN" altLang="zh-CN" kern="100" dirty="0">
                    <a:effectLst/>
                    <a:latin typeface="Times New Roman" panose="02020603050405020304" pitchFamily="18" charset="0"/>
                    <a:ea typeface="宋体" pitchFamily="2" charset="-122"/>
                  </a:rPr>
                  <a:t>对应的权重，</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𝑘</m:t>
                        </m:r>
                      </m:e>
                      <m:sub>
                        <m:r>
                          <a:rPr lang="en-US" altLang="zh-CN" i="1" kern="100">
                            <a:effectLst/>
                            <a:latin typeface="Cambria Math" panose="02040503050406030204" pitchFamily="18" charset="0"/>
                            <a:ea typeface="宋体" pitchFamily="2" charset="-122"/>
                          </a:rPr>
                          <m:t>0</m:t>
                        </m:r>
                        <m:r>
                          <a:rPr lang="en-US" altLang="zh-CN" i="1" kern="100">
                            <a:effectLst/>
                            <a:latin typeface="Cambria Math" panose="02040503050406030204" pitchFamily="18" charset="0"/>
                            <a:ea typeface="宋体" pitchFamily="2" charset="-122"/>
                          </a:rPr>
                          <m:t>𝑗</m:t>
                        </m:r>
                      </m:sub>
                    </m:sSub>
                  </m:oMath>
                </a14:m>
                <a:r>
                  <a:rPr lang="zh-CN" altLang="zh-CN" kern="100" dirty="0">
                    <a:effectLst/>
                    <a:latin typeface="Times New Roman" panose="02020603050405020304" pitchFamily="18" charset="0"/>
                    <a:ea typeface="宋体" pitchFamily="2" charset="-122"/>
                  </a:rPr>
                  <a:t>代表</a:t>
                </a:r>
                <a14:m>
                  <m:oMath xmlns:m="http://schemas.openxmlformats.org/officeDocument/2006/math">
                    <m:r>
                      <a:rPr lang="zh-CN" altLang="zh-CN" i="1" kern="100">
                        <a:effectLst/>
                        <a:latin typeface="Cambria Math" panose="02040503050406030204" pitchFamily="18" charset="0"/>
                        <a:ea typeface="Cambria Math" panose="02040503050406030204" pitchFamily="18" charset="0"/>
                      </a:rPr>
                      <m:t> </m:t>
                    </m:r>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𝑎</m:t>
                        </m:r>
                      </m:e>
                      <m:sub>
                        <m:r>
                          <a:rPr lang="en-US" altLang="zh-CN" i="1" kern="100">
                            <a:effectLst/>
                            <a:latin typeface="Cambria Math" panose="02040503050406030204" pitchFamily="18" charset="0"/>
                            <a:ea typeface="宋体" pitchFamily="2" charset="-122"/>
                          </a:rPr>
                          <m:t>0</m:t>
                        </m:r>
                        <m:r>
                          <a:rPr lang="en-US" altLang="zh-CN" i="1" kern="100">
                            <a:effectLst/>
                            <a:latin typeface="Cambria Math" panose="02040503050406030204" pitchFamily="18" charset="0"/>
                            <a:ea typeface="宋体" pitchFamily="2" charset="-122"/>
                          </a:rPr>
                          <m:t>𝑗</m:t>
                        </m:r>
                      </m:sub>
                    </m:sSub>
                  </m:oMath>
                </a14:m>
                <a:r>
                  <a:rPr lang="zh-CN" altLang="zh-CN" kern="100" dirty="0">
                    <a:effectLst/>
                    <a:latin typeface="Times New Roman" panose="02020603050405020304" pitchFamily="18" charset="0"/>
                    <a:ea typeface="宋体" pitchFamily="2" charset="-122"/>
                  </a:rPr>
                  <a:t>对应的权重。那么可以得到</a:t>
                </a:r>
                <a14:m>
                  <m:oMath xmlns:m="http://schemas.openxmlformats.org/officeDocument/2006/math">
                    <m:sSub>
                      <m:sSubPr>
                        <m:ctrlPr>
                          <a:rPr lang="zh-CN" altLang="zh-CN" i="1" kern="100">
                            <a:solidFill>
                              <a:srgbClr val="000000"/>
                            </a:solidFill>
                            <a:effectLst/>
                            <a:latin typeface="Cambria Math" panose="02040503050406030204" pitchFamily="18" charset="0"/>
                            <a:ea typeface="Cambria Math" panose="02040503050406030204" pitchFamily="18" charset="0"/>
                          </a:rPr>
                        </m:ctrlPr>
                      </m:sSubPr>
                      <m:e>
                        <m:r>
                          <a:rPr lang="en-US" altLang="zh-CN" i="1" kern="100">
                            <a:solidFill>
                              <a:srgbClr val="000000"/>
                            </a:solidFill>
                            <a:effectLst/>
                            <a:latin typeface="Cambria Math" panose="02040503050406030204" pitchFamily="18" charset="0"/>
                            <a:ea typeface="宋体" pitchFamily="2" charset="-122"/>
                          </a:rPr>
                          <m:t>𝑎</m:t>
                        </m:r>
                      </m:e>
                      <m:sub>
                        <m:r>
                          <a:rPr lang="en-US" altLang="zh-CN" i="1" kern="100">
                            <a:solidFill>
                              <a:srgbClr val="000000"/>
                            </a:solidFill>
                            <a:effectLst/>
                            <a:latin typeface="Cambria Math" panose="02040503050406030204" pitchFamily="18" charset="0"/>
                            <a:ea typeface="宋体" pitchFamily="2" charset="-122"/>
                          </a:rPr>
                          <m:t>𝑖𝑗</m:t>
                        </m:r>
                      </m:sub>
                    </m:sSub>
                  </m:oMath>
                </a14:m>
                <a:r>
                  <a:rPr lang="zh-CN" altLang="zh-CN" kern="100" dirty="0">
                    <a:solidFill>
                      <a:srgbClr val="000000"/>
                    </a:solidFill>
                    <a:effectLst/>
                    <a:latin typeface="Times New Roman" panose="02020603050405020304" pitchFamily="18" charset="0"/>
                    <a:ea typeface="宋体" pitchFamily="2" charset="-122"/>
                  </a:rPr>
                  <a:t>的横纵坐标对应的所有权重</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𝑘</m:t>
                        </m:r>
                      </m:e>
                      <m:sub>
                        <m:r>
                          <a:rPr lang="en-US" altLang="zh-CN" i="1" kern="100">
                            <a:effectLst/>
                            <a:latin typeface="Cambria Math" panose="02040503050406030204" pitchFamily="18" charset="0"/>
                            <a:ea typeface="宋体" pitchFamily="2" charset="-122"/>
                          </a:rPr>
                          <m:t>𝑖𝑗</m:t>
                        </m:r>
                      </m:sub>
                    </m:sSub>
                    <m:r>
                      <a:rPr lang="en-US" altLang="zh-CN" kern="100">
                        <a:solidFill>
                          <a:srgbClr val="000000"/>
                        </a:solidFill>
                        <a:effectLst/>
                        <a:latin typeface="Cambria Math" panose="02040503050406030204" pitchFamily="18" charset="0"/>
                        <a:ea typeface="宋体" pitchFamily="2" charset="-122"/>
                      </a:rPr>
                      <m:t>(</m:t>
                    </m:r>
                    <m:r>
                      <m:rPr>
                        <m:sty m:val="p"/>
                      </m:rPr>
                      <a:rPr lang="en-US" altLang="zh-CN" kern="100">
                        <a:solidFill>
                          <a:srgbClr val="000000"/>
                        </a:solidFill>
                        <a:effectLst/>
                        <a:latin typeface="Cambria Math" panose="02040503050406030204" pitchFamily="18" charset="0"/>
                        <a:ea typeface="宋体" pitchFamily="2" charset="-122"/>
                      </a:rPr>
                      <m:t>i</m:t>
                    </m:r>
                    <m:r>
                      <a:rPr lang="en-US" altLang="zh-CN" kern="100">
                        <a:solidFill>
                          <a:srgbClr val="000000"/>
                        </a:solidFill>
                        <a:effectLst/>
                        <a:latin typeface="Cambria Math" panose="02040503050406030204" pitchFamily="18" charset="0"/>
                        <a:ea typeface="宋体" pitchFamily="2" charset="-122"/>
                      </a:rPr>
                      <m:t>,</m:t>
                    </m:r>
                    <m:r>
                      <m:rPr>
                        <m:sty m:val="p"/>
                      </m:rPr>
                      <a:rPr lang="en-US" altLang="zh-CN" kern="100">
                        <a:solidFill>
                          <a:srgbClr val="000000"/>
                        </a:solidFill>
                        <a:effectLst/>
                        <a:latin typeface="Cambria Math" panose="02040503050406030204" pitchFamily="18" charset="0"/>
                        <a:ea typeface="宋体" pitchFamily="2" charset="-122"/>
                      </a:rPr>
                      <m:t>j</m:t>
                    </m:r>
                    <m:r>
                      <a:rPr lang="en-US" altLang="zh-CN" kern="100">
                        <a:solidFill>
                          <a:srgbClr val="000000"/>
                        </a:solidFill>
                        <a:effectLst/>
                        <a:latin typeface="Cambria Math" panose="02040503050406030204" pitchFamily="18" charset="0"/>
                        <a:ea typeface="宋体" pitchFamily="2" charset="-122"/>
                      </a:rPr>
                      <m:t>=0,1,2,3)</m:t>
                    </m:r>
                  </m:oMath>
                </a14:m>
                <a:r>
                  <a:rPr lang="zh-CN" altLang="zh-CN" kern="100" dirty="0">
                    <a:effectLst/>
                    <a:latin typeface="Times New Roman" panose="02020603050405020304" pitchFamily="18" charset="0"/>
                    <a:ea typeface="宋体" pitchFamily="2" charset="-122"/>
                  </a:rPr>
                  <a:t>，如</a:t>
                </a:r>
                <a:r>
                  <a:rPr lang="en-US" altLang="zh-CN" kern="100" dirty="0">
                    <a:effectLst/>
                    <a:latin typeface="Times New Roman" panose="02020603050405020304" pitchFamily="18" charset="0"/>
                    <a:ea typeface="宋体" pitchFamily="2" charset="-122"/>
                  </a:rPr>
                  <a:t>(4-21)</a:t>
                </a:r>
                <a:r>
                  <a:rPr lang="zh-CN" altLang="zh-CN" kern="100" dirty="0">
                    <a:effectLst/>
                    <a:latin typeface="Times New Roman" panose="02020603050405020304" pitchFamily="18" charset="0"/>
                    <a:ea typeface="宋体" pitchFamily="2" charset="-122"/>
                  </a:rPr>
                  <a:t>所示。</a:t>
                </a:r>
              </a:p>
            </p:txBody>
          </p:sp>
        </mc:Choice>
        <mc:Fallback xmlns="">
          <p:sp>
            <p:nvSpPr>
              <p:cNvPr id="14" name="文本框 13"/>
              <p:cNvSpPr txBox="1">
                <a:spLocks noRot="1" noChangeAspect="1" noMove="1" noResize="1" noEditPoints="1" noAdjustHandles="1" noChangeArrowheads="1" noChangeShapeType="1" noTextEdit="1"/>
              </p:cNvSpPr>
              <p:nvPr/>
            </p:nvSpPr>
            <p:spPr>
              <a:xfrm>
                <a:off x="396330" y="1226977"/>
                <a:ext cx="8352928" cy="2761077"/>
              </a:xfrm>
              <a:prstGeom prst="rect">
                <a:avLst/>
              </a:prstGeom>
              <a:blipFill rotWithShape="1">
                <a:blip r:embed="rId3"/>
                <a:stretch>
                  <a:fillRect l="-1" t="-6" r="-1913" b="-113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430421" y="4077762"/>
                <a:ext cx="2309879"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mtClean="0">
                          <a:latin typeface="Cambria Math" panose="02040503050406030204" pitchFamily="18" charset="0"/>
                        </a:rPr>
                        <m:t> </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r>
                            <a:rPr lang="zh-CN" altLang="en-US" i="0">
                              <a:latin typeface="Cambria Math" panose="02040503050406030204" pitchFamily="18" charset="0"/>
                            </a:rPr>
                            <m:t>0</m:t>
                          </m:r>
                        </m:sub>
                      </m:sSub>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𝑢</m:t>
                          </m:r>
                        </m:e>
                      </m:d>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430421" y="4077762"/>
                <a:ext cx="2309879" cy="415498"/>
              </a:xfrm>
              <a:prstGeom prst="rect">
                <a:avLst/>
              </a:prstGeom>
              <a:blipFill rotWithShape="1">
                <a:blip r:embed="rId4"/>
                <a:stretch>
                  <a:fillRect l="-23" t="-103" r="12" b="-1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2195188" y="4077762"/>
                <a:ext cx="2366885"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1">
                              <a:latin typeface="Cambria Math" panose="02040503050406030204" pitchFamily="18" charset="0"/>
                            </a:rPr>
                            <m:t>𝑢</m:t>
                          </m:r>
                        </m:e>
                      </m:d>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2195188" y="4077762"/>
                <a:ext cx="2366885" cy="415498"/>
              </a:xfrm>
              <a:prstGeom prst="rect">
                <a:avLst/>
              </a:prstGeom>
              <a:blipFill rotWithShape="1">
                <a:blip r:embed="rId5"/>
                <a:stretch>
                  <a:fillRect l="-27" t="-103" r="10" b="-1070"/>
                </a:stretch>
              </a:blipFill>
            </p:spPr>
            <p:txBody>
              <a:bodyPr/>
              <a:lstStyle/>
              <a:p>
                <a:r>
                  <a:rPr lang="zh-CN" altLang="en-US">
                    <a:noFill/>
                  </a:rPr>
                  <a:t> </a:t>
                </a:r>
              </a:p>
            </p:txBody>
          </p:sp>
        </mc:Fallback>
      </mc:AlternateContent>
      <p:sp>
        <p:nvSpPr>
          <p:cNvPr id="8" name="文本框 7"/>
          <p:cNvSpPr txBox="1"/>
          <p:nvPr/>
        </p:nvSpPr>
        <p:spPr>
          <a:xfrm>
            <a:off x="2483220" y="4077762"/>
            <a:ext cx="720080" cy="415498"/>
          </a:xfrm>
          <a:prstGeom prst="rect">
            <a:avLst/>
          </a:prstGeom>
          <a:noFill/>
        </p:spPr>
        <p:txBody>
          <a:bodyPr wrap="square" rtlCol="0">
            <a:spAutoFit/>
          </a:bodyPr>
          <a:lstStyle/>
          <a:p>
            <a:r>
              <a:rPr lang="zh-CN" altLang="en-US" dirty="0"/>
              <a:t>，</a:t>
            </a:r>
          </a:p>
        </p:txBody>
      </p:sp>
      <p:sp>
        <p:nvSpPr>
          <p:cNvPr id="22" name="文本框 21"/>
          <p:cNvSpPr txBox="1"/>
          <p:nvPr/>
        </p:nvSpPr>
        <p:spPr>
          <a:xfrm>
            <a:off x="3927861" y="4077762"/>
            <a:ext cx="720080" cy="415498"/>
          </a:xfrm>
          <a:prstGeom prst="rect">
            <a:avLst/>
          </a:prstGeom>
          <a:noFill/>
        </p:spPr>
        <p:txBody>
          <a:bodyPr wrap="square" rtlCol="0">
            <a:spAutoFit/>
          </a:bodyPr>
          <a:lstStyle/>
          <a:p>
            <a:r>
              <a:rPr lang="zh-CN" altLang="en-US" dirty="0"/>
              <a:t>，</a:t>
            </a:r>
          </a:p>
        </p:txBody>
      </p:sp>
      <mc:AlternateContent xmlns:mc="http://schemas.openxmlformats.org/markup-compatibility/2006" xmlns:a14="http://schemas.microsoft.com/office/drawing/2010/main">
        <mc:Choice Requires="a14">
          <p:sp>
            <p:nvSpPr>
              <p:cNvPr id="24" name="文本框 23"/>
              <p:cNvSpPr txBox="1"/>
              <p:nvPr/>
            </p:nvSpPr>
            <p:spPr>
              <a:xfrm>
                <a:off x="4068738" y="4077762"/>
                <a:ext cx="2097611" cy="4154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𝑢</m:t>
                          </m:r>
                        </m:e>
                      </m:d>
                    </m:oMath>
                  </m:oMathPara>
                </a14:m>
                <a:endParaRPr lang="zh-CN" altLang="en-US" dirty="0"/>
              </a:p>
            </p:txBody>
          </p:sp>
        </mc:Choice>
        <mc:Fallback xmlns="">
          <p:sp>
            <p:nvSpPr>
              <p:cNvPr id="24" name="文本框 23"/>
              <p:cNvSpPr txBox="1">
                <a:spLocks noRot="1" noChangeAspect="1" noMove="1" noResize="1" noEditPoints="1" noAdjustHandles="1" noChangeArrowheads="1" noChangeShapeType="1" noTextEdit="1"/>
              </p:cNvSpPr>
              <p:nvPr/>
            </p:nvSpPr>
            <p:spPr>
              <a:xfrm>
                <a:off x="4068738" y="4077762"/>
                <a:ext cx="2097611" cy="415488"/>
              </a:xfrm>
              <a:prstGeom prst="rect">
                <a:avLst/>
              </a:prstGeom>
              <a:blipFill rotWithShape="1">
                <a:blip r:embed="rId6"/>
                <a:stretch>
                  <a:fillRect l="-14" t="-103" r="24" b="-1072"/>
                </a:stretch>
              </a:blipFill>
            </p:spPr>
            <p:txBody>
              <a:bodyPr/>
              <a:lstStyle/>
              <a:p>
                <a:r>
                  <a:rPr lang="zh-CN" altLang="en-US">
                    <a:noFill/>
                  </a:rPr>
                  <a:t> </a:t>
                </a:r>
              </a:p>
            </p:txBody>
          </p:sp>
        </mc:Fallback>
      </mc:AlternateContent>
      <p:sp>
        <p:nvSpPr>
          <p:cNvPr id="25" name="文本框 24"/>
          <p:cNvSpPr txBox="1"/>
          <p:nvPr/>
        </p:nvSpPr>
        <p:spPr>
          <a:xfrm>
            <a:off x="5867596" y="4077762"/>
            <a:ext cx="720080" cy="415498"/>
          </a:xfrm>
          <a:prstGeom prst="rect">
            <a:avLst/>
          </a:prstGeom>
          <a:noFill/>
        </p:spPr>
        <p:txBody>
          <a:bodyPr wrap="square" rtlCol="0">
            <a:spAutoFit/>
          </a:bodyPr>
          <a:lstStyle/>
          <a:p>
            <a:r>
              <a:rPr lang="zh-CN" altLang="en-US" dirty="0"/>
              <a:t>，</a:t>
            </a:r>
          </a:p>
        </p:txBody>
      </p:sp>
      <mc:AlternateContent xmlns:mc="http://schemas.openxmlformats.org/markup-compatibility/2006" xmlns:a14="http://schemas.microsoft.com/office/drawing/2010/main">
        <mc:Choice Requires="a14">
          <p:sp>
            <p:nvSpPr>
              <p:cNvPr id="28" name="文本框 27"/>
              <p:cNvSpPr txBox="1"/>
              <p:nvPr/>
            </p:nvSpPr>
            <p:spPr>
              <a:xfrm>
                <a:off x="6050728" y="4077762"/>
                <a:ext cx="2016224" cy="4154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r>
                            <a:rPr lang="zh-CN" altLang="en-US" i="0">
                              <a:latin typeface="Cambria Math" panose="02040503050406030204" pitchFamily="18" charset="0"/>
                            </a:rPr>
                            <m:t>3</m:t>
                          </m:r>
                        </m:sub>
                      </m:sSub>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0">
                              <a:latin typeface="Cambria Math" panose="02040503050406030204" pitchFamily="18" charset="0"/>
                            </a:rPr>
                            <m:t>2−</m:t>
                          </m:r>
                          <m:r>
                            <a:rPr lang="zh-CN" altLang="en-US" i="1">
                              <a:latin typeface="Cambria Math" panose="02040503050406030204" pitchFamily="18" charset="0"/>
                            </a:rPr>
                            <m:t>𝑢</m:t>
                          </m:r>
                        </m:e>
                      </m:d>
                    </m:oMath>
                  </m:oMathPara>
                </a14:m>
                <a:endParaRPr lang="zh-CN" altLang="en-US" dirty="0"/>
              </a:p>
            </p:txBody>
          </p:sp>
        </mc:Choice>
        <mc:Fallback xmlns="">
          <p:sp>
            <p:nvSpPr>
              <p:cNvPr id="28" name="文本框 27"/>
              <p:cNvSpPr txBox="1">
                <a:spLocks noRot="1" noChangeAspect="1" noMove="1" noResize="1" noEditPoints="1" noAdjustHandles="1" noChangeArrowheads="1" noChangeShapeType="1" noTextEdit="1"/>
              </p:cNvSpPr>
              <p:nvPr/>
            </p:nvSpPr>
            <p:spPr>
              <a:xfrm>
                <a:off x="6050728" y="4077762"/>
                <a:ext cx="2016224" cy="415488"/>
              </a:xfrm>
              <a:prstGeom prst="rect">
                <a:avLst/>
              </a:prstGeom>
              <a:blipFill rotWithShape="1">
                <a:blip r:embed="rId7"/>
                <a:stretch>
                  <a:fillRect l="-22" t="-103" r="27" b="-1072"/>
                </a:stretch>
              </a:blipFill>
            </p:spPr>
            <p:txBody>
              <a:bodyPr/>
              <a:lstStyle/>
              <a:p>
                <a:r>
                  <a:rPr lang="zh-CN" altLang="en-US">
                    <a:noFill/>
                  </a:rPr>
                  <a:t> </a:t>
                </a:r>
              </a:p>
            </p:txBody>
          </p:sp>
        </mc:Fallback>
      </mc:AlternateContent>
      <p:sp>
        <p:nvSpPr>
          <p:cNvPr id="29" name="文本框 28"/>
          <p:cNvSpPr txBox="1"/>
          <p:nvPr/>
        </p:nvSpPr>
        <p:spPr>
          <a:xfrm>
            <a:off x="8066952" y="4388450"/>
            <a:ext cx="864096" cy="415490"/>
          </a:xfrm>
          <a:prstGeom prst="rect">
            <a:avLst/>
          </a:prstGeom>
          <a:noFill/>
        </p:spPr>
        <p:txBody>
          <a:bodyPr wrap="square">
            <a:spAutoFit/>
          </a:bodyPr>
          <a:lstStyle/>
          <a:p>
            <a:r>
              <a:rPr lang="en-US" altLang="zh-CN" dirty="0"/>
              <a:t>(4-21)</a:t>
            </a:r>
          </a:p>
        </p:txBody>
      </p:sp>
      <mc:AlternateContent xmlns:mc="http://schemas.openxmlformats.org/markup-compatibility/2006" xmlns:a14="http://schemas.microsoft.com/office/drawing/2010/main">
        <mc:Choice Requires="a14">
          <p:sp>
            <p:nvSpPr>
              <p:cNvPr id="30" name="文本框 29"/>
              <p:cNvSpPr txBox="1"/>
              <p:nvPr/>
            </p:nvSpPr>
            <p:spPr>
              <a:xfrm>
                <a:off x="447050" y="4596205"/>
                <a:ext cx="2277916" cy="4414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0">
                              <a:latin typeface="Cambria Math" panose="02040503050406030204" pitchFamily="18" charset="0"/>
                            </a:rPr>
                            <m:t>0</m:t>
                          </m:r>
                          <m:r>
                            <a:rPr lang="zh-CN" altLang="en-US" i="1">
                              <a:latin typeface="Cambria Math" panose="02040503050406030204" pitchFamily="18" charset="0"/>
                            </a:rPr>
                            <m:t>𝑗</m:t>
                          </m:r>
                        </m:sub>
                      </m:sSub>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𝑣</m:t>
                          </m:r>
                        </m:e>
                      </m:d>
                    </m:oMath>
                  </m:oMathPara>
                </a14:m>
                <a:endParaRPr lang="zh-CN" altLang="en-US" dirty="0"/>
              </a:p>
            </p:txBody>
          </p:sp>
        </mc:Choice>
        <mc:Fallback xmlns="">
          <p:sp>
            <p:nvSpPr>
              <p:cNvPr id="30" name="文本框 29"/>
              <p:cNvSpPr txBox="1">
                <a:spLocks noRot="1" noChangeAspect="1" noMove="1" noResize="1" noEditPoints="1" noAdjustHandles="1" noChangeArrowheads="1" noChangeShapeType="1" noTextEdit="1"/>
              </p:cNvSpPr>
              <p:nvPr/>
            </p:nvSpPr>
            <p:spPr>
              <a:xfrm>
                <a:off x="447050" y="4596205"/>
                <a:ext cx="2277916" cy="441468"/>
              </a:xfrm>
              <a:prstGeom prst="rect">
                <a:avLst/>
              </a:prstGeom>
              <a:blipFill rotWithShape="1">
                <a:blip r:embed="rId8"/>
                <a:stretch>
                  <a:fillRect t="-17" r="8" b="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2519201" y="4600533"/>
                <a:ext cx="1688189" cy="4414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0">
                              <a:latin typeface="Cambria Math" panose="02040503050406030204" pitchFamily="18" charset="0"/>
                            </a:rPr>
                            <m:t>1</m:t>
                          </m:r>
                          <m:r>
                            <a:rPr lang="zh-CN" altLang="en-US" i="1">
                              <a:latin typeface="Cambria Math" panose="02040503050406030204" pitchFamily="18" charset="0"/>
                            </a:rPr>
                            <m:t>𝑗</m:t>
                          </m:r>
                        </m:sub>
                      </m:sSub>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1">
                              <a:latin typeface="Cambria Math" panose="02040503050406030204" pitchFamily="18" charset="0"/>
                            </a:rPr>
                            <m:t>𝑣</m:t>
                          </m:r>
                        </m:e>
                      </m:d>
                    </m:oMath>
                  </m:oMathPara>
                </a14:m>
                <a:endParaRPr lang="zh-CN" altLang="en-US" dirty="0"/>
              </a:p>
            </p:txBody>
          </p:sp>
        </mc:Choice>
        <mc:Fallback xmlns="">
          <p:sp>
            <p:nvSpPr>
              <p:cNvPr id="32" name="文本框 31"/>
              <p:cNvSpPr txBox="1">
                <a:spLocks noRot="1" noChangeAspect="1" noMove="1" noResize="1" noEditPoints="1" noAdjustHandles="1" noChangeArrowheads="1" noChangeShapeType="1" noTextEdit="1"/>
              </p:cNvSpPr>
              <p:nvPr/>
            </p:nvSpPr>
            <p:spPr>
              <a:xfrm>
                <a:off x="2519201" y="4600533"/>
                <a:ext cx="1688189" cy="441468"/>
              </a:xfrm>
              <a:prstGeom prst="rect">
                <a:avLst/>
              </a:prstGeom>
              <a:blipFill rotWithShape="1">
                <a:blip r:embed="rId9"/>
                <a:stretch>
                  <a:fillRect l="-9" t="-134" r="31" b="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4053404" y="4604861"/>
                <a:ext cx="617938" cy="4414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0">
                              <a:latin typeface="Cambria Math" panose="02040503050406030204" pitchFamily="18" charset="0"/>
                            </a:rPr>
                            <m:t>2</m:t>
                          </m:r>
                          <m:r>
                            <a:rPr lang="zh-CN" altLang="en-US" i="1">
                              <a:latin typeface="Cambria Math" panose="02040503050406030204" pitchFamily="18" charset="0"/>
                            </a:rPr>
                            <m:t>𝑗</m:t>
                          </m:r>
                        </m:sub>
                      </m:sSub>
                    </m:oMath>
                  </m:oMathPara>
                </a14:m>
                <a:endParaRPr lang="zh-CN" altLang="en-US" dirty="0"/>
              </a:p>
            </p:txBody>
          </p:sp>
        </mc:Choice>
        <mc:Fallback xmlns="">
          <p:sp>
            <p:nvSpPr>
              <p:cNvPr id="34" name="文本框 33"/>
              <p:cNvSpPr txBox="1">
                <a:spLocks noRot="1" noChangeAspect="1" noMove="1" noResize="1" noEditPoints="1" noAdjustHandles="1" noChangeArrowheads="1" noChangeShapeType="1" noTextEdit="1"/>
              </p:cNvSpPr>
              <p:nvPr/>
            </p:nvSpPr>
            <p:spPr>
              <a:xfrm>
                <a:off x="4053404" y="4604861"/>
                <a:ext cx="617938" cy="441468"/>
              </a:xfrm>
              <a:prstGeom prst="rect">
                <a:avLst/>
              </a:prstGeom>
              <a:blipFill rotWithShape="1">
                <a:blip r:embed="rId10"/>
                <a:stretch>
                  <a:fillRect l="-32" t="-108" r="46" b="1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p:cNvSpPr txBox="1"/>
              <p:nvPr/>
            </p:nvSpPr>
            <p:spPr>
              <a:xfrm>
                <a:off x="4546739" y="4641790"/>
                <a:ext cx="1604276" cy="4223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zh-CN" altLang="en-US" i="1" smtClean="0">
                          <a:latin typeface="Cambria Math" panose="02040503050406030204" pitchFamily="18" charset="0"/>
                        </a:rPr>
                        <m:t>𝑊</m:t>
                      </m:r>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𝑣</m:t>
                          </m:r>
                        </m:e>
                      </m:d>
                    </m:oMath>
                  </m:oMathPara>
                </a14:m>
                <a:endParaRPr lang="zh-CN" altLang="en-US" dirty="0"/>
              </a:p>
            </p:txBody>
          </p:sp>
        </mc:Choice>
        <mc:Fallback xmlns="">
          <p:sp>
            <p:nvSpPr>
              <p:cNvPr id="36" name="文本框 35"/>
              <p:cNvSpPr txBox="1">
                <a:spLocks noRot="1" noChangeAspect="1" noMove="1" noResize="1" noEditPoints="1" noAdjustHandles="1" noChangeArrowheads="1" noChangeShapeType="1" noTextEdit="1"/>
              </p:cNvSpPr>
              <p:nvPr/>
            </p:nvSpPr>
            <p:spPr>
              <a:xfrm>
                <a:off x="4546739" y="4641790"/>
                <a:ext cx="1604276" cy="422348"/>
              </a:xfrm>
              <a:prstGeom prst="rect">
                <a:avLst/>
              </a:prstGeom>
              <a:blipFill rotWithShape="1">
                <a:blip r:embed="rId11"/>
                <a:stretch>
                  <a:fillRect l="-9" t="-136" r="25"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p:cNvSpPr txBox="1"/>
              <p:nvPr/>
            </p:nvSpPr>
            <p:spPr>
              <a:xfrm>
                <a:off x="5905833" y="4596205"/>
                <a:ext cx="2277916" cy="4414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a:rPr lang="zh-CN" altLang="en-US" i="0">
                              <a:latin typeface="Cambria Math" panose="02040503050406030204" pitchFamily="18" charset="0"/>
                            </a:rPr>
                            <m:t>3</m:t>
                          </m:r>
                          <m:r>
                            <a:rPr lang="zh-CN" altLang="en-US" i="1">
                              <a:latin typeface="Cambria Math" panose="02040503050406030204" pitchFamily="18" charset="0"/>
                            </a:rPr>
                            <m:t>𝑗</m:t>
                          </m:r>
                        </m:sub>
                      </m:sSub>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0">
                              <a:latin typeface="Cambria Math" panose="02040503050406030204" pitchFamily="18" charset="0"/>
                            </a:rPr>
                            <m:t>2−</m:t>
                          </m:r>
                          <m:r>
                            <a:rPr lang="zh-CN" altLang="en-US" i="1">
                              <a:latin typeface="Cambria Math" panose="02040503050406030204" pitchFamily="18" charset="0"/>
                            </a:rPr>
                            <m:t>𝑣</m:t>
                          </m:r>
                        </m:e>
                      </m:d>
                    </m:oMath>
                  </m:oMathPara>
                </a14:m>
                <a:endParaRPr lang="zh-CN" altLang="en-US" dirty="0"/>
              </a:p>
            </p:txBody>
          </p:sp>
        </mc:Choice>
        <mc:Fallback xmlns="">
          <p:sp>
            <p:nvSpPr>
              <p:cNvPr id="38" name="文本框 37"/>
              <p:cNvSpPr txBox="1">
                <a:spLocks noRot="1" noChangeAspect="1" noMove="1" noResize="1" noEditPoints="1" noAdjustHandles="1" noChangeArrowheads="1" noChangeShapeType="1" noTextEdit="1"/>
              </p:cNvSpPr>
              <p:nvPr/>
            </p:nvSpPr>
            <p:spPr>
              <a:xfrm>
                <a:off x="5905833" y="4596205"/>
                <a:ext cx="2277916" cy="441468"/>
              </a:xfrm>
              <a:prstGeom prst="rect">
                <a:avLst/>
              </a:prstGeom>
              <a:blipFill rotWithShape="1">
                <a:blip r:embed="rId12"/>
                <a:stretch>
                  <a:fillRect l="-15" t="-17" r="22" b="49"/>
                </a:stretch>
              </a:blipFill>
            </p:spPr>
            <p:txBody>
              <a:bodyPr/>
              <a:lstStyle/>
              <a:p>
                <a:r>
                  <a:rPr lang="zh-CN" altLang="en-US">
                    <a:noFill/>
                  </a:rPr>
                  <a:t> </a:t>
                </a:r>
              </a:p>
            </p:txBody>
          </p:sp>
        </mc:Fallback>
      </mc:AlternateContent>
      <p:sp>
        <p:nvSpPr>
          <p:cNvPr id="39" name="文本框 38"/>
          <p:cNvSpPr txBox="1"/>
          <p:nvPr/>
        </p:nvSpPr>
        <p:spPr>
          <a:xfrm>
            <a:off x="2458873" y="4617846"/>
            <a:ext cx="720080" cy="415498"/>
          </a:xfrm>
          <a:prstGeom prst="rect">
            <a:avLst/>
          </a:prstGeom>
          <a:noFill/>
        </p:spPr>
        <p:txBody>
          <a:bodyPr wrap="square" rtlCol="0">
            <a:spAutoFit/>
          </a:bodyPr>
          <a:lstStyle/>
          <a:p>
            <a:r>
              <a:rPr lang="zh-CN" altLang="en-US" dirty="0"/>
              <a:t>，</a:t>
            </a:r>
          </a:p>
        </p:txBody>
      </p:sp>
      <p:sp>
        <p:nvSpPr>
          <p:cNvPr id="40" name="文本框 39"/>
          <p:cNvSpPr txBox="1"/>
          <p:nvPr/>
        </p:nvSpPr>
        <p:spPr>
          <a:xfrm>
            <a:off x="3936834" y="4626503"/>
            <a:ext cx="720080" cy="415498"/>
          </a:xfrm>
          <a:prstGeom prst="rect">
            <a:avLst/>
          </a:prstGeom>
          <a:noFill/>
        </p:spPr>
        <p:txBody>
          <a:bodyPr wrap="square" rtlCol="0">
            <a:spAutoFit/>
          </a:bodyPr>
          <a:lstStyle/>
          <a:p>
            <a:r>
              <a:rPr lang="zh-CN" altLang="en-US" dirty="0"/>
              <a:t>，</a:t>
            </a:r>
          </a:p>
        </p:txBody>
      </p:sp>
      <p:sp>
        <p:nvSpPr>
          <p:cNvPr id="41" name="文本框 40"/>
          <p:cNvSpPr txBox="1"/>
          <p:nvPr/>
        </p:nvSpPr>
        <p:spPr>
          <a:xfrm>
            <a:off x="5924270" y="4651964"/>
            <a:ext cx="720080" cy="415498"/>
          </a:xfrm>
          <a:prstGeom prst="rect">
            <a:avLst/>
          </a:prstGeom>
          <a:noFill/>
        </p:spPr>
        <p:txBody>
          <a:bodyPr wrap="square" rtlCol="0">
            <a:spAutoFit/>
          </a:bodyPr>
          <a:lstStyle/>
          <a:p>
            <a:r>
              <a:rPr lang="zh-CN" altLang="en-US" dirty="0"/>
              <a:t>，</a:t>
            </a:r>
          </a:p>
        </p:txBody>
      </p:sp>
      <mc:AlternateContent xmlns:mc="http://schemas.openxmlformats.org/markup-compatibility/2006" xmlns:a14="http://schemas.microsoft.com/office/drawing/2010/main">
        <mc:Choice Requires="a14">
          <p:sp>
            <p:nvSpPr>
              <p:cNvPr id="43" name="文本框 42"/>
              <p:cNvSpPr txBox="1"/>
              <p:nvPr/>
            </p:nvSpPr>
            <p:spPr>
              <a:xfrm>
                <a:off x="545261" y="5181874"/>
                <a:ext cx="7534500" cy="738664"/>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通过上述过程就分别得到了横坐标和纵坐标的权重。目标图坐标</a:t>
                </a:r>
                <a14:m>
                  <m:oMath xmlns:m="http://schemas.openxmlformats.org/officeDocument/2006/math">
                    <m:r>
                      <a:rPr lang="en-US" altLang="zh-CN" i="1" kern="100">
                        <a:effectLst/>
                        <a:latin typeface="Cambria Math" panose="02040503050406030204" pitchFamily="18" charset="0"/>
                        <a:ea typeface="宋体" pitchFamily="2" charset="-122"/>
                      </a:rPr>
                      <m:t>𝐵</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𝑋</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𝑌</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对应的像素值可由公式</a:t>
                </a:r>
                <a:r>
                  <a:rPr lang="en-US" altLang="zh-CN" kern="100" dirty="0">
                    <a:effectLst/>
                    <a:latin typeface="Times New Roman" panose="02020603050405020304" pitchFamily="18" charset="0"/>
                    <a:ea typeface="宋体" pitchFamily="2" charset="-122"/>
                  </a:rPr>
                  <a:t> (4-22)</a:t>
                </a:r>
                <a:r>
                  <a:rPr lang="zh-CN" altLang="zh-CN" kern="100" dirty="0">
                    <a:effectLst/>
                    <a:latin typeface="Times New Roman" panose="02020603050405020304" pitchFamily="18" charset="0"/>
                    <a:ea typeface="宋体" pitchFamily="2" charset="-122"/>
                  </a:rPr>
                  <a:t>得出。</a:t>
                </a:r>
              </a:p>
            </p:txBody>
          </p:sp>
        </mc:Choice>
        <mc:Fallback xmlns="">
          <p:sp>
            <p:nvSpPr>
              <p:cNvPr id="43" name="文本框 42"/>
              <p:cNvSpPr txBox="1">
                <a:spLocks noRot="1" noChangeAspect="1" noMove="1" noResize="1" noEditPoints="1" noAdjustHandles="1" noChangeArrowheads="1" noChangeShapeType="1" noTextEdit="1"/>
              </p:cNvSpPr>
              <p:nvPr/>
            </p:nvSpPr>
            <p:spPr>
              <a:xfrm>
                <a:off x="545261" y="5181874"/>
                <a:ext cx="7534500" cy="738664"/>
              </a:xfrm>
              <a:prstGeom prst="rect">
                <a:avLst/>
              </a:prstGeom>
              <a:blipFill rotWithShape="1">
                <a:blip r:embed="rId13"/>
                <a:stretch>
                  <a:fillRect l="-6" t="-37" b="-1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p:cNvSpPr txBox="1"/>
              <p:nvPr/>
            </p:nvSpPr>
            <p:spPr>
              <a:xfrm>
                <a:off x="2415119" y="5802071"/>
                <a:ext cx="4422271" cy="10374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mtClean="0">
                          <a:latin typeface="Cambria Math" panose="02040503050406030204" pitchFamily="18" charset="0"/>
                        </a:rPr>
                        <m:t>B</m:t>
                      </m:r>
                      <m:d>
                        <m:dPr>
                          <m:ctrlPr>
                            <a:rPr lang="zh-CN" altLang="en-US" i="1">
                              <a:solidFill>
                                <a:srgbClr val="836967"/>
                              </a:solidFill>
                              <a:latin typeface="Cambria Math" panose="02040503050406030204" pitchFamily="18" charset="0"/>
                            </a:rPr>
                          </m:ctrlPr>
                        </m:dPr>
                        <m:e>
                          <m:r>
                            <m:rPr>
                              <m:sty m:val="p"/>
                            </m:rPr>
                            <a:rPr lang="zh-CN" altLang="en-US" i="0">
                              <a:latin typeface="Cambria Math" panose="02040503050406030204" pitchFamily="18" charset="0"/>
                            </a:rPr>
                            <m:t>X</m:t>
                          </m:r>
                          <m:r>
                            <a:rPr lang="zh-CN" altLang="en-US" i="0">
                              <a:latin typeface="Cambria Math" panose="02040503050406030204" pitchFamily="18" charset="0"/>
                            </a:rPr>
                            <m:t>,</m:t>
                          </m:r>
                          <m:r>
                            <m:rPr>
                              <m:sty m:val="p"/>
                            </m:rPr>
                            <a:rPr lang="zh-CN" altLang="en-US" i="0">
                              <a:latin typeface="Cambria Math" panose="02040503050406030204" pitchFamily="18" charset="0"/>
                            </a:rPr>
                            <m:t>Y</m:t>
                          </m:r>
                        </m:e>
                      </m:d>
                      <m:r>
                        <a:rPr lang="zh-CN" altLang="en-US" i="0">
                          <a:latin typeface="Cambria Math" panose="02040503050406030204" pitchFamily="18" charset="0"/>
                        </a:rPr>
                        <m:t>=</m:t>
                      </m:r>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=0</m:t>
                          </m:r>
                        </m:sub>
                        <m:sup>
                          <m:r>
                            <a:rPr lang="zh-CN" altLang="en-US" i="0">
                              <a:latin typeface="Cambria Math" panose="02040503050406030204" pitchFamily="18" charset="0"/>
                            </a:rPr>
                            <m:t>3</m:t>
                          </m:r>
                        </m:sup>
                        <m:e>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=0</m:t>
                              </m:r>
                            </m:sub>
                            <m:sup>
                              <m:r>
                                <a:rPr lang="zh-CN" altLang="en-US" i="0">
                                  <a:latin typeface="Cambria Math" panose="02040503050406030204" pitchFamily="18" charset="0"/>
                                </a:rPr>
                                <m:t>3</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𝑖𝑗</m:t>
                                  </m:r>
                                </m:sub>
                              </m:sSub>
                            </m:e>
                          </m:nary>
                        </m:e>
                      </m:nary>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1">
                              <a:latin typeface="Cambria Math" panose="02040503050406030204" pitchFamily="18" charset="0"/>
                            </a:rPr>
                            <m:t>𝑖</m:t>
                          </m:r>
                        </m:e>
                      </m:d>
                      <m:r>
                        <a:rPr lang="zh-CN" altLang="en-US" i="0">
                          <a:latin typeface="Cambria Math" panose="02040503050406030204" pitchFamily="18" charset="0"/>
                        </a:rPr>
                        <m:t>×</m:t>
                      </m:r>
                      <m:r>
                        <a:rPr lang="zh-CN" altLang="en-US" i="1">
                          <a:latin typeface="Cambria Math" panose="02040503050406030204" pitchFamily="18" charset="0"/>
                        </a:rPr>
                        <m:t>𝑊</m:t>
                      </m:r>
                      <m:d>
                        <m:dPr>
                          <m:ctrlPr>
                            <a:rPr lang="zh-CN" altLang="en-US" i="1">
                              <a:latin typeface="Cambria Math" panose="02040503050406030204" pitchFamily="18" charset="0"/>
                            </a:rPr>
                          </m:ctrlPr>
                        </m:dPr>
                        <m:e>
                          <m:r>
                            <a:rPr lang="zh-CN" altLang="en-US" i="1">
                              <a:latin typeface="Cambria Math" panose="02040503050406030204" pitchFamily="18" charset="0"/>
                            </a:rPr>
                            <m:t>𝑗</m:t>
                          </m:r>
                        </m:e>
                      </m:d>
                    </m:oMath>
                  </m:oMathPara>
                </a14:m>
                <a:endParaRPr lang="zh-CN" altLang="en-US" dirty="0"/>
              </a:p>
            </p:txBody>
          </p:sp>
        </mc:Choice>
        <mc:Fallback xmlns="">
          <p:sp>
            <p:nvSpPr>
              <p:cNvPr id="45" name="文本框 44"/>
              <p:cNvSpPr txBox="1">
                <a:spLocks noRot="1" noChangeAspect="1" noMove="1" noResize="1" noEditPoints="1" noAdjustHandles="1" noChangeArrowheads="1" noChangeShapeType="1" noTextEdit="1"/>
              </p:cNvSpPr>
              <p:nvPr/>
            </p:nvSpPr>
            <p:spPr>
              <a:xfrm>
                <a:off x="2415119" y="5802071"/>
                <a:ext cx="4422271" cy="1037400"/>
              </a:xfrm>
              <a:prstGeom prst="rect">
                <a:avLst/>
              </a:prstGeom>
              <a:blipFill rotWithShape="1">
                <a:blip r:embed="rId14"/>
                <a:stretch>
                  <a:fillRect l="-5" t="-7" r="8" b="50"/>
                </a:stretch>
              </a:blipFill>
            </p:spPr>
            <p:txBody>
              <a:bodyPr/>
              <a:lstStyle/>
              <a:p>
                <a:r>
                  <a:rPr lang="zh-CN" altLang="en-US">
                    <a:noFill/>
                  </a:rPr>
                  <a:t> </a:t>
                </a:r>
              </a:p>
            </p:txBody>
          </p:sp>
        </mc:Fallback>
      </mc:AlternateContent>
      <p:sp>
        <p:nvSpPr>
          <p:cNvPr id="50" name="文本框 49"/>
          <p:cNvSpPr txBox="1"/>
          <p:nvPr/>
        </p:nvSpPr>
        <p:spPr>
          <a:xfrm>
            <a:off x="8091709" y="6113026"/>
            <a:ext cx="864096" cy="415490"/>
          </a:xfrm>
          <a:prstGeom prst="rect">
            <a:avLst/>
          </a:prstGeom>
          <a:noFill/>
        </p:spPr>
        <p:txBody>
          <a:bodyPr wrap="square">
            <a:spAutoFit/>
          </a:bodyPr>
          <a:lstStyle/>
          <a:p>
            <a:r>
              <a:rPr lang="en-US" altLang="zh-CN" dirty="0"/>
              <a:t>(4-22)</a:t>
            </a:r>
          </a:p>
        </p:txBody>
      </p:sp>
    </p:spTree>
  </p:cSld>
  <p:clrMapOvr>
    <a:masterClrMapping/>
  </p:clrMapOvr>
  <p:transition spd="slow" advClick="0" advTm="0">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4.6.5  </a:t>
            </a:r>
            <a:r>
              <a:rPr lang="zh-CN" altLang="en-US" sz="2100" b="1" dirty="0">
                <a:solidFill>
                  <a:schemeClr val="tx1">
                    <a:lumMod val="75000"/>
                    <a:lumOff val="25000"/>
                  </a:schemeClr>
                </a:solidFill>
                <a:latin typeface="微软雅黑" panose="020B0503020204020204" pitchFamily="34" charset="-122"/>
              </a:rPr>
              <a:t>图像插值的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4" name="文本框 13"/>
          <p:cNvSpPr txBox="1"/>
          <p:nvPr/>
        </p:nvSpPr>
        <p:spPr>
          <a:xfrm>
            <a:off x="396330" y="1201038"/>
            <a:ext cx="8352928" cy="1061829"/>
          </a:xfrm>
          <a:prstGeom prst="rect">
            <a:avLst/>
          </a:prstGeom>
          <a:noFill/>
        </p:spPr>
        <p:txBody>
          <a:bodyPr wrap="square">
            <a:spAutoFit/>
          </a:bodyPr>
          <a:lstStyle/>
          <a:p>
            <a:pPr indent="266700" algn="just"/>
            <a:r>
              <a:rPr lang="zh-CN" altLang="en-US" kern="100" dirty="0">
                <a:latin typeface="Times New Roman" panose="02020603050405020304" pitchFamily="18" charset="0"/>
              </a:rPr>
              <a:t>    使用</a:t>
            </a:r>
            <a:r>
              <a:rPr lang="en-US" altLang="zh-CN" kern="100" dirty="0">
                <a:latin typeface="Times New Roman" panose="02020603050405020304" pitchFamily="18" charset="0"/>
              </a:rPr>
              <a:t>OpenCV</a:t>
            </a:r>
            <a:r>
              <a:rPr lang="zh-CN" altLang="en-US" kern="100" dirty="0">
                <a:latin typeface="Times New Roman" panose="02020603050405020304" pitchFamily="18" charset="0"/>
              </a:rPr>
              <a:t>提供的</a:t>
            </a:r>
            <a:r>
              <a:rPr lang="en-US" altLang="zh-CN" kern="100" dirty="0">
                <a:latin typeface="Times New Roman" panose="02020603050405020304" pitchFamily="18" charset="0"/>
              </a:rPr>
              <a:t>cv2.resize()</a:t>
            </a:r>
            <a:r>
              <a:rPr lang="zh-CN" altLang="en-US" kern="100" dirty="0">
                <a:latin typeface="Times New Roman" panose="02020603050405020304" pitchFamily="18" charset="0"/>
              </a:rPr>
              <a:t>函数分别采用最近邻插值法、双线性插值法和双三次插值法实现对图像的放大操作。函数</a:t>
            </a:r>
            <a:r>
              <a:rPr lang="en-US" altLang="zh-CN" kern="100" dirty="0">
                <a:latin typeface="Times New Roman" panose="02020603050405020304" pitchFamily="18" charset="0"/>
              </a:rPr>
              <a:t>cv2.resize()</a:t>
            </a:r>
            <a:r>
              <a:rPr lang="zh-CN" altLang="en-US" kern="100" dirty="0">
                <a:latin typeface="Times New Roman" panose="02020603050405020304" pitchFamily="18" charset="0"/>
              </a:rPr>
              <a:t>的参数说明参考</a:t>
            </a:r>
            <a:r>
              <a:rPr lang="en-US" altLang="zh-CN" kern="100" dirty="0">
                <a:latin typeface="Times New Roman" panose="02020603050405020304" pitchFamily="18" charset="0"/>
              </a:rPr>
              <a:t>4.3</a:t>
            </a:r>
            <a:r>
              <a:rPr lang="zh-CN" altLang="en-US" kern="100" dirty="0">
                <a:latin typeface="Times New Roman" panose="02020603050405020304" pitchFamily="18" charset="0"/>
              </a:rPr>
              <a:t>小节图像的缩放。</a:t>
            </a:r>
            <a:endParaRPr lang="zh-CN" altLang="zh-CN" kern="100" dirty="0">
              <a:effectLst/>
              <a:latin typeface="Times New Roman" panose="02020603050405020304" pitchFamily="18" charset="0"/>
              <a:ea typeface="宋体" pitchFamily="2" charset="-122"/>
            </a:endParaRPr>
          </a:p>
        </p:txBody>
      </p:sp>
      <p:pic>
        <p:nvPicPr>
          <p:cNvPr id="31" name="图片 30"/>
          <p:cNvPicPr>
            <a:picLocks noChangeAspect="1"/>
          </p:cNvPicPr>
          <p:nvPr/>
        </p:nvPicPr>
        <p:blipFill>
          <a:blip r:embed="rId3"/>
          <a:srcRect l="2258" t="2276" r="1398" b="2495"/>
          <a:stretch>
            <a:fillRect/>
          </a:stretch>
        </p:blipFill>
        <p:spPr>
          <a:xfrm>
            <a:off x="1604039" y="2231358"/>
            <a:ext cx="1746885" cy="1712595"/>
          </a:xfrm>
          <a:prstGeom prst="rect">
            <a:avLst/>
          </a:prstGeom>
          <a:ln>
            <a:noFill/>
          </a:ln>
        </p:spPr>
      </p:pic>
      <p:pic>
        <p:nvPicPr>
          <p:cNvPr id="33" name="图片 32"/>
          <p:cNvPicPr>
            <a:picLocks noChangeAspect="1"/>
          </p:cNvPicPr>
          <p:nvPr/>
        </p:nvPicPr>
        <p:blipFill>
          <a:blip r:embed="rId4"/>
          <a:srcRect l="1985" t="2028" r="2087" b="2166"/>
          <a:stretch>
            <a:fillRect/>
          </a:stretch>
        </p:blipFill>
        <p:spPr>
          <a:xfrm>
            <a:off x="5292874" y="2231358"/>
            <a:ext cx="1730186" cy="1712595"/>
          </a:xfrm>
          <a:prstGeom prst="rect">
            <a:avLst/>
          </a:prstGeom>
          <a:ln>
            <a:noFill/>
          </a:ln>
        </p:spPr>
      </p:pic>
      <p:pic>
        <p:nvPicPr>
          <p:cNvPr id="35" name="图片 34"/>
          <p:cNvPicPr>
            <a:picLocks noChangeAspect="1"/>
          </p:cNvPicPr>
          <p:nvPr/>
        </p:nvPicPr>
        <p:blipFill>
          <a:blip r:embed="rId5"/>
          <a:srcRect l="1897" t="2523" r="1976" b="1558"/>
          <a:stretch>
            <a:fillRect/>
          </a:stretch>
        </p:blipFill>
        <p:spPr>
          <a:xfrm>
            <a:off x="1595949" y="4341310"/>
            <a:ext cx="1779544" cy="1761450"/>
          </a:xfrm>
          <a:prstGeom prst="rect">
            <a:avLst/>
          </a:prstGeom>
          <a:ln>
            <a:noFill/>
          </a:ln>
        </p:spPr>
      </p:pic>
      <p:pic>
        <p:nvPicPr>
          <p:cNvPr id="37" name="图片 36"/>
          <p:cNvPicPr>
            <a:picLocks noChangeAspect="1"/>
          </p:cNvPicPr>
          <p:nvPr/>
        </p:nvPicPr>
        <p:blipFill>
          <a:blip r:embed="rId6"/>
          <a:srcRect l="1896" t="969" r="1688" b="2078"/>
          <a:stretch>
            <a:fillRect/>
          </a:stretch>
        </p:blipFill>
        <p:spPr>
          <a:xfrm>
            <a:off x="5292874" y="4365737"/>
            <a:ext cx="1730187" cy="1712595"/>
          </a:xfrm>
          <a:prstGeom prst="rect">
            <a:avLst/>
          </a:prstGeom>
          <a:ln>
            <a:noFill/>
          </a:ln>
        </p:spPr>
      </p:pic>
      <p:sp>
        <p:nvSpPr>
          <p:cNvPr id="44" name="文本框 43"/>
          <p:cNvSpPr txBox="1"/>
          <p:nvPr/>
        </p:nvSpPr>
        <p:spPr>
          <a:xfrm>
            <a:off x="-40832" y="3985964"/>
            <a:ext cx="4589754" cy="338554"/>
          </a:xfrm>
          <a:prstGeom prst="rect">
            <a:avLst/>
          </a:prstGeom>
          <a:noFill/>
        </p:spPr>
        <p:txBody>
          <a:bodyPr wrap="square">
            <a:spAutoFit/>
          </a:bodyPr>
          <a:lstStyle/>
          <a:p>
            <a:pPr indent="266700" algn="ctr"/>
            <a:r>
              <a:rPr lang="en-US" altLang="zh-CN" sz="1600" b="1" kern="0" dirty="0">
                <a:latin typeface="黑体" panose="02010609060101010101" pitchFamily="49" charset="-122"/>
                <a:ea typeface="黑体" panose="02010609060101010101" pitchFamily="49" charset="-122"/>
              </a:rPr>
              <a:t>(a) </a:t>
            </a:r>
            <a:r>
              <a:rPr lang="zh-CN" altLang="en-US" sz="1600" b="1" kern="0" dirty="0">
                <a:latin typeface="黑体" panose="02010609060101010101" pitchFamily="49" charset="-122"/>
                <a:ea typeface="黑体" panose="02010609060101010101" pitchFamily="49" charset="-122"/>
              </a:rPr>
              <a:t>原始图像</a:t>
            </a:r>
          </a:p>
        </p:txBody>
      </p:sp>
      <p:sp>
        <p:nvSpPr>
          <p:cNvPr id="51" name="文本框 50"/>
          <p:cNvSpPr txBox="1"/>
          <p:nvPr/>
        </p:nvSpPr>
        <p:spPr>
          <a:xfrm>
            <a:off x="3791362" y="3989109"/>
            <a:ext cx="4589754" cy="338554"/>
          </a:xfrm>
          <a:prstGeom prst="rect">
            <a:avLst/>
          </a:prstGeom>
          <a:noFill/>
        </p:spPr>
        <p:txBody>
          <a:bodyPr wrap="square">
            <a:spAutoFit/>
          </a:bodyPr>
          <a:lstStyle/>
          <a:p>
            <a:pPr indent="266700" algn="ctr"/>
            <a:r>
              <a:rPr lang="en-US" altLang="zh-CN" sz="1600" b="1" kern="0" dirty="0">
                <a:latin typeface="黑体" panose="02010609060101010101" pitchFamily="49" charset="-122"/>
                <a:ea typeface="黑体" panose="02010609060101010101" pitchFamily="49" charset="-122"/>
              </a:rPr>
              <a:t>(b) </a:t>
            </a:r>
            <a:r>
              <a:rPr lang="zh-CN" altLang="en-US" sz="1600" b="1" kern="0" dirty="0">
                <a:latin typeface="黑体" panose="02010609060101010101" pitchFamily="49" charset="-122"/>
                <a:ea typeface="黑体" panose="02010609060101010101" pitchFamily="49" charset="-122"/>
              </a:rPr>
              <a:t>最近邻插值法放大图像</a:t>
            </a:r>
          </a:p>
        </p:txBody>
      </p:sp>
      <p:sp>
        <p:nvSpPr>
          <p:cNvPr id="52" name="文本框 51"/>
          <p:cNvSpPr txBox="1"/>
          <p:nvPr/>
        </p:nvSpPr>
        <p:spPr>
          <a:xfrm>
            <a:off x="36501" y="6119552"/>
            <a:ext cx="4589754" cy="338554"/>
          </a:xfrm>
          <a:prstGeom prst="rect">
            <a:avLst/>
          </a:prstGeom>
          <a:noFill/>
        </p:spPr>
        <p:txBody>
          <a:bodyPr wrap="square">
            <a:spAutoFit/>
          </a:bodyPr>
          <a:lstStyle/>
          <a:p>
            <a:pPr indent="266700" algn="ctr"/>
            <a:r>
              <a:rPr lang="en-US" altLang="zh-CN" sz="1600" b="1" kern="0" dirty="0">
                <a:latin typeface="黑体" panose="02010609060101010101" pitchFamily="49" charset="-122"/>
                <a:ea typeface="黑体" panose="02010609060101010101" pitchFamily="49" charset="-122"/>
              </a:rPr>
              <a:t>(c) </a:t>
            </a:r>
            <a:r>
              <a:rPr lang="zh-CN" altLang="en-US" sz="1600" b="1" kern="0" dirty="0">
                <a:latin typeface="黑体" panose="02010609060101010101" pitchFamily="49" charset="-122"/>
                <a:ea typeface="黑体" panose="02010609060101010101" pitchFamily="49" charset="-122"/>
              </a:rPr>
              <a:t>双线性插值法放大图像</a:t>
            </a:r>
          </a:p>
        </p:txBody>
      </p:sp>
      <p:sp>
        <p:nvSpPr>
          <p:cNvPr id="53" name="文本框 52"/>
          <p:cNvSpPr txBox="1"/>
          <p:nvPr/>
        </p:nvSpPr>
        <p:spPr>
          <a:xfrm>
            <a:off x="3791362" y="6119552"/>
            <a:ext cx="4589754" cy="338554"/>
          </a:xfrm>
          <a:prstGeom prst="rect">
            <a:avLst/>
          </a:prstGeom>
          <a:noFill/>
        </p:spPr>
        <p:txBody>
          <a:bodyPr wrap="square">
            <a:spAutoFit/>
          </a:bodyPr>
          <a:lstStyle/>
          <a:p>
            <a:pPr indent="266700" algn="ctr"/>
            <a:r>
              <a:rPr lang="en-US" altLang="zh-CN" sz="1600" b="1" kern="0" dirty="0">
                <a:latin typeface="黑体" panose="02010609060101010101" pitchFamily="49" charset="-122"/>
                <a:ea typeface="黑体" panose="02010609060101010101" pitchFamily="49" charset="-122"/>
              </a:rPr>
              <a:t>(d) </a:t>
            </a:r>
            <a:r>
              <a:rPr lang="zh-CN" altLang="en-US" sz="1600" b="1" kern="0" dirty="0">
                <a:latin typeface="黑体" panose="02010609060101010101" pitchFamily="49" charset="-122"/>
                <a:ea typeface="黑体" panose="02010609060101010101" pitchFamily="49" charset="-122"/>
              </a:rPr>
              <a:t>双三次插值法放大图像</a:t>
            </a:r>
          </a:p>
        </p:txBody>
      </p:sp>
      <p:sp>
        <p:nvSpPr>
          <p:cNvPr id="54" name="文本框 53"/>
          <p:cNvSpPr txBox="1"/>
          <p:nvPr/>
        </p:nvSpPr>
        <p:spPr>
          <a:xfrm>
            <a:off x="2916610" y="6477973"/>
            <a:ext cx="2955764" cy="338554"/>
          </a:xfrm>
          <a:prstGeom prst="rect">
            <a:avLst/>
          </a:prstGeom>
          <a:noFill/>
        </p:spPr>
        <p:txBody>
          <a:bodyPr wrap="square">
            <a:spAutoFit/>
          </a:bodyPr>
          <a:lstStyle/>
          <a:p>
            <a:r>
              <a:rPr lang="zh-CN" altLang="en-US" sz="1600" b="1" kern="0" dirty="0">
                <a:latin typeface="黑体" panose="02010609060101010101" pitchFamily="49" charset="-122"/>
                <a:ea typeface="黑体" panose="02010609060101010101" pitchFamily="49" charset="-122"/>
              </a:rPr>
              <a:t>图</a:t>
            </a:r>
            <a:r>
              <a:rPr lang="en-US" altLang="zh-CN" sz="1600" b="1" kern="0" dirty="0">
                <a:latin typeface="黑体" panose="02010609060101010101" pitchFamily="49" charset="-122"/>
                <a:ea typeface="黑体" panose="02010609060101010101" pitchFamily="49" charset="-122"/>
              </a:rPr>
              <a:t>4.16  </a:t>
            </a:r>
            <a:r>
              <a:rPr lang="zh-CN" altLang="en-US" sz="1600" b="1" kern="0" dirty="0">
                <a:latin typeface="黑体" panose="02010609060101010101" pitchFamily="49" charset="-122"/>
                <a:ea typeface="黑体" panose="02010609060101010101" pitchFamily="49" charset="-122"/>
              </a:rPr>
              <a:t>插值方法放大效果图</a:t>
            </a:r>
          </a:p>
        </p:txBody>
      </p:sp>
    </p:spTree>
  </p:cSld>
  <p:clrMapOvr>
    <a:masterClrMapping/>
  </p:clrMapOvr>
  <p:transition spd="slow" advClick="0" advTm="0">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4.6.5  </a:t>
            </a:r>
            <a:r>
              <a:rPr lang="zh-CN" altLang="en-US" sz="2100" b="1" dirty="0">
                <a:solidFill>
                  <a:schemeClr val="tx1">
                    <a:lumMod val="75000"/>
                    <a:lumOff val="25000"/>
                  </a:schemeClr>
                </a:solidFill>
                <a:latin typeface="微软雅黑" panose="020B0503020204020204" pitchFamily="34" charset="-122"/>
              </a:rPr>
              <a:t>图像插值的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8" name="文本框 17"/>
          <p:cNvSpPr txBox="1"/>
          <p:nvPr/>
        </p:nvSpPr>
        <p:spPr>
          <a:xfrm>
            <a:off x="396330" y="1163899"/>
            <a:ext cx="8030237" cy="461664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分别采用最近邻插值法、双线性插值法和双三次插值法对图像进行放大变换，相应的代码如下：</a:t>
            </a:r>
          </a:p>
          <a:p>
            <a:pPr indent="266700" algn="just"/>
            <a:r>
              <a:rPr lang="en-US" altLang="zh-CN" sz="1800" kern="100" dirty="0">
                <a:solidFill>
                  <a:srgbClr val="000000"/>
                </a:solidFill>
                <a:effectLst/>
                <a:latin typeface="Times New Roman" panose="02020603050405020304" pitchFamily="18" charset="0"/>
                <a:ea typeface="宋体" pitchFamily="2" charset="-122"/>
              </a:rPr>
              <a:t>import cv2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 cv2.imread('D:\ lena.jpg',1) 	#</a:t>
            </a:r>
            <a:r>
              <a:rPr lang="zh-CN" altLang="zh-CN" sz="1800" kern="100" dirty="0">
                <a:solidFill>
                  <a:srgbClr val="000000"/>
                </a:solidFill>
                <a:effectLst/>
                <a:latin typeface="Times New Roman" panose="02020603050405020304" pitchFamily="18" charset="0"/>
                <a:ea typeface="宋体" pitchFamily="2" charset="-122"/>
              </a:rPr>
              <a:t>读取原始图像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最近邻插值法放大图像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dst1 = cv2.resize(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None, </a:t>
            </a:r>
            <a:r>
              <a:rPr lang="en-US" altLang="zh-CN" sz="1800" kern="100" dirty="0" err="1">
                <a:solidFill>
                  <a:srgbClr val="000000"/>
                </a:solidFill>
                <a:effectLst/>
                <a:latin typeface="Times New Roman" panose="02020603050405020304" pitchFamily="18" charset="0"/>
                <a:ea typeface="宋体" pitchFamily="2" charset="-122"/>
              </a:rPr>
              <a:t>fx</a:t>
            </a:r>
            <a:r>
              <a:rPr lang="en-US" altLang="zh-CN" sz="1800" kern="100" dirty="0">
                <a:solidFill>
                  <a:srgbClr val="000000"/>
                </a:solidFill>
                <a:effectLst/>
                <a:latin typeface="Times New Roman" panose="02020603050405020304" pitchFamily="18" charset="0"/>
                <a:ea typeface="宋体" pitchFamily="2" charset="-122"/>
              </a:rPr>
              <a:t>=1.2, </a:t>
            </a:r>
            <a:r>
              <a:rPr lang="en-US" altLang="zh-CN" sz="1800" kern="100" dirty="0" err="1">
                <a:solidFill>
                  <a:srgbClr val="000000"/>
                </a:solidFill>
                <a:effectLst/>
                <a:latin typeface="Times New Roman" panose="02020603050405020304" pitchFamily="18" charset="0"/>
                <a:ea typeface="宋体" pitchFamily="2" charset="-122"/>
              </a:rPr>
              <a:t>fy</a:t>
            </a:r>
            <a:r>
              <a:rPr lang="en-US" altLang="zh-CN" sz="1800" kern="100" dirty="0">
                <a:solidFill>
                  <a:srgbClr val="000000"/>
                </a:solidFill>
                <a:effectLst/>
                <a:latin typeface="Times New Roman" panose="02020603050405020304" pitchFamily="18" charset="0"/>
                <a:ea typeface="宋体" pitchFamily="2" charset="-122"/>
              </a:rPr>
              <a:t>=1.2, interpolation=cv2.INTER_NEAREST)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双线性插值法放大图像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dst2 = cv2.resize(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None, </a:t>
            </a:r>
            <a:r>
              <a:rPr lang="en-US" altLang="zh-CN" sz="1800" kern="100" dirty="0" err="1">
                <a:solidFill>
                  <a:srgbClr val="000000"/>
                </a:solidFill>
                <a:effectLst/>
                <a:latin typeface="Times New Roman" panose="02020603050405020304" pitchFamily="18" charset="0"/>
                <a:ea typeface="宋体" pitchFamily="2" charset="-122"/>
              </a:rPr>
              <a:t>fx</a:t>
            </a:r>
            <a:r>
              <a:rPr lang="en-US" altLang="zh-CN" sz="1800" kern="100" dirty="0">
                <a:solidFill>
                  <a:srgbClr val="000000"/>
                </a:solidFill>
                <a:effectLst/>
                <a:latin typeface="Times New Roman" panose="02020603050405020304" pitchFamily="18" charset="0"/>
                <a:ea typeface="宋体" pitchFamily="2" charset="-122"/>
              </a:rPr>
              <a:t>=1.2, </a:t>
            </a:r>
            <a:r>
              <a:rPr lang="en-US" altLang="zh-CN" sz="1800" kern="100" dirty="0" err="1">
                <a:solidFill>
                  <a:srgbClr val="000000"/>
                </a:solidFill>
                <a:effectLst/>
                <a:latin typeface="Times New Roman" panose="02020603050405020304" pitchFamily="18" charset="0"/>
                <a:ea typeface="宋体" pitchFamily="2" charset="-122"/>
              </a:rPr>
              <a:t>fy</a:t>
            </a:r>
            <a:r>
              <a:rPr lang="en-US" altLang="zh-CN" sz="1800" kern="100" dirty="0">
                <a:solidFill>
                  <a:srgbClr val="000000"/>
                </a:solidFill>
                <a:effectLst/>
                <a:latin typeface="Times New Roman" panose="02020603050405020304" pitchFamily="18" charset="0"/>
                <a:ea typeface="宋体" pitchFamily="2" charset="-122"/>
              </a:rPr>
              <a:t>=1.2, interpolation=cv2.INTER_LINEAR)</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双三次插值法放大图像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dst3 = cv2.resize(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None, </a:t>
            </a:r>
            <a:r>
              <a:rPr lang="en-US" altLang="zh-CN" sz="1800" kern="100" dirty="0" err="1">
                <a:solidFill>
                  <a:srgbClr val="000000"/>
                </a:solidFill>
                <a:effectLst/>
                <a:latin typeface="Times New Roman" panose="02020603050405020304" pitchFamily="18" charset="0"/>
                <a:ea typeface="宋体" pitchFamily="2" charset="-122"/>
              </a:rPr>
              <a:t>fx</a:t>
            </a:r>
            <a:r>
              <a:rPr lang="en-US" altLang="zh-CN" sz="1800" kern="100" dirty="0">
                <a:solidFill>
                  <a:srgbClr val="000000"/>
                </a:solidFill>
                <a:effectLst/>
                <a:latin typeface="Times New Roman" panose="02020603050405020304" pitchFamily="18" charset="0"/>
                <a:ea typeface="宋体" pitchFamily="2" charset="-122"/>
              </a:rPr>
              <a:t>=1.2, </a:t>
            </a:r>
            <a:r>
              <a:rPr lang="en-US" altLang="zh-CN" sz="1800" kern="100" dirty="0" err="1">
                <a:solidFill>
                  <a:srgbClr val="000000"/>
                </a:solidFill>
                <a:effectLst/>
                <a:latin typeface="Times New Roman" panose="02020603050405020304" pitchFamily="18" charset="0"/>
                <a:ea typeface="宋体" pitchFamily="2" charset="-122"/>
              </a:rPr>
              <a:t>fy</a:t>
            </a:r>
            <a:r>
              <a:rPr lang="en-US" altLang="zh-CN" sz="1800" kern="100" dirty="0">
                <a:solidFill>
                  <a:srgbClr val="000000"/>
                </a:solidFill>
                <a:effectLst/>
                <a:latin typeface="Times New Roman" panose="02020603050405020304" pitchFamily="18" charset="0"/>
                <a:ea typeface="宋体" pitchFamily="2" charset="-122"/>
              </a:rPr>
              <a:t>=1.2, interpolation=cv2.INTER_CUBIC)</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a:t>
            </a:r>
            <a:r>
              <a:rPr lang="en-US" altLang="zh-CN" sz="1800" kern="100" dirty="0" err="1">
                <a:solidFill>
                  <a:srgbClr val="000000"/>
                </a:solidFill>
                <a:effectLst/>
                <a:latin typeface="Times New Roman" panose="02020603050405020304" pitchFamily="18" charset="0"/>
                <a:ea typeface="宋体" pitchFamily="2" charset="-122"/>
              </a:rPr>
              <a:t>origin_picture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输出原始图像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cv2.imshow('new1', dst1) 		#</a:t>
            </a:r>
            <a:r>
              <a:rPr lang="zh-CN" altLang="zh-CN" sz="1800" kern="100" dirty="0">
                <a:solidFill>
                  <a:srgbClr val="000000"/>
                </a:solidFill>
                <a:effectLst/>
                <a:latin typeface="Times New Roman" panose="02020603050405020304" pitchFamily="18" charset="0"/>
                <a:ea typeface="宋体" pitchFamily="2" charset="-122"/>
              </a:rPr>
              <a:t>输出最近邻插值法放大图像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cv2.imshow('new2', dst2)		#</a:t>
            </a:r>
            <a:r>
              <a:rPr lang="zh-CN" altLang="zh-CN" sz="1800" kern="100" dirty="0">
                <a:solidFill>
                  <a:srgbClr val="000000"/>
                </a:solidFill>
                <a:effectLst/>
                <a:latin typeface="Times New Roman" panose="02020603050405020304" pitchFamily="18" charset="0"/>
                <a:ea typeface="宋体" pitchFamily="2" charset="-122"/>
              </a:rPr>
              <a:t>输出双线性插值法放大图像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cv2.imshow('new3', dst3)		#</a:t>
            </a:r>
            <a:r>
              <a:rPr lang="zh-CN" altLang="zh-CN" sz="1800" kern="100" dirty="0">
                <a:solidFill>
                  <a:srgbClr val="000000"/>
                </a:solidFill>
                <a:effectLst/>
                <a:latin typeface="Times New Roman" panose="02020603050405020304" pitchFamily="18" charset="0"/>
                <a:ea typeface="宋体" pitchFamily="2" charset="-122"/>
              </a:rPr>
              <a:t>输出三线次插值法放大图像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 </a:t>
            </a:r>
            <a:endParaRPr lang="zh-CN" altLang="zh-CN" sz="1800" kern="100" dirty="0">
              <a:effectLst/>
              <a:latin typeface="Times New Roman" panose="02020603050405020304" pitchFamily="18" charset="0"/>
              <a:ea typeface="宋体" pitchFamily="2" charset="-122"/>
            </a:endParaRPr>
          </a:p>
        </p:txBody>
      </p:sp>
      <p:sp>
        <p:nvSpPr>
          <p:cNvPr id="20" name="文本框 19"/>
          <p:cNvSpPr txBox="1"/>
          <p:nvPr/>
        </p:nvSpPr>
        <p:spPr>
          <a:xfrm>
            <a:off x="432334" y="5780547"/>
            <a:ext cx="8316924" cy="1079041"/>
          </a:xfrm>
          <a:prstGeom prst="rect">
            <a:avLst/>
          </a:prstGeom>
          <a:noFill/>
        </p:spPr>
        <p:txBody>
          <a:bodyPr wrap="square">
            <a:spAutoFit/>
          </a:bodyPr>
          <a:lstStyle/>
          <a:p>
            <a:r>
              <a:rPr lang="en-US" altLang="zh-CN" kern="100" dirty="0">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先通过函数</a:t>
            </a:r>
            <a:r>
              <a:rPr lang="en-US" altLang="zh-CN" kern="100" dirty="0">
                <a:effectLst/>
                <a:latin typeface="Times New Roman" panose="02020603050405020304" pitchFamily="18" charset="0"/>
                <a:ea typeface="宋体" pitchFamily="2" charset="-122"/>
              </a:rPr>
              <a:t>cv2.imread()</a:t>
            </a:r>
            <a:r>
              <a:rPr lang="zh-CN" altLang="zh-CN" kern="100" dirty="0">
                <a:effectLst/>
                <a:latin typeface="Times New Roman" panose="02020603050405020304" pitchFamily="18" charset="0"/>
                <a:ea typeface="宋体" pitchFamily="2" charset="-122"/>
                <a:cs typeface="Times New Roman" panose="02020603050405020304" pitchFamily="18" charset="0"/>
              </a:rPr>
              <a:t>对原始图像</a:t>
            </a:r>
            <a:r>
              <a:rPr lang="en-US" altLang="zh-CN" kern="100" dirty="0">
                <a:effectLst/>
                <a:latin typeface="Times New Roman" panose="02020603050405020304" pitchFamily="18" charset="0"/>
                <a:ea typeface="宋体" pitchFamily="2" charset="-122"/>
              </a:rPr>
              <a:t>4.16 (a)</a:t>
            </a:r>
            <a:r>
              <a:rPr lang="zh-CN" altLang="zh-CN" kern="100" dirty="0">
                <a:effectLst/>
                <a:latin typeface="Times New Roman" panose="02020603050405020304" pitchFamily="18" charset="0"/>
                <a:ea typeface="宋体" pitchFamily="2" charset="-122"/>
                <a:cs typeface="Times New Roman" panose="02020603050405020304" pitchFamily="18" charset="0"/>
              </a:rPr>
              <a:t>进行读取，然后分别采用最近邻插值法、双线性插值法和双三次插值法对该图像进行放大变换。</a:t>
            </a:r>
            <a:endParaRPr lang="zh-CN" altLang="en-US" dirty="0"/>
          </a:p>
        </p:txBody>
      </p:sp>
    </p:spTree>
  </p:cSld>
  <p:clrMapOvr>
    <a:masterClrMapping/>
  </p:clrMapOvr>
  <p:transition spd="slow" advClick="0" advTm="0">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  </a:t>
            </a:r>
            <a:r>
              <a:rPr lang="zh-CN" altLang="en-US" sz="2100" b="1" dirty="0">
                <a:solidFill>
                  <a:schemeClr val="tx1">
                    <a:lumMod val="75000"/>
                    <a:lumOff val="25000"/>
                  </a:schemeClr>
                </a:solidFill>
                <a:latin typeface="微软雅黑" panose="020B0503020204020204" pitchFamily="34" charset="-122"/>
              </a:rPr>
              <a:t>图像的配准</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2" name="文本框 1"/>
          <p:cNvSpPr txBox="1"/>
          <p:nvPr/>
        </p:nvSpPr>
        <p:spPr>
          <a:xfrm>
            <a:off x="540346" y="1184516"/>
            <a:ext cx="7560840" cy="415498"/>
          </a:xfrm>
          <a:prstGeom prst="rect">
            <a:avLst/>
          </a:prstGeom>
          <a:noFill/>
        </p:spPr>
        <p:txBody>
          <a:bodyPr wrap="square" rtlCol="0">
            <a:spAutoFit/>
          </a:bodyPr>
          <a:lstStyle/>
          <a:p>
            <a:pPr algn="just">
              <a:spcBef>
                <a:spcPts val="1200"/>
              </a:spcBef>
              <a:spcAft>
                <a:spcPts val="600"/>
              </a:spcAft>
            </a:pPr>
            <a:r>
              <a:rPr lang="en-US" altLang="zh-CN" b="1" kern="100" dirty="0">
                <a:effectLst/>
                <a:latin typeface="Arial" panose="020B0604020202090204" pitchFamily="34" charset="0"/>
                <a:ea typeface="宋体" pitchFamily="2" charset="-122"/>
                <a:cs typeface="Times New Roman" panose="02020603050405020304" pitchFamily="18" charset="0"/>
              </a:rPr>
              <a:t>4.7.1  </a:t>
            </a:r>
            <a:r>
              <a:rPr lang="zh-CN" altLang="zh-CN" b="1" kern="100" dirty="0">
                <a:effectLst/>
                <a:latin typeface="Arial" panose="020B0604020202090204" pitchFamily="34" charset="0"/>
                <a:ea typeface="宋体" pitchFamily="2" charset="-122"/>
                <a:cs typeface="Times New Roman" panose="02020603050405020304" pitchFamily="18" charset="0"/>
              </a:rPr>
              <a:t>图像配准的基本原理</a:t>
            </a:r>
          </a:p>
        </p:txBody>
      </p:sp>
      <p:sp>
        <p:nvSpPr>
          <p:cNvPr id="6" name="文本框 5"/>
          <p:cNvSpPr txBox="1"/>
          <p:nvPr/>
        </p:nvSpPr>
        <p:spPr>
          <a:xfrm>
            <a:off x="612354" y="1687988"/>
            <a:ext cx="8136904" cy="1708160"/>
          </a:xfrm>
          <a:prstGeom prst="rect">
            <a:avLst/>
          </a:prstGeom>
          <a:noFill/>
        </p:spPr>
        <p:txBody>
          <a:bodyPr wrap="square" rtlCol="0">
            <a:spAutoFit/>
          </a:bodyPr>
          <a:lstStyle/>
          <a:p>
            <a:r>
              <a:rPr lang="zh-CN" altLang="en-US" dirty="0"/>
              <a:t>        图像配准是图像处理领域的一个典型问题和技术难点，其目的在于比较或融合针对同一对象在不同条件下获取的图像。具体地说，对于一组图像中的两幅图像，通过寻找一种空间变换，把一幅图像映射到另一幅图像，使得两幅图像在空间中处于同一位置的点可以一一对应，达到信息融合的目的。</a:t>
            </a:r>
          </a:p>
        </p:txBody>
      </p:sp>
      <p:pic>
        <p:nvPicPr>
          <p:cNvPr id="4" name="图片 3"/>
          <p:cNvPicPr>
            <a:picLocks noChangeAspect="1"/>
          </p:cNvPicPr>
          <p:nvPr/>
        </p:nvPicPr>
        <p:blipFill>
          <a:blip r:embed="rId3"/>
          <a:stretch>
            <a:fillRect/>
          </a:stretch>
        </p:blipFill>
        <p:spPr>
          <a:xfrm>
            <a:off x="2592574" y="3463441"/>
            <a:ext cx="3456384" cy="2729574"/>
          </a:xfrm>
          <a:prstGeom prst="rect">
            <a:avLst/>
          </a:prstGeom>
        </p:spPr>
      </p:pic>
    </p:spTree>
  </p:cSld>
  <p:clrMapOvr>
    <a:masterClrMapping/>
  </p:clrMapOvr>
  <p:transition spd="slow" advClick="0" advTm="0">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4.7.1  </a:t>
            </a:r>
            <a:r>
              <a:rPr lang="zh-CN" altLang="en-US" sz="2100" b="1" dirty="0">
                <a:solidFill>
                  <a:schemeClr val="tx1">
                    <a:lumMod val="75000"/>
                    <a:lumOff val="25000"/>
                  </a:schemeClr>
                </a:solidFill>
                <a:latin typeface="微软雅黑" panose="020B0503020204020204" pitchFamily="34" charset="-122"/>
              </a:rPr>
              <a:t>图像配准的基本原理</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mc:AlternateContent xmlns:mc="http://schemas.openxmlformats.org/markup-compatibility/2006" xmlns:a14="http://schemas.microsoft.com/office/drawing/2010/main">
        <mc:Choice Requires="a14">
          <p:sp>
            <p:nvSpPr>
              <p:cNvPr id="13" name="文本框 12"/>
              <p:cNvSpPr txBox="1"/>
              <p:nvPr/>
            </p:nvSpPr>
            <p:spPr>
              <a:xfrm>
                <a:off x="590260" y="1208555"/>
                <a:ext cx="7965067" cy="1419554"/>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图像配准的核心是一个</a:t>
                </a:r>
                <a14:m>
                  <m:oMath xmlns:m="http://schemas.openxmlformats.org/officeDocument/2006/math">
                    <m:r>
                      <a:rPr lang="en-US" altLang="zh-CN" i="1" kern="100">
                        <a:effectLst/>
                        <a:latin typeface="Cambria Math" panose="02040503050406030204" pitchFamily="18" charset="0"/>
                        <a:ea typeface="宋体" pitchFamily="2" charset="-122"/>
                      </a:rPr>
                      <m:t>3×3</m:t>
                    </m:r>
                  </m:oMath>
                </a14:m>
                <a:r>
                  <a:rPr lang="zh-CN" altLang="zh-CN" kern="100" dirty="0">
                    <a:effectLst/>
                    <a:latin typeface="Times New Roman" panose="02020603050405020304" pitchFamily="18" charset="0"/>
                    <a:ea typeface="宋体" pitchFamily="2" charset="-122"/>
                  </a:rPr>
                  <a:t>的矩阵</a:t>
                </a:r>
                <a:r>
                  <a:rPr lang="en-US" altLang="zh-CN" kern="100" dirty="0">
                    <a:effectLst/>
                    <a:latin typeface="Times New Roman" panose="02020603050405020304" pitchFamily="18" charset="0"/>
                    <a:ea typeface="宋体" pitchFamily="2" charset="-122"/>
                  </a:rPr>
                  <a:t>H</a:t>
                </a:r>
                <a:r>
                  <a:rPr lang="zh-CN" altLang="zh-CN" kern="100" dirty="0">
                    <a:effectLst/>
                    <a:latin typeface="Times New Roman" panose="02020603050405020304" pitchFamily="18" charset="0"/>
                    <a:ea typeface="宋体" pitchFamily="2" charset="-122"/>
                  </a:rPr>
                  <a:t>，如</a:t>
                </a:r>
                <a:r>
                  <a:rPr lang="en-US" altLang="zh-CN" kern="100" dirty="0">
                    <a:effectLst/>
                    <a:latin typeface="Times New Roman" panose="02020603050405020304" pitchFamily="18" charset="0"/>
                    <a:ea typeface="宋体" pitchFamily="2" charset="-122"/>
                  </a:rPr>
                  <a:t> (4-23)</a:t>
                </a:r>
                <a:r>
                  <a:rPr lang="zh-CN" altLang="zh-CN" kern="100" dirty="0">
                    <a:effectLst/>
                    <a:latin typeface="Times New Roman" panose="02020603050405020304" pitchFamily="18" charset="0"/>
                    <a:ea typeface="宋体" pitchFamily="2" charset="-122"/>
                  </a:rPr>
                  <a:t>所示。假设</a:t>
                </a:r>
                <a:r>
                  <a:rPr lang="en-US" altLang="zh-CN" kern="100" dirty="0">
                    <a:effectLst/>
                    <a:latin typeface="Times New Roman" panose="02020603050405020304" pitchFamily="18" charset="0"/>
                    <a:ea typeface="宋体" pitchFamily="2" charset="-122"/>
                  </a:rPr>
                  <a:t>(x, y)</a:t>
                </a:r>
                <a:r>
                  <a:rPr lang="zh-CN" altLang="zh-CN" kern="100" dirty="0">
                    <a:effectLst/>
                    <a:latin typeface="Times New Roman" panose="02020603050405020304" pitchFamily="18" charset="0"/>
                    <a:ea typeface="宋体" pitchFamily="2" charset="-122"/>
                  </a:rPr>
                  <a:t>是源图像中任一特征像素点的坐标，</a:t>
                </a:r>
                <a14:m>
                  <m:oMath xmlns:m="http://schemas.openxmlformats.org/officeDocument/2006/math">
                    <m:r>
                      <a:rPr lang="en-US" altLang="zh-CN" i="1" kern="100">
                        <a:effectLst/>
                        <a:latin typeface="Cambria Math" panose="02040503050406030204" pitchFamily="18" charset="0"/>
                        <a:ea typeface="宋体" pitchFamily="2" charset="-122"/>
                      </a:rPr>
                      <m:t>(</m:t>
                    </m:r>
                    <m:sSup>
                      <m:sSupPr>
                        <m:ctrlPr>
                          <a:rPr lang="zh-CN" altLang="zh-CN" i="1" kern="100">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rPr>
                          <m:t>𝑥</m:t>
                        </m:r>
                      </m:e>
                      <m:sup>
                        <m:r>
                          <a:rPr lang="en-US" altLang="zh-CN" i="1" kern="100">
                            <a:effectLst/>
                            <a:latin typeface="Cambria Math" panose="02040503050406030204" pitchFamily="18" charset="0"/>
                            <a:ea typeface="宋体" pitchFamily="2" charset="-122"/>
                          </a:rPr>
                          <m:t>′</m:t>
                        </m:r>
                      </m:sup>
                    </m:sSup>
                    <m:r>
                      <a:rPr lang="en-US" altLang="zh-CN" i="1" kern="100">
                        <a:effectLst/>
                        <a:latin typeface="Cambria Math" panose="02040503050406030204" pitchFamily="18" charset="0"/>
                        <a:ea typeface="宋体" pitchFamily="2" charset="-122"/>
                      </a:rPr>
                      <m:t>,</m:t>
                    </m:r>
                    <m:sSup>
                      <m:sSupPr>
                        <m:ctrlPr>
                          <a:rPr lang="zh-CN" altLang="zh-CN" i="1" kern="100">
                            <a:effectLst/>
                            <a:latin typeface="Cambria Math" panose="02040503050406030204" pitchFamily="18" charset="0"/>
                            <a:ea typeface="Cambria Math" panose="02040503050406030204" pitchFamily="18" charset="0"/>
                          </a:rPr>
                        </m:ctrlPr>
                      </m:sSupPr>
                      <m:e>
                        <m:r>
                          <a:rPr lang="en-US" altLang="zh-CN" i="1" kern="100">
                            <a:effectLst/>
                            <a:latin typeface="Cambria Math" panose="02040503050406030204" pitchFamily="18" charset="0"/>
                            <a:ea typeface="宋体" pitchFamily="2" charset="-122"/>
                          </a:rPr>
                          <m:t>𝑦</m:t>
                        </m:r>
                      </m:e>
                      <m:sup>
                        <m:r>
                          <a:rPr lang="en-US" altLang="zh-CN" i="1" kern="100">
                            <a:effectLst/>
                            <a:latin typeface="Cambria Math" panose="02040503050406030204" pitchFamily="18" charset="0"/>
                            <a:ea typeface="宋体" pitchFamily="2" charset="-122"/>
                          </a:rPr>
                          <m:t>′</m:t>
                        </m:r>
                      </m:sup>
                    </m:sSup>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是目标图像中相应特征像素点的坐标，通过单应矩阵</a:t>
                </a:r>
                <a:r>
                  <a:rPr lang="en-US" altLang="zh-CN" kern="100" dirty="0">
                    <a:effectLst/>
                    <a:latin typeface="Times New Roman" panose="02020603050405020304" pitchFamily="18" charset="0"/>
                    <a:ea typeface="宋体" pitchFamily="2" charset="-122"/>
                  </a:rPr>
                  <a:t>H</a:t>
                </a:r>
                <a:r>
                  <a:rPr lang="zh-CN" altLang="zh-CN" kern="100" dirty="0">
                    <a:effectLst/>
                    <a:latin typeface="Times New Roman" panose="02020603050405020304" pitchFamily="18" charset="0"/>
                    <a:ea typeface="宋体" pitchFamily="2" charset="-122"/>
                  </a:rPr>
                  <a:t>实现两幅图像中特征像素点间的坐标变换以及两幅图像的配准，如公式</a:t>
                </a:r>
                <a:r>
                  <a:rPr lang="en-US" altLang="zh-CN" kern="100" dirty="0">
                    <a:effectLst/>
                    <a:latin typeface="Times New Roman" panose="02020603050405020304" pitchFamily="18" charset="0"/>
                    <a:ea typeface="宋体" pitchFamily="2" charset="-122"/>
                  </a:rPr>
                  <a:t> (4-24)</a:t>
                </a:r>
                <a:r>
                  <a:rPr lang="zh-CN" altLang="zh-CN" kern="100" dirty="0">
                    <a:effectLst/>
                    <a:latin typeface="Times New Roman" panose="02020603050405020304" pitchFamily="18" charset="0"/>
                    <a:ea typeface="宋体" pitchFamily="2" charset="-122"/>
                  </a:rPr>
                  <a:t>所示。</a:t>
                </a:r>
              </a:p>
            </p:txBody>
          </p:sp>
        </mc:Choice>
        <mc:Fallback xmlns="">
          <p:sp>
            <p:nvSpPr>
              <p:cNvPr id="13" name="文本框 12"/>
              <p:cNvSpPr txBox="1">
                <a:spLocks noRot="1" noChangeAspect="1" noMove="1" noResize="1" noEditPoints="1" noAdjustHandles="1" noChangeArrowheads="1" noChangeShapeType="1" noTextEdit="1"/>
              </p:cNvSpPr>
              <p:nvPr/>
            </p:nvSpPr>
            <p:spPr>
              <a:xfrm>
                <a:off x="590260" y="1208555"/>
                <a:ext cx="7965067" cy="1419554"/>
              </a:xfrm>
              <a:prstGeom prst="rect">
                <a:avLst/>
              </a:prstGeom>
              <a:blipFill rotWithShape="1">
                <a:blip r:embed="rId3"/>
                <a:stretch>
                  <a:fillRect l="-4" t="-11" r="8" b="-10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2277916" y="2870089"/>
                <a:ext cx="4589754" cy="11194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𝐻</m:t>
                      </m:r>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m>
                            <m:mPr>
                              <m:plcHide m:val="on"/>
                              <m:mcs>
                                <m:mc>
                                  <m:mcPr>
                                    <m:count m:val="3"/>
                                    <m:mcJc m:val="center"/>
                                  </m:mcPr>
                                </m:mc>
                              </m:mcs>
                              <m:ctrlPr>
                                <a:rPr lang="zh-CN" altLang="en-US" i="1">
                                  <a:solidFill>
                                    <a:srgbClr val="836967"/>
                                  </a:solidFill>
                                  <a:latin typeface="Cambria Math" panose="02040503050406030204" pitchFamily="18" charset="0"/>
                                </a:rPr>
                              </m:ctrlPr>
                            </m:mP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10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11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12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20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21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22</m:t>
                                    </m:r>
                                  </m:sub>
                                </m:sSub>
                              </m:e>
                            </m:mr>
                          </m:m>
                        </m:e>
                      </m:d>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2277916" y="2870089"/>
                <a:ext cx="4589754" cy="1119409"/>
              </a:xfrm>
              <a:prstGeom prst="rect">
                <a:avLst/>
              </a:prstGeom>
              <a:blipFill rotWithShape="1">
                <a:blip r:embed="rId4"/>
                <a:stretch>
                  <a:fillRect l="-4" t="-47" r="3" b="38"/>
                </a:stretch>
              </a:blipFill>
            </p:spPr>
            <p:txBody>
              <a:bodyPr/>
              <a:lstStyle/>
              <a:p>
                <a:r>
                  <a:rPr lang="zh-CN" altLang="en-US">
                    <a:noFill/>
                  </a:rPr>
                  <a:t> </a:t>
                </a:r>
              </a:p>
            </p:txBody>
          </p:sp>
        </mc:Fallback>
      </mc:AlternateContent>
      <p:sp>
        <p:nvSpPr>
          <p:cNvPr id="16" name="文本框 15"/>
          <p:cNvSpPr txBox="1"/>
          <p:nvPr/>
        </p:nvSpPr>
        <p:spPr>
          <a:xfrm>
            <a:off x="7597130" y="3014303"/>
            <a:ext cx="864096" cy="415490"/>
          </a:xfrm>
          <a:prstGeom prst="rect">
            <a:avLst/>
          </a:prstGeom>
          <a:noFill/>
        </p:spPr>
        <p:txBody>
          <a:bodyPr wrap="square">
            <a:spAutoFit/>
          </a:bodyPr>
          <a:lstStyle/>
          <a:p>
            <a:r>
              <a:rPr lang="en-US" altLang="zh-CN" dirty="0"/>
              <a:t>(4-23)</a:t>
            </a:r>
          </a:p>
        </p:txBody>
      </p:sp>
      <mc:AlternateContent xmlns:mc="http://schemas.openxmlformats.org/markup-compatibility/2006" xmlns:a14="http://schemas.microsoft.com/office/drawing/2010/main">
        <mc:Choice Requires="a14">
          <p:sp>
            <p:nvSpPr>
              <p:cNvPr id="18" name="文本框 17"/>
              <p:cNvSpPr txBox="1"/>
              <p:nvPr/>
            </p:nvSpPr>
            <p:spPr>
              <a:xfrm>
                <a:off x="2277916" y="4149874"/>
                <a:ext cx="4589754" cy="11194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smtClean="0">
                              <a:solidFill>
                                <a:srgbClr val="836967"/>
                              </a:solidFill>
                              <a:latin typeface="Cambria Math" panose="02040503050406030204" pitchFamily="18" charset="0"/>
                            </a:rPr>
                          </m:ctrlPr>
                        </m:dPr>
                        <m:e>
                          <m:m>
                            <m:mPr>
                              <m:plcHide m:val="on"/>
                              <m:mcs>
                                <m:mc>
                                  <m:mcPr>
                                    <m:count m:val="1"/>
                                    <m:mcJc m:val="center"/>
                                  </m:mcPr>
                                </m:mc>
                              </m:mcs>
                              <m:ctrlPr>
                                <a:rPr lang="zh-CN" altLang="en-US" i="1">
                                  <a:solidFill>
                                    <a:srgbClr val="836967"/>
                                  </a:solidFill>
                                  <a:latin typeface="Cambria Math" panose="02040503050406030204" pitchFamily="18" charset="0"/>
                                </a:rPr>
                              </m:ctrlPr>
                            </m:mPr>
                            <m:mr>
                              <m:e>
                                <m:r>
                                  <a:rPr lang="zh-CN" altLang="en-US" i="1">
                                    <a:latin typeface="Cambria Math" panose="02040503050406030204" pitchFamily="18" charset="0"/>
                                  </a:rPr>
                                  <m:t>𝑥</m:t>
                                </m:r>
                              </m:e>
                            </m:mr>
                            <m:mr>
                              <m:e>
                                <m:r>
                                  <a:rPr lang="zh-CN" altLang="en-US" i="1">
                                    <a:latin typeface="Cambria Math" panose="02040503050406030204" pitchFamily="18" charset="0"/>
                                  </a:rPr>
                                  <m:t>𝑦</m:t>
                                </m:r>
                              </m:e>
                            </m:mr>
                            <m:mr>
                              <m:e>
                                <m:r>
                                  <a:rPr lang="zh-CN" altLang="en-US" i="0">
                                    <a:latin typeface="Cambria Math" panose="02040503050406030204" pitchFamily="18" charset="0"/>
                                  </a:rPr>
                                  <m:t>1</m:t>
                                </m:r>
                              </m:e>
                            </m:mr>
                          </m:m>
                        </m:e>
                      </m:d>
                      <m:r>
                        <a:rPr lang="zh-CN" altLang="en-US" i="0">
                          <a:latin typeface="Cambria Math" panose="02040503050406030204" pitchFamily="18" charset="0"/>
                        </a:rPr>
                        <m:t>=</m:t>
                      </m:r>
                      <m:r>
                        <a:rPr lang="zh-CN" altLang="en-US" i="1">
                          <a:latin typeface="Cambria Math" panose="02040503050406030204" pitchFamily="18" charset="0"/>
                        </a:rPr>
                        <m:t>𝐻</m:t>
                      </m:r>
                      <m:d>
                        <m:dPr>
                          <m:begChr m:val="["/>
                          <m:endChr m:val="]"/>
                          <m:ctrlPr>
                            <a:rPr lang="zh-CN" altLang="en-US" i="1">
                              <a:solidFill>
                                <a:srgbClr val="836967"/>
                              </a:solidFill>
                              <a:latin typeface="Cambria Math" panose="02040503050406030204" pitchFamily="18" charset="0"/>
                            </a:rPr>
                          </m:ctrlPr>
                        </m:dPr>
                        <m:e>
                          <m:m>
                            <m:mPr>
                              <m:plcHide m:val="on"/>
                              <m:mcs>
                                <m:mc>
                                  <m:mcPr>
                                    <m:count m:val="1"/>
                                    <m:mcJc m:val="center"/>
                                  </m:mcPr>
                                </m:mc>
                              </m:mcs>
                              <m:ctrlPr>
                                <a:rPr lang="zh-CN" altLang="en-US" i="1">
                                  <a:solidFill>
                                    <a:srgbClr val="836967"/>
                                  </a:solidFill>
                                  <a:latin typeface="Cambria Math" panose="02040503050406030204" pitchFamily="18" charset="0"/>
                                </a:rPr>
                              </m:ctrlPr>
                            </m:mP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e>
                            </m:m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𝑦</m:t>
                                    </m:r>
                                  </m:e>
                                  <m:sup>
                                    <m:r>
                                      <a:rPr lang="zh-CN" altLang="en-US" i="0">
                                        <a:latin typeface="Cambria Math" panose="02040503050406030204" pitchFamily="18" charset="0"/>
                                      </a:rPr>
                                      <m:t>′</m:t>
                                    </m:r>
                                  </m:sup>
                                </m:sSup>
                              </m:e>
                            </m:mr>
                            <m:mr>
                              <m:e>
                                <m:r>
                                  <a:rPr lang="zh-CN" altLang="en-US" i="0">
                                    <a:latin typeface="Cambria Math" panose="02040503050406030204" pitchFamily="18" charset="0"/>
                                  </a:rPr>
                                  <m:t>1</m:t>
                                </m:r>
                              </m:e>
                            </m:mr>
                          </m:m>
                        </m:e>
                      </m:d>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m>
                            <m:mPr>
                              <m:plcHide m:val="on"/>
                              <m:mcs>
                                <m:mc>
                                  <m:mcPr>
                                    <m:count m:val="3"/>
                                    <m:mcJc m:val="center"/>
                                  </m:mcPr>
                                </m:mc>
                              </m:mcs>
                              <m:ctrlPr>
                                <a:rPr lang="zh-CN" altLang="en-US" i="1">
                                  <a:solidFill>
                                    <a:srgbClr val="836967"/>
                                  </a:solidFill>
                                  <a:latin typeface="Cambria Math" panose="02040503050406030204" pitchFamily="18" charset="0"/>
                                </a:rPr>
                              </m:ctrlPr>
                            </m:mP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02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10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11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12</m:t>
                                    </m:r>
                                  </m:sub>
                                </m:sSub>
                              </m:e>
                            </m:mr>
                            <m:m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20</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21</m:t>
                                    </m:r>
                                  </m:sub>
                                </m:sSub>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h</m:t>
                                    </m:r>
                                  </m:e>
                                  <m:sub>
                                    <m:r>
                                      <a:rPr lang="zh-CN" altLang="en-US" i="0">
                                        <a:latin typeface="Cambria Math" panose="02040503050406030204" pitchFamily="18" charset="0"/>
                                      </a:rPr>
                                      <m:t>22</m:t>
                                    </m:r>
                                  </m:sub>
                                </m:sSub>
                              </m:e>
                            </m:mr>
                          </m:m>
                        </m:e>
                      </m:d>
                      <m:d>
                        <m:dPr>
                          <m:begChr m:val="["/>
                          <m:endChr m:val="]"/>
                          <m:ctrlPr>
                            <a:rPr lang="zh-CN" altLang="en-US" i="1">
                              <a:solidFill>
                                <a:srgbClr val="836967"/>
                              </a:solidFill>
                              <a:latin typeface="Cambria Math" panose="02040503050406030204" pitchFamily="18" charset="0"/>
                            </a:rPr>
                          </m:ctrlPr>
                        </m:dPr>
                        <m:e>
                          <m:m>
                            <m:mPr>
                              <m:plcHide m:val="on"/>
                              <m:mcs>
                                <m:mc>
                                  <m:mcPr>
                                    <m:count m:val="1"/>
                                    <m:mcJc m:val="center"/>
                                  </m:mcPr>
                                </m:mc>
                              </m:mcs>
                              <m:ctrlPr>
                                <a:rPr lang="zh-CN" altLang="en-US" i="1">
                                  <a:solidFill>
                                    <a:srgbClr val="836967"/>
                                  </a:solidFill>
                                  <a:latin typeface="Cambria Math" panose="02040503050406030204" pitchFamily="18" charset="0"/>
                                </a:rPr>
                              </m:ctrlPr>
                            </m:mP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e>
                            </m:mr>
                            <m:m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𝑦</m:t>
                                    </m:r>
                                  </m:e>
                                  <m:sup>
                                    <m:r>
                                      <a:rPr lang="zh-CN" altLang="en-US" i="0">
                                        <a:latin typeface="Cambria Math" panose="02040503050406030204" pitchFamily="18" charset="0"/>
                                      </a:rPr>
                                      <m:t>′</m:t>
                                    </m:r>
                                  </m:sup>
                                </m:sSup>
                              </m:e>
                            </m:mr>
                            <m:mr>
                              <m:e>
                                <m:r>
                                  <a:rPr lang="zh-CN" altLang="en-US" i="0">
                                    <a:latin typeface="Cambria Math" panose="02040503050406030204" pitchFamily="18" charset="0"/>
                                  </a:rPr>
                                  <m:t>1</m:t>
                                </m:r>
                              </m:e>
                            </m:mr>
                          </m:m>
                        </m:e>
                      </m:d>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2277916" y="4149874"/>
                <a:ext cx="4589754" cy="1119409"/>
              </a:xfrm>
              <a:prstGeom prst="rect">
                <a:avLst/>
              </a:prstGeom>
              <a:blipFill rotWithShape="1">
                <a:blip r:embed="rId5"/>
                <a:stretch>
                  <a:fillRect l="-4" t="-13" r="3" b="5"/>
                </a:stretch>
              </a:blipFill>
            </p:spPr>
            <p:txBody>
              <a:bodyPr/>
              <a:lstStyle/>
              <a:p>
                <a:r>
                  <a:rPr lang="zh-CN" altLang="en-US">
                    <a:noFill/>
                  </a:rPr>
                  <a:t> </a:t>
                </a:r>
              </a:p>
            </p:txBody>
          </p:sp>
        </mc:Fallback>
      </mc:AlternateContent>
      <p:sp>
        <p:nvSpPr>
          <p:cNvPr id="19" name="文本框 18"/>
          <p:cNvSpPr txBox="1"/>
          <p:nvPr/>
        </p:nvSpPr>
        <p:spPr>
          <a:xfrm>
            <a:off x="7597130" y="4501833"/>
            <a:ext cx="864096" cy="415490"/>
          </a:xfrm>
          <a:prstGeom prst="rect">
            <a:avLst/>
          </a:prstGeom>
          <a:noFill/>
        </p:spPr>
        <p:txBody>
          <a:bodyPr wrap="square">
            <a:spAutoFit/>
          </a:bodyPr>
          <a:lstStyle/>
          <a:p>
            <a:r>
              <a:rPr lang="en-US" altLang="zh-CN" dirty="0"/>
              <a:t>(4-24)</a:t>
            </a:r>
          </a:p>
        </p:txBody>
      </p:sp>
      <p:sp>
        <p:nvSpPr>
          <p:cNvPr id="21" name="文本框 20"/>
          <p:cNvSpPr txBox="1"/>
          <p:nvPr/>
        </p:nvSpPr>
        <p:spPr>
          <a:xfrm>
            <a:off x="590260" y="5600041"/>
            <a:ext cx="7965067" cy="106182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本节将介绍一种基于特征的图像配准方法。这种方法是先提取出源图像中的大量特征点，然后在目标图像中寻找与之匹配的特征点。</a:t>
            </a:r>
          </a:p>
        </p:txBody>
      </p:sp>
    </p:spTree>
  </p:cSld>
  <p:clrMapOvr>
    <a:masterClrMapping/>
  </p:clrMapOvr>
  <p:transition spd="slow" advClick="0" advTm="0">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4.7.2  </a:t>
            </a:r>
            <a:r>
              <a:rPr lang="zh-CN" altLang="en-US" sz="2100" b="1" dirty="0">
                <a:solidFill>
                  <a:schemeClr val="tx1">
                    <a:lumMod val="75000"/>
                    <a:lumOff val="25000"/>
                  </a:schemeClr>
                </a:solidFill>
                <a:latin typeface="微软雅黑" panose="020B0503020204020204" pitchFamily="34" charset="-122"/>
              </a:rPr>
              <a:t>提取特征点</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7" name="文本框 16"/>
          <p:cNvSpPr txBox="1"/>
          <p:nvPr/>
        </p:nvSpPr>
        <p:spPr>
          <a:xfrm>
            <a:off x="612354" y="1286819"/>
            <a:ext cx="7920880" cy="1742636"/>
          </a:xfrm>
          <a:prstGeom prst="rect">
            <a:avLst/>
          </a:prstGeom>
          <a:noFill/>
        </p:spPr>
        <p:txBody>
          <a:bodyPr wrap="square">
            <a:spAutoFit/>
          </a:bodyPr>
          <a:lstStyle/>
          <a:p>
            <a:r>
              <a:rPr lang="zh-CN" altLang="en-US" dirty="0"/>
              <a:t>        在图像处理中，特征点指的是图像灰度值发生剧烈变化的点或者在图像边缘上曲率较大的点</a:t>
            </a:r>
            <a:r>
              <a:rPr lang="en-US" altLang="zh-CN" dirty="0"/>
              <a:t>(</a:t>
            </a:r>
            <a:r>
              <a:rPr lang="zh-CN" altLang="en-US" dirty="0"/>
              <a:t>即两个边缘的交点</a:t>
            </a:r>
            <a:r>
              <a:rPr lang="en-US" altLang="zh-CN" dirty="0"/>
              <a:t>)</a:t>
            </a:r>
            <a:r>
              <a:rPr lang="zh-CN" altLang="en-US" dirty="0"/>
              <a:t>。图像特征点在基于特征点的图像匹配算法中十分重要。图像特征点能够反映图像的本质特征，能够标识图像中的目标物体。通过特征点的匹配能够完成图像的配准。</a:t>
            </a:r>
          </a:p>
        </p:txBody>
      </p:sp>
      <p:pic>
        <p:nvPicPr>
          <p:cNvPr id="3" name="图片 2"/>
          <p:cNvPicPr>
            <a:picLocks noChangeAspect="1"/>
          </p:cNvPicPr>
          <p:nvPr/>
        </p:nvPicPr>
        <p:blipFill>
          <a:blip r:embed="rId3"/>
          <a:stretch>
            <a:fillRect/>
          </a:stretch>
        </p:blipFill>
        <p:spPr>
          <a:xfrm>
            <a:off x="1943412" y="3228473"/>
            <a:ext cx="4865606" cy="3064606"/>
          </a:xfrm>
          <a:prstGeom prst="rect">
            <a:avLst/>
          </a:prstGeom>
        </p:spPr>
      </p:pic>
    </p:spTree>
  </p:cSld>
  <p:clrMapOvr>
    <a:masterClrMapping/>
  </p:clrMapOvr>
  <p:transition spd="slow" advClick="0" advTm="0">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4.7.2  </a:t>
            </a:r>
            <a:r>
              <a:rPr lang="zh-CN" altLang="en-US" sz="2100" b="1" dirty="0">
                <a:solidFill>
                  <a:schemeClr val="tx1">
                    <a:lumMod val="75000"/>
                    <a:lumOff val="25000"/>
                  </a:schemeClr>
                </a:solidFill>
                <a:latin typeface="微软雅黑" panose="020B0503020204020204" pitchFamily="34" charset="-122"/>
              </a:rPr>
              <a:t>提取特征点</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3" name="文本框 12"/>
          <p:cNvSpPr txBox="1"/>
          <p:nvPr/>
        </p:nvSpPr>
        <p:spPr>
          <a:xfrm>
            <a:off x="608278" y="1320702"/>
            <a:ext cx="7780940" cy="1061829"/>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        </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本节将使用</a:t>
            </a:r>
            <a:r>
              <a:rPr lang="en-US" altLang="zh-CN" kern="100" dirty="0">
                <a:solidFill>
                  <a:srgbClr val="000000"/>
                </a:solidFill>
                <a:effectLst/>
                <a:latin typeface="Times New Roman" panose="02020603050405020304" pitchFamily="18" charset="0"/>
                <a:ea typeface="宋体" pitchFamily="2" charset="-122"/>
              </a:rPr>
              <a:t>ORB (Oriented FAST and Rotated BRIEF)</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算法提取特征点。</a:t>
            </a:r>
            <a:r>
              <a:rPr lang="en-US" altLang="zh-CN" kern="100" dirty="0">
                <a:solidFill>
                  <a:srgbClr val="000000"/>
                </a:solidFill>
                <a:effectLst/>
                <a:latin typeface="Times New Roman" panose="02020603050405020304" pitchFamily="18" charset="0"/>
                <a:ea typeface="宋体" pitchFamily="2" charset="-122"/>
              </a:rPr>
              <a:t>ORB</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算法是一种快速特征点提取和描述的算法。</a:t>
            </a:r>
            <a:r>
              <a:rPr lang="en-US" altLang="zh-CN" kern="100" dirty="0">
                <a:solidFill>
                  <a:srgbClr val="000000"/>
                </a:solidFill>
                <a:effectLst/>
                <a:latin typeface="Times New Roman" panose="02020603050405020304" pitchFamily="18" charset="0"/>
                <a:ea typeface="宋体" pitchFamily="2" charset="-122"/>
              </a:rPr>
              <a:t>ORB</a:t>
            </a:r>
            <a:r>
              <a:rPr lang="zh-CN" altLang="zh-CN" kern="100" dirty="0">
                <a:solidFill>
                  <a:srgbClr val="000000"/>
                </a:solidFill>
                <a:effectLst/>
                <a:latin typeface="Times New Roman" panose="02020603050405020304" pitchFamily="18" charset="0"/>
                <a:ea typeface="宋体" pitchFamily="2" charset="-122"/>
                <a:cs typeface="Times New Roman" panose="02020603050405020304" pitchFamily="18" charset="0"/>
              </a:rPr>
              <a:t>算法包括两部分，分别是特征点检测和特征点描述。</a:t>
            </a:r>
            <a:endParaRPr lang="zh-CN" altLang="en-US" dirty="0"/>
          </a:p>
        </p:txBody>
      </p:sp>
      <p:sp>
        <p:nvSpPr>
          <p:cNvPr id="15" name="文本框 14"/>
          <p:cNvSpPr txBox="1"/>
          <p:nvPr/>
        </p:nvSpPr>
        <p:spPr>
          <a:xfrm>
            <a:off x="1281410" y="2425199"/>
            <a:ext cx="4589754" cy="415498"/>
          </a:xfrm>
          <a:prstGeom prst="rect">
            <a:avLst/>
          </a:prstGeom>
          <a:noFill/>
        </p:spPr>
        <p:txBody>
          <a:bodyPr wrap="square">
            <a:spAutoFit/>
          </a:bodyPr>
          <a:lstStyle/>
          <a:p>
            <a:r>
              <a:rPr lang="en-US" altLang="zh-CN" b="1" dirty="0"/>
              <a:t>1</a:t>
            </a:r>
            <a:r>
              <a:rPr lang="zh-CN" altLang="en-US" b="1" dirty="0"/>
              <a:t>．特征点检测 </a:t>
            </a:r>
          </a:p>
        </p:txBody>
      </p:sp>
      <p:sp>
        <p:nvSpPr>
          <p:cNvPr id="18" name="文本框 17"/>
          <p:cNvSpPr txBox="1"/>
          <p:nvPr/>
        </p:nvSpPr>
        <p:spPr>
          <a:xfrm>
            <a:off x="690293" y="2865851"/>
            <a:ext cx="7729728" cy="1061829"/>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        ORB</a:t>
            </a:r>
            <a:r>
              <a:rPr lang="zh-CN" altLang="zh-CN" kern="100" dirty="0">
                <a:effectLst/>
                <a:latin typeface="Times New Roman" panose="02020603050405020304" pitchFamily="18" charset="0"/>
                <a:ea typeface="宋体" pitchFamily="2" charset="-122"/>
                <a:cs typeface="Times New Roman" panose="02020603050405020304" pitchFamily="18" charset="0"/>
              </a:rPr>
              <a:t>采用</a:t>
            </a:r>
            <a:r>
              <a:rPr lang="en-US" altLang="zh-CN" kern="100" dirty="0">
                <a:effectLst/>
                <a:latin typeface="Times New Roman" panose="02020603050405020304" pitchFamily="18" charset="0"/>
                <a:ea typeface="宋体" pitchFamily="2" charset="-122"/>
              </a:rPr>
              <a:t>FAST</a:t>
            </a:r>
            <a:r>
              <a:rPr lang="zh-CN" altLang="zh-CN" kern="100" dirty="0">
                <a:effectLst/>
                <a:latin typeface="Times New Roman" panose="02020603050405020304" pitchFamily="18" charset="0"/>
                <a:ea typeface="宋体" pitchFamily="2" charset="-122"/>
                <a:cs typeface="Times New Roman" panose="02020603050405020304" pitchFamily="18" charset="0"/>
              </a:rPr>
              <a:t>算法来检测特征点。图像的特征点可以简单的理解为图像中比较显著的点，如轮廓点、较暗区域中的亮点、较亮区域中的暗点等。</a:t>
            </a:r>
            <a:endParaRPr lang="zh-CN" altLang="en-US" dirty="0"/>
          </a:p>
        </p:txBody>
      </p:sp>
      <p:sp>
        <p:nvSpPr>
          <p:cNvPr id="19" name="文本框 18"/>
          <p:cNvSpPr txBox="1"/>
          <p:nvPr/>
        </p:nvSpPr>
        <p:spPr>
          <a:xfrm>
            <a:off x="972394" y="3874359"/>
            <a:ext cx="4589754" cy="521746"/>
          </a:xfrm>
          <a:prstGeom prst="rect">
            <a:avLst/>
          </a:prstGeom>
          <a:noFill/>
        </p:spPr>
        <p:txBody>
          <a:bodyPr wrap="square">
            <a:spAutoFit/>
          </a:bodyPr>
          <a:lstStyle/>
          <a:p>
            <a:pPr indent="266700">
              <a:lnSpc>
                <a:spcPct val="150000"/>
              </a:lnSpc>
            </a:pPr>
            <a:r>
              <a:rPr lang="en-US" altLang="zh-CN" b="1" dirty="0"/>
              <a:t>2</a:t>
            </a:r>
            <a:r>
              <a:rPr lang="zh-CN" altLang="zh-CN" b="1" dirty="0"/>
              <a:t>．</a:t>
            </a:r>
            <a:r>
              <a:rPr lang="en-US" altLang="zh-CN" b="1" dirty="0"/>
              <a:t>FAST</a:t>
            </a:r>
            <a:r>
              <a:rPr lang="zh-CN" altLang="zh-CN" b="1" dirty="0"/>
              <a:t>算法改进 </a:t>
            </a:r>
          </a:p>
        </p:txBody>
      </p:sp>
      <p:sp>
        <p:nvSpPr>
          <p:cNvPr id="21" name="文本框 20"/>
          <p:cNvSpPr txBox="1"/>
          <p:nvPr/>
        </p:nvSpPr>
        <p:spPr>
          <a:xfrm>
            <a:off x="717716" y="4487593"/>
            <a:ext cx="7671502" cy="1061829"/>
          </a:xfrm>
          <a:prstGeom prst="rect">
            <a:avLst/>
          </a:prstGeom>
          <a:noFill/>
        </p:spPr>
        <p:txBody>
          <a:bodyPr wrap="square">
            <a:spAutoFit/>
          </a:bodyPr>
          <a:lstStyle/>
          <a:p>
            <a:pPr indent="266700" algn="just"/>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mn-ea"/>
              </a:rPr>
              <a:t>由于</a:t>
            </a:r>
            <a:r>
              <a:rPr lang="en-US" altLang="zh-CN" kern="100" dirty="0">
                <a:solidFill>
                  <a:srgbClr val="000000"/>
                </a:solidFill>
                <a:effectLst/>
                <a:latin typeface="+mn-ea"/>
              </a:rPr>
              <a:t>FAST</a:t>
            </a:r>
            <a:r>
              <a:rPr lang="zh-CN" altLang="zh-CN" kern="100" dirty="0">
                <a:solidFill>
                  <a:srgbClr val="000000"/>
                </a:solidFill>
                <a:effectLst/>
                <a:latin typeface="+mn-ea"/>
              </a:rPr>
              <a:t>算法提取出的特征点不具有尺度不变性，这导致图像经过缩放后无法匹配到相应的特征点。为了改进这一点，</a:t>
            </a:r>
            <a:r>
              <a:rPr lang="en-US" altLang="zh-CN" kern="100" dirty="0">
                <a:solidFill>
                  <a:srgbClr val="000000"/>
                </a:solidFill>
                <a:effectLst/>
                <a:latin typeface="+mn-ea"/>
              </a:rPr>
              <a:t>ORB</a:t>
            </a:r>
            <a:r>
              <a:rPr lang="zh-CN" altLang="zh-CN" kern="100" dirty="0">
                <a:solidFill>
                  <a:srgbClr val="000000"/>
                </a:solidFill>
                <a:effectLst/>
                <a:latin typeface="+mn-ea"/>
              </a:rPr>
              <a:t>使用图片的尺度金字塔，在不同尺度计算</a:t>
            </a:r>
            <a:r>
              <a:rPr lang="en-US" altLang="zh-CN" kern="100" dirty="0">
                <a:solidFill>
                  <a:srgbClr val="000000"/>
                </a:solidFill>
                <a:effectLst/>
                <a:latin typeface="+mn-ea"/>
              </a:rPr>
              <a:t>FAST</a:t>
            </a:r>
            <a:r>
              <a:rPr lang="zh-CN" altLang="zh-CN" kern="100" dirty="0">
                <a:solidFill>
                  <a:srgbClr val="000000"/>
                </a:solidFill>
                <a:effectLst/>
                <a:latin typeface="+mn-ea"/>
              </a:rPr>
              <a:t>特征点。</a:t>
            </a:r>
            <a:endParaRPr lang="zh-CN" altLang="zh-CN" kern="100" dirty="0">
              <a:effectLst/>
              <a:latin typeface="+mn-ea"/>
            </a:endParaRPr>
          </a:p>
        </p:txBody>
      </p:sp>
    </p:spTree>
  </p:cSld>
  <p:clrMapOvr>
    <a:masterClrMapping/>
  </p:clrMapOvr>
  <p:transition spd="slow" advClick="0" advTm="0">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4.7.2  </a:t>
            </a:r>
            <a:r>
              <a:rPr lang="zh-CN" altLang="en-US" sz="2100" b="1" dirty="0">
                <a:solidFill>
                  <a:schemeClr val="tx1">
                    <a:lumMod val="75000"/>
                    <a:lumOff val="25000"/>
                  </a:schemeClr>
                </a:solidFill>
                <a:latin typeface="微软雅黑" panose="020B0503020204020204" pitchFamily="34" charset="-122"/>
              </a:rPr>
              <a:t>提取特征点</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2" name="文本框 11"/>
          <p:cNvSpPr txBox="1"/>
          <p:nvPr/>
        </p:nvSpPr>
        <p:spPr>
          <a:xfrm>
            <a:off x="1044402" y="1153460"/>
            <a:ext cx="4589754" cy="521746"/>
          </a:xfrm>
          <a:prstGeom prst="rect">
            <a:avLst/>
          </a:prstGeom>
          <a:noFill/>
        </p:spPr>
        <p:txBody>
          <a:bodyPr wrap="square">
            <a:spAutoFit/>
          </a:bodyPr>
          <a:lstStyle/>
          <a:p>
            <a:pPr indent="266700">
              <a:lnSpc>
                <a:spcPct val="150000"/>
              </a:lnSpc>
            </a:pPr>
            <a:r>
              <a:rPr lang="en-US" altLang="zh-CN" b="1" dirty="0"/>
              <a:t>3</a:t>
            </a:r>
            <a:r>
              <a:rPr lang="zh-CN" altLang="en-US" b="1" dirty="0"/>
              <a:t>．</a:t>
            </a:r>
            <a:r>
              <a:rPr lang="en-US" altLang="zh-CN" b="1" dirty="0"/>
              <a:t>BRIEF</a:t>
            </a:r>
            <a:r>
              <a:rPr lang="zh-CN" altLang="en-US" b="1" dirty="0"/>
              <a:t>算法改进</a:t>
            </a:r>
            <a:endParaRPr lang="zh-CN" altLang="zh-CN" b="1" dirty="0"/>
          </a:p>
        </p:txBody>
      </p:sp>
      <p:sp>
        <p:nvSpPr>
          <p:cNvPr id="14" name="文本框 13"/>
          <p:cNvSpPr txBox="1"/>
          <p:nvPr/>
        </p:nvSpPr>
        <p:spPr>
          <a:xfrm>
            <a:off x="712183" y="1736359"/>
            <a:ext cx="7992888" cy="106182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得到特征点后我们需要以某种方式描述这些特征点的属性。这些属性的输出我们称之为特征点的描述符。</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采用</a:t>
            </a:r>
            <a:r>
              <a:rPr lang="en-US" altLang="zh-CN" kern="100" dirty="0">
                <a:effectLst/>
                <a:latin typeface="Times New Roman" panose="02020603050405020304" pitchFamily="18" charset="0"/>
                <a:ea typeface="宋体" pitchFamily="2" charset="-122"/>
              </a:rPr>
              <a:t>BRIEF</a:t>
            </a:r>
            <a:r>
              <a:rPr lang="zh-CN" altLang="zh-CN" kern="100" dirty="0">
                <a:effectLst/>
                <a:latin typeface="Times New Roman" panose="02020603050405020304" pitchFamily="18" charset="0"/>
                <a:ea typeface="宋体" pitchFamily="2" charset="-122"/>
              </a:rPr>
              <a:t>算法来计算特征点的描述符。</a:t>
            </a:r>
            <a:endParaRPr lang="zh-CN" altLang="zh-CN" sz="2400" kern="100" dirty="0">
              <a:effectLst/>
              <a:latin typeface="Times New Roman" panose="02020603050405020304" pitchFamily="18" charset="0"/>
              <a:ea typeface="宋体" pitchFamily="2" charset="-122"/>
            </a:endParaRPr>
          </a:p>
        </p:txBody>
      </p:sp>
      <p:sp>
        <p:nvSpPr>
          <p:cNvPr id="16" name="文本框 15"/>
          <p:cNvSpPr txBox="1"/>
          <p:nvPr/>
        </p:nvSpPr>
        <p:spPr>
          <a:xfrm>
            <a:off x="712183" y="2859341"/>
            <a:ext cx="7992888" cy="3000821"/>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rPr>
              <a:t>        BRIEF</a:t>
            </a:r>
            <a:r>
              <a:rPr lang="zh-CN" altLang="zh-CN" kern="100" dirty="0">
                <a:effectLst/>
                <a:latin typeface="Times New Roman" panose="02020603050405020304" pitchFamily="18" charset="0"/>
                <a:ea typeface="宋体" pitchFamily="2" charset="-122"/>
                <a:cs typeface="Times New Roman" panose="02020603050405020304" pitchFamily="18" charset="0"/>
              </a:rPr>
              <a:t>描述子不具备旋转不变性，理想的特征点描述子应该具备旋转不变性，使得图像在经过一定的旋转后仍然能够识别匹配中的特征点。</a:t>
            </a:r>
            <a:r>
              <a:rPr lang="en-US" altLang="zh-CN" kern="100" dirty="0">
                <a:effectLst/>
                <a:latin typeface="Times New Roman" panose="02020603050405020304" pitchFamily="18" charset="0"/>
                <a:ea typeface="宋体" pitchFamily="2" charset="-122"/>
              </a:rPr>
              <a:t>BRIEF</a:t>
            </a:r>
            <a:r>
              <a:rPr lang="zh-CN" altLang="zh-CN" kern="100" dirty="0">
                <a:effectLst/>
                <a:latin typeface="Times New Roman" panose="02020603050405020304" pitchFamily="18" charset="0"/>
                <a:ea typeface="宋体" pitchFamily="2" charset="-122"/>
                <a:cs typeface="Times New Roman" panose="02020603050405020304" pitchFamily="18" charset="0"/>
              </a:rPr>
              <a:t>描述符选取特征点点对的时候，是以当前特征点为原点，以水平方向为</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cs typeface="Times New Roman" panose="02020603050405020304" pitchFamily="18" charset="0"/>
              </a:rPr>
              <a:t>轴，以垂直方向为</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cs typeface="Times New Roman" panose="02020603050405020304" pitchFamily="18" charset="0"/>
              </a:rPr>
              <a:t>轴建立坐标系。当图片发生旋转时，坐标系不变，同样的取点模式取出来的点却不一样，计算得到的描述符也不一样，这是不符合要求的。</a:t>
            </a:r>
            <a:r>
              <a:rPr lang="en-US" altLang="zh-CN" kern="100" dirty="0">
                <a:effectLst/>
                <a:latin typeface="Times New Roman" panose="02020603050405020304" pitchFamily="18" charset="0"/>
                <a:ea typeface="宋体" pitchFamily="2" charset="-122"/>
                <a:cs typeface="Times New Roman" panose="02020603050405020304" pitchFamily="18" charset="0"/>
              </a:rPr>
              <a:t>ORB</a:t>
            </a:r>
            <a:r>
              <a:rPr lang="zh-CN" altLang="en-US" kern="100" dirty="0">
                <a:effectLst/>
                <a:latin typeface="Times New Roman" panose="02020603050405020304" pitchFamily="18" charset="0"/>
                <a:ea typeface="宋体" pitchFamily="2" charset="-122"/>
                <a:cs typeface="Times New Roman" panose="02020603050405020304" pitchFamily="18" charset="0"/>
              </a:rPr>
              <a:t>在计算</a:t>
            </a:r>
            <a:r>
              <a:rPr lang="en-US" altLang="zh-CN" kern="100" dirty="0">
                <a:effectLst/>
                <a:latin typeface="Times New Roman" panose="02020603050405020304" pitchFamily="18" charset="0"/>
                <a:ea typeface="宋体" pitchFamily="2" charset="-122"/>
                <a:cs typeface="Times New Roman" panose="02020603050405020304" pitchFamily="18" charset="0"/>
              </a:rPr>
              <a:t>BRIEF</a:t>
            </a:r>
            <a:r>
              <a:rPr lang="zh-CN" altLang="en-US" kern="100" dirty="0">
                <a:effectLst/>
                <a:latin typeface="Times New Roman" panose="02020603050405020304" pitchFamily="18" charset="0"/>
                <a:ea typeface="宋体" pitchFamily="2" charset="-122"/>
                <a:cs typeface="Times New Roman" panose="02020603050405020304" pitchFamily="18" charset="0"/>
              </a:rPr>
              <a:t>描述符时建立的坐标系是以特征点为圆心，以特征点和取点区域的几何中心</a:t>
            </a:r>
            <a:r>
              <a:rPr lang="en-US" altLang="zh-CN" kern="100" dirty="0">
                <a:effectLst/>
                <a:latin typeface="Times New Roman" panose="02020603050405020304" pitchFamily="18" charset="0"/>
                <a:ea typeface="宋体" pitchFamily="2" charset="-122"/>
                <a:cs typeface="Times New Roman" panose="02020603050405020304" pitchFamily="18" charset="0"/>
              </a:rPr>
              <a:t>(</a:t>
            </a:r>
            <a:r>
              <a:rPr lang="zh-CN" altLang="en-US" kern="100" dirty="0">
                <a:effectLst/>
                <a:latin typeface="Times New Roman" panose="02020603050405020304" pitchFamily="18" charset="0"/>
                <a:ea typeface="宋体" pitchFamily="2" charset="-122"/>
                <a:cs typeface="Times New Roman" panose="02020603050405020304" pitchFamily="18" charset="0"/>
              </a:rPr>
              <a:t>形心</a:t>
            </a:r>
            <a:r>
              <a:rPr lang="en-US" altLang="zh-CN" kern="100" dirty="0">
                <a:effectLst/>
                <a:latin typeface="Times New Roman" panose="02020603050405020304" pitchFamily="18" charset="0"/>
                <a:ea typeface="宋体" pitchFamily="2" charset="-122"/>
                <a:cs typeface="Times New Roman" panose="02020603050405020304" pitchFamily="18" charset="0"/>
              </a:rPr>
              <a:t>)</a:t>
            </a:r>
            <a:r>
              <a:rPr lang="zh-CN" altLang="en-US" kern="100" dirty="0">
                <a:effectLst/>
                <a:latin typeface="Times New Roman" panose="02020603050405020304" pitchFamily="18" charset="0"/>
                <a:ea typeface="宋体" pitchFamily="2" charset="-122"/>
                <a:cs typeface="Times New Roman" panose="02020603050405020304" pitchFamily="18" charset="0"/>
              </a:rPr>
              <a:t>的连线为</a:t>
            </a:r>
            <a:r>
              <a:rPr lang="en-US" altLang="zh-CN" kern="100" dirty="0">
                <a:effectLst/>
                <a:latin typeface="Times New Roman" panose="02020603050405020304" pitchFamily="18" charset="0"/>
                <a:ea typeface="宋体" pitchFamily="2" charset="-122"/>
                <a:cs typeface="Times New Roman" panose="02020603050405020304" pitchFamily="18" charset="0"/>
              </a:rPr>
              <a:t>X</a:t>
            </a:r>
            <a:r>
              <a:rPr lang="zh-CN" altLang="en-US" kern="100" dirty="0">
                <a:effectLst/>
                <a:latin typeface="Times New Roman" panose="02020603050405020304" pitchFamily="18" charset="0"/>
                <a:ea typeface="宋体" pitchFamily="2" charset="-122"/>
                <a:cs typeface="Times New Roman" panose="02020603050405020304" pitchFamily="18" charset="0"/>
              </a:rPr>
              <a:t>轴建立二维坐标系。在不同的旋转角度下，以同一取点模式取出来的点是一致的。</a:t>
            </a:r>
            <a:endParaRPr lang="zh-CN" altLang="en-US" dirty="0"/>
          </a:p>
        </p:txBody>
      </p:sp>
    </p:spTree>
  </p:cSld>
  <p:clrMapOvr>
    <a:masterClrMapping/>
  </p:clrMapOvr>
  <p:transition spd="slow" advClick="0" advTm="0">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4.7.3  </a:t>
            </a:r>
            <a:r>
              <a:rPr lang="zh-CN" altLang="en-US" sz="2100" b="1" dirty="0">
                <a:solidFill>
                  <a:schemeClr val="tx1">
                    <a:lumMod val="75000"/>
                    <a:lumOff val="25000"/>
                  </a:schemeClr>
                </a:solidFill>
                <a:latin typeface="微软雅黑" panose="020B0503020204020204" pitchFamily="34" charset="-122"/>
              </a:rPr>
              <a:t>基于特征的配准方法</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2" name="文本框 1"/>
          <p:cNvSpPr txBox="1"/>
          <p:nvPr/>
        </p:nvSpPr>
        <p:spPr>
          <a:xfrm>
            <a:off x="684362" y="1341562"/>
            <a:ext cx="7704856" cy="4616648"/>
          </a:xfrm>
          <a:prstGeom prst="rect">
            <a:avLst/>
          </a:prstGeom>
          <a:noFill/>
        </p:spPr>
        <p:txBody>
          <a:bodyPr wrap="square" rtlCol="0">
            <a:spAutoFit/>
          </a:bodyPr>
          <a:lstStyle/>
          <a:p>
            <a:r>
              <a:rPr lang="zh-CN" altLang="en-US" dirty="0"/>
              <a:t>         </a:t>
            </a:r>
            <a:r>
              <a:rPr lang="zh-CN" altLang="en-US" b="1" dirty="0"/>
              <a:t>基于特征匹配的配准方法是目前最常用的方法之一。</a:t>
            </a:r>
            <a:r>
              <a:rPr lang="zh-CN" altLang="en-US" dirty="0"/>
              <a:t>该算法只需要提取待配准图像中的点、线、边缘等特征信息，不需要其它辅助信息，在减少计算量、提高效率的同时，能够对图像灰度的变化有一定的鲁棒性。</a:t>
            </a:r>
            <a:endParaRPr lang="en-US" altLang="zh-CN" dirty="0"/>
          </a:p>
          <a:p>
            <a:endParaRPr lang="zh-CN" altLang="en-US" dirty="0"/>
          </a:p>
          <a:p>
            <a:r>
              <a:rPr lang="zh-CN" altLang="en-US" dirty="0"/>
              <a:t>         根据选取的特征信息的不同，可以将</a:t>
            </a:r>
            <a:r>
              <a:rPr lang="zh-CN" altLang="en-US" b="1" dirty="0"/>
              <a:t>基于特征的匹配方法划分为三类</a:t>
            </a:r>
            <a:r>
              <a:rPr lang="zh-CN" altLang="en-US" dirty="0"/>
              <a:t>，分别是基于特征点的匹配、基于特征区域的匹配、基于特征边缘的匹配。本节我们将采用基于特征点的匹配方法来实现图像特征点的匹配。</a:t>
            </a:r>
            <a:endParaRPr lang="en-US" altLang="zh-CN" dirty="0"/>
          </a:p>
          <a:p>
            <a:endParaRPr lang="zh-CN" altLang="en-US" dirty="0"/>
          </a:p>
          <a:p>
            <a:r>
              <a:rPr lang="zh-CN" altLang="en-US" dirty="0"/>
              <a:t>         基于特征点的匹配，一般所选取的特征点是相对于其取点区域表现突出的像素点。特征点往往容易被提取到，但是特征点所包含的信息相对较少，只能反映出其在图像中的位置坐标信息，所以在两幅图像中寻找匹配的特征点是关键所在。</a:t>
            </a:r>
          </a:p>
        </p:txBody>
      </p:sp>
    </p:spTree>
  </p:cSld>
  <p:clrMapOvr>
    <a:masterClrMapping/>
  </p:clrMapOvr>
  <p:transition spd="slow" advClick="0" advTm="0">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142957" y="1098233"/>
            <a:ext cx="7704856" cy="415498"/>
          </a:xfrm>
          <a:prstGeom prst="rect">
            <a:avLst/>
          </a:prstGeom>
          <a:noFill/>
        </p:spPr>
        <p:txBody>
          <a:bodyPr wrap="square">
            <a:spAutoFit/>
          </a:bodyPr>
          <a:lstStyle/>
          <a:p>
            <a:pPr indent="266700" algn="just"/>
            <a:r>
              <a:rPr lang="zh-CN" altLang="zh-CN" b="1" kern="100" dirty="0">
                <a:effectLst/>
                <a:latin typeface="Times New Roman" panose="02020603050405020304" pitchFamily="18" charset="0"/>
                <a:ea typeface="宋体" pitchFamily="2" charset="-122"/>
              </a:rPr>
              <a:t>实现图像配准使用的函数以及函数的参数说明如下：</a:t>
            </a:r>
          </a:p>
        </p:txBody>
      </p:sp>
      <mc:AlternateContent xmlns:mc="http://schemas.openxmlformats.org/markup-compatibility/2006" xmlns:a14="http://schemas.microsoft.com/office/drawing/2010/main">
        <mc:Choice Requires="a14">
          <p:sp>
            <p:nvSpPr>
              <p:cNvPr id="13" name="文本框 12"/>
              <p:cNvSpPr txBox="1"/>
              <p:nvPr/>
            </p:nvSpPr>
            <p:spPr>
              <a:xfrm>
                <a:off x="455911" y="1524164"/>
                <a:ext cx="7704855" cy="461664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1. </a:t>
                </a:r>
                <a:r>
                  <a:rPr lang="zh-CN" altLang="zh-CN" kern="100" dirty="0">
                    <a:effectLst/>
                    <a:latin typeface="Times New Roman" panose="02020603050405020304" pitchFamily="18" charset="0"/>
                    <a:ea typeface="宋体" pitchFamily="2" charset="-122"/>
                  </a:rPr>
                  <a:t>我们使用</a:t>
                </a:r>
                <a:r>
                  <a:rPr lang="en-US" altLang="zh-CN" kern="100" dirty="0">
                    <a:effectLst/>
                    <a:latin typeface="Times New Roman" panose="02020603050405020304" pitchFamily="18" charset="0"/>
                    <a:ea typeface="宋体" pitchFamily="2" charset="-122"/>
                  </a:rPr>
                  <a:t>OpenCV</a:t>
                </a:r>
                <a:r>
                  <a:rPr lang="zh-CN" altLang="zh-CN" kern="100" dirty="0">
                    <a:effectLst/>
                    <a:latin typeface="Times New Roman" panose="02020603050405020304" pitchFamily="18" charset="0"/>
                    <a:ea typeface="宋体" pitchFamily="2" charset="-122"/>
                  </a:rPr>
                  <a:t>提供的函数</a:t>
                </a:r>
                <a:r>
                  <a:rPr lang="en-US" altLang="zh-CN" kern="100" dirty="0">
                    <a:effectLst/>
                    <a:latin typeface="Times New Roman" panose="02020603050405020304" pitchFamily="18" charset="0"/>
                    <a:ea typeface="宋体" pitchFamily="2" charset="-122"/>
                  </a:rPr>
                  <a:t>cv2.ORB_create()</a:t>
                </a:r>
                <a:r>
                  <a:rPr lang="zh-CN" altLang="zh-CN" kern="100" dirty="0">
                    <a:effectLst/>
                    <a:latin typeface="Times New Roman" panose="02020603050405020304" pitchFamily="18" charset="0"/>
                    <a:ea typeface="宋体" pitchFamily="2" charset="-122"/>
                  </a:rPr>
                  <a:t>来定位特征点并创建它们相应的</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描述符。</a:t>
                </a:r>
                <a:r>
                  <a:rPr lang="en-US" altLang="zh-CN" kern="100" dirty="0">
                    <a:effectLst/>
                    <a:latin typeface="Times New Roman" panose="02020603050405020304" pitchFamily="18" charset="0"/>
                    <a:ea typeface="宋体" pitchFamily="2" charset="-122"/>
                  </a:rPr>
                  <a:t>cv2.ORB_create()</a:t>
                </a:r>
                <a:r>
                  <a:rPr lang="zh-CN" altLang="zh-CN" kern="100" dirty="0">
                    <a:effectLst/>
                    <a:latin typeface="Times New Roman" panose="02020603050405020304" pitchFamily="18" charset="0"/>
                    <a:ea typeface="宋体" pitchFamily="2" charset="-122"/>
                  </a:rPr>
                  <a:t>函数的调用语法为：</a:t>
                </a:r>
              </a:p>
              <a:p>
                <a:pPr indent="266700" algn="just"/>
                <a:r>
                  <a:rPr lang="en-US" altLang="zh-CN" kern="100" dirty="0">
                    <a:effectLst/>
                    <a:latin typeface="Times New Roman" panose="02020603050405020304" pitchFamily="18" charset="0"/>
                    <a:ea typeface="宋体" pitchFamily="2" charset="-122"/>
                  </a:rPr>
                  <a:t>orb=cv2.ORB_create(</a:t>
                </a:r>
                <a:r>
                  <a:rPr lang="en-US" altLang="zh-CN" kern="100" dirty="0" err="1">
                    <a:effectLst/>
                    <a:latin typeface="Times New Roman" panose="02020603050405020304" pitchFamily="18" charset="0"/>
                    <a:ea typeface="宋体" pitchFamily="2" charset="-122"/>
                  </a:rPr>
                  <a:t>nfeatures</a:t>
                </a:r>
                <a:r>
                  <a:rPr lang="en-US" altLang="zh-CN" kern="100" dirty="0">
                    <a:effectLst/>
                    <a:latin typeface="Times New Roman" panose="02020603050405020304" pitchFamily="18" charset="0"/>
                    <a:ea typeface="宋体" pitchFamily="2" charset="-122"/>
                  </a:rPr>
                  <a:t> = 500,scaleFactor = 1.2,nlevels = 8,edgeThreshold = 20,</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effectLst/>
                    <a:latin typeface="Times New Roman" panose="02020603050405020304" pitchFamily="18" charset="0"/>
                    <a:ea typeface="宋体" pitchFamily="2" charset="-122"/>
                  </a:rPr>
                  <a:t>firstLevel</a:t>
                </a:r>
                <a:r>
                  <a:rPr lang="en-US" altLang="zh-CN" kern="100" dirty="0">
                    <a:effectLst/>
                    <a:latin typeface="Times New Roman" panose="02020603050405020304" pitchFamily="18" charset="0"/>
                    <a:ea typeface="宋体" pitchFamily="2" charset="-122"/>
                  </a:rPr>
                  <a:t> = 0,WTA_K = 2, </a:t>
                </a:r>
                <a:r>
                  <a:rPr lang="en-US" altLang="zh-CN" kern="100" dirty="0" err="1">
                    <a:effectLst/>
                    <a:latin typeface="Times New Roman" panose="02020603050405020304" pitchFamily="18" charset="0"/>
                    <a:ea typeface="宋体" pitchFamily="2" charset="-122"/>
                  </a:rPr>
                  <a:t>patchSize</a:t>
                </a:r>
                <a:r>
                  <a:rPr lang="en-US" altLang="zh-CN" kern="100" dirty="0">
                    <a:effectLst/>
                    <a:latin typeface="Times New Roman" panose="02020603050405020304" pitchFamily="18" charset="0"/>
                    <a:ea typeface="宋体" pitchFamily="2" charset="-122"/>
                  </a:rPr>
                  <a:t> = 20,fastThreshold = 20)</a:t>
                </a:r>
                <a:endParaRPr lang="zh-CN" altLang="zh-CN" kern="100" dirty="0">
                  <a:effectLst/>
                  <a:latin typeface="Times New Roman" panose="02020603050405020304" pitchFamily="18" charset="0"/>
                  <a:ea typeface="宋体" pitchFamily="2" charset="-122"/>
                </a:endParaRPr>
              </a:p>
              <a:p>
                <a:pPr indent="266700" algn="just"/>
                <a:endParaRPr lang="en-US" altLang="zh-CN" b="1" kern="100" dirty="0">
                  <a:effectLst/>
                  <a:latin typeface="Times New Roman" panose="02020603050405020304" pitchFamily="18" charset="0"/>
                  <a:ea typeface="宋体" pitchFamily="2" charset="-122"/>
                </a:endParaRPr>
              </a:p>
              <a:p>
                <a:pPr indent="266700" algn="just"/>
                <a:r>
                  <a:rPr lang="zh-CN" altLang="zh-CN" b="1"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orb</a:t>
                </a:r>
                <a:r>
                  <a:rPr lang="zh-CN" altLang="zh-CN" sz="1800" kern="100" dirty="0">
                    <a:effectLst/>
                    <a:latin typeface="Times New Roman" panose="02020603050405020304" pitchFamily="18" charset="0"/>
                    <a:ea typeface="宋体" pitchFamily="2" charset="-122"/>
                  </a:rPr>
                  <a:t>：表示生成的关键点。</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nfeatures</a:t>
                </a:r>
                <a:r>
                  <a:rPr lang="zh-CN" altLang="zh-CN" sz="1800" kern="100" dirty="0">
                    <a:effectLst/>
                    <a:latin typeface="Times New Roman" panose="02020603050405020304" pitchFamily="18" charset="0"/>
                    <a:ea typeface="宋体" pitchFamily="2" charset="-122"/>
                  </a:rPr>
                  <a:t>：表示要查找的关键点个数。</a:t>
                </a:r>
                <a:r>
                  <a:rPr lang="en-US" altLang="zh-CN" sz="1800" kern="100" dirty="0" err="1">
                    <a:effectLst/>
                    <a:latin typeface="Times New Roman" panose="02020603050405020304" pitchFamily="18" charset="0"/>
                    <a:ea typeface="宋体" pitchFamily="2" charset="-122"/>
                  </a:rPr>
                  <a:t>nfeatures</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型，默认值为</a:t>
                </a:r>
                <a:r>
                  <a:rPr lang="en-US" altLang="zh-CN" sz="1800" kern="100" dirty="0">
                    <a:effectLst/>
                    <a:latin typeface="Times New Roman" panose="02020603050405020304" pitchFamily="18" charset="0"/>
                    <a:ea typeface="宋体" pitchFamily="2" charset="-122"/>
                  </a:rPr>
                  <a:t>500</a:t>
                </a:r>
                <a:r>
                  <a:rPr lang="zh-CN" altLang="zh-CN" sz="18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scaleFactor</a:t>
                </a:r>
                <a:r>
                  <a:rPr lang="zh-CN" altLang="zh-CN" sz="1800" kern="100" dirty="0">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表示金字塔抽取率，必须大于</a:t>
                </a:r>
                <a:r>
                  <a:rPr lang="en-US" altLang="zh-CN" sz="1800" kern="100" dirty="0">
                    <a:solidFill>
                      <a:srgbClr val="000000"/>
                    </a:solidFill>
                    <a:effectLst/>
                    <a:latin typeface="Times New Roman" panose="02020603050405020304" pitchFamily="18" charset="0"/>
                    <a:ea typeface="宋体" pitchFamily="2" charset="-122"/>
                  </a:rPr>
                  <a:t>1</a:t>
                </a:r>
                <a:r>
                  <a:rPr lang="zh-CN" altLang="zh-CN"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effectLst/>
                    <a:latin typeface="Times New Roman" panose="02020603050405020304" pitchFamily="18" charset="0"/>
                    <a:ea typeface="宋体" pitchFamily="2" charset="-122"/>
                  </a:rPr>
                  <a:t>ORB</a:t>
                </a:r>
                <a:r>
                  <a:rPr lang="zh-CN" altLang="zh-CN" sz="1800" kern="100" dirty="0">
                    <a:solidFill>
                      <a:srgbClr val="000000"/>
                    </a:solidFill>
                    <a:effectLst/>
                    <a:latin typeface="Times New Roman" panose="02020603050405020304" pitchFamily="18" charset="0"/>
                    <a:ea typeface="宋体" pitchFamily="2" charset="-122"/>
                  </a:rPr>
                  <a:t>使用图像金字塔来查找要素，因此必须提供金字塔中每个图层与金字塔级别数之间的比例因子。</a:t>
                </a:r>
                <a14:m>
                  <m:oMath xmlns:m="http://schemas.openxmlformats.org/officeDocument/2006/math">
                    <m:r>
                      <m:rPr>
                        <m:sty m:val="p"/>
                      </m:rPr>
                      <a:rPr lang="en-US" altLang="zh-CN" sz="1800" kern="100">
                        <a:solidFill>
                          <a:srgbClr val="000000"/>
                        </a:solidFill>
                        <a:effectLst/>
                        <a:latin typeface="Cambria Math" panose="02040503050406030204" pitchFamily="18" charset="0"/>
                        <a:ea typeface="宋体" pitchFamily="2" charset="-122"/>
                      </a:rPr>
                      <m:t>scaleFactor</m:t>
                    </m:r>
                    <m:r>
                      <a:rPr lang="en-US" altLang="zh-CN" sz="1800" kern="100">
                        <a:solidFill>
                          <a:srgbClr val="000000"/>
                        </a:solidFill>
                        <a:effectLst/>
                        <a:latin typeface="Cambria Math" panose="02040503050406030204" pitchFamily="18" charset="0"/>
                        <a:ea typeface="宋体" pitchFamily="2" charset="-122"/>
                      </a:rPr>
                      <m:t> = 2</m:t>
                    </m:r>
                  </m:oMath>
                </a14:m>
                <a:r>
                  <a:rPr lang="zh-CN" altLang="zh-CN" sz="1800" kern="100" dirty="0">
                    <a:solidFill>
                      <a:srgbClr val="000000"/>
                    </a:solidFill>
                    <a:effectLst/>
                    <a:latin typeface="Times New Roman" panose="02020603050405020304" pitchFamily="18" charset="0"/>
                    <a:ea typeface="宋体" pitchFamily="2" charset="-122"/>
                  </a:rPr>
                  <a:t>表示经典金字塔，金字塔中每个下一级别的像素比前一级低</a:t>
                </a:r>
                <a:r>
                  <a:rPr lang="en-US" altLang="zh-CN" sz="1800" kern="100" dirty="0">
                    <a:solidFill>
                      <a:srgbClr val="000000"/>
                    </a:solidFill>
                    <a:effectLst/>
                    <a:latin typeface="Times New Roman" panose="02020603050405020304" pitchFamily="18" charset="0"/>
                    <a:ea typeface="宋体" pitchFamily="2" charset="-122"/>
                  </a:rPr>
                  <a:t>4</a:t>
                </a:r>
                <a:r>
                  <a:rPr lang="zh-CN" altLang="zh-CN" sz="1800" kern="100" dirty="0">
                    <a:solidFill>
                      <a:srgbClr val="000000"/>
                    </a:solidFill>
                    <a:effectLst/>
                    <a:latin typeface="Times New Roman" panose="02020603050405020304" pitchFamily="18" charset="0"/>
                    <a:ea typeface="宋体" pitchFamily="2" charset="-122"/>
                  </a:rPr>
                  <a:t>倍。</a:t>
                </a:r>
                <a14:m>
                  <m:oMath xmlns:m="http://schemas.openxmlformats.org/officeDocument/2006/math">
                    <m:r>
                      <m:rPr>
                        <m:sty m:val="p"/>
                      </m:rPr>
                      <a:rPr lang="en-US" altLang="zh-CN" sz="1800" kern="100">
                        <a:solidFill>
                          <a:srgbClr val="000000"/>
                        </a:solidFill>
                        <a:effectLst/>
                        <a:latin typeface="Cambria Math" panose="02040503050406030204" pitchFamily="18" charset="0"/>
                        <a:ea typeface="宋体" pitchFamily="2" charset="-122"/>
                      </a:rPr>
                      <m:t>scaleFactor</m:t>
                    </m:r>
                  </m:oMath>
                </a14:m>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float</a:t>
                </a:r>
                <a:r>
                  <a:rPr lang="zh-CN" altLang="zh-CN" sz="1800" kern="100" dirty="0">
                    <a:effectLst/>
                    <a:latin typeface="Times New Roman" panose="02020603050405020304" pitchFamily="18" charset="0"/>
                    <a:ea typeface="宋体" pitchFamily="2" charset="-122"/>
                  </a:rPr>
                  <a:t>型，</a:t>
                </a:r>
                <a:r>
                  <a:rPr lang="zh-CN" altLang="zh-CN" sz="1800" kern="100" dirty="0">
                    <a:solidFill>
                      <a:srgbClr val="000000"/>
                    </a:solidFill>
                    <a:effectLst/>
                    <a:latin typeface="Times New Roman" panose="02020603050405020304" pitchFamily="18" charset="0"/>
                    <a:ea typeface="宋体" pitchFamily="2" charset="-122"/>
                  </a:rPr>
                  <a:t>默认值为</a:t>
                </a:r>
                <a:r>
                  <a:rPr lang="en-US" altLang="zh-CN" sz="1800" kern="100" dirty="0">
                    <a:solidFill>
                      <a:srgbClr val="000000"/>
                    </a:solidFill>
                    <a:effectLst/>
                    <a:latin typeface="Times New Roman" panose="02020603050405020304" pitchFamily="18" charset="0"/>
                    <a:ea typeface="宋体" pitchFamily="2" charset="-122"/>
                  </a:rPr>
                  <a:t>1.2</a:t>
                </a:r>
                <a:r>
                  <a:rPr lang="zh-CN"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455911" y="1524164"/>
                <a:ext cx="7704855" cy="4616648"/>
              </a:xfrm>
              <a:prstGeom prst="rect">
                <a:avLst/>
              </a:prstGeom>
              <a:blipFill rotWithShape="1">
                <a:blip r:embed="rId3"/>
                <a:stretch>
                  <a:fillRect l="-8" t="-4" r="5" b="-75"/>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0" name="文本框 9"/>
          <p:cNvSpPr txBox="1"/>
          <p:nvPr/>
        </p:nvSpPr>
        <p:spPr>
          <a:xfrm>
            <a:off x="485795" y="1701602"/>
            <a:ext cx="8280920" cy="3970318"/>
          </a:xfrm>
          <a:prstGeom prst="rect">
            <a:avLst/>
          </a:prstGeom>
          <a:noFill/>
        </p:spPr>
        <p:txBody>
          <a:bodyPr wrap="square">
            <a:spAutoFit/>
          </a:bodyPr>
          <a:lstStyle/>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nlevels</a:t>
            </a:r>
            <a:r>
              <a:rPr lang="zh-CN" altLang="zh-CN" sz="1800" kern="100" dirty="0">
                <a:effectLst/>
                <a:latin typeface="Times New Roman" panose="02020603050405020304" pitchFamily="18" charset="0"/>
                <a:ea typeface="宋体" pitchFamily="2" charset="-122"/>
              </a:rPr>
              <a:t>：表示金字塔等级的数量。</a:t>
            </a:r>
            <a:r>
              <a:rPr lang="en-US" altLang="zh-CN" sz="1800" kern="100" dirty="0" err="1">
                <a:effectLst/>
                <a:latin typeface="Times New Roman" panose="02020603050405020304" pitchFamily="18" charset="0"/>
                <a:ea typeface="宋体" pitchFamily="2" charset="-122"/>
              </a:rPr>
              <a:t>nlevels</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型，默认值为</a:t>
            </a:r>
            <a:r>
              <a:rPr lang="en-US" altLang="zh-CN" sz="1800" kern="100" dirty="0">
                <a:effectLst/>
                <a:latin typeface="Times New Roman" panose="02020603050405020304" pitchFamily="18" charset="0"/>
                <a:ea typeface="宋体" pitchFamily="2" charset="-122"/>
              </a:rPr>
              <a:t>8</a:t>
            </a:r>
            <a:r>
              <a:rPr lang="zh-CN" altLang="zh-CN" sz="18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edgeThreshold</a:t>
            </a:r>
            <a:r>
              <a:rPr lang="zh-CN" altLang="zh-CN" sz="1800" kern="100" dirty="0">
                <a:effectLst/>
                <a:latin typeface="Times New Roman" panose="02020603050405020304" pitchFamily="18" charset="0"/>
                <a:ea typeface="宋体" pitchFamily="2" charset="-122"/>
              </a:rPr>
              <a:t>：表示未检测要素边框的大小。由于关键点具有特定的像素大小，因此必须从搜索中排除图像的边缘。</a:t>
            </a:r>
            <a:r>
              <a:rPr lang="en-US" altLang="zh-CN" sz="1800" kern="100" dirty="0" err="1">
                <a:effectLst/>
                <a:latin typeface="Times New Roman" panose="02020603050405020304" pitchFamily="18" charset="0"/>
                <a:ea typeface="宋体" pitchFamily="2" charset="-122"/>
              </a:rPr>
              <a:t>edgeThreshold</a:t>
            </a:r>
            <a:r>
              <a:rPr lang="zh-CN" altLang="zh-CN" sz="1800" kern="100" dirty="0">
                <a:effectLst/>
                <a:latin typeface="Times New Roman" panose="02020603050405020304" pitchFamily="18" charset="0"/>
                <a:ea typeface="宋体" pitchFamily="2" charset="-122"/>
              </a:rPr>
              <a:t>的大小应该等于或大于</a:t>
            </a:r>
            <a:r>
              <a:rPr lang="en-US" altLang="zh-CN" sz="1800" kern="100" dirty="0" err="1">
                <a:effectLst/>
                <a:latin typeface="Times New Roman" panose="02020603050405020304" pitchFamily="18" charset="0"/>
                <a:ea typeface="宋体" pitchFamily="2" charset="-122"/>
              </a:rPr>
              <a:t>patchSize</a:t>
            </a:r>
            <a:r>
              <a:rPr lang="zh-CN" altLang="zh-CN" sz="1800" kern="100" dirty="0">
                <a:effectLst/>
                <a:latin typeface="Times New Roman" panose="02020603050405020304" pitchFamily="18" charset="0"/>
                <a:ea typeface="宋体" pitchFamily="2" charset="-122"/>
              </a:rPr>
              <a:t>参数。</a:t>
            </a:r>
            <a:r>
              <a:rPr lang="en-US" altLang="zh-CN" sz="1800" kern="100" dirty="0" err="1">
                <a:effectLst/>
                <a:latin typeface="Times New Roman" panose="02020603050405020304" pitchFamily="18" charset="0"/>
                <a:ea typeface="宋体" pitchFamily="2" charset="-122"/>
              </a:rPr>
              <a:t>edgeThreshold</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firstLevel</a:t>
            </a:r>
            <a:r>
              <a:rPr lang="zh-CN" altLang="zh-CN" sz="1800" kern="100" dirty="0">
                <a:effectLst/>
                <a:latin typeface="Times New Roman" panose="02020603050405020304" pitchFamily="18" charset="0"/>
                <a:ea typeface="宋体" pitchFamily="2" charset="-122"/>
              </a:rPr>
              <a:t>：表示应将哪个级别视为金字塔中的第一级别。它在当前实现中应为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，通常具有统一标度的金字塔等级被认为是第一级。</a:t>
            </a:r>
            <a:r>
              <a:rPr lang="en-US" altLang="zh-CN" sz="1800" kern="100" dirty="0" err="1">
                <a:effectLst/>
                <a:latin typeface="Times New Roman" panose="02020603050405020304" pitchFamily="18" charset="0"/>
                <a:ea typeface="宋体" pitchFamily="2" charset="-122"/>
              </a:rPr>
              <a:t>firstLevel</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型，默认值为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WTA_K</a:t>
            </a:r>
            <a:r>
              <a:rPr lang="zh-CN" altLang="zh-CN" sz="1800" kern="100" dirty="0">
                <a:effectLst/>
                <a:latin typeface="Times New Roman" panose="02020603050405020304" pitchFamily="18" charset="0"/>
                <a:ea typeface="宋体" pitchFamily="2" charset="-122"/>
              </a:rPr>
              <a:t>：表示生成定向</a:t>
            </a:r>
            <a:r>
              <a:rPr lang="en-US" altLang="zh-CN" sz="1800" kern="100" dirty="0">
                <a:effectLst/>
                <a:latin typeface="Times New Roman" panose="02020603050405020304" pitchFamily="18" charset="0"/>
                <a:ea typeface="宋体" pitchFamily="2" charset="-122"/>
              </a:rPr>
              <a:t>BRIEF</a:t>
            </a:r>
            <a:r>
              <a:rPr lang="zh-CN" altLang="zh-CN" sz="1800" kern="100" dirty="0">
                <a:effectLst/>
                <a:latin typeface="Times New Roman" panose="02020603050405020304" pitchFamily="18" charset="0"/>
                <a:ea typeface="宋体" pitchFamily="2" charset="-122"/>
              </a:rPr>
              <a:t>描述符中的每个元素的随机像素数量。可能的取值为</a:t>
            </a:r>
            <a:r>
              <a:rPr lang="en-US" altLang="zh-CN" sz="1800" kern="100" dirty="0">
                <a:effectLst/>
                <a:latin typeface="Times New Roman" panose="02020603050405020304" pitchFamily="18" charset="0"/>
                <a:ea typeface="宋体" pitchFamily="2" charset="-122"/>
              </a:rPr>
              <a:t>2</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3</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4</a:t>
            </a:r>
            <a:r>
              <a:rPr lang="zh-CN" altLang="zh-CN" sz="1800" kern="100" dirty="0">
                <a:effectLst/>
                <a:latin typeface="Times New Roman" panose="02020603050405020304" pitchFamily="18" charset="0"/>
                <a:ea typeface="宋体" pitchFamily="2" charset="-122"/>
              </a:rPr>
              <a:t>，其中</a:t>
            </a:r>
            <a:r>
              <a:rPr lang="en-US" altLang="zh-CN" sz="1800" kern="100" dirty="0">
                <a:effectLst/>
                <a:latin typeface="Times New Roman" panose="02020603050405020304" pitchFamily="18" charset="0"/>
                <a:ea typeface="宋体" pitchFamily="2" charset="-122"/>
              </a:rPr>
              <a:t>2</a:t>
            </a:r>
            <a:r>
              <a:rPr lang="zh-CN" altLang="zh-CN" sz="1800" kern="100" dirty="0">
                <a:effectLst/>
                <a:latin typeface="Times New Roman" panose="02020603050405020304" pitchFamily="18" charset="0"/>
                <a:ea typeface="宋体" pitchFamily="2" charset="-122"/>
              </a:rPr>
              <a:t>为默认值。例如，值</a:t>
            </a:r>
            <a:r>
              <a:rPr lang="en-US" altLang="zh-CN" sz="1800" kern="100" dirty="0">
                <a:effectLst/>
                <a:latin typeface="Times New Roman" panose="02020603050405020304" pitchFamily="18" charset="0"/>
                <a:ea typeface="宋体" pitchFamily="2" charset="-122"/>
              </a:rPr>
              <a:t>3</a:t>
            </a:r>
            <a:r>
              <a:rPr lang="zh-CN" altLang="zh-CN" sz="1800" kern="100" dirty="0">
                <a:effectLst/>
                <a:latin typeface="Times New Roman" panose="02020603050405020304" pitchFamily="18" charset="0"/>
                <a:ea typeface="宋体" pitchFamily="2" charset="-122"/>
              </a:rPr>
              <a:t>意味着一次选择三个随机像素来比较它们的亮度，返回最亮像素的索引，由于有</a:t>
            </a:r>
            <a:r>
              <a:rPr lang="en-US" altLang="zh-CN" sz="1800" kern="100" dirty="0">
                <a:effectLst/>
                <a:latin typeface="Times New Roman" panose="02020603050405020304" pitchFamily="18" charset="0"/>
                <a:ea typeface="宋体" pitchFamily="2" charset="-122"/>
              </a:rPr>
              <a:t>3</a:t>
            </a:r>
            <a:r>
              <a:rPr lang="zh-CN" altLang="zh-CN" sz="1800" kern="100" dirty="0">
                <a:effectLst/>
                <a:latin typeface="Times New Roman" panose="02020603050405020304" pitchFamily="18" charset="0"/>
                <a:ea typeface="宋体" pitchFamily="2" charset="-122"/>
              </a:rPr>
              <a:t>个像素，因此返回的索引将为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1</a:t>
            </a:r>
            <a:r>
              <a:rPr lang="zh-CN" altLang="zh-CN" sz="1800" kern="100" dirty="0">
                <a:effectLst/>
                <a:latin typeface="Times New Roman" panose="02020603050405020304" pitchFamily="18" charset="0"/>
                <a:ea typeface="宋体" pitchFamily="2" charset="-122"/>
              </a:rPr>
              <a:t>或</a:t>
            </a:r>
            <a:r>
              <a:rPr lang="en-US" altLang="zh-CN" sz="1800" kern="100" dirty="0">
                <a:effectLst/>
                <a:latin typeface="Times New Roman" panose="02020603050405020304" pitchFamily="18" charset="0"/>
                <a:ea typeface="宋体" pitchFamily="2" charset="-122"/>
              </a:rPr>
              <a:t>2</a:t>
            </a:r>
            <a:r>
              <a:rPr lang="zh-CN" altLang="zh-CN" sz="18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patchSize</a:t>
            </a:r>
            <a:r>
              <a:rPr lang="zh-CN" altLang="zh-CN" sz="1800" kern="100" dirty="0">
                <a:effectLst/>
                <a:latin typeface="Times New Roman" panose="02020603050405020304" pitchFamily="18" charset="0"/>
                <a:ea typeface="宋体" pitchFamily="2" charset="-122"/>
              </a:rPr>
              <a:t>：表示面向简要描述符使用的补丁大小。当然，在较小的金字塔层上，由特征覆盖的感知图像区域将更大。</a:t>
            </a:r>
            <a:r>
              <a:rPr lang="en-US" altLang="zh-CN" sz="1800" kern="100" dirty="0" err="1">
                <a:effectLst/>
                <a:latin typeface="Times New Roman" panose="02020603050405020304" pitchFamily="18" charset="0"/>
                <a:ea typeface="宋体" pitchFamily="2" charset="-122"/>
              </a:rPr>
              <a:t>patchSize</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fastThreshold</a:t>
            </a:r>
            <a:r>
              <a:rPr lang="zh-CN" altLang="zh-CN" sz="1800" kern="100" dirty="0">
                <a:effectLst/>
                <a:latin typeface="Times New Roman" panose="02020603050405020304" pitchFamily="18" charset="0"/>
                <a:ea typeface="宋体" pitchFamily="2" charset="-122"/>
              </a:rPr>
              <a:t>：表示</a:t>
            </a:r>
            <a:r>
              <a:rPr lang="en-US" altLang="zh-CN" sz="1800" kern="100" dirty="0">
                <a:effectLst/>
                <a:latin typeface="Times New Roman" panose="02020603050405020304" pitchFamily="18" charset="0"/>
                <a:ea typeface="宋体" pitchFamily="2" charset="-122"/>
              </a:rPr>
              <a:t>FAST</a:t>
            </a:r>
            <a:r>
              <a:rPr lang="zh-CN" altLang="zh-CN" sz="1800" kern="100" dirty="0">
                <a:effectLst/>
                <a:latin typeface="Times New Roman" panose="02020603050405020304" pitchFamily="18" charset="0"/>
                <a:ea typeface="宋体" pitchFamily="2" charset="-122"/>
              </a:rPr>
              <a:t>算法检测要素的大小。</a:t>
            </a:r>
            <a:r>
              <a:rPr lang="en-US" altLang="zh-CN" sz="1800" kern="100" dirty="0" err="1">
                <a:effectLst/>
                <a:latin typeface="Times New Roman" panose="02020603050405020304" pitchFamily="18" charset="0"/>
                <a:ea typeface="宋体" pitchFamily="2" charset="-122"/>
              </a:rPr>
              <a:t>fastThreshold</a:t>
            </a:r>
            <a:r>
              <a:rPr lang="zh-CN" altLang="zh-CN" sz="1800" kern="100" dirty="0">
                <a:effectLst/>
                <a:latin typeface="Times New Roman" panose="02020603050405020304" pitchFamily="18" charset="0"/>
                <a:ea typeface="宋体" pitchFamily="2" charset="-122"/>
              </a:rPr>
              <a:t>数据为</a:t>
            </a:r>
            <a:r>
              <a:rPr lang="en-US" altLang="zh-CN" sz="1800" kern="100" dirty="0">
                <a:effectLst/>
                <a:latin typeface="Times New Roman" panose="02020603050405020304" pitchFamily="18" charset="0"/>
                <a:ea typeface="宋体" pitchFamily="2" charset="-122"/>
              </a:rPr>
              <a:t>int</a:t>
            </a:r>
            <a:r>
              <a:rPr lang="zh-CN" altLang="zh-CN" sz="1800" kern="100" dirty="0">
                <a:effectLst/>
                <a:latin typeface="Times New Roman" panose="02020603050405020304" pitchFamily="18" charset="0"/>
                <a:ea typeface="宋体" pitchFamily="2" charset="-122"/>
              </a:rPr>
              <a:t>型。</a:t>
            </a:r>
          </a:p>
        </p:txBody>
      </p:sp>
      <p:sp>
        <p:nvSpPr>
          <p:cNvPr id="12" name="文本框 11"/>
          <p:cNvSpPr txBox="1"/>
          <p:nvPr/>
        </p:nvSpPr>
        <p:spPr>
          <a:xfrm>
            <a:off x="2294878" y="3223470"/>
            <a:ext cx="4589754" cy="415498"/>
          </a:xfrm>
          <a:prstGeom prst="rect">
            <a:avLst/>
          </a:prstGeom>
          <a:noFill/>
        </p:spPr>
        <p:txBody>
          <a:bodyPr wrap="square">
            <a:spAutoFit/>
          </a:bodyPr>
          <a:lstStyle/>
          <a:p>
            <a:r>
              <a:rPr lang="zh-CN" altLang="en-US" dirty="0"/>
              <a:t>参数说明：</a:t>
            </a:r>
          </a:p>
        </p:txBody>
      </p:sp>
      <p:sp>
        <p:nvSpPr>
          <p:cNvPr id="14" name="文本框 13"/>
          <p:cNvSpPr txBox="1"/>
          <p:nvPr/>
        </p:nvSpPr>
        <p:spPr>
          <a:xfrm>
            <a:off x="828378" y="1209149"/>
            <a:ext cx="4589754" cy="415498"/>
          </a:xfrm>
          <a:prstGeom prst="rect">
            <a:avLst/>
          </a:prstGeom>
          <a:noFill/>
        </p:spPr>
        <p:txBody>
          <a:bodyPr wrap="square">
            <a:spAutoFit/>
          </a:bodyPr>
          <a:lstStyle/>
          <a:p>
            <a:r>
              <a:rPr lang="zh-CN" altLang="en-US" b="1" dirty="0"/>
              <a:t>参数说明：</a:t>
            </a:r>
          </a:p>
        </p:txBody>
      </p:sp>
    </p:spTree>
  </p:cSld>
  <p:clrMapOvr>
    <a:masterClrMapping/>
  </p:clrMapOvr>
  <p:transition spd="slow" advClick="0" advTm="0">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0" name="文本框 9"/>
          <p:cNvSpPr txBox="1"/>
          <p:nvPr/>
        </p:nvSpPr>
        <p:spPr>
          <a:xfrm>
            <a:off x="712183" y="1301397"/>
            <a:ext cx="7677035" cy="1061829"/>
          </a:xfrm>
          <a:prstGeom prst="rect">
            <a:avLst/>
          </a:prstGeom>
          <a:noFill/>
        </p:spPr>
        <p:txBody>
          <a:bodyPr wrap="square">
            <a:spAutoFit/>
          </a:bodyPr>
          <a:lstStyle/>
          <a:p>
            <a:pPr indent="266700" algn="just"/>
            <a:r>
              <a:rPr lang="en-US" altLang="zh-CN" kern="100" dirty="0">
                <a:solidFill>
                  <a:srgbClr val="000000"/>
                </a:solidFill>
                <a:effectLst/>
                <a:latin typeface="Times New Roman" panose="02020603050405020304" pitchFamily="18" charset="0"/>
                <a:ea typeface="宋体" pitchFamily="2" charset="-122"/>
              </a:rPr>
              <a:t>   2. ORB</a:t>
            </a:r>
            <a:r>
              <a:rPr lang="zh-CN" altLang="zh-CN" kern="100" dirty="0">
                <a:effectLst/>
                <a:latin typeface="Times New Roman" panose="02020603050405020304" pitchFamily="18" charset="0"/>
                <a:ea typeface="宋体" pitchFamily="2" charset="-122"/>
              </a:rPr>
              <a:t>算法中检测特征点和计算描述符的函数为</a:t>
            </a:r>
            <a:r>
              <a:rPr lang="en-US" altLang="zh-CN" kern="100" dirty="0" err="1">
                <a:effectLst/>
                <a:latin typeface="Times New Roman" panose="02020603050405020304" pitchFamily="18" charset="0"/>
                <a:ea typeface="宋体" pitchFamily="2" charset="-122"/>
              </a:rPr>
              <a:t>orb.detectAndCompute</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orb.detectAndCompute</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函数的调用语法为：</a:t>
            </a:r>
          </a:p>
        </p:txBody>
      </p:sp>
      <p:sp>
        <p:nvSpPr>
          <p:cNvPr id="14" name="文本框 13"/>
          <p:cNvSpPr txBox="1"/>
          <p:nvPr/>
        </p:nvSpPr>
        <p:spPr>
          <a:xfrm>
            <a:off x="972394" y="2576822"/>
            <a:ext cx="7056784" cy="2354491"/>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kp1,des1=</a:t>
            </a:r>
            <a:r>
              <a:rPr lang="en-US" altLang="zh-CN" kern="100" dirty="0" err="1">
                <a:effectLst/>
                <a:latin typeface="Times New Roman" panose="02020603050405020304" pitchFamily="18" charset="0"/>
                <a:ea typeface="宋体" pitchFamily="2" charset="-122"/>
              </a:rPr>
              <a:t>orb.detectAndCompute</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template,mask</a:t>
            </a:r>
            <a:r>
              <a:rPr lang="en-US" altLang="zh-CN" kern="100" dirty="0">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kp1</a:t>
            </a:r>
            <a:r>
              <a:rPr lang="zh-CN" altLang="zh-CN" kern="100" dirty="0">
                <a:effectLst/>
                <a:latin typeface="Times New Roman" panose="02020603050405020304" pitchFamily="18" charset="0"/>
                <a:ea typeface="宋体" pitchFamily="2" charset="-122"/>
              </a:rPr>
              <a:t>：表示从模板图像中获得的特征点。</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des1</a:t>
            </a:r>
            <a:r>
              <a:rPr lang="zh-CN" altLang="zh-CN" kern="100" dirty="0">
                <a:effectLst/>
                <a:latin typeface="Times New Roman" panose="02020603050405020304" pitchFamily="18" charset="0"/>
                <a:ea typeface="宋体" pitchFamily="2" charset="-122"/>
              </a:rPr>
              <a:t>：表示输出</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算法计算的模板图像描述符。</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template</a:t>
            </a:r>
            <a:r>
              <a:rPr lang="zh-CN" altLang="zh-CN" kern="100" dirty="0">
                <a:effectLst/>
                <a:latin typeface="Times New Roman" panose="02020603050405020304" pitchFamily="18" charset="0"/>
                <a:ea typeface="宋体" pitchFamily="2" charset="-122"/>
              </a:rPr>
              <a:t>：表示输入的模板图像。</a:t>
            </a:r>
          </a:p>
          <a:p>
            <a:pPr marL="342900" lvl="0" indent="-342900" algn="just">
              <a:buFont typeface="Wingdings" panose="05000000000000000000" pitchFamily="2" charset="2"/>
              <a:buChar char=""/>
            </a:pPr>
            <a:r>
              <a:rPr lang="en-US" altLang="zh-CN" kern="100" dirty="0">
                <a:solidFill>
                  <a:srgbClr val="000000"/>
                </a:solidFill>
                <a:effectLst/>
                <a:latin typeface="Times New Roman" panose="02020603050405020304" pitchFamily="18" charset="0"/>
                <a:ea typeface="宋体" pitchFamily="2" charset="-122"/>
              </a:rPr>
              <a:t>mask</a:t>
            </a:r>
            <a:r>
              <a:rPr lang="zh-CN" altLang="zh-CN" kern="100" dirty="0">
                <a:solidFill>
                  <a:srgbClr val="000000"/>
                </a:solidFill>
                <a:effectLst/>
                <a:latin typeface="Times New Roman" panose="02020603050405020304" pitchFamily="18" charset="0"/>
                <a:ea typeface="宋体" pitchFamily="2" charset="-122"/>
              </a:rPr>
              <a:t>：表示掩模。掩膜就是两幅图像之间进行的各种位运算操作。默认值为</a:t>
            </a:r>
            <a:r>
              <a:rPr lang="en-US" altLang="zh-CN" kern="100" dirty="0">
                <a:solidFill>
                  <a:srgbClr val="000000"/>
                </a:solidFill>
                <a:effectLst/>
                <a:latin typeface="Times New Roman" panose="02020603050405020304" pitchFamily="18" charset="0"/>
                <a:ea typeface="宋体" pitchFamily="2" charset="-122"/>
              </a:rPr>
              <a:t>None</a:t>
            </a:r>
            <a:r>
              <a:rPr lang="zh-CN" altLang="zh-CN" kern="100" dirty="0">
                <a:solidFill>
                  <a:srgbClr val="000000"/>
                </a:solidFill>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1" name="文本框 10"/>
          <p:cNvSpPr txBox="1"/>
          <p:nvPr/>
        </p:nvSpPr>
        <p:spPr>
          <a:xfrm>
            <a:off x="578212" y="1518588"/>
            <a:ext cx="7989163" cy="3323987"/>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3. OpenCV</a:t>
            </a:r>
            <a:r>
              <a:rPr lang="zh-CN" altLang="zh-CN" kern="100" dirty="0">
                <a:effectLst/>
                <a:latin typeface="Times New Roman" panose="02020603050405020304" pitchFamily="18" charset="0"/>
                <a:ea typeface="宋体" pitchFamily="2" charset="-122"/>
              </a:rPr>
              <a:t>提供了</a:t>
            </a:r>
            <a:r>
              <a:rPr lang="en-US" altLang="zh-CN" kern="100" dirty="0">
                <a:effectLst/>
                <a:latin typeface="Times New Roman" panose="02020603050405020304" pitchFamily="18" charset="0"/>
                <a:ea typeface="宋体" pitchFamily="2" charset="-122"/>
              </a:rPr>
              <a:t>BF(Brute-Force)</a:t>
            </a:r>
            <a:r>
              <a:rPr lang="zh-CN" altLang="zh-CN" kern="100" dirty="0">
                <a:effectLst/>
                <a:latin typeface="Times New Roman" panose="02020603050405020304" pitchFamily="18" charset="0"/>
                <a:ea typeface="宋体" pitchFamily="2" charset="-122"/>
              </a:rPr>
              <a:t>匹配函数</a:t>
            </a:r>
            <a:r>
              <a:rPr lang="en-US" altLang="zh-CN" kern="100" dirty="0">
                <a:effectLst/>
                <a:latin typeface="Times New Roman" panose="02020603050405020304" pitchFamily="18" charset="0"/>
                <a:ea typeface="宋体" pitchFamily="2" charset="-122"/>
              </a:rPr>
              <a:t>cv2.BFMatcher()</a:t>
            </a:r>
            <a:r>
              <a:rPr lang="zh-CN" altLang="zh-CN" kern="100" dirty="0">
                <a:effectLst/>
                <a:latin typeface="Times New Roman" panose="02020603050405020304" pitchFamily="18" charset="0"/>
                <a:ea typeface="宋体" pitchFamily="2" charset="-122"/>
              </a:rPr>
              <a:t>实现图像的匹配，</a:t>
            </a:r>
            <a:r>
              <a:rPr lang="en-US" altLang="zh-CN" kern="100" dirty="0">
                <a:effectLst/>
                <a:latin typeface="Times New Roman" panose="02020603050405020304" pitchFamily="18" charset="0"/>
                <a:ea typeface="宋体" pitchFamily="2" charset="-122"/>
              </a:rPr>
              <a:t>cv2.BFMatcher()</a:t>
            </a:r>
            <a:r>
              <a:rPr lang="zh-CN" altLang="zh-CN" kern="100" dirty="0">
                <a:effectLst/>
                <a:latin typeface="Times New Roman" panose="02020603050405020304" pitchFamily="18" charset="0"/>
                <a:ea typeface="宋体" pitchFamily="2" charset="-122"/>
              </a:rPr>
              <a:t>函数的调用语法：</a:t>
            </a:r>
          </a:p>
          <a:p>
            <a:pPr indent="266700" algn="just"/>
            <a:r>
              <a:rPr lang="en-US" altLang="zh-CN" kern="100" dirty="0">
                <a:effectLst/>
                <a:latin typeface="Times New Roman" panose="02020603050405020304" pitchFamily="18" charset="0"/>
                <a:ea typeface="宋体" pitchFamily="2" charset="-122"/>
              </a:rPr>
              <a:t>bf = cv2.BFMatcher(</a:t>
            </a:r>
            <a:r>
              <a:rPr lang="en-US" altLang="zh-CN" kern="100" dirty="0" err="1">
                <a:effectLst/>
                <a:latin typeface="Times New Roman" panose="02020603050405020304" pitchFamily="18" charset="0"/>
                <a:ea typeface="宋体" pitchFamily="2" charset="-122"/>
              </a:rPr>
              <a:t>normType,crossCheck</a:t>
            </a:r>
            <a:r>
              <a:rPr lang="en-US" altLang="zh-CN" kern="100" dirty="0">
                <a:effectLst/>
                <a:latin typeface="Times New Roman" panose="02020603050405020304" pitchFamily="18" charset="0"/>
                <a:ea typeface="宋体" pitchFamily="2" charset="-122"/>
              </a:rPr>
              <a:t>=False)</a:t>
            </a:r>
            <a:endParaRPr lang="zh-CN" altLang="zh-CN" kern="100" dirty="0">
              <a:effectLst/>
              <a:latin typeface="Times New Roman" panose="02020603050405020304" pitchFamily="18" charset="0"/>
              <a:ea typeface="宋体" pitchFamily="2" charset="-122"/>
            </a:endParaRPr>
          </a:p>
          <a:p>
            <a:pPr indent="266700" algn="just"/>
            <a:r>
              <a:rPr lang="zh-CN" altLang="zh-CN" b="1"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bf</a:t>
            </a:r>
            <a:r>
              <a:rPr lang="zh-CN" altLang="zh-CN" kern="100" dirty="0">
                <a:effectLst/>
                <a:latin typeface="Times New Roman" panose="02020603050405020304" pitchFamily="18" charset="0"/>
                <a:ea typeface="宋体" pitchFamily="2" charset="-122"/>
              </a:rPr>
              <a:t>：表示匹配结果。</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normType</a:t>
            </a:r>
            <a:r>
              <a:rPr lang="zh-CN" altLang="zh-CN" kern="100" dirty="0">
                <a:effectLst/>
                <a:latin typeface="Times New Roman" panose="02020603050405020304" pitchFamily="18" charset="0"/>
                <a:ea typeface="宋体" pitchFamily="2" charset="-122"/>
              </a:rPr>
              <a:t>：表示使用的距离测量类型。默认值为</a:t>
            </a:r>
            <a:r>
              <a:rPr lang="en-US" altLang="zh-CN" kern="100" dirty="0">
                <a:effectLst/>
                <a:latin typeface="Times New Roman" panose="02020603050405020304" pitchFamily="18" charset="0"/>
                <a:ea typeface="宋体" pitchFamily="2" charset="-122"/>
              </a:rPr>
              <a:t>cv2.Norm_L2</a:t>
            </a:r>
            <a:r>
              <a:rPr lang="zh-CN" altLang="zh-CN" kern="100" dirty="0">
                <a:effectLst/>
                <a:latin typeface="Times New Roman" panose="02020603050405020304" pitchFamily="18" charset="0"/>
                <a:ea typeface="宋体" pitchFamily="2" charset="-122"/>
              </a:rPr>
              <a:t>，适用于</a:t>
            </a:r>
            <a:r>
              <a:rPr lang="en-US" altLang="zh-CN" kern="100" dirty="0">
                <a:effectLst/>
                <a:latin typeface="Times New Roman" panose="02020603050405020304" pitchFamily="18" charset="0"/>
                <a:ea typeface="宋体" pitchFamily="2" charset="-122"/>
              </a:rPr>
              <a:t>SIFT</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SURF</a:t>
            </a:r>
            <a:r>
              <a:rPr lang="zh-CN" altLang="zh-CN" kern="100" dirty="0">
                <a:effectLst/>
                <a:latin typeface="Times New Roman" panose="02020603050405020304" pitchFamily="18" charset="0"/>
                <a:ea typeface="宋体" pitchFamily="2" charset="-122"/>
              </a:rPr>
              <a:t>方法，还有一个参数为</a:t>
            </a:r>
            <a:r>
              <a:rPr lang="en-US" altLang="zh-CN" kern="100" dirty="0">
                <a:effectLst/>
                <a:latin typeface="Times New Roman" panose="02020603050405020304" pitchFamily="18" charset="0"/>
                <a:ea typeface="宋体" pitchFamily="2" charset="-122"/>
              </a:rPr>
              <a:t>cv2.Norm_L1</a:t>
            </a:r>
            <a:r>
              <a:rPr lang="zh-CN" altLang="zh-CN" kern="100" dirty="0">
                <a:effectLst/>
                <a:latin typeface="Times New Roman" panose="02020603050405020304" pitchFamily="18" charset="0"/>
                <a:ea typeface="宋体" pitchFamily="2" charset="-122"/>
              </a:rPr>
              <a:t>。如果是</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BRIEF</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BRISK</a:t>
            </a:r>
            <a:r>
              <a:rPr lang="zh-CN" altLang="zh-CN" kern="100" dirty="0">
                <a:effectLst/>
                <a:latin typeface="Times New Roman" panose="02020603050405020304" pitchFamily="18" charset="0"/>
                <a:ea typeface="宋体" pitchFamily="2" charset="-122"/>
              </a:rPr>
              <a:t>算法等，要用</a:t>
            </a:r>
            <a:r>
              <a:rPr lang="en-US" altLang="zh-CN" kern="100" dirty="0">
                <a:effectLst/>
                <a:latin typeface="Times New Roman" panose="02020603050405020304" pitchFamily="18" charset="0"/>
                <a:ea typeface="宋体" pitchFamily="2" charset="-122"/>
              </a:rPr>
              <a:t>cv2.NORM_HAMMING</a:t>
            </a:r>
            <a:r>
              <a:rPr lang="zh-CN" altLang="zh-CN"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crossCheck</a:t>
            </a:r>
            <a:r>
              <a:rPr lang="zh-CN" altLang="zh-CN" kern="100" dirty="0">
                <a:effectLst/>
                <a:latin typeface="Times New Roman" panose="02020603050405020304" pitchFamily="18" charset="0"/>
                <a:ea typeface="宋体" pitchFamily="2" charset="-122"/>
              </a:rPr>
              <a:t>：表示匹配条件。默认值是</a:t>
            </a:r>
            <a:r>
              <a:rPr lang="en-US" altLang="zh-CN" kern="100" dirty="0">
                <a:effectLst/>
                <a:latin typeface="Times New Roman" panose="02020603050405020304" pitchFamily="18" charset="0"/>
                <a:ea typeface="宋体" pitchFamily="2" charset="-122"/>
              </a:rPr>
              <a:t>False</a:t>
            </a:r>
            <a:r>
              <a:rPr lang="zh-CN" altLang="zh-CN" kern="100" dirty="0">
                <a:effectLst/>
                <a:latin typeface="Times New Roman" panose="02020603050405020304" pitchFamily="18" charset="0"/>
                <a:ea typeface="宋体" pitchFamily="2" charset="-122"/>
              </a:rPr>
              <a:t>，如果设置为</a:t>
            </a:r>
            <a:r>
              <a:rPr lang="en-US" altLang="zh-CN" kern="100" dirty="0">
                <a:effectLst/>
                <a:latin typeface="Times New Roman" panose="02020603050405020304" pitchFamily="18" charset="0"/>
                <a:ea typeface="宋体" pitchFamily="2" charset="-122"/>
              </a:rPr>
              <a:t>True</a:t>
            </a:r>
            <a:r>
              <a:rPr lang="zh-CN" altLang="zh-CN" kern="100" dirty="0">
                <a:effectLst/>
                <a:latin typeface="Times New Roman" panose="02020603050405020304" pitchFamily="18" charset="0"/>
                <a:ea typeface="宋体" pitchFamily="2" charset="-122"/>
              </a:rPr>
              <a:t>，匹配条件会更加严格。</a:t>
            </a:r>
          </a:p>
        </p:txBody>
      </p:sp>
    </p:spTree>
  </p:cSld>
  <p:clrMapOvr>
    <a:masterClrMapping/>
  </p:clrMapOvr>
  <p:transition spd="slow" advClick="0" advTm="0">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734276" y="1485616"/>
            <a:ext cx="7677035" cy="4293483"/>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4. </a:t>
            </a:r>
            <a:r>
              <a:rPr lang="zh-CN" altLang="zh-CN" kern="100" dirty="0">
                <a:effectLst/>
                <a:latin typeface="Times New Roman" panose="02020603050405020304" pitchFamily="18" charset="0"/>
                <a:ea typeface="宋体" pitchFamily="2" charset="-122"/>
              </a:rPr>
              <a:t>计算法</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算法配准描述符的函数</a:t>
            </a:r>
            <a:r>
              <a:rPr lang="en-US" altLang="zh-CN" kern="100" dirty="0" err="1">
                <a:effectLst/>
                <a:latin typeface="Times New Roman" panose="02020603050405020304" pitchFamily="18" charset="0"/>
                <a:ea typeface="宋体" pitchFamily="2" charset="-122"/>
              </a:rPr>
              <a:t>bf.match</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bf.match</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函数的调用语法：</a:t>
            </a:r>
          </a:p>
          <a:p>
            <a:pPr indent="266700" algn="just"/>
            <a:r>
              <a:rPr lang="en-US" altLang="zh-CN" kern="100" dirty="0" err="1">
                <a:effectLst/>
                <a:latin typeface="Times New Roman" panose="02020603050405020304" pitchFamily="18" charset="0"/>
                <a:ea typeface="宋体" pitchFamily="2" charset="-122"/>
              </a:rPr>
              <a:t>mathces</a:t>
            </a:r>
            <a:r>
              <a:rPr lang="en-US" altLang="zh-CN" kern="100" dirty="0">
                <a:effectLst/>
                <a:latin typeface="Times New Roman" panose="02020603050405020304" pitchFamily="18" charset="0"/>
                <a:ea typeface="宋体" pitchFamily="2" charset="-122"/>
              </a:rPr>
              <a:t>=</a:t>
            </a:r>
            <a:r>
              <a:rPr lang="en-US" altLang="zh-CN" kern="100" dirty="0" err="1">
                <a:effectLst/>
                <a:latin typeface="Times New Roman" panose="02020603050405020304" pitchFamily="18" charset="0"/>
                <a:ea typeface="宋体" pitchFamily="2" charset="-122"/>
              </a:rPr>
              <a:t>bf.match</a:t>
            </a:r>
            <a:r>
              <a:rPr lang="en-US" altLang="zh-CN" kern="100" dirty="0">
                <a:effectLst/>
                <a:latin typeface="Times New Roman" panose="02020603050405020304" pitchFamily="18" charset="0"/>
                <a:ea typeface="宋体" pitchFamily="2" charset="-122"/>
              </a:rPr>
              <a:t>(des1,des2)</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matches</a:t>
            </a:r>
            <a:r>
              <a:rPr lang="zh-CN" altLang="zh-CN" kern="100" dirty="0">
                <a:effectLst/>
                <a:latin typeface="Times New Roman" panose="02020603050405020304" pitchFamily="18" charset="0"/>
                <a:ea typeface="宋体" pitchFamily="2" charset="-122"/>
              </a:rPr>
              <a:t>：表示匹配的对象。</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des1</a:t>
            </a:r>
            <a:r>
              <a:rPr lang="zh-CN" altLang="zh-CN" kern="100" dirty="0">
                <a:effectLst/>
                <a:latin typeface="Times New Roman" panose="02020603050405020304" pitchFamily="18" charset="0"/>
                <a:ea typeface="宋体" pitchFamily="2" charset="-122"/>
              </a:rPr>
              <a:t>：表示输出</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算法计算的模板图像描述符。</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des2</a:t>
            </a:r>
            <a:r>
              <a:rPr lang="zh-CN" altLang="zh-CN" kern="100" dirty="0">
                <a:effectLst/>
                <a:latin typeface="Times New Roman" panose="02020603050405020304" pitchFamily="18" charset="0"/>
                <a:ea typeface="宋体" pitchFamily="2" charset="-122"/>
              </a:rPr>
              <a:t>：表示输出</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算法计算的目标图像描述符</a:t>
            </a:r>
          </a:p>
          <a:p>
            <a:pPr indent="266700" algn="just"/>
            <a:endParaRPr lang="en-US" altLang="zh-CN" kern="100" dirty="0">
              <a:effectLst/>
              <a:latin typeface="Times New Roman" panose="02020603050405020304" pitchFamily="18" charset="0"/>
              <a:ea typeface="宋体" pitchFamily="2" charset="-122"/>
            </a:endParaRPr>
          </a:p>
          <a:p>
            <a:pPr indent="266700" algn="just"/>
            <a:r>
              <a:rPr lang="en-US" altLang="zh-CN" kern="100" dirty="0">
                <a:effectLst/>
                <a:latin typeface="Times New Roman" panose="02020603050405020304" pitchFamily="18" charset="0"/>
                <a:ea typeface="宋体" pitchFamily="2" charset="-122"/>
              </a:rPr>
              <a:t>5. </a:t>
            </a:r>
            <a:r>
              <a:rPr lang="zh-CN" altLang="zh-CN" kern="100" dirty="0">
                <a:effectLst/>
                <a:latin typeface="Times New Roman" panose="02020603050405020304" pitchFamily="18" charset="0"/>
                <a:ea typeface="宋体" pitchFamily="2" charset="-122"/>
              </a:rPr>
              <a:t>依据距离排序的函数</a:t>
            </a:r>
            <a:r>
              <a:rPr lang="en-US" altLang="zh-CN" kern="100" dirty="0">
                <a:effectLst/>
                <a:latin typeface="Times New Roman" panose="02020603050405020304" pitchFamily="18" charset="0"/>
                <a:ea typeface="宋体" pitchFamily="2" charset="-122"/>
              </a:rPr>
              <a:t>sorted()</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sorted()</a:t>
            </a:r>
            <a:r>
              <a:rPr lang="zh-CN" altLang="zh-CN" kern="100" dirty="0">
                <a:effectLst/>
                <a:latin typeface="Times New Roman" panose="02020603050405020304" pitchFamily="18" charset="0"/>
                <a:ea typeface="宋体" pitchFamily="2" charset="-122"/>
              </a:rPr>
              <a:t>的调用语法为：</a:t>
            </a:r>
          </a:p>
          <a:p>
            <a:pPr indent="266700" algn="just"/>
            <a:r>
              <a:rPr lang="en-US" altLang="zh-CN" kern="100" dirty="0" err="1">
                <a:effectLst/>
                <a:latin typeface="Times New Roman" panose="02020603050405020304" pitchFamily="18" charset="0"/>
                <a:ea typeface="宋体" pitchFamily="2" charset="-122"/>
              </a:rPr>
              <a:t>mathces</a:t>
            </a:r>
            <a:r>
              <a:rPr lang="en-US" altLang="zh-CN" kern="100" dirty="0">
                <a:effectLst/>
                <a:latin typeface="Times New Roman" panose="02020603050405020304" pitchFamily="18" charset="0"/>
                <a:ea typeface="宋体" pitchFamily="2" charset="-122"/>
              </a:rPr>
              <a:t>=sorted(</a:t>
            </a:r>
            <a:r>
              <a:rPr lang="en-US" altLang="zh-CN" kern="100" dirty="0" err="1">
                <a:effectLst/>
                <a:latin typeface="Times New Roman" panose="02020603050405020304" pitchFamily="18" charset="0"/>
                <a:ea typeface="宋体" pitchFamily="2" charset="-122"/>
              </a:rPr>
              <a:t>mathces,key</a:t>
            </a:r>
            <a:r>
              <a:rPr lang="en-US" altLang="zh-CN" kern="100" dirty="0">
                <a:effectLst/>
                <a:latin typeface="Times New Roman" panose="02020603050405020304" pitchFamily="18" charset="0"/>
                <a:ea typeface="宋体" pitchFamily="2" charset="-122"/>
              </a:rPr>
              <a:t>=lambda x:x.distance)</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matches</a:t>
            </a:r>
            <a:r>
              <a:rPr lang="zh-CN" altLang="zh-CN" kern="100" dirty="0">
                <a:effectLst/>
                <a:latin typeface="Times New Roman" panose="02020603050405020304" pitchFamily="18" charset="0"/>
                <a:ea typeface="宋体" pitchFamily="2" charset="-122"/>
              </a:rPr>
              <a:t>：表示待排序的对象。</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key=lambda x:x.distance</a:t>
            </a:r>
            <a:r>
              <a:rPr lang="zh-CN" altLang="zh-CN" kern="100" dirty="0">
                <a:effectLst/>
                <a:latin typeface="Times New Roman" panose="02020603050405020304" pitchFamily="18" charset="0"/>
                <a:ea typeface="宋体" pitchFamily="2" charset="-122"/>
              </a:rPr>
              <a:t>：表示待排序对象依据距离进行排序。</a:t>
            </a:r>
          </a:p>
        </p:txBody>
      </p:sp>
    </p:spTree>
  </p:cSld>
  <p:clrMapOvr>
    <a:masterClrMapping/>
  </p:clrMapOvr>
  <p:transition spd="slow" advClick="0" advTm="0">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712183" y="1323710"/>
            <a:ext cx="7677035" cy="5262979"/>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6. OpenCV</a:t>
            </a:r>
            <a:r>
              <a:rPr lang="zh-CN" altLang="zh-CN" kern="100" dirty="0">
                <a:effectLst/>
                <a:latin typeface="Times New Roman" panose="02020603050405020304" pitchFamily="18" charset="0"/>
                <a:ea typeface="宋体" pitchFamily="2" charset="-122"/>
              </a:rPr>
              <a:t>提供了函数</a:t>
            </a:r>
            <a:r>
              <a:rPr lang="en-US" altLang="zh-CN" kern="100" dirty="0">
                <a:effectLst/>
                <a:latin typeface="Times New Roman" panose="02020603050405020304" pitchFamily="18" charset="0"/>
                <a:ea typeface="宋体" pitchFamily="2" charset="-122"/>
              </a:rPr>
              <a:t>cv2.drawMatches()</a:t>
            </a:r>
            <a:r>
              <a:rPr lang="zh-CN" altLang="zh-CN" kern="100" dirty="0">
                <a:effectLst/>
                <a:latin typeface="Times New Roman" panose="02020603050405020304" pitchFamily="18" charset="0"/>
                <a:ea typeface="宋体" pitchFamily="2" charset="-122"/>
              </a:rPr>
              <a:t>来画匹配关系，</a:t>
            </a:r>
            <a:r>
              <a:rPr lang="en-US" altLang="zh-CN" kern="100" dirty="0">
                <a:effectLst/>
                <a:latin typeface="Times New Roman" panose="02020603050405020304" pitchFamily="18" charset="0"/>
                <a:ea typeface="宋体" pitchFamily="2" charset="-122"/>
              </a:rPr>
              <a:t>cv2.drawMatches()</a:t>
            </a:r>
            <a:r>
              <a:rPr lang="zh-CN" altLang="zh-CN" kern="100" dirty="0">
                <a:effectLst/>
                <a:latin typeface="Times New Roman" panose="02020603050405020304" pitchFamily="18" charset="0"/>
                <a:ea typeface="宋体" pitchFamily="2" charset="-122"/>
              </a:rPr>
              <a:t>函数的调用语法为：</a:t>
            </a:r>
          </a:p>
          <a:p>
            <a:pPr indent="266700" algn="just"/>
            <a:r>
              <a:rPr lang="en-US" altLang="zh-CN" kern="100" dirty="0">
                <a:effectLst/>
                <a:latin typeface="Times New Roman" panose="02020603050405020304" pitchFamily="18" charset="0"/>
                <a:ea typeface="宋体" pitchFamily="2" charset="-122"/>
              </a:rPr>
              <a:t>result= cv2.drawMatches(template,kp1,target,kp2,mathces[:40],</a:t>
            </a:r>
            <a:r>
              <a:rPr lang="en-US" altLang="zh-CN" kern="100" dirty="0" err="1">
                <a:effectLst/>
                <a:latin typeface="Times New Roman" panose="02020603050405020304" pitchFamily="18" charset="0"/>
                <a:ea typeface="宋体" pitchFamily="2" charset="-122"/>
              </a:rPr>
              <a:t>matchesMask,flags</a:t>
            </a:r>
            <a:r>
              <a:rPr lang="en-US" altLang="zh-CN" kern="100" dirty="0">
                <a:effectLst/>
                <a:latin typeface="Times New Roman" panose="02020603050405020304" pitchFamily="18" charset="0"/>
                <a:ea typeface="宋体" pitchFamily="2" charset="-122"/>
              </a:rPr>
              <a:t>=2)</a:t>
            </a:r>
            <a:endParaRPr lang="zh-CN" altLang="zh-CN" kern="100" dirty="0">
              <a:effectLst/>
              <a:latin typeface="Times New Roman" panose="02020603050405020304" pitchFamily="18" charset="0"/>
              <a:ea typeface="宋体" pitchFamily="2" charset="-122"/>
            </a:endParaRPr>
          </a:p>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result</a:t>
            </a:r>
            <a:r>
              <a:rPr lang="zh-CN" altLang="zh-CN" kern="100" dirty="0">
                <a:effectLst/>
                <a:latin typeface="Times New Roman" panose="02020603050405020304" pitchFamily="18" charset="0"/>
                <a:ea typeface="宋体" pitchFamily="2" charset="-122"/>
              </a:rPr>
              <a:t>：表示匹配结果的图像。</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template</a:t>
            </a:r>
            <a:r>
              <a:rPr lang="zh-CN" altLang="zh-CN" kern="100" dirty="0">
                <a:effectLst/>
                <a:latin typeface="Times New Roman" panose="02020603050405020304" pitchFamily="18" charset="0"/>
                <a:ea typeface="宋体" pitchFamily="2" charset="-122"/>
              </a:rPr>
              <a:t>：表示输入的模板图像。</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kp1</a:t>
            </a:r>
            <a:r>
              <a:rPr lang="zh-CN" altLang="zh-CN" kern="100" dirty="0">
                <a:effectLst/>
                <a:latin typeface="Times New Roman" panose="02020603050405020304" pitchFamily="18" charset="0"/>
                <a:ea typeface="宋体" pitchFamily="2" charset="-122"/>
              </a:rPr>
              <a:t>：表示模板图像的特征点。</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target</a:t>
            </a:r>
            <a:r>
              <a:rPr lang="zh-CN" altLang="zh-CN" kern="100" dirty="0">
                <a:effectLst/>
                <a:latin typeface="Times New Roman" panose="02020603050405020304" pitchFamily="18" charset="0"/>
                <a:ea typeface="宋体" pitchFamily="2" charset="-122"/>
              </a:rPr>
              <a:t>：表示输入的目标图像。</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kp2</a:t>
            </a:r>
            <a:r>
              <a:rPr lang="zh-CN" altLang="zh-CN" kern="100" dirty="0">
                <a:effectLst/>
                <a:latin typeface="Times New Roman" panose="02020603050405020304" pitchFamily="18" charset="0"/>
                <a:ea typeface="宋体" pitchFamily="2" charset="-122"/>
              </a:rPr>
              <a:t>：表示目标图像的特征点。</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mathces</a:t>
            </a:r>
            <a:r>
              <a:rPr lang="en-US" altLang="zh-CN" kern="100" dirty="0">
                <a:effectLst/>
                <a:latin typeface="Times New Roman" panose="02020603050405020304" pitchFamily="18" charset="0"/>
                <a:ea typeface="宋体" pitchFamily="2" charset="-122"/>
              </a:rPr>
              <a:t>[:40]</a:t>
            </a:r>
            <a:r>
              <a:rPr lang="zh-CN" altLang="zh-CN" kern="100" dirty="0">
                <a:effectLst/>
                <a:latin typeface="Times New Roman" panose="02020603050405020304" pitchFamily="18" charset="0"/>
                <a:ea typeface="宋体" pitchFamily="2" charset="-122"/>
              </a:rPr>
              <a:t>：表示模板图像的特征点匹配目标图像的特征点</a:t>
            </a:r>
            <a:r>
              <a:rPr lang="en-US" altLang="zh-CN" kern="100" dirty="0">
                <a:effectLst/>
                <a:latin typeface="Times New Roman" panose="02020603050405020304" pitchFamily="18" charset="0"/>
                <a:ea typeface="宋体" pitchFamily="2" charset="-122"/>
              </a:rPr>
              <a:t>40</a:t>
            </a:r>
            <a:r>
              <a:rPr lang="zh-CN" altLang="zh-CN" kern="100" dirty="0">
                <a:effectLst/>
                <a:latin typeface="Times New Roman" panose="02020603050405020304" pitchFamily="18" charset="0"/>
                <a:ea typeface="宋体" pitchFamily="2" charset="-122"/>
              </a:rPr>
              <a:t>个。</a:t>
            </a:r>
          </a:p>
          <a:p>
            <a:pPr marL="342900" lvl="0" indent="-342900" algn="just">
              <a:buFont typeface="Wingdings" panose="05000000000000000000" pitchFamily="2" charset="2"/>
              <a:buChar char=""/>
            </a:pPr>
            <a:r>
              <a:rPr lang="en-US" altLang="zh-CN" kern="100" dirty="0" err="1">
                <a:effectLst/>
                <a:latin typeface="Times New Roman" panose="02020603050405020304" pitchFamily="18" charset="0"/>
                <a:ea typeface="宋体" pitchFamily="2" charset="-122"/>
              </a:rPr>
              <a:t>matchesMask</a:t>
            </a:r>
            <a:r>
              <a:rPr lang="zh-CN" altLang="zh-CN" kern="100" dirty="0">
                <a:effectLst/>
                <a:latin typeface="Times New Roman" panose="02020603050405020304" pitchFamily="18" charset="0"/>
                <a:ea typeface="宋体" pitchFamily="2" charset="-122"/>
              </a:rPr>
              <a:t>：表示被画出的点。若为</a:t>
            </a:r>
            <a:r>
              <a:rPr lang="en-US" altLang="zh-CN" kern="100" dirty="0">
                <a:effectLst/>
                <a:latin typeface="Times New Roman" panose="02020603050405020304" pitchFamily="18" charset="0"/>
                <a:ea typeface="宋体" pitchFamily="2" charset="-122"/>
              </a:rPr>
              <a:t>None</a:t>
            </a:r>
            <a:r>
              <a:rPr lang="zh-CN" altLang="zh-CN" kern="100" dirty="0">
                <a:effectLst/>
                <a:latin typeface="Times New Roman" panose="02020603050405020304" pitchFamily="18" charset="0"/>
                <a:ea typeface="宋体" pitchFamily="2" charset="-122"/>
              </a:rPr>
              <a:t>表示画出所有匹配点。</a:t>
            </a:r>
          </a:p>
          <a:p>
            <a:r>
              <a:rPr lang="en-US" altLang="zh-CN" kern="100" dirty="0">
                <a:effectLst/>
                <a:latin typeface="Times New Roman" panose="02020603050405020304" pitchFamily="18" charset="0"/>
                <a:ea typeface="宋体" pitchFamily="2" charset="-122"/>
              </a:rPr>
              <a:t>flags</a:t>
            </a:r>
            <a:r>
              <a:rPr lang="zh-CN" altLang="zh-CN" kern="100" dirty="0">
                <a:effectLst/>
                <a:latin typeface="Times New Roman" panose="02020603050405020304" pitchFamily="18" charset="0"/>
                <a:ea typeface="宋体" pitchFamily="2" charset="-122"/>
                <a:cs typeface="Times New Roman" panose="02020603050405020304" pitchFamily="18" charset="0"/>
              </a:rPr>
              <a:t>：表示匹配图像的个数。</a:t>
            </a:r>
            <a:endParaRPr lang="zh-CN" altLang="zh-CN"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0" name="文本框 9"/>
          <p:cNvSpPr txBox="1"/>
          <p:nvPr/>
        </p:nvSpPr>
        <p:spPr>
          <a:xfrm>
            <a:off x="142957" y="1228837"/>
            <a:ext cx="8822325" cy="415498"/>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利用</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算法实现基于特征的配准方法，相应的代码如下：</a:t>
            </a:r>
          </a:p>
        </p:txBody>
      </p:sp>
      <p:sp>
        <p:nvSpPr>
          <p:cNvPr id="9" name="文本框 8"/>
          <p:cNvSpPr txBox="1"/>
          <p:nvPr/>
        </p:nvSpPr>
        <p:spPr>
          <a:xfrm>
            <a:off x="204205" y="1785371"/>
            <a:ext cx="8844100" cy="4524315"/>
          </a:xfrm>
          <a:prstGeom prst="rect">
            <a:avLst/>
          </a:prstGeom>
          <a:no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from matplotlib import </a:t>
            </a:r>
            <a:r>
              <a:rPr lang="en-US" altLang="zh-CN" sz="1800" kern="100" dirty="0" err="1">
                <a:solidFill>
                  <a:srgbClr val="000000"/>
                </a:solidFill>
                <a:effectLst/>
                <a:latin typeface="Times New Roman" panose="02020603050405020304" pitchFamily="18" charset="0"/>
                <a:ea typeface="宋体" pitchFamily="2" charset="-122"/>
              </a:rPr>
              <a:t>pyplot</a:t>
            </a:r>
            <a:r>
              <a:rPr lang="en-US" altLang="zh-CN" sz="1800" kern="100" dirty="0">
                <a:solidFill>
                  <a:srgbClr val="000000"/>
                </a:solidFill>
                <a:effectLst/>
                <a:latin typeface="Times New Roman" panose="02020603050405020304" pitchFamily="18" charset="0"/>
                <a:ea typeface="宋体" pitchFamily="2" charset="-122"/>
              </a:rPr>
              <a:t> as </a:t>
            </a:r>
            <a:r>
              <a:rPr lang="en-US" altLang="zh-CN" sz="1800" kern="100" dirty="0" err="1">
                <a:solidFill>
                  <a:srgbClr val="000000"/>
                </a:solidFill>
                <a:effectLst/>
                <a:latin typeface="Times New Roman" panose="02020603050405020304" pitchFamily="18" charset="0"/>
                <a:ea typeface="宋体" pitchFamily="2" charset="-122"/>
              </a:rPr>
              <a:t>plt</a:t>
            </a:r>
            <a:r>
              <a:rPr lang="en-US" altLang="zh-CN" sz="1800" kern="100" dirty="0">
                <a:solidFill>
                  <a:srgbClr val="000000"/>
                </a:solidFill>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template=cv2.imread('D:\ template.jpg',1) 		#</a:t>
            </a:r>
            <a:r>
              <a:rPr lang="zh-CN" altLang="zh-CN" sz="1800" kern="100" dirty="0">
                <a:solidFill>
                  <a:srgbClr val="000000"/>
                </a:solidFill>
                <a:effectLst/>
                <a:latin typeface="Times New Roman" panose="02020603050405020304" pitchFamily="18" charset="0"/>
                <a:ea typeface="宋体" pitchFamily="2" charset="-122"/>
              </a:rPr>
              <a:t>读取模板图像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target=cv2.imread('D:\ target.jpg',1) 		#</a:t>
            </a:r>
            <a:r>
              <a:rPr lang="zh-CN" altLang="zh-CN" sz="1800" kern="100" dirty="0">
                <a:solidFill>
                  <a:srgbClr val="000000"/>
                </a:solidFill>
                <a:effectLst/>
                <a:latin typeface="Times New Roman" panose="02020603050405020304" pitchFamily="18" charset="0"/>
                <a:ea typeface="宋体" pitchFamily="2" charset="-122"/>
              </a:rPr>
              <a:t>读取目标图像</a:t>
            </a:r>
            <a:r>
              <a:rPr lang="en-US" altLang="zh-CN" sz="1800" kern="100" dirty="0">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建立</a:t>
            </a:r>
            <a:r>
              <a:rPr lang="en-US" altLang="zh-CN" sz="1800" kern="100" dirty="0">
                <a:solidFill>
                  <a:srgbClr val="000000"/>
                </a:solidFill>
                <a:effectLst/>
                <a:latin typeface="Times New Roman" panose="02020603050405020304" pitchFamily="18" charset="0"/>
                <a:ea typeface="宋体" pitchFamily="2" charset="-122"/>
              </a:rPr>
              <a:t>ORB</a:t>
            </a:r>
            <a:r>
              <a:rPr lang="zh-CN" altLang="zh-CN" sz="1800" kern="100" dirty="0">
                <a:solidFill>
                  <a:srgbClr val="000000"/>
                </a:solidFill>
                <a:effectLst/>
                <a:latin typeface="Times New Roman" panose="02020603050405020304" pitchFamily="18" charset="0"/>
                <a:ea typeface="宋体" pitchFamily="2" charset="-122"/>
              </a:rPr>
              <a:t>特征检测器</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orb=cv2.ORB_create(</a:t>
            </a:r>
            <a:r>
              <a:rPr lang="en-US" altLang="zh-CN" sz="1800" kern="100" dirty="0" err="1">
                <a:solidFill>
                  <a:srgbClr val="000000"/>
                </a:solidFill>
                <a:effectLst/>
                <a:latin typeface="Times New Roman" panose="02020603050405020304" pitchFamily="18" charset="0"/>
                <a:ea typeface="宋体" pitchFamily="2" charset="-122"/>
              </a:rPr>
              <a:t>nfeatures</a:t>
            </a:r>
            <a:r>
              <a:rPr lang="en-US" altLang="zh-CN" sz="1800" kern="100" dirty="0">
                <a:solidFill>
                  <a:srgbClr val="000000"/>
                </a:solidFill>
                <a:effectLst/>
                <a:latin typeface="Times New Roman" panose="02020603050405020304" pitchFamily="18" charset="0"/>
                <a:ea typeface="宋体" pitchFamily="2" charset="-122"/>
              </a:rPr>
              <a:t> = 500,scaleFactor = 1.2,nlevels = 8,edgeThreshold = 20,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firstLevel</a:t>
            </a:r>
            <a:r>
              <a:rPr lang="en-US" altLang="zh-CN" sz="1800" kern="100" dirty="0">
                <a:solidFill>
                  <a:srgbClr val="000000"/>
                </a:solidFill>
                <a:effectLst/>
                <a:latin typeface="Times New Roman" panose="02020603050405020304" pitchFamily="18" charset="0"/>
                <a:ea typeface="宋体" pitchFamily="2" charset="-122"/>
              </a:rPr>
              <a:t> = 0,WTA_K = 2 , </a:t>
            </a:r>
            <a:r>
              <a:rPr lang="en-US" altLang="zh-CN" sz="1800" kern="100" dirty="0" err="1">
                <a:solidFill>
                  <a:srgbClr val="000000"/>
                </a:solidFill>
                <a:effectLst/>
                <a:latin typeface="Times New Roman" panose="02020603050405020304" pitchFamily="18" charset="0"/>
                <a:ea typeface="宋体" pitchFamily="2" charset="-122"/>
              </a:rPr>
              <a:t>patchSize</a:t>
            </a:r>
            <a:r>
              <a:rPr lang="en-US" altLang="zh-CN" sz="1800" kern="100" dirty="0">
                <a:solidFill>
                  <a:srgbClr val="000000"/>
                </a:solidFill>
                <a:effectLst/>
                <a:latin typeface="Times New Roman" panose="02020603050405020304" pitchFamily="18" charset="0"/>
                <a:ea typeface="宋体" pitchFamily="2" charset="-122"/>
              </a:rPr>
              <a:t> = 20,fastThreshold = 20)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kp1,des1=</a:t>
            </a:r>
            <a:r>
              <a:rPr lang="en-US" altLang="zh-CN" sz="1800" kern="100" dirty="0" err="1">
                <a:solidFill>
                  <a:srgbClr val="000000"/>
                </a:solidFill>
                <a:effectLst/>
                <a:latin typeface="Times New Roman" panose="02020603050405020304" pitchFamily="18" charset="0"/>
                <a:ea typeface="宋体" pitchFamily="2" charset="-122"/>
              </a:rPr>
              <a:t>orb.detectAndCompute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template,None</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计算</a:t>
            </a:r>
            <a:r>
              <a:rPr lang="en-US" altLang="zh-CN" sz="1800" kern="100" dirty="0">
                <a:solidFill>
                  <a:srgbClr val="000000"/>
                </a:solidFill>
                <a:effectLst/>
                <a:latin typeface="Times New Roman" panose="02020603050405020304" pitchFamily="18" charset="0"/>
                <a:ea typeface="宋体" pitchFamily="2" charset="-122"/>
              </a:rPr>
              <a:t>template</a:t>
            </a:r>
            <a:r>
              <a:rPr lang="zh-CN" altLang="zh-CN" sz="1800" kern="100" dirty="0">
                <a:solidFill>
                  <a:srgbClr val="000000"/>
                </a:solidFill>
                <a:effectLst/>
                <a:latin typeface="Times New Roman" panose="02020603050405020304" pitchFamily="18" charset="0"/>
                <a:ea typeface="宋体" pitchFamily="2" charset="-122"/>
              </a:rPr>
              <a:t>中的特征点和描述符</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kp2,des2=</a:t>
            </a:r>
            <a:r>
              <a:rPr lang="en-US" altLang="zh-CN" sz="1800" kern="100" dirty="0" err="1">
                <a:solidFill>
                  <a:srgbClr val="000000"/>
                </a:solidFill>
                <a:effectLst/>
                <a:latin typeface="Times New Roman" panose="02020603050405020304" pitchFamily="18" charset="0"/>
                <a:ea typeface="宋体" pitchFamily="2" charset="-122"/>
              </a:rPr>
              <a:t>orb.detectAndCompute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target,None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计算</a:t>
            </a:r>
            <a:r>
              <a:rPr lang="en-US" altLang="zh-CN" sz="1800" kern="100" dirty="0">
                <a:solidFill>
                  <a:srgbClr val="000000"/>
                </a:solidFill>
                <a:effectLst/>
                <a:latin typeface="Times New Roman" panose="02020603050405020304" pitchFamily="18" charset="0"/>
                <a:ea typeface="宋体" pitchFamily="2" charset="-122"/>
              </a:rPr>
              <a:t>target</a:t>
            </a:r>
            <a:r>
              <a:rPr lang="zh-CN" altLang="zh-CN" sz="1800" kern="100" dirty="0">
                <a:solidFill>
                  <a:srgbClr val="000000"/>
                </a:solidFill>
                <a:effectLst/>
                <a:latin typeface="Times New Roman" panose="02020603050405020304" pitchFamily="18" charset="0"/>
                <a:ea typeface="宋体" pitchFamily="2" charset="-122"/>
              </a:rPr>
              <a:t>中的特征点和描述符</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建立配准关系</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bf = cv2.BFMatcher(cv2.NORM_HAMMING,crossCheck=True)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mathces</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bf.match</a:t>
            </a:r>
            <a:r>
              <a:rPr lang="en-US" altLang="zh-CN" sz="1800" kern="100" dirty="0">
                <a:solidFill>
                  <a:srgbClr val="000000"/>
                </a:solidFill>
                <a:effectLst/>
                <a:latin typeface="Times New Roman" panose="02020603050405020304" pitchFamily="18" charset="0"/>
                <a:ea typeface="宋体" pitchFamily="2" charset="-122"/>
              </a:rPr>
              <a:t>(des1,des2) 			#</a:t>
            </a:r>
            <a:r>
              <a:rPr lang="zh-CN" altLang="zh-CN" sz="1800" kern="100" dirty="0">
                <a:solidFill>
                  <a:srgbClr val="000000"/>
                </a:solidFill>
                <a:effectLst/>
                <a:latin typeface="Times New Roman" panose="02020603050405020304" pitchFamily="18" charset="0"/>
                <a:ea typeface="宋体" pitchFamily="2" charset="-122"/>
              </a:rPr>
              <a:t>配准描述符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mathces</a:t>
            </a:r>
            <a:r>
              <a:rPr lang="en-US" altLang="zh-CN" sz="1800" kern="100" dirty="0">
                <a:solidFill>
                  <a:srgbClr val="000000"/>
                </a:solidFill>
                <a:effectLst/>
                <a:latin typeface="Times New Roman" panose="02020603050405020304" pitchFamily="18" charset="0"/>
                <a:ea typeface="宋体" pitchFamily="2" charset="-122"/>
              </a:rPr>
              <a:t>=sorted(</a:t>
            </a:r>
            <a:r>
              <a:rPr lang="en-US" altLang="zh-CN" sz="1800" kern="100" dirty="0" err="1">
                <a:solidFill>
                  <a:srgbClr val="000000"/>
                </a:solidFill>
                <a:effectLst/>
                <a:latin typeface="Times New Roman" panose="02020603050405020304" pitchFamily="18" charset="0"/>
                <a:ea typeface="宋体" pitchFamily="2" charset="-122"/>
              </a:rPr>
              <a:t>mathces,key</a:t>
            </a:r>
            <a:r>
              <a:rPr lang="en-US" altLang="zh-CN" sz="1800" kern="100" dirty="0">
                <a:solidFill>
                  <a:srgbClr val="000000"/>
                </a:solidFill>
                <a:effectLst/>
                <a:latin typeface="Times New Roman" panose="02020603050405020304" pitchFamily="18" charset="0"/>
                <a:ea typeface="宋体" pitchFamily="2" charset="-122"/>
              </a:rPr>
              <a:t>=lambda x:x.distance) 	#</a:t>
            </a:r>
            <a:r>
              <a:rPr lang="zh-CN" altLang="zh-CN" sz="1800" kern="100" dirty="0">
                <a:solidFill>
                  <a:srgbClr val="000000"/>
                </a:solidFill>
                <a:effectLst/>
                <a:latin typeface="Times New Roman" panose="02020603050405020304" pitchFamily="18" charset="0"/>
                <a:ea typeface="宋体" pitchFamily="2" charset="-122"/>
              </a:rPr>
              <a:t>依据距离排序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画出配准关系</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result= cv2.drawMatches(template,kp1,target,kp2,mathces[:40],</a:t>
            </a:r>
            <a:r>
              <a:rPr lang="en-US" altLang="zh-CN" sz="1800" kern="100" dirty="0" err="1">
                <a:solidFill>
                  <a:srgbClr val="000000"/>
                </a:solidFill>
                <a:effectLst/>
                <a:latin typeface="Times New Roman" panose="02020603050405020304" pitchFamily="18" charset="0"/>
                <a:ea typeface="宋体" pitchFamily="2" charset="-122"/>
              </a:rPr>
              <a:t>None,flags</a:t>
            </a:r>
            <a:r>
              <a:rPr lang="en-US" altLang="zh-CN" sz="1800" kern="100" dirty="0">
                <a:solidFill>
                  <a:srgbClr val="000000"/>
                </a:solidFill>
                <a:effectLst/>
                <a:latin typeface="Times New Roman" panose="02020603050405020304" pitchFamily="18" charset="0"/>
                <a:ea typeface="宋体" pitchFamily="2" charset="-122"/>
              </a:rPr>
              <a:t>=2) </a:t>
            </a:r>
            <a:endParaRPr lang="zh-CN" altLang="zh-CN" sz="1800" kern="100" dirty="0">
              <a:effectLst/>
              <a:latin typeface="Times New Roman" panose="02020603050405020304" pitchFamily="18" charset="0"/>
              <a:ea typeface="宋体" pitchFamily="2" charset="-122"/>
            </a:endParaRPr>
          </a:p>
          <a:p>
            <a:r>
              <a:rPr lang="en-US" altLang="zh-CN" sz="1800" kern="100" dirty="0">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plt.imshow</a:t>
            </a:r>
            <a:r>
              <a:rPr lang="en-US" altLang="zh-CN" sz="1800" kern="100" dirty="0">
                <a:effectLst/>
                <a:latin typeface="Times New Roman" panose="02020603050405020304" pitchFamily="18" charset="0"/>
                <a:ea typeface="宋体" pitchFamily="2" charset="-122"/>
              </a:rPr>
              <a:t>(result),</a:t>
            </a:r>
            <a:r>
              <a:rPr lang="en-US" altLang="zh-CN" sz="1800" kern="100" dirty="0" err="1">
                <a:effectLst/>
                <a:latin typeface="Times New Roman" panose="02020603050405020304" pitchFamily="18" charset="0"/>
                <a:ea typeface="宋体" pitchFamily="2" charset="-122"/>
              </a:rPr>
              <a:t>plt.show</a:t>
            </a:r>
            <a:r>
              <a:rPr lang="en-US" altLang="zh-CN" sz="1800" kern="100" dirty="0">
                <a:effectLst/>
                <a:latin typeface="Times New Roman" panose="02020603050405020304" pitchFamily="18" charset="0"/>
                <a:ea typeface="宋体" pitchFamily="2" charset="-122"/>
              </a:rPr>
              <a:t>()	</a:t>
            </a:r>
            <a:endParaRPr lang="zh-CN" altLang="en-US" sz="1800" dirty="0"/>
          </a:p>
        </p:txBody>
      </p:sp>
    </p:spTree>
  </p:cSld>
  <p:clrMapOvr>
    <a:masterClrMapping/>
  </p:clrMapOvr>
  <p:transition spd="slow" advClick="0" advTm="0">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36568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4.7.4  </a:t>
            </a:r>
            <a:r>
              <a:rPr lang="zh-CN" altLang="en-US" sz="2100" b="1" dirty="0">
                <a:solidFill>
                  <a:schemeClr val="tx1">
                    <a:lumMod val="75000"/>
                    <a:lumOff val="25000"/>
                  </a:schemeClr>
                </a:solidFill>
                <a:latin typeface="微软雅黑" panose="020B0503020204020204" pitchFamily="34" charset="-122"/>
              </a:rPr>
              <a:t>图像配准的</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实现</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7" name="Rectangle 15"/>
          <p:cNvSpPr>
            <a:spLocks noChangeArrowheads="1"/>
          </p:cNvSpPr>
          <p:nvPr/>
        </p:nvSpPr>
        <p:spPr bwMode="auto">
          <a:xfrm>
            <a:off x="0" y="84613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9" name="文本框 8"/>
          <p:cNvSpPr txBox="1"/>
          <p:nvPr/>
        </p:nvSpPr>
        <p:spPr>
          <a:xfrm>
            <a:off x="744538" y="1203639"/>
            <a:ext cx="6276527" cy="461665"/>
          </a:xfrm>
          <a:prstGeom prst="rect">
            <a:avLst/>
          </a:prstGeom>
          <a:noFill/>
        </p:spPr>
        <p:txBody>
          <a:bodyPr wrap="square">
            <a:spAutoFit/>
          </a:bodyPr>
          <a:lstStyle/>
          <a:p>
            <a:r>
              <a:rPr lang="zh-CN" altLang="zh-CN" kern="100" dirty="0">
                <a:effectLst/>
                <a:latin typeface="Times New Roman" panose="02020603050405020304" pitchFamily="18" charset="0"/>
                <a:ea typeface="宋体" pitchFamily="2" charset="-122"/>
                <a:cs typeface="Times New Roman" panose="02020603050405020304" pitchFamily="18" charset="0"/>
              </a:rPr>
              <a:t>上述程序的运行结果如图</a:t>
            </a:r>
            <a:r>
              <a:rPr lang="en-US" altLang="zh-CN" kern="100" dirty="0">
                <a:effectLst/>
                <a:latin typeface="Times New Roman" panose="02020603050405020304" pitchFamily="18" charset="0"/>
                <a:ea typeface="宋体" pitchFamily="2" charset="-122"/>
              </a:rPr>
              <a:t>4.17</a:t>
            </a:r>
            <a:r>
              <a:rPr lang="zh-CN" altLang="zh-CN" kern="100" dirty="0">
                <a:effectLst/>
                <a:latin typeface="Times New Roman" panose="02020603050405020304" pitchFamily="18" charset="0"/>
                <a:ea typeface="宋体" pitchFamily="2" charset="-122"/>
                <a:cs typeface="Times New Roman" panose="02020603050405020304" pitchFamily="18" charset="0"/>
              </a:rPr>
              <a:t>所示</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rcRect l="6068" t="30278" r="7247" b="25025"/>
          <a:stretch>
            <a:fillRect/>
          </a:stretch>
        </p:blipFill>
        <p:spPr>
          <a:xfrm>
            <a:off x="1764482" y="1705885"/>
            <a:ext cx="6012482" cy="2325509"/>
          </a:xfrm>
          <a:prstGeom prst="rect">
            <a:avLst/>
          </a:prstGeom>
          <a:noFill/>
          <a:ln>
            <a:noFill/>
          </a:ln>
        </p:spPr>
      </p:pic>
      <p:sp>
        <p:nvSpPr>
          <p:cNvPr id="12" name="文本框 11"/>
          <p:cNvSpPr txBox="1"/>
          <p:nvPr/>
        </p:nvSpPr>
        <p:spPr>
          <a:xfrm>
            <a:off x="3085952" y="4155994"/>
            <a:ext cx="3215034" cy="338554"/>
          </a:xfrm>
          <a:prstGeom prst="rect">
            <a:avLst/>
          </a:prstGeom>
          <a:noFill/>
        </p:spPr>
        <p:txBody>
          <a:bodyPr wrap="square">
            <a:spAutoFit/>
          </a:bodyPr>
          <a:lstStyle/>
          <a:p>
            <a:r>
              <a:rPr lang="zh-CN" altLang="en-US" sz="1600" b="1" kern="0" dirty="0">
                <a:latin typeface="黑体" panose="02010609060101010101" pitchFamily="49" charset="-122"/>
                <a:ea typeface="黑体" panose="02010609060101010101" pitchFamily="49" charset="-122"/>
              </a:rPr>
              <a:t>图</a:t>
            </a:r>
            <a:r>
              <a:rPr lang="en-US" altLang="zh-CN" sz="1600" b="1" kern="0" dirty="0">
                <a:latin typeface="黑体" panose="02010609060101010101" pitchFamily="49" charset="-122"/>
                <a:ea typeface="黑体" panose="02010609060101010101" pitchFamily="49" charset="-122"/>
              </a:rPr>
              <a:t>4.17  </a:t>
            </a:r>
            <a:r>
              <a:rPr lang="zh-CN" altLang="en-US" sz="1600" b="1" kern="0" dirty="0">
                <a:latin typeface="黑体" panose="02010609060101010101" pitchFamily="49" charset="-122"/>
                <a:ea typeface="黑体" panose="02010609060101010101" pitchFamily="49" charset="-122"/>
              </a:rPr>
              <a:t>基于特征的配准效果图</a:t>
            </a:r>
          </a:p>
        </p:txBody>
      </p:sp>
      <p:sp>
        <p:nvSpPr>
          <p:cNvPr id="13" name="文本框 12"/>
          <p:cNvSpPr txBox="1"/>
          <p:nvPr/>
        </p:nvSpPr>
        <p:spPr>
          <a:xfrm>
            <a:off x="413787" y="4619146"/>
            <a:ext cx="8424936" cy="1708160"/>
          </a:xfrm>
          <a:prstGeom prst="rect">
            <a:avLst/>
          </a:prstGeom>
          <a:noFill/>
        </p:spPr>
        <p:txBody>
          <a:bodyPr wrap="square">
            <a:spAutoFit/>
          </a:bodyPr>
          <a:lstStyle/>
          <a:p>
            <a:pPr indent="266700" algn="just"/>
            <a:r>
              <a:rPr lang="en-US" altLang="zh-CN" kern="100">
                <a:effectLst/>
                <a:latin typeface="Times New Roman" panose="02020603050405020304" pitchFamily="18" charset="0"/>
                <a:ea typeface="宋体" pitchFamily="2" charset="-122"/>
              </a:rPr>
              <a:t>   </a:t>
            </a:r>
            <a:r>
              <a:rPr lang="zh-CN" altLang="zh-CN" kern="100">
                <a:effectLst/>
                <a:latin typeface="Times New Roman" panose="02020603050405020304" pitchFamily="18" charset="0"/>
                <a:ea typeface="宋体" pitchFamily="2" charset="-122"/>
              </a:rPr>
              <a:t>首先</a:t>
            </a:r>
            <a:r>
              <a:rPr lang="zh-CN" altLang="zh-CN" kern="100" dirty="0">
                <a:effectLst/>
                <a:latin typeface="Times New Roman" panose="02020603050405020304" pitchFamily="18" charset="0"/>
                <a:ea typeface="宋体" pitchFamily="2" charset="-122"/>
              </a:rPr>
              <a:t>，通过函数</a:t>
            </a:r>
            <a:r>
              <a:rPr lang="en-US" altLang="zh-CN" kern="100" dirty="0">
                <a:effectLst/>
                <a:latin typeface="Times New Roman" panose="02020603050405020304" pitchFamily="18" charset="0"/>
                <a:ea typeface="宋体" pitchFamily="2" charset="-122"/>
              </a:rPr>
              <a:t>cv2.imread()</a:t>
            </a:r>
            <a:r>
              <a:rPr lang="zh-CN" altLang="zh-CN" kern="100" dirty="0">
                <a:effectLst/>
                <a:latin typeface="Times New Roman" panose="02020603050405020304" pitchFamily="18" charset="0"/>
                <a:ea typeface="宋体" pitchFamily="2" charset="-122"/>
              </a:rPr>
              <a:t>分别读取模板图像和目标图像。然后建立</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特征检测器，通过</a:t>
            </a:r>
            <a:r>
              <a:rPr lang="en-US" altLang="zh-CN" kern="100" dirty="0">
                <a:effectLst/>
                <a:latin typeface="Times New Roman" panose="02020603050405020304" pitchFamily="18" charset="0"/>
                <a:ea typeface="宋体" pitchFamily="2" charset="-122"/>
              </a:rPr>
              <a:t>ORB</a:t>
            </a:r>
            <a:r>
              <a:rPr lang="zh-CN" altLang="zh-CN" kern="100" dirty="0">
                <a:effectLst/>
                <a:latin typeface="Times New Roman" panose="02020603050405020304" pitchFamily="18" charset="0"/>
                <a:ea typeface="宋体" pitchFamily="2" charset="-122"/>
              </a:rPr>
              <a:t>算法计算模板图像和目标图像的特征点和描述符。接着建立图像的配准关系，计算配准描述符并依据距离对描述符进行排序。最后，通过</a:t>
            </a:r>
            <a:r>
              <a:rPr lang="en-US" altLang="zh-CN" kern="100" dirty="0">
                <a:effectLst/>
                <a:latin typeface="Times New Roman" panose="02020603050405020304" pitchFamily="18" charset="0"/>
                <a:ea typeface="宋体" pitchFamily="2" charset="-122"/>
              </a:rPr>
              <a:t>cv2.drawMatches()</a:t>
            </a:r>
            <a:r>
              <a:rPr lang="zh-CN" altLang="zh-CN" kern="100" dirty="0">
                <a:effectLst/>
                <a:latin typeface="Times New Roman" panose="02020603050405020304" pitchFamily="18" charset="0"/>
                <a:ea typeface="宋体" pitchFamily="2" charset="-122"/>
              </a:rPr>
              <a:t>函数画出配准关系，输出配准结果图</a:t>
            </a:r>
            <a:r>
              <a:rPr lang="en-US" altLang="zh-CN" kern="100" dirty="0">
                <a:effectLst/>
                <a:latin typeface="Times New Roman" panose="02020603050405020304" pitchFamily="18" charset="0"/>
                <a:ea typeface="宋体" pitchFamily="2" charset="-122"/>
              </a:rPr>
              <a:t>4.17</a:t>
            </a:r>
            <a:r>
              <a:rPr lang="zh-CN" altLang="zh-CN" kern="100" dirty="0">
                <a:effectLst/>
                <a:latin typeface="Times New Roman" panose="02020603050405020304" pitchFamily="18" charset="0"/>
                <a:ea typeface="宋体" pitchFamily="2" charset="-122"/>
              </a:rPr>
              <a:t>。</a:t>
            </a:r>
          </a:p>
        </p:txBody>
      </p:sp>
    </p:spTree>
  </p:cSld>
  <p:clrMapOvr>
    <a:masterClrMapping/>
  </p:clrMapOvr>
  <p:transition spd="slow" advClick="0" advTm="0">
    <p:wipe/>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81">
      <a:dk1>
        <a:sysClr val="windowText" lastClr="000000"/>
      </a:dk1>
      <a:lt1>
        <a:sysClr val="window" lastClr="FFFFFF"/>
      </a:lt1>
      <a:dk2>
        <a:srgbClr val="666666"/>
      </a:dk2>
      <a:lt2>
        <a:srgbClr val="D2D2D2"/>
      </a:lt2>
      <a:accent1>
        <a:srgbClr val="EF7768"/>
      </a:accent1>
      <a:accent2>
        <a:srgbClr val="C7C7C7"/>
      </a:accent2>
      <a:accent3>
        <a:srgbClr val="38B1BF"/>
      </a:accent3>
      <a:accent4>
        <a:srgbClr val="FF9933"/>
      </a:accent4>
      <a:accent5>
        <a:srgbClr val="7F7F7F"/>
      </a:accent5>
      <a:accent6>
        <a:srgbClr val="878787"/>
      </a:accent6>
      <a:hlink>
        <a:srgbClr val="006387"/>
      </a:hlink>
      <a:folHlink>
        <a:srgbClr val="8B8B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我的主题色">
      <a:dk1>
        <a:sysClr val="windowText" lastClr="000000"/>
      </a:dk1>
      <a:lt1>
        <a:sysClr val="window" lastClr="FFFFFF"/>
      </a:lt1>
      <a:dk2>
        <a:srgbClr val="E6325C"/>
      </a:dk2>
      <a:lt2>
        <a:srgbClr val="E6325C"/>
      </a:lt2>
      <a:accent1>
        <a:srgbClr val="A3CD39"/>
      </a:accent1>
      <a:accent2>
        <a:srgbClr val="A3CD39"/>
      </a:accent2>
      <a:accent3>
        <a:srgbClr val="4EC0A5"/>
      </a:accent3>
      <a:accent4>
        <a:srgbClr val="4EC0A5"/>
      </a:accent4>
      <a:accent5>
        <a:srgbClr val="E4BE33"/>
      </a:accent5>
      <a:accent6>
        <a:srgbClr val="E4BE3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9052</Words>
  <Application>Microsoft Macintosh PowerPoint</Application>
  <PresentationFormat>自定义</PresentationFormat>
  <Paragraphs>639</Paragraphs>
  <Slides>59</Slides>
  <Notes>58</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59</vt:i4>
      </vt:variant>
    </vt:vector>
  </HeadingPairs>
  <TitlesOfParts>
    <vt:vector size="72" baseType="lpstr">
      <vt:lpstr>黑体</vt:lpstr>
      <vt:lpstr>宋体</vt:lpstr>
      <vt:lpstr>微软雅黑</vt:lpstr>
      <vt:lpstr>Arial</vt:lpstr>
      <vt:lpstr>Calibri</vt:lpstr>
      <vt:lpstr>Cambria Math</vt:lpstr>
      <vt:lpstr>Eras Bold ITC</vt:lpstr>
      <vt:lpstr>Impact</vt:lpstr>
      <vt:lpstr>Times New Roman</vt:lpstr>
      <vt:lpstr>Wingdings</vt:lpstr>
      <vt:lpstr>Office 主题</vt:lpstr>
      <vt:lpstr>Office 主题​​</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亮亮图文旗舰店</dc:subject>
  <dc:creator/>
  <cp:keywords>更多模版：亮亮图文旗舰店https:/liangliangtuwen.tmall.com</cp:keywords>
  <dc:description>更多模版：亮亮图文旗舰店https://liangliangtuwen.tmall.com</dc:description>
  <cp:lastModifiedBy>a1198</cp:lastModifiedBy>
  <cp:revision>414</cp:revision>
  <dcterms:created xsi:type="dcterms:W3CDTF">2025-10-08T10:58:04Z</dcterms:created>
  <dcterms:modified xsi:type="dcterms:W3CDTF">2025-10-08T11:05:24Z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69F919D2DEC4D532FC40E668C0F6B908_42</vt:lpwstr>
  </property>
  <property fmtid="{D5CDD505-2E9C-101B-9397-08002B2CF9AE}" pid="3" name="KSOProductBuildVer">
    <vt:lpwstr>2052-6.7.1.8828</vt:lpwstr>
  </property>
</Properties>
</file>