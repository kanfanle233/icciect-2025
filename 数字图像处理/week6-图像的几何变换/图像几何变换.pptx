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3" r:id="rId3"/>
  </p:sldMasterIdLst>
  <p:notesMasterIdLst>
    <p:notesMasterId r:id="rId7"/>
  </p:notesMasterIdLst>
  <p:sldIdLst>
    <p:sldId id="292" r:id="rId4"/>
    <p:sldId id="293" r:id="rId5"/>
    <p:sldId id="294" r:id="rId6"/>
    <p:sldId id="309" r:id="rId8"/>
    <p:sldId id="295" r:id="rId9"/>
    <p:sldId id="296" r:id="rId10"/>
    <p:sldId id="299" r:id="rId11"/>
    <p:sldId id="300" r:id="rId12"/>
    <p:sldId id="301" r:id="rId13"/>
    <p:sldId id="310" r:id="rId14"/>
    <p:sldId id="302" r:id="rId15"/>
    <p:sldId id="303" r:id="rId16"/>
    <p:sldId id="304" r:id="rId17"/>
    <p:sldId id="305" r:id="rId18"/>
    <p:sldId id="306" r:id="rId19"/>
    <p:sldId id="307" r:id="rId20"/>
    <p:sldId id="308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https://www.cnblogs.com/laozhanghahaha/p/12580822.html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https://www.cnblogs.com/laozhanghahaha/p/12580822.html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2CD93-6428-3B4E-A725-F3A67E90966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FC7F6-0702-D341-9657-B52C3495AF7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2CD93-6428-3B4E-A725-F3A67E90966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FC7F6-0702-D341-9657-B52C3495AF7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2CD93-6428-3B4E-A725-F3A67E90966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FC7F6-0702-D341-9657-B52C3495AF7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2CD93-6428-3B4E-A725-F3A67E90966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FC7F6-0702-D341-9657-B52C3495AF7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2CD93-6428-3B4E-A725-F3A67E90966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FC7F6-0702-D341-9657-B52C3495AF7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2CD93-6428-3B4E-A725-F3A67E90966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FC7F6-0702-D341-9657-B52C3495AF7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2CD93-6428-3B4E-A725-F3A67E90966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FC7F6-0702-D341-9657-B52C3495AF7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2CD93-6428-3B4E-A725-F3A67E90966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FC7F6-0702-D341-9657-B52C3495AF7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2CD93-6428-3B4E-A725-F3A67E90966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FC7F6-0702-D341-9657-B52C3495AF7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2CD93-6428-3B4E-A725-F3A67E90966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FC7F6-0702-D341-9657-B52C3495AF7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2CD93-6428-3B4E-A725-F3A67E90966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FC7F6-0702-D341-9657-B52C3495AF7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6971" y="325750"/>
            <a:ext cx="4890770" cy="387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95" b="0" i="0">
                <a:solidFill>
                  <a:schemeClr val="tx1"/>
                </a:solidFill>
                <a:latin typeface="PMingLiU"/>
                <a:cs typeface="PMingLiU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81580" y="5458587"/>
            <a:ext cx="4598034" cy="2490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95" b="0" i="0">
                <a:solidFill>
                  <a:schemeClr val="tx1"/>
                </a:solidFill>
                <a:latin typeface="PMingLiU"/>
                <a:cs typeface="PMingLiU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267204" y="1475770"/>
            <a:ext cx="2921000" cy="387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95" b="0" i="0">
                <a:solidFill>
                  <a:srgbClr val="00AF50"/>
                </a:solidFill>
                <a:latin typeface="PMingLiU"/>
                <a:cs typeface="PMingLiU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899276" y="1387181"/>
            <a:ext cx="2697479" cy="387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95" b="0" i="0">
                <a:solidFill>
                  <a:srgbClr val="FF0000"/>
                </a:solidFill>
                <a:latin typeface="PMingLiU"/>
                <a:cs typeface="PMingLiU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95" b="0" i="0">
                <a:solidFill>
                  <a:schemeClr val="tx1"/>
                </a:solidFill>
                <a:latin typeface="PMingLiU"/>
                <a:cs typeface="PMingLiU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2CD93-6428-3B4E-A725-F3A67E90966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FC7F6-0702-D341-9657-B52C3495AF7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2CD93-6428-3B4E-A725-F3A67E90966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FC7F6-0702-D341-9657-B52C3495AF7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2CD93-6428-3B4E-A725-F3A67E90966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FC7F6-0702-D341-9657-B52C3495AF7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2CD93-6428-3B4E-A725-F3A67E90966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FC7F6-0702-D341-9657-B52C3495AF7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2CD93-6428-3B4E-A725-F3A67E90966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FC7F6-0702-D341-9657-B52C3495AF7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2CD93-6428-3B4E-A725-F3A67E90966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FC7F6-0702-D341-9657-B52C3495AF7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2CD93-6428-3B4E-A725-F3A67E90966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FC7F6-0702-D341-9657-B52C3495AF7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2CD93-6428-3B4E-A725-F3A67E90966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FC7F6-0702-D341-9657-B52C3495AF7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2CD93-6428-3B4E-A725-F3A67E90966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FC7F6-0702-D341-9657-B52C3495AF7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2CD93-6428-3B4E-A725-F3A67E90966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FC7F6-0702-D341-9657-B52C3495AF7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2CD93-6428-3B4E-A725-F3A67E90966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FC7F6-0702-D341-9657-B52C3495AF7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6971" y="325750"/>
            <a:ext cx="4890770" cy="387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95" b="0" i="0">
                <a:solidFill>
                  <a:schemeClr val="tx1"/>
                </a:solidFill>
                <a:latin typeface="PMingLiU"/>
                <a:cs typeface="PMingLiU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81580" y="5458587"/>
            <a:ext cx="4598034" cy="2490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95" b="0" i="0">
                <a:solidFill>
                  <a:schemeClr val="tx1"/>
                </a:solidFill>
                <a:latin typeface="PMingLiU"/>
                <a:cs typeface="PMingLiU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267204" y="1475770"/>
            <a:ext cx="2921000" cy="387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95" b="0" i="0">
                <a:solidFill>
                  <a:srgbClr val="00AF50"/>
                </a:solidFill>
                <a:latin typeface="PMingLiU"/>
                <a:cs typeface="PMingLiU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899276" y="1387181"/>
            <a:ext cx="2697479" cy="387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95" b="0" i="0">
                <a:solidFill>
                  <a:srgbClr val="FF0000"/>
                </a:solidFill>
                <a:latin typeface="PMingLiU"/>
                <a:cs typeface="PMingLiU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95" b="0" i="0">
                <a:solidFill>
                  <a:schemeClr val="tx1"/>
                </a:solidFill>
                <a:latin typeface="PMingLiU"/>
                <a:cs typeface="PMingLiU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62CD93-6428-3B4E-A725-F3A67E90966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0FC7F6-0702-D341-9657-B52C3495AF7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62CD93-6428-3B4E-A725-F3A67E90966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0FC7F6-0702-D341-9657-B52C3495AF7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7.png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3.png"/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tags" Target="../tags/tag3.xml"/><Relationship Id="rId3" Type="http://schemas.openxmlformats.org/officeDocument/2006/relationships/image" Target="../media/image15.png"/><Relationship Id="rId2" Type="http://schemas.openxmlformats.org/officeDocument/2006/relationships/tags" Target="../tags/tag2.xml"/><Relationship Id="rId1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png"/><Relationship Id="rId3" Type="http://schemas.openxmlformats.org/officeDocument/2006/relationships/tags" Target="../tags/tag4.xml"/><Relationship Id="rId2" Type="http://schemas.openxmlformats.org/officeDocument/2006/relationships/image" Target="../media/image20.jpeg"/><Relationship Id="rId1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.xml"/><Relationship Id="rId4" Type="http://schemas.openxmlformats.org/officeDocument/2006/relationships/tags" Target="../tags/tag5.xml"/><Relationship Id="rId3" Type="http://schemas.openxmlformats.org/officeDocument/2006/relationships/image" Target="../media/image20.jpeg"/><Relationship Id="rId2" Type="http://schemas.openxmlformats.org/officeDocument/2006/relationships/image" Target="../media/image22.png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hyperlink" Target="http://www.cnblogs.com/forcekeng/p/14285670.html" TargetMode="Externa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tags" Target="../tags/tag7.xml"/><Relationship Id="rId3" Type="http://schemas.openxmlformats.org/officeDocument/2006/relationships/image" Target="../media/image25.png"/><Relationship Id="rId2" Type="http://schemas.openxmlformats.org/officeDocument/2006/relationships/tags" Target="../tags/tag6.xml"/><Relationship Id="rId1" Type="http://schemas.openxmlformats.org/officeDocument/2006/relationships/hyperlink" Target="http://www.cnblogs.com/forcekeng/p/14285670.html" TargetMode="Externa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7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9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0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39" y="1"/>
            <a:ext cx="12179199" cy="685317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8684" y="0"/>
            <a:ext cx="12176154" cy="6851655"/>
            <a:chOff x="3047" y="0"/>
            <a:chExt cx="12187428" cy="685799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20071" y="0"/>
              <a:ext cx="2304287" cy="7193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7" y="0"/>
              <a:ext cx="12187428" cy="685799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73107" y="134647"/>
            <a:ext cx="8263857" cy="935355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06395" algn="l"/>
              </a:tabLst>
            </a:pPr>
            <a:r>
              <a:rPr sz="5995" spc="295" dirty="0"/>
              <a:t>第</a:t>
            </a:r>
            <a:r>
              <a:rPr lang="en-US" sz="5995" spc="674" dirty="0"/>
              <a:t>3</a:t>
            </a:r>
            <a:r>
              <a:rPr sz="5995" spc="909" dirty="0"/>
              <a:t>章</a:t>
            </a:r>
            <a:r>
              <a:rPr sz="5995" dirty="0"/>
              <a:t>	</a:t>
            </a:r>
            <a:r>
              <a:rPr sz="5995" spc="964" dirty="0"/>
              <a:t>图</a:t>
            </a:r>
            <a:r>
              <a:rPr sz="5995" spc="959" dirty="0"/>
              <a:t>像几何变</a:t>
            </a:r>
            <a:r>
              <a:rPr sz="5995" spc="909" dirty="0"/>
              <a:t>换</a:t>
            </a:r>
            <a:endParaRPr sz="5995"/>
          </a:p>
        </p:txBody>
      </p:sp>
      <p:sp>
        <p:nvSpPr>
          <p:cNvPr id="8" name="object 8"/>
          <p:cNvSpPr txBox="1"/>
          <p:nvPr/>
        </p:nvSpPr>
        <p:spPr>
          <a:xfrm>
            <a:off x="1948211" y="1166892"/>
            <a:ext cx="5722401" cy="5141914"/>
          </a:xfrm>
          <a:prstGeom prst="rect">
            <a:avLst/>
          </a:prstGeom>
        </p:spPr>
        <p:txBody>
          <a:bodyPr vert="horz" wrap="square" lIns="0" tIns="255667" rIns="0" bIns="0" rtlCol="0">
            <a:spAutoFit/>
          </a:bodyPr>
          <a:lstStyle/>
          <a:p>
            <a:pPr marL="967740" lvl="1" indent="-955040">
              <a:spcBef>
                <a:spcPts val="2010"/>
              </a:spcBef>
              <a:buAutoNum type="arabicPeriod"/>
              <a:tabLst>
                <a:tab pos="967105" algn="l"/>
              </a:tabLst>
            </a:pPr>
            <a:r>
              <a:rPr sz="3195" spc="-10" dirty="0">
                <a:latin typeface="PMingLiU"/>
                <a:cs typeface="PMingLiU"/>
              </a:rPr>
              <a:t>裁剪、放大、缩小</a:t>
            </a:r>
            <a:endParaRPr sz="3195">
              <a:latin typeface="PMingLiU"/>
              <a:cs typeface="PMingLiU"/>
            </a:endParaRPr>
          </a:p>
          <a:p>
            <a:pPr marL="1029970" lvl="1" indent="-1017270">
              <a:spcBef>
                <a:spcPts val="1920"/>
              </a:spcBef>
              <a:buAutoNum type="arabicPeriod"/>
              <a:tabLst>
                <a:tab pos="1029335" algn="l"/>
              </a:tabLst>
            </a:pPr>
            <a:r>
              <a:rPr sz="3195" spc="-20" dirty="0">
                <a:latin typeface="PMingLiU"/>
                <a:cs typeface="PMingLiU"/>
              </a:rPr>
              <a:t>平移变换</a:t>
            </a:r>
            <a:endParaRPr sz="3195">
              <a:latin typeface="PMingLiU"/>
              <a:cs typeface="PMingLiU"/>
            </a:endParaRPr>
          </a:p>
          <a:p>
            <a:pPr marL="1024255" lvl="1" indent="-1011555">
              <a:spcBef>
                <a:spcPts val="1920"/>
              </a:spcBef>
              <a:buAutoNum type="arabicPeriod"/>
              <a:tabLst>
                <a:tab pos="1023620" algn="l"/>
              </a:tabLst>
            </a:pPr>
            <a:r>
              <a:rPr sz="3195" spc="-15" dirty="0">
                <a:latin typeface="PMingLiU"/>
                <a:cs typeface="PMingLiU"/>
              </a:rPr>
              <a:t>错切变换</a:t>
            </a:r>
            <a:endParaRPr sz="3195">
              <a:latin typeface="PMingLiU"/>
              <a:cs typeface="PMingLiU"/>
            </a:endParaRPr>
          </a:p>
          <a:p>
            <a:pPr marL="1048385" lvl="1" indent="-1035685">
              <a:spcBef>
                <a:spcPts val="1920"/>
              </a:spcBef>
              <a:buAutoNum type="arabicPeriod"/>
              <a:tabLst>
                <a:tab pos="1047750" algn="l"/>
              </a:tabLst>
            </a:pPr>
            <a:r>
              <a:rPr sz="3195" spc="-20" dirty="0">
                <a:latin typeface="PMingLiU"/>
                <a:cs typeface="PMingLiU"/>
              </a:rPr>
              <a:t>镜像变换</a:t>
            </a:r>
            <a:endParaRPr sz="3195">
              <a:latin typeface="PMingLiU"/>
              <a:cs typeface="PMingLiU"/>
            </a:endParaRPr>
          </a:p>
          <a:p>
            <a:pPr marL="1014730" lvl="1" indent="-1002030">
              <a:spcBef>
                <a:spcPts val="1925"/>
              </a:spcBef>
              <a:buAutoNum type="arabicPeriod"/>
              <a:tabLst>
                <a:tab pos="1014095" algn="l"/>
              </a:tabLst>
            </a:pPr>
            <a:r>
              <a:rPr sz="3195" spc="-15" dirty="0">
                <a:latin typeface="PMingLiU"/>
                <a:cs typeface="PMingLiU"/>
              </a:rPr>
              <a:t>旋转变换</a:t>
            </a:r>
            <a:endParaRPr sz="3195">
              <a:latin typeface="PMingLiU"/>
              <a:cs typeface="PMingLiU"/>
            </a:endParaRPr>
          </a:p>
          <a:p>
            <a:pPr marL="998220" lvl="1" indent="-985520">
              <a:spcBef>
                <a:spcPts val="1920"/>
              </a:spcBef>
              <a:buAutoNum type="arabicPeriod"/>
              <a:tabLst>
                <a:tab pos="997585" algn="l"/>
              </a:tabLst>
            </a:pPr>
            <a:r>
              <a:rPr sz="3195" spc="-15" dirty="0">
                <a:latin typeface="PMingLiU"/>
                <a:cs typeface="PMingLiU"/>
              </a:rPr>
              <a:t>透视变换</a:t>
            </a:r>
            <a:endParaRPr sz="3195">
              <a:latin typeface="PMingLiU"/>
              <a:cs typeface="PMingLiU"/>
            </a:endParaRPr>
          </a:p>
          <a:p>
            <a:pPr marL="627380" lvl="1" indent="-614680">
              <a:spcBef>
                <a:spcPts val="1920"/>
              </a:spcBef>
              <a:buFont typeface="PMingLiU"/>
              <a:buAutoNum type="arabicPeriod"/>
              <a:tabLst>
                <a:tab pos="627380" algn="l"/>
                <a:tab pos="1233805" algn="l"/>
              </a:tabLst>
            </a:pPr>
            <a:r>
              <a:rPr sz="3195" spc="-50" dirty="0">
                <a:latin typeface="宋体"/>
                <a:cs typeface="宋体"/>
              </a:rPr>
              <a:t>*</a:t>
            </a:r>
            <a:r>
              <a:rPr sz="3195" dirty="0">
                <a:latin typeface="宋体"/>
                <a:cs typeface="宋体"/>
              </a:rPr>
              <a:t>	</a:t>
            </a:r>
            <a:r>
              <a:rPr sz="3195" spc="-5" dirty="0">
                <a:latin typeface="PMingLiU"/>
                <a:cs typeface="PMingLiU"/>
              </a:rPr>
              <a:t>最近邻插值、双线性插值</a:t>
            </a:r>
            <a:endParaRPr sz="3195">
              <a:latin typeface="PMingLiU"/>
              <a:cs typeface="PMingLiU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604" y="0"/>
            <a:ext cx="12196582" cy="6851656"/>
            <a:chOff x="-12255" y="0"/>
            <a:chExt cx="12207875" cy="6858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147560" y="3055619"/>
              <a:ext cx="1635252" cy="197662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9911" y="1857755"/>
              <a:ext cx="2115312" cy="317449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403348" y="1857755"/>
              <a:ext cx="1430020" cy="2481580"/>
            </a:xfrm>
            <a:custGeom>
              <a:avLst/>
              <a:gdLst/>
              <a:ahLst/>
              <a:cxnLst/>
              <a:rect l="l" t="t" r="r" b="b"/>
              <a:pathLst>
                <a:path w="1430020" h="2481579">
                  <a:moveTo>
                    <a:pt x="1429512" y="0"/>
                  </a:moveTo>
                  <a:lnTo>
                    <a:pt x="0" y="0"/>
                  </a:lnTo>
                  <a:lnTo>
                    <a:pt x="0" y="2481072"/>
                  </a:lnTo>
                  <a:lnTo>
                    <a:pt x="1429512" y="2481072"/>
                  </a:lnTo>
                  <a:lnTo>
                    <a:pt x="142951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6" name="object 6"/>
            <p:cNvSpPr/>
            <p:nvPr/>
          </p:nvSpPr>
          <p:spPr>
            <a:xfrm>
              <a:off x="2148839" y="2124455"/>
              <a:ext cx="1438910" cy="2519680"/>
            </a:xfrm>
            <a:custGeom>
              <a:avLst/>
              <a:gdLst/>
              <a:ahLst/>
              <a:cxnLst/>
              <a:rect l="l" t="t" r="r" b="b"/>
              <a:pathLst>
                <a:path w="1438910" h="2519679">
                  <a:moveTo>
                    <a:pt x="1438656" y="0"/>
                  </a:moveTo>
                  <a:lnTo>
                    <a:pt x="0" y="0"/>
                  </a:lnTo>
                  <a:lnTo>
                    <a:pt x="0" y="2519172"/>
                  </a:lnTo>
                  <a:lnTo>
                    <a:pt x="1438656" y="2519172"/>
                  </a:lnTo>
                  <a:lnTo>
                    <a:pt x="1438656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7" name="object 7"/>
            <p:cNvSpPr/>
            <p:nvPr/>
          </p:nvSpPr>
          <p:spPr>
            <a:xfrm>
              <a:off x="1903476" y="2391155"/>
              <a:ext cx="1440180" cy="2519680"/>
            </a:xfrm>
            <a:custGeom>
              <a:avLst/>
              <a:gdLst/>
              <a:ahLst/>
              <a:cxnLst/>
              <a:rect l="l" t="t" r="r" b="b"/>
              <a:pathLst>
                <a:path w="1440179" h="2519679">
                  <a:moveTo>
                    <a:pt x="1440179" y="0"/>
                  </a:moveTo>
                  <a:lnTo>
                    <a:pt x="0" y="0"/>
                  </a:lnTo>
                  <a:lnTo>
                    <a:pt x="0" y="2519172"/>
                  </a:lnTo>
                  <a:lnTo>
                    <a:pt x="1440179" y="2519172"/>
                  </a:lnTo>
                  <a:lnTo>
                    <a:pt x="144017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ubTitle" idx="4"/>
          </p:nvPr>
        </p:nvSpPr>
        <p:spPr>
          <a:xfrm>
            <a:off x="1985386" y="5453538"/>
            <a:ext cx="4593780" cy="750152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裁剪实现：数组选择方法（冒号</a:t>
            </a:r>
            <a:r>
              <a:rPr sz="2400" spc="-50" dirty="0"/>
              <a:t>）</a:t>
            </a:r>
            <a:r>
              <a:rPr sz="2400" spc="-10" dirty="0"/>
              <a:t>放大缩小：resize()</a:t>
            </a:r>
            <a:r>
              <a:rPr sz="2400" spc="-35" dirty="0"/>
              <a:t>函数</a:t>
            </a:r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591025" y="293606"/>
            <a:ext cx="504991" cy="451702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795" spc="125" dirty="0">
                <a:latin typeface="PMingLiU"/>
                <a:cs typeface="PMingLiU"/>
              </a:rPr>
              <a:t>3.1</a:t>
            </a:r>
            <a:endParaRPr sz="2795">
              <a:latin typeface="PMingLiU"/>
              <a:cs typeface="PMingLiU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56348" y="285993"/>
            <a:ext cx="2869448" cy="451702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795" spc="-10" dirty="0">
                <a:latin typeface="PMingLiU"/>
                <a:cs typeface="PMingLiU"/>
              </a:rPr>
              <a:t>裁剪、放大、缩小</a:t>
            </a:r>
            <a:endParaRPr sz="2795">
              <a:latin typeface="PMingLiU"/>
              <a:cs typeface="PMingLiU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83812" y="2624945"/>
            <a:ext cx="2363060" cy="24026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205782" y="1007954"/>
            <a:ext cx="8503666" cy="54660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21121" y="6503693"/>
            <a:ext cx="10561701" cy="197179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dirty="0">
                <a:latin typeface="Arial" panose="020B0604020202090204"/>
                <a:cs typeface="Arial" panose="020B0604020202090204"/>
              </a:rPr>
              <a:t>file:///E:/study/opencv/doc/4.5.1/da/d54/group</a:t>
            </a:r>
            <a:r>
              <a:rPr sz="1200" u="sng" spc="254" dirty="0">
                <a:uFill>
                  <a:solidFill>
                    <a:srgbClr val="000000"/>
                  </a:solidFill>
                </a:uFill>
                <a:latin typeface="Arial" panose="020B0604020202090204"/>
                <a:cs typeface="Arial" panose="020B0604020202090204"/>
              </a:rPr>
              <a:t>  </a:t>
            </a:r>
            <a:r>
              <a:rPr sz="1200" dirty="0">
                <a:latin typeface="Arial" panose="020B0604020202090204"/>
                <a:cs typeface="Arial" panose="020B0604020202090204"/>
              </a:rPr>
              <a:t>imgproc</a:t>
            </a:r>
            <a:r>
              <a:rPr sz="1200" u="sng" spc="254" dirty="0">
                <a:uFill>
                  <a:solidFill>
                    <a:srgbClr val="000000"/>
                  </a:solidFill>
                </a:uFill>
                <a:latin typeface="Arial" panose="020B0604020202090204"/>
                <a:cs typeface="Arial" panose="020B0604020202090204"/>
              </a:rPr>
              <a:t>  </a:t>
            </a:r>
            <a:r>
              <a:rPr sz="1200" spc="-10" dirty="0">
                <a:latin typeface="Arial" panose="020B0604020202090204"/>
                <a:cs typeface="Arial" panose="020B0604020202090204"/>
              </a:rPr>
              <a:t>transform.html#gga5bb5a1fea74ea38e1a5445ca803ff121ac97d8e4880d8b5d509e96825c7522deb</a:t>
            </a:r>
            <a:endParaRPr sz="12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1185" y="293370"/>
            <a:ext cx="4536440" cy="441960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795" spc="125" dirty="0">
                <a:latin typeface="PMingLiU"/>
                <a:cs typeface="PMingLiU"/>
              </a:rPr>
              <a:t>3.1</a:t>
            </a:r>
            <a:r>
              <a:rPr lang="en-US" sz="2795" spc="125" dirty="0">
                <a:latin typeface="PMingLiU"/>
                <a:cs typeface="PMingLiU"/>
              </a:rPr>
              <a:t>  </a:t>
            </a:r>
            <a:r>
              <a:rPr lang="zh-CN" altLang="en-US" sz="2795" spc="125" dirty="0">
                <a:latin typeface="PMingLiU"/>
                <a:cs typeface="PMingLiU"/>
              </a:rPr>
              <a:t>插值</a:t>
            </a:r>
            <a:r>
              <a:rPr lang="zh-CN" altLang="en-US" sz="2795" spc="125" dirty="0">
                <a:latin typeface="PMingLiU"/>
                <a:cs typeface="PMingLiU"/>
              </a:rPr>
              <a:t>方法</a:t>
            </a:r>
            <a:endParaRPr lang="zh-CN" altLang="en-US" sz="2795" spc="125" dirty="0">
              <a:latin typeface="PMingLiU"/>
              <a:cs typeface="PMingLiU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23931" y="1403574"/>
            <a:ext cx="633144" cy="1473740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algn="ctr">
              <a:spcBef>
                <a:spcPts val="95"/>
              </a:spcBef>
            </a:pPr>
            <a:r>
              <a:rPr sz="1600" spc="-35" dirty="0">
                <a:latin typeface="宋体"/>
                <a:cs typeface="宋体"/>
              </a:rPr>
              <a:t>二值图</a:t>
            </a:r>
            <a:endParaRPr sz="1600">
              <a:latin typeface="宋体"/>
              <a:cs typeface="宋体"/>
            </a:endParaRPr>
          </a:p>
          <a:p>
            <a:pPr algn="ctr">
              <a:spcBef>
                <a:spcPts val="1245"/>
              </a:spcBef>
            </a:pPr>
            <a:r>
              <a:rPr sz="1600" spc="-40" dirty="0">
                <a:latin typeface="宋体"/>
                <a:cs typeface="宋体"/>
              </a:rPr>
              <a:t>放大</a:t>
            </a:r>
            <a:endParaRPr sz="1600">
              <a:latin typeface="宋体"/>
              <a:cs typeface="宋体"/>
            </a:endParaRPr>
          </a:p>
          <a:p>
            <a:pPr marL="12065" marR="5080" algn="ctr">
              <a:lnSpc>
                <a:spcPct val="145000"/>
              </a:lnSpc>
              <a:spcBef>
                <a:spcPts val="765"/>
              </a:spcBef>
            </a:pPr>
            <a:r>
              <a:rPr sz="1600" spc="-35" dirty="0">
                <a:latin typeface="宋体"/>
                <a:cs typeface="宋体"/>
              </a:rPr>
              <a:t>速度慢</a:t>
            </a:r>
            <a:r>
              <a:rPr sz="1600" spc="-40" dirty="0">
                <a:latin typeface="宋体"/>
                <a:cs typeface="宋体"/>
              </a:rPr>
              <a:t>缩小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91185" y="293370"/>
            <a:ext cx="4536440" cy="441960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795" spc="125" dirty="0">
                <a:latin typeface="PMingLiU"/>
                <a:cs typeface="PMingLiU"/>
              </a:rPr>
              <a:t>3.1</a:t>
            </a:r>
            <a:r>
              <a:rPr lang="en-US" sz="2795" spc="125" dirty="0">
                <a:latin typeface="PMingLiU"/>
                <a:cs typeface="PMingLiU"/>
              </a:rPr>
              <a:t>  </a:t>
            </a:r>
            <a:r>
              <a:rPr lang="zh-CN" altLang="en-US" sz="2795" spc="125" dirty="0">
                <a:latin typeface="PMingLiU"/>
                <a:cs typeface="PMingLiU"/>
              </a:rPr>
              <a:t>插值</a:t>
            </a:r>
            <a:r>
              <a:rPr lang="zh-CN" altLang="en-US" sz="2795" spc="125" dirty="0">
                <a:latin typeface="PMingLiU"/>
                <a:cs typeface="PMingLiU"/>
              </a:rPr>
              <a:t>方法</a:t>
            </a:r>
            <a:endParaRPr lang="zh-CN" altLang="en-US" sz="2795" spc="125" dirty="0">
              <a:latin typeface="PMingLiU"/>
              <a:cs typeface="PMingLiU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19200" y="952500"/>
            <a:ext cx="9753600" cy="4953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89660" y="6194425"/>
            <a:ext cx="8738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https://www.cnblogs.com/laozhanghahaha/p/12580822.html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365312" y="1484524"/>
            <a:ext cx="4995618" cy="375014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325999" y="2357731"/>
            <a:ext cx="2158272" cy="1145540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R="614045" algn="l">
              <a:spcBef>
                <a:spcPts val="100"/>
              </a:spcBef>
            </a:pPr>
            <a:r>
              <a:rPr sz="2400" spc="-10" dirty="0">
                <a:latin typeface="宋体"/>
                <a:cs typeface="宋体"/>
              </a:rPr>
              <a:t>平移实现</a:t>
            </a:r>
            <a:r>
              <a:rPr lang="zh-CN" sz="2400" spc="-10" dirty="0">
                <a:latin typeface="宋体"/>
                <a:cs typeface="宋体"/>
              </a:rPr>
              <a:t>：</a:t>
            </a:r>
            <a:endParaRPr lang="zh-CN" sz="2400" spc="-10" dirty="0">
              <a:latin typeface="宋体"/>
              <a:cs typeface="宋体"/>
            </a:endParaRPr>
          </a:p>
          <a:p>
            <a:pPr marR="614045" algn="l">
              <a:spcBef>
                <a:spcPts val="100"/>
              </a:spcBef>
            </a:pPr>
            <a:endParaRPr lang="zh-CN" sz="2400" spc="-10" dirty="0">
              <a:latin typeface="宋体"/>
              <a:cs typeface="宋体"/>
            </a:endParaRPr>
          </a:p>
          <a:p>
            <a:pPr marR="614045" algn="l">
              <a:spcBef>
                <a:spcPts val="100"/>
              </a:spcBef>
            </a:pPr>
            <a:r>
              <a:rPr sz="2400" spc="-20" dirty="0">
                <a:latin typeface="宋体"/>
                <a:cs typeface="宋体"/>
              </a:rPr>
              <a:t>平移矩阵</a:t>
            </a:r>
            <a:endParaRPr sz="2400">
              <a:latin typeface="宋体"/>
              <a:cs typeface="宋体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76528" y="2673580"/>
            <a:ext cx="1613946" cy="82981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61975" y="298768"/>
            <a:ext cx="4393565" cy="441960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buClrTx/>
              <a:buSzTx/>
              <a:buFontTx/>
              <a:tabLst>
                <a:tab pos="1306195" algn="l"/>
              </a:tabLst>
            </a:pPr>
            <a:r>
              <a:rPr sz="2795" spc="280" dirty="0">
                <a:latin typeface="PMingLiU"/>
                <a:cs typeface="PMingLiU"/>
              </a:rPr>
              <a:t>3.2	平移变换</a:t>
            </a:r>
            <a:endParaRPr sz="2795" spc="280" dirty="0">
              <a:latin typeface="PMingLiU"/>
              <a:cs typeface="PMingLiU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9758" y="5643430"/>
            <a:ext cx="2766039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宋体"/>
                <a:cs typeface="宋体"/>
              </a:rPr>
              <a:t>平移实现：平移矩阵</a:t>
            </a:r>
            <a:endParaRPr sz="2400">
              <a:latin typeface="宋体"/>
              <a:cs typeface="宋体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89723" y="835902"/>
            <a:ext cx="9630383" cy="6017403"/>
            <a:chOff x="1085088" y="836675"/>
            <a:chExt cx="9639300" cy="602297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72555" y="836675"/>
              <a:ext cx="4751832" cy="398373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9472" y="1370075"/>
              <a:ext cx="4176522" cy="391744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3188" y="1383791"/>
              <a:ext cx="4099560" cy="38404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04138" y="1364741"/>
              <a:ext cx="4137660" cy="3878579"/>
            </a:xfrm>
            <a:custGeom>
              <a:avLst/>
              <a:gdLst/>
              <a:ahLst/>
              <a:cxnLst/>
              <a:rect l="l" t="t" r="r" b="b"/>
              <a:pathLst>
                <a:path w="4137660" h="3878579">
                  <a:moveTo>
                    <a:pt x="0" y="3878579"/>
                  </a:moveTo>
                  <a:lnTo>
                    <a:pt x="4137660" y="3878579"/>
                  </a:lnTo>
                  <a:lnTo>
                    <a:pt x="4137660" y="0"/>
                  </a:lnTo>
                  <a:lnTo>
                    <a:pt x="0" y="0"/>
                  </a:lnTo>
                  <a:lnTo>
                    <a:pt x="0" y="3878579"/>
                  </a:lnTo>
                  <a:close/>
                </a:path>
              </a:pathLst>
            </a:custGeom>
            <a:ln w="381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62800" y="4802123"/>
              <a:ext cx="2552700" cy="205740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ctrTitle"/>
          </p:nvPr>
        </p:nvSpPr>
        <p:spPr>
          <a:xfrm>
            <a:off x="562095" y="297870"/>
            <a:ext cx="4886246" cy="442213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06195" algn="l"/>
              </a:tabLst>
            </a:pPr>
            <a:r>
              <a:rPr spc="280" dirty="0"/>
              <a:t>3.2</a:t>
            </a:r>
            <a:r>
              <a:rPr dirty="0"/>
              <a:t>	</a:t>
            </a:r>
            <a:r>
              <a:rPr spc="-30" dirty="0"/>
              <a:t>平移变换——公式推导</a:t>
            </a:r>
            <a:endParaRPr spc="-30" dirty="0"/>
          </a:p>
        </p:txBody>
      </p:sp>
      <p:sp>
        <p:nvSpPr>
          <p:cNvPr id="10" name="文本框 9"/>
          <p:cNvSpPr txBox="1"/>
          <p:nvPr/>
        </p:nvSpPr>
        <p:spPr>
          <a:xfrm>
            <a:off x="10052050" y="4998085"/>
            <a:ext cx="22866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仿射：平移</a:t>
            </a:r>
            <a:r>
              <a:rPr lang="en-US" altLang="zh-CN"/>
              <a:t>+</a:t>
            </a:r>
            <a:r>
              <a:rPr lang="zh-CN" altLang="en-US"/>
              <a:t>线性</a:t>
            </a:r>
            <a:endParaRPr lang="zh-CN" altLang="en-US"/>
          </a:p>
          <a:p>
            <a:r>
              <a:rPr lang="zh-CN" altLang="en-US"/>
              <a:t>透视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5141" y="293606"/>
            <a:ext cx="2736221" cy="451702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1303655" algn="l"/>
              </a:tabLst>
            </a:pPr>
            <a:r>
              <a:rPr sz="2795" spc="270" dirty="0">
                <a:latin typeface="PMingLiU"/>
                <a:cs typeface="PMingLiU"/>
              </a:rPr>
              <a:t>3.3</a:t>
            </a:r>
            <a:r>
              <a:rPr sz="2795" dirty="0">
                <a:latin typeface="PMingLiU"/>
                <a:cs typeface="PMingLiU"/>
              </a:rPr>
              <a:t>	</a:t>
            </a:r>
            <a:r>
              <a:rPr sz="2795" spc="-40" dirty="0">
                <a:latin typeface="PMingLiU"/>
                <a:cs typeface="PMingLiU"/>
              </a:rPr>
              <a:t>错切变换</a:t>
            </a:r>
            <a:endParaRPr sz="2795">
              <a:latin typeface="PMingLiU"/>
              <a:cs typeface="PMingLiU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65903" y="1700732"/>
            <a:ext cx="3536977" cy="241178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39190" y="4843145"/>
            <a:ext cx="4646930" cy="763270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sz="2400" spc="-15" dirty="0">
                <a:latin typeface="宋体"/>
                <a:cs typeface="宋体"/>
              </a:rPr>
              <a:t>错切：上边不变，下边向右移动</a:t>
            </a:r>
            <a:endParaRPr sz="2400" spc="-15" dirty="0">
              <a:latin typeface="宋体"/>
              <a:cs typeface="宋体"/>
            </a:endParaRPr>
          </a:p>
          <a:p>
            <a:pPr marL="12700">
              <a:spcBef>
                <a:spcPts val="100"/>
              </a:spcBef>
            </a:pPr>
            <a:r>
              <a:rPr sz="2400" spc="-15" dirty="0">
                <a:latin typeface="宋体"/>
                <a:cs typeface="宋体"/>
              </a:rPr>
              <a:t>错切实现：错切矩阵</a:t>
            </a:r>
            <a:endParaRPr sz="2400">
              <a:latin typeface="宋体"/>
              <a:cs typeface="宋体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245860" y="745490"/>
            <a:ext cx="4813300" cy="36322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936105" y="4843145"/>
            <a:ext cx="29591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5150" y="298450"/>
            <a:ext cx="4079240" cy="441960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buClrTx/>
              <a:buSzTx/>
              <a:buFontTx/>
              <a:tabLst>
                <a:tab pos="1303655" algn="l"/>
              </a:tabLst>
            </a:pPr>
            <a:r>
              <a:rPr sz="2795" spc="270" dirty="0">
                <a:latin typeface="PMingLiU"/>
                <a:ea typeface="+mn-ea"/>
                <a:cs typeface="PMingLiU"/>
              </a:rPr>
              <a:t>3.3	错切变换</a:t>
            </a:r>
            <a:endParaRPr sz="2795" spc="270" dirty="0">
              <a:latin typeface="PMingLiU"/>
              <a:ea typeface="+mn-ea"/>
              <a:cs typeface="PMingLiU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65903" y="1700733"/>
            <a:ext cx="9396285" cy="4318446"/>
            <a:chOff x="861060" y="1702307"/>
            <a:chExt cx="9404985" cy="432244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61060" y="1702307"/>
              <a:ext cx="3540252" cy="241401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99504" y="2253995"/>
              <a:ext cx="3566159" cy="112013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5204" y="4844795"/>
              <a:ext cx="3343655" cy="11795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139461" y="4843436"/>
            <a:ext cx="2766039" cy="39143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5" dirty="0">
                <a:latin typeface="宋体"/>
                <a:cs typeface="宋体"/>
              </a:rPr>
              <a:t>错切实现：错切矩阵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92442" y="1159072"/>
            <a:ext cx="1244083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5" dirty="0">
                <a:latin typeface="宋体"/>
                <a:cs typeface="宋体"/>
              </a:rPr>
              <a:t>水平错切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92441" y="4283426"/>
            <a:ext cx="1243449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5" dirty="0">
                <a:latin typeface="宋体"/>
                <a:cs typeface="宋体"/>
              </a:rPr>
              <a:t>垂直错切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3064" y="805977"/>
            <a:ext cx="10505872" cy="441960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buClrTx/>
              <a:buSzTx/>
              <a:buFontTx/>
              <a:tabLst>
                <a:tab pos="1303655" algn="l"/>
              </a:tabLst>
            </a:pPr>
            <a:r>
              <a:rPr sz="2795" spc="270" dirty="0">
                <a:latin typeface="PMingLiU"/>
                <a:ea typeface="+mn-ea"/>
                <a:cs typeface="PMingLiU"/>
              </a:rPr>
              <a:t>3.4	镜像变换</a:t>
            </a:r>
            <a:endParaRPr sz="2795" spc="270" dirty="0">
              <a:latin typeface="PMingLiU"/>
              <a:ea typeface="+mn-ea"/>
              <a:cs typeface="PMingLiU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892290" y="4047490"/>
            <a:ext cx="3558540" cy="237236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827036" y="3641287"/>
            <a:ext cx="1243449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5" dirty="0">
                <a:latin typeface="宋体"/>
                <a:cs typeface="宋体"/>
              </a:rPr>
              <a:t>水平镜像</a:t>
            </a:r>
            <a:endParaRPr sz="2400">
              <a:latin typeface="宋体"/>
              <a:cs typeface="宋体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8150" y="1700732"/>
            <a:ext cx="4034864" cy="302843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828305" y="5037693"/>
            <a:ext cx="2766039" cy="39143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5" dirty="0">
                <a:latin typeface="宋体"/>
                <a:cs typeface="宋体"/>
              </a:rPr>
              <a:t>镜像实现：镜像矩阵</a:t>
            </a:r>
            <a:endParaRPr sz="2400">
              <a:latin typeface="宋体"/>
              <a:cs typeface="宋体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618605" y="307975"/>
            <a:ext cx="4154170" cy="31210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3064" y="805977"/>
            <a:ext cx="10505872" cy="441960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buClrTx/>
              <a:buSzTx/>
              <a:buFontTx/>
              <a:tabLst>
                <a:tab pos="1303655" algn="l"/>
              </a:tabLst>
            </a:pPr>
            <a:r>
              <a:rPr sz="2795" spc="270" dirty="0">
                <a:latin typeface="PMingLiU"/>
                <a:ea typeface="+mn-ea"/>
                <a:cs typeface="PMingLiU"/>
              </a:rPr>
              <a:t>3.4	镜像变换</a:t>
            </a:r>
            <a:endParaRPr sz="2795" spc="270" dirty="0">
              <a:latin typeface="PMingLiU"/>
              <a:ea typeface="+mn-ea"/>
              <a:cs typeface="PMingLiU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957786" y="1565222"/>
            <a:ext cx="3558420" cy="4942708"/>
            <a:chOff x="6958583" y="1566671"/>
            <a:chExt cx="3561715" cy="494728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958583" y="1566671"/>
              <a:ext cx="3561587" cy="23743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9647" y="4427219"/>
              <a:ext cx="3299459" cy="208635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892441" y="1159072"/>
            <a:ext cx="1243449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5" dirty="0">
                <a:latin typeface="宋体"/>
                <a:cs typeface="宋体"/>
              </a:rPr>
              <a:t>水平镜像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36452" y="4051992"/>
            <a:ext cx="1243449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5" dirty="0">
                <a:latin typeface="宋体"/>
                <a:cs typeface="宋体"/>
              </a:rPr>
              <a:t>垂直镜像</a:t>
            </a:r>
            <a:endParaRPr sz="2400">
              <a:latin typeface="宋体"/>
              <a:cs typeface="宋体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rcRect r="50079"/>
          <a:stretch>
            <a:fillRect/>
          </a:stretch>
        </p:blipFill>
        <p:spPr>
          <a:xfrm>
            <a:off x="1388110" y="1700530"/>
            <a:ext cx="2014220" cy="302831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828305" y="5037693"/>
            <a:ext cx="2766039" cy="39143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5" dirty="0">
                <a:latin typeface="宋体"/>
                <a:cs typeface="宋体"/>
              </a:rPr>
              <a:t>镜像实现：镜像矩阵</a:t>
            </a:r>
            <a:endParaRPr sz="2400">
              <a:latin typeface="宋体"/>
              <a:cs typeface="宋体"/>
            </a:endParaRPr>
          </a:p>
        </p:txBody>
      </p:sp>
      <p:pic>
        <p:nvPicPr>
          <p:cNvPr id="10" name="object 8"/>
          <p:cNvPicPr/>
          <p:nvPr>
            <p:custDataLst>
              <p:tags r:id="rId4"/>
            </p:custDataLst>
          </p:nvPr>
        </p:nvPicPr>
        <p:blipFill>
          <a:blip r:embed="rId3" cstate="print"/>
          <a:srcRect r="50079"/>
          <a:stretch>
            <a:fillRect/>
          </a:stretch>
        </p:blipFill>
        <p:spPr>
          <a:xfrm flipV="1">
            <a:off x="3402330" y="1700530"/>
            <a:ext cx="2014220" cy="30283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9595" y="298450"/>
            <a:ext cx="5202555" cy="441960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buClrTx/>
              <a:buSzTx/>
              <a:buFontTx/>
              <a:tabLst>
                <a:tab pos="1303655" algn="l"/>
              </a:tabLst>
            </a:pPr>
            <a:r>
              <a:rPr sz="2795" spc="270" dirty="0">
                <a:latin typeface="PMingLiU"/>
                <a:ea typeface="+mn-ea"/>
                <a:cs typeface="PMingLiU"/>
              </a:rPr>
              <a:t>3.5	旋转变换</a:t>
            </a:r>
            <a:endParaRPr sz="2795" spc="270" dirty="0">
              <a:latin typeface="PMingLiU"/>
              <a:ea typeface="+mn-ea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7144" y="6516787"/>
            <a:ext cx="5355077" cy="29944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10" dirty="0">
                <a:latin typeface="Arial" panose="020B0604020202090204"/>
                <a:cs typeface="Arial" panose="020B0604020202090204"/>
              </a:rPr>
              <a:t>https://</a:t>
            </a:r>
            <a:r>
              <a:rPr sz="1800" spc="-10" dirty="0">
                <a:latin typeface="Arial" panose="020B0604020202090204"/>
                <a:cs typeface="Arial" panose="020B0604020202090204"/>
                <a:hlinkClick r:id="rId1"/>
              </a:rPr>
              <a:t>www.cnblogs.com/forcekeng/p/14285670.html</a:t>
            </a:r>
            <a:endParaRPr sz="18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93701" y="1714436"/>
            <a:ext cx="9028960" cy="3278643"/>
            <a:chOff x="1589532" y="1716023"/>
            <a:chExt cx="9037320" cy="328167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9532" y="1716023"/>
              <a:ext cx="5466588" cy="32811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34655" y="2947415"/>
              <a:ext cx="3092196" cy="138379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746868" y="2328802"/>
            <a:ext cx="1244083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5" dirty="0">
                <a:latin typeface="宋体"/>
                <a:cs typeface="宋体"/>
              </a:rPr>
              <a:t>旋转矩阵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9595" y="298450"/>
            <a:ext cx="4639945" cy="441960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buClrTx/>
              <a:buSzTx/>
              <a:buFontTx/>
              <a:tabLst>
                <a:tab pos="1303655" algn="l"/>
              </a:tabLst>
            </a:pPr>
            <a:r>
              <a:rPr sz="2795" spc="270" dirty="0">
                <a:latin typeface="PMingLiU"/>
                <a:ea typeface="+mn-ea"/>
                <a:cs typeface="PMingLiU"/>
              </a:rPr>
              <a:t>3.5	旋转变换</a:t>
            </a:r>
            <a:endParaRPr sz="2795" spc="270" dirty="0">
              <a:latin typeface="PMingLiU"/>
              <a:ea typeface="+mn-ea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7144" y="6516787"/>
            <a:ext cx="5355077" cy="29944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10" dirty="0">
                <a:latin typeface="Arial" panose="020B0604020202090204"/>
                <a:cs typeface="Arial" panose="020B0604020202090204"/>
              </a:rPr>
              <a:t>https://</a:t>
            </a:r>
            <a:r>
              <a:rPr sz="1800" spc="-10" dirty="0">
                <a:latin typeface="Arial" panose="020B0604020202090204"/>
                <a:cs typeface="Arial" panose="020B0604020202090204"/>
                <a:hlinkClick r:id="rId1"/>
              </a:rPr>
              <a:t>www.cnblogs.com/forcekeng/p/14285670.html</a:t>
            </a:r>
            <a:endParaRPr sz="18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1446" y="1195995"/>
            <a:ext cx="2157003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宋体"/>
                <a:cs typeface="宋体"/>
              </a:rPr>
              <a:t>旋转公式推导：</a:t>
            </a:r>
            <a:endParaRPr sz="2400">
              <a:latin typeface="宋体"/>
              <a:cs typeface="宋体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01370" y="1790700"/>
            <a:ext cx="3860800" cy="3276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060950" y="1250950"/>
            <a:ext cx="6896100" cy="4356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7322" y="293606"/>
            <a:ext cx="531003" cy="451702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795" spc="195" dirty="0">
                <a:latin typeface="PMingLiU"/>
                <a:cs typeface="PMingLiU"/>
              </a:rPr>
              <a:t>3.6</a:t>
            </a:r>
            <a:endParaRPr sz="2795">
              <a:latin typeface="PMingLiU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56348" y="293606"/>
            <a:ext cx="4301317" cy="451702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透视变换——仿射变换回顾</a:t>
            </a:r>
            <a:endParaRPr spc="-4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347041" y="4386583"/>
            <a:ext cx="3267479" cy="146320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56347" y="3980127"/>
            <a:ext cx="1243449" cy="39143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宋体"/>
                <a:cs typeface="宋体"/>
              </a:rPr>
              <a:t>旋转矩阵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62100" y="1372233"/>
            <a:ext cx="1243449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5" dirty="0">
                <a:latin typeface="宋体"/>
                <a:cs typeface="宋体"/>
              </a:rPr>
              <a:t>水平错切</a:t>
            </a:r>
            <a:endParaRPr sz="2400">
              <a:latin typeface="宋体"/>
              <a:cs typeface="宋体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575430" y="1819495"/>
            <a:ext cx="8828485" cy="3999971"/>
            <a:chOff x="1571244" y="1821179"/>
            <a:chExt cx="8836660" cy="400367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1244" y="1821179"/>
              <a:ext cx="2506980" cy="167944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08064" y="4421123"/>
              <a:ext cx="3799331" cy="140360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59" y="2112263"/>
              <a:ext cx="4021836" cy="138836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754334" y="1372233"/>
            <a:ext cx="1243449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5" dirty="0">
                <a:latin typeface="宋体"/>
                <a:cs typeface="宋体"/>
              </a:rPr>
              <a:t>平移矩阵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78993" y="3980127"/>
            <a:ext cx="1244083" cy="39143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宋体"/>
                <a:cs typeface="宋体"/>
              </a:rPr>
              <a:t>水平翻转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7322" y="293606"/>
            <a:ext cx="531003" cy="451702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795" spc="195" dirty="0">
                <a:latin typeface="PMingLiU"/>
                <a:cs typeface="PMingLiU"/>
              </a:rPr>
              <a:t>3.6</a:t>
            </a:r>
            <a:endParaRPr sz="2795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56348" y="293606"/>
            <a:ext cx="1444557" cy="451702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795" spc="-40" dirty="0">
                <a:latin typeface="PMingLiU"/>
                <a:cs typeface="PMingLiU"/>
              </a:rPr>
              <a:t>透视变换</a:t>
            </a:r>
            <a:endParaRPr sz="2795">
              <a:latin typeface="PMingLiU"/>
              <a:cs typeface="PMingLiU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712463" y="1540860"/>
            <a:ext cx="4438350" cy="296296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90241" y="5045610"/>
            <a:ext cx="3679593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宋体"/>
                <a:cs typeface="宋体"/>
              </a:rPr>
              <a:t>应用：车道检测、图片矫正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7322" y="293606"/>
            <a:ext cx="531003" cy="451702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795" spc="195" dirty="0">
                <a:latin typeface="PMingLiU"/>
                <a:cs typeface="PMingLiU"/>
              </a:rPr>
              <a:t>3.6</a:t>
            </a:r>
            <a:endParaRPr sz="2795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56348" y="293606"/>
            <a:ext cx="1444557" cy="451702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795" spc="-40" dirty="0">
                <a:latin typeface="PMingLiU"/>
                <a:cs typeface="PMingLiU"/>
              </a:rPr>
              <a:t>透视变换</a:t>
            </a:r>
            <a:endParaRPr sz="2795">
              <a:latin typeface="PMingLiU"/>
              <a:cs typeface="PMingLiU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712463" y="1540860"/>
            <a:ext cx="8885836" cy="296296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90241" y="5045610"/>
            <a:ext cx="3679593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宋体"/>
                <a:cs typeface="宋体"/>
              </a:rPr>
              <a:t>应用：车道检测、图片矫正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4030" y="296651"/>
            <a:ext cx="639488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175" dirty="0">
                <a:latin typeface="PMingLiU"/>
                <a:cs typeface="PMingLiU"/>
              </a:rPr>
              <a:t>3.7</a:t>
            </a:r>
            <a:r>
              <a:rPr sz="2400" spc="175" dirty="0">
                <a:latin typeface="宋体"/>
                <a:cs typeface="宋体"/>
              </a:rPr>
              <a:t>*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56347" y="293605"/>
            <a:ext cx="1547967" cy="390798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最近邻插值</a:t>
            </a:r>
            <a:endParaRPr sz="2400"/>
          </a:p>
        </p:txBody>
      </p:sp>
      <p:grpSp>
        <p:nvGrpSpPr>
          <p:cNvPr id="4" name="object 4"/>
          <p:cNvGrpSpPr/>
          <p:nvPr/>
        </p:nvGrpSpPr>
        <p:grpSpPr>
          <a:xfrm>
            <a:off x="1324201" y="1323130"/>
            <a:ext cx="9574555" cy="4557620"/>
            <a:chOff x="1319783" y="1324355"/>
            <a:chExt cx="9583420" cy="456184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319783" y="1324355"/>
              <a:ext cx="9304020" cy="12405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36180" y="2770631"/>
              <a:ext cx="3366516" cy="311505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2307" y="3613404"/>
              <a:ext cx="1696212" cy="17099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48100" y="3078479"/>
              <a:ext cx="2261616" cy="224485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45567" y="1365763"/>
            <a:ext cx="3372537" cy="311978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24030" y="296651"/>
            <a:ext cx="639488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175" dirty="0">
                <a:latin typeface="PMingLiU"/>
                <a:cs typeface="PMingLiU"/>
              </a:rPr>
              <a:t>3.7</a:t>
            </a:r>
            <a:r>
              <a:rPr sz="2400" spc="175" dirty="0">
                <a:latin typeface="宋体"/>
                <a:cs typeface="宋体"/>
              </a:rPr>
              <a:t>*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856347" y="293605"/>
            <a:ext cx="1547967" cy="390798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双线性插值</a:t>
            </a:r>
            <a:endParaRPr sz="24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678</Words>
  <Application>WPS 表格</Application>
  <PresentationFormat>宽屏</PresentationFormat>
  <Paragraphs>112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6" baseType="lpstr">
      <vt:lpstr>Arial</vt:lpstr>
      <vt:lpstr>宋体</vt:lpstr>
      <vt:lpstr>Wingdings</vt:lpstr>
      <vt:lpstr>PMingLiU</vt:lpstr>
      <vt:lpstr>宋体-繁</vt:lpstr>
      <vt:lpstr>宋体</vt:lpstr>
      <vt:lpstr>汉仪书宋二KW</vt:lpstr>
      <vt:lpstr>Arial</vt:lpstr>
      <vt:lpstr>等线 Light</vt:lpstr>
      <vt:lpstr>汉仪中等线KW</vt:lpstr>
      <vt:lpstr>等线</vt:lpstr>
      <vt:lpstr>微软雅黑</vt:lpstr>
      <vt:lpstr>汉仪旗黑</vt:lpstr>
      <vt:lpstr>宋体</vt:lpstr>
      <vt:lpstr>Arial Unicode MS</vt:lpstr>
      <vt:lpstr>Calibri</vt:lpstr>
      <vt:lpstr>Helvetica Neue</vt:lpstr>
      <vt:lpstr>Office 主题​​</vt:lpstr>
      <vt:lpstr>1_Office 主题​​</vt:lpstr>
      <vt:lpstr>第3章	图像几何变换</vt:lpstr>
      <vt:lpstr>PowerPoint 演示文稿</vt:lpstr>
      <vt:lpstr>PowerPoint 演示文稿</vt:lpstr>
      <vt:lpstr>PowerPoint 演示文稿</vt:lpstr>
      <vt:lpstr>3.2	平移变换</vt:lpstr>
      <vt:lpstr>3.2	平移变换——公式推导</vt:lpstr>
      <vt:lpstr>PowerPoint 演示文稿</vt:lpstr>
      <vt:lpstr>3.3	错切变换</vt:lpstr>
      <vt:lpstr>3.4	镜像变换</vt:lpstr>
      <vt:lpstr>3.4	镜像变换</vt:lpstr>
      <vt:lpstr>3.5	旋转变换</vt:lpstr>
      <vt:lpstr>3.5	旋转变换</vt:lpstr>
      <vt:lpstr>透视变换——仿射变换回顾</vt:lpstr>
      <vt:lpstr>PowerPoint 演示文稿</vt:lpstr>
      <vt:lpstr>PowerPoint 演示文稿</vt:lpstr>
      <vt:lpstr>最近邻插值</vt:lpstr>
      <vt:lpstr>双线性插值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a1198</dc:creator>
  <cp:lastModifiedBy>沉默家</cp:lastModifiedBy>
  <cp:revision>13</cp:revision>
  <dcterms:created xsi:type="dcterms:W3CDTF">2025-10-08T10:59:44Z</dcterms:created>
  <dcterms:modified xsi:type="dcterms:W3CDTF">2025-10-08T10:59:44Z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618ADC84BC1CE3159ADDB6681C60432B_42</vt:lpwstr>
  </property>
  <property fmtid="{D5CDD505-2E9C-101B-9397-08002B2CF9AE}" pid="3" name="KSOProductBuildVer">
    <vt:lpwstr>2052-6.7.1.8828</vt:lpwstr>
  </property>
</Properties>
</file>