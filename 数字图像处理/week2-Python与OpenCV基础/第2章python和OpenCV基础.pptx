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Lst>
  <p:notesMasterIdLst>
    <p:notesMasterId r:id="rId5"/>
  </p:notesMasterIdLst>
  <p:handoutMasterIdLst>
    <p:handoutMasterId r:id="rId75"/>
  </p:handoutMasterIdLst>
  <p:sldIdLst>
    <p:sldId id="370" r:id="rId4"/>
    <p:sldId id="371" r:id="rId6"/>
    <p:sldId id="361" r:id="rId7"/>
    <p:sldId id="265" r:id="rId8"/>
    <p:sldId id="372" r:id="rId9"/>
    <p:sldId id="375" r:id="rId10"/>
    <p:sldId id="376" r:id="rId11"/>
    <p:sldId id="377" r:id="rId12"/>
    <p:sldId id="379" r:id="rId13"/>
    <p:sldId id="378" r:id="rId14"/>
    <p:sldId id="380" r:id="rId15"/>
    <p:sldId id="381" r:id="rId16"/>
    <p:sldId id="382" r:id="rId17"/>
    <p:sldId id="373" r:id="rId18"/>
    <p:sldId id="383" r:id="rId19"/>
    <p:sldId id="384" r:id="rId20"/>
    <p:sldId id="385" r:id="rId21"/>
    <p:sldId id="386" r:id="rId22"/>
    <p:sldId id="387" r:id="rId23"/>
    <p:sldId id="388" r:id="rId24"/>
    <p:sldId id="389" r:id="rId25"/>
    <p:sldId id="390" r:id="rId26"/>
    <p:sldId id="391" r:id="rId27"/>
    <p:sldId id="433" r:id="rId28"/>
    <p:sldId id="434" r:id="rId29"/>
    <p:sldId id="403" r:id="rId30"/>
    <p:sldId id="404" r:id="rId31"/>
    <p:sldId id="405" r:id="rId32"/>
    <p:sldId id="406" r:id="rId33"/>
    <p:sldId id="407" r:id="rId34"/>
    <p:sldId id="408" r:id="rId35"/>
    <p:sldId id="435" r:id="rId36"/>
    <p:sldId id="409" r:id="rId37"/>
    <p:sldId id="410" r:id="rId38"/>
    <p:sldId id="411" r:id="rId39"/>
    <p:sldId id="412" r:id="rId40"/>
    <p:sldId id="413" r:id="rId41"/>
    <p:sldId id="414" r:id="rId42"/>
    <p:sldId id="415" r:id="rId43"/>
    <p:sldId id="416" r:id="rId44"/>
    <p:sldId id="422" r:id="rId45"/>
    <p:sldId id="423" r:id="rId46"/>
    <p:sldId id="424" r:id="rId47"/>
    <p:sldId id="425" r:id="rId48"/>
    <p:sldId id="426" r:id="rId49"/>
    <p:sldId id="427" r:id="rId50"/>
    <p:sldId id="428" r:id="rId51"/>
    <p:sldId id="429" r:id="rId52"/>
    <p:sldId id="430" r:id="rId53"/>
    <p:sldId id="431" r:id="rId54"/>
    <p:sldId id="436" r:id="rId55"/>
    <p:sldId id="432" r:id="rId56"/>
    <p:sldId id="417" r:id="rId57"/>
    <p:sldId id="418" r:id="rId58"/>
    <p:sldId id="437" r:id="rId59"/>
    <p:sldId id="419" r:id="rId60"/>
    <p:sldId id="438" r:id="rId61"/>
    <p:sldId id="420" r:id="rId62"/>
    <p:sldId id="421" r:id="rId63"/>
    <p:sldId id="399" r:id="rId64"/>
    <p:sldId id="401" r:id="rId65"/>
    <p:sldId id="402" r:id="rId66"/>
    <p:sldId id="374" r:id="rId67"/>
    <p:sldId id="392" r:id="rId68"/>
    <p:sldId id="393" r:id="rId69"/>
    <p:sldId id="394" r:id="rId70"/>
    <p:sldId id="395" r:id="rId71"/>
    <p:sldId id="396" r:id="rId72"/>
    <p:sldId id="397" r:id="rId73"/>
    <p:sldId id="398" r:id="rId74"/>
  </p:sldIdLst>
  <p:sldSz cx="9145270" cy="6859270"/>
  <p:notesSz cx="6858000" cy="9144000"/>
  <p:custDataLst>
    <p:tags r:id="rId79"/>
  </p:custDataLst>
  <p:defaultTex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3838" userDrawn="1">
          <p15:clr>
            <a:srgbClr val="A4A3A4"/>
          </p15:clr>
        </p15:guide>
        <p15:guide id="3" pos="2880" userDrawn="1">
          <p15:clr>
            <a:srgbClr val="A4A3A4"/>
          </p15:clr>
        </p15:guide>
        <p15:guide id="4" pos="5399" userDrawn="1">
          <p15:clr>
            <a:srgbClr val="A4A3A4"/>
          </p15:clr>
        </p15:guide>
        <p15:guide id="5" pos="43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C7C7C7"/>
    <a:srgbClr val="66F2C3"/>
    <a:srgbClr val="EF7768"/>
    <a:srgbClr val="38B1BF"/>
    <a:srgbClr val="F5F5F5"/>
    <a:srgbClr val="00458E"/>
    <a:srgbClr val="8B8B8B"/>
    <a:srgbClr val="B11212"/>
    <a:srgbClr val="022A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46" autoAdjust="0"/>
    <p:restoredTop sz="94660"/>
  </p:normalViewPr>
  <p:slideViewPr>
    <p:cSldViewPr showGuides="1">
      <p:cViewPr varScale="1">
        <p:scale>
          <a:sx n="86" d="100"/>
          <a:sy n="86" d="100"/>
        </p:scale>
        <p:origin x="1541" y="62"/>
      </p:cViewPr>
      <p:guideLst>
        <p:guide orient="horz" pos="2160"/>
        <p:guide orient="horz" pos="3838"/>
        <p:guide pos="2880"/>
        <p:guide pos="5399"/>
        <p:guide pos="430"/>
      </p:guideLst>
    </p:cSldViewPr>
  </p:slid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83" d="100"/>
          <a:sy n="83" d="100"/>
        </p:scale>
        <p:origin x="-384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9" Type="http://schemas.openxmlformats.org/officeDocument/2006/relationships/tags" Target="tags/tag1.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handoutMaster" Target="handoutMasters/handoutMaster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D1C15E6-6BD2-4E4B-B1D4-218C26E1B22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655EDCA-2189-4435-B38B-6F3C2C04435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17430C-5A66-4BD0-A971-34190B6C601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AC173A-3DA8-4893-B28A-1E15F55C330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1_标题幻灯片">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2_两栏内容">
    <p:bg>
      <p:bgPr>
        <a:solidFill>
          <a:srgbClr val="F5F5F5"/>
        </a:solidFill>
        <a:effectLst/>
      </p:bgPr>
    </p:bg>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3_两栏内容">
    <p:bg>
      <p:bgPr>
        <a:solidFill>
          <a:srgbClr val="F5F5F5"/>
        </a:solidFill>
        <a:effectLst/>
      </p:bgPr>
    </p:bg>
    <p:spTree>
      <p:nvGrpSpPr>
        <p:cNvPr id="1" name=""/>
        <p:cNvGrpSpPr/>
        <p:nvPr/>
      </p:nvGrpSpPr>
      <p:grpSpPr>
        <a:xfrm>
          <a:off x="0" y="0"/>
          <a:ext cx="0" cy="0"/>
          <a:chOff x="0" y="0"/>
          <a:chExt cx="0" cy="0"/>
        </a:xfrm>
      </p:grpSpPr>
      <p:sp>
        <p:nvSpPr>
          <p:cNvPr id="11" name="TextBox 15"/>
          <p:cNvSpPr txBox="1"/>
          <p:nvPr userDrawn="1"/>
        </p:nvSpPr>
        <p:spPr>
          <a:xfrm>
            <a:off x="8080932" y="405459"/>
            <a:ext cx="849913" cy="323165"/>
          </a:xfrm>
          <a:prstGeom prst="rect">
            <a:avLst/>
          </a:prstGeom>
          <a:noFill/>
        </p:spPr>
        <p:txBody>
          <a:bodyPr wrap="none" rtlCol="0">
            <a:spAutoFit/>
          </a:bodyPr>
          <a:lstStyle/>
          <a:p>
            <a:pPr algn="ct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第</a:t>
            </a:r>
            <a:r>
              <a:rPr lang="zh-CN" altLang="en-US" sz="1350" dirty="0">
                <a:solidFill>
                  <a:schemeClr val="tx1">
                    <a:lumMod val="50000"/>
                    <a:lumOff val="50000"/>
                  </a:schemeClr>
                </a:solidFill>
                <a:latin typeface="微软雅黑" panose="020B0503020204020204" pitchFamily="34" charset="-122"/>
                <a:ea typeface="微软雅黑" panose="020B0503020204020204" pitchFamily="34" charset="-122"/>
              </a:rPr>
              <a:t> </a:t>
            </a:r>
            <a:fld id="{2EEF1883-7A0E-4F66-9932-E581691AD397}" type="slidenum">
              <a:rPr lang="zh-CN" altLang="en-US" sz="1500" smtClean="0">
                <a:solidFill>
                  <a:schemeClr val="tx1">
                    <a:lumMod val="50000"/>
                    <a:lumOff val="50000"/>
                  </a:schemeClr>
                </a:solidFill>
                <a:latin typeface="微软雅黑" panose="020B0503020204020204" pitchFamily="34" charset="-122"/>
                <a:ea typeface="微软雅黑" panose="020B0503020204020204" pitchFamily="34" charset="-122"/>
              </a:rPr>
            </a:fld>
            <a:r>
              <a:rPr lang="zh-CN" altLang="en-US" sz="1350" dirty="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页</a:t>
            </a:r>
            <a:endParaRPr lang="zh-CN" altLang="en-US" sz="1200" b="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1_两栏内容">
    <p:bg>
      <p:bgPr>
        <a:solidFill>
          <a:srgbClr val="F5F5F5"/>
        </a:solidFill>
        <a:effectLst/>
      </p:bgPr>
    </p:bg>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8" name="그림 6" descr="0006.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681" y="3"/>
            <a:ext cx="9145588" cy="6694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pic>
        <p:nvPicPr>
          <p:cNvPr id="7"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9" y="4407925"/>
            <a:ext cx="7773750" cy="1362391"/>
          </a:xfrm>
        </p:spPr>
        <p:txBody>
          <a:bodyPr anchor="t"/>
          <a:lstStyle>
            <a:lvl1pPr algn="l">
              <a:defRPr sz="397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439" y="2907386"/>
            <a:ext cx="7773750" cy="1500534"/>
          </a:xfrm>
        </p:spPr>
        <p:txBody>
          <a:bodyPr anchor="b"/>
          <a:lstStyle>
            <a:lvl1pPr marL="0" indent="0">
              <a:buNone/>
              <a:defRPr sz="2025">
                <a:solidFill>
                  <a:schemeClr val="tx1">
                    <a:tint val="75000"/>
                  </a:schemeClr>
                </a:solidFill>
              </a:defRPr>
            </a:lvl1pPr>
            <a:lvl2pPr marL="457200" indent="0">
              <a:buNone/>
              <a:defRPr sz="1800">
                <a:solidFill>
                  <a:schemeClr val="tx1">
                    <a:tint val="75000"/>
                  </a:schemeClr>
                </a:solidFill>
              </a:defRPr>
            </a:lvl2pPr>
            <a:lvl3pPr marL="914400" indent="0">
              <a:buNone/>
              <a:defRPr sz="1575">
                <a:solidFill>
                  <a:schemeClr val="tx1">
                    <a:tint val="75000"/>
                  </a:schemeClr>
                </a:solidFill>
              </a:defRPr>
            </a:lvl3pPr>
            <a:lvl4pPr marL="1372235" indent="0">
              <a:buNone/>
              <a:defRPr sz="1425">
                <a:solidFill>
                  <a:schemeClr val="tx1">
                    <a:tint val="75000"/>
                  </a:schemeClr>
                </a:solidFill>
              </a:defRPr>
            </a:lvl4pPr>
            <a:lvl5pPr marL="1829435" indent="0">
              <a:buNone/>
              <a:defRPr sz="1425">
                <a:solidFill>
                  <a:schemeClr val="tx1">
                    <a:tint val="75000"/>
                  </a:schemeClr>
                </a:solidFill>
              </a:defRPr>
            </a:lvl5pPr>
            <a:lvl6pPr marL="2286635" indent="0">
              <a:buNone/>
              <a:defRPr sz="1425">
                <a:solidFill>
                  <a:schemeClr val="tx1">
                    <a:tint val="75000"/>
                  </a:schemeClr>
                </a:solidFill>
              </a:defRPr>
            </a:lvl6pPr>
            <a:lvl7pPr marL="2743835" indent="0">
              <a:buNone/>
              <a:defRPr sz="1425">
                <a:solidFill>
                  <a:schemeClr val="tx1">
                    <a:tint val="75000"/>
                  </a:schemeClr>
                </a:solidFill>
              </a:defRPr>
            </a:lvl7pPr>
            <a:lvl8pPr marL="3201035" indent="0">
              <a:buNone/>
              <a:defRPr sz="1425">
                <a:solidFill>
                  <a:schemeClr val="tx1">
                    <a:tint val="75000"/>
                  </a:schemeClr>
                </a:solidFill>
              </a:defRPr>
            </a:lvl8pPr>
            <a:lvl9pPr marL="3658235" indent="0">
              <a:buNone/>
              <a:defRPr sz="142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80" y="1600573"/>
            <a:ext cx="4039301" cy="4527011"/>
          </a:xfrm>
        </p:spPr>
        <p:txBody>
          <a:bodyPr/>
          <a:lstStyle>
            <a:lvl1pPr>
              <a:defRPr sz="2775"/>
            </a:lvl1pPr>
            <a:lvl2pPr>
              <a:defRPr sz="2400"/>
            </a:lvl2pPr>
            <a:lvl3pPr>
              <a:defRPr sz="2025"/>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9008" y="1600573"/>
            <a:ext cx="4039301" cy="4527011"/>
          </a:xfrm>
        </p:spPr>
        <p:txBody>
          <a:bodyPr/>
          <a:lstStyle>
            <a:lvl1pPr>
              <a:defRPr sz="2775"/>
            </a:lvl1pPr>
            <a:lvl2pPr>
              <a:defRPr sz="2400"/>
            </a:lvl2pPr>
            <a:lvl3pPr>
              <a:defRPr sz="2025"/>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79" y="1535469"/>
            <a:ext cx="4040890" cy="639911"/>
          </a:xfrm>
        </p:spPr>
        <p:txBody>
          <a:bodyPr anchor="b"/>
          <a:lstStyle>
            <a:lvl1pPr marL="0" indent="0">
              <a:buNone/>
              <a:defRPr sz="2400" b="1"/>
            </a:lvl1pPr>
            <a:lvl2pPr marL="457200" indent="0">
              <a:buNone/>
              <a:defRPr sz="2025" b="1"/>
            </a:lvl2pPr>
            <a:lvl3pPr marL="914400" indent="0">
              <a:buNone/>
              <a:defRPr sz="1800" b="1"/>
            </a:lvl3pPr>
            <a:lvl4pPr marL="1372235" indent="0">
              <a:buNone/>
              <a:defRPr sz="1575" b="1"/>
            </a:lvl4pPr>
            <a:lvl5pPr marL="1829435" indent="0">
              <a:buNone/>
              <a:defRPr sz="1575" b="1"/>
            </a:lvl5pPr>
            <a:lvl6pPr marL="2286635" indent="0">
              <a:buNone/>
              <a:defRPr sz="1575" b="1"/>
            </a:lvl6pPr>
            <a:lvl7pPr marL="2743835" indent="0">
              <a:buNone/>
              <a:defRPr sz="1575" b="1"/>
            </a:lvl7pPr>
            <a:lvl8pPr marL="3201035" indent="0">
              <a:buNone/>
              <a:defRPr sz="1575" b="1"/>
            </a:lvl8pPr>
            <a:lvl9pPr marL="3658235" indent="0">
              <a:buNone/>
              <a:defRPr sz="157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79" y="2175378"/>
            <a:ext cx="4040890" cy="3952203"/>
          </a:xfrm>
        </p:spPr>
        <p:txBody>
          <a:bodyPr/>
          <a:lstStyle>
            <a:lvl1pPr>
              <a:defRPr sz="2400"/>
            </a:lvl1pPr>
            <a:lvl2pPr>
              <a:defRPr sz="2025"/>
            </a:lvl2pPr>
            <a:lvl3pPr>
              <a:defRPr sz="1800"/>
            </a:lvl3pPr>
            <a:lvl4pPr>
              <a:defRPr sz="1575"/>
            </a:lvl4pPr>
            <a:lvl5pPr>
              <a:defRPr sz="1575"/>
            </a:lvl5pPr>
            <a:lvl6pPr>
              <a:defRPr sz="1575"/>
            </a:lvl6pPr>
            <a:lvl7pPr>
              <a:defRPr sz="1575"/>
            </a:lvl7pPr>
            <a:lvl8pPr>
              <a:defRPr sz="1575"/>
            </a:lvl8pPr>
            <a:lvl9pPr>
              <a:defRPr sz="157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836" y="1535469"/>
            <a:ext cx="4042477" cy="639911"/>
          </a:xfrm>
        </p:spPr>
        <p:txBody>
          <a:bodyPr anchor="b"/>
          <a:lstStyle>
            <a:lvl1pPr marL="0" indent="0">
              <a:buNone/>
              <a:defRPr sz="2400" b="1"/>
            </a:lvl1pPr>
            <a:lvl2pPr marL="457200" indent="0">
              <a:buNone/>
              <a:defRPr sz="2025" b="1"/>
            </a:lvl2pPr>
            <a:lvl3pPr marL="914400" indent="0">
              <a:buNone/>
              <a:defRPr sz="1800" b="1"/>
            </a:lvl3pPr>
            <a:lvl4pPr marL="1372235" indent="0">
              <a:buNone/>
              <a:defRPr sz="1575" b="1"/>
            </a:lvl4pPr>
            <a:lvl5pPr marL="1829435" indent="0">
              <a:buNone/>
              <a:defRPr sz="1575" b="1"/>
            </a:lvl5pPr>
            <a:lvl6pPr marL="2286635" indent="0">
              <a:buNone/>
              <a:defRPr sz="1575" b="1"/>
            </a:lvl6pPr>
            <a:lvl7pPr marL="2743835" indent="0">
              <a:buNone/>
              <a:defRPr sz="1575" b="1"/>
            </a:lvl7pPr>
            <a:lvl8pPr marL="3201035" indent="0">
              <a:buNone/>
              <a:defRPr sz="1575" b="1"/>
            </a:lvl8pPr>
            <a:lvl9pPr marL="3658235" indent="0">
              <a:buNone/>
              <a:defRPr sz="157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836" y="2175378"/>
            <a:ext cx="4042477" cy="3952203"/>
          </a:xfrm>
        </p:spPr>
        <p:txBody>
          <a:bodyPr/>
          <a:lstStyle>
            <a:lvl1pPr>
              <a:defRPr sz="2400"/>
            </a:lvl1pPr>
            <a:lvl2pPr>
              <a:defRPr sz="2025"/>
            </a:lvl2pPr>
            <a:lvl3pPr>
              <a:defRPr sz="1800"/>
            </a:lvl3pPr>
            <a:lvl4pPr>
              <a:defRPr sz="1575"/>
            </a:lvl4pPr>
            <a:lvl5pPr>
              <a:defRPr sz="1575"/>
            </a:lvl5pPr>
            <a:lvl6pPr>
              <a:defRPr sz="1575"/>
            </a:lvl6pPr>
            <a:lvl7pPr>
              <a:defRPr sz="1575"/>
            </a:lvl7pPr>
            <a:lvl8pPr>
              <a:defRPr sz="1575"/>
            </a:lvl8pPr>
            <a:lvl9pPr>
              <a:defRPr sz="157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2"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82" y="273114"/>
            <a:ext cx="3008836" cy="1162320"/>
          </a:xfrm>
        </p:spPr>
        <p:txBody>
          <a:bodyPr anchor="b"/>
          <a:lstStyle>
            <a:lvl1pPr algn="l">
              <a:defRPr sz="2025" b="1"/>
            </a:lvl1pPr>
          </a:lstStyle>
          <a:p>
            <a:r>
              <a:rPr lang="zh-CN" altLang="en-US"/>
              <a:t>单击此处编辑母版标题样式</a:t>
            </a:r>
            <a:endParaRPr lang="zh-CN" altLang="en-US"/>
          </a:p>
        </p:txBody>
      </p:sp>
      <p:sp>
        <p:nvSpPr>
          <p:cNvPr id="3" name="内容占位符 2"/>
          <p:cNvSpPr>
            <a:spLocks noGrp="1"/>
          </p:cNvSpPr>
          <p:nvPr>
            <p:ph idx="1"/>
          </p:nvPr>
        </p:nvSpPr>
        <p:spPr>
          <a:xfrm>
            <a:off x="3575672" y="273117"/>
            <a:ext cx="5112637" cy="5854469"/>
          </a:xfrm>
        </p:spPr>
        <p:txBody>
          <a:bodyPr/>
          <a:lstStyle>
            <a:lvl1pPr>
              <a:defRPr sz="3225"/>
            </a:lvl1pPr>
            <a:lvl2pPr>
              <a:defRPr sz="2775"/>
            </a:lvl2pPr>
            <a:lvl3pPr>
              <a:defRPr sz="2400"/>
            </a:lvl3pPr>
            <a:lvl4pPr>
              <a:defRPr sz="2025"/>
            </a:lvl4pPr>
            <a:lvl5pPr>
              <a:defRPr sz="2025"/>
            </a:lvl5pPr>
            <a:lvl6pPr>
              <a:defRPr sz="2025"/>
            </a:lvl6pPr>
            <a:lvl7pPr>
              <a:defRPr sz="2025"/>
            </a:lvl7pPr>
            <a:lvl8pPr>
              <a:defRPr sz="2025"/>
            </a:lvl8pPr>
            <a:lvl9pPr>
              <a:defRPr sz="202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82" y="1435437"/>
            <a:ext cx="3008836" cy="4692149"/>
          </a:xfrm>
        </p:spPr>
        <p:txBody>
          <a:bodyPr/>
          <a:lstStyle>
            <a:lvl1pPr marL="0" indent="0">
              <a:buNone/>
              <a:defRPr sz="1425"/>
            </a:lvl1pPr>
            <a:lvl2pPr marL="457200" indent="0">
              <a:buNone/>
              <a:defRPr sz="1200"/>
            </a:lvl2pPr>
            <a:lvl3pPr marL="914400" indent="0">
              <a:buNone/>
              <a:defRPr sz="975"/>
            </a:lvl3pPr>
            <a:lvl4pPr marL="1372235" indent="0">
              <a:buNone/>
              <a:defRPr sz="900"/>
            </a:lvl4pPr>
            <a:lvl5pPr marL="1829435" indent="0">
              <a:buNone/>
              <a:defRPr sz="900"/>
            </a:lvl5pPr>
            <a:lvl6pPr marL="2286635" indent="0">
              <a:buNone/>
              <a:defRPr sz="900"/>
            </a:lvl6pPr>
            <a:lvl7pPr marL="2743835" indent="0">
              <a:buNone/>
              <a:defRPr sz="900"/>
            </a:lvl7pPr>
            <a:lvl8pPr marL="3201035" indent="0">
              <a:buNone/>
              <a:defRPr sz="900"/>
            </a:lvl8pPr>
            <a:lvl9pPr marL="3658235"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599" y="4801713"/>
            <a:ext cx="5487353" cy="566870"/>
          </a:xfrm>
        </p:spPr>
        <p:txBody>
          <a:bodyPr anchor="b"/>
          <a:lstStyle>
            <a:lvl1pPr algn="l">
              <a:defRPr sz="202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599" y="612917"/>
            <a:ext cx="5487353" cy="4115753"/>
          </a:xfrm>
        </p:spPr>
        <p:txBody>
          <a:bodyPr/>
          <a:lstStyle>
            <a:lvl1pPr marL="0" indent="0">
              <a:buNone/>
              <a:defRPr sz="3225"/>
            </a:lvl1pPr>
            <a:lvl2pPr marL="457200" indent="0">
              <a:buNone/>
              <a:defRPr sz="2775"/>
            </a:lvl2pPr>
            <a:lvl3pPr marL="914400" indent="0">
              <a:buNone/>
              <a:defRPr sz="2400"/>
            </a:lvl3pPr>
            <a:lvl4pPr marL="1372235" indent="0">
              <a:buNone/>
              <a:defRPr sz="2025"/>
            </a:lvl4pPr>
            <a:lvl5pPr marL="1829435" indent="0">
              <a:buNone/>
              <a:defRPr sz="2025"/>
            </a:lvl5pPr>
            <a:lvl6pPr marL="2286635" indent="0">
              <a:buNone/>
              <a:defRPr sz="2025"/>
            </a:lvl6pPr>
            <a:lvl7pPr marL="2743835" indent="0">
              <a:buNone/>
              <a:defRPr sz="2025"/>
            </a:lvl7pPr>
            <a:lvl8pPr marL="3201035" indent="0">
              <a:buNone/>
              <a:defRPr sz="2025"/>
            </a:lvl8pPr>
            <a:lvl9pPr marL="3658235" indent="0">
              <a:buNone/>
              <a:defRPr sz="2025"/>
            </a:lvl9pPr>
          </a:lstStyle>
          <a:p>
            <a:endParaRPr lang="zh-CN" altLang="en-US"/>
          </a:p>
        </p:txBody>
      </p:sp>
      <p:sp>
        <p:nvSpPr>
          <p:cNvPr id="4" name="文本占位符 3"/>
          <p:cNvSpPr>
            <a:spLocks noGrp="1"/>
          </p:cNvSpPr>
          <p:nvPr>
            <p:ph type="body" sz="half" idx="2"/>
          </p:nvPr>
        </p:nvSpPr>
        <p:spPr>
          <a:xfrm>
            <a:off x="1792599" y="5368583"/>
            <a:ext cx="5487353" cy="805048"/>
          </a:xfrm>
        </p:spPr>
        <p:txBody>
          <a:bodyPr/>
          <a:lstStyle>
            <a:lvl1pPr marL="0" indent="0">
              <a:buNone/>
              <a:defRPr sz="1425"/>
            </a:lvl1pPr>
            <a:lvl2pPr marL="457200" indent="0">
              <a:buNone/>
              <a:defRPr sz="1200"/>
            </a:lvl2pPr>
            <a:lvl3pPr marL="914400" indent="0">
              <a:buNone/>
              <a:defRPr sz="975"/>
            </a:lvl3pPr>
            <a:lvl4pPr marL="1372235" indent="0">
              <a:buNone/>
              <a:defRPr sz="900"/>
            </a:lvl4pPr>
            <a:lvl5pPr marL="1829435" indent="0">
              <a:buNone/>
              <a:defRPr sz="900"/>
            </a:lvl5pPr>
            <a:lvl6pPr marL="2286635" indent="0">
              <a:buNone/>
              <a:defRPr sz="900"/>
            </a:lvl6pPr>
            <a:lvl7pPr marL="2743835" indent="0">
              <a:buNone/>
              <a:defRPr sz="900"/>
            </a:lvl7pPr>
            <a:lvl8pPr marL="3201035" indent="0">
              <a:buNone/>
              <a:defRPr sz="900"/>
            </a:lvl8pPr>
            <a:lvl9pPr marL="3658235"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pic>
        <p:nvPicPr>
          <p:cNvPr id="8"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anim calcmode="lin" valueType="num">
                                      <p:cBhvr>
                                        <p:cTn id="8" dur="2000" fill="hold"/>
                                        <p:tgtEl>
                                          <p:spTgt spid="8"/>
                                        </p:tgtEl>
                                        <p:attrNameLst>
                                          <p:attrName>ppt_w</p:attrName>
                                        </p:attrNameLst>
                                      </p:cBhvr>
                                      <p:tavLst>
                                        <p:tav tm="0" fmla="#ppt_w*sin(2.5*pi*$)">
                                          <p:val>
                                            <p:fltVal val="0"/>
                                          </p:val>
                                        </p:tav>
                                        <p:tav tm="100000">
                                          <p:val>
                                            <p:fltVal val="1"/>
                                          </p:val>
                                        </p:tav>
                                      </p:tavLst>
                                    </p:anim>
                                    <p:anim calcmode="lin" valueType="num">
                                      <p:cBhvr>
                                        <p:cTn id="9" dur="20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552" y="274702"/>
            <a:ext cx="2057757"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80" y="274702"/>
            <a:ext cx="602084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pic>
        <p:nvPicPr>
          <p:cNvPr id="7"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slideLayout" Target="../slideLayouts/slideLayout13.xml"/><Relationship Id="rId7" Type="http://schemas.openxmlformats.org/officeDocument/2006/relationships/slideLayout" Target="../slideLayouts/slideLayout12.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2" Type="http://schemas.openxmlformats.org/officeDocument/2006/relationships/theme" Target="../theme/theme2.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slow" advClick="0" advTm="0">
    <p:wipe/>
  </p:transition>
  <p:txStyles>
    <p:titleStyle>
      <a:lvl1pPr algn="ctr" defTabSz="816610" rtl="0" eaLnBrk="1" latinLnBrk="0" hangingPunct="1">
        <a:spcBef>
          <a:spcPct val="0"/>
        </a:spcBef>
        <a:buNone/>
        <a:defRPr sz="3900" kern="1200">
          <a:solidFill>
            <a:schemeClr val="tx1"/>
          </a:solidFill>
          <a:latin typeface="+mj-lt"/>
          <a:ea typeface="+mj-ea"/>
          <a:cs typeface="+mj-cs"/>
        </a:defRPr>
      </a:lvl1pPr>
    </p:titleStyle>
    <p:bodyStyle>
      <a:lvl1pPr marL="306070" indent="-306070" algn="l" defTabSz="816610" rtl="0" eaLnBrk="1" latinLnBrk="0" hangingPunct="1">
        <a:spcBef>
          <a:spcPct val="20000"/>
        </a:spcBef>
        <a:buFont typeface="Arial" panose="020B0604020202090204" pitchFamily="34" charset="0"/>
        <a:buChar char="•"/>
        <a:defRPr sz="2850" kern="1200">
          <a:solidFill>
            <a:schemeClr val="tx1"/>
          </a:solidFill>
          <a:latin typeface="+mn-lt"/>
          <a:ea typeface="+mn-ea"/>
          <a:cs typeface="+mn-cs"/>
        </a:defRPr>
      </a:lvl1pPr>
      <a:lvl2pPr marL="663575" indent="-255270" algn="l" defTabSz="816610" rtl="0" eaLnBrk="1" latinLnBrk="0" hangingPunct="1">
        <a:spcBef>
          <a:spcPct val="20000"/>
        </a:spcBef>
        <a:buFont typeface="Arial" panose="020B0604020202090204" pitchFamily="34" charset="0"/>
        <a:buChar char="–"/>
        <a:defRPr sz="2475" kern="1200">
          <a:solidFill>
            <a:schemeClr val="tx1"/>
          </a:solidFill>
          <a:latin typeface="+mn-lt"/>
          <a:ea typeface="+mn-ea"/>
          <a:cs typeface="+mn-cs"/>
        </a:defRPr>
      </a:lvl2pPr>
      <a:lvl3pPr marL="1020445" indent="-203835" algn="l" defTabSz="816610" rtl="0" eaLnBrk="1" latinLnBrk="0" hangingPunct="1">
        <a:spcBef>
          <a:spcPct val="20000"/>
        </a:spcBef>
        <a:buFont typeface="Arial" panose="020B0604020202090204" pitchFamily="34" charset="0"/>
        <a:buChar char="•"/>
        <a:defRPr sz="2175" kern="1200">
          <a:solidFill>
            <a:schemeClr val="tx1"/>
          </a:solidFill>
          <a:latin typeface="+mn-lt"/>
          <a:ea typeface="+mn-ea"/>
          <a:cs typeface="+mn-cs"/>
        </a:defRPr>
      </a:lvl3pPr>
      <a:lvl4pPr marL="142875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4pPr>
      <a:lvl5pPr marL="183705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5pPr>
      <a:lvl6pPr marL="224536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6pPr>
      <a:lvl7pPr marL="265366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7pPr>
      <a:lvl8pPr marL="306197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8pPr>
      <a:lvl9pPr marL="347027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816610" rtl="0" eaLnBrk="1" latinLnBrk="0" hangingPunct="1">
        <a:defRPr sz="1575" kern="1200">
          <a:solidFill>
            <a:schemeClr val="tx1"/>
          </a:solidFill>
          <a:latin typeface="+mn-lt"/>
          <a:ea typeface="+mn-ea"/>
          <a:cs typeface="+mn-cs"/>
        </a:defRPr>
      </a:lvl1pPr>
      <a:lvl2pPr marL="408305" algn="l" defTabSz="816610" rtl="0" eaLnBrk="1" latinLnBrk="0" hangingPunct="1">
        <a:defRPr sz="1575" kern="1200">
          <a:solidFill>
            <a:schemeClr val="tx1"/>
          </a:solidFill>
          <a:latin typeface="+mn-lt"/>
          <a:ea typeface="+mn-ea"/>
          <a:cs typeface="+mn-cs"/>
        </a:defRPr>
      </a:lvl2pPr>
      <a:lvl3pPr marL="816610" algn="l" defTabSz="816610" rtl="0" eaLnBrk="1" latinLnBrk="0" hangingPunct="1">
        <a:defRPr sz="1575" kern="1200">
          <a:solidFill>
            <a:schemeClr val="tx1"/>
          </a:solidFill>
          <a:latin typeface="+mn-lt"/>
          <a:ea typeface="+mn-ea"/>
          <a:cs typeface="+mn-cs"/>
        </a:defRPr>
      </a:lvl3pPr>
      <a:lvl4pPr marL="1224915" algn="l" defTabSz="816610" rtl="0" eaLnBrk="1" latinLnBrk="0" hangingPunct="1">
        <a:defRPr sz="1575" kern="1200">
          <a:solidFill>
            <a:schemeClr val="tx1"/>
          </a:solidFill>
          <a:latin typeface="+mn-lt"/>
          <a:ea typeface="+mn-ea"/>
          <a:cs typeface="+mn-cs"/>
        </a:defRPr>
      </a:lvl4pPr>
      <a:lvl5pPr marL="1633220" algn="l" defTabSz="816610" rtl="0" eaLnBrk="1" latinLnBrk="0" hangingPunct="1">
        <a:defRPr sz="1575" kern="1200">
          <a:solidFill>
            <a:schemeClr val="tx1"/>
          </a:solidFill>
          <a:latin typeface="+mn-lt"/>
          <a:ea typeface="+mn-ea"/>
          <a:cs typeface="+mn-cs"/>
        </a:defRPr>
      </a:lvl5pPr>
      <a:lvl6pPr marL="2041525" algn="l" defTabSz="816610" rtl="0" eaLnBrk="1" latinLnBrk="0" hangingPunct="1">
        <a:defRPr sz="1575" kern="1200">
          <a:solidFill>
            <a:schemeClr val="tx1"/>
          </a:solidFill>
          <a:latin typeface="+mn-lt"/>
          <a:ea typeface="+mn-ea"/>
          <a:cs typeface="+mn-cs"/>
        </a:defRPr>
      </a:lvl6pPr>
      <a:lvl7pPr marL="2449830" algn="l" defTabSz="816610" rtl="0" eaLnBrk="1" latinLnBrk="0" hangingPunct="1">
        <a:defRPr sz="1575" kern="1200">
          <a:solidFill>
            <a:schemeClr val="tx1"/>
          </a:solidFill>
          <a:latin typeface="+mn-lt"/>
          <a:ea typeface="+mn-ea"/>
          <a:cs typeface="+mn-cs"/>
        </a:defRPr>
      </a:lvl7pPr>
      <a:lvl8pPr marL="2858135" algn="l" defTabSz="816610" rtl="0" eaLnBrk="1" latinLnBrk="0" hangingPunct="1">
        <a:defRPr sz="1575" kern="1200">
          <a:solidFill>
            <a:schemeClr val="tx1"/>
          </a:solidFill>
          <a:latin typeface="+mn-lt"/>
          <a:ea typeface="+mn-ea"/>
          <a:cs typeface="+mn-cs"/>
        </a:defRPr>
      </a:lvl8pPr>
      <a:lvl9pPr marL="3266440" algn="l" defTabSz="816610" rtl="0" eaLnBrk="1" latinLnBrk="0" hangingPunct="1">
        <a:defRPr sz="157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80" y="274702"/>
            <a:ext cx="8231029"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80" y="1600573"/>
            <a:ext cx="8231029"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80" y="6357824"/>
            <a:ext cx="2133971" cy="365210"/>
          </a:xfrm>
          <a:prstGeom prst="rect">
            <a:avLst/>
          </a:prstGeom>
        </p:spPr>
        <p:txBody>
          <a:bodyPr vert="horz" lIns="121917" tIns="60958" rIns="121917" bIns="60958" rtlCol="0" anchor="ctr"/>
          <a:lstStyle>
            <a:lvl1pPr algn="l">
              <a:defRPr sz="1200">
                <a:solidFill>
                  <a:schemeClr val="tx1">
                    <a:tint val="75000"/>
                  </a:schemeClr>
                </a:solidFill>
              </a:defRPr>
            </a:lvl1pPr>
          </a:lstStyle>
          <a:p>
            <a:pPr defTabSz="914400"/>
            <a:fld id="{8B8CD9F9-72C8-4589-8A77-E0EAAC1A9441}"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3124743" y="6357824"/>
            <a:ext cx="2896103" cy="365210"/>
          </a:xfrm>
          <a:prstGeom prst="rect">
            <a:avLst/>
          </a:prstGeom>
        </p:spPr>
        <p:txBody>
          <a:bodyPr vert="horz" lIns="121917" tIns="60958" rIns="121917" bIns="60958" rtlCol="0" anchor="ctr"/>
          <a:lstStyle>
            <a:lvl1pPr algn="ctr">
              <a:defRPr sz="1200">
                <a:solidFill>
                  <a:schemeClr val="tx1">
                    <a:tint val="75000"/>
                  </a:schemeClr>
                </a:solidFill>
              </a:defRPr>
            </a:lvl1pPr>
          </a:lstStyle>
          <a:p>
            <a:pPr defTabSz="914400"/>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4338" y="6357824"/>
            <a:ext cx="2133971" cy="365210"/>
          </a:xfrm>
          <a:prstGeom prst="rect">
            <a:avLst/>
          </a:prstGeom>
        </p:spPr>
        <p:txBody>
          <a:bodyPr vert="horz" lIns="121917" tIns="60958" rIns="121917" bIns="60958" rtlCol="0" anchor="ctr"/>
          <a:lstStyle>
            <a:lvl1pPr algn="r">
              <a:defRPr sz="1200">
                <a:solidFill>
                  <a:schemeClr val="tx1">
                    <a:tint val="75000"/>
                  </a:schemeClr>
                </a:solidFill>
              </a:defRPr>
            </a:lvl1pPr>
          </a:lstStyle>
          <a:p>
            <a:pPr defTabSz="914400"/>
            <a:fld id="{8C53447A-3CB4-4631-B405-5E14F97A7A6E}"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ctr" defTabSz="914400" rtl="0" eaLnBrk="1" latinLnBrk="0" hangingPunct="1">
        <a:spcBef>
          <a:spcPct val="0"/>
        </a:spcBef>
        <a:buNone/>
        <a:defRPr sz="4425"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25"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775"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8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4pPr>
      <a:lvl5pPr marL="20580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5pPr>
      <a:lvl6pPr marL="25152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6pPr>
      <a:lvl7pPr marL="29724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7pPr>
      <a:lvl8pPr marL="34296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8pPr>
      <a:lvl9pPr marL="38868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2235" algn="l" defTabSz="914400" rtl="0" eaLnBrk="1" latinLnBrk="0" hangingPunct="1">
        <a:defRPr sz="1800" kern="1200">
          <a:solidFill>
            <a:schemeClr val="tx1"/>
          </a:solidFill>
          <a:latin typeface="+mn-lt"/>
          <a:ea typeface="+mn-ea"/>
          <a:cs typeface="+mn-cs"/>
        </a:defRPr>
      </a:lvl4pPr>
      <a:lvl5pPr marL="1829435" algn="l" defTabSz="914400" rtl="0" eaLnBrk="1" latinLnBrk="0" hangingPunct="1">
        <a:defRPr sz="1800" kern="1200">
          <a:solidFill>
            <a:schemeClr val="tx1"/>
          </a:solidFill>
          <a:latin typeface="+mn-lt"/>
          <a:ea typeface="+mn-ea"/>
          <a:cs typeface="+mn-cs"/>
        </a:defRPr>
      </a:lvl5pPr>
      <a:lvl6pPr marL="2286635"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hyperlink" Target="https://www.python.org/getit/"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hyperlink" Target="https://www.jetbrains.com/pycharm/download/#section=windows" TargetMode="Externa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4.xml"/><Relationship Id="rId2" Type="http://schemas.openxmlformats.org/officeDocument/2006/relationships/image" Target="../media/image12.png"/><Relationship Id="rId1" Type="http://schemas.openxmlformats.org/officeDocument/2006/relationships/image" Target="../media/image11.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4.xml"/><Relationship Id="rId2" Type="http://schemas.openxmlformats.org/officeDocument/2006/relationships/image" Target="../media/image14.png"/><Relationship Id="rId1" Type="http://schemas.openxmlformats.org/officeDocument/2006/relationships/image" Target="../media/image13.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4.xml"/><Relationship Id="rId2" Type="http://schemas.openxmlformats.org/officeDocument/2006/relationships/image" Target="../media/image16.png"/><Relationship Id="rId1" Type="http://schemas.openxmlformats.org/officeDocument/2006/relationships/hyperlink" Target="https://www.anaconda.com/distribution/#download-section" TargetMode="Externa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image" Target="../media/image18.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image" Target="../media/image19.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4.xml"/><Relationship Id="rId2" Type="http://schemas.openxmlformats.org/officeDocument/2006/relationships/image" Target="../media/image22.png"/><Relationship Id="rId1" Type="http://schemas.openxmlformats.org/officeDocument/2006/relationships/hyperlink" Target="https://www.lfd.uci.edu/~gohlke/pythonlibs/#opencv" TargetMode="Externa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4.xml"/><Relationship Id="rId1" Type="http://schemas.openxmlformats.org/officeDocument/2006/relationships/image" Target="../media/image23.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68.xml"/><Relationship Id="rId3" Type="http://schemas.openxmlformats.org/officeDocument/2006/relationships/slideLayout" Target="../slideLayouts/slideLayout4.xml"/><Relationship Id="rId2" Type="http://schemas.openxmlformats.org/officeDocument/2006/relationships/image" Target="../media/image25.png"/><Relationship Id="rId1" Type="http://schemas.openxmlformats.org/officeDocument/2006/relationships/image" Target="../media/image24.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a:off x="3492346" y="1702544"/>
            <a:ext cx="2160896" cy="1862841"/>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grpSp>
        <p:nvGrpSpPr>
          <p:cNvPr id="3" name="组合 2"/>
          <p:cNvGrpSpPr/>
          <p:nvPr/>
        </p:nvGrpSpPr>
        <p:grpSpPr>
          <a:xfrm>
            <a:off x="1" y="5663237"/>
            <a:ext cx="9145587" cy="339684"/>
            <a:chOff x="1" y="6406814"/>
            <a:chExt cx="12190412" cy="452774"/>
          </a:xfrm>
        </p:grpSpPr>
        <p:sp>
          <p:nvSpPr>
            <p:cNvPr id="32" name="六边形 31"/>
            <p:cNvSpPr/>
            <p:nvPr/>
          </p:nvSpPr>
          <p:spPr>
            <a:xfrm>
              <a:off x="1" y="6406814"/>
              <a:ext cx="3041773" cy="452774"/>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3" name="六边形 32"/>
            <p:cNvSpPr/>
            <p:nvPr/>
          </p:nvSpPr>
          <p:spPr>
            <a:xfrm>
              <a:off x="3041775" y="6406814"/>
              <a:ext cx="3063750" cy="452774"/>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4" name="六边形 33"/>
            <p:cNvSpPr/>
            <p:nvPr/>
          </p:nvSpPr>
          <p:spPr>
            <a:xfrm>
              <a:off x="6095207" y="6406814"/>
              <a:ext cx="3047603" cy="452774"/>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5" name="六边形 34"/>
            <p:cNvSpPr/>
            <p:nvPr/>
          </p:nvSpPr>
          <p:spPr>
            <a:xfrm>
              <a:off x="9142810" y="6406814"/>
              <a:ext cx="3047603" cy="452774"/>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grpSp>
      <p:sp>
        <p:nvSpPr>
          <p:cNvPr id="36" name="六边形 35"/>
          <p:cNvSpPr/>
          <p:nvPr/>
        </p:nvSpPr>
        <p:spPr>
          <a:xfrm flipV="1">
            <a:off x="1" y="856667"/>
            <a:ext cx="2286397" cy="70072"/>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41" name="文本框 5"/>
          <p:cNvSpPr txBox="1"/>
          <p:nvPr/>
        </p:nvSpPr>
        <p:spPr>
          <a:xfrm>
            <a:off x="3708698" y="4437906"/>
            <a:ext cx="1467534" cy="288549"/>
          </a:xfrm>
          <a:prstGeom prst="rect">
            <a:avLst/>
          </a:prstGeom>
          <a:noFill/>
        </p:spPr>
        <p:txBody>
          <a:bodyPr wrap="none" lIns="68588" tIns="34294" rIns="68588" bIns="34294" rtlCol="0">
            <a:spAutoFit/>
          </a:bodyPr>
          <a:lstStyle/>
          <a:p>
            <a:pPr algn="ctr"/>
            <a:r>
              <a:rPr lang="zh-CN" altLang="en-US" sz="1425" dirty="0">
                <a:solidFill>
                  <a:schemeClr val="tx1">
                    <a:lumMod val="85000"/>
                    <a:lumOff val="15000"/>
                  </a:schemeClr>
                </a:solidFill>
                <a:latin typeface="微软雅黑" panose="020B0503020204020204" pitchFamily="34" charset="-122"/>
                <a:ea typeface="微软雅黑" panose="020B0503020204020204" pitchFamily="34" charset="-122"/>
              </a:rPr>
              <a:t>清华大学出版社</a:t>
            </a:r>
            <a:endParaRPr lang="en-US" altLang="zh-CN" sz="142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2" name="矩形 41"/>
          <p:cNvSpPr/>
          <p:nvPr/>
        </p:nvSpPr>
        <p:spPr>
          <a:xfrm>
            <a:off x="2844602" y="2268005"/>
            <a:ext cx="3601002" cy="761883"/>
          </a:xfrm>
          <a:prstGeom prst="rect">
            <a:avLst/>
          </a:prstGeom>
          <a:noFill/>
          <a:ln>
            <a:noFill/>
          </a:ln>
          <a:effectLst>
            <a:glow rad="1905000">
              <a:srgbClr val="F14124">
                <a:alpha val="40000"/>
              </a:srgbClr>
            </a:glow>
            <a:softEdge rad="1270000"/>
          </a:effectLst>
        </p:spPr>
        <p:txBody>
          <a:bodyPr wrap="none" lIns="68588" tIns="34294" rIns="68588" bIns="34294">
            <a:spAutoFit/>
          </a:bodyPr>
          <a:lstStyle/>
          <a:p>
            <a:pPr algn="ctr"/>
            <a:r>
              <a:rPr lang="zh-CN" altLang="en-US" sz="4500" b="1" dirty="0">
                <a:solidFill>
                  <a:schemeClr val="tx1">
                    <a:lumMod val="75000"/>
                    <a:lumOff val="25000"/>
                  </a:schemeClr>
                </a:solidFill>
                <a:latin typeface="微软雅黑" panose="020B0503020204020204" pitchFamily="34" charset="-122"/>
                <a:ea typeface="微软雅黑" panose="020B0503020204020204" pitchFamily="34" charset="-122"/>
              </a:rPr>
              <a:t>数字图像处理</a:t>
            </a:r>
            <a:endParaRPr lang="zh-CN" altLang="en-US" sz="4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9" name="六边形 18"/>
          <p:cNvSpPr/>
          <p:nvPr/>
        </p:nvSpPr>
        <p:spPr>
          <a:xfrm flipV="1">
            <a:off x="2282024" y="858642"/>
            <a:ext cx="2286397" cy="70072"/>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0" name="六边形 19"/>
          <p:cNvSpPr/>
          <p:nvPr/>
        </p:nvSpPr>
        <p:spPr>
          <a:xfrm flipV="1">
            <a:off x="4564048" y="858642"/>
            <a:ext cx="2286397" cy="70072"/>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1" name="六边形 20"/>
          <p:cNvSpPr/>
          <p:nvPr/>
        </p:nvSpPr>
        <p:spPr>
          <a:xfrm flipV="1">
            <a:off x="6859192" y="858642"/>
            <a:ext cx="2286397" cy="70072"/>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Tree>
  </p:cSld>
  <p:clrMapOvr>
    <a:masterClrMapping/>
  </p:clrMapOvr>
  <mc:AlternateContent xmlns:mc="http://schemas.openxmlformats.org/markup-compatibility/2006">
    <mc:Choice xmlns:p14="http://schemas.microsoft.com/office/powerpoint/2010/main" Requires="p14">
      <p:transition spd="slow" p14:dur="1600" advClick="0" advTm="0">
        <p:blinds dir="vert"/>
      </p:transition>
    </mc:Choice>
    <mc:Fallback>
      <p:transition spd="slow" advClick="0"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200"/>
                                        <p:tgtEl>
                                          <p:spTgt spid="36"/>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barn(outVertical)">
                                      <p:cBhvr>
                                        <p:cTn id="11" dur="1000"/>
                                        <p:tgtEl>
                                          <p:spTgt spid="42"/>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p:tgtEl>
                                          <p:spTgt spid="41"/>
                                        </p:tgtEl>
                                        <p:attrNameLst>
                                          <p:attrName>ppt_y</p:attrName>
                                        </p:attrNameLst>
                                      </p:cBhvr>
                                      <p:tavLst>
                                        <p:tav tm="0">
                                          <p:val>
                                            <p:strVal val="#ppt_y+#ppt_h*1.125000"/>
                                          </p:val>
                                        </p:tav>
                                        <p:tav tm="100000">
                                          <p:val>
                                            <p:strVal val="#ppt_y"/>
                                          </p:val>
                                        </p:tav>
                                      </p:tavLst>
                                    </p:anim>
                                    <p:animEffect transition="in" filter="wipe(up)">
                                      <p:cBhvr>
                                        <p:cTn id="16" dur="500"/>
                                        <p:tgtEl>
                                          <p:spTgt spid="4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1" grpId="0"/>
      <p:bldP spid="42" grpId="0"/>
      <p:bldP spid="19" grpId="0" animBg="1"/>
      <p:bldP spid="20" grpId="0" animBg="1"/>
      <p:bldP spid="2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标题层"/>
          <p:cNvSpPr txBox="1"/>
          <p:nvPr/>
        </p:nvSpPr>
        <p:spPr bwMode="auto">
          <a:xfrm>
            <a:off x="2176463" y="1956881"/>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1</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71" name="直接连接符 70"/>
          <p:cNvCxnSpPr/>
          <p:nvPr/>
        </p:nvCxnSpPr>
        <p:spPr>
          <a:xfrm>
            <a:off x="2900907" y="1983923"/>
            <a:ext cx="0" cy="417566"/>
          </a:xfrm>
          <a:prstGeom prst="line">
            <a:avLst/>
          </a:prstGeom>
          <a:noFill/>
          <a:ln w="9525" cap="flat" cmpd="sng" algn="ctr">
            <a:solidFill>
              <a:schemeClr val="tx1">
                <a:lumMod val="65000"/>
                <a:lumOff val="35000"/>
              </a:schemeClr>
            </a:solidFill>
            <a:prstDash val="solid"/>
          </a:ln>
          <a:effectLst/>
        </p:spPr>
      </p:cxnSp>
      <p:sp>
        <p:nvSpPr>
          <p:cNvPr id="72" name="标题层"/>
          <p:cNvSpPr txBox="1"/>
          <p:nvPr/>
        </p:nvSpPr>
        <p:spPr bwMode="auto">
          <a:xfrm>
            <a:off x="2908279" y="1932951"/>
            <a:ext cx="3248690" cy="519511"/>
          </a:xfrm>
          <a:prstGeom prst="rect">
            <a:avLst/>
          </a:prstGeom>
          <a:noFill/>
          <a:effectLst/>
        </p:spPr>
        <p:txBody>
          <a:bodyPr wrap="square" lIns="91451" tIns="45725" rIns="91451" bIns="45725">
            <a:spAutoFit/>
          </a:bodyPr>
          <a:lstStyle/>
          <a:p>
            <a:r>
              <a:rPr lang="en-US" altLang="zh-CN" sz="2775" b="1" dirty="0">
                <a:solidFill>
                  <a:prstClr val="black">
                    <a:lumMod val="65000"/>
                    <a:lumOff val="35000"/>
                  </a:prstClr>
                </a:solidFill>
                <a:latin typeface="微软雅黑" panose="020B0503020204020204" pitchFamily="34" charset="-122"/>
                <a:ea typeface="微软雅黑" panose="020B0503020204020204" pitchFamily="34" charset="-122"/>
              </a:rPr>
              <a:t>Python</a:t>
            </a:r>
            <a:r>
              <a:rPr lang="zh-CN" altLang="zh-CN" sz="2775" b="1" dirty="0">
                <a:solidFill>
                  <a:prstClr val="black">
                    <a:lumMod val="65000"/>
                    <a:lumOff val="35000"/>
                  </a:prstClr>
                </a:solidFill>
                <a:latin typeface="微软雅黑" panose="020B0503020204020204" pitchFamily="34" charset="-122"/>
                <a:ea typeface="微软雅黑" panose="020B0503020204020204" pitchFamily="34" charset="-122"/>
              </a:rPr>
              <a:t>基础知识</a:t>
            </a:r>
            <a:endParaRPr lang="zh-CN" altLang="zh-CN" sz="2775"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90" name="标题层"/>
          <p:cNvSpPr txBox="1"/>
          <p:nvPr/>
        </p:nvSpPr>
        <p:spPr bwMode="auto">
          <a:xfrm>
            <a:off x="2186884" y="3000573"/>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2</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91" name="直接连接符 90"/>
          <p:cNvCxnSpPr/>
          <p:nvPr/>
        </p:nvCxnSpPr>
        <p:spPr>
          <a:xfrm>
            <a:off x="2900907" y="3059024"/>
            <a:ext cx="0" cy="417566"/>
          </a:xfrm>
          <a:prstGeom prst="line">
            <a:avLst/>
          </a:prstGeom>
          <a:noFill/>
          <a:ln w="9525" cap="flat" cmpd="sng" algn="ctr">
            <a:solidFill>
              <a:schemeClr val="tx1">
                <a:lumMod val="65000"/>
                <a:lumOff val="35000"/>
              </a:schemeClr>
            </a:solidFill>
            <a:prstDash val="solid"/>
          </a:ln>
          <a:effectLst/>
        </p:spPr>
      </p:cxnSp>
      <p:sp>
        <p:nvSpPr>
          <p:cNvPr id="92" name="标题层"/>
          <p:cNvSpPr txBox="1"/>
          <p:nvPr/>
        </p:nvSpPr>
        <p:spPr bwMode="auto">
          <a:xfrm>
            <a:off x="2933269" y="2989004"/>
            <a:ext cx="3536723" cy="519511"/>
          </a:xfrm>
          <a:prstGeom prst="rect">
            <a:avLst/>
          </a:prstGeom>
          <a:noFill/>
          <a:effectLst/>
        </p:spPr>
        <p:txBody>
          <a:bodyPr wrap="square" lIns="91451" tIns="45725" rIns="91451" bIns="45725">
            <a:spAutoFit/>
          </a:bodyPr>
          <a:lstStyle/>
          <a:p>
            <a:pPr defTabSz="914400">
              <a:defRPr/>
            </a:pPr>
            <a:r>
              <a:rPr lang="en-US" altLang="zh-CN" sz="2775" b="1" dirty="0">
                <a:solidFill>
                  <a:prstClr val="black">
                    <a:lumMod val="65000"/>
                    <a:lumOff val="35000"/>
                  </a:prstClr>
                </a:solidFill>
                <a:latin typeface="微软雅黑" panose="020B0503020204020204" pitchFamily="34" charset="-122"/>
                <a:ea typeface="微软雅黑" panose="020B0503020204020204" pitchFamily="34" charset="-122"/>
              </a:rPr>
              <a:t>Python</a:t>
            </a:r>
            <a:r>
              <a:rPr lang="zh-CN" altLang="zh-CN" sz="2775" b="1" dirty="0">
                <a:solidFill>
                  <a:prstClr val="black">
                    <a:lumMod val="65000"/>
                    <a:lumOff val="35000"/>
                  </a:prstClr>
                </a:solidFill>
                <a:latin typeface="微软雅黑" panose="020B0503020204020204" pitchFamily="34" charset="-122"/>
                <a:ea typeface="微软雅黑" panose="020B0503020204020204" pitchFamily="34" charset="-122"/>
              </a:rPr>
              <a:t>基本语法</a:t>
            </a:r>
            <a:endPar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95" name="标题层"/>
          <p:cNvSpPr txBox="1"/>
          <p:nvPr/>
        </p:nvSpPr>
        <p:spPr bwMode="auto">
          <a:xfrm>
            <a:off x="2176463" y="4044266"/>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3</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96" name="直接连接符 95"/>
          <p:cNvCxnSpPr/>
          <p:nvPr/>
        </p:nvCxnSpPr>
        <p:spPr>
          <a:xfrm>
            <a:off x="2900907" y="4095239"/>
            <a:ext cx="0" cy="417566"/>
          </a:xfrm>
          <a:prstGeom prst="line">
            <a:avLst/>
          </a:prstGeom>
          <a:noFill/>
          <a:ln w="9525" cap="flat" cmpd="sng" algn="ctr">
            <a:solidFill>
              <a:schemeClr val="tx1">
                <a:lumMod val="65000"/>
                <a:lumOff val="35000"/>
              </a:schemeClr>
            </a:solidFill>
            <a:prstDash val="solid"/>
          </a:ln>
          <a:effectLst/>
        </p:spPr>
      </p:cxnSp>
      <p:sp>
        <p:nvSpPr>
          <p:cNvPr id="97" name="标题层"/>
          <p:cNvSpPr txBox="1"/>
          <p:nvPr/>
        </p:nvSpPr>
        <p:spPr bwMode="auto">
          <a:xfrm>
            <a:off x="2908279" y="4044267"/>
            <a:ext cx="4184795" cy="519511"/>
          </a:xfrm>
          <a:prstGeom prst="rect">
            <a:avLst/>
          </a:prstGeom>
          <a:noFill/>
          <a:effectLst/>
        </p:spPr>
        <p:txBody>
          <a:bodyPr wrap="square" lIns="91451" tIns="45725" rIns="91451" bIns="45725">
            <a:spAutoFit/>
          </a:bodyPr>
          <a:lstStyle/>
          <a:p>
            <a:pPr defTabSz="914400">
              <a:defRPr/>
            </a:pPr>
            <a:r>
              <a:rPr lang="en-US" altLang="zh-CN" sz="2775" b="1" dirty="0">
                <a:solidFill>
                  <a:prstClr val="black">
                    <a:lumMod val="65000"/>
                    <a:lumOff val="35000"/>
                  </a:prstClr>
                </a:solidFill>
                <a:latin typeface="微软雅黑" panose="020B0503020204020204" pitchFamily="34" charset="-122"/>
                <a:ea typeface="微软雅黑" panose="020B0503020204020204" pitchFamily="34" charset="-122"/>
              </a:rPr>
              <a:t>OpenCV</a:t>
            </a:r>
            <a:r>
              <a:rPr lang="zh-CN" altLang="zh-CN" sz="2775" b="1" dirty="0">
                <a:solidFill>
                  <a:prstClr val="black">
                    <a:lumMod val="65000"/>
                    <a:lumOff val="35000"/>
                  </a:prstClr>
                </a:solidFill>
                <a:latin typeface="微软雅黑" panose="020B0503020204020204" pitchFamily="34" charset="-122"/>
                <a:ea typeface="微软雅黑" panose="020B0503020204020204" pitchFamily="34" charset="-122"/>
              </a:rPr>
              <a:t>基础知识</a:t>
            </a:r>
            <a:endPar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endParaRPr>
          </a:p>
        </p:txBody>
      </p:sp>
      <p:sp>
        <p:nvSpPr>
          <p:cNvPr id="31" name="矩形 30"/>
          <p:cNvSpPr/>
          <p:nvPr/>
        </p:nvSpPr>
        <p:spPr>
          <a:xfrm>
            <a:off x="1" y="856667"/>
            <a:ext cx="9146778" cy="844410"/>
          </a:xfrm>
          <a:prstGeom prst="rect">
            <a:avLst/>
          </a:prstGeom>
          <a:solidFill>
            <a:srgbClr val="319095"/>
          </a:solidFill>
          <a:ln w="25400" cap="flat" cmpd="sng" algn="ctr">
            <a:noFill/>
            <a:prstDash val="solid"/>
          </a:ln>
          <a:effectLst>
            <a:outerShdw blurRad="50800" dist="38100" dir="5400000" algn="t" rotWithShape="0">
              <a:prstClr val="black">
                <a:alpha val="40000"/>
              </a:prstClr>
            </a:outerShdw>
          </a:effectLst>
        </p:spPr>
        <p:txBody>
          <a:bodyPr rtlCol="0" anchor="ctr"/>
          <a:lstStyle/>
          <a:p>
            <a:pPr algn="ctr" defTabSz="685800">
              <a:defRPr/>
            </a:pPr>
            <a:endParaRPr lang="zh-CN" altLang="en-US" sz="1350" kern="0" dirty="0">
              <a:solidFill>
                <a:prstClr val="white"/>
              </a:solidFill>
              <a:latin typeface="Calibri"/>
              <a:ea typeface="宋体"/>
            </a:endParaRPr>
          </a:p>
        </p:txBody>
      </p:sp>
      <p:sp>
        <p:nvSpPr>
          <p:cNvPr id="32" name="矩形 31"/>
          <p:cNvSpPr/>
          <p:nvPr/>
        </p:nvSpPr>
        <p:spPr>
          <a:xfrm>
            <a:off x="640778" y="976204"/>
            <a:ext cx="7864032" cy="1108252"/>
          </a:xfrm>
          <a:prstGeom prst="rect">
            <a:avLst/>
          </a:prstGeom>
        </p:spPr>
        <p:txBody>
          <a:bodyPr wrap="square">
            <a:spAutoFit/>
          </a:bodyPr>
          <a:lstStyle/>
          <a:p>
            <a:pPr algn="ctr"/>
            <a:r>
              <a:rPr lang="zh-CN" altLang="en-US" sz="3300" b="1" dirty="0">
                <a:solidFill>
                  <a:prstClr val="white"/>
                </a:solidFill>
                <a:latin typeface="微软雅黑" panose="020B0503020204020204" pitchFamily="34" charset="-122"/>
                <a:ea typeface="微软雅黑" panose="020B0503020204020204" pitchFamily="34" charset="-122"/>
              </a:rPr>
              <a:t>第二章   </a:t>
            </a:r>
            <a:r>
              <a:rPr lang="en-US" altLang="zh-CN" sz="3300" b="1" dirty="0">
                <a:solidFill>
                  <a:prstClr val="white"/>
                </a:solidFill>
                <a:latin typeface="微软雅黑" panose="020B0503020204020204" pitchFamily="34" charset="-122"/>
                <a:ea typeface="微软雅黑" panose="020B0503020204020204" pitchFamily="34" charset="-122"/>
              </a:rPr>
              <a:t>Python</a:t>
            </a:r>
            <a:r>
              <a:rPr lang="zh-CN" altLang="zh-CN" sz="3300" b="1" dirty="0">
                <a:solidFill>
                  <a:prstClr val="white"/>
                </a:solidFill>
                <a:latin typeface="微软雅黑" panose="020B0503020204020204" pitchFamily="34" charset="-122"/>
                <a:ea typeface="微软雅黑" panose="020B0503020204020204" pitchFamily="34" charset="-122"/>
              </a:rPr>
              <a:t>和</a:t>
            </a:r>
            <a:r>
              <a:rPr lang="en-US" altLang="zh-CN" sz="3300" b="1" dirty="0">
                <a:solidFill>
                  <a:prstClr val="white"/>
                </a:solidFill>
                <a:latin typeface="微软雅黑" panose="020B0503020204020204" pitchFamily="34" charset="-122"/>
                <a:ea typeface="微软雅黑" panose="020B0503020204020204" pitchFamily="34" charset="-122"/>
              </a:rPr>
              <a:t>OpenCV</a:t>
            </a:r>
            <a:r>
              <a:rPr lang="zh-CN" altLang="zh-CN" sz="3300" b="1" dirty="0">
                <a:solidFill>
                  <a:prstClr val="white"/>
                </a:solidFill>
                <a:latin typeface="微软雅黑" panose="020B0503020204020204" pitchFamily="34" charset="-122"/>
                <a:ea typeface="微软雅黑" panose="020B0503020204020204" pitchFamily="34" charset="-122"/>
              </a:rPr>
              <a:t>基础</a:t>
            </a:r>
            <a:endParaRPr lang="zh-CN" altLang="zh-CN" sz="3300" b="1" dirty="0">
              <a:solidFill>
                <a:prstClr val="white"/>
              </a:solidFill>
              <a:latin typeface="微软雅黑" panose="020B0503020204020204" pitchFamily="34" charset="-122"/>
              <a:ea typeface="微软雅黑" panose="020B0503020204020204" pitchFamily="34" charset="-122"/>
            </a:endParaRPr>
          </a:p>
          <a:p>
            <a:pPr algn="ctr"/>
            <a:endParaRPr lang="en-US" altLang="zh-CN" sz="3300" b="1" dirty="0">
              <a:solidFill>
                <a:prstClr val="white"/>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1" y="5819780"/>
            <a:ext cx="9145587" cy="183141"/>
            <a:chOff x="-42912" y="6615474"/>
            <a:chExt cx="12190412" cy="244114"/>
          </a:xfrm>
        </p:grpSpPr>
        <p:sp>
          <p:nvSpPr>
            <p:cNvPr id="24" name="六边形 23"/>
            <p:cNvSpPr/>
            <p:nvPr/>
          </p:nvSpPr>
          <p:spPr>
            <a:xfrm>
              <a:off x="-42912" y="6615474"/>
              <a:ext cx="3041773" cy="244114"/>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5" name="六边形 24"/>
            <p:cNvSpPr/>
            <p:nvPr/>
          </p:nvSpPr>
          <p:spPr>
            <a:xfrm>
              <a:off x="2998862" y="6615474"/>
              <a:ext cx="3063750" cy="244114"/>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6" name="六边形 25"/>
            <p:cNvSpPr/>
            <p:nvPr/>
          </p:nvSpPr>
          <p:spPr>
            <a:xfrm>
              <a:off x="6052294" y="6615474"/>
              <a:ext cx="3047603" cy="244114"/>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7" name="六边形 26"/>
            <p:cNvSpPr/>
            <p:nvPr/>
          </p:nvSpPr>
          <p:spPr>
            <a:xfrm>
              <a:off x="9099897" y="6615474"/>
              <a:ext cx="3047603" cy="244114"/>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
                                        </p:tgtEl>
                                        <p:attrNameLst>
                                          <p:attrName>ppt_y</p:attrName>
                                        </p:attrNameLst>
                                      </p:cBhvr>
                                      <p:tavLst>
                                        <p:tav tm="0">
                                          <p:val>
                                            <p:strVal val="#ppt_y"/>
                                          </p:val>
                                        </p:tav>
                                        <p:tav tm="100000">
                                          <p:val>
                                            <p:strVal val="#ppt_y"/>
                                          </p:val>
                                        </p:tav>
                                      </p:tavLst>
                                    </p:anim>
                                    <p:anim calcmode="lin" valueType="num">
                                      <p:cBhvr>
                                        <p:cTn id="9" dur="500" fill="hold"/>
                                        <p:tgtEl>
                                          <p:spTgt spid="3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
                                        </p:tgtEl>
                                      </p:cBhvr>
                                    </p:animEffect>
                                  </p:childTnLst>
                                </p:cTn>
                              </p:par>
                            </p:childTnLst>
                          </p:cTn>
                        </p:par>
                        <p:par>
                          <p:cTn id="12" fill="hold">
                            <p:stCondLst>
                              <p:cond delay="1500"/>
                            </p:stCondLst>
                            <p:childTnLst>
                              <p:par>
                                <p:cTn id="13" presetID="47" presetClass="entr" presetSubtype="0" fill="hold" nodeType="after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fade">
                                      <p:cBhvr>
                                        <p:cTn id="15" dur="600"/>
                                        <p:tgtEl>
                                          <p:spTgt spid="71"/>
                                        </p:tgtEl>
                                      </p:cBhvr>
                                    </p:animEffect>
                                    <p:anim calcmode="lin" valueType="num">
                                      <p:cBhvr>
                                        <p:cTn id="16" dur="600" fill="hold"/>
                                        <p:tgtEl>
                                          <p:spTgt spid="71"/>
                                        </p:tgtEl>
                                        <p:attrNameLst>
                                          <p:attrName>ppt_x</p:attrName>
                                        </p:attrNameLst>
                                      </p:cBhvr>
                                      <p:tavLst>
                                        <p:tav tm="0">
                                          <p:val>
                                            <p:strVal val="#ppt_x"/>
                                          </p:val>
                                        </p:tav>
                                        <p:tav tm="100000">
                                          <p:val>
                                            <p:strVal val="#ppt_x"/>
                                          </p:val>
                                        </p:tav>
                                      </p:tavLst>
                                    </p:anim>
                                    <p:anim calcmode="lin" valueType="num">
                                      <p:cBhvr>
                                        <p:cTn id="17" dur="600" fill="hold"/>
                                        <p:tgtEl>
                                          <p:spTgt spid="71"/>
                                        </p:tgtEl>
                                        <p:attrNameLst>
                                          <p:attrName>ppt_y</p:attrName>
                                        </p:attrNameLst>
                                      </p:cBhvr>
                                      <p:tavLst>
                                        <p:tav tm="0">
                                          <p:val>
                                            <p:strVal val="#ppt_y-.1"/>
                                          </p:val>
                                        </p:tav>
                                        <p:tav tm="100000">
                                          <p:val>
                                            <p:strVal val="#ppt_y"/>
                                          </p:val>
                                        </p:tav>
                                      </p:tavLst>
                                    </p:anim>
                                  </p:childTnLst>
                                </p:cTn>
                              </p:par>
                            </p:childTnLst>
                          </p:cTn>
                        </p:par>
                        <p:par>
                          <p:cTn id="18" fill="hold">
                            <p:stCondLst>
                              <p:cond delay="2500"/>
                            </p:stCondLst>
                            <p:childTnLst>
                              <p:par>
                                <p:cTn id="19" presetID="2" presetClass="entr" presetSubtype="8" decel="52500" fill="hold" grpId="0" nodeType="afterEffect">
                                  <p:stCondLst>
                                    <p:cond delay="0"/>
                                  </p:stCondLst>
                                  <p:childTnLst>
                                    <p:set>
                                      <p:cBhvr>
                                        <p:cTn id="20" dur="1" fill="hold">
                                          <p:stCondLst>
                                            <p:cond delay="0"/>
                                          </p:stCondLst>
                                        </p:cTn>
                                        <p:tgtEl>
                                          <p:spTgt spid="70"/>
                                        </p:tgtEl>
                                        <p:attrNameLst>
                                          <p:attrName>style.visibility</p:attrName>
                                        </p:attrNameLst>
                                      </p:cBhvr>
                                      <p:to>
                                        <p:strVal val="visible"/>
                                      </p:to>
                                    </p:set>
                                    <p:anim calcmode="lin" valueType="num">
                                      <p:cBhvr additive="base">
                                        <p:cTn id="21" dur="400" fill="hold"/>
                                        <p:tgtEl>
                                          <p:spTgt spid="70"/>
                                        </p:tgtEl>
                                        <p:attrNameLst>
                                          <p:attrName>ppt_x</p:attrName>
                                        </p:attrNameLst>
                                      </p:cBhvr>
                                      <p:tavLst>
                                        <p:tav tm="0">
                                          <p:val>
                                            <p:strVal val="0-#ppt_w/2"/>
                                          </p:val>
                                        </p:tav>
                                        <p:tav tm="100000">
                                          <p:val>
                                            <p:strVal val="#ppt_x"/>
                                          </p:val>
                                        </p:tav>
                                      </p:tavLst>
                                    </p:anim>
                                    <p:anim calcmode="lin" valueType="num">
                                      <p:cBhvr additive="base">
                                        <p:cTn id="22" dur="400" fill="hold"/>
                                        <p:tgtEl>
                                          <p:spTgt spid="70"/>
                                        </p:tgtEl>
                                        <p:attrNameLst>
                                          <p:attrName>ppt_y</p:attrName>
                                        </p:attrNameLst>
                                      </p:cBhvr>
                                      <p:tavLst>
                                        <p:tav tm="0">
                                          <p:val>
                                            <p:strVal val="#ppt_y"/>
                                          </p:val>
                                        </p:tav>
                                        <p:tav tm="100000">
                                          <p:val>
                                            <p:strVal val="#ppt_y"/>
                                          </p:val>
                                        </p:tav>
                                      </p:tavLst>
                                    </p:anim>
                                  </p:childTnLst>
                                </p:cTn>
                              </p:par>
                              <p:par>
                                <p:cTn id="23" presetID="2" presetClass="entr" presetSubtype="2" decel="52500" fill="hold" grpId="0" nodeType="withEffect">
                                  <p:stCondLst>
                                    <p:cond delay="0"/>
                                  </p:stCondLst>
                                  <p:childTnLst>
                                    <p:set>
                                      <p:cBhvr>
                                        <p:cTn id="24" dur="1" fill="hold">
                                          <p:stCondLst>
                                            <p:cond delay="0"/>
                                          </p:stCondLst>
                                        </p:cTn>
                                        <p:tgtEl>
                                          <p:spTgt spid="72"/>
                                        </p:tgtEl>
                                        <p:attrNameLst>
                                          <p:attrName>style.visibility</p:attrName>
                                        </p:attrNameLst>
                                      </p:cBhvr>
                                      <p:to>
                                        <p:strVal val="visible"/>
                                      </p:to>
                                    </p:set>
                                    <p:anim calcmode="lin" valueType="num">
                                      <p:cBhvr additive="base">
                                        <p:cTn id="25" dur="400" fill="hold"/>
                                        <p:tgtEl>
                                          <p:spTgt spid="72"/>
                                        </p:tgtEl>
                                        <p:attrNameLst>
                                          <p:attrName>ppt_x</p:attrName>
                                        </p:attrNameLst>
                                      </p:cBhvr>
                                      <p:tavLst>
                                        <p:tav tm="0">
                                          <p:val>
                                            <p:strVal val="1+#ppt_w/2"/>
                                          </p:val>
                                        </p:tav>
                                        <p:tav tm="100000">
                                          <p:val>
                                            <p:strVal val="#ppt_x"/>
                                          </p:val>
                                        </p:tav>
                                      </p:tavLst>
                                    </p:anim>
                                    <p:anim calcmode="lin" valueType="num">
                                      <p:cBhvr additive="base">
                                        <p:cTn id="26" dur="400" fill="hold"/>
                                        <p:tgtEl>
                                          <p:spTgt spid="72"/>
                                        </p:tgtEl>
                                        <p:attrNameLst>
                                          <p:attrName>ppt_y</p:attrName>
                                        </p:attrNameLst>
                                      </p:cBhvr>
                                      <p:tavLst>
                                        <p:tav tm="0">
                                          <p:val>
                                            <p:strVal val="#ppt_y"/>
                                          </p:val>
                                        </p:tav>
                                        <p:tav tm="100000">
                                          <p:val>
                                            <p:strVal val="#ppt_y"/>
                                          </p:val>
                                        </p:tav>
                                      </p:tavLst>
                                    </p:anim>
                                  </p:childTnLst>
                                </p:cTn>
                              </p:par>
                            </p:childTnLst>
                          </p:cTn>
                        </p:par>
                        <p:par>
                          <p:cTn id="27" fill="hold">
                            <p:stCondLst>
                              <p:cond delay="3000"/>
                            </p:stCondLst>
                            <p:childTnLst>
                              <p:par>
                                <p:cTn id="28" presetID="47" presetClass="entr" presetSubtype="0" fill="hold" nodeType="afterEffect">
                                  <p:stCondLst>
                                    <p:cond delay="0"/>
                                  </p:stCondLst>
                                  <p:childTnLst>
                                    <p:set>
                                      <p:cBhvr>
                                        <p:cTn id="29" dur="1" fill="hold">
                                          <p:stCondLst>
                                            <p:cond delay="0"/>
                                          </p:stCondLst>
                                        </p:cTn>
                                        <p:tgtEl>
                                          <p:spTgt spid="91"/>
                                        </p:tgtEl>
                                        <p:attrNameLst>
                                          <p:attrName>style.visibility</p:attrName>
                                        </p:attrNameLst>
                                      </p:cBhvr>
                                      <p:to>
                                        <p:strVal val="visible"/>
                                      </p:to>
                                    </p:set>
                                    <p:animEffect transition="in" filter="fade">
                                      <p:cBhvr>
                                        <p:cTn id="30" dur="600"/>
                                        <p:tgtEl>
                                          <p:spTgt spid="91"/>
                                        </p:tgtEl>
                                      </p:cBhvr>
                                    </p:animEffect>
                                    <p:anim calcmode="lin" valueType="num">
                                      <p:cBhvr>
                                        <p:cTn id="31" dur="600" fill="hold"/>
                                        <p:tgtEl>
                                          <p:spTgt spid="91"/>
                                        </p:tgtEl>
                                        <p:attrNameLst>
                                          <p:attrName>ppt_x</p:attrName>
                                        </p:attrNameLst>
                                      </p:cBhvr>
                                      <p:tavLst>
                                        <p:tav tm="0">
                                          <p:val>
                                            <p:strVal val="#ppt_x"/>
                                          </p:val>
                                        </p:tav>
                                        <p:tav tm="100000">
                                          <p:val>
                                            <p:strVal val="#ppt_x"/>
                                          </p:val>
                                        </p:tav>
                                      </p:tavLst>
                                    </p:anim>
                                    <p:anim calcmode="lin" valueType="num">
                                      <p:cBhvr>
                                        <p:cTn id="32" dur="600" fill="hold"/>
                                        <p:tgtEl>
                                          <p:spTgt spid="91"/>
                                        </p:tgtEl>
                                        <p:attrNameLst>
                                          <p:attrName>ppt_y</p:attrName>
                                        </p:attrNameLst>
                                      </p:cBhvr>
                                      <p:tavLst>
                                        <p:tav tm="0">
                                          <p:val>
                                            <p:strVal val="#ppt_y-.1"/>
                                          </p:val>
                                        </p:tav>
                                        <p:tav tm="100000">
                                          <p:val>
                                            <p:strVal val="#ppt_y"/>
                                          </p:val>
                                        </p:tav>
                                      </p:tavLst>
                                    </p:anim>
                                  </p:childTnLst>
                                </p:cTn>
                              </p:par>
                            </p:childTnLst>
                          </p:cTn>
                        </p:par>
                        <p:par>
                          <p:cTn id="33" fill="hold">
                            <p:stCondLst>
                              <p:cond delay="4000"/>
                            </p:stCondLst>
                            <p:childTnLst>
                              <p:par>
                                <p:cTn id="34" presetID="2" presetClass="entr" presetSubtype="8" decel="52500" fill="hold" grpId="0" nodeType="afterEffect">
                                  <p:stCondLst>
                                    <p:cond delay="0"/>
                                  </p:stCondLst>
                                  <p:childTnLst>
                                    <p:set>
                                      <p:cBhvr>
                                        <p:cTn id="35" dur="1" fill="hold">
                                          <p:stCondLst>
                                            <p:cond delay="0"/>
                                          </p:stCondLst>
                                        </p:cTn>
                                        <p:tgtEl>
                                          <p:spTgt spid="90"/>
                                        </p:tgtEl>
                                        <p:attrNameLst>
                                          <p:attrName>style.visibility</p:attrName>
                                        </p:attrNameLst>
                                      </p:cBhvr>
                                      <p:to>
                                        <p:strVal val="visible"/>
                                      </p:to>
                                    </p:set>
                                    <p:anim calcmode="lin" valueType="num">
                                      <p:cBhvr additive="base">
                                        <p:cTn id="36" dur="400" fill="hold"/>
                                        <p:tgtEl>
                                          <p:spTgt spid="90"/>
                                        </p:tgtEl>
                                        <p:attrNameLst>
                                          <p:attrName>ppt_x</p:attrName>
                                        </p:attrNameLst>
                                      </p:cBhvr>
                                      <p:tavLst>
                                        <p:tav tm="0">
                                          <p:val>
                                            <p:strVal val="0-#ppt_w/2"/>
                                          </p:val>
                                        </p:tav>
                                        <p:tav tm="100000">
                                          <p:val>
                                            <p:strVal val="#ppt_x"/>
                                          </p:val>
                                        </p:tav>
                                      </p:tavLst>
                                    </p:anim>
                                    <p:anim calcmode="lin" valueType="num">
                                      <p:cBhvr additive="base">
                                        <p:cTn id="37" dur="400" fill="hold"/>
                                        <p:tgtEl>
                                          <p:spTgt spid="90"/>
                                        </p:tgtEl>
                                        <p:attrNameLst>
                                          <p:attrName>ppt_y</p:attrName>
                                        </p:attrNameLst>
                                      </p:cBhvr>
                                      <p:tavLst>
                                        <p:tav tm="0">
                                          <p:val>
                                            <p:strVal val="#ppt_y"/>
                                          </p:val>
                                        </p:tav>
                                        <p:tav tm="100000">
                                          <p:val>
                                            <p:strVal val="#ppt_y"/>
                                          </p:val>
                                        </p:tav>
                                      </p:tavLst>
                                    </p:anim>
                                  </p:childTnLst>
                                </p:cTn>
                              </p:par>
                              <p:par>
                                <p:cTn id="38" presetID="2" presetClass="entr" presetSubtype="2" decel="52500" fill="hold" grpId="0" nodeType="withEffect">
                                  <p:stCondLst>
                                    <p:cond delay="0"/>
                                  </p:stCondLst>
                                  <p:childTnLst>
                                    <p:set>
                                      <p:cBhvr>
                                        <p:cTn id="39" dur="1" fill="hold">
                                          <p:stCondLst>
                                            <p:cond delay="0"/>
                                          </p:stCondLst>
                                        </p:cTn>
                                        <p:tgtEl>
                                          <p:spTgt spid="92"/>
                                        </p:tgtEl>
                                        <p:attrNameLst>
                                          <p:attrName>style.visibility</p:attrName>
                                        </p:attrNameLst>
                                      </p:cBhvr>
                                      <p:to>
                                        <p:strVal val="visible"/>
                                      </p:to>
                                    </p:set>
                                    <p:anim calcmode="lin" valueType="num">
                                      <p:cBhvr additive="base">
                                        <p:cTn id="40" dur="400" fill="hold"/>
                                        <p:tgtEl>
                                          <p:spTgt spid="92"/>
                                        </p:tgtEl>
                                        <p:attrNameLst>
                                          <p:attrName>ppt_x</p:attrName>
                                        </p:attrNameLst>
                                      </p:cBhvr>
                                      <p:tavLst>
                                        <p:tav tm="0">
                                          <p:val>
                                            <p:strVal val="1+#ppt_w/2"/>
                                          </p:val>
                                        </p:tav>
                                        <p:tav tm="100000">
                                          <p:val>
                                            <p:strVal val="#ppt_x"/>
                                          </p:val>
                                        </p:tav>
                                      </p:tavLst>
                                    </p:anim>
                                    <p:anim calcmode="lin" valueType="num">
                                      <p:cBhvr additive="base">
                                        <p:cTn id="41" dur="400" fill="hold"/>
                                        <p:tgtEl>
                                          <p:spTgt spid="92"/>
                                        </p:tgtEl>
                                        <p:attrNameLst>
                                          <p:attrName>ppt_y</p:attrName>
                                        </p:attrNameLst>
                                      </p:cBhvr>
                                      <p:tavLst>
                                        <p:tav tm="0">
                                          <p:val>
                                            <p:strVal val="#ppt_y"/>
                                          </p:val>
                                        </p:tav>
                                        <p:tav tm="100000">
                                          <p:val>
                                            <p:strVal val="#ppt_y"/>
                                          </p:val>
                                        </p:tav>
                                      </p:tavLst>
                                    </p:anim>
                                  </p:childTnLst>
                                </p:cTn>
                              </p:par>
                            </p:childTnLst>
                          </p:cTn>
                        </p:par>
                        <p:par>
                          <p:cTn id="42" fill="hold">
                            <p:stCondLst>
                              <p:cond delay="4500"/>
                            </p:stCondLst>
                            <p:childTnLst>
                              <p:par>
                                <p:cTn id="43" presetID="47" presetClass="entr" presetSubtype="0" fill="hold" nodeType="afterEffect">
                                  <p:stCondLst>
                                    <p:cond delay="0"/>
                                  </p:stCondLst>
                                  <p:childTnLst>
                                    <p:set>
                                      <p:cBhvr>
                                        <p:cTn id="44" dur="1" fill="hold">
                                          <p:stCondLst>
                                            <p:cond delay="0"/>
                                          </p:stCondLst>
                                        </p:cTn>
                                        <p:tgtEl>
                                          <p:spTgt spid="96"/>
                                        </p:tgtEl>
                                        <p:attrNameLst>
                                          <p:attrName>style.visibility</p:attrName>
                                        </p:attrNameLst>
                                      </p:cBhvr>
                                      <p:to>
                                        <p:strVal val="visible"/>
                                      </p:to>
                                    </p:set>
                                    <p:animEffect transition="in" filter="fade">
                                      <p:cBhvr>
                                        <p:cTn id="45" dur="600"/>
                                        <p:tgtEl>
                                          <p:spTgt spid="96"/>
                                        </p:tgtEl>
                                      </p:cBhvr>
                                    </p:animEffect>
                                    <p:anim calcmode="lin" valueType="num">
                                      <p:cBhvr>
                                        <p:cTn id="46" dur="600" fill="hold"/>
                                        <p:tgtEl>
                                          <p:spTgt spid="96"/>
                                        </p:tgtEl>
                                        <p:attrNameLst>
                                          <p:attrName>ppt_x</p:attrName>
                                        </p:attrNameLst>
                                      </p:cBhvr>
                                      <p:tavLst>
                                        <p:tav tm="0">
                                          <p:val>
                                            <p:strVal val="#ppt_x"/>
                                          </p:val>
                                        </p:tav>
                                        <p:tav tm="100000">
                                          <p:val>
                                            <p:strVal val="#ppt_x"/>
                                          </p:val>
                                        </p:tav>
                                      </p:tavLst>
                                    </p:anim>
                                    <p:anim calcmode="lin" valueType="num">
                                      <p:cBhvr>
                                        <p:cTn id="47" dur="600" fill="hold"/>
                                        <p:tgtEl>
                                          <p:spTgt spid="96"/>
                                        </p:tgtEl>
                                        <p:attrNameLst>
                                          <p:attrName>ppt_y</p:attrName>
                                        </p:attrNameLst>
                                      </p:cBhvr>
                                      <p:tavLst>
                                        <p:tav tm="0">
                                          <p:val>
                                            <p:strVal val="#ppt_y-.1"/>
                                          </p:val>
                                        </p:tav>
                                        <p:tav tm="100000">
                                          <p:val>
                                            <p:strVal val="#ppt_y"/>
                                          </p:val>
                                        </p:tav>
                                      </p:tavLst>
                                    </p:anim>
                                  </p:childTnLst>
                                </p:cTn>
                              </p:par>
                            </p:childTnLst>
                          </p:cTn>
                        </p:par>
                        <p:par>
                          <p:cTn id="48" fill="hold">
                            <p:stCondLst>
                              <p:cond delay="5500"/>
                            </p:stCondLst>
                            <p:childTnLst>
                              <p:par>
                                <p:cTn id="49" presetID="2" presetClass="entr" presetSubtype="8" decel="52500" fill="hold" grpId="0" nodeType="afterEffect">
                                  <p:stCondLst>
                                    <p:cond delay="0"/>
                                  </p:stCondLst>
                                  <p:childTnLst>
                                    <p:set>
                                      <p:cBhvr>
                                        <p:cTn id="50" dur="1" fill="hold">
                                          <p:stCondLst>
                                            <p:cond delay="0"/>
                                          </p:stCondLst>
                                        </p:cTn>
                                        <p:tgtEl>
                                          <p:spTgt spid="95"/>
                                        </p:tgtEl>
                                        <p:attrNameLst>
                                          <p:attrName>style.visibility</p:attrName>
                                        </p:attrNameLst>
                                      </p:cBhvr>
                                      <p:to>
                                        <p:strVal val="visible"/>
                                      </p:to>
                                    </p:set>
                                    <p:anim calcmode="lin" valueType="num">
                                      <p:cBhvr additive="base">
                                        <p:cTn id="51" dur="400" fill="hold"/>
                                        <p:tgtEl>
                                          <p:spTgt spid="95"/>
                                        </p:tgtEl>
                                        <p:attrNameLst>
                                          <p:attrName>ppt_x</p:attrName>
                                        </p:attrNameLst>
                                      </p:cBhvr>
                                      <p:tavLst>
                                        <p:tav tm="0">
                                          <p:val>
                                            <p:strVal val="0-#ppt_w/2"/>
                                          </p:val>
                                        </p:tav>
                                        <p:tav tm="100000">
                                          <p:val>
                                            <p:strVal val="#ppt_x"/>
                                          </p:val>
                                        </p:tav>
                                      </p:tavLst>
                                    </p:anim>
                                    <p:anim calcmode="lin" valueType="num">
                                      <p:cBhvr additive="base">
                                        <p:cTn id="52" dur="400" fill="hold"/>
                                        <p:tgtEl>
                                          <p:spTgt spid="95"/>
                                        </p:tgtEl>
                                        <p:attrNameLst>
                                          <p:attrName>ppt_y</p:attrName>
                                        </p:attrNameLst>
                                      </p:cBhvr>
                                      <p:tavLst>
                                        <p:tav tm="0">
                                          <p:val>
                                            <p:strVal val="#ppt_y"/>
                                          </p:val>
                                        </p:tav>
                                        <p:tav tm="100000">
                                          <p:val>
                                            <p:strVal val="#ppt_y"/>
                                          </p:val>
                                        </p:tav>
                                      </p:tavLst>
                                    </p:anim>
                                  </p:childTnLst>
                                </p:cTn>
                              </p:par>
                              <p:par>
                                <p:cTn id="53" presetID="2" presetClass="entr" presetSubtype="2" decel="52500" fill="hold" grpId="0" nodeType="withEffect">
                                  <p:stCondLst>
                                    <p:cond delay="0"/>
                                  </p:stCondLst>
                                  <p:childTnLst>
                                    <p:set>
                                      <p:cBhvr>
                                        <p:cTn id="54" dur="1" fill="hold">
                                          <p:stCondLst>
                                            <p:cond delay="0"/>
                                          </p:stCondLst>
                                        </p:cTn>
                                        <p:tgtEl>
                                          <p:spTgt spid="97"/>
                                        </p:tgtEl>
                                        <p:attrNameLst>
                                          <p:attrName>style.visibility</p:attrName>
                                        </p:attrNameLst>
                                      </p:cBhvr>
                                      <p:to>
                                        <p:strVal val="visible"/>
                                      </p:to>
                                    </p:set>
                                    <p:anim calcmode="lin" valueType="num">
                                      <p:cBhvr additive="base">
                                        <p:cTn id="55" dur="400" fill="hold"/>
                                        <p:tgtEl>
                                          <p:spTgt spid="97"/>
                                        </p:tgtEl>
                                        <p:attrNameLst>
                                          <p:attrName>ppt_x</p:attrName>
                                        </p:attrNameLst>
                                      </p:cBhvr>
                                      <p:tavLst>
                                        <p:tav tm="0">
                                          <p:val>
                                            <p:strVal val="1+#ppt_w/2"/>
                                          </p:val>
                                        </p:tav>
                                        <p:tav tm="100000">
                                          <p:val>
                                            <p:strVal val="#ppt_x"/>
                                          </p:val>
                                        </p:tav>
                                      </p:tavLst>
                                    </p:anim>
                                    <p:anim calcmode="lin" valueType="num">
                                      <p:cBhvr additive="base">
                                        <p:cTn id="56" dur="400" fill="hold"/>
                                        <p:tgtEl>
                                          <p:spTgt spid="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2" grpId="0"/>
      <p:bldP spid="90" grpId="0"/>
      <p:bldP spid="92" grpId="0"/>
      <p:bldP spid="95" grpId="0"/>
      <p:bldP spid="97" grpId="0"/>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圆角矩形 21"/>
          <p:cNvSpPr/>
          <p:nvPr/>
        </p:nvSpPr>
        <p:spPr>
          <a:xfrm>
            <a:off x="2387002" y="1774561"/>
            <a:ext cx="5434971" cy="680474"/>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endParaRPr lang="zh-CN" altLang="en-US" sz="1575"/>
          </a:p>
        </p:txBody>
      </p:sp>
      <p:sp>
        <p:nvSpPr>
          <p:cNvPr id="23" name="六边形 22"/>
          <p:cNvSpPr/>
          <p:nvPr/>
        </p:nvSpPr>
        <p:spPr>
          <a:xfrm>
            <a:off x="3051661" y="1632465"/>
            <a:ext cx="3978683" cy="337269"/>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350" dirty="0">
                <a:latin typeface="微软雅黑" panose="020B0503020204020204" pitchFamily="34" charset="-122"/>
                <a:ea typeface="微软雅黑" panose="020B0503020204020204" pitchFamily="34" charset="-122"/>
              </a:rPr>
              <a:t>学习目标</a:t>
            </a:r>
            <a:r>
              <a:rPr lang="en-US" altLang="zh-CN" sz="1350" dirty="0">
                <a:latin typeface="微软雅黑" panose="020B0503020204020204" pitchFamily="34" charset="-122"/>
                <a:ea typeface="微软雅黑" panose="020B0503020204020204" pitchFamily="34" charset="-122"/>
              </a:rPr>
              <a:t>1</a:t>
            </a:r>
            <a:endParaRPr lang="zh-CN" altLang="en-US" sz="1350" dirty="0">
              <a:latin typeface="微软雅黑" panose="020B0503020204020204" pitchFamily="34" charset="-122"/>
              <a:ea typeface="微软雅黑" panose="020B0503020204020204" pitchFamily="34" charset="-122"/>
            </a:endParaRPr>
          </a:p>
        </p:txBody>
      </p:sp>
      <p:sp>
        <p:nvSpPr>
          <p:cNvPr id="24" name="六边形 23"/>
          <p:cNvSpPr/>
          <p:nvPr/>
        </p:nvSpPr>
        <p:spPr>
          <a:xfrm>
            <a:off x="682007" y="3731608"/>
            <a:ext cx="1190654" cy="1026664"/>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800" dirty="0">
                <a:latin typeface="微软雅黑" panose="020B0503020204020204" pitchFamily="34" charset="-122"/>
                <a:ea typeface="微软雅黑" panose="020B0503020204020204" pitchFamily="34" charset="-122"/>
              </a:rPr>
              <a:t>学习目标</a:t>
            </a:r>
            <a:endParaRPr lang="zh-CN" altLang="en-US" sz="1800" dirty="0">
              <a:latin typeface="微软雅黑" panose="020B0503020204020204" pitchFamily="34" charset="-122"/>
              <a:ea typeface="微软雅黑" panose="020B0503020204020204" pitchFamily="34" charset="-122"/>
            </a:endParaRPr>
          </a:p>
        </p:txBody>
      </p:sp>
      <p:sp>
        <p:nvSpPr>
          <p:cNvPr id="28" name="TextBox 27"/>
          <p:cNvSpPr txBox="1"/>
          <p:nvPr/>
        </p:nvSpPr>
        <p:spPr>
          <a:xfrm>
            <a:off x="2757934" y="2010622"/>
            <a:ext cx="4871059" cy="392460"/>
          </a:xfrm>
          <a:prstGeom prst="rect">
            <a:avLst/>
          </a:prstGeom>
          <a:noFill/>
        </p:spPr>
        <p:txBody>
          <a:bodyPr wrap="square" lIns="68625" tIns="34312" rIns="68625" bIns="34312" rtlCol="0">
            <a:spAutoFit/>
          </a:bodyPr>
          <a:lstStyle/>
          <a:p>
            <a:pPr lvl="0" algn="ctr"/>
            <a:r>
              <a:rPr lang="zh-CN" altLang="zh-CN" dirty="0"/>
              <a:t>熟悉</a:t>
            </a:r>
            <a:r>
              <a:rPr lang="en-US" altLang="zh-CN" dirty="0"/>
              <a:t>Python</a:t>
            </a:r>
            <a:r>
              <a:rPr lang="zh-CN" altLang="zh-CN" dirty="0"/>
              <a:t>的开发环境配置</a:t>
            </a:r>
            <a:r>
              <a:rPr lang="zh-CN" altLang="en-US" dirty="0"/>
              <a:t>。</a:t>
            </a:r>
            <a:endParaRPr lang="zh-CN" altLang="zh-CN" dirty="0"/>
          </a:p>
        </p:txBody>
      </p:sp>
      <p:sp>
        <p:nvSpPr>
          <p:cNvPr id="29" name="圆角矩形 28"/>
          <p:cNvSpPr/>
          <p:nvPr/>
        </p:nvSpPr>
        <p:spPr>
          <a:xfrm>
            <a:off x="2405930" y="3532108"/>
            <a:ext cx="5434971" cy="781193"/>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endParaRPr lang="zh-CN" altLang="en-US" sz="1575"/>
          </a:p>
        </p:txBody>
      </p:sp>
      <p:sp>
        <p:nvSpPr>
          <p:cNvPr id="30" name="六边形 29"/>
          <p:cNvSpPr/>
          <p:nvPr/>
        </p:nvSpPr>
        <p:spPr>
          <a:xfrm>
            <a:off x="3045083" y="3394339"/>
            <a:ext cx="3978683" cy="337269"/>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350" dirty="0">
                <a:latin typeface="微软雅黑" panose="020B0503020204020204" pitchFamily="34" charset="-122"/>
                <a:ea typeface="微软雅黑" panose="020B0503020204020204" pitchFamily="34" charset="-122"/>
              </a:rPr>
              <a:t>学习目标</a:t>
            </a:r>
            <a:r>
              <a:rPr lang="en-US" altLang="zh-CN" sz="1350" dirty="0">
                <a:latin typeface="微软雅黑" panose="020B0503020204020204" pitchFamily="34" charset="-122"/>
                <a:ea typeface="微软雅黑" panose="020B0503020204020204" pitchFamily="34" charset="-122"/>
              </a:rPr>
              <a:t>2</a:t>
            </a:r>
            <a:endParaRPr lang="zh-CN" altLang="en-US" sz="1350" dirty="0">
              <a:latin typeface="微软雅黑" panose="020B0503020204020204" pitchFamily="34" charset="-122"/>
              <a:ea typeface="微软雅黑" panose="020B0503020204020204" pitchFamily="34" charset="-122"/>
            </a:endParaRPr>
          </a:p>
        </p:txBody>
      </p:sp>
      <p:sp>
        <p:nvSpPr>
          <p:cNvPr id="31" name="TextBox 30"/>
          <p:cNvSpPr txBox="1"/>
          <p:nvPr/>
        </p:nvSpPr>
        <p:spPr>
          <a:xfrm>
            <a:off x="2405930" y="3765039"/>
            <a:ext cx="5551240" cy="392460"/>
          </a:xfrm>
          <a:prstGeom prst="rect">
            <a:avLst/>
          </a:prstGeom>
          <a:noFill/>
        </p:spPr>
        <p:txBody>
          <a:bodyPr wrap="square" lIns="68625" tIns="34312" rIns="68625" bIns="34312" rtlCol="0">
            <a:spAutoFit/>
          </a:bodyPr>
          <a:lstStyle/>
          <a:p>
            <a:pPr algn="ctr"/>
            <a:r>
              <a:rPr lang="zh-CN" altLang="zh-CN" dirty="0"/>
              <a:t>掌握</a:t>
            </a:r>
            <a:r>
              <a:rPr lang="en-US" altLang="zh-CN" dirty="0"/>
              <a:t>Python</a:t>
            </a:r>
            <a:r>
              <a:rPr lang="zh-CN" altLang="zh-CN" dirty="0"/>
              <a:t>的基本语法与一些第三方库的使用。</a:t>
            </a:r>
            <a:endParaRPr lang="zh-CN" altLang="zh-CN" dirty="0"/>
          </a:p>
        </p:txBody>
      </p:sp>
      <p:cxnSp>
        <p:nvCxnSpPr>
          <p:cNvPr id="15" name="直接连接符 14"/>
          <p:cNvCxnSpPr/>
          <p:nvPr/>
        </p:nvCxnSpPr>
        <p:spPr>
          <a:xfrm>
            <a:off x="1" y="1539010"/>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16" name="TextBox 43"/>
          <p:cNvSpPr txBox="1">
            <a:spLocks noChangeArrowheads="1"/>
          </p:cNvSpPr>
          <p:nvPr/>
        </p:nvSpPr>
        <p:spPr bwMode="auto">
          <a:xfrm>
            <a:off x="1838129" y="776842"/>
            <a:ext cx="3061562" cy="58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pPr indent="304800" algn="just">
              <a:lnSpc>
                <a:spcPct val="150000"/>
              </a:lnSpc>
            </a:pPr>
            <a:r>
              <a:rPr lang="zh-CN" altLang="zh-CN" sz="2400" dirty="0">
                <a:latin typeface="Eras Bold ITC" panose="020B0907030504020204" pitchFamily="34" charset="0"/>
              </a:rPr>
              <a:t>本章学习目标</a:t>
            </a:r>
            <a:endParaRPr lang="zh-CN" altLang="zh-CN" sz="2400" dirty="0">
              <a:latin typeface="Eras Bold ITC" panose="020B0907030504020204" pitchFamily="34" charset="0"/>
            </a:endParaRPr>
          </a:p>
        </p:txBody>
      </p:sp>
      <p:sp>
        <p:nvSpPr>
          <p:cNvPr id="17" name="燕尾形 16"/>
          <p:cNvSpPr/>
          <p:nvPr/>
        </p:nvSpPr>
        <p:spPr>
          <a:xfrm>
            <a:off x="1190107" y="85666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18" name="TextBox 7"/>
          <p:cNvSpPr txBox="1"/>
          <p:nvPr/>
        </p:nvSpPr>
        <p:spPr>
          <a:xfrm>
            <a:off x="142957" y="992251"/>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左大括号 1"/>
          <p:cNvSpPr/>
          <p:nvPr/>
        </p:nvSpPr>
        <p:spPr>
          <a:xfrm>
            <a:off x="1872661" y="2120708"/>
            <a:ext cx="533269" cy="3962038"/>
          </a:xfrm>
          <a:prstGeom prst="lef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zh-CN" altLang="en-US"/>
          </a:p>
        </p:txBody>
      </p:sp>
      <p:sp>
        <p:nvSpPr>
          <p:cNvPr id="19" name="圆角矩形 28"/>
          <p:cNvSpPr/>
          <p:nvPr/>
        </p:nvSpPr>
        <p:spPr>
          <a:xfrm>
            <a:off x="2405930" y="5684214"/>
            <a:ext cx="5434971" cy="682277"/>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endParaRPr lang="zh-CN" altLang="en-US" sz="1575"/>
          </a:p>
        </p:txBody>
      </p:sp>
      <p:sp>
        <p:nvSpPr>
          <p:cNvPr id="20" name="六边形 19"/>
          <p:cNvSpPr/>
          <p:nvPr/>
        </p:nvSpPr>
        <p:spPr>
          <a:xfrm>
            <a:off x="3045083" y="5546445"/>
            <a:ext cx="3978683" cy="337269"/>
          </a:xfrm>
          <a:prstGeom prst="hexagon">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350" dirty="0">
                <a:latin typeface="微软雅黑" panose="020B0503020204020204" pitchFamily="34" charset="-122"/>
                <a:ea typeface="微软雅黑" panose="020B0503020204020204" pitchFamily="34" charset="-122"/>
              </a:rPr>
              <a:t>学习目标</a:t>
            </a:r>
            <a:r>
              <a:rPr lang="en-US" altLang="zh-CN" sz="1350" dirty="0">
                <a:latin typeface="微软雅黑" panose="020B0503020204020204" pitchFamily="34" charset="-122"/>
                <a:ea typeface="微软雅黑" panose="020B0503020204020204" pitchFamily="34" charset="-122"/>
              </a:rPr>
              <a:t>3</a:t>
            </a:r>
            <a:endParaRPr lang="zh-CN" altLang="en-US" sz="1350" dirty="0">
              <a:latin typeface="微软雅黑" panose="020B0503020204020204" pitchFamily="34" charset="-122"/>
              <a:ea typeface="微软雅黑" panose="020B0503020204020204" pitchFamily="34" charset="-122"/>
            </a:endParaRPr>
          </a:p>
        </p:txBody>
      </p:sp>
      <p:sp>
        <p:nvSpPr>
          <p:cNvPr id="21" name="TextBox 30"/>
          <p:cNvSpPr txBox="1"/>
          <p:nvPr/>
        </p:nvSpPr>
        <p:spPr>
          <a:xfrm>
            <a:off x="2708315" y="5974031"/>
            <a:ext cx="4920678" cy="392460"/>
          </a:xfrm>
          <a:prstGeom prst="rect">
            <a:avLst/>
          </a:prstGeom>
          <a:noFill/>
        </p:spPr>
        <p:txBody>
          <a:bodyPr wrap="square" lIns="68625" tIns="34312" rIns="68625" bIns="34312" rtlCol="0">
            <a:spAutoFit/>
          </a:bodyPr>
          <a:lstStyle/>
          <a:p>
            <a:pPr lvl="0" algn="ctr"/>
            <a:r>
              <a:rPr lang="zh-CN" altLang="zh-CN" dirty="0"/>
              <a:t>掌握</a:t>
            </a:r>
            <a:r>
              <a:rPr lang="en-US" altLang="zh-CN" dirty="0"/>
              <a:t>OpenCV</a:t>
            </a:r>
            <a:r>
              <a:rPr lang="zh-CN" altLang="zh-CN" dirty="0"/>
              <a:t>的基本使用方法</a:t>
            </a:r>
            <a:r>
              <a:rPr lang="zh-CN" altLang="en-US" dirty="0"/>
              <a:t>。</a:t>
            </a:r>
            <a:endParaRPr lang="zh-CN" altLang="zh-CN" dirty="0"/>
          </a:p>
        </p:txBody>
      </p:sp>
    </p:spTree>
  </p:cSld>
  <p:clrMapOvr>
    <a:masterClrMapping/>
  </p:clrMapOvr>
  <p:transition spd="slow" advClick="0" advTm="0">
    <p:push/>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randombar(horizontal)">
                                          <p:cBhvr>
                                            <p:cTn id="7" dur="500"/>
                                            <p:tgtEl>
                                              <p:spTgt spid="24"/>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barn(outVertical)">
                                          <p:cBhvr>
                                            <p:cTn id="11" dur="500"/>
                                            <p:tgtEl>
                                              <p:spTgt spid="23"/>
                                            </p:tgtEl>
                                          </p:cBhvr>
                                        </p:animEffect>
                                      </p:childTnLst>
                                    </p:cTn>
                                  </p:par>
                                </p:childTnLst>
                              </p:cTn>
                            </p:par>
                            <p:par>
                              <p:cTn id="12" fill="hold">
                                <p:stCondLst>
                                  <p:cond delay="1000"/>
                                </p:stCondLst>
                                <p:childTnLst>
                                  <p:par>
                                    <p:cTn id="13" presetID="2" presetClass="entr" presetSubtype="1" fill="hold" grpId="0" nodeType="afterEffect" p14:presetBounceEnd="50000">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14:bounceEnd="50000">
                                          <p:cBhvr additive="base">
                                            <p:cTn id="15" dur="500" fill="hold"/>
                                            <p:tgtEl>
                                              <p:spTgt spid="22"/>
                                            </p:tgtEl>
                                            <p:attrNameLst>
                                              <p:attrName>ppt_x</p:attrName>
                                            </p:attrNameLst>
                                          </p:cBhvr>
                                          <p:tavLst>
                                            <p:tav tm="0">
                                              <p:val>
                                                <p:strVal val="#ppt_x"/>
                                              </p:val>
                                            </p:tav>
                                            <p:tav tm="100000">
                                              <p:val>
                                                <p:strVal val="#ppt_x"/>
                                              </p:val>
                                            </p:tav>
                                          </p:tavLst>
                                        </p:anim>
                                        <p:anim calcmode="lin" valueType="num" p14:bounceEnd="50000">
                                          <p:cBhvr additive="base">
                                            <p:cTn id="16" dur="500" fill="hold"/>
                                            <p:tgtEl>
                                              <p:spTgt spid="22"/>
                                            </p:tgtEl>
                                            <p:attrNameLst>
                                              <p:attrName>ppt_y</p:attrName>
                                            </p:attrNameLst>
                                          </p:cBhvr>
                                          <p:tavLst>
                                            <p:tav tm="0">
                                              <p:val>
                                                <p:strVal val="0-#ppt_h/2"/>
                                              </p:val>
                                            </p:tav>
                                            <p:tav tm="100000">
                                              <p:val>
                                                <p:strVal val="#ppt_y"/>
                                              </p:val>
                                            </p:tav>
                                          </p:tavLst>
                                        </p:anim>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left)">
                                          <p:cBhvr>
                                            <p:cTn id="20" dur="1000"/>
                                            <p:tgtEl>
                                              <p:spTgt spid="28"/>
                                            </p:tgtEl>
                                          </p:cBhvr>
                                        </p:animEffect>
                                      </p:childTnLst>
                                    </p:cTn>
                                  </p:par>
                                </p:childTnLst>
                              </p:cTn>
                            </p:par>
                            <p:par>
                              <p:cTn id="21" fill="hold">
                                <p:stCondLst>
                                  <p:cond delay="2500"/>
                                </p:stCondLst>
                                <p:childTnLst>
                                  <p:par>
                                    <p:cTn id="22" presetID="16" presetClass="entr" presetSubtype="37" fill="hold" grpId="0" nodeType="after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barn(outVertical)">
                                          <p:cBhvr>
                                            <p:cTn id="24" dur="500"/>
                                            <p:tgtEl>
                                              <p:spTgt spid="30"/>
                                            </p:tgtEl>
                                          </p:cBhvr>
                                        </p:animEffect>
                                      </p:childTnLst>
                                    </p:cTn>
                                  </p:par>
                                </p:childTnLst>
                              </p:cTn>
                            </p:par>
                            <p:par>
                              <p:cTn id="25" fill="hold">
                                <p:stCondLst>
                                  <p:cond delay="3000"/>
                                </p:stCondLst>
                                <p:childTnLst>
                                  <p:par>
                                    <p:cTn id="26" presetID="2" presetClass="entr" presetSubtype="1" fill="hold" grpId="0" nodeType="afterEffect" p14:presetBounceEnd="50000">
                                      <p:stCondLst>
                                        <p:cond delay="0"/>
                                      </p:stCondLst>
                                      <p:childTnLst>
                                        <p:set>
                                          <p:cBhvr>
                                            <p:cTn id="27" dur="1" fill="hold">
                                              <p:stCondLst>
                                                <p:cond delay="0"/>
                                              </p:stCondLst>
                                            </p:cTn>
                                            <p:tgtEl>
                                              <p:spTgt spid="29"/>
                                            </p:tgtEl>
                                            <p:attrNameLst>
                                              <p:attrName>style.visibility</p:attrName>
                                            </p:attrNameLst>
                                          </p:cBhvr>
                                          <p:to>
                                            <p:strVal val="visible"/>
                                          </p:to>
                                        </p:set>
                                        <p:anim calcmode="lin" valueType="num" p14:bounceEnd="50000">
                                          <p:cBhvr additive="base">
                                            <p:cTn id="28" dur="500" fill="hold"/>
                                            <p:tgtEl>
                                              <p:spTgt spid="29"/>
                                            </p:tgtEl>
                                            <p:attrNameLst>
                                              <p:attrName>ppt_x</p:attrName>
                                            </p:attrNameLst>
                                          </p:cBhvr>
                                          <p:tavLst>
                                            <p:tav tm="0">
                                              <p:val>
                                                <p:strVal val="#ppt_x"/>
                                              </p:val>
                                            </p:tav>
                                            <p:tav tm="100000">
                                              <p:val>
                                                <p:strVal val="#ppt_x"/>
                                              </p:val>
                                            </p:tav>
                                          </p:tavLst>
                                        </p:anim>
                                        <p:anim calcmode="lin" valueType="num" p14:bounceEnd="50000">
                                          <p:cBhvr additive="base">
                                            <p:cTn id="29" dur="500" fill="hold"/>
                                            <p:tgtEl>
                                              <p:spTgt spid="29"/>
                                            </p:tgtEl>
                                            <p:attrNameLst>
                                              <p:attrName>ppt_y</p:attrName>
                                            </p:attrNameLst>
                                          </p:cBhvr>
                                          <p:tavLst>
                                            <p:tav tm="0">
                                              <p:val>
                                                <p:strVal val="0-#ppt_h/2"/>
                                              </p:val>
                                            </p:tav>
                                            <p:tav tm="100000">
                                              <p:val>
                                                <p:strVal val="#ppt_y"/>
                                              </p:val>
                                            </p:tav>
                                          </p:tavLst>
                                        </p:anim>
                                      </p:childTnLst>
                                    </p:cTn>
                                  </p:par>
                                </p:childTnLst>
                              </p:cTn>
                            </p:par>
                            <p:par>
                              <p:cTn id="30" fill="hold">
                                <p:stCondLst>
                                  <p:cond delay="3500"/>
                                </p:stCondLst>
                                <p:childTnLst>
                                  <p:par>
                                    <p:cTn id="31" presetID="22" presetClass="entr" presetSubtype="8" fill="hold" grpId="0" nodeType="after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wipe(left)">
                                          <p:cBhvr>
                                            <p:cTn id="33" dur="1000"/>
                                            <p:tgtEl>
                                              <p:spTgt spid="31"/>
                                            </p:tgtEl>
                                          </p:cBhvr>
                                        </p:animEffect>
                                      </p:childTnLst>
                                    </p:cTn>
                                  </p:par>
                                </p:childTnLst>
                              </p:cTn>
                            </p:par>
                            <p:par>
                              <p:cTn id="34" fill="hold">
                                <p:stCondLst>
                                  <p:cond delay="4500"/>
                                </p:stCondLst>
                                <p:childTnLst>
                                  <p:par>
                                    <p:cTn id="35" presetID="16" presetClass="entr" presetSubtype="37"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barn(outVertical)">
                                          <p:cBhvr>
                                            <p:cTn id="37" dur="500"/>
                                            <p:tgtEl>
                                              <p:spTgt spid="20"/>
                                            </p:tgtEl>
                                          </p:cBhvr>
                                        </p:animEffect>
                                      </p:childTnLst>
                                    </p:cTn>
                                  </p:par>
                                </p:childTnLst>
                              </p:cTn>
                            </p:par>
                            <p:par>
                              <p:cTn id="38" fill="hold">
                                <p:stCondLst>
                                  <p:cond delay="5000"/>
                                </p:stCondLst>
                                <p:childTnLst>
                                  <p:par>
                                    <p:cTn id="39" presetID="2" presetClass="entr" presetSubtype="1" fill="hold" grpId="0" nodeType="afterEffect" p14:presetBounceEnd="50000">
                                      <p:stCondLst>
                                        <p:cond delay="0"/>
                                      </p:stCondLst>
                                      <p:childTnLst>
                                        <p:set>
                                          <p:cBhvr>
                                            <p:cTn id="40" dur="1" fill="hold">
                                              <p:stCondLst>
                                                <p:cond delay="0"/>
                                              </p:stCondLst>
                                            </p:cTn>
                                            <p:tgtEl>
                                              <p:spTgt spid="19"/>
                                            </p:tgtEl>
                                            <p:attrNameLst>
                                              <p:attrName>style.visibility</p:attrName>
                                            </p:attrNameLst>
                                          </p:cBhvr>
                                          <p:to>
                                            <p:strVal val="visible"/>
                                          </p:to>
                                        </p:set>
                                        <p:anim calcmode="lin" valueType="num" p14:bounceEnd="50000">
                                          <p:cBhvr additive="base">
                                            <p:cTn id="41" dur="500" fill="hold"/>
                                            <p:tgtEl>
                                              <p:spTgt spid="19"/>
                                            </p:tgtEl>
                                            <p:attrNameLst>
                                              <p:attrName>ppt_x</p:attrName>
                                            </p:attrNameLst>
                                          </p:cBhvr>
                                          <p:tavLst>
                                            <p:tav tm="0">
                                              <p:val>
                                                <p:strVal val="#ppt_x"/>
                                              </p:val>
                                            </p:tav>
                                            <p:tav tm="100000">
                                              <p:val>
                                                <p:strVal val="#ppt_x"/>
                                              </p:val>
                                            </p:tav>
                                          </p:tavLst>
                                        </p:anim>
                                        <p:anim calcmode="lin" valueType="num" p14:bounceEnd="50000">
                                          <p:cBhvr additive="base">
                                            <p:cTn id="42" dur="500" fill="hold"/>
                                            <p:tgtEl>
                                              <p:spTgt spid="19"/>
                                            </p:tgtEl>
                                            <p:attrNameLst>
                                              <p:attrName>ppt_y</p:attrName>
                                            </p:attrNameLst>
                                          </p:cBhvr>
                                          <p:tavLst>
                                            <p:tav tm="0">
                                              <p:val>
                                                <p:strVal val="0-#ppt_h/2"/>
                                              </p:val>
                                            </p:tav>
                                            <p:tav tm="100000">
                                              <p:val>
                                                <p:strVal val="#ppt_y"/>
                                              </p:val>
                                            </p:tav>
                                          </p:tavLst>
                                        </p:anim>
                                      </p:childTnLst>
                                    </p:cTn>
                                  </p:par>
                                </p:childTnLst>
                              </p:cTn>
                            </p:par>
                            <p:par>
                              <p:cTn id="43" fill="hold">
                                <p:stCondLst>
                                  <p:cond delay="5500"/>
                                </p:stCondLst>
                                <p:childTnLst>
                                  <p:par>
                                    <p:cTn id="44" presetID="22" presetClass="entr" presetSubtype="8" fill="hold" grpId="0"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left)">
                                          <p:cBhvr>
                                            <p:cTn id="46"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8" grpId="0"/>
          <p:bldP spid="29" grpId="0" animBg="1"/>
          <p:bldP spid="30" grpId="0" animBg="1"/>
          <p:bldP spid="31" grpId="0"/>
          <p:bldP spid="19" grpId="0" animBg="1"/>
          <p:bldP spid="20" grpId="0" animBg="1"/>
          <p:bldP spid="21"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randombar(horizontal)">
                                          <p:cBhvr>
                                            <p:cTn id="7" dur="500"/>
                                            <p:tgtEl>
                                              <p:spTgt spid="24"/>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barn(outVertical)">
                                          <p:cBhvr>
                                            <p:cTn id="11" dur="500"/>
                                            <p:tgtEl>
                                              <p:spTgt spid="23"/>
                                            </p:tgtEl>
                                          </p:cBhvr>
                                        </p:animEffect>
                                      </p:childTnLst>
                                    </p:cTn>
                                  </p:par>
                                </p:childTnLst>
                              </p:cTn>
                            </p:par>
                            <p:par>
                              <p:cTn id="12" fill="hold">
                                <p:stCondLst>
                                  <p:cond delay="1000"/>
                                </p:stCondLst>
                                <p:childTnLst>
                                  <p:par>
                                    <p:cTn id="13" presetID="2" presetClass="entr" presetSubtype="1"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0-#ppt_h/2"/>
                                              </p:val>
                                            </p:tav>
                                            <p:tav tm="100000">
                                              <p:val>
                                                <p:strVal val="#ppt_y"/>
                                              </p:val>
                                            </p:tav>
                                          </p:tavLst>
                                        </p:anim>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left)">
                                          <p:cBhvr>
                                            <p:cTn id="20" dur="1000"/>
                                            <p:tgtEl>
                                              <p:spTgt spid="28"/>
                                            </p:tgtEl>
                                          </p:cBhvr>
                                        </p:animEffect>
                                      </p:childTnLst>
                                    </p:cTn>
                                  </p:par>
                                </p:childTnLst>
                              </p:cTn>
                            </p:par>
                            <p:par>
                              <p:cTn id="21" fill="hold">
                                <p:stCondLst>
                                  <p:cond delay="2500"/>
                                </p:stCondLst>
                                <p:childTnLst>
                                  <p:par>
                                    <p:cTn id="22" presetID="16" presetClass="entr" presetSubtype="37" fill="hold" grpId="0" nodeType="after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barn(outVertical)">
                                          <p:cBhvr>
                                            <p:cTn id="24" dur="500"/>
                                            <p:tgtEl>
                                              <p:spTgt spid="30"/>
                                            </p:tgtEl>
                                          </p:cBhvr>
                                        </p:animEffect>
                                      </p:childTnLst>
                                    </p:cTn>
                                  </p:par>
                                </p:childTnLst>
                              </p:cTn>
                            </p:par>
                            <p:par>
                              <p:cTn id="25" fill="hold">
                                <p:stCondLst>
                                  <p:cond delay="3000"/>
                                </p:stCondLst>
                                <p:childTnLst>
                                  <p:par>
                                    <p:cTn id="26" presetID="2" presetClass="entr" presetSubtype="1" fill="hold" grpId="0" nodeType="afterEffect">
                                      <p:stCondLst>
                                        <p:cond delay="0"/>
                                      </p:stCondLst>
                                      <p:childTnLst>
                                        <p:set>
                                          <p:cBhvr>
                                            <p:cTn id="27" dur="1" fill="hold">
                                              <p:stCondLst>
                                                <p:cond delay="0"/>
                                              </p:stCondLst>
                                            </p:cTn>
                                            <p:tgtEl>
                                              <p:spTgt spid="29"/>
                                            </p:tgtEl>
                                            <p:attrNameLst>
                                              <p:attrName>style.visibility</p:attrName>
                                            </p:attrNameLst>
                                          </p:cBhvr>
                                          <p:to>
                                            <p:strVal val="visible"/>
                                          </p:to>
                                        </p:set>
                                        <p:anim calcmode="lin" valueType="num">
                                          <p:cBhvr additive="base">
                                            <p:cTn id="28" dur="500" fill="hold"/>
                                            <p:tgtEl>
                                              <p:spTgt spid="29"/>
                                            </p:tgtEl>
                                            <p:attrNameLst>
                                              <p:attrName>ppt_x</p:attrName>
                                            </p:attrNameLst>
                                          </p:cBhvr>
                                          <p:tavLst>
                                            <p:tav tm="0">
                                              <p:val>
                                                <p:strVal val="#ppt_x"/>
                                              </p:val>
                                            </p:tav>
                                            <p:tav tm="100000">
                                              <p:val>
                                                <p:strVal val="#ppt_x"/>
                                              </p:val>
                                            </p:tav>
                                          </p:tavLst>
                                        </p:anim>
                                        <p:anim calcmode="lin" valueType="num">
                                          <p:cBhvr additive="base">
                                            <p:cTn id="29" dur="500" fill="hold"/>
                                            <p:tgtEl>
                                              <p:spTgt spid="29"/>
                                            </p:tgtEl>
                                            <p:attrNameLst>
                                              <p:attrName>ppt_y</p:attrName>
                                            </p:attrNameLst>
                                          </p:cBhvr>
                                          <p:tavLst>
                                            <p:tav tm="0">
                                              <p:val>
                                                <p:strVal val="0-#ppt_h/2"/>
                                              </p:val>
                                            </p:tav>
                                            <p:tav tm="100000">
                                              <p:val>
                                                <p:strVal val="#ppt_y"/>
                                              </p:val>
                                            </p:tav>
                                          </p:tavLst>
                                        </p:anim>
                                      </p:childTnLst>
                                    </p:cTn>
                                  </p:par>
                                </p:childTnLst>
                              </p:cTn>
                            </p:par>
                            <p:par>
                              <p:cTn id="30" fill="hold">
                                <p:stCondLst>
                                  <p:cond delay="3500"/>
                                </p:stCondLst>
                                <p:childTnLst>
                                  <p:par>
                                    <p:cTn id="31" presetID="22" presetClass="entr" presetSubtype="8" fill="hold" grpId="0" nodeType="after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wipe(left)">
                                          <p:cBhvr>
                                            <p:cTn id="33" dur="1000"/>
                                            <p:tgtEl>
                                              <p:spTgt spid="31"/>
                                            </p:tgtEl>
                                          </p:cBhvr>
                                        </p:animEffect>
                                      </p:childTnLst>
                                    </p:cTn>
                                  </p:par>
                                </p:childTnLst>
                              </p:cTn>
                            </p:par>
                            <p:par>
                              <p:cTn id="34" fill="hold">
                                <p:stCondLst>
                                  <p:cond delay="4500"/>
                                </p:stCondLst>
                                <p:childTnLst>
                                  <p:par>
                                    <p:cTn id="35" presetID="16" presetClass="entr" presetSubtype="37"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barn(outVertical)">
                                          <p:cBhvr>
                                            <p:cTn id="37" dur="500"/>
                                            <p:tgtEl>
                                              <p:spTgt spid="20"/>
                                            </p:tgtEl>
                                          </p:cBhvr>
                                        </p:animEffect>
                                      </p:childTnLst>
                                    </p:cTn>
                                  </p:par>
                                </p:childTnLst>
                              </p:cTn>
                            </p:par>
                            <p:par>
                              <p:cTn id="38" fill="hold">
                                <p:stCondLst>
                                  <p:cond delay="5000"/>
                                </p:stCondLst>
                                <p:childTnLst>
                                  <p:par>
                                    <p:cTn id="39" presetID="2" presetClass="entr" presetSubtype="1" fill="hold" grpId="0" nodeType="afterEffect">
                                      <p:stCondLst>
                                        <p:cond delay="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ppt_x"/>
                                              </p:val>
                                            </p:tav>
                                            <p:tav tm="100000">
                                              <p:val>
                                                <p:strVal val="#ppt_x"/>
                                              </p:val>
                                            </p:tav>
                                          </p:tavLst>
                                        </p:anim>
                                        <p:anim calcmode="lin" valueType="num">
                                          <p:cBhvr additive="base">
                                            <p:cTn id="42" dur="500" fill="hold"/>
                                            <p:tgtEl>
                                              <p:spTgt spid="19"/>
                                            </p:tgtEl>
                                            <p:attrNameLst>
                                              <p:attrName>ppt_y</p:attrName>
                                            </p:attrNameLst>
                                          </p:cBhvr>
                                          <p:tavLst>
                                            <p:tav tm="0">
                                              <p:val>
                                                <p:strVal val="0-#ppt_h/2"/>
                                              </p:val>
                                            </p:tav>
                                            <p:tav tm="100000">
                                              <p:val>
                                                <p:strVal val="#ppt_y"/>
                                              </p:val>
                                            </p:tav>
                                          </p:tavLst>
                                        </p:anim>
                                      </p:childTnLst>
                                    </p:cTn>
                                  </p:par>
                                </p:childTnLst>
                              </p:cTn>
                            </p:par>
                            <p:par>
                              <p:cTn id="43" fill="hold">
                                <p:stCondLst>
                                  <p:cond delay="5500"/>
                                </p:stCondLst>
                                <p:childTnLst>
                                  <p:par>
                                    <p:cTn id="44" presetID="22" presetClass="entr" presetSubtype="8" fill="hold" grpId="0"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left)">
                                          <p:cBhvr>
                                            <p:cTn id="46"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8" grpId="0"/>
          <p:bldP spid="29" grpId="0" animBg="1"/>
          <p:bldP spid="30" grpId="0" animBg="1"/>
          <p:bldP spid="31" grpId="0"/>
          <p:bldP spid="19" grpId="0" animBg="1"/>
          <p:bldP spid="20" grpId="0" animBg="1"/>
          <p:bldP spid="21"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430" cy="73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2.1 Python</a:t>
            </a:r>
            <a:r>
              <a:rPr lang="zh-CN" altLang="zh-CN" sz="2100" b="1" dirty="0">
                <a:solidFill>
                  <a:schemeClr val="tx1">
                    <a:lumMod val="75000"/>
                    <a:lumOff val="25000"/>
                  </a:schemeClr>
                </a:solidFill>
                <a:latin typeface="微软雅黑" panose="020B0503020204020204" pitchFamily="34" charset="-122"/>
              </a:rPr>
              <a:t>基础知识</a:t>
            </a:r>
            <a:endParaRPr lang="zh-CN" altLang="zh-CN" sz="2100" b="1" dirty="0">
              <a:solidFill>
                <a:schemeClr val="tx1">
                  <a:lumMod val="75000"/>
                  <a:lumOff val="25000"/>
                </a:schemeClr>
              </a:solidFill>
              <a:latin typeface="微软雅黑" panose="020B0503020204020204" pitchFamily="34" charset="-122"/>
            </a:endParaRPr>
          </a:p>
          <a:p>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13610" y="1224671"/>
            <a:ext cx="8557313" cy="461665"/>
          </a:xfrm>
          <a:prstGeom prst="rect">
            <a:avLst/>
          </a:prstGeom>
          <a:noFill/>
        </p:spPr>
        <p:txBody>
          <a:bodyPr wrap="square">
            <a:spAutoFit/>
          </a:bodyPr>
          <a:lstStyle/>
          <a:p>
            <a:pPr algn="just"/>
            <a:r>
              <a:rPr lang="en-US" altLang="zh-CN" sz="2400" b="1" kern="100" dirty="0">
                <a:latin typeface="Times New Roman" panose="02020603050405020304" pitchFamily="18" charset="0"/>
                <a:ea typeface="宋体" pitchFamily="2" charset="-122"/>
                <a:cs typeface="Times New Roman" panose="02020603050405020304" pitchFamily="18" charset="0"/>
              </a:rPr>
              <a:t>2.1.1 Python</a:t>
            </a:r>
            <a:r>
              <a:rPr lang="zh-CN" altLang="en-US" sz="2400" b="1" kern="100" dirty="0">
                <a:latin typeface="Times New Roman" panose="02020603050405020304" pitchFamily="18" charset="0"/>
                <a:ea typeface="宋体" pitchFamily="2" charset="-122"/>
                <a:cs typeface="Times New Roman" panose="02020603050405020304" pitchFamily="18" charset="0"/>
              </a:rPr>
              <a:t>简介</a:t>
            </a:r>
            <a:endParaRPr lang="en-US" altLang="zh-CN" sz="2400" b="1" kern="100" dirty="0">
              <a:latin typeface="Times New Roman" panose="02020603050405020304" pitchFamily="18" charset="0"/>
              <a:ea typeface="宋体" pitchFamily="2" charset="-122"/>
              <a:cs typeface="Times New Roman" panose="02020603050405020304" pitchFamily="18" charset="0"/>
            </a:endParaRPr>
          </a:p>
        </p:txBody>
      </p:sp>
      <p:grpSp>
        <p:nvGrpSpPr>
          <p:cNvPr id="36" name="组合 35"/>
          <p:cNvGrpSpPr/>
          <p:nvPr/>
        </p:nvGrpSpPr>
        <p:grpSpPr>
          <a:xfrm>
            <a:off x="753475" y="2565952"/>
            <a:ext cx="7475118" cy="1424076"/>
            <a:chOff x="923864" y="2601539"/>
            <a:chExt cx="7475118" cy="1424076"/>
          </a:xfrm>
        </p:grpSpPr>
        <p:sp>
          <p:nvSpPr>
            <p:cNvPr id="6" name="矩形: 圆角 5"/>
            <p:cNvSpPr/>
            <p:nvPr/>
          </p:nvSpPr>
          <p:spPr>
            <a:xfrm>
              <a:off x="1843995" y="2809288"/>
              <a:ext cx="1872208" cy="360040"/>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Python</a:t>
              </a:r>
              <a:r>
                <a:rPr lang="zh-CN" altLang="en-US" dirty="0"/>
                <a:t>源代码</a:t>
              </a:r>
              <a:endParaRPr lang="zh-CN" altLang="en-US" dirty="0"/>
            </a:p>
          </p:txBody>
        </p:sp>
        <p:sp>
          <p:nvSpPr>
            <p:cNvPr id="15" name="矩形: 圆角 14"/>
            <p:cNvSpPr/>
            <p:nvPr/>
          </p:nvSpPr>
          <p:spPr>
            <a:xfrm>
              <a:off x="4580299" y="2809288"/>
              <a:ext cx="1872208" cy="360040"/>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机器语言</a:t>
              </a:r>
              <a:endParaRPr lang="zh-CN" altLang="en-US" dirty="0"/>
            </a:p>
          </p:txBody>
        </p:sp>
        <p:sp>
          <p:nvSpPr>
            <p:cNvPr id="16" name="矩形: 圆角 15"/>
            <p:cNvSpPr/>
            <p:nvPr/>
          </p:nvSpPr>
          <p:spPr>
            <a:xfrm>
              <a:off x="923864" y="3665575"/>
              <a:ext cx="1872208" cy="360040"/>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Python</a:t>
              </a:r>
              <a:r>
                <a:rPr lang="zh-CN" altLang="en-US" dirty="0"/>
                <a:t>源代码</a:t>
              </a:r>
              <a:endParaRPr lang="zh-CN" altLang="en-US" dirty="0"/>
            </a:p>
          </p:txBody>
        </p:sp>
        <p:sp>
          <p:nvSpPr>
            <p:cNvPr id="17" name="矩形: 圆角 16"/>
            <p:cNvSpPr/>
            <p:nvPr/>
          </p:nvSpPr>
          <p:spPr>
            <a:xfrm>
              <a:off x="3660168" y="3653847"/>
              <a:ext cx="1872208" cy="360040"/>
            </a:xfrm>
            <a:prstGeom prst="roundRect">
              <a:avLst/>
            </a:prstGeom>
            <a:solidFill>
              <a:srgbClr val="EF7768"/>
            </a:solidFill>
            <a:ln>
              <a:solidFill>
                <a:srgbClr val="EF77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中间代码</a:t>
              </a:r>
              <a:endParaRPr lang="zh-CN" altLang="en-US" dirty="0"/>
            </a:p>
          </p:txBody>
        </p:sp>
        <p:cxnSp>
          <p:nvCxnSpPr>
            <p:cNvPr id="8" name="直接箭头连接符 7"/>
            <p:cNvCxnSpPr>
              <a:stCxn id="6" idx="3"/>
              <a:endCxn id="15" idx="1"/>
            </p:cNvCxnSpPr>
            <p:nvPr/>
          </p:nvCxnSpPr>
          <p:spPr>
            <a:xfrm>
              <a:off x="3716203" y="2989308"/>
              <a:ext cx="8640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文本框 8"/>
            <p:cNvSpPr txBox="1"/>
            <p:nvPr/>
          </p:nvSpPr>
          <p:spPr>
            <a:xfrm>
              <a:off x="3852714" y="2601539"/>
              <a:ext cx="447744" cy="415498"/>
            </a:xfrm>
            <a:prstGeom prst="rect">
              <a:avLst/>
            </a:prstGeom>
            <a:noFill/>
          </p:spPr>
          <p:txBody>
            <a:bodyPr wrap="square" rtlCol="0">
              <a:spAutoFit/>
            </a:bodyPr>
            <a:lstStyle/>
            <a:p>
              <a:r>
                <a:rPr lang="zh-CN" altLang="en-US" dirty="0"/>
                <a:t>❌</a:t>
              </a:r>
              <a:endParaRPr lang="zh-CN" altLang="en-US" dirty="0"/>
            </a:p>
          </p:txBody>
        </p:sp>
        <p:cxnSp>
          <p:nvCxnSpPr>
            <p:cNvPr id="21" name="直接箭头连接符 20"/>
            <p:cNvCxnSpPr/>
            <p:nvPr/>
          </p:nvCxnSpPr>
          <p:spPr>
            <a:xfrm>
              <a:off x="2796072" y="3853690"/>
              <a:ext cx="857579" cy="100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17" idx="3"/>
              <a:endCxn id="32" idx="1"/>
            </p:cNvCxnSpPr>
            <p:nvPr/>
          </p:nvCxnSpPr>
          <p:spPr>
            <a:xfrm flipV="1">
              <a:off x="5532376" y="3829005"/>
              <a:ext cx="994398" cy="48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文本框 19"/>
            <p:cNvSpPr txBox="1"/>
            <p:nvPr/>
          </p:nvSpPr>
          <p:spPr>
            <a:xfrm>
              <a:off x="5532376" y="3343213"/>
              <a:ext cx="1197653" cy="415498"/>
            </a:xfrm>
            <a:prstGeom prst="rect">
              <a:avLst/>
            </a:prstGeom>
            <a:noFill/>
          </p:spPr>
          <p:txBody>
            <a:bodyPr wrap="square" rtlCol="0">
              <a:spAutoFit/>
            </a:bodyPr>
            <a:lstStyle/>
            <a:p>
              <a:r>
                <a:rPr lang="zh-CN" altLang="en-US" dirty="0"/>
                <a:t>解释器</a:t>
              </a:r>
              <a:endParaRPr lang="zh-CN" altLang="en-US" dirty="0"/>
            </a:p>
          </p:txBody>
        </p:sp>
        <p:sp>
          <p:nvSpPr>
            <p:cNvPr id="32" name="矩形: 圆角 31"/>
            <p:cNvSpPr/>
            <p:nvPr/>
          </p:nvSpPr>
          <p:spPr>
            <a:xfrm>
              <a:off x="6526774" y="3648985"/>
              <a:ext cx="1872208" cy="360040"/>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运行</a:t>
              </a:r>
              <a:endParaRPr lang="zh-CN" altLang="en-US" dirty="0"/>
            </a:p>
          </p:txBody>
        </p:sp>
        <p:sp>
          <p:nvSpPr>
            <p:cNvPr id="35" name="文本框 34"/>
            <p:cNvSpPr txBox="1"/>
            <p:nvPr/>
          </p:nvSpPr>
          <p:spPr>
            <a:xfrm>
              <a:off x="2988618" y="3429794"/>
              <a:ext cx="380513" cy="415498"/>
            </a:xfrm>
            <a:prstGeom prst="rect">
              <a:avLst/>
            </a:prstGeom>
            <a:noFill/>
          </p:spPr>
          <p:txBody>
            <a:bodyPr wrap="square" rtlCol="0">
              <a:spAutoFit/>
            </a:bodyPr>
            <a:lstStyle/>
            <a:p>
              <a:r>
                <a:rPr lang="zh-CN" altLang="en-US" dirty="0"/>
                <a:t>✔</a:t>
              </a:r>
              <a:endParaRPr lang="zh-CN" altLang="en-US" dirty="0"/>
            </a:p>
          </p:txBody>
        </p:sp>
      </p:grpSp>
      <p:sp>
        <p:nvSpPr>
          <p:cNvPr id="24" name="文本框 23"/>
          <p:cNvSpPr txBox="1"/>
          <p:nvPr/>
        </p:nvSpPr>
        <p:spPr>
          <a:xfrm>
            <a:off x="199639" y="1916008"/>
            <a:ext cx="4620826" cy="461665"/>
          </a:xfrm>
          <a:prstGeom prst="rect">
            <a:avLst/>
          </a:prstGeom>
          <a:noFill/>
        </p:spPr>
        <p:txBody>
          <a:bodyPr wrap="square">
            <a:spAutoFit/>
          </a:bodyPr>
          <a:lstStyle/>
          <a:p>
            <a:pPr marL="285750" indent="-285750" algn="just">
              <a:buFont typeface="Wingdings" panose="05000000000000000000" pitchFamily="2" charset="2"/>
              <a:buChar char="u"/>
            </a:pPr>
            <a:r>
              <a:rPr lang="en-US" altLang="zh-CN" sz="2400" kern="100" dirty="0">
                <a:latin typeface="Times New Roman" panose="02020603050405020304" pitchFamily="18" charset="0"/>
                <a:ea typeface="宋体" pitchFamily="2" charset="-122"/>
                <a:cs typeface="Times New Roman" panose="02020603050405020304" pitchFamily="18" charset="0"/>
              </a:rPr>
              <a:t>Python</a:t>
            </a:r>
            <a:r>
              <a:rPr lang="zh-CN" altLang="zh-CN" sz="2400" kern="100" dirty="0">
                <a:latin typeface="Times New Roman" panose="02020603050405020304" pitchFamily="18" charset="0"/>
                <a:ea typeface="宋体" pitchFamily="2" charset="-122"/>
                <a:cs typeface="Times New Roman" panose="02020603050405020304" pitchFamily="18" charset="0"/>
              </a:rPr>
              <a:t>一种解释型语言。</a:t>
            </a:r>
            <a:endParaRPr lang="en-US"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25" name="文本框 24"/>
          <p:cNvSpPr txBox="1"/>
          <p:nvPr/>
        </p:nvSpPr>
        <p:spPr>
          <a:xfrm>
            <a:off x="213013" y="4380896"/>
            <a:ext cx="8557313" cy="1938992"/>
          </a:xfrm>
          <a:prstGeom prst="rect">
            <a:avLst/>
          </a:prstGeom>
          <a:noFill/>
        </p:spPr>
        <p:txBody>
          <a:bodyPr wrap="square">
            <a:spAutoFit/>
          </a:bodyPr>
          <a:lstStyle/>
          <a:p>
            <a:pPr marL="285750" indent="-285750" algn="just">
              <a:buFont typeface="Wingdings" panose="05000000000000000000" pitchFamily="2" charset="2"/>
              <a:buChar char="u"/>
            </a:pPr>
            <a:r>
              <a:rPr lang="en-US" altLang="zh-CN" sz="2000" kern="100" dirty="0">
                <a:latin typeface="Times New Roman" panose="02020603050405020304" pitchFamily="18" charset="0"/>
                <a:ea typeface="宋体" pitchFamily="2" charset="-122"/>
                <a:cs typeface="Times New Roman" panose="02020603050405020304" pitchFamily="18" charset="0"/>
              </a:rPr>
              <a:t> </a:t>
            </a:r>
            <a:r>
              <a:rPr lang="en-US" altLang="zh-CN" sz="2400" kern="100" dirty="0">
                <a:latin typeface="Times New Roman" panose="02020603050405020304" pitchFamily="18" charset="0"/>
                <a:ea typeface="宋体" pitchFamily="2" charset="-122"/>
                <a:cs typeface="Times New Roman" panose="02020603050405020304" pitchFamily="18" charset="0"/>
              </a:rPr>
              <a:t>Python</a:t>
            </a:r>
            <a:r>
              <a:rPr lang="zh-CN" altLang="zh-CN" sz="2400" kern="100" dirty="0">
                <a:latin typeface="Times New Roman" panose="02020603050405020304" pitchFamily="18" charset="0"/>
                <a:ea typeface="宋体" pitchFamily="2" charset="-122"/>
                <a:cs typeface="Times New Roman" panose="02020603050405020304" pitchFamily="18" charset="0"/>
              </a:rPr>
              <a:t>是一种面向对象的语言，使用类来模拟现实中的各种事物，具有多态、继承等概念。</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marL="285750" indent="-285750" algn="just">
              <a:buFont typeface="Wingdings" panose="05000000000000000000" pitchFamily="2" charset="2"/>
              <a:buChar char="u"/>
            </a:pPr>
            <a:r>
              <a:rPr lang="en-US" altLang="zh-CN" sz="2400" kern="100" dirty="0">
                <a:latin typeface="Times New Roman" panose="02020603050405020304" pitchFamily="18" charset="0"/>
                <a:ea typeface="宋体" pitchFamily="2" charset="-122"/>
                <a:cs typeface="Times New Roman" panose="02020603050405020304" pitchFamily="18" charset="0"/>
              </a:rPr>
              <a:t> Python</a:t>
            </a:r>
            <a:r>
              <a:rPr lang="zh-CN" altLang="zh-CN" sz="2400" kern="100" dirty="0">
                <a:latin typeface="Times New Roman" panose="02020603050405020304" pitchFamily="18" charset="0"/>
                <a:ea typeface="宋体" pitchFamily="2" charset="-122"/>
                <a:cs typeface="Times New Roman" panose="02020603050405020304" pitchFamily="18" charset="0"/>
              </a:rPr>
              <a:t>被广泛应用于科学研究、数据分析等领域。</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marL="285750" indent="-285750" algn="just">
              <a:buFont typeface="Wingdings" panose="05000000000000000000" pitchFamily="2" charset="2"/>
              <a:buChar char="u"/>
            </a:pPr>
            <a:r>
              <a:rPr lang="zh-CN" altLang="zh-CN" sz="2400" kern="100" dirty="0">
                <a:latin typeface="Times New Roman" panose="02020603050405020304" pitchFamily="18" charset="0"/>
                <a:ea typeface="宋体" pitchFamily="2" charset="-122"/>
                <a:cs typeface="Times New Roman" panose="02020603050405020304" pitchFamily="18" charset="0"/>
              </a:rPr>
              <a:t>为了能够使用新的</a:t>
            </a:r>
            <a:r>
              <a:rPr lang="en-US" altLang="zh-CN" sz="2400" kern="100" dirty="0">
                <a:latin typeface="Times New Roman" panose="02020603050405020304" pitchFamily="18" charset="0"/>
                <a:ea typeface="宋体" pitchFamily="2" charset="-122"/>
                <a:cs typeface="Times New Roman" panose="02020603050405020304" pitchFamily="18" charset="0"/>
              </a:rPr>
              <a:t>Python</a:t>
            </a:r>
            <a:r>
              <a:rPr lang="zh-CN" altLang="zh-CN" sz="2400" kern="100" dirty="0">
                <a:latin typeface="Times New Roman" panose="02020603050405020304" pitchFamily="18" charset="0"/>
                <a:ea typeface="宋体" pitchFamily="2" charset="-122"/>
                <a:cs typeface="Times New Roman" panose="02020603050405020304" pitchFamily="18" charset="0"/>
              </a:rPr>
              <a:t>库功能，在此建议使用</a:t>
            </a:r>
            <a:r>
              <a:rPr lang="en-US" altLang="zh-CN" sz="2400" kern="100" dirty="0">
                <a:latin typeface="Times New Roman" panose="02020603050405020304" pitchFamily="18" charset="0"/>
                <a:ea typeface="宋体" pitchFamily="2" charset="-122"/>
                <a:cs typeface="Times New Roman" panose="02020603050405020304" pitchFamily="18" charset="0"/>
              </a:rPr>
              <a:t>Python3</a:t>
            </a:r>
            <a:r>
              <a:rPr lang="zh-CN" altLang="zh-CN" sz="2400" kern="100" dirty="0">
                <a:latin typeface="Times New Roman" panose="02020603050405020304" pitchFamily="18" charset="0"/>
                <a:ea typeface="宋体" pitchFamily="2" charset="-122"/>
                <a:cs typeface="Times New Roman" panose="02020603050405020304" pitchFamily="18" charset="0"/>
              </a:rPr>
              <a:t>版本，本书以</a:t>
            </a:r>
            <a:r>
              <a:rPr lang="en-US" altLang="zh-CN" sz="2400" kern="100" dirty="0">
                <a:latin typeface="Times New Roman" panose="02020603050405020304" pitchFamily="18" charset="0"/>
                <a:ea typeface="宋体" pitchFamily="2" charset="-122"/>
                <a:cs typeface="Times New Roman" panose="02020603050405020304" pitchFamily="18" charset="0"/>
              </a:rPr>
              <a:t>Python 3.7</a:t>
            </a:r>
            <a:r>
              <a:rPr lang="zh-CN" altLang="zh-CN" sz="2400" kern="100" dirty="0">
                <a:latin typeface="Times New Roman" panose="02020603050405020304" pitchFamily="18" charset="0"/>
                <a:ea typeface="宋体" pitchFamily="2" charset="-122"/>
                <a:cs typeface="Times New Roman" panose="02020603050405020304" pitchFamily="18" charset="0"/>
              </a:rPr>
              <a:t>版本为例。</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189349" y="1761384"/>
            <a:ext cx="8591550" cy="4893647"/>
          </a:xfrm>
          <a:prstGeom prst="rect">
            <a:avLst/>
          </a:prstGeom>
          <a:noFill/>
        </p:spPr>
        <p:txBody>
          <a:bodyPr wrap="square">
            <a:spAutoFit/>
          </a:bodyPr>
          <a:lstStyle/>
          <a:p>
            <a:pPr indent="266700" algn="just"/>
            <a:r>
              <a:rPr lang="en-US" altLang="zh-CN" sz="2400" kern="100" dirty="0">
                <a:latin typeface="Times New Roman" panose="02020603050405020304" pitchFamily="18" charset="0"/>
                <a:ea typeface="宋体" pitchFamily="2" charset="-122"/>
                <a:cs typeface="Times New Roman" panose="02020603050405020304" pitchFamily="18" charset="0"/>
              </a:rPr>
              <a:t>Python</a:t>
            </a:r>
            <a:r>
              <a:rPr lang="zh-CN" altLang="zh-CN" sz="2400" kern="100" dirty="0">
                <a:latin typeface="Times New Roman" panose="02020603050405020304" pitchFamily="18" charset="0"/>
                <a:ea typeface="宋体" pitchFamily="2" charset="-122"/>
                <a:cs typeface="Times New Roman" panose="02020603050405020304" pitchFamily="18" charset="0"/>
              </a:rPr>
              <a:t>是一门跨平台的语言，可以运行在各种主流的操作系统中。</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r>
              <a:rPr lang="zh-CN" altLang="zh-CN" sz="2400" kern="100" dirty="0">
                <a:latin typeface="Times New Roman" panose="02020603050405020304" pitchFamily="18" charset="0"/>
                <a:ea typeface="宋体" pitchFamily="2" charset="-122"/>
                <a:cs typeface="Times New Roman" panose="02020603050405020304" pitchFamily="18" charset="0"/>
              </a:rPr>
              <a:t>使用以上两种系统的读者可在命令行窗口中输入</a:t>
            </a:r>
            <a:r>
              <a:rPr lang="en-US" altLang="zh-CN" sz="2400" kern="100" dirty="0">
                <a:latin typeface="Times New Roman" panose="02020603050405020304" pitchFamily="18" charset="0"/>
                <a:ea typeface="宋体" pitchFamily="2" charset="-122"/>
                <a:cs typeface="Times New Roman" panose="02020603050405020304" pitchFamily="18" charset="0"/>
              </a:rPr>
              <a:t>python(</a:t>
            </a:r>
            <a:r>
              <a:rPr lang="zh-CN" altLang="zh-CN" sz="2400" kern="100" dirty="0">
                <a:latin typeface="Times New Roman" panose="02020603050405020304" pitchFamily="18" charset="0"/>
                <a:ea typeface="宋体" pitchFamily="2" charset="-122"/>
                <a:cs typeface="Times New Roman" panose="02020603050405020304" pitchFamily="18" charset="0"/>
              </a:rPr>
              <a:t>注意</a:t>
            </a:r>
            <a:r>
              <a:rPr lang="en-US" altLang="zh-CN" sz="2400" kern="100" dirty="0">
                <a:latin typeface="Times New Roman" panose="02020603050405020304" pitchFamily="18" charset="0"/>
                <a:ea typeface="宋体" pitchFamily="2" charset="-122"/>
                <a:cs typeface="Times New Roman" panose="02020603050405020304" pitchFamily="18" charset="0"/>
              </a:rPr>
              <a:t>p</a:t>
            </a:r>
            <a:r>
              <a:rPr lang="zh-CN" altLang="zh-CN" sz="2400" kern="100" dirty="0">
                <a:latin typeface="Times New Roman" panose="02020603050405020304" pitchFamily="18" charset="0"/>
                <a:ea typeface="宋体" pitchFamily="2" charset="-122"/>
                <a:cs typeface="Times New Roman" panose="02020603050405020304" pitchFamily="18" charset="0"/>
              </a:rPr>
              <a:t>为小写</a:t>
            </a:r>
            <a:r>
              <a:rPr lang="en-US" altLang="zh-CN" sz="2400" kern="100" dirty="0">
                <a:latin typeface="Times New Roman" panose="02020603050405020304" pitchFamily="18" charset="0"/>
                <a:ea typeface="宋体" pitchFamily="2" charset="-122"/>
                <a:cs typeface="Times New Roman" panose="02020603050405020304" pitchFamily="18" charset="0"/>
              </a:rPr>
              <a:t>)</a:t>
            </a:r>
            <a:r>
              <a:rPr lang="zh-CN" altLang="zh-CN" sz="2400" kern="100" dirty="0">
                <a:latin typeface="Times New Roman" panose="02020603050405020304" pitchFamily="18" charset="0"/>
                <a:ea typeface="宋体" pitchFamily="2" charset="-122"/>
                <a:cs typeface="Times New Roman" panose="02020603050405020304" pitchFamily="18" charset="0"/>
              </a:rPr>
              <a:t>，即可显示自带的</a:t>
            </a:r>
            <a:r>
              <a:rPr lang="en-US" altLang="zh-CN" sz="2400" kern="100" dirty="0">
                <a:latin typeface="Times New Roman" panose="02020603050405020304" pitchFamily="18" charset="0"/>
                <a:ea typeface="宋体" pitchFamily="2" charset="-122"/>
                <a:cs typeface="Times New Roman" panose="02020603050405020304" pitchFamily="18" charset="0"/>
              </a:rPr>
              <a:t>Python</a:t>
            </a:r>
            <a:r>
              <a:rPr lang="zh-CN" altLang="zh-CN" sz="2400" kern="100" dirty="0">
                <a:latin typeface="Times New Roman" panose="02020603050405020304" pitchFamily="18" charset="0"/>
                <a:ea typeface="宋体" pitchFamily="2" charset="-122"/>
                <a:cs typeface="Times New Roman" panose="02020603050405020304" pitchFamily="18" charset="0"/>
              </a:rPr>
              <a:t>版本。</a:t>
            </a:r>
            <a:r>
              <a:rPr lang="zh-CN" altLang="en-US" sz="2400" kern="100" dirty="0">
                <a:latin typeface="Times New Roman" panose="02020603050405020304" pitchFamily="18" charset="0"/>
                <a:ea typeface="宋体" pitchFamily="2" charset="-122"/>
                <a:cs typeface="Times New Roman" panose="02020603050405020304" pitchFamily="18" charset="0"/>
              </a:rPr>
              <a:t>如图</a:t>
            </a:r>
            <a:r>
              <a:rPr lang="en-US" altLang="zh-CN" sz="2400" kern="100" dirty="0">
                <a:latin typeface="Times New Roman" panose="02020603050405020304" pitchFamily="18" charset="0"/>
                <a:ea typeface="宋体" pitchFamily="2" charset="-122"/>
                <a:cs typeface="Times New Roman" panose="02020603050405020304" pitchFamily="18" charset="0"/>
              </a:rPr>
              <a:t>2.1</a:t>
            </a:r>
            <a:r>
              <a:rPr lang="zh-CN" altLang="en-US" sz="2400" kern="100" dirty="0">
                <a:latin typeface="Times New Roman" panose="02020603050405020304" pitchFamily="18" charset="0"/>
                <a:ea typeface="宋体" pitchFamily="2" charset="-122"/>
                <a:cs typeface="Times New Roman" panose="02020603050405020304" pitchFamily="18" charset="0"/>
              </a:rPr>
              <a:t>所示。</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r>
              <a:rPr lang="en-US" altLang="zh-CN" sz="2400" kern="100" dirty="0">
                <a:latin typeface="Times New Roman" panose="02020603050405020304" pitchFamily="18" charset="0"/>
                <a:ea typeface="宋体" pitchFamily="2" charset="-122"/>
                <a:cs typeface="Times New Roman" panose="02020603050405020304" pitchFamily="18" charset="0"/>
              </a:rPr>
              <a:t>&gt;&gt;&gt;</a:t>
            </a:r>
            <a:r>
              <a:rPr lang="zh-CN" altLang="zh-CN" sz="2400" kern="100" dirty="0">
                <a:latin typeface="Times New Roman" panose="02020603050405020304" pitchFamily="18" charset="0"/>
                <a:ea typeface="宋体" pitchFamily="2" charset="-122"/>
                <a:cs typeface="Times New Roman" panose="02020603050405020304" pitchFamily="18" charset="0"/>
              </a:rPr>
              <a:t>符号代表已经进入了</a:t>
            </a:r>
            <a:r>
              <a:rPr lang="en-US" altLang="zh-CN" sz="2400" kern="100" dirty="0">
                <a:latin typeface="Times New Roman" panose="02020603050405020304" pitchFamily="18" charset="0"/>
                <a:ea typeface="宋体" pitchFamily="2" charset="-122"/>
                <a:cs typeface="Times New Roman" panose="02020603050405020304" pitchFamily="18" charset="0"/>
              </a:rPr>
              <a:t>Python</a:t>
            </a:r>
            <a:r>
              <a:rPr lang="zh-CN" altLang="zh-CN" sz="2400" kern="100" dirty="0">
                <a:latin typeface="Times New Roman" panose="02020603050405020304" pitchFamily="18" charset="0"/>
                <a:ea typeface="宋体" pitchFamily="2" charset="-122"/>
                <a:cs typeface="Times New Roman" panose="02020603050405020304" pitchFamily="18" charset="0"/>
              </a:rPr>
              <a:t>环境，可在此窗口中直接输入和运行</a:t>
            </a:r>
            <a:r>
              <a:rPr lang="en-US" altLang="zh-CN" sz="2400" kern="100" dirty="0">
                <a:latin typeface="Times New Roman" panose="02020603050405020304" pitchFamily="18" charset="0"/>
                <a:ea typeface="宋体" pitchFamily="2" charset="-122"/>
                <a:cs typeface="Times New Roman" panose="02020603050405020304" pitchFamily="18" charset="0"/>
              </a:rPr>
              <a:t>Python</a:t>
            </a:r>
            <a:r>
              <a:rPr lang="zh-CN" altLang="zh-CN" sz="2400" kern="100" dirty="0">
                <a:latin typeface="Times New Roman" panose="02020603050405020304" pitchFamily="18" charset="0"/>
                <a:ea typeface="宋体" pitchFamily="2" charset="-122"/>
                <a:cs typeface="Times New Roman" panose="02020603050405020304" pitchFamily="18" charset="0"/>
              </a:rPr>
              <a:t>代码。</a:t>
            </a:r>
            <a:endParaRPr lang="en-US" altLang="zh-CN" sz="2400" kern="100" dirty="0">
              <a:latin typeface="Times New Roman" panose="02020603050405020304" pitchFamily="18" charset="0"/>
              <a:ea typeface="宋体"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364492" y="3489092"/>
            <a:ext cx="8441600" cy="1682087"/>
          </a:xfrm>
          <a:prstGeom prst="rect">
            <a:avLst/>
          </a:prstGeom>
        </p:spPr>
      </p:pic>
      <p:sp>
        <p:nvSpPr>
          <p:cNvPr id="16" name="文本框 15"/>
          <p:cNvSpPr txBox="1"/>
          <p:nvPr/>
        </p:nvSpPr>
        <p:spPr>
          <a:xfrm>
            <a:off x="2844602" y="5292108"/>
            <a:ext cx="2952328" cy="692497"/>
          </a:xfrm>
          <a:prstGeom prst="rect">
            <a:avLst/>
          </a:prstGeom>
          <a:noFill/>
        </p:spPr>
        <p:txBody>
          <a:bodyPr wrap="square" rtlCol="0">
            <a:spAutoFit/>
          </a:bodyPr>
          <a:lstStyle/>
          <a:p>
            <a:pPr algn="ctr"/>
            <a:r>
              <a:rPr lang="zh-CN" altLang="zh-CN" sz="1800" kern="0" dirty="0">
                <a:latin typeface="Times New Roman" panose="02020603050405020304" pitchFamily="18" charset="0"/>
                <a:cs typeface="Times New Roman" panose="02020603050405020304" pitchFamily="18" charset="0"/>
              </a:rPr>
              <a:t>图</a:t>
            </a:r>
            <a:r>
              <a:rPr lang="en-US" altLang="zh-CN" sz="1800" kern="0" dirty="0">
                <a:latin typeface="Times New Roman" panose="02020603050405020304" pitchFamily="18" charset="0"/>
                <a:cs typeface="Times New Roman" panose="02020603050405020304" pitchFamily="18" charset="0"/>
              </a:rPr>
              <a:t>2.1 Python</a:t>
            </a:r>
            <a:r>
              <a:rPr lang="zh-CN" altLang="en-US" sz="1800" kern="0" dirty="0">
                <a:latin typeface="Times New Roman" panose="02020603050405020304" pitchFamily="18" charset="0"/>
                <a:cs typeface="Times New Roman" panose="02020603050405020304" pitchFamily="18" charset="0"/>
              </a:rPr>
              <a:t>版本运行图</a:t>
            </a:r>
            <a:endParaRPr lang="zh-CN" altLang="zh-CN" sz="1800" kern="0" dirty="0">
              <a:latin typeface="Times New Roman" panose="02020603050405020304" pitchFamily="18" charset="0"/>
              <a:cs typeface="Times New Roman" panose="02020603050405020304" pitchFamily="18" charset="0"/>
            </a:endParaRPr>
          </a:p>
          <a:p>
            <a:pPr algn="ctr"/>
            <a:endParaRPr lang="zh-CN" altLang="en-US" dirty="0"/>
          </a:p>
        </p:txBody>
      </p:sp>
      <p:sp>
        <p:nvSpPr>
          <p:cNvPr id="10" name="文本框 9"/>
          <p:cNvSpPr txBox="1"/>
          <p:nvPr/>
        </p:nvSpPr>
        <p:spPr>
          <a:xfrm>
            <a:off x="-266229" y="1228997"/>
            <a:ext cx="4589754" cy="461665"/>
          </a:xfrm>
          <a:prstGeom prst="rect">
            <a:avLst/>
          </a:prstGeom>
          <a:noFill/>
        </p:spPr>
        <p:txBody>
          <a:bodyPr wrap="square">
            <a:spAutoFit/>
          </a:bodyPr>
          <a:lstStyle/>
          <a:p>
            <a:pPr indent="266700" algn="just"/>
            <a:r>
              <a:rPr lang="en-US" altLang="zh-CN" sz="2400" b="1" kern="100" dirty="0">
                <a:latin typeface="Times New Roman" panose="02020603050405020304" pitchFamily="18" charset="0"/>
                <a:ea typeface="宋体" pitchFamily="2" charset="-122"/>
                <a:cs typeface="Times New Roman" panose="02020603050405020304" pitchFamily="18" charset="0"/>
              </a:rPr>
              <a:t>2.1.2 </a:t>
            </a:r>
            <a:r>
              <a:rPr lang="zh-CN" altLang="en-US" sz="2400" b="1" kern="100" dirty="0">
                <a:latin typeface="Times New Roman" panose="02020603050405020304" pitchFamily="18" charset="0"/>
                <a:ea typeface="宋体" pitchFamily="2" charset="-122"/>
                <a:cs typeface="Times New Roman" panose="02020603050405020304" pitchFamily="18" charset="0"/>
              </a:rPr>
              <a:t>配置开发环境</a:t>
            </a:r>
            <a:endParaRPr lang="en-US" altLang="zh-CN" sz="2400" b="1"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zh-CN" sz="2100" b="1" dirty="0">
                <a:solidFill>
                  <a:schemeClr val="tx1">
                    <a:lumMod val="75000"/>
                    <a:lumOff val="25000"/>
                  </a:schemeClr>
                </a:solidFill>
                <a:latin typeface="微软雅黑" panose="020B0503020204020204" pitchFamily="34" charset="-122"/>
              </a:rPr>
              <a:t>配置开发环境</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229716" y="1172768"/>
            <a:ext cx="8591550" cy="2308324"/>
          </a:xfrm>
          <a:prstGeom prst="rect">
            <a:avLst/>
          </a:prstGeom>
          <a:noFill/>
        </p:spPr>
        <p:txBody>
          <a:bodyPr wrap="square">
            <a:spAutoFit/>
          </a:bodyPr>
          <a:lstStyle/>
          <a:p>
            <a:pPr indent="266700" algn="just"/>
            <a:r>
              <a:rPr lang="zh-CN" altLang="zh-CN" sz="2400" kern="100" dirty="0">
                <a:latin typeface="Times New Roman" panose="02020603050405020304" pitchFamily="18" charset="0"/>
                <a:ea typeface="宋体" pitchFamily="2" charset="-122"/>
                <a:cs typeface="Times New Roman" panose="02020603050405020304" pitchFamily="18" charset="0"/>
              </a:rPr>
              <a:t>我们输入</a:t>
            </a:r>
            <a:r>
              <a:rPr lang="en-US" altLang="zh-CN" sz="2400" kern="100" dirty="0">
                <a:latin typeface="Times New Roman" panose="02020603050405020304" pitchFamily="18" charset="0"/>
                <a:ea typeface="宋体" pitchFamily="2" charset="-122"/>
                <a:cs typeface="Times New Roman" panose="02020603050405020304" pitchFamily="18" charset="0"/>
              </a:rPr>
              <a:t>3+5</a:t>
            </a:r>
            <a:r>
              <a:rPr lang="zh-CN" altLang="zh-CN" sz="2400" kern="100" dirty="0">
                <a:latin typeface="Times New Roman" panose="02020603050405020304" pitchFamily="18" charset="0"/>
                <a:ea typeface="宋体" pitchFamily="2" charset="-122"/>
                <a:cs typeface="Times New Roman" panose="02020603050405020304" pitchFamily="18" charset="0"/>
              </a:rPr>
              <a:t>，按下</a:t>
            </a:r>
            <a:r>
              <a:rPr lang="en-US" altLang="zh-CN" sz="2400" kern="100" dirty="0">
                <a:latin typeface="Times New Roman" panose="02020603050405020304" pitchFamily="18" charset="0"/>
                <a:ea typeface="宋体" pitchFamily="2" charset="-122"/>
                <a:cs typeface="Times New Roman" panose="02020603050405020304" pitchFamily="18" charset="0"/>
              </a:rPr>
              <a:t>Enter</a:t>
            </a:r>
            <a:r>
              <a:rPr lang="zh-CN" altLang="zh-CN" sz="2400" kern="100" dirty="0">
                <a:latin typeface="Times New Roman" panose="02020603050405020304" pitchFamily="18" charset="0"/>
                <a:ea typeface="宋体" pitchFamily="2" charset="-122"/>
                <a:cs typeface="Times New Roman" panose="02020603050405020304" pitchFamily="18" charset="0"/>
              </a:rPr>
              <a:t>键，显示结果为</a:t>
            </a:r>
            <a:r>
              <a:rPr lang="en-US" altLang="zh-CN" sz="2400" kern="100" dirty="0">
                <a:latin typeface="Times New Roman" panose="02020603050405020304" pitchFamily="18" charset="0"/>
                <a:ea typeface="宋体" pitchFamily="2" charset="-122"/>
                <a:cs typeface="Times New Roman" panose="02020603050405020304" pitchFamily="18" charset="0"/>
              </a:rPr>
              <a:t>8</a:t>
            </a:r>
            <a:r>
              <a:rPr lang="zh-CN" altLang="zh-CN" sz="2400" kern="100" dirty="0">
                <a:latin typeface="Times New Roman" panose="02020603050405020304" pitchFamily="18" charset="0"/>
                <a:ea typeface="宋体" pitchFamily="2" charset="-122"/>
                <a:cs typeface="Times New Roman" panose="02020603050405020304" pitchFamily="18" charset="0"/>
              </a:rPr>
              <a:t>。输入</a:t>
            </a:r>
            <a:r>
              <a:rPr lang="en-US" altLang="zh-CN" sz="2400" kern="100" dirty="0">
                <a:latin typeface="Times New Roman" panose="02020603050405020304" pitchFamily="18" charset="0"/>
                <a:ea typeface="宋体" pitchFamily="2" charset="-122"/>
                <a:cs typeface="Times New Roman" panose="02020603050405020304" pitchFamily="18" charset="0"/>
              </a:rPr>
              <a:t>exit()</a:t>
            </a:r>
            <a:r>
              <a:rPr lang="zh-CN" altLang="zh-CN" sz="2400" kern="100" dirty="0">
                <a:latin typeface="Times New Roman" panose="02020603050405020304" pitchFamily="18" charset="0"/>
                <a:ea typeface="宋体" pitchFamily="2" charset="-122"/>
                <a:cs typeface="Times New Roman" panose="02020603050405020304" pitchFamily="18" charset="0"/>
              </a:rPr>
              <a:t>可退出</a:t>
            </a:r>
            <a:r>
              <a:rPr lang="en-US" altLang="zh-CN" sz="2400" kern="100" dirty="0">
                <a:latin typeface="Times New Roman" panose="02020603050405020304" pitchFamily="18" charset="0"/>
                <a:ea typeface="宋体" pitchFamily="2" charset="-122"/>
                <a:cs typeface="Times New Roman" panose="02020603050405020304" pitchFamily="18" charset="0"/>
              </a:rPr>
              <a:t>Python</a:t>
            </a:r>
            <a:r>
              <a:rPr lang="zh-CN" altLang="zh-CN" sz="2400" kern="100" dirty="0">
                <a:latin typeface="Times New Roman" panose="02020603050405020304" pitchFamily="18" charset="0"/>
                <a:ea typeface="宋体" pitchFamily="2" charset="-122"/>
                <a:cs typeface="Times New Roman" panose="02020603050405020304" pitchFamily="18" charset="0"/>
              </a:rPr>
              <a:t>环境</a:t>
            </a:r>
            <a:r>
              <a:rPr lang="en-US" altLang="zh-CN" sz="2400" kern="100" dirty="0">
                <a:latin typeface="Times New Roman" panose="02020603050405020304" pitchFamily="18" charset="0"/>
                <a:ea typeface="宋体" pitchFamily="2" charset="-122"/>
                <a:cs typeface="Times New Roman" panose="02020603050405020304" pitchFamily="18" charset="0"/>
              </a:rPr>
              <a:t>,</a:t>
            </a:r>
            <a:r>
              <a:rPr lang="zh-CN" altLang="zh-CN" sz="2400" kern="100" dirty="0">
                <a:latin typeface="Times New Roman" panose="02020603050405020304" pitchFamily="18" charset="0"/>
                <a:ea typeface="宋体" pitchFamily="2" charset="-122"/>
                <a:cs typeface="Times New Roman" panose="02020603050405020304" pitchFamily="18" charset="0"/>
              </a:rPr>
              <a:t>如图</a:t>
            </a:r>
            <a:r>
              <a:rPr lang="en-US" altLang="zh-CN" sz="2400" kern="100" dirty="0">
                <a:latin typeface="Times New Roman" panose="02020603050405020304" pitchFamily="18" charset="0"/>
                <a:ea typeface="宋体" pitchFamily="2" charset="-122"/>
                <a:cs typeface="Times New Roman" panose="02020603050405020304" pitchFamily="18" charset="0"/>
              </a:rPr>
              <a:t>2.2</a:t>
            </a:r>
            <a:r>
              <a:rPr lang="zh-CN" altLang="zh-CN" sz="2400" kern="100" dirty="0">
                <a:latin typeface="Times New Roman" panose="02020603050405020304" pitchFamily="18" charset="0"/>
                <a:ea typeface="宋体" pitchFamily="2" charset="-122"/>
                <a:cs typeface="Times New Roman" panose="02020603050405020304" pitchFamily="18" charset="0"/>
              </a:rPr>
              <a:t>所示</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endParaRPr lang="en-US" altLang="zh-CN" sz="2400" kern="100" dirty="0">
              <a:latin typeface="Times New Roman" panose="02020603050405020304" pitchFamily="18" charset="0"/>
              <a:ea typeface="宋体" pitchFamily="2"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490801" y="2061642"/>
            <a:ext cx="8069379" cy="2160240"/>
          </a:xfrm>
          <a:prstGeom prst="rect">
            <a:avLst/>
          </a:prstGeom>
        </p:spPr>
      </p:pic>
      <p:sp>
        <p:nvSpPr>
          <p:cNvPr id="10" name="文本框 9"/>
          <p:cNvSpPr txBox="1"/>
          <p:nvPr/>
        </p:nvSpPr>
        <p:spPr>
          <a:xfrm>
            <a:off x="2916610" y="4221882"/>
            <a:ext cx="2952328" cy="692497"/>
          </a:xfrm>
          <a:prstGeom prst="rect">
            <a:avLst/>
          </a:prstGeom>
          <a:noFill/>
        </p:spPr>
        <p:txBody>
          <a:bodyPr wrap="square" rtlCol="0">
            <a:spAutoFit/>
          </a:bodyPr>
          <a:lstStyle/>
          <a:p>
            <a:pPr algn="ctr"/>
            <a:r>
              <a:rPr lang="zh-CN" altLang="zh-CN" sz="1800" kern="0" dirty="0">
                <a:latin typeface="Times New Roman" panose="02020603050405020304" pitchFamily="18" charset="0"/>
                <a:cs typeface="Times New Roman" panose="02020603050405020304" pitchFamily="18" charset="0"/>
              </a:rPr>
              <a:t>图</a:t>
            </a:r>
            <a:r>
              <a:rPr lang="en-US" altLang="zh-CN" sz="1800" kern="0" dirty="0">
                <a:latin typeface="Times New Roman" panose="02020603050405020304" pitchFamily="18" charset="0"/>
                <a:cs typeface="Times New Roman" panose="02020603050405020304" pitchFamily="18" charset="0"/>
              </a:rPr>
              <a:t>2.2 </a:t>
            </a:r>
            <a:r>
              <a:rPr lang="zh-CN" altLang="en-US" sz="1800" kern="0" dirty="0">
                <a:latin typeface="Times New Roman" panose="02020603050405020304" pitchFamily="18" charset="0"/>
                <a:cs typeface="Times New Roman" panose="02020603050405020304" pitchFamily="18" charset="0"/>
              </a:rPr>
              <a:t>显示结果图</a:t>
            </a:r>
            <a:endParaRPr lang="zh-CN" altLang="zh-CN" sz="1800" kern="0" dirty="0">
              <a:latin typeface="Times New Roman" panose="02020603050405020304" pitchFamily="18" charset="0"/>
              <a:cs typeface="Times New Roman" panose="02020603050405020304" pitchFamily="18" charset="0"/>
            </a:endParaRPr>
          </a:p>
          <a:p>
            <a:pPr algn="ctr"/>
            <a:endParaRPr lang="zh-CN" altLang="en-US" dirty="0"/>
          </a:p>
        </p:txBody>
      </p:sp>
    </p:spTree>
  </p:cSld>
  <p:clrMapOvr>
    <a:masterClrMapping/>
  </p:clrMapOvr>
  <p:transition spd="slow" advClick="0" advTm="0">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478962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229716" y="1172768"/>
            <a:ext cx="8591550" cy="738664"/>
          </a:xfrm>
          <a:prstGeom prst="rect">
            <a:avLst/>
          </a:prstGeom>
          <a:noFill/>
        </p:spPr>
        <p:txBody>
          <a:bodyPr wrap="square">
            <a:spAutoFit/>
          </a:bodyPr>
          <a:lstStyle/>
          <a:p>
            <a:pPr indent="266700" algn="just"/>
            <a:endParaRPr lang="zh-CN" altLang="zh-CN" sz="1800" kern="100" dirty="0">
              <a:effectLst/>
              <a:latin typeface="Times New Roman" panose="02020603050405020304" pitchFamily="18" charset="0"/>
              <a:ea typeface="宋体" pitchFamily="2" charset="-122"/>
            </a:endParaRPr>
          </a:p>
          <a:p>
            <a:pPr indent="266700" algn="just"/>
            <a:endParaRPr lang="en-US" altLang="zh-CN" sz="2400" kern="100" dirty="0">
              <a:latin typeface="Times New Roman" panose="02020603050405020304" pitchFamily="18" charset="0"/>
              <a:ea typeface="宋体" pitchFamily="2" charset="-122"/>
              <a:cs typeface="Times New Roman" panose="02020603050405020304" pitchFamily="18" charset="0"/>
            </a:endParaRPr>
          </a:p>
        </p:txBody>
      </p:sp>
      <p:grpSp>
        <p:nvGrpSpPr>
          <p:cNvPr id="14" name="组合 13"/>
          <p:cNvGrpSpPr/>
          <p:nvPr/>
        </p:nvGrpSpPr>
        <p:grpSpPr>
          <a:xfrm>
            <a:off x="1476450" y="1637276"/>
            <a:ext cx="5544616" cy="1420593"/>
            <a:chOff x="540346" y="2709714"/>
            <a:chExt cx="5544616" cy="1420593"/>
          </a:xfrm>
        </p:grpSpPr>
        <p:sp>
          <p:nvSpPr>
            <p:cNvPr id="2" name="流程图: 准备 1"/>
            <p:cNvSpPr/>
            <p:nvPr/>
          </p:nvSpPr>
          <p:spPr>
            <a:xfrm>
              <a:off x="540346" y="2997746"/>
              <a:ext cx="1656184" cy="1008112"/>
            </a:xfrm>
            <a:prstGeom prst="flowChartPreparation">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配置开发环境</a:t>
              </a:r>
              <a:endParaRPr lang="zh-CN" altLang="en-US" dirty="0"/>
            </a:p>
          </p:txBody>
        </p:sp>
        <p:sp>
          <p:nvSpPr>
            <p:cNvPr id="3" name="矩形 2"/>
            <p:cNvSpPr/>
            <p:nvPr/>
          </p:nvSpPr>
          <p:spPr>
            <a:xfrm>
              <a:off x="3132634" y="2709714"/>
              <a:ext cx="2952328" cy="432048"/>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800" b="1" kern="100" dirty="0">
                  <a:solidFill>
                    <a:schemeClr val="tx1"/>
                  </a:solidFill>
                  <a:effectLst/>
                  <a:latin typeface="Arial" panose="020B0604020202090204" pitchFamily="34" charset="0"/>
                  <a:ea typeface="宋体" pitchFamily="2" charset="-122"/>
                  <a:cs typeface="Times New Roman" panose="02020603050405020304" pitchFamily="18" charset="0"/>
                </a:rPr>
                <a:t>安装</a:t>
              </a:r>
              <a:r>
                <a:rPr lang="en-US" altLang="zh-CN" sz="1800" b="1" kern="100" dirty="0">
                  <a:solidFill>
                    <a:schemeClr val="tx1"/>
                  </a:solidFill>
                  <a:effectLst/>
                  <a:latin typeface="Arial" panose="020B0604020202090204" pitchFamily="34" charset="0"/>
                  <a:ea typeface="宋体" pitchFamily="2" charset="-122"/>
                  <a:cs typeface="Times New Roman" panose="02020603050405020304" pitchFamily="18" charset="0"/>
                </a:rPr>
                <a:t>Python</a:t>
              </a:r>
              <a:r>
                <a:rPr lang="zh-CN" altLang="zh-CN" sz="1800" b="1" kern="100" dirty="0">
                  <a:solidFill>
                    <a:schemeClr val="tx1"/>
                  </a:solidFill>
                  <a:effectLst/>
                  <a:latin typeface="Arial" panose="020B0604020202090204" pitchFamily="34" charset="0"/>
                  <a:ea typeface="宋体" pitchFamily="2" charset="-122"/>
                  <a:cs typeface="Times New Roman" panose="02020603050405020304" pitchFamily="18" charset="0"/>
                </a:rPr>
                <a:t>解释器</a:t>
              </a:r>
              <a:endParaRPr lang="zh-CN" altLang="en-US" dirty="0">
                <a:solidFill>
                  <a:schemeClr val="tx1"/>
                </a:solidFill>
              </a:endParaRPr>
            </a:p>
          </p:txBody>
        </p:sp>
        <p:sp>
          <p:nvSpPr>
            <p:cNvPr id="11" name="矩形 10"/>
            <p:cNvSpPr/>
            <p:nvPr/>
          </p:nvSpPr>
          <p:spPr>
            <a:xfrm>
              <a:off x="3132634" y="3698259"/>
              <a:ext cx="2952328" cy="432048"/>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800" b="1" kern="100" dirty="0">
                  <a:solidFill>
                    <a:schemeClr val="tx1"/>
                  </a:solidFill>
                  <a:latin typeface="Arial" panose="020B0604020202090204" pitchFamily="34" charset="0"/>
                  <a:ea typeface="宋体" pitchFamily="2" charset="-122"/>
                  <a:cs typeface="Times New Roman" panose="02020603050405020304" pitchFamily="18" charset="0"/>
                </a:rPr>
                <a:t>安装集成开发环境</a:t>
              </a:r>
              <a:r>
                <a:rPr lang="en-US" altLang="zh-CN" sz="1800" b="1" kern="100" dirty="0">
                  <a:solidFill>
                    <a:schemeClr val="tx1"/>
                  </a:solidFill>
                  <a:latin typeface="Arial" panose="020B0604020202090204" pitchFamily="34" charset="0"/>
                  <a:ea typeface="宋体" pitchFamily="2" charset="-122"/>
                  <a:cs typeface="Times New Roman" panose="02020603050405020304" pitchFamily="18" charset="0"/>
                </a:rPr>
                <a:t>PyCharm</a:t>
              </a:r>
              <a:endParaRPr lang="zh-CN" altLang="en-US" sz="1800" b="1" kern="100" dirty="0">
                <a:solidFill>
                  <a:schemeClr val="tx1"/>
                </a:solidFill>
                <a:latin typeface="Arial" panose="020B0604020202090204" pitchFamily="34" charset="0"/>
                <a:ea typeface="宋体" pitchFamily="2" charset="-122"/>
                <a:cs typeface="Times New Roman" panose="02020603050405020304" pitchFamily="18" charset="0"/>
              </a:endParaRPr>
            </a:p>
          </p:txBody>
        </p:sp>
        <p:cxnSp>
          <p:nvCxnSpPr>
            <p:cNvPr id="5" name="直接箭头连接符 4"/>
            <p:cNvCxnSpPr>
              <a:stCxn id="2" idx="3"/>
              <a:endCxn id="3" idx="1"/>
            </p:cNvCxnSpPr>
            <p:nvPr/>
          </p:nvCxnSpPr>
          <p:spPr>
            <a:xfrm flipV="1">
              <a:off x="2196530" y="2891082"/>
              <a:ext cx="936104" cy="6107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直接箭头连接符 6"/>
            <p:cNvCxnSpPr>
              <a:stCxn id="2" idx="3"/>
              <a:endCxn id="11" idx="1"/>
            </p:cNvCxnSpPr>
            <p:nvPr/>
          </p:nvCxnSpPr>
          <p:spPr>
            <a:xfrm>
              <a:off x="2196530" y="3501802"/>
              <a:ext cx="936104" cy="4124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8" name="文本框 17"/>
          <p:cNvSpPr txBox="1"/>
          <p:nvPr/>
        </p:nvSpPr>
        <p:spPr>
          <a:xfrm>
            <a:off x="-5124" y="3933850"/>
            <a:ext cx="9037290" cy="2262158"/>
          </a:xfrm>
          <a:prstGeom prst="rect">
            <a:avLst/>
          </a:prstGeom>
          <a:noFill/>
        </p:spPr>
        <p:txBody>
          <a:bodyPr wrap="square" rtlCol="0">
            <a:spAutoFit/>
          </a:bodyPr>
          <a:lstStyle/>
          <a:p>
            <a:pPr indent="266700" algn="just"/>
            <a:r>
              <a:rPr lang="en-US" altLang="zh-CN" sz="2400" b="1" kern="100" dirty="0">
                <a:effectLst/>
                <a:latin typeface="Times New Roman" panose="02020603050405020304" pitchFamily="18" charset="0"/>
                <a:ea typeface="宋体" pitchFamily="2" charset="-122"/>
              </a:rPr>
              <a:t>Python</a:t>
            </a:r>
            <a:r>
              <a:rPr lang="zh-CN" altLang="en-US" sz="2400" b="1" kern="100" dirty="0">
                <a:effectLst/>
                <a:latin typeface="Times New Roman" panose="02020603050405020304" pitchFamily="18" charset="0"/>
                <a:ea typeface="宋体" pitchFamily="2" charset="-122"/>
              </a:rPr>
              <a:t>解释器安装步骤：</a:t>
            </a:r>
            <a:endParaRPr lang="en-US" altLang="zh-CN" sz="2400" b="1" kern="100" dirty="0">
              <a:latin typeface="Times New Roman" panose="02020603050405020304" pitchFamily="18" charset="0"/>
              <a:ea typeface="宋体" pitchFamily="2" charset="-122"/>
            </a:endParaRPr>
          </a:p>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进入网址</a:t>
            </a:r>
            <a:r>
              <a:rPr lang="en-US" altLang="zh-CN" sz="2400" kern="100" dirty="0">
                <a:effectLst/>
                <a:latin typeface="Times New Roman" panose="02020603050405020304" pitchFamily="18" charset="0"/>
                <a:ea typeface="宋体" pitchFamily="2" charset="-122"/>
                <a:hlinkClick r:id="rId1"/>
              </a:rPr>
              <a:t>https://www.python.org/getit/</a:t>
            </a:r>
            <a:r>
              <a:rPr lang="zh-CN" altLang="en-US"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rPr>
              <a:t>选择下载适合自己系统的</a:t>
            </a:r>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rPr>
              <a:t>版本。安装程序下载完毕后运行，勾选</a:t>
            </a:r>
            <a:r>
              <a:rPr lang="en-US" altLang="zh-CN" sz="2400" kern="100" dirty="0">
                <a:solidFill>
                  <a:srgbClr val="FF0000"/>
                </a:solidFill>
                <a:effectLst/>
                <a:latin typeface="Times New Roman" panose="02020603050405020304" pitchFamily="18" charset="0"/>
                <a:ea typeface="宋体" pitchFamily="2" charset="-122"/>
              </a:rPr>
              <a:t>Add Python3.7 to PATH</a:t>
            </a:r>
            <a:r>
              <a:rPr lang="zh-CN" altLang="zh-CN" sz="2400" kern="100" dirty="0">
                <a:effectLst/>
                <a:latin typeface="Times New Roman" panose="02020603050405020304" pitchFamily="18" charset="0"/>
                <a:ea typeface="宋体" pitchFamily="2" charset="-122"/>
              </a:rPr>
              <a:t>选项添加到环境变量。</a:t>
            </a:r>
            <a:endParaRPr lang="zh-CN" altLang="zh-CN" sz="2400" kern="100" dirty="0">
              <a:effectLst/>
              <a:latin typeface="Times New Roman" panose="02020603050405020304" pitchFamily="18" charset="0"/>
              <a:ea typeface="宋体" pitchFamily="2" charset="-122"/>
            </a:endParaRPr>
          </a:p>
          <a:p>
            <a:pPr algn="just"/>
            <a:endParaRPr lang="en-US" altLang="zh-CN" sz="2400" kern="100" dirty="0">
              <a:latin typeface="Times New Roman" panose="02020603050405020304" pitchFamily="18" charset="0"/>
              <a:ea typeface="宋体" pitchFamily="2" charset="-122"/>
            </a:endParaRPr>
          </a:p>
          <a:p>
            <a:endParaRPr lang="zh-CN" altLang="en-US" dirty="0"/>
          </a:p>
        </p:txBody>
      </p:sp>
    </p:spTree>
  </p:cSld>
  <p:clrMapOvr>
    <a:masterClrMapping/>
  </p:clrMapOvr>
  <p:transition spd="slow" advClick="0" advTm="0">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478962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8" name="文本框 17"/>
          <p:cNvSpPr txBox="1"/>
          <p:nvPr/>
        </p:nvSpPr>
        <p:spPr>
          <a:xfrm>
            <a:off x="-23868" y="1212398"/>
            <a:ext cx="9037290" cy="3000821"/>
          </a:xfrm>
          <a:prstGeom prst="rect">
            <a:avLst/>
          </a:prstGeom>
          <a:noFill/>
        </p:spPr>
        <p:txBody>
          <a:bodyPr wrap="square" rtlCol="0">
            <a:spAutoFit/>
          </a:bodyPr>
          <a:lstStyle/>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安装完成后在命令行窗口输入</a:t>
            </a:r>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rPr>
              <a:t>查看是否成功进入</a:t>
            </a:r>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rPr>
              <a:t>环境，如果报错，请手动将</a:t>
            </a:r>
            <a:r>
              <a:rPr lang="en-US" altLang="zh-CN" sz="2400" kern="100" dirty="0">
                <a:effectLst/>
                <a:latin typeface="Times New Roman" panose="02020603050405020304" pitchFamily="18" charset="0"/>
                <a:ea typeface="宋体" pitchFamily="2" charset="-122"/>
              </a:rPr>
              <a:t>Python37</a:t>
            </a:r>
            <a:r>
              <a:rPr lang="zh-CN" altLang="zh-CN" sz="2400" kern="100" dirty="0">
                <a:effectLst/>
                <a:latin typeface="Times New Roman" panose="02020603050405020304" pitchFamily="18" charset="0"/>
                <a:ea typeface="宋体" pitchFamily="2" charset="-122"/>
              </a:rPr>
              <a:t>文件夹所在路径添加到环境变量</a:t>
            </a:r>
            <a:r>
              <a:rPr lang="en-US" altLang="zh-CN" sz="2400" kern="100" dirty="0">
                <a:effectLst/>
                <a:latin typeface="Times New Roman" panose="02020603050405020304" pitchFamily="18" charset="0"/>
                <a:ea typeface="宋体" pitchFamily="2" charset="-122"/>
              </a:rPr>
              <a:t>PATH</a:t>
            </a:r>
            <a:r>
              <a:rPr lang="zh-CN" altLang="zh-CN" sz="2400" kern="100" dirty="0">
                <a:effectLst/>
                <a:latin typeface="Times New Roman" panose="02020603050405020304" pitchFamily="18" charset="0"/>
                <a:ea typeface="宋体" pitchFamily="2" charset="-122"/>
              </a:rPr>
              <a:t>中：</a:t>
            </a:r>
            <a:r>
              <a:rPr lang="zh-CN" altLang="zh-CN" sz="2400" kern="100" dirty="0">
                <a:solidFill>
                  <a:srgbClr val="FF0000"/>
                </a:solidFill>
                <a:effectLst/>
                <a:latin typeface="Times New Roman" panose="02020603050405020304" pitchFamily="18" charset="0"/>
                <a:ea typeface="宋体" pitchFamily="2" charset="-122"/>
              </a:rPr>
              <a:t>右键点击此电脑→属性→高级系统设置→环境变量→双击</a:t>
            </a:r>
            <a:r>
              <a:rPr lang="en-US" altLang="zh-CN" sz="2400" kern="100" dirty="0">
                <a:solidFill>
                  <a:srgbClr val="FF0000"/>
                </a:solidFill>
                <a:effectLst/>
                <a:latin typeface="Times New Roman" panose="02020603050405020304" pitchFamily="18" charset="0"/>
                <a:ea typeface="宋体" pitchFamily="2" charset="-122"/>
              </a:rPr>
              <a:t>PATH</a:t>
            </a:r>
            <a:r>
              <a:rPr lang="zh-CN" altLang="zh-CN" sz="2400" kern="100" dirty="0">
                <a:solidFill>
                  <a:srgbClr val="FF0000"/>
                </a:solidFill>
                <a:effectLst/>
                <a:latin typeface="Times New Roman" panose="02020603050405020304" pitchFamily="18" charset="0"/>
                <a:ea typeface="宋体" pitchFamily="2" charset="-122"/>
              </a:rPr>
              <a:t>→新建→输入</a:t>
            </a:r>
            <a:r>
              <a:rPr lang="en-US" altLang="zh-CN" sz="2400" kern="100" dirty="0">
                <a:solidFill>
                  <a:srgbClr val="FF0000"/>
                </a:solidFill>
                <a:effectLst/>
                <a:latin typeface="Times New Roman" panose="02020603050405020304" pitchFamily="18" charset="0"/>
                <a:ea typeface="宋体" pitchFamily="2" charset="-122"/>
              </a:rPr>
              <a:t>Python37</a:t>
            </a:r>
            <a:r>
              <a:rPr lang="zh-CN" altLang="zh-CN" sz="2400" kern="100" dirty="0">
                <a:solidFill>
                  <a:srgbClr val="FF0000"/>
                </a:solidFill>
                <a:effectLst/>
                <a:latin typeface="Times New Roman" panose="02020603050405020304" pitchFamily="18" charset="0"/>
                <a:ea typeface="宋体" pitchFamily="2" charset="-122"/>
              </a:rPr>
              <a:t>文件夹所在路径</a:t>
            </a:r>
            <a:r>
              <a:rPr lang="zh-CN" altLang="zh-CN" sz="2400" kern="100" dirty="0">
                <a:effectLst/>
                <a:latin typeface="Times New Roman" panose="02020603050405020304" pitchFamily="18" charset="0"/>
                <a:ea typeface="宋体" pitchFamily="2" charset="-122"/>
              </a:rPr>
              <a:t>。如图</a:t>
            </a:r>
            <a:r>
              <a:rPr lang="en-US" altLang="zh-CN" sz="2400" kern="100" dirty="0">
                <a:effectLst/>
                <a:latin typeface="Times New Roman" panose="02020603050405020304" pitchFamily="18" charset="0"/>
                <a:ea typeface="宋体" pitchFamily="2" charset="-122"/>
              </a:rPr>
              <a:t>2.3</a:t>
            </a:r>
            <a:r>
              <a:rPr lang="zh-CN" altLang="zh-CN" sz="2400" kern="100" dirty="0">
                <a:effectLst/>
                <a:latin typeface="Times New Roman" panose="02020603050405020304" pitchFamily="18" charset="0"/>
                <a:ea typeface="宋体" pitchFamily="2" charset="-122"/>
              </a:rPr>
              <a:t>所示：</a:t>
            </a:r>
            <a:endParaRPr lang="en-US" altLang="zh-CN" sz="2400" kern="100" dirty="0">
              <a:effectLst/>
              <a:latin typeface="Times New Roman" panose="02020603050405020304" pitchFamily="18" charset="0"/>
              <a:ea typeface="宋体" pitchFamily="2" charset="-122"/>
            </a:endParaRPr>
          </a:p>
          <a:p>
            <a:pPr marL="342900" indent="-342900" algn="just">
              <a:buFont typeface="Wingdings" panose="05000000000000000000" pitchFamily="2" charset="2"/>
              <a:buChar char="p"/>
            </a:pPr>
            <a:endParaRPr lang="en-US" altLang="zh-CN" sz="2400" kern="100" dirty="0">
              <a:effectLst/>
              <a:latin typeface="Times New Roman" panose="02020603050405020304" pitchFamily="18" charset="0"/>
              <a:ea typeface="宋体" pitchFamily="2" charset="-122"/>
            </a:endParaRPr>
          </a:p>
          <a:p>
            <a:pPr algn="just"/>
            <a:endParaRPr lang="en-US" altLang="zh-CN" sz="2400" kern="100" dirty="0">
              <a:latin typeface="Times New Roman" panose="02020603050405020304" pitchFamily="18" charset="0"/>
              <a:ea typeface="宋体" pitchFamily="2" charset="-122"/>
            </a:endParaRPr>
          </a:p>
          <a:p>
            <a:endParaRPr lang="zh-CN" altLang="en-US" dirty="0"/>
          </a:p>
        </p:txBody>
      </p:sp>
      <p:pic>
        <p:nvPicPr>
          <p:cNvPr id="15" name="图片 14"/>
          <p:cNvPicPr>
            <a:picLocks noChangeAspect="1"/>
          </p:cNvPicPr>
          <p:nvPr/>
        </p:nvPicPr>
        <p:blipFill>
          <a:blip r:embed="rId1"/>
          <a:stretch>
            <a:fillRect/>
          </a:stretch>
        </p:blipFill>
        <p:spPr>
          <a:xfrm>
            <a:off x="1616671" y="2853730"/>
            <a:ext cx="5446808" cy="3467041"/>
          </a:xfrm>
          <a:prstGeom prst="rect">
            <a:avLst/>
          </a:prstGeom>
          <a:noFill/>
          <a:ln>
            <a:noFill/>
          </a:ln>
        </p:spPr>
      </p:pic>
      <p:sp>
        <p:nvSpPr>
          <p:cNvPr id="4" name="文本框 3"/>
          <p:cNvSpPr txBox="1"/>
          <p:nvPr/>
        </p:nvSpPr>
        <p:spPr>
          <a:xfrm>
            <a:off x="2916610" y="6454130"/>
            <a:ext cx="3168352" cy="369332"/>
          </a:xfrm>
          <a:prstGeom prst="rect">
            <a:avLst/>
          </a:prstGeom>
          <a:noFill/>
        </p:spPr>
        <p:txBody>
          <a:bodyPr wrap="square" rtlCol="0">
            <a:spAutoFit/>
          </a:bodyPr>
          <a:lstStyle/>
          <a:p>
            <a:pPr algn="ctr"/>
            <a:r>
              <a:rPr lang="zh-CN" altLang="en-US" sz="1800" kern="0" dirty="0">
                <a:latin typeface="Times New Roman" panose="02020603050405020304" pitchFamily="18" charset="0"/>
                <a:cs typeface="Times New Roman" panose="02020603050405020304" pitchFamily="18" charset="0"/>
              </a:rPr>
              <a:t>图</a:t>
            </a:r>
            <a:r>
              <a:rPr lang="en-US" altLang="zh-CN" sz="1800" kern="0" dirty="0">
                <a:latin typeface="Times New Roman" panose="02020603050405020304" pitchFamily="18" charset="0"/>
                <a:cs typeface="Times New Roman" panose="02020603050405020304" pitchFamily="18" charset="0"/>
              </a:rPr>
              <a:t>2.3 </a:t>
            </a:r>
            <a:r>
              <a:rPr lang="zh-CN" altLang="zh-CN" sz="1800" kern="0" dirty="0">
                <a:latin typeface="Times New Roman" panose="02020603050405020304" pitchFamily="18" charset="0"/>
                <a:cs typeface="Times New Roman" panose="02020603050405020304" pitchFamily="18" charset="0"/>
              </a:rPr>
              <a:t>添加环境变量</a:t>
            </a:r>
            <a:endParaRPr lang="zh-CN" altLang="en-US" sz="1800" kern="0" dirty="0">
              <a:latin typeface="Times New Roman" panose="02020603050405020304" pitchFamily="18" charset="0"/>
              <a:cs typeface="Times New Roman" panose="02020603050405020304" pitchFamily="18" charset="0"/>
            </a:endParaRPr>
          </a:p>
        </p:txBody>
      </p:sp>
    </p:spTree>
  </p:cSld>
  <p:clrMapOvr>
    <a:masterClrMapping/>
  </p:clrMapOvr>
  <p:transition spd="slow" advClick="0" advTm="0">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615777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8" name="文本框 17"/>
          <p:cNvSpPr txBox="1"/>
          <p:nvPr/>
        </p:nvSpPr>
        <p:spPr>
          <a:xfrm>
            <a:off x="-23868" y="1212398"/>
            <a:ext cx="9037290" cy="3739485"/>
          </a:xfrm>
          <a:prstGeom prst="rect">
            <a:avLst/>
          </a:prstGeom>
          <a:noFill/>
        </p:spPr>
        <p:txBody>
          <a:bodyPr wrap="square" rtlCol="0">
            <a:spAutoFit/>
          </a:bodyPr>
          <a:lstStyle/>
          <a:p>
            <a:pPr indent="266700" algn="just"/>
            <a:r>
              <a:rPr lang="zh-CN" altLang="en-US" sz="2400" b="1" kern="100" dirty="0">
                <a:effectLst/>
                <a:latin typeface="Times New Roman" panose="02020603050405020304" pitchFamily="18" charset="0"/>
                <a:ea typeface="宋体" pitchFamily="2" charset="-122"/>
              </a:rPr>
              <a:t>开发环境</a:t>
            </a:r>
            <a:r>
              <a:rPr lang="en-US" altLang="zh-CN" sz="2400" b="1" kern="100" dirty="0" err="1">
                <a:effectLst/>
                <a:latin typeface="Times New Roman" panose="02020603050405020304" pitchFamily="18" charset="0"/>
                <a:ea typeface="宋体" pitchFamily="2" charset="-122"/>
              </a:rPr>
              <a:t>Pycharm</a:t>
            </a:r>
            <a:r>
              <a:rPr lang="zh-CN" altLang="en-US" sz="2400" b="1" kern="100" dirty="0">
                <a:effectLst/>
                <a:latin typeface="Times New Roman" panose="02020603050405020304" pitchFamily="18" charset="0"/>
                <a:ea typeface="宋体" pitchFamily="2" charset="-122"/>
              </a:rPr>
              <a:t>安装步骤：</a:t>
            </a:r>
            <a:endParaRPr lang="en-US" altLang="zh-CN" sz="2400" b="1" kern="100" dirty="0">
              <a:effectLst/>
              <a:latin typeface="Times New Roman" panose="02020603050405020304" pitchFamily="18" charset="0"/>
              <a:ea typeface="宋体" pitchFamily="2" charset="-122"/>
            </a:endParaRPr>
          </a:p>
          <a:p>
            <a:pPr marL="342900" indent="-342900" algn="just" latinLnBrk="1">
              <a:buFont typeface="Wingdings" panose="05000000000000000000" pitchFamily="2" charset="2"/>
              <a:buChar char="p"/>
            </a:pPr>
            <a:r>
              <a:rPr lang="zh-CN" altLang="en-US" sz="2400" kern="100" dirty="0">
                <a:latin typeface="Times New Roman" panose="02020603050405020304" pitchFamily="18" charset="0"/>
                <a:ea typeface="宋体" pitchFamily="2" charset="-122"/>
              </a:rPr>
              <a:t>进入网站</a:t>
            </a:r>
            <a:r>
              <a:rPr lang="en-US" altLang="zh-CN" sz="2400" kern="100" dirty="0">
                <a:latin typeface="Times New Roman" panose="02020603050405020304" pitchFamily="18" charset="0"/>
                <a:ea typeface="宋体" pitchFamily="2" charset="-122"/>
                <a:hlinkClick r:id="rId1"/>
              </a:rPr>
              <a:t>https://www.jetbrains.com/pycharm/download/#section=windows</a:t>
            </a:r>
            <a:r>
              <a:rPr lang="en-US" altLang="zh-CN" sz="2400" kern="100" dirty="0">
                <a:latin typeface="Times New Roman" panose="02020603050405020304" pitchFamily="18" charset="0"/>
                <a:ea typeface="宋体" pitchFamily="2" charset="-122"/>
              </a:rPr>
              <a:t>, </a:t>
            </a:r>
            <a:r>
              <a:rPr lang="zh-CN" altLang="zh-CN" sz="2400" kern="100" dirty="0">
                <a:latin typeface="Times New Roman" panose="02020603050405020304" pitchFamily="18" charset="0"/>
                <a:ea typeface="宋体" pitchFamily="2" charset="-122"/>
              </a:rPr>
              <a:t>选择下载免费的</a:t>
            </a:r>
            <a:r>
              <a:rPr lang="en-US" altLang="zh-CN" sz="2400" kern="100" dirty="0">
                <a:latin typeface="Times New Roman" panose="02020603050405020304" pitchFamily="18" charset="0"/>
                <a:ea typeface="宋体" pitchFamily="2" charset="-122"/>
              </a:rPr>
              <a:t>Community</a:t>
            </a:r>
            <a:r>
              <a:rPr lang="zh-CN" altLang="zh-CN" sz="2400" kern="100" dirty="0">
                <a:latin typeface="Times New Roman" panose="02020603050405020304" pitchFamily="18" charset="0"/>
                <a:ea typeface="宋体" pitchFamily="2" charset="-122"/>
              </a:rPr>
              <a:t>版本。本书中使用的版本为</a:t>
            </a:r>
            <a:r>
              <a:rPr lang="en-US" altLang="zh-CN" sz="2400" kern="100" dirty="0">
                <a:latin typeface="Times New Roman" panose="02020603050405020304" pitchFamily="18" charset="0"/>
                <a:ea typeface="宋体" pitchFamily="2" charset="-122"/>
              </a:rPr>
              <a:t>Community Edition 2019.1.2 x64</a:t>
            </a:r>
            <a:r>
              <a:rPr lang="zh-CN" altLang="zh-CN" sz="2400" kern="100" dirty="0">
                <a:latin typeface="Times New Roman" panose="02020603050405020304" pitchFamily="18" charset="0"/>
                <a:ea typeface="宋体" pitchFamily="2" charset="-122"/>
              </a:rPr>
              <a:t>。下载完成后运行安装程序安装。</a:t>
            </a:r>
            <a:endParaRPr lang="zh-CN" altLang="zh-CN" sz="2400" kern="100" dirty="0">
              <a:latin typeface="Times New Roman" panose="02020603050405020304" pitchFamily="18" charset="0"/>
              <a:ea typeface="宋体" pitchFamily="2" charset="-122"/>
            </a:endParaRPr>
          </a:p>
          <a:p>
            <a:pPr marL="285750" indent="-285750" algn="just">
              <a:buFont typeface="Wingdings" panose="05000000000000000000" pitchFamily="2" charset="2"/>
              <a:buChar char="p"/>
            </a:pPr>
            <a:r>
              <a:rPr lang="zh-CN" altLang="zh-CN" sz="2400" kern="100" dirty="0">
                <a:latin typeface="Times New Roman" panose="02020603050405020304" pitchFamily="18" charset="0"/>
                <a:ea typeface="宋体" pitchFamily="2" charset="-122"/>
              </a:rPr>
              <a:t>安装完成后，运行</a:t>
            </a:r>
            <a:r>
              <a:rPr lang="en-US" altLang="zh-CN" sz="2400" kern="100" dirty="0">
                <a:latin typeface="Times New Roman" panose="02020603050405020304" pitchFamily="18" charset="0"/>
                <a:ea typeface="宋体" pitchFamily="2" charset="-122"/>
              </a:rPr>
              <a:t>PyCharm</a:t>
            </a:r>
            <a:r>
              <a:rPr lang="zh-CN" altLang="zh-CN" sz="2400" kern="100" dirty="0">
                <a:latin typeface="Times New Roman" panose="02020603050405020304" pitchFamily="18" charset="0"/>
                <a:ea typeface="宋体" pitchFamily="2" charset="-122"/>
              </a:rPr>
              <a:t>进入图</a:t>
            </a:r>
            <a:r>
              <a:rPr lang="en-US" altLang="zh-CN" sz="2400" kern="100" dirty="0">
                <a:latin typeface="Times New Roman" panose="02020603050405020304" pitchFamily="18" charset="0"/>
                <a:ea typeface="宋体" pitchFamily="2" charset="-122"/>
              </a:rPr>
              <a:t>2.4</a:t>
            </a:r>
            <a:r>
              <a:rPr lang="zh-CN" altLang="zh-CN" sz="2400" kern="100" dirty="0">
                <a:latin typeface="Times New Roman" panose="02020603050405020304" pitchFamily="18" charset="0"/>
                <a:ea typeface="宋体" pitchFamily="2" charset="-122"/>
              </a:rPr>
              <a:t>所示界面，选择</a:t>
            </a:r>
            <a:r>
              <a:rPr lang="en-US" altLang="zh-CN" sz="2400" kern="100" dirty="0">
                <a:solidFill>
                  <a:srgbClr val="FF0000"/>
                </a:solidFill>
                <a:latin typeface="Times New Roman" panose="02020603050405020304" pitchFamily="18" charset="0"/>
                <a:ea typeface="宋体" pitchFamily="2" charset="-122"/>
              </a:rPr>
              <a:t>Create New Project</a:t>
            </a:r>
            <a:r>
              <a:rPr lang="zh-CN" altLang="zh-CN" sz="2400" kern="100" dirty="0">
                <a:latin typeface="Times New Roman" panose="02020603050405020304" pitchFamily="18" charset="0"/>
                <a:ea typeface="宋体" pitchFamily="2" charset="-122"/>
              </a:rPr>
              <a:t>创建一个项目，选择项目存放路径，输入项目名称为</a:t>
            </a:r>
            <a:r>
              <a:rPr lang="en-US" altLang="zh-CN" sz="2400" kern="100" dirty="0" err="1">
                <a:latin typeface="Times New Roman" panose="02020603050405020304" pitchFamily="18" charset="0"/>
                <a:ea typeface="宋体" pitchFamily="2" charset="-122"/>
              </a:rPr>
              <a:t>hello_world</a:t>
            </a:r>
            <a:r>
              <a:rPr lang="zh-CN" altLang="zh-CN" sz="2400" kern="100" dirty="0">
                <a:latin typeface="Times New Roman" panose="02020603050405020304" pitchFamily="18" charset="0"/>
                <a:ea typeface="宋体" pitchFamily="2" charset="-122"/>
              </a:rPr>
              <a:t>后创建项目，进入代码编辑界面。</a:t>
            </a:r>
            <a:endParaRPr lang="en-US" altLang="zh-CN" sz="2400" kern="100" dirty="0">
              <a:latin typeface="Times New Roman" panose="02020603050405020304" pitchFamily="18" charset="0"/>
              <a:ea typeface="宋体" pitchFamily="2" charset="-122"/>
            </a:endParaRPr>
          </a:p>
          <a:p>
            <a:pPr algn="just"/>
            <a:endParaRPr lang="zh-CN" altLang="zh-CN" sz="2400" kern="100" dirty="0">
              <a:latin typeface="Times New Roman" panose="02020603050405020304" pitchFamily="18" charset="0"/>
              <a:ea typeface="宋体" pitchFamily="2" charset="-122"/>
            </a:endParaRPr>
          </a:p>
          <a:p>
            <a:pPr algn="just"/>
            <a:endParaRPr lang="en-US" altLang="zh-CN" sz="2400" kern="100" dirty="0">
              <a:latin typeface="Times New Roman" panose="02020603050405020304" pitchFamily="18" charset="0"/>
              <a:ea typeface="宋体" pitchFamily="2" charset="-122"/>
            </a:endParaRPr>
          </a:p>
          <a:p>
            <a:endParaRPr lang="zh-CN" altLang="en-US" dirty="0"/>
          </a:p>
        </p:txBody>
      </p:sp>
      <p:pic>
        <p:nvPicPr>
          <p:cNvPr id="10" name="图片 9" descr="{ZIH3T8BOA9F]632{0O}E1S"/>
          <p:cNvPicPr>
            <a:picLocks noChangeAspect="1"/>
          </p:cNvPicPr>
          <p:nvPr/>
        </p:nvPicPr>
        <p:blipFill>
          <a:blip r:embed="rId2"/>
          <a:stretch>
            <a:fillRect/>
          </a:stretch>
        </p:blipFill>
        <p:spPr>
          <a:xfrm>
            <a:off x="2052514" y="3861842"/>
            <a:ext cx="4573598" cy="2637706"/>
          </a:xfrm>
          <a:prstGeom prst="rect">
            <a:avLst/>
          </a:prstGeom>
          <a:noFill/>
          <a:ln>
            <a:noFill/>
          </a:ln>
        </p:spPr>
      </p:pic>
      <p:sp>
        <p:nvSpPr>
          <p:cNvPr id="3" name="文本框 2"/>
          <p:cNvSpPr txBox="1"/>
          <p:nvPr/>
        </p:nvSpPr>
        <p:spPr>
          <a:xfrm>
            <a:off x="2285995" y="6509519"/>
            <a:ext cx="4573598" cy="369332"/>
          </a:xfrm>
          <a:prstGeom prst="rect">
            <a:avLst/>
          </a:prstGeom>
          <a:noFill/>
        </p:spPr>
        <p:txBody>
          <a:bodyPr wrap="square" rtlCol="0">
            <a:spAutoFit/>
          </a:bodyPr>
          <a:lstStyle/>
          <a:p>
            <a:pPr algn="ctr"/>
            <a:r>
              <a:rPr lang="zh-CN" altLang="en-US" sz="1800" kern="0" dirty="0">
                <a:latin typeface="Times New Roman" panose="02020603050405020304" pitchFamily="18" charset="0"/>
                <a:cs typeface="Times New Roman" panose="02020603050405020304" pitchFamily="18" charset="0"/>
              </a:rPr>
              <a:t>图</a:t>
            </a:r>
            <a:r>
              <a:rPr lang="en-US" altLang="zh-CN" sz="1800" kern="0" dirty="0">
                <a:latin typeface="Times New Roman" panose="02020603050405020304" pitchFamily="18" charset="0"/>
                <a:cs typeface="Times New Roman" panose="02020603050405020304" pitchFamily="18" charset="0"/>
              </a:rPr>
              <a:t>2.4 </a:t>
            </a:r>
            <a:r>
              <a:rPr lang="zh-CN" altLang="zh-CN" sz="1800" kern="0" dirty="0">
                <a:latin typeface="Times New Roman" panose="02020603050405020304" pitchFamily="18" charset="0"/>
                <a:cs typeface="Times New Roman" panose="02020603050405020304" pitchFamily="18" charset="0"/>
              </a:rPr>
              <a:t>创建项目</a:t>
            </a:r>
            <a:endParaRPr lang="zh-CN" altLang="en-US" sz="1800" kern="0" dirty="0">
              <a:latin typeface="Times New Roman" panose="02020603050405020304" pitchFamily="18" charset="0"/>
              <a:cs typeface="Times New Roman" panose="02020603050405020304" pitchFamily="18" charset="0"/>
            </a:endParaRPr>
          </a:p>
        </p:txBody>
      </p:sp>
    </p:spTree>
  </p:cSld>
  <p:clrMapOvr>
    <a:masterClrMapping/>
  </p:clrMapOvr>
  <p:transition spd="slow" advClick="0" advTm="0">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92076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8" name="文本框 17"/>
          <p:cNvSpPr txBox="1"/>
          <p:nvPr/>
        </p:nvSpPr>
        <p:spPr>
          <a:xfrm>
            <a:off x="-23868" y="1212398"/>
            <a:ext cx="9037290" cy="2262158"/>
          </a:xfrm>
          <a:prstGeom prst="rect">
            <a:avLst/>
          </a:prstGeom>
          <a:noFill/>
        </p:spPr>
        <p:txBody>
          <a:bodyPr wrap="square" rtlCol="0">
            <a:spAutoFit/>
          </a:bodyPr>
          <a:lstStyle/>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右键点击左上角项目名称选择</a:t>
            </a:r>
            <a:r>
              <a:rPr lang="en-US" altLang="zh-CN" sz="2400" kern="100" dirty="0">
                <a:solidFill>
                  <a:srgbClr val="FF0000"/>
                </a:solidFill>
                <a:effectLst/>
                <a:latin typeface="Times New Roman" panose="02020603050405020304" pitchFamily="18" charset="0"/>
                <a:ea typeface="宋体" pitchFamily="2" charset="-122"/>
              </a:rPr>
              <a:t>New</a:t>
            </a:r>
            <a:r>
              <a:rPr lang="zh-CN" altLang="zh-CN" sz="2400" kern="100" dirty="0">
                <a:solidFill>
                  <a:srgbClr val="FF0000"/>
                </a:solidFill>
                <a:effectLst/>
                <a:latin typeface="Times New Roman" panose="02020603050405020304" pitchFamily="18" charset="0"/>
                <a:ea typeface="宋体" pitchFamily="2" charset="-122"/>
              </a:rPr>
              <a:t>→</a:t>
            </a:r>
            <a:r>
              <a:rPr lang="en-US" altLang="zh-CN" sz="2400" kern="100" dirty="0">
                <a:solidFill>
                  <a:srgbClr val="FF0000"/>
                </a:solidFill>
                <a:effectLst/>
                <a:latin typeface="Times New Roman" panose="02020603050405020304" pitchFamily="18" charset="0"/>
                <a:ea typeface="宋体" pitchFamily="2" charset="-122"/>
              </a:rPr>
              <a:t>Python File</a:t>
            </a:r>
            <a:r>
              <a:rPr lang="zh-CN" altLang="zh-CN" sz="2400" kern="100" dirty="0">
                <a:effectLst/>
                <a:latin typeface="Times New Roman" panose="02020603050405020304" pitchFamily="18" charset="0"/>
                <a:ea typeface="宋体" pitchFamily="2" charset="-122"/>
              </a:rPr>
              <a:t>创建一个新的</a:t>
            </a:r>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rPr>
              <a:t>文件</a:t>
            </a:r>
            <a:r>
              <a:rPr lang="zh-CN" altLang="en-US"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rPr>
              <a:t>文件后缀名</a:t>
            </a:r>
            <a:r>
              <a:rPr lang="en-US" altLang="zh-CN" sz="2400" kern="100" dirty="0">
                <a:effectLst/>
                <a:latin typeface="Times New Roman" panose="02020603050405020304" pitchFamily="18" charset="0"/>
                <a:ea typeface="宋体" pitchFamily="2" charset="-122"/>
              </a:rPr>
              <a:t>.</a:t>
            </a:r>
            <a:r>
              <a:rPr lang="en-US" altLang="zh-CN" sz="2400" kern="100" dirty="0" err="1">
                <a:effectLst/>
                <a:latin typeface="Times New Roman" panose="02020603050405020304" pitchFamily="18" charset="0"/>
                <a:ea typeface="宋体" pitchFamily="2" charset="-122"/>
              </a:rPr>
              <a:t>py</a:t>
            </a:r>
            <a:r>
              <a:rPr lang="zh-CN" altLang="zh-CN" sz="2400" kern="100" dirty="0">
                <a:effectLst/>
                <a:latin typeface="Times New Roman" panose="02020603050405020304" pitchFamily="18" charset="0"/>
                <a:ea typeface="宋体" pitchFamily="2" charset="-122"/>
              </a:rPr>
              <a:t>表明这是一个</a:t>
            </a:r>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rPr>
              <a:t>文件</a:t>
            </a:r>
            <a:r>
              <a:rPr lang="zh-CN" altLang="zh-CN" sz="1800" kern="100" dirty="0">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algn="just"/>
            <a:endParaRPr lang="en-US" altLang="zh-CN" sz="2400" kern="100" dirty="0">
              <a:effectLst/>
              <a:latin typeface="Times New Roman" panose="02020603050405020304" pitchFamily="18" charset="0"/>
              <a:ea typeface="宋体" pitchFamily="2" charset="-122"/>
            </a:endParaRPr>
          </a:p>
          <a:p>
            <a:pPr marL="342900" indent="-342900" algn="just">
              <a:buFont typeface="Wingdings" panose="05000000000000000000" pitchFamily="2" charset="2"/>
              <a:buChar char="p"/>
            </a:pPr>
            <a:endParaRPr lang="en-US" altLang="zh-CN" sz="2400" kern="100" dirty="0">
              <a:effectLst/>
              <a:latin typeface="Times New Roman" panose="02020603050405020304" pitchFamily="18" charset="0"/>
              <a:ea typeface="宋体" pitchFamily="2" charset="-122"/>
            </a:endParaRPr>
          </a:p>
          <a:p>
            <a:pPr algn="just"/>
            <a:endParaRPr lang="en-US" altLang="zh-CN" sz="2400" kern="100" dirty="0">
              <a:latin typeface="Times New Roman" panose="02020603050405020304" pitchFamily="18" charset="0"/>
              <a:ea typeface="宋体" pitchFamily="2" charset="-122"/>
            </a:endParaRPr>
          </a:p>
          <a:p>
            <a:endParaRPr lang="zh-CN" altLang="en-US" dirty="0"/>
          </a:p>
        </p:txBody>
      </p:sp>
      <p:sp>
        <p:nvSpPr>
          <p:cNvPr id="4" name="文本框 3"/>
          <p:cNvSpPr txBox="1"/>
          <p:nvPr/>
        </p:nvSpPr>
        <p:spPr>
          <a:xfrm>
            <a:off x="2910601" y="4366838"/>
            <a:ext cx="3168352" cy="369332"/>
          </a:xfrm>
          <a:prstGeom prst="rect">
            <a:avLst/>
          </a:prstGeom>
          <a:noFill/>
        </p:spPr>
        <p:txBody>
          <a:bodyPr wrap="square" rtlCol="0">
            <a:spAutoFit/>
          </a:bodyPr>
          <a:lstStyle>
            <a:defPPr>
              <a:defRPr lang="zh-CN"/>
            </a:defPPr>
            <a:lvl1pPr algn="ctr">
              <a:defRPr sz="1800" kern="0">
                <a:latin typeface="Times New Roman" panose="02020603050405020304" pitchFamily="18" charset="0"/>
                <a:cs typeface="Times New Roman" panose="02020603050405020304" pitchFamily="18" charset="0"/>
              </a:defRPr>
            </a:lvl1pPr>
          </a:lstStyle>
          <a:p>
            <a:r>
              <a:rPr lang="zh-CN" altLang="en-US" dirty="0"/>
              <a:t>图</a:t>
            </a:r>
            <a:r>
              <a:rPr lang="en-US" altLang="zh-CN" dirty="0"/>
              <a:t>2.5 </a:t>
            </a:r>
            <a:r>
              <a:rPr lang="zh-CN" altLang="zh-CN" dirty="0"/>
              <a:t>创建</a:t>
            </a:r>
            <a:r>
              <a:rPr lang="en-US" altLang="zh-CN" dirty="0"/>
              <a:t>Python</a:t>
            </a:r>
            <a:r>
              <a:rPr lang="zh-CN" altLang="zh-CN" dirty="0"/>
              <a:t>文件</a:t>
            </a:r>
            <a:endParaRPr lang="zh-CN" altLang="en-US" dirty="0"/>
          </a:p>
        </p:txBody>
      </p:sp>
      <p:pic>
        <p:nvPicPr>
          <p:cNvPr id="9" name="图片 8"/>
          <p:cNvPicPr>
            <a:picLocks noChangeAspect="1"/>
          </p:cNvPicPr>
          <p:nvPr/>
        </p:nvPicPr>
        <p:blipFill>
          <a:blip r:embed="rId1"/>
          <a:stretch>
            <a:fillRect/>
          </a:stretch>
        </p:blipFill>
        <p:spPr>
          <a:xfrm>
            <a:off x="1044402" y="2104616"/>
            <a:ext cx="6429336" cy="2152695"/>
          </a:xfrm>
          <a:prstGeom prst="rect">
            <a:avLst/>
          </a:prstGeom>
          <a:noFill/>
          <a:ln>
            <a:noFill/>
          </a:ln>
        </p:spPr>
      </p:pic>
      <p:sp>
        <p:nvSpPr>
          <p:cNvPr id="11" name="文本框 10"/>
          <p:cNvSpPr txBox="1"/>
          <p:nvPr/>
        </p:nvSpPr>
        <p:spPr>
          <a:xfrm>
            <a:off x="84228" y="4653930"/>
            <a:ext cx="8977132" cy="1938992"/>
          </a:xfrm>
          <a:prstGeom prst="rect">
            <a:avLst/>
          </a:prstGeom>
          <a:noFill/>
        </p:spPr>
        <p:txBody>
          <a:bodyPr wrap="square">
            <a:spAutoFit/>
          </a:bodyPr>
          <a:lstStyle/>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在界面右边空白处输入代码</a:t>
            </a:r>
            <a:r>
              <a:rPr lang="en-US" altLang="zh-CN" sz="2400" kern="100" dirty="0">
                <a:effectLst/>
                <a:latin typeface="Times New Roman" panose="02020603050405020304" pitchFamily="18" charset="0"/>
                <a:ea typeface="宋体" pitchFamily="2" charset="-122"/>
              </a:rPr>
              <a:t>print(‘Hello World’)</a:t>
            </a:r>
            <a:r>
              <a:rPr lang="zh-CN" altLang="zh-CN" sz="2400" kern="100" dirty="0">
                <a:effectLst/>
                <a:latin typeface="Times New Roman" panose="02020603050405020304" pitchFamily="18" charset="0"/>
                <a:ea typeface="宋体" pitchFamily="2" charset="-122"/>
              </a:rPr>
              <a:t>，在空白处右键单击，选择</a:t>
            </a:r>
            <a:r>
              <a:rPr lang="en-US" altLang="zh-CN" sz="2400" kern="100" dirty="0">
                <a:solidFill>
                  <a:srgbClr val="FF0000"/>
                </a:solidFill>
                <a:effectLst/>
                <a:latin typeface="Times New Roman" panose="02020603050405020304" pitchFamily="18" charset="0"/>
                <a:ea typeface="宋体" pitchFamily="2" charset="-122"/>
              </a:rPr>
              <a:t>Run</a:t>
            </a:r>
            <a:r>
              <a:rPr lang="en-US" altLang="zh-CN" sz="2400" kern="100" dirty="0">
                <a:effectLst/>
                <a:latin typeface="Times New Roman" panose="02020603050405020304" pitchFamily="18" charset="0"/>
                <a:ea typeface="宋体" pitchFamily="2" charset="-122"/>
              </a:rPr>
              <a:t> ‘hello’ </a:t>
            </a:r>
            <a:r>
              <a:rPr lang="zh-CN" altLang="zh-CN" sz="2400" kern="100" dirty="0">
                <a:effectLst/>
                <a:latin typeface="Times New Roman" panose="02020603050405020304" pitchFamily="18" charset="0"/>
                <a:ea typeface="宋体" pitchFamily="2" charset="-122"/>
              </a:rPr>
              <a:t>或按下组合键</a:t>
            </a:r>
            <a:r>
              <a:rPr lang="en-US" altLang="zh-CN" sz="2400" kern="100" dirty="0">
                <a:solidFill>
                  <a:srgbClr val="FF0000"/>
                </a:solidFill>
                <a:effectLst/>
                <a:latin typeface="Times New Roman" panose="02020603050405020304" pitchFamily="18" charset="0"/>
                <a:ea typeface="宋体" pitchFamily="2" charset="-122"/>
              </a:rPr>
              <a:t>Ctrl+Shift+F10</a:t>
            </a:r>
            <a:r>
              <a:rPr lang="zh-CN" altLang="zh-CN" sz="2400" kern="100" dirty="0">
                <a:effectLst/>
                <a:latin typeface="Times New Roman" panose="02020603050405020304" pitchFamily="18" charset="0"/>
                <a:ea typeface="宋体" pitchFamily="2" charset="-122"/>
              </a:rPr>
              <a:t>运行代码</a:t>
            </a:r>
            <a:r>
              <a:rPr lang="zh-CN" altLang="en-US"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rPr>
              <a:t>窗口内的</a:t>
            </a:r>
            <a:r>
              <a:rPr lang="en-US" altLang="zh-CN" sz="2400" kern="100" dirty="0">
                <a:effectLst/>
                <a:latin typeface="Times New Roman" panose="02020603050405020304" pitchFamily="18" charset="0"/>
                <a:ea typeface="宋体" pitchFamily="2" charset="-122"/>
              </a:rPr>
              <a:t> Process finished with exit code 0 </a:t>
            </a:r>
            <a:r>
              <a:rPr lang="zh-CN" altLang="zh-CN" sz="2400" kern="100" dirty="0">
                <a:effectLst/>
                <a:latin typeface="Times New Roman" panose="02020603050405020304" pitchFamily="18" charset="0"/>
                <a:ea typeface="宋体" pitchFamily="2" charset="-122"/>
              </a:rPr>
              <a:t>代表程序正常运行后结束。</a:t>
            </a:r>
            <a:endParaRPr lang="en-US" altLang="zh-CN" sz="2400" kern="100" dirty="0">
              <a:effectLst/>
              <a:latin typeface="Times New Roman" panose="02020603050405020304" pitchFamily="18" charset="0"/>
              <a:ea typeface="宋体" pitchFamily="2" charset="-122"/>
            </a:endParaRPr>
          </a:p>
          <a:p>
            <a:pPr algn="just"/>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92076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8" name="文本框 17"/>
          <p:cNvSpPr txBox="1"/>
          <p:nvPr/>
        </p:nvSpPr>
        <p:spPr>
          <a:xfrm>
            <a:off x="-23868" y="1212398"/>
            <a:ext cx="9037290" cy="3370153"/>
          </a:xfrm>
          <a:prstGeom prst="rect">
            <a:avLst/>
          </a:prstGeom>
          <a:noFill/>
        </p:spPr>
        <p:txBody>
          <a:bodyPr wrap="square" rtlCol="0">
            <a:spAutoFit/>
          </a:bodyPr>
          <a:lstStyle/>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在界面右边空白处输入代码</a:t>
            </a:r>
            <a:r>
              <a:rPr lang="en-US" altLang="zh-CN" sz="2400" kern="100" dirty="0">
                <a:effectLst/>
                <a:latin typeface="Times New Roman" panose="02020603050405020304" pitchFamily="18" charset="0"/>
                <a:ea typeface="宋体" pitchFamily="2" charset="-122"/>
              </a:rPr>
              <a:t>print(‘Hello World’)</a:t>
            </a:r>
            <a:r>
              <a:rPr lang="zh-CN" altLang="zh-CN" sz="2400" kern="100" dirty="0">
                <a:effectLst/>
                <a:latin typeface="Times New Roman" panose="02020603050405020304" pitchFamily="18" charset="0"/>
                <a:ea typeface="宋体" pitchFamily="2" charset="-122"/>
              </a:rPr>
              <a:t>，在空白处右键单击，选择</a:t>
            </a:r>
            <a:r>
              <a:rPr lang="en-US" altLang="zh-CN" sz="2400" kern="100" dirty="0">
                <a:solidFill>
                  <a:srgbClr val="FF0000"/>
                </a:solidFill>
                <a:effectLst/>
                <a:latin typeface="Times New Roman" panose="02020603050405020304" pitchFamily="18" charset="0"/>
                <a:ea typeface="宋体" pitchFamily="2" charset="-122"/>
              </a:rPr>
              <a:t>Run</a:t>
            </a:r>
            <a:r>
              <a:rPr lang="en-US" altLang="zh-CN" sz="2400" kern="100" dirty="0">
                <a:effectLst/>
                <a:latin typeface="Times New Roman" panose="02020603050405020304" pitchFamily="18" charset="0"/>
                <a:ea typeface="宋体" pitchFamily="2" charset="-122"/>
              </a:rPr>
              <a:t> ‘hello’ </a:t>
            </a:r>
            <a:r>
              <a:rPr lang="zh-CN" altLang="zh-CN" sz="2400" kern="100" dirty="0">
                <a:effectLst/>
                <a:latin typeface="Times New Roman" panose="02020603050405020304" pitchFamily="18" charset="0"/>
                <a:ea typeface="宋体" pitchFamily="2" charset="-122"/>
              </a:rPr>
              <a:t>或按下组合键</a:t>
            </a:r>
            <a:r>
              <a:rPr lang="en-US" altLang="zh-CN" sz="2400" kern="100" dirty="0">
                <a:solidFill>
                  <a:srgbClr val="FF0000"/>
                </a:solidFill>
                <a:effectLst/>
                <a:latin typeface="Times New Roman" panose="02020603050405020304" pitchFamily="18" charset="0"/>
                <a:ea typeface="宋体" pitchFamily="2" charset="-122"/>
              </a:rPr>
              <a:t>Ctrl+Shift+F10</a:t>
            </a:r>
            <a:r>
              <a:rPr lang="zh-CN" altLang="zh-CN" sz="2400" kern="100" dirty="0">
                <a:effectLst/>
                <a:latin typeface="Times New Roman" panose="02020603050405020304" pitchFamily="18" charset="0"/>
                <a:ea typeface="宋体" pitchFamily="2" charset="-122"/>
              </a:rPr>
              <a:t>运行代码</a:t>
            </a:r>
            <a:r>
              <a:rPr lang="zh-CN" altLang="en-US"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rPr>
              <a:t>窗口内的</a:t>
            </a:r>
            <a:r>
              <a:rPr lang="en-US" altLang="zh-CN" sz="2400" kern="100" dirty="0">
                <a:effectLst/>
                <a:latin typeface="Times New Roman" panose="02020603050405020304" pitchFamily="18" charset="0"/>
                <a:ea typeface="宋体" pitchFamily="2" charset="-122"/>
              </a:rPr>
              <a:t> Process finished with exit code 0 </a:t>
            </a:r>
            <a:r>
              <a:rPr lang="zh-CN" altLang="zh-CN" sz="2400" kern="100" dirty="0">
                <a:effectLst/>
                <a:latin typeface="Times New Roman" panose="02020603050405020304" pitchFamily="18" charset="0"/>
                <a:ea typeface="宋体" pitchFamily="2" charset="-122"/>
              </a:rPr>
              <a:t>代表程序正常运行后结束。</a:t>
            </a:r>
            <a:endParaRPr lang="en-US" altLang="zh-CN" sz="2400" kern="100" dirty="0">
              <a:effectLst/>
              <a:latin typeface="Times New Roman" panose="02020603050405020304" pitchFamily="18" charset="0"/>
              <a:ea typeface="宋体" pitchFamily="2" charset="-122"/>
            </a:endParaRPr>
          </a:p>
          <a:p>
            <a:pPr algn="just"/>
            <a:endParaRPr lang="en-US" altLang="zh-CN" sz="2400" kern="100" dirty="0">
              <a:effectLst/>
              <a:latin typeface="Times New Roman" panose="02020603050405020304" pitchFamily="18" charset="0"/>
              <a:ea typeface="宋体" pitchFamily="2" charset="-122"/>
            </a:endParaRPr>
          </a:p>
          <a:p>
            <a:pPr algn="just"/>
            <a:endParaRPr lang="en-US" altLang="zh-CN" sz="2400" kern="100" dirty="0">
              <a:effectLst/>
              <a:latin typeface="Times New Roman" panose="02020603050405020304" pitchFamily="18" charset="0"/>
              <a:ea typeface="宋体" pitchFamily="2" charset="-122"/>
            </a:endParaRPr>
          </a:p>
          <a:p>
            <a:pPr marL="342900" indent="-342900" algn="just">
              <a:buFont typeface="Wingdings" panose="05000000000000000000" pitchFamily="2" charset="2"/>
              <a:buChar char="p"/>
            </a:pPr>
            <a:endParaRPr lang="en-US" altLang="zh-CN" sz="2400" kern="100" dirty="0">
              <a:effectLst/>
              <a:latin typeface="Times New Roman" panose="02020603050405020304" pitchFamily="18" charset="0"/>
              <a:ea typeface="宋体" pitchFamily="2" charset="-122"/>
            </a:endParaRPr>
          </a:p>
          <a:p>
            <a:pPr algn="just"/>
            <a:endParaRPr lang="en-US" altLang="zh-CN" sz="2400" kern="100" dirty="0">
              <a:latin typeface="Times New Roman" panose="02020603050405020304" pitchFamily="18" charset="0"/>
              <a:ea typeface="宋体" pitchFamily="2" charset="-122"/>
            </a:endParaRPr>
          </a:p>
          <a:p>
            <a:endParaRPr lang="zh-CN" altLang="en-US" dirty="0"/>
          </a:p>
        </p:txBody>
      </p:sp>
      <p:sp>
        <p:nvSpPr>
          <p:cNvPr id="4" name="文本框 3"/>
          <p:cNvSpPr txBox="1"/>
          <p:nvPr/>
        </p:nvSpPr>
        <p:spPr>
          <a:xfrm>
            <a:off x="2556570" y="6445236"/>
            <a:ext cx="3744416" cy="369332"/>
          </a:xfrm>
          <a:prstGeom prst="rect">
            <a:avLst/>
          </a:prstGeom>
          <a:noFill/>
        </p:spPr>
        <p:txBody>
          <a:bodyPr wrap="square" rtlCol="0">
            <a:spAutoFit/>
          </a:bodyPr>
          <a:lstStyle/>
          <a:p>
            <a:r>
              <a:rPr lang="zh-CN" altLang="en-US" sz="1800" kern="0" dirty="0">
                <a:latin typeface="Times New Roman" panose="02020603050405020304" pitchFamily="18" charset="0"/>
                <a:cs typeface="Times New Roman" panose="02020603050405020304" pitchFamily="18" charset="0"/>
              </a:rPr>
              <a:t>图</a:t>
            </a:r>
            <a:r>
              <a:rPr lang="en-US" altLang="zh-CN" sz="1800" kern="0" dirty="0">
                <a:latin typeface="Times New Roman" panose="02020603050405020304" pitchFamily="18" charset="0"/>
                <a:cs typeface="Times New Roman" panose="02020603050405020304" pitchFamily="18" charset="0"/>
              </a:rPr>
              <a:t>2.6 </a:t>
            </a:r>
            <a:r>
              <a:rPr lang="zh-CN" altLang="zh-CN" sz="1800" kern="0" dirty="0">
                <a:latin typeface="Times New Roman" panose="02020603050405020304" pitchFamily="18" charset="0"/>
                <a:cs typeface="Times New Roman" panose="02020603050405020304" pitchFamily="18" charset="0"/>
              </a:rPr>
              <a:t>在</a:t>
            </a:r>
            <a:r>
              <a:rPr lang="en-US" altLang="zh-CN" sz="1800" kern="0" dirty="0">
                <a:latin typeface="Times New Roman" panose="02020603050405020304" pitchFamily="18" charset="0"/>
                <a:cs typeface="Times New Roman" panose="02020603050405020304" pitchFamily="18" charset="0"/>
              </a:rPr>
              <a:t>PyCharm</a:t>
            </a:r>
            <a:r>
              <a:rPr lang="zh-CN" altLang="zh-CN" sz="1800" kern="0" dirty="0">
                <a:latin typeface="Times New Roman" panose="02020603050405020304" pitchFamily="18" charset="0"/>
                <a:cs typeface="Times New Roman" panose="02020603050405020304" pitchFamily="18" charset="0"/>
              </a:rPr>
              <a:t>中运行</a:t>
            </a:r>
            <a:r>
              <a:rPr lang="en-US" altLang="zh-CN" sz="1800" kern="0" dirty="0">
                <a:latin typeface="Times New Roman" panose="02020603050405020304" pitchFamily="18" charset="0"/>
                <a:cs typeface="Times New Roman" panose="02020603050405020304" pitchFamily="18" charset="0"/>
              </a:rPr>
              <a:t>Python</a:t>
            </a:r>
            <a:r>
              <a:rPr lang="zh-CN" altLang="zh-CN" sz="1800" kern="0" dirty="0">
                <a:latin typeface="Times New Roman" panose="02020603050405020304" pitchFamily="18" charset="0"/>
                <a:cs typeface="Times New Roman" panose="02020603050405020304" pitchFamily="18" charset="0"/>
              </a:rPr>
              <a:t>文件</a:t>
            </a:r>
            <a:endParaRPr lang="zh-CN" altLang="en-US" sz="1800" kern="0"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828378" y="2653655"/>
            <a:ext cx="7648575" cy="3800475"/>
          </a:xfrm>
          <a:prstGeom prst="rect">
            <a:avLst/>
          </a:prstGeom>
        </p:spPr>
      </p:pic>
    </p:spTree>
  </p:cSld>
  <p:clrMapOvr>
    <a:masterClrMapping/>
  </p:clrMapOvr>
  <p:transition spd="slow" advClick="0" advTm="0">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92076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8" name="文本框 17"/>
          <p:cNvSpPr txBox="1"/>
          <p:nvPr/>
        </p:nvSpPr>
        <p:spPr>
          <a:xfrm>
            <a:off x="-23868" y="1212398"/>
            <a:ext cx="9037290" cy="4108817"/>
          </a:xfrm>
          <a:prstGeom prst="rect">
            <a:avLst/>
          </a:prstGeom>
          <a:noFill/>
        </p:spPr>
        <p:txBody>
          <a:bodyPr wrap="square" rtlCol="0">
            <a:spAutoFit/>
          </a:bodyPr>
          <a:lstStyle/>
          <a:p>
            <a:pPr marL="285750" indent="-28575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如果</a:t>
            </a:r>
            <a:r>
              <a:rPr lang="en-US" altLang="zh-CN" sz="2400" kern="100" dirty="0">
                <a:effectLst/>
                <a:latin typeface="Times New Roman" panose="02020603050405020304" pitchFamily="18" charset="0"/>
                <a:ea typeface="宋体" pitchFamily="2" charset="-122"/>
              </a:rPr>
              <a:t>Run 'hello' </a:t>
            </a:r>
            <a:r>
              <a:rPr lang="zh-CN" altLang="zh-CN" sz="2400" kern="100" dirty="0">
                <a:effectLst/>
                <a:latin typeface="Times New Roman" panose="02020603050405020304" pitchFamily="18" charset="0"/>
                <a:ea typeface="宋体" pitchFamily="2" charset="-122"/>
              </a:rPr>
              <a:t>图标显示为灰色，请依次选择如下选项</a:t>
            </a:r>
            <a:r>
              <a:rPr lang="en-US" altLang="zh-CN" sz="2400" kern="100" dirty="0" err="1">
                <a:solidFill>
                  <a:srgbClr val="FF0000"/>
                </a:solidFill>
                <a:effectLst/>
                <a:latin typeface="Times New Roman" panose="02020603050405020304" pitchFamily="18" charset="0"/>
                <a:ea typeface="宋体" pitchFamily="2" charset="-122"/>
              </a:rPr>
              <a:t>File→Settings→Project</a:t>
            </a:r>
            <a:r>
              <a:rPr lang="zh-CN" altLang="zh-CN" sz="2400" kern="100" dirty="0">
                <a:effectLst/>
                <a:latin typeface="Times New Roman" panose="02020603050405020304" pitchFamily="18" charset="0"/>
                <a:ea typeface="宋体" pitchFamily="2" charset="-122"/>
              </a:rPr>
              <a:t>。之后，在</a:t>
            </a:r>
            <a:r>
              <a:rPr lang="en-US" altLang="zh-CN" sz="2400" kern="100" dirty="0">
                <a:effectLst/>
                <a:latin typeface="Times New Roman" panose="02020603050405020304" pitchFamily="18" charset="0"/>
                <a:ea typeface="宋体" pitchFamily="2" charset="-122"/>
              </a:rPr>
              <a:t>Project</a:t>
            </a:r>
            <a:r>
              <a:rPr lang="zh-CN" altLang="zh-CN" sz="2400" kern="100" dirty="0">
                <a:effectLst/>
                <a:latin typeface="Times New Roman" panose="02020603050405020304" pitchFamily="18" charset="0"/>
                <a:ea typeface="宋体" pitchFamily="2" charset="-122"/>
              </a:rPr>
              <a:t>的</a:t>
            </a:r>
            <a:r>
              <a:rPr lang="en-US" altLang="zh-CN" sz="2400" kern="100" dirty="0" err="1">
                <a:effectLst/>
                <a:latin typeface="Times New Roman" panose="02020603050405020304" pitchFamily="18" charset="0"/>
                <a:ea typeface="宋体" pitchFamily="2" charset="-122"/>
              </a:rPr>
              <a:t>Hello_world</a:t>
            </a:r>
            <a:r>
              <a:rPr lang="zh-CN" altLang="zh-CN" sz="2400" kern="100" dirty="0">
                <a:effectLst/>
                <a:latin typeface="Times New Roman" panose="02020603050405020304" pitchFamily="18" charset="0"/>
                <a:ea typeface="宋体" pitchFamily="2" charset="-122"/>
              </a:rPr>
              <a:t>窗口中依次选择如下选项</a:t>
            </a:r>
            <a:r>
              <a:rPr lang="en-US" altLang="zh-CN" sz="2400" kern="100" dirty="0" err="1">
                <a:solidFill>
                  <a:srgbClr val="FF0000"/>
                </a:solidFill>
                <a:effectLst/>
                <a:latin typeface="Times New Roman" panose="02020603050405020304" pitchFamily="18" charset="0"/>
                <a:ea typeface="宋体" pitchFamily="2" charset="-122"/>
              </a:rPr>
              <a:t>Hello_world→Project</a:t>
            </a:r>
            <a:r>
              <a:rPr lang="en-US" altLang="zh-CN" sz="2400" kern="100" dirty="0">
                <a:solidFill>
                  <a:srgbClr val="FF0000"/>
                </a:solidFill>
                <a:effectLst/>
                <a:latin typeface="Times New Roman" panose="02020603050405020304" pitchFamily="18" charset="0"/>
                <a:ea typeface="宋体" pitchFamily="2" charset="-122"/>
              </a:rPr>
              <a:t> </a:t>
            </a:r>
            <a:r>
              <a:rPr lang="en-US" altLang="zh-CN" sz="2400" kern="100" dirty="0" err="1">
                <a:solidFill>
                  <a:srgbClr val="FF0000"/>
                </a:solidFill>
                <a:effectLst/>
                <a:latin typeface="Times New Roman" panose="02020603050405020304" pitchFamily="18" charset="0"/>
                <a:ea typeface="宋体" pitchFamily="2" charset="-122"/>
              </a:rPr>
              <a:t>Interpreter→Show</a:t>
            </a:r>
            <a:r>
              <a:rPr lang="en-US" altLang="zh-CN" sz="2400" kern="100" dirty="0">
                <a:solidFill>
                  <a:srgbClr val="FF0000"/>
                </a:solidFill>
                <a:effectLst/>
                <a:latin typeface="Times New Roman" panose="02020603050405020304" pitchFamily="18" charset="0"/>
                <a:ea typeface="宋体" pitchFamily="2" charset="-122"/>
              </a:rPr>
              <a:t> All </a:t>
            </a:r>
            <a:r>
              <a:rPr lang="zh-CN" altLang="zh-CN" sz="2400" kern="100" dirty="0">
                <a:effectLst/>
                <a:latin typeface="Times New Roman" panose="02020603050405020304" pitchFamily="18" charset="0"/>
                <a:ea typeface="宋体" pitchFamily="2" charset="-122"/>
              </a:rPr>
              <a:t>。最后手动添加</a:t>
            </a:r>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rPr>
              <a:t>解释器所在路径，至此，</a:t>
            </a:r>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rPr>
              <a:t>的开发环境已经全部配置完毕。</a:t>
            </a:r>
            <a:endParaRPr lang="en-US" altLang="zh-CN" sz="2400" kern="100" dirty="0">
              <a:effectLst/>
              <a:latin typeface="Times New Roman" panose="02020603050405020304" pitchFamily="18" charset="0"/>
              <a:ea typeface="宋体" pitchFamily="2" charset="-122"/>
            </a:endParaRPr>
          </a:p>
          <a:p>
            <a:pPr marL="285750" indent="-285750" algn="just">
              <a:buFont typeface="Wingdings" panose="05000000000000000000" pitchFamily="2" charset="2"/>
              <a:buChar char="p"/>
            </a:pPr>
            <a:endParaRPr lang="zh-CN" altLang="zh-CN" sz="2400" kern="100" dirty="0">
              <a:effectLst/>
              <a:latin typeface="Times New Roman" panose="02020603050405020304" pitchFamily="18" charset="0"/>
              <a:ea typeface="宋体" pitchFamily="2" charset="-122"/>
            </a:endParaRPr>
          </a:p>
          <a:p>
            <a:pPr algn="just"/>
            <a:endParaRPr lang="en-US" altLang="zh-CN" sz="2400" kern="100" dirty="0">
              <a:effectLst/>
              <a:latin typeface="Times New Roman" panose="02020603050405020304" pitchFamily="18" charset="0"/>
              <a:ea typeface="宋体" pitchFamily="2" charset="-122"/>
            </a:endParaRPr>
          </a:p>
          <a:p>
            <a:pPr algn="just"/>
            <a:endParaRPr lang="en-US" altLang="zh-CN" sz="2400" kern="100" dirty="0">
              <a:effectLst/>
              <a:latin typeface="Times New Roman" panose="02020603050405020304" pitchFamily="18" charset="0"/>
              <a:ea typeface="宋体" pitchFamily="2" charset="-122"/>
            </a:endParaRPr>
          </a:p>
          <a:p>
            <a:pPr marL="342900" indent="-342900" algn="just">
              <a:buFont typeface="Wingdings" panose="05000000000000000000" pitchFamily="2" charset="2"/>
              <a:buChar char="p"/>
            </a:pPr>
            <a:endParaRPr lang="en-US" altLang="zh-CN" sz="2400" kern="100" dirty="0">
              <a:effectLst/>
              <a:latin typeface="Times New Roman" panose="02020603050405020304" pitchFamily="18" charset="0"/>
              <a:ea typeface="宋体" pitchFamily="2" charset="-122"/>
            </a:endParaRPr>
          </a:p>
          <a:p>
            <a:pPr algn="just"/>
            <a:endParaRPr lang="en-US" altLang="zh-CN" sz="2400" kern="100" dirty="0">
              <a:latin typeface="Times New Roman" panose="02020603050405020304" pitchFamily="18" charset="0"/>
              <a:ea typeface="宋体" pitchFamily="2" charset="-122"/>
            </a:endParaRPr>
          </a:p>
          <a:p>
            <a:endParaRPr lang="zh-CN" altLang="en-US" dirty="0"/>
          </a:p>
        </p:txBody>
      </p:sp>
      <p:sp>
        <p:nvSpPr>
          <p:cNvPr id="4" name="文本框 3"/>
          <p:cNvSpPr txBox="1"/>
          <p:nvPr/>
        </p:nvSpPr>
        <p:spPr>
          <a:xfrm>
            <a:off x="2772594" y="6490320"/>
            <a:ext cx="3744416" cy="369332"/>
          </a:xfrm>
          <a:prstGeom prst="rect">
            <a:avLst/>
          </a:prstGeom>
          <a:noFill/>
        </p:spPr>
        <p:txBody>
          <a:bodyPr wrap="square" rtlCol="0">
            <a:spAutoFit/>
          </a:bodyPr>
          <a:lstStyle/>
          <a:p>
            <a:r>
              <a:rPr lang="zh-CN" altLang="en-US" sz="1800" kern="0" dirty="0">
                <a:latin typeface="Times New Roman" panose="02020603050405020304" pitchFamily="18" charset="0"/>
                <a:cs typeface="Times New Roman" panose="02020603050405020304" pitchFamily="18" charset="0"/>
              </a:rPr>
              <a:t>图</a:t>
            </a:r>
            <a:r>
              <a:rPr lang="en-US" altLang="zh-CN" sz="1800" kern="0" dirty="0">
                <a:latin typeface="Times New Roman" panose="02020603050405020304" pitchFamily="18" charset="0"/>
                <a:cs typeface="Times New Roman" panose="02020603050405020304" pitchFamily="18" charset="0"/>
              </a:rPr>
              <a:t>2.7 </a:t>
            </a:r>
            <a:r>
              <a:rPr lang="zh-CN" altLang="zh-CN" sz="1800" kern="0" dirty="0">
                <a:latin typeface="Times New Roman" panose="02020603050405020304" pitchFamily="18" charset="0"/>
                <a:cs typeface="Times New Roman" panose="02020603050405020304" pitchFamily="18" charset="0"/>
              </a:rPr>
              <a:t>添加</a:t>
            </a:r>
            <a:r>
              <a:rPr lang="en-US" altLang="zh-CN" sz="1800" kern="0" dirty="0">
                <a:latin typeface="Times New Roman" panose="02020603050405020304" pitchFamily="18" charset="0"/>
                <a:cs typeface="Times New Roman" panose="02020603050405020304" pitchFamily="18" charset="0"/>
              </a:rPr>
              <a:t>Python</a:t>
            </a:r>
            <a:r>
              <a:rPr lang="zh-CN" altLang="zh-CN" sz="1800" kern="0" dirty="0">
                <a:latin typeface="Times New Roman" panose="02020603050405020304" pitchFamily="18" charset="0"/>
                <a:cs typeface="Times New Roman" panose="02020603050405020304" pitchFamily="18" charset="0"/>
              </a:rPr>
              <a:t>解释器路径</a:t>
            </a:r>
            <a:endParaRPr lang="zh-CN" altLang="en-US" sz="1800" kern="0" dirty="0">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1281410" y="3038270"/>
            <a:ext cx="6099696" cy="3452050"/>
          </a:xfrm>
          <a:prstGeom prst="rect">
            <a:avLst/>
          </a:prstGeom>
          <a:noFill/>
          <a:ln>
            <a:noFill/>
          </a:ln>
        </p:spPr>
      </p:pic>
    </p:spTree>
  </p:cSld>
  <p:clrMapOvr>
    <a:masterClrMapping/>
  </p:clrMapOvr>
  <p:transition spd="slow" advClick="0" advTm="0">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430" cy="73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2.2 Python</a:t>
            </a:r>
            <a:r>
              <a:rPr lang="zh-CN" altLang="zh-CN" sz="2100" b="1" dirty="0">
                <a:solidFill>
                  <a:schemeClr val="tx1">
                    <a:lumMod val="75000"/>
                    <a:lumOff val="25000"/>
                  </a:schemeClr>
                </a:solidFill>
                <a:latin typeface="微软雅黑" panose="020B0503020204020204" pitchFamily="34" charset="-122"/>
              </a:rPr>
              <a:t>基本语法</a:t>
            </a:r>
            <a:endParaRPr lang="zh-CN" altLang="zh-CN" sz="2100" b="1" dirty="0">
              <a:solidFill>
                <a:schemeClr val="tx1">
                  <a:lumMod val="75000"/>
                  <a:lumOff val="25000"/>
                </a:schemeClr>
              </a:solidFill>
              <a:latin typeface="微软雅黑" panose="020B0503020204020204" pitchFamily="34" charset="-122"/>
            </a:endParaRPr>
          </a:p>
          <a:p>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文本框 1"/>
          <p:cNvSpPr txBox="1"/>
          <p:nvPr/>
        </p:nvSpPr>
        <p:spPr>
          <a:xfrm>
            <a:off x="4132555" y="2974019"/>
            <a:ext cx="914400" cy="914400"/>
          </a:xfrm>
          <a:prstGeom prst="rect">
            <a:avLst/>
          </a:prstGeom>
          <a:noFill/>
        </p:spPr>
        <p:txBody>
          <a:bodyPr wrap="square" rtlCol="0">
            <a:spAutoFit/>
          </a:bodyPr>
          <a:lstStyle/>
          <a:p>
            <a:endParaRPr lang="zh-CN" altLang="en-US" dirty="0"/>
          </a:p>
        </p:txBody>
      </p:sp>
      <p:sp>
        <p:nvSpPr>
          <p:cNvPr id="3" name="文本框 2"/>
          <p:cNvSpPr txBox="1"/>
          <p:nvPr/>
        </p:nvSpPr>
        <p:spPr>
          <a:xfrm>
            <a:off x="142957" y="1172767"/>
            <a:ext cx="9010373" cy="5587100"/>
          </a:xfrm>
          <a:prstGeom prst="rect">
            <a:avLst/>
          </a:prstGeom>
          <a:noFill/>
        </p:spPr>
        <p:txBody>
          <a:bodyPr wrap="square" rtlCol="0">
            <a:spAutoFit/>
          </a:bodyPr>
          <a:lstStyle/>
          <a:p>
            <a:endParaRPr lang="zh-CN" altLang="en-US" dirty="0"/>
          </a:p>
        </p:txBody>
      </p:sp>
      <p:sp>
        <p:nvSpPr>
          <p:cNvPr id="4" name="流程图: 准备 3"/>
          <p:cNvSpPr/>
          <p:nvPr/>
        </p:nvSpPr>
        <p:spPr>
          <a:xfrm>
            <a:off x="645388" y="3331113"/>
            <a:ext cx="1634480" cy="1368150"/>
          </a:xfrm>
          <a:prstGeom prst="flowChartPreparation">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Python</a:t>
            </a:r>
            <a:r>
              <a:rPr lang="zh-CN" altLang="en-US" dirty="0"/>
              <a:t>基本语法</a:t>
            </a:r>
            <a:endParaRPr lang="zh-CN" altLang="en-US" dirty="0"/>
          </a:p>
        </p:txBody>
      </p:sp>
      <p:sp>
        <p:nvSpPr>
          <p:cNvPr id="5" name="左大括号 4"/>
          <p:cNvSpPr/>
          <p:nvPr/>
        </p:nvSpPr>
        <p:spPr>
          <a:xfrm>
            <a:off x="2293982" y="1429654"/>
            <a:ext cx="914400" cy="5171069"/>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24" name="圆角矩形 21"/>
          <p:cNvSpPr/>
          <p:nvPr/>
        </p:nvSpPr>
        <p:spPr>
          <a:xfrm>
            <a:off x="3208377" y="1258980"/>
            <a:ext cx="4748794" cy="351527"/>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en-US" altLang="zh-CN" sz="2400" dirty="0">
                <a:solidFill>
                  <a:schemeClr val="tx1"/>
                </a:solidFill>
              </a:rPr>
              <a:t>2.2.1 </a:t>
            </a:r>
            <a:r>
              <a:rPr lang="zh-CN" altLang="en-US" sz="2400" dirty="0">
                <a:solidFill>
                  <a:schemeClr val="tx1"/>
                </a:solidFill>
              </a:rPr>
              <a:t>数据类型与变量</a:t>
            </a:r>
            <a:endParaRPr lang="zh-CN" altLang="en-US" sz="2400" dirty="0">
              <a:solidFill>
                <a:schemeClr val="tx1"/>
              </a:solidFill>
            </a:endParaRPr>
          </a:p>
        </p:txBody>
      </p:sp>
      <p:sp>
        <p:nvSpPr>
          <p:cNvPr id="25" name="圆角矩形 21"/>
          <p:cNvSpPr/>
          <p:nvPr/>
        </p:nvSpPr>
        <p:spPr>
          <a:xfrm>
            <a:off x="3219722" y="1809203"/>
            <a:ext cx="4748795" cy="351527"/>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en-US" altLang="zh-CN" sz="2400" dirty="0">
                <a:solidFill>
                  <a:schemeClr val="tx1"/>
                </a:solidFill>
              </a:rPr>
              <a:t>2.2.2 </a:t>
            </a:r>
            <a:r>
              <a:rPr lang="zh-CN" altLang="en-US" sz="2400" dirty="0">
                <a:solidFill>
                  <a:schemeClr val="tx1"/>
                </a:solidFill>
              </a:rPr>
              <a:t>字符串与类型转换</a:t>
            </a:r>
            <a:endParaRPr lang="zh-CN" altLang="en-US" sz="2400" dirty="0">
              <a:solidFill>
                <a:schemeClr val="tx1"/>
              </a:solidFill>
            </a:endParaRPr>
          </a:p>
        </p:txBody>
      </p:sp>
      <p:sp>
        <p:nvSpPr>
          <p:cNvPr id="26" name="圆角矩形 21"/>
          <p:cNvSpPr/>
          <p:nvPr/>
        </p:nvSpPr>
        <p:spPr>
          <a:xfrm>
            <a:off x="3219722" y="2407837"/>
            <a:ext cx="4748795" cy="373690"/>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en-US" altLang="zh-CN" sz="2400" dirty="0">
                <a:solidFill>
                  <a:schemeClr val="tx1"/>
                </a:solidFill>
              </a:rPr>
              <a:t>2.2.3 </a:t>
            </a:r>
            <a:r>
              <a:rPr lang="zh-CN" altLang="zh-CN" sz="2400" dirty="0">
                <a:solidFill>
                  <a:schemeClr val="tx1"/>
                </a:solidFill>
              </a:rPr>
              <a:t>列表</a:t>
            </a:r>
            <a:endParaRPr lang="zh-CN" altLang="en-US" sz="2400" dirty="0">
              <a:solidFill>
                <a:schemeClr val="tx1"/>
              </a:solidFill>
            </a:endParaRPr>
          </a:p>
        </p:txBody>
      </p:sp>
      <p:sp>
        <p:nvSpPr>
          <p:cNvPr id="27" name="圆角矩形 21"/>
          <p:cNvSpPr/>
          <p:nvPr/>
        </p:nvSpPr>
        <p:spPr>
          <a:xfrm>
            <a:off x="3219722" y="2996580"/>
            <a:ext cx="4748795" cy="373690"/>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en-US" altLang="zh-CN" sz="2400" dirty="0">
                <a:solidFill>
                  <a:schemeClr val="tx1"/>
                </a:solidFill>
              </a:rPr>
              <a:t>2.2.4 </a:t>
            </a:r>
            <a:r>
              <a:rPr lang="zh-CN" altLang="en-US" sz="2400" dirty="0">
                <a:solidFill>
                  <a:schemeClr val="tx1"/>
                </a:solidFill>
              </a:rPr>
              <a:t>循环</a:t>
            </a:r>
            <a:endParaRPr lang="zh-CN" altLang="en-US" sz="2400" dirty="0">
              <a:solidFill>
                <a:schemeClr val="tx1"/>
              </a:solidFill>
            </a:endParaRPr>
          </a:p>
        </p:txBody>
      </p:sp>
      <p:sp>
        <p:nvSpPr>
          <p:cNvPr id="28" name="圆角矩形 21"/>
          <p:cNvSpPr/>
          <p:nvPr/>
        </p:nvSpPr>
        <p:spPr>
          <a:xfrm>
            <a:off x="3222496" y="3585323"/>
            <a:ext cx="4746021" cy="383335"/>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en-US" altLang="zh-CN" sz="2400" dirty="0">
                <a:solidFill>
                  <a:schemeClr val="tx1"/>
                </a:solidFill>
              </a:rPr>
              <a:t>2.2.5 </a:t>
            </a:r>
            <a:r>
              <a:rPr lang="zh-CN" altLang="en-US" sz="2400" dirty="0">
                <a:solidFill>
                  <a:schemeClr val="tx1"/>
                </a:solidFill>
              </a:rPr>
              <a:t>判断</a:t>
            </a:r>
            <a:endParaRPr lang="zh-CN" altLang="en-US" sz="2400" dirty="0">
              <a:solidFill>
                <a:schemeClr val="tx1"/>
              </a:solidFill>
            </a:endParaRPr>
          </a:p>
        </p:txBody>
      </p:sp>
      <p:sp>
        <p:nvSpPr>
          <p:cNvPr id="29" name="圆角矩形 21"/>
          <p:cNvSpPr/>
          <p:nvPr/>
        </p:nvSpPr>
        <p:spPr>
          <a:xfrm>
            <a:off x="3219722" y="4216102"/>
            <a:ext cx="4737449" cy="373690"/>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en-US" altLang="zh-CN" sz="2400" dirty="0">
                <a:solidFill>
                  <a:schemeClr val="tx1"/>
                </a:solidFill>
              </a:rPr>
              <a:t>2.2.6 </a:t>
            </a:r>
            <a:r>
              <a:rPr lang="zh-CN" altLang="en-US" sz="2400" dirty="0">
                <a:solidFill>
                  <a:schemeClr val="tx1"/>
                </a:solidFill>
              </a:rPr>
              <a:t>字典</a:t>
            </a:r>
            <a:endParaRPr lang="zh-CN" altLang="en-US" sz="2400" dirty="0">
              <a:solidFill>
                <a:schemeClr val="tx1"/>
              </a:solidFill>
            </a:endParaRPr>
          </a:p>
        </p:txBody>
      </p:sp>
      <p:sp>
        <p:nvSpPr>
          <p:cNvPr id="30" name="圆角矩形 21"/>
          <p:cNvSpPr/>
          <p:nvPr/>
        </p:nvSpPr>
        <p:spPr>
          <a:xfrm>
            <a:off x="3219723" y="4785063"/>
            <a:ext cx="4746022" cy="372599"/>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en-US" altLang="zh-CN" sz="2400" dirty="0">
                <a:solidFill>
                  <a:schemeClr val="tx1"/>
                </a:solidFill>
              </a:rPr>
              <a:t>2.2.7 </a:t>
            </a:r>
            <a:r>
              <a:rPr lang="zh-CN" altLang="zh-CN" sz="2400" dirty="0">
                <a:solidFill>
                  <a:schemeClr val="tx1"/>
                </a:solidFill>
              </a:rPr>
              <a:t>函数</a:t>
            </a:r>
            <a:endParaRPr lang="zh-CN" altLang="en-US" sz="2400" dirty="0">
              <a:solidFill>
                <a:schemeClr val="tx1"/>
              </a:solidFill>
            </a:endParaRPr>
          </a:p>
        </p:txBody>
      </p:sp>
      <p:sp>
        <p:nvSpPr>
          <p:cNvPr id="33" name="圆角矩形 21"/>
          <p:cNvSpPr/>
          <p:nvPr/>
        </p:nvSpPr>
        <p:spPr>
          <a:xfrm>
            <a:off x="3219722" y="5352933"/>
            <a:ext cx="4737449" cy="372599"/>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en-US" altLang="zh-CN" sz="2400" dirty="0">
                <a:solidFill>
                  <a:schemeClr val="tx1"/>
                </a:solidFill>
              </a:rPr>
              <a:t>2.2.8 </a:t>
            </a:r>
            <a:r>
              <a:rPr lang="zh-CN" altLang="zh-CN" sz="2400" dirty="0">
                <a:solidFill>
                  <a:schemeClr val="tx1"/>
                </a:solidFill>
              </a:rPr>
              <a:t>使用库</a:t>
            </a:r>
            <a:endParaRPr lang="zh-CN" altLang="en-US" sz="2400" dirty="0">
              <a:solidFill>
                <a:schemeClr val="tx1"/>
              </a:solidFill>
            </a:endParaRPr>
          </a:p>
        </p:txBody>
      </p:sp>
      <p:sp>
        <p:nvSpPr>
          <p:cNvPr id="34" name="圆角矩形 21"/>
          <p:cNvSpPr/>
          <p:nvPr/>
        </p:nvSpPr>
        <p:spPr>
          <a:xfrm>
            <a:off x="3208377" y="5895644"/>
            <a:ext cx="4737449" cy="372599"/>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en-US" altLang="zh-CN" sz="2400" dirty="0">
                <a:solidFill>
                  <a:schemeClr val="tx1"/>
                </a:solidFill>
              </a:rPr>
              <a:t>2.2.9 </a:t>
            </a:r>
            <a:r>
              <a:rPr lang="zh-CN" altLang="zh-CN" sz="2400" dirty="0">
                <a:solidFill>
                  <a:schemeClr val="tx1"/>
                </a:solidFill>
              </a:rPr>
              <a:t>类</a:t>
            </a:r>
            <a:endParaRPr lang="zh-CN" altLang="en-US" sz="2400" dirty="0">
              <a:solidFill>
                <a:schemeClr val="tx1"/>
              </a:solidFill>
            </a:endParaRPr>
          </a:p>
        </p:txBody>
      </p:sp>
      <p:sp>
        <p:nvSpPr>
          <p:cNvPr id="37" name="圆角矩形 21"/>
          <p:cNvSpPr/>
          <p:nvPr/>
        </p:nvSpPr>
        <p:spPr>
          <a:xfrm>
            <a:off x="3219723" y="6427387"/>
            <a:ext cx="4746022" cy="372599"/>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en-US" altLang="zh-CN" dirty="0">
                <a:solidFill>
                  <a:schemeClr val="tx1"/>
                </a:solidFill>
              </a:rPr>
              <a:t>2.2.10 </a:t>
            </a:r>
            <a:r>
              <a:rPr lang="zh-CN" altLang="zh-CN" dirty="0">
                <a:solidFill>
                  <a:schemeClr val="tx1"/>
                </a:solidFill>
              </a:rPr>
              <a:t>文件</a:t>
            </a:r>
            <a:endParaRPr lang="zh-CN" altLang="en-US" sz="2400" dirty="0">
              <a:solidFill>
                <a:schemeClr val="tx1"/>
              </a:solidFill>
            </a:endParaRPr>
          </a:p>
        </p:txBody>
      </p:sp>
    </p:spTree>
  </p:cSld>
  <p:clrMapOvr>
    <a:masterClrMapping/>
  </p:clrMapOvr>
  <p:transition spd="slow" advClick="0" advTm="0">
    <p:wipe/>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14:presetBounceEnd="50000">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14:bounceEnd="50000">
                                          <p:cBhvr additive="base">
                                            <p:cTn id="7" dur="500" fill="hold"/>
                                            <p:tgtEl>
                                              <p:spTgt spid="24"/>
                                            </p:tgtEl>
                                            <p:attrNameLst>
                                              <p:attrName>ppt_x</p:attrName>
                                            </p:attrNameLst>
                                          </p:cBhvr>
                                          <p:tavLst>
                                            <p:tav tm="0">
                                              <p:val>
                                                <p:strVal val="#ppt_x"/>
                                              </p:val>
                                            </p:tav>
                                            <p:tav tm="100000">
                                              <p:val>
                                                <p:strVal val="#ppt_x"/>
                                              </p:val>
                                            </p:tav>
                                          </p:tavLst>
                                        </p:anim>
                                        <p:anim calcmode="lin" valueType="num" p14:bounceEnd="50000">
                                          <p:cBhvr additive="base">
                                            <p:cTn id="8" dur="500" fill="hold"/>
                                            <p:tgtEl>
                                              <p:spTgt spid="24"/>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grpId="0" nodeType="afterEffect" p14:presetBounceEnd="50000">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14:bounceEnd="50000">
                                          <p:cBhvr additive="base">
                                            <p:cTn id="12" dur="500" fill="hold"/>
                                            <p:tgtEl>
                                              <p:spTgt spid="25"/>
                                            </p:tgtEl>
                                            <p:attrNameLst>
                                              <p:attrName>ppt_x</p:attrName>
                                            </p:attrNameLst>
                                          </p:cBhvr>
                                          <p:tavLst>
                                            <p:tav tm="0">
                                              <p:val>
                                                <p:strVal val="#ppt_x"/>
                                              </p:val>
                                            </p:tav>
                                            <p:tav tm="100000">
                                              <p:val>
                                                <p:strVal val="#ppt_x"/>
                                              </p:val>
                                            </p:tav>
                                          </p:tavLst>
                                        </p:anim>
                                        <p:anim calcmode="lin" valueType="num" p14:bounceEnd="50000">
                                          <p:cBhvr additive="base">
                                            <p:cTn id="13" dur="500" fill="hold"/>
                                            <p:tgtEl>
                                              <p:spTgt spid="25"/>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1" fill="hold" grpId="0" nodeType="afterEffect" p14:presetBounceEnd="50000">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14:bounceEnd="50000">
                                          <p:cBhvr additive="base">
                                            <p:cTn id="17" dur="500" fill="hold"/>
                                            <p:tgtEl>
                                              <p:spTgt spid="26"/>
                                            </p:tgtEl>
                                            <p:attrNameLst>
                                              <p:attrName>ppt_x</p:attrName>
                                            </p:attrNameLst>
                                          </p:cBhvr>
                                          <p:tavLst>
                                            <p:tav tm="0">
                                              <p:val>
                                                <p:strVal val="#ppt_x"/>
                                              </p:val>
                                            </p:tav>
                                            <p:tav tm="100000">
                                              <p:val>
                                                <p:strVal val="#ppt_x"/>
                                              </p:val>
                                            </p:tav>
                                          </p:tavLst>
                                        </p:anim>
                                        <p:anim calcmode="lin" valueType="num" p14:bounceEnd="50000">
                                          <p:cBhvr additive="base">
                                            <p:cTn id="18" dur="500" fill="hold"/>
                                            <p:tgtEl>
                                              <p:spTgt spid="26"/>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ID="2" presetClass="entr" presetSubtype="1" fill="hold" grpId="0" nodeType="afterEffect" p14:presetBounceEnd="50000">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14:bounceEnd="50000">
                                          <p:cBhvr additive="base">
                                            <p:cTn id="22" dur="500" fill="hold"/>
                                            <p:tgtEl>
                                              <p:spTgt spid="27"/>
                                            </p:tgtEl>
                                            <p:attrNameLst>
                                              <p:attrName>ppt_x</p:attrName>
                                            </p:attrNameLst>
                                          </p:cBhvr>
                                          <p:tavLst>
                                            <p:tav tm="0">
                                              <p:val>
                                                <p:strVal val="#ppt_x"/>
                                              </p:val>
                                            </p:tav>
                                            <p:tav tm="100000">
                                              <p:val>
                                                <p:strVal val="#ppt_x"/>
                                              </p:val>
                                            </p:tav>
                                          </p:tavLst>
                                        </p:anim>
                                        <p:anim calcmode="lin" valueType="num" p14:bounceEnd="50000">
                                          <p:cBhvr additive="base">
                                            <p:cTn id="23" dur="500" fill="hold"/>
                                            <p:tgtEl>
                                              <p:spTgt spid="27"/>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 presetClass="entr" presetSubtype="1" fill="hold" grpId="0" nodeType="afterEffect" p14:presetBounceEnd="50000">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14:bounceEnd="50000">
                                          <p:cBhvr additive="base">
                                            <p:cTn id="27" dur="500" fill="hold"/>
                                            <p:tgtEl>
                                              <p:spTgt spid="28"/>
                                            </p:tgtEl>
                                            <p:attrNameLst>
                                              <p:attrName>ppt_x</p:attrName>
                                            </p:attrNameLst>
                                          </p:cBhvr>
                                          <p:tavLst>
                                            <p:tav tm="0">
                                              <p:val>
                                                <p:strVal val="#ppt_x"/>
                                              </p:val>
                                            </p:tav>
                                            <p:tav tm="100000">
                                              <p:val>
                                                <p:strVal val="#ppt_x"/>
                                              </p:val>
                                            </p:tav>
                                          </p:tavLst>
                                        </p:anim>
                                        <p:anim calcmode="lin" valueType="num" p14:bounceEnd="50000">
                                          <p:cBhvr additive="base">
                                            <p:cTn id="28" dur="500" fill="hold"/>
                                            <p:tgtEl>
                                              <p:spTgt spid="28"/>
                                            </p:tgtEl>
                                            <p:attrNameLst>
                                              <p:attrName>ppt_y</p:attrName>
                                            </p:attrNameLst>
                                          </p:cBhvr>
                                          <p:tavLst>
                                            <p:tav tm="0">
                                              <p:val>
                                                <p:strVal val="0-#ppt_h/2"/>
                                              </p:val>
                                            </p:tav>
                                            <p:tav tm="100000">
                                              <p:val>
                                                <p:strVal val="#ppt_y"/>
                                              </p:val>
                                            </p:tav>
                                          </p:tavLst>
                                        </p:anim>
                                      </p:childTnLst>
                                    </p:cTn>
                                  </p:par>
                                </p:childTnLst>
                              </p:cTn>
                            </p:par>
                            <p:par>
                              <p:cTn id="29" fill="hold">
                                <p:stCondLst>
                                  <p:cond delay="2500"/>
                                </p:stCondLst>
                                <p:childTnLst>
                                  <p:par>
                                    <p:cTn id="30" presetID="2" presetClass="entr" presetSubtype="1" fill="hold" grpId="0" nodeType="afterEffect" p14:presetBounceEnd="50000">
                                      <p:stCondLst>
                                        <p:cond delay="0"/>
                                      </p:stCondLst>
                                      <p:childTnLst>
                                        <p:set>
                                          <p:cBhvr>
                                            <p:cTn id="31" dur="1" fill="hold">
                                              <p:stCondLst>
                                                <p:cond delay="0"/>
                                              </p:stCondLst>
                                            </p:cTn>
                                            <p:tgtEl>
                                              <p:spTgt spid="29"/>
                                            </p:tgtEl>
                                            <p:attrNameLst>
                                              <p:attrName>style.visibility</p:attrName>
                                            </p:attrNameLst>
                                          </p:cBhvr>
                                          <p:to>
                                            <p:strVal val="visible"/>
                                          </p:to>
                                        </p:set>
                                        <p:anim calcmode="lin" valueType="num" p14:bounceEnd="50000">
                                          <p:cBhvr additive="base">
                                            <p:cTn id="32" dur="500" fill="hold"/>
                                            <p:tgtEl>
                                              <p:spTgt spid="29"/>
                                            </p:tgtEl>
                                            <p:attrNameLst>
                                              <p:attrName>ppt_x</p:attrName>
                                            </p:attrNameLst>
                                          </p:cBhvr>
                                          <p:tavLst>
                                            <p:tav tm="0">
                                              <p:val>
                                                <p:strVal val="#ppt_x"/>
                                              </p:val>
                                            </p:tav>
                                            <p:tav tm="100000">
                                              <p:val>
                                                <p:strVal val="#ppt_x"/>
                                              </p:val>
                                            </p:tav>
                                          </p:tavLst>
                                        </p:anim>
                                        <p:anim calcmode="lin" valueType="num" p14:bounceEnd="50000">
                                          <p:cBhvr additive="base">
                                            <p:cTn id="33" dur="500" fill="hold"/>
                                            <p:tgtEl>
                                              <p:spTgt spid="29"/>
                                            </p:tgtEl>
                                            <p:attrNameLst>
                                              <p:attrName>ppt_y</p:attrName>
                                            </p:attrNameLst>
                                          </p:cBhvr>
                                          <p:tavLst>
                                            <p:tav tm="0">
                                              <p:val>
                                                <p:strVal val="0-#ppt_h/2"/>
                                              </p:val>
                                            </p:tav>
                                            <p:tav tm="100000">
                                              <p:val>
                                                <p:strVal val="#ppt_y"/>
                                              </p:val>
                                            </p:tav>
                                          </p:tavLst>
                                        </p:anim>
                                      </p:childTnLst>
                                    </p:cTn>
                                  </p:par>
                                </p:childTnLst>
                              </p:cTn>
                            </p:par>
                            <p:par>
                              <p:cTn id="34" fill="hold">
                                <p:stCondLst>
                                  <p:cond delay="3000"/>
                                </p:stCondLst>
                                <p:childTnLst>
                                  <p:par>
                                    <p:cTn id="35" presetID="2" presetClass="entr" presetSubtype="1" fill="hold" grpId="0" nodeType="afterEffect" p14:presetBounceEnd="50000">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14:bounceEnd="50000">
                                          <p:cBhvr additive="base">
                                            <p:cTn id="37" dur="500" fill="hold"/>
                                            <p:tgtEl>
                                              <p:spTgt spid="30"/>
                                            </p:tgtEl>
                                            <p:attrNameLst>
                                              <p:attrName>ppt_x</p:attrName>
                                            </p:attrNameLst>
                                          </p:cBhvr>
                                          <p:tavLst>
                                            <p:tav tm="0">
                                              <p:val>
                                                <p:strVal val="#ppt_x"/>
                                              </p:val>
                                            </p:tav>
                                            <p:tav tm="100000">
                                              <p:val>
                                                <p:strVal val="#ppt_x"/>
                                              </p:val>
                                            </p:tav>
                                          </p:tavLst>
                                        </p:anim>
                                        <p:anim calcmode="lin" valueType="num" p14:bounceEnd="50000">
                                          <p:cBhvr additive="base">
                                            <p:cTn id="38" dur="500" fill="hold"/>
                                            <p:tgtEl>
                                              <p:spTgt spid="30"/>
                                            </p:tgtEl>
                                            <p:attrNameLst>
                                              <p:attrName>ppt_y</p:attrName>
                                            </p:attrNameLst>
                                          </p:cBhvr>
                                          <p:tavLst>
                                            <p:tav tm="0">
                                              <p:val>
                                                <p:strVal val="0-#ppt_h/2"/>
                                              </p:val>
                                            </p:tav>
                                            <p:tav tm="100000">
                                              <p:val>
                                                <p:strVal val="#ppt_y"/>
                                              </p:val>
                                            </p:tav>
                                          </p:tavLst>
                                        </p:anim>
                                      </p:childTnLst>
                                    </p:cTn>
                                  </p:par>
                                </p:childTnLst>
                              </p:cTn>
                            </p:par>
                            <p:par>
                              <p:cTn id="39" fill="hold">
                                <p:stCondLst>
                                  <p:cond delay="3500"/>
                                </p:stCondLst>
                                <p:childTnLst>
                                  <p:par>
                                    <p:cTn id="40" presetID="2" presetClass="entr" presetSubtype="1" fill="hold" grpId="0" nodeType="afterEffect" p14:presetBounceEnd="50000">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14:bounceEnd="50000">
                                          <p:cBhvr additive="base">
                                            <p:cTn id="42" dur="500" fill="hold"/>
                                            <p:tgtEl>
                                              <p:spTgt spid="33"/>
                                            </p:tgtEl>
                                            <p:attrNameLst>
                                              <p:attrName>ppt_x</p:attrName>
                                            </p:attrNameLst>
                                          </p:cBhvr>
                                          <p:tavLst>
                                            <p:tav tm="0">
                                              <p:val>
                                                <p:strVal val="#ppt_x"/>
                                              </p:val>
                                            </p:tav>
                                            <p:tav tm="100000">
                                              <p:val>
                                                <p:strVal val="#ppt_x"/>
                                              </p:val>
                                            </p:tav>
                                          </p:tavLst>
                                        </p:anim>
                                        <p:anim calcmode="lin" valueType="num" p14:bounceEnd="50000">
                                          <p:cBhvr additive="base">
                                            <p:cTn id="43" dur="500" fill="hold"/>
                                            <p:tgtEl>
                                              <p:spTgt spid="33"/>
                                            </p:tgtEl>
                                            <p:attrNameLst>
                                              <p:attrName>ppt_y</p:attrName>
                                            </p:attrNameLst>
                                          </p:cBhvr>
                                          <p:tavLst>
                                            <p:tav tm="0">
                                              <p:val>
                                                <p:strVal val="0-#ppt_h/2"/>
                                              </p:val>
                                            </p:tav>
                                            <p:tav tm="100000">
                                              <p:val>
                                                <p:strVal val="#ppt_y"/>
                                              </p:val>
                                            </p:tav>
                                          </p:tavLst>
                                        </p:anim>
                                      </p:childTnLst>
                                    </p:cTn>
                                  </p:par>
                                </p:childTnLst>
                              </p:cTn>
                            </p:par>
                            <p:par>
                              <p:cTn id="44" fill="hold">
                                <p:stCondLst>
                                  <p:cond delay="4000"/>
                                </p:stCondLst>
                                <p:childTnLst>
                                  <p:par>
                                    <p:cTn id="45" presetID="2" presetClass="entr" presetSubtype="1" fill="hold" grpId="0" nodeType="afterEffect" p14:presetBounceEnd="50000">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14:bounceEnd="50000">
                                          <p:cBhvr additive="base">
                                            <p:cTn id="47" dur="500" fill="hold"/>
                                            <p:tgtEl>
                                              <p:spTgt spid="34"/>
                                            </p:tgtEl>
                                            <p:attrNameLst>
                                              <p:attrName>ppt_x</p:attrName>
                                            </p:attrNameLst>
                                          </p:cBhvr>
                                          <p:tavLst>
                                            <p:tav tm="0">
                                              <p:val>
                                                <p:strVal val="#ppt_x"/>
                                              </p:val>
                                            </p:tav>
                                            <p:tav tm="100000">
                                              <p:val>
                                                <p:strVal val="#ppt_x"/>
                                              </p:val>
                                            </p:tav>
                                          </p:tavLst>
                                        </p:anim>
                                        <p:anim calcmode="lin" valueType="num" p14:bounceEnd="50000">
                                          <p:cBhvr additive="base">
                                            <p:cTn id="48" dur="500" fill="hold"/>
                                            <p:tgtEl>
                                              <p:spTgt spid="34"/>
                                            </p:tgtEl>
                                            <p:attrNameLst>
                                              <p:attrName>ppt_y</p:attrName>
                                            </p:attrNameLst>
                                          </p:cBhvr>
                                          <p:tavLst>
                                            <p:tav tm="0">
                                              <p:val>
                                                <p:strVal val="0-#ppt_h/2"/>
                                              </p:val>
                                            </p:tav>
                                            <p:tav tm="100000">
                                              <p:val>
                                                <p:strVal val="#ppt_y"/>
                                              </p:val>
                                            </p:tav>
                                          </p:tavLst>
                                        </p:anim>
                                      </p:childTnLst>
                                    </p:cTn>
                                  </p:par>
                                </p:childTnLst>
                              </p:cTn>
                            </p:par>
                            <p:par>
                              <p:cTn id="49" fill="hold">
                                <p:stCondLst>
                                  <p:cond delay="4500"/>
                                </p:stCondLst>
                                <p:childTnLst>
                                  <p:par>
                                    <p:cTn id="50" presetID="2" presetClass="entr" presetSubtype="1" fill="hold" grpId="0" nodeType="afterEffect" p14:presetBounceEnd="50000">
                                      <p:stCondLst>
                                        <p:cond delay="0"/>
                                      </p:stCondLst>
                                      <p:childTnLst>
                                        <p:set>
                                          <p:cBhvr>
                                            <p:cTn id="51" dur="1" fill="hold">
                                              <p:stCondLst>
                                                <p:cond delay="0"/>
                                              </p:stCondLst>
                                            </p:cTn>
                                            <p:tgtEl>
                                              <p:spTgt spid="37"/>
                                            </p:tgtEl>
                                            <p:attrNameLst>
                                              <p:attrName>style.visibility</p:attrName>
                                            </p:attrNameLst>
                                          </p:cBhvr>
                                          <p:to>
                                            <p:strVal val="visible"/>
                                          </p:to>
                                        </p:set>
                                        <p:anim calcmode="lin" valueType="num" p14:bounceEnd="50000">
                                          <p:cBhvr additive="base">
                                            <p:cTn id="52" dur="500" fill="hold"/>
                                            <p:tgtEl>
                                              <p:spTgt spid="37"/>
                                            </p:tgtEl>
                                            <p:attrNameLst>
                                              <p:attrName>ppt_x</p:attrName>
                                            </p:attrNameLst>
                                          </p:cBhvr>
                                          <p:tavLst>
                                            <p:tav tm="0">
                                              <p:val>
                                                <p:strVal val="#ppt_x"/>
                                              </p:val>
                                            </p:tav>
                                            <p:tav tm="100000">
                                              <p:val>
                                                <p:strVal val="#ppt_x"/>
                                              </p:val>
                                            </p:tav>
                                          </p:tavLst>
                                        </p:anim>
                                        <p:anim calcmode="lin" valueType="num" p14:bounceEnd="50000">
                                          <p:cBhvr additive="base">
                                            <p:cTn id="53" dur="500" fill="hold"/>
                                            <p:tgtEl>
                                              <p:spTgt spid="3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3" grpId="0" animBg="1"/>
          <p:bldP spid="34" grpId="0" animBg="1"/>
          <p:bldP spid="37"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fill="hold"/>
                                            <p:tgtEl>
                                              <p:spTgt spid="25"/>
                                            </p:tgtEl>
                                            <p:attrNameLst>
                                              <p:attrName>ppt_x</p:attrName>
                                            </p:attrNameLst>
                                          </p:cBhvr>
                                          <p:tavLst>
                                            <p:tav tm="0">
                                              <p:val>
                                                <p:strVal val="#ppt_x"/>
                                              </p:val>
                                            </p:tav>
                                            <p:tav tm="100000">
                                              <p:val>
                                                <p:strVal val="#ppt_x"/>
                                              </p:val>
                                            </p:tav>
                                          </p:tavLst>
                                        </p:anim>
                                        <p:anim calcmode="lin" valueType="num">
                                          <p:cBhvr additive="base">
                                            <p:cTn id="13" dur="500" fill="hold"/>
                                            <p:tgtEl>
                                              <p:spTgt spid="25"/>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1" fill="hold" grpId="0" nodeType="after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fill="hold"/>
                                            <p:tgtEl>
                                              <p:spTgt spid="26"/>
                                            </p:tgtEl>
                                            <p:attrNameLst>
                                              <p:attrName>ppt_x</p:attrName>
                                            </p:attrNameLst>
                                          </p:cBhvr>
                                          <p:tavLst>
                                            <p:tav tm="0">
                                              <p:val>
                                                <p:strVal val="#ppt_x"/>
                                              </p:val>
                                            </p:tav>
                                            <p:tav tm="100000">
                                              <p:val>
                                                <p:strVal val="#ppt_x"/>
                                              </p:val>
                                            </p:tav>
                                          </p:tavLst>
                                        </p:anim>
                                        <p:anim calcmode="lin" valueType="num">
                                          <p:cBhvr additive="base">
                                            <p:cTn id="18" dur="500" fill="hold"/>
                                            <p:tgtEl>
                                              <p:spTgt spid="26"/>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ID="2" presetClass="entr" presetSubtype="1"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additive="base">
                                            <p:cTn id="22" dur="500" fill="hold"/>
                                            <p:tgtEl>
                                              <p:spTgt spid="27"/>
                                            </p:tgtEl>
                                            <p:attrNameLst>
                                              <p:attrName>ppt_x</p:attrName>
                                            </p:attrNameLst>
                                          </p:cBhvr>
                                          <p:tavLst>
                                            <p:tav tm="0">
                                              <p:val>
                                                <p:strVal val="#ppt_x"/>
                                              </p:val>
                                            </p:tav>
                                            <p:tav tm="100000">
                                              <p:val>
                                                <p:strVal val="#ppt_x"/>
                                              </p:val>
                                            </p:tav>
                                          </p:tavLst>
                                        </p:anim>
                                        <p:anim calcmode="lin" valueType="num">
                                          <p:cBhvr additive="base">
                                            <p:cTn id="23" dur="500" fill="hold"/>
                                            <p:tgtEl>
                                              <p:spTgt spid="27"/>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 presetClass="entr" presetSubtype="1"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fill="hold"/>
                                            <p:tgtEl>
                                              <p:spTgt spid="28"/>
                                            </p:tgtEl>
                                            <p:attrNameLst>
                                              <p:attrName>ppt_x</p:attrName>
                                            </p:attrNameLst>
                                          </p:cBhvr>
                                          <p:tavLst>
                                            <p:tav tm="0">
                                              <p:val>
                                                <p:strVal val="#ppt_x"/>
                                              </p:val>
                                            </p:tav>
                                            <p:tav tm="100000">
                                              <p:val>
                                                <p:strVal val="#ppt_x"/>
                                              </p:val>
                                            </p:tav>
                                          </p:tavLst>
                                        </p:anim>
                                        <p:anim calcmode="lin" valueType="num">
                                          <p:cBhvr additive="base">
                                            <p:cTn id="28" dur="500" fill="hold"/>
                                            <p:tgtEl>
                                              <p:spTgt spid="28"/>
                                            </p:tgtEl>
                                            <p:attrNameLst>
                                              <p:attrName>ppt_y</p:attrName>
                                            </p:attrNameLst>
                                          </p:cBhvr>
                                          <p:tavLst>
                                            <p:tav tm="0">
                                              <p:val>
                                                <p:strVal val="0-#ppt_h/2"/>
                                              </p:val>
                                            </p:tav>
                                            <p:tav tm="100000">
                                              <p:val>
                                                <p:strVal val="#ppt_y"/>
                                              </p:val>
                                            </p:tav>
                                          </p:tavLst>
                                        </p:anim>
                                      </p:childTnLst>
                                    </p:cTn>
                                  </p:par>
                                </p:childTnLst>
                              </p:cTn>
                            </p:par>
                            <p:par>
                              <p:cTn id="29" fill="hold">
                                <p:stCondLst>
                                  <p:cond delay="2500"/>
                                </p:stCondLst>
                                <p:childTnLst>
                                  <p:par>
                                    <p:cTn id="30" presetID="2" presetClass="entr" presetSubtype="1" fill="hold" grpId="0" nodeType="afterEffect">
                                      <p:stCondLst>
                                        <p:cond delay="0"/>
                                      </p:stCondLst>
                                      <p:childTnLst>
                                        <p:set>
                                          <p:cBhvr>
                                            <p:cTn id="31" dur="1" fill="hold">
                                              <p:stCondLst>
                                                <p:cond delay="0"/>
                                              </p:stCondLst>
                                            </p:cTn>
                                            <p:tgtEl>
                                              <p:spTgt spid="29"/>
                                            </p:tgtEl>
                                            <p:attrNameLst>
                                              <p:attrName>style.visibility</p:attrName>
                                            </p:attrNameLst>
                                          </p:cBhvr>
                                          <p:to>
                                            <p:strVal val="visible"/>
                                          </p:to>
                                        </p:set>
                                        <p:anim calcmode="lin" valueType="num">
                                          <p:cBhvr additive="base">
                                            <p:cTn id="32" dur="500" fill="hold"/>
                                            <p:tgtEl>
                                              <p:spTgt spid="29"/>
                                            </p:tgtEl>
                                            <p:attrNameLst>
                                              <p:attrName>ppt_x</p:attrName>
                                            </p:attrNameLst>
                                          </p:cBhvr>
                                          <p:tavLst>
                                            <p:tav tm="0">
                                              <p:val>
                                                <p:strVal val="#ppt_x"/>
                                              </p:val>
                                            </p:tav>
                                            <p:tav tm="100000">
                                              <p:val>
                                                <p:strVal val="#ppt_x"/>
                                              </p:val>
                                            </p:tav>
                                          </p:tavLst>
                                        </p:anim>
                                        <p:anim calcmode="lin" valueType="num">
                                          <p:cBhvr additive="base">
                                            <p:cTn id="33" dur="500" fill="hold"/>
                                            <p:tgtEl>
                                              <p:spTgt spid="29"/>
                                            </p:tgtEl>
                                            <p:attrNameLst>
                                              <p:attrName>ppt_y</p:attrName>
                                            </p:attrNameLst>
                                          </p:cBhvr>
                                          <p:tavLst>
                                            <p:tav tm="0">
                                              <p:val>
                                                <p:strVal val="0-#ppt_h/2"/>
                                              </p:val>
                                            </p:tav>
                                            <p:tav tm="100000">
                                              <p:val>
                                                <p:strVal val="#ppt_y"/>
                                              </p:val>
                                            </p:tav>
                                          </p:tavLst>
                                        </p:anim>
                                      </p:childTnLst>
                                    </p:cTn>
                                  </p:par>
                                </p:childTnLst>
                              </p:cTn>
                            </p:par>
                            <p:par>
                              <p:cTn id="34" fill="hold">
                                <p:stCondLst>
                                  <p:cond delay="3000"/>
                                </p:stCondLst>
                                <p:childTnLst>
                                  <p:par>
                                    <p:cTn id="35" presetID="2" presetClass="entr" presetSubtype="1" fill="hold" grpId="0" nodeType="after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fill="hold"/>
                                            <p:tgtEl>
                                              <p:spTgt spid="30"/>
                                            </p:tgtEl>
                                            <p:attrNameLst>
                                              <p:attrName>ppt_x</p:attrName>
                                            </p:attrNameLst>
                                          </p:cBhvr>
                                          <p:tavLst>
                                            <p:tav tm="0">
                                              <p:val>
                                                <p:strVal val="#ppt_x"/>
                                              </p:val>
                                            </p:tav>
                                            <p:tav tm="100000">
                                              <p:val>
                                                <p:strVal val="#ppt_x"/>
                                              </p:val>
                                            </p:tav>
                                          </p:tavLst>
                                        </p:anim>
                                        <p:anim calcmode="lin" valueType="num">
                                          <p:cBhvr additive="base">
                                            <p:cTn id="38" dur="500" fill="hold"/>
                                            <p:tgtEl>
                                              <p:spTgt spid="30"/>
                                            </p:tgtEl>
                                            <p:attrNameLst>
                                              <p:attrName>ppt_y</p:attrName>
                                            </p:attrNameLst>
                                          </p:cBhvr>
                                          <p:tavLst>
                                            <p:tav tm="0">
                                              <p:val>
                                                <p:strVal val="0-#ppt_h/2"/>
                                              </p:val>
                                            </p:tav>
                                            <p:tav tm="100000">
                                              <p:val>
                                                <p:strVal val="#ppt_y"/>
                                              </p:val>
                                            </p:tav>
                                          </p:tavLst>
                                        </p:anim>
                                      </p:childTnLst>
                                    </p:cTn>
                                  </p:par>
                                </p:childTnLst>
                              </p:cTn>
                            </p:par>
                            <p:par>
                              <p:cTn id="39" fill="hold">
                                <p:stCondLst>
                                  <p:cond delay="3500"/>
                                </p:stCondLst>
                                <p:childTnLst>
                                  <p:par>
                                    <p:cTn id="40" presetID="2" presetClass="entr" presetSubtype="1" fill="hold" grpId="0" nodeType="after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additive="base">
                                            <p:cTn id="42" dur="500" fill="hold"/>
                                            <p:tgtEl>
                                              <p:spTgt spid="33"/>
                                            </p:tgtEl>
                                            <p:attrNameLst>
                                              <p:attrName>ppt_x</p:attrName>
                                            </p:attrNameLst>
                                          </p:cBhvr>
                                          <p:tavLst>
                                            <p:tav tm="0">
                                              <p:val>
                                                <p:strVal val="#ppt_x"/>
                                              </p:val>
                                            </p:tav>
                                            <p:tav tm="100000">
                                              <p:val>
                                                <p:strVal val="#ppt_x"/>
                                              </p:val>
                                            </p:tav>
                                          </p:tavLst>
                                        </p:anim>
                                        <p:anim calcmode="lin" valueType="num">
                                          <p:cBhvr additive="base">
                                            <p:cTn id="43" dur="500" fill="hold"/>
                                            <p:tgtEl>
                                              <p:spTgt spid="33"/>
                                            </p:tgtEl>
                                            <p:attrNameLst>
                                              <p:attrName>ppt_y</p:attrName>
                                            </p:attrNameLst>
                                          </p:cBhvr>
                                          <p:tavLst>
                                            <p:tav tm="0">
                                              <p:val>
                                                <p:strVal val="0-#ppt_h/2"/>
                                              </p:val>
                                            </p:tav>
                                            <p:tav tm="100000">
                                              <p:val>
                                                <p:strVal val="#ppt_y"/>
                                              </p:val>
                                            </p:tav>
                                          </p:tavLst>
                                        </p:anim>
                                      </p:childTnLst>
                                    </p:cTn>
                                  </p:par>
                                </p:childTnLst>
                              </p:cTn>
                            </p:par>
                            <p:par>
                              <p:cTn id="44" fill="hold">
                                <p:stCondLst>
                                  <p:cond delay="4000"/>
                                </p:stCondLst>
                                <p:childTnLst>
                                  <p:par>
                                    <p:cTn id="45" presetID="2" presetClass="entr" presetSubtype="1" fill="hold" grpId="0" nodeType="afterEffect">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cBhvr additive="base">
                                            <p:cTn id="47" dur="500" fill="hold"/>
                                            <p:tgtEl>
                                              <p:spTgt spid="34"/>
                                            </p:tgtEl>
                                            <p:attrNameLst>
                                              <p:attrName>ppt_x</p:attrName>
                                            </p:attrNameLst>
                                          </p:cBhvr>
                                          <p:tavLst>
                                            <p:tav tm="0">
                                              <p:val>
                                                <p:strVal val="#ppt_x"/>
                                              </p:val>
                                            </p:tav>
                                            <p:tav tm="100000">
                                              <p:val>
                                                <p:strVal val="#ppt_x"/>
                                              </p:val>
                                            </p:tav>
                                          </p:tavLst>
                                        </p:anim>
                                        <p:anim calcmode="lin" valueType="num">
                                          <p:cBhvr additive="base">
                                            <p:cTn id="48" dur="500" fill="hold"/>
                                            <p:tgtEl>
                                              <p:spTgt spid="34"/>
                                            </p:tgtEl>
                                            <p:attrNameLst>
                                              <p:attrName>ppt_y</p:attrName>
                                            </p:attrNameLst>
                                          </p:cBhvr>
                                          <p:tavLst>
                                            <p:tav tm="0">
                                              <p:val>
                                                <p:strVal val="0-#ppt_h/2"/>
                                              </p:val>
                                            </p:tav>
                                            <p:tav tm="100000">
                                              <p:val>
                                                <p:strVal val="#ppt_y"/>
                                              </p:val>
                                            </p:tav>
                                          </p:tavLst>
                                        </p:anim>
                                      </p:childTnLst>
                                    </p:cTn>
                                  </p:par>
                                </p:childTnLst>
                              </p:cTn>
                            </p:par>
                            <p:par>
                              <p:cTn id="49" fill="hold">
                                <p:stCondLst>
                                  <p:cond delay="4500"/>
                                </p:stCondLst>
                                <p:childTnLst>
                                  <p:par>
                                    <p:cTn id="50" presetID="2" presetClass="entr" presetSubtype="1" fill="hold" grpId="0" nodeType="afterEffect">
                                      <p:stCondLst>
                                        <p:cond delay="0"/>
                                      </p:stCondLst>
                                      <p:childTnLst>
                                        <p:set>
                                          <p:cBhvr>
                                            <p:cTn id="51" dur="1" fill="hold">
                                              <p:stCondLst>
                                                <p:cond delay="0"/>
                                              </p:stCondLst>
                                            </p:cTn>
                                            <p:tgtEl>
                                              <p:spTgt spid="37"/>
                                            </p:tgtEl>
                                            <p:attrNameLst>
                                              <p:attrName>style.visibility</p:attrName>
                                            </p:attrNameLst>
                                          </p:cBhvr>
                                          <p:to>
                                            <p:strVal val="visible"/>
                                          </p:to>
                                        </p:set>
                                        <p:anim calcmode="lin" valueType="num">
                                          <p:cBhvr additive="base">
                                            <p:cTn id="52" dur="500" fill="hold"/>
                                            <p:tgtEl>
                                              <p:spTgt spid="37"/>
                                            </p:tgtEl>
                                            <p:attrNameLst>
                                              <p:attrName>ppt_x</p:attrName>
                                            </p:attrNameLst>
                                          </p:cBhvr>
                                          <p:tavLst>
                                            <p:tav tm="0">
                                              <p:val>
                                                <p:strVal val="#ppt_x"/>
                                              </p:val>
                                            </p:tav>
                                            <p:tav tm="100000">
                                              <p:val>
                                                <p:strVal val="#ppt_x"/>
                                              </p:val>
                                            </p:tav>
                                          </p:tavLst>
                                        </p:anim>
                                        <p:anim calcmode="lin" valueType="num">
                                          <p:cBhvr additive="base">
                                            <p:cTn id="53" dur="500" fill="hold"/>
                                            <p:tgtEl>
                                              <p:spTgt spid="3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3" grpId="0" animBg="1"/>
          <p:bldP spid="34" grpId="0" animBg="1"/>
          <p:bldP spid="37" grpId="0" animBg="1"/>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269478" y="1671725"/>
            <a:ext cx="8496944" cy="830997"/>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cs typeface="Times New Roman" panose="02020603050405020304" pitchFamily="18" charset="0"/>
              </a:rPr>
              <a:t>是一门动态语言</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zh-CN" altLang="zh-CN" sz="2400" kern="100" dirty="0">
                <a:effectLst/>
                <a:latin typeface="Times New Roman" panose="02020603050405020304" pitchFamily="18" charset="0"/>
                <a:ea typeface="宋体" pitchFamily="2" charset="-122"/>
                <a:cs typeface="Times New Roman" panose="02020603050405020304" pitchFamily="18" charset="0"/>
              </a:rPr>
              <a:t>在创建变量时根据变量的值来自动指定类型</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endParaRPr lang="zh-CN" altLang="en-US" sz="2400" dirty="0">
              <a:latin typeface="+mn-ea"/>
            </a:endParaRPr>
          </a:p>
        </p:txBody>
      </p:sp>
      <p:sp>
        <p:nvSpPr>
          <p:cNvPr id="12" name="文本框 11"/>
          <p:cNvSpPr txBox="1"/>
          <p:nvPr/>
        </p:nvSpPr>
        <p:spPr>
          <a:xfrm>
            <a:off x="269478" y="2565698"/>
            <a:ext cx="4860036" cy="4154984"/>
          </a:xfrm>
          <a:prstGeom prst="rect">
            <a:avLst/>
          </a:prstGeom>
          <a:solidFill>
            <a:schemeClr val="tx2">
              <a:lumMod val="20000"/>
              <a:lumOff val="80000"/>
            </a:schemeClr>
          </a:solidFill>
        </p:spPr>
        <p:txBody>
          <a:bodyPr wrap="square">
            <a:spAutoFit/>
          </a:bodyPr>
          <a:lstStyle/>
          <a:p>
            <a:pPr indent="266700" algn="l" fontAlgn="ctr"/>
            <a:r>
              <a:rPr lang="en-US" altLang="zh-CN" sz="2400" kern="100" dirty="0">
                <a:solidFill>
                  <a:srgbClr val="000000"/>
                </a:solidFill>
                <a:effectLst/>
                <a:latin typeface="Times New Roman" panose="02020603050405020304" pitchFamily="18" charset="0"/>
                <a:ea typeface="宋体" pitchFamily="2" charset="-122"/>
              </a:rPr>
              <a:t>a = 2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b = 3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c = a/b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d = 3.   #</a:t>
            </a:r>
            <a:r>
              <a:rPr lang="zh-CN" altLang="zh-CN" sz="2400" kern="100" dirty="0">
                <a:solidFill>
                  <a:srgbClr val="000000"/>
                </a:solidFill>
                <a:effectLst/>
                <a:latin typeface="Times New Roman" panose="02020603050405020304" pitchFamily="18" charset="0"/>
                <a:ea typeface="宋体" pitchFamily="2" charset="-122"/>
              </a:rPr>
              <a:t>此处等同于</a:t>
            </a:r>
            <a:r>
              <a:rPr lang="en-US" altLang="zh-CN" sz="2400" kern="100" dirty="0">
                <a:solidFill>
                  <a:srgbClr val="000000"/>
                </a:solidFill>
                <a:effectLst/>
                <a:latin typeface="Times New Roman" panose="02020603050405020304" pitchFamily="18" charset="0"/>
                <a:ea typeface="宋体" pitchFamily="2" charset="-122"/>
              </a:rPr>
              <a:t>d=3.0</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chemeClr val="accent1">
                    <a:lumMod val="75000"/>
                  </a:schemeClr>
                </a:solidFill>
                <a:effectLst/>
                <a:latin typeface="Times New Roman" panose="02020603050405020304" pitchFamily="18" charset="0"/>
                <a:ea typeface="宋体" pitchFamily="2" charset="-122"/>
              </a:rPr>
              <a:t>e="E"  </a:t>
            </a:r>
            <a:endParaRPr lang="zh-CN" altLang="zh-CN" sz="2400" kern="100" dirty="0">
              <a:solidFill>
                <a:schemeClr val="accent1">
                  <a:lumMod val="75000"/>
                </a:schemeClr>
              </a:solidFill>
              <a:effectLst/>
              <a:latin typeface="Times New Roman" panose="02020603050405020304" pitchFamily="18" charset="0"/>
              <a:ea typeface="宋体" pitchFamily="2" charset="-122"/>
            </a:endParaRPr>
          </a:p>
          <a:p>
            <a:pPr indent="266700" algn="l" fontAlgn="ctr"/>
            <a:r>
              <a:rPr lang="en-US" altLang="zh-CN" sz="2400" kern="100" dirty="0">
                <a:solidFill>
                  <a:schemeClr val="accent1">
                    <a:lumMod val="75000"/>
                  </a:schemeClr>
                </a:solidFill>
                <a:effectLst/>
                <a:latin typeface="Times New Roman" panose="02020603050405020304" pitchFamily="18" charset="0"/>
                <a:ea typeface="宋体" pitchFamily="2" charset="-122"/>
              </a:rPr>
              <a:t>f = 'This is an example.'    </a:t>
            </a:r>
            <a:endParaRPr lang="zh-CN" altLang="zh-CN" sz="2400" kern="100" dirty="0">
              <a:solidFill>
                <a:schemeClr val="accent1">
                  <a:lumMod val="75000"/>
                </a:schemeClr>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print(type(a))  #</a:t>
            </a:r>
            <a:r>
              <a:rPr lang="zh-CN" altLang="zh-CN" sz="2400" kern="100" dirty="0">
                <a:solidFill>
                  <a:srgbClr val="000000"/>
                </a:solidFill>
                <a:effectLst/>
                <a:latin typeface="Times New Roman" panose="02020603050405020304" pitchFamily="18" charset="0"/>
                <a:ea typeface="宋体" pitchFamily="2" charset="-122"/>
              </a:rPr>
              <a:t>显示各变量的类型</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print(type(c))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print(type(d))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print(type(e))  </a:t>
            </a:r>
            <a:endParaRPr lang="zh-CN" altLang="zh-CN" sz="2400" kern="100" dirty="0">
              <a:effectLst/>
              <a:latin typeface="Times New Roman" panose="02020603050405020304" pitchFamily="18" charset="0"/>
              <a:ea typeface="宋体" pitchFamily="2" charset="-122"/>
            </a:endParaRPr>
          </a:p>
          <a:p>
            <a:r>
              <a:rPr lang="en-US" altLang="zh-CN" sz="2400" kern="100" dirty="0">
                <a:effectLst/>
                <a:latin typeface="Times New Roman" panose="02020603050405020304" pitchFamily="18" charset="0"/>
                <a:ea typeface="宋体" pitchFamily="2" charset="-122"/>
              </a:rPr>
              <a:t>   print(type(f)) </a:t>
            </a:r>
            <a:endParaRPr lang="zh-CN" altLang="en-US" dirty="0"/>
          </a:p>
        </p:txBody>
      </p:sp>
      <p:sp>
        <p:nvSpPr>
          <p:cNvPr id="14" name="文本框 13"/>
          <p:cNvSpPr txBox="1"/>
          <p:nvPr/>
        </p:nvSpPr>
        <p:spPr>
          <a:xfrm>
            <a:off x="5902887" y="3102853"/>
            <a:ext cx="2952328" cy="2308324"/>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运行结果；</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&lt;class 'int'&gt;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&lt;class 'float'&gt;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&lt;class 'float'&gt;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&lt;class 'str'&gt;  </a:t>
            </a:r>
            <a:endParaRPr lang="zh-CN" altLang="zh-CN" sz="2400" kern="100" dirty="0">
              <a:effectLst/>
              <a:latin typeface="Times New Roman" panose="02020603050405020304" pitchFamily="18" charset="0"/>
              <a:ea typeface="宋体" pitchFamily="2" charset="-122"/>
            </a:endParaRPr>
          </a:p>
          <a:p>
            <a:r>
              <a:rPr lang="en-US" altLang="zh-CN" sz="2400" kern="100" dirty="0">
                <a:effectLst/>
                <a:latin typeface="Times New Roman" panose="02020603050405020304" pitchFamily="18" charset="0"/>
                <a:ea typeface="宋体" pitchFamily="2" charset="-122"/>
              </a:rPr>
              <a:t>    &lt;class 'str'&gt;</a:t>
            </a:r>
            <a:endParaRPr lang="zh-CN" altLang="en-US" dirty="0"/>
          </a:p>
        </p:txBody>
      </p:sp>
      <p:sp>
        <p:nvSpPr>
          <p:cNvPr id="5" name="对话气泡: 圆角矩形 4"/>
          <p:cNvSpPr/>
          <p:nvPr/>
        </p:nvSpPr>
        <p:spPr>
          <a:xfrm>
            <a:off x="2789506" y="3429794"/>
            <a:ext cx="3817514" cy="830997"/>
          </a:xfrm>
          <a:prstGeom prst="wedgeRoundRectCallou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800" kern="100" dirty="0">
                <a:solidFill>
                  <a:schemeClr val="tx1"/>
                </a:solidFill>
                <a:effectLst/>
                <a:latin typeface="Times New Roman" panose="02020603050405020304" pitchFamily="18" charset="0"/>
                <a:ea typeface="宋体" pitchFamily="2" charset="-122"/>
                <a:cs typeface="Times New Roman" panose="02020603050405020304" pitchFamily="18" charset="0"/>
              </a:rPr>
              <a:t>变量</a:t>
            </a:r>
            <a:r>
              <a:rPr lang="en-US" altLang="zh-CN" sz="1800" kern="100" dirty="0">
                <a:solidFill>
                  <a:schemeClr val="tx1"/>
                </a:solidFill>
                <a:effectLst/>
                <a:latin typeface="Times New Roman" panose="02020603050405020304" pitchFamily="18" charset="0"/>
                <a:ea typeface="宋体" pitchFamily="2" charset="-122"/>
              </a:rPr>
              <a:t>e</a:t>
            </a:r>
            <a:r>
              <a:rPr lang="zh-CN" altLang="zh-CN" sz="1800" kern="100" dirty="0">
                <a:solidFill>
                  <a:schemeClr val="tx1"/>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100" dirty="0">
                <a:solidFill>
                  <a:schemeClr val="tx1"/>
                </a:solidFill>
                <a:effectLst/>
                <a:latin typeface="Times New Roman" panose="02020603050405020304" pitchFamily="18" charset="0"/>
                <a:ea typeface="宋体" pitchFamily="2" charset="-122"/>
              </a:rPr>
              <a:t>f</a:t>
            </a:r>
            <a:r>
              <a:rPr lang="zh-CN" altLang="zh-CN" sz="1800" kern="100" dirty="0">
                <a:solidFill>
                  <a:schemeClr val="tx1"/>
                </a:solidFill>
                <a:effectLst/>
                <a:latin typeface="Times New Roman" panose="02020603050405020304" pitchFamily="18" charset="0"/>
                <a:ea typeface="宋体" pitchFamily="2" charset="-122"/>
                <a:cs typeface="Times New Roman" panose="02020603050405020304" pitchFamily="18" charset="0"/>
              </a:rPr>
              <a:t>都是</a:t>
            </a:r>
            <a:r>
              <a:rPr lang="en-US" altLang="zh-CN" sz="1800" kern="100" dirty="0">
                <a:solidFill>
                  <a:schemeClr val="tx1"/>
                </a:solidFill>
                <a:effectLst/>
                <a:latin typeface="Times New Roman" panose="02020603050405020304" pitchFamily="18" charset="0"/>
                <a:ea typeface="宋体" pitchFamily="2" charset="-122"/>
              </a:rPr>
              <a:t>str</a:t>
            </a:r>
            <a:r>
              <a:rPr lang="zh-CN" altLang="zh-CN" sz="1800" kern="100" dirty="0">
                <a:solidFill>
                  <a:schemeClr val="tx1"/>
                </a:solidFill>
                <a:effectLst/>
                <a:latin typeface="Times New Roman" panose="02020603050405020304" pitchFamily="18" charset="0"/>
                <a:ea typeface="宋体" pitchFamily="2" charset="-122"/>
                <a:cs typeface="Times New Roman" panose="02020603050405020304" pitchFamily="18" charset="0"/>
              </a:rPr>
              <a:t>类型，因为在</a:t>
            </a:r>
            <a:r>
              <a:rPr lang="en-US" altLang="zh-CN" sz="1800" kern="100" dirty="0">
                <a:solidFill>
                  <a:schemeClr val="tx1"/>
                </a:solidFill>
                <a:effectLst/>
                <a:latin typeface="Times New Roman" panose="02020603050405020304" pitchFamily="18" charset="0"/>
                <a:ea typeface="宋体" pitchFamily="2" charset="-122"/>
              </a:rPr>
              <a:t>Python</a:t>
            </a:r>
            <a:r>
              <a:rPr lang="zh-CN" altLang="zh-CN" sz="1800" kern="100" dirty="0">
                <a:solidFill>
                  <a:schemeClr val="tx1"/>
                </a:solidFill>
                <a:effectLst/>
                <a:latin typeface="Times New Roman" panose="02020603050405020304" pitchFamily="18" charset="0"/>
                <a:ea typeface="宋体" pitchFamily="2" charset="-122"/>
                <a:cs typeface="Times New Roman" panose="02020603050405020304" pitchFamily="18" charset="0"/>
              </a:rPr>
              <a:t>中单引号与双引号的地位是等同的</a:t>
            </a:r>
            <a:endParaRPr lang="zh-CN" altLang="en-US" dirty="0">
              <a:solidFill>
                <a:schemeClr val="tx1"/>
              </a:solidFill>
            </a:endParaRPr>
          </a:p>
        </p:txBody>
      </p:sp>
      <p:sp>
        <p:nvSpPr>
          <p:cNvPr id="2" name="文本框 1"/>
          <p:cNvSpPr txBox="1"/>
          <p:nvPr/>
        </p:nvSpPr>
        <p:spPr>
          <a:xfrm>
            <a:off x="0" y="1225840"/>
            <a:ext cx="3096344" cy="461665"/>
          </a:xfrm>
          <a:prstGeom prst="rect">
            <a:avLst/>
          </a:prstGeom>
          <a:noFill/>
        </p:spPr>
        <p:txBody>
          <a:bodyPr wrap="square" rtlCol="0">
            <a:spAutoFit/>
          </a:bodyPr>
          <a:lstStyle/>
          <a:p>
            <a:r>
              <a:rPr lang="en-US" altLang="zh-CN" sz="2400" b="1" dirty="0"/>
              <a:t>2.2.1 </a:t>
            </a:r>
            <a:r>
              <a:rPr lang="zh-CN" altLang="en-US" sz="2400" b="1" dirty="0"/>
              <a:t>数据类型与变量</a:t>
            </a:r>
            <a:endParaRPr lang="zh-CN" altLang="en-US" sz="2400" b="1" dirty="0"/>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24322" y="1253552"/>
            <a:ext cx="8796232" cy="830997"/>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cs typeface="Times New Roman" panose="02020603050405020304" pitchFamily="18" charset="0"/>
              </a:rPr>
              <a:t>是一门动态语言</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zh-CN" altLang="zh-CN" sz="2400" kern="100" dirty="0">
                <a:effectLst/>
                <a:latin typeface="Times New Roman" panose="02020603050405020304" pitchFamily="18" charset="0"/>
                <a:ea typeface="宋体" pitchFamily="2" charset="-122"/>
                <a:cs typeface="Times New Roman" panose="02020603050405020304" pitchFamily="18" charset="0"/>
              </a:rPr>
              <a:t>在创建变量时根据变量的值来自动指定类型</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endParaRPr lang="zh-CN" altLang="en-US" sz="2400" dirty="0">
              <a:latin typeface="+mn-ea"/>
            </a:endParaRPr>
          </a:p>
        </p:txBody>
      </p:sp>
      <p:sp>
        <p:nvSpPr>
          <p:cNvPr id="12" name="文本框 11"/>
          <p:cNvSpPr txBox="1"/>
          <p:nvPr/>
        </p:nvSpPr>
        <p:spPr>
          <a:xfrm>
            <a:off x="324322" y="2460298"/>
            <a:ext cx="4860036" cy="1938992"/>
          </a:xfrm>
          <a:prstGeom prst="rect">
            <a:avLst/>
          </a:prstGeom>
          <a:solidFill>
            <a:schemeClr val="tx2">
              <a:lumMod val="20000"/>
              <a:lumOff val="80000"/>
            </a:schemeClr>
          </a:solidFill>
        </p:spPr>
        <p:txBody>
          <a:bodyPr wrap="square">
            <a:spAutoFit/>
          </a:bodyPr>
          <a:lstStyle/>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a:t>
            </a:r>
            <a:r>
              <a:rPr lang="zh-CN" altLang="zh-CN" sz="2400" kern="100" dirty="0">
                <a:latin typeface="Times New Roman" panose="02020603050405020304" pitchFamily="18" charset="0"/>
                <a:ea typeface="宋体" pitchFamily="2" charset="-122"/>
                <a:cs typeface="Times New Roman" panose="02020603050405020304" pitchFamily="18" charset="0"/>
              </a:rPr>
              <a:t>以下两种写法是等同的</a:t>
            </a:r>
            <a:r>
              <a:rPr lang="en-US" altLang="zh-CN" sz="2400" kern="100" dirty="0">
                <a:latin typeface="Times New Roman" panose="02020603050405020304" pitchFamily="18" charset="0"/>
                <a:ea typeface="宋体" pitchFamily="2" charset="-122"/>
                <a:cs typeface="Times New Roman" panose="02020603050405020304" pitchFamily="18" charset="0"/>
              </a:rPr>
              <a:t>: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print('Hello world')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print("Hello world")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a:t>
            </a:r>
            <a:r>
              <a:rPr lang="zh-CN" altLang="zh-CN" sz="2400" kern="100" dirty="0">
                <a:latin typeface="Times New Roman" panose="02020603050405020304" pitchFamily="18" charset="0"/>
                <a:ea typeface="宋体" pitchFamily="2" charset="-122"/>
                <a:cs typeface="Times New Roman" panose="02020603050405020304" pitchFamily="18" charset="0"/>
              </a:rPr>
              <a:t>灵活使用单双引号的情况：</a:t>
            </a:r>
            <a:r>
              <a:rPr lang="en-US" altLang="zh-CN" sz="2400" kern="100" dirty="0">
                <a:latin typeface="Times New Roman" panose="02020603050405020304" pitchFamily="18" charset="0"/>
                <a:ea typeface="宋体" pitchFamily="2" charset="-122"/>
                <a:cs typeface="Times New Roman" panose="02020603050405020304" pitchFamily="18" charset="0"/>
              </a:rPr>
              <a:t>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r>
              <a:rPr lang="en-US" altLang="zh-CN" sz="2400" kern="100" dirty="0">
                <a:latin typeface="Times New Roman" panose="02020603050405020304" pitchFamily="18" charset="0"/>
                <a:ea typeface="宋体" pitchFamily="2" charset="-122"/>
                <a:cs typeface="Times New Roman" panose="02020603050405020304" pitchFamily="18" charset="0"/>
              </a:rPr>
              <a:t>   print('Lei </a:t>
            </a:r>
            <a:r>
              <a:rPr lang="en-US" altLang="zh-CN" sz="2400" kern="100" dirty="0" err="1">
                <a:latin typeface="Times New Roman" panose="02020603050405020304" pitchFamily="18" charset="0"/>
                <a:ea typeface="宋体" pitchFamily="2" charset="-122"/>
                <a:cs typeface="Times New Roman" panose="02020603050405020304" pitchFamily="18" charset="0"/>
              </a:rPr>
              <a:t>said:"Are</a:t>
            </a:r>
            <a:r>
              <a:rPr lang="en-US" altLang="zh-CN" sz="2400" kern="100" dirty="0">
                <a:latin typeface="Times New Roman" panose="02020603050405020304" pitchFamily="18" charset="0"/>
                <a:ea typeface="宋体" pitchFamily="2" charset="-122"/>
                <a:cs typeface="Times New Roman" panose="02020603050405020304" pitchFamily="18" charset="0"/>
              </a:rPr>
              <a:t> You OK ?"')</a:t>
            </a:r>
            <a:endParaRPr lang="zh-CN" altLang="en-US" sz="2400" kern="100" dirty="0">
              <a:latin typeface="Times New Roman" panose="02020603050405020304" pitchFamily="18" charset="0"/>
              <a:ea typeface="宋体" pitchFamily="2" charset="-122"/>
              <a:cs typeface="Times New Roman" panose="02020603050405020304" pitchFamily="18" charset="0"/>
            </a:endParaRPr>
          </a:p>
        </p:txBody>
      </p:sp>
      <p:sp>
        <p:nvSpPr>
          <p:cNvPr id="14" name="文本框 13"/>
          <p:cNvSpPr txBox="1"/>
          <p:nvPr/>
        </p:nvSpPr>
        <p:spPr>
          <a:xfrm>
            <a:off x="5580906" y="2644964"/>
            <a:ext cx="3312368" cy="1569660"/>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运行结果；</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Hello world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Hello world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r>
              <a:rPr lang="en-US" altLang="zh-CN" sz="2400" kern="100" dirty="0">
                <a:latin typeface="Times New Roman" panose="02020603050405020304" pitchFamily="18" charset="0"/>
                <a:ea typeface="宋体" pitchFamily="2" charset="-122"/>
                <a:cs typeface="Times New Roman" panose="02020603050405020304" pitchFamily="18" charset="0"/>
              </a:rPr>
              <a:t>Lei </a:t>
            </a:r>
            <a:r>
              <a:rPr lang="en-US" altLang="zh-CN" sz="2400" kern="100" dirty="0" err="1">
                <a:latin typeface="Times New Roman" panose="02020603050405020304" pitchFamily="18" charset="0"/>
                <a:ea typeface="宋体" pitchFamily="2" charset="-122"/>
                <a:cs typeface="Times New Roman" panose="02020603050405020304" pitchFamily="18" charset="0"/>
              </a:rPr>
              <a:t>said:"Are</a:t>
            </a:r>
            <a:r>
              <a:rPr lang="en-US" altLang="zh-CN" sz="2400" kern="100" dirty="0">
                <a:latin typeface="Times New Roman" panose="02020603050405020304" pitchFamily="18" charset="0"/>
                <a:ea typeface="宋体" pitchFamily="2" charset="-122"/>
                <a:cs typeface="Times New Roman" panose="02020603050405020304" pitchFamily="18" charset="0"/>
              </a:rPr>
              <a:t> You OK ?"</a:t>
            </a:r>
            <a:endParaRPr lang="zh-CN" altLang="en-US" sz="2400" kern="100" dirty="0">
              <a:latin typeface="Times New Roman" panose="02020603050405020304" pitchFamily="18" charset="0"/>
              <a:ea typeface="宋体" pitchFamily="2" charset="-122"/>
              <a:cs typeface="Times New Roman" panose="02020603050405020304" pitchFamily="18" charset="0"/>
            </a:endParaRPr>
          </a:p>
        </p:txBody>
      </p:sp>
      <p:sp>
        <p:nvSpPr>
          <p:cNvPr id="5" name="对话气泡: 圆角矩形 4"/>
          <p:cNvSpPr/>
          <p:nvPr/>
        </p:nvSpPr>
        <p:spPr>
          <a:xfrm>
            <a:off x="2988618" y="2714212"/>
            <a:ext cx="3817514" cy="830997"/>
          </a:xfrm>
          <a:prstGeom prst="wedgeRoundRectCallou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tx1"/>
                </a:solidFill>
              </a:rPr>
              <a:t>在</a:t>
            </a:r>
            <a:r>
              <a:rPr lang="en-US" altLang="zh-CN" dirty="0">
                <a:solidFill>
                  <a:schemeClr val="tx1"/>
                </a:solidFill>
              </a:rPr>
              <a:t>PyCharm</a:t>
            </a:r>
            <a:r>
              <a:rPr lang="zh-CN" altLang="zh-CN" dirty="0">
                <a:solidFill>
                  <a:schemeClr val="tx1"/>
                </a:solidFill>
              </a:rPr>
              <a:t>中</a:t>
            </a:r>
            <a:r>
              <a:rPr lang="en-US" altLang="zh-CN" dirty="0">
                <a:solidFill>
                  <a:schemeClr val="tx1"/>
                </a:solidFill>
              </a:rPr>
              <a:t>#</a:t>
            </a:r>
            <a:r>
              <a:rPr lang="zh-CN" altLang="zh-CN" dirty="0">
                <a:solidFill>
                  <a:schemeClr val="tx1"/>
                </a:solidFill>
              </a:rPr>
              <a:t>后面的内容表示注释，在程序编译时会跳过。</a:t>
            </a:r>
            <a:endParaRPr lang="zh-CN" altLang="en-US" dirty="0">
              <a:solidFill>
                <a:schemeClr val="tx1"/>
              </a:solidFill>
            </a:endParaRPr>
          </a:p>
        </p:txBody>
      </p:sp>
      <p:sp>
        <p:nvSpPr>
          <p:cNvPr id="2" name="文本框 1"/>
          <p:cNvSpPr txBox="1"/>
          <p:nvPr/>
        </p:nvSpPr>
        <p:spPr>
          <a:xfrm>
            <a:off x="316245" y="5005871"/>
            <a:ext cx="8804309" cy="1200329"/>
          </a:xfrm>
          <a:prstGeom prst="rect">
            <a:avLst/>
          </a:prstGeom>
          <a:noFill/>
        </p:spPr>
        <p:txBody>
          <a:bodyPr wrap="square" rtlCol="0">
            <a:spAutoFit/>
          </a:bodyPr>
          <a:lstStyle/>
          <a:p>
            <a:r>
              <a:rPr lang="zh-CN" altLang="zh-CN" sz="2400" kern="100" dirty="0">
                <a:latin typeface="Times New Roman" panose="02020603050405020304" pitchFamily="18" charset="0"/>
                <a:ea typeface="宋体" pitchFamily="2" charset="-122"/>
                <a:cs typeface="Times New Roman" panose="02020603050405020304" pitchFamily="18" charset="0"/>
              </a:rPr>
              <a:t>注释多行时可以选中想要注释的部分，按下组合键</a:t>
            </a:r>
            <a:r>
              <a:rPr lang="en-US" altLang="zh-CN" sz="2400" kern="100" dirty="0">
                <a:solidFill>
                  <a:schemeClr val="accent1">
                    <a:lumMod val="75000"/>
                  </a:schemeClr>
                </a:solidFill>
                <a:latin typeface="Times New Roman" panose="02020603050405020304" pitchFamily="18" charset="0"/>
                <a:ea typeface="宋体" pitchFamily="2" charset="-122"/>
                <a:cs typeface="Times New Roman" panose="02020603050405020304" pitchFamily="18" charset="0"/>
              </a:rPr>
              <a:t>Ctrl+/</a:t>
            </a:r>
            <a:r>
              <a:rPr lang="zh-CN" altLang="zh-CN" sz="2400" kern="100" dirty="0">
                <a:latin typeface="Times New Roman" panose="02020603050405020304" pitchFamily="18" charset="0"/>
                <a:ea typeface="宋体" pitchFamily="2" charset="-122"/>
                <a:cs typeface="Times New Roman" panose="02020603050405020304" pitchFamily="18" charset="0"/>
              </a:rPr>
              <a:t>。另外</a:t>
            </a:r>
            <a:r>
              <a:rPr lang="en-US" altLang="zh-CN" sz="2400" kern="100" dirty="0">
                <a:latin typeface="Times New Roman" panose="02020603050405020304" pitchFamily="18" charset="0"/>
                <a:ea typeface="宋体" pitchFamily="2" charset="-122"/>
                <a:cs typeface="Times New Roman" panose="02020603050405020304" pitchFamily="18" charset="0"/>
              </a:rPr>
              <a:t>PyCharm</a:t>
            </a:r>
            <a:r>
              <a:rPr lang="zh-CN" altLang="zh-CN" sz="2400" kern="100" dirty="0">
                <a:latin typeface="Times New Roman" panose="02020603050405020304" pitchFamily="18" charset="0"/>
                <a:ea typeface="宋体" pitchFamily="2" charset="-122"/>
                <a:cs typeface="Times New Roman" panose="02020603050405020304" pitchFamily="18" charset="0"/>
              </a:rPr>
              <a:t>具有代码自动补全功能，例如输入</a:t>
            </a:r>
            <a:r>
              <a:rPr lang="en-US" altLang="zh-CN" sz="2400" kern="100" dirty="0">
                <a:latin typeface="Times New Roman" panose="02020603050405020304" pitchFamily="18" charset="0"/>
                <a:ea typeface="宋体" pitchFamily="2" charset="-122"/>
                <a:cs typeface="Times New Roman" panose="02020603050405020304" pitchFamily="18" charset="0"/>
              </a:rPr>
              <a:t>pr</a:t>
            </a:r>
            <a:r>
              <a:rPr lang="zh-CN" altLang="zh-CN" sz="2400" kern="100" dirty="0">
                <a:latin typeface="Times New Roman" panose="02020603050405020304" pitchFamily="18" charset="0"/>
                <a:ea typeface="宋体" pitchFamily="2" charset="-122"/>
                <a:cs typeface="Times New Roman" panose="02020603050405020304" pitchFamily="18" charset="0"/>
              </a:rPr>
              <a:t>后按</a:t>
            </a:r>
            <a:r>
              <a:rPr lang="en-US" altLang="zh-CN" sz="2400" kern="100" dirty="0">
                <a:solidFill>
                  <a:schemeClr val="accent1">
                    <a:lumMod val="75000"/>
                  </a:schemeClr>
                </a:solidFill>
                <a:latin typeface="Times New Roman" panose="02020603050405020304" pitchFamily="18" charset="0"/>
                <a:ea typeface="宋体" pitchFamily="2" charset="-122"/>
                <a:cs typeface="Times New Roman" panose="02020603050405020304" pitchFamily="18" charset="0"/>
              </a:rPr>
              <a:t>Tab</a:t>
            </a:r>
            <a:r>
              <a:rPr lang="zh-CN" altLang="zh-CN" sz="2400" kern="100" dirty="0">
                <a:latin typeface="Times New Roman" panose="02020603050405020304" pitchFamily="18" charset="0"/>
                <a:ea typeface="宋体" pitchFamily="2" charset="-122"/>
                <a:cs typeface="Times New Roman" panose="02020603050405020304" pitchFamily="18" charset="0"/>
              </a:rPr>
              <a:t>键即可自动补全为</a:t>
            </a:r>
            <a:r>
              <a:rPr lang="en-US" altLang="zh-CN" sz="2400" kern="100" dirty="0">
                <a:latin typeface="Times New Roman" panose="02020603050405020304" pitchFamily="18" charset="0"/>
                <a:ea typeface="宋体" pitchFamily="2" charset="-122"/>
                <a:cs typeface="Times New Roman" panose="02020603050405020304" pitchFamily="18" charset="0"/>
              </a:rPr>
              <a:t>print()</a:t>
            </a:r>
            <a:r>
              <a:rPr lang="zh-CN" altLang="zh-CN" sz="2400" kern="100" dirty="0">
                <a:latin typeface="Times New Roman" panose="02020603050405020304" pitchFamily="18" charset="0"/>
                <a:ea typeface="宋体" pitchFamily="2" charset="-122"/>
                <a:cs typeface="Times New Roman" panose="02020603050405020304" pitchFamily="18" charset="0"/>
              </a:rPr>
              <a:t>。</a:t>
            </a:r>
            <a:endParaRPr lang="zh-CN" altLang="en-US" sz="2400"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24322" y="1913139"/>
            <a:ext cx="8821266" cy="830997"/>
          </a:xfrm>
          <a:prstGeom prst="rect">
            <a:avLst/>
          </a:prstGeom>
          <a:noFill/>
        </p:spPr>
        <p:txBody>
          <a:bodyPr wrap="square">
            <a:spAutoFit/>
          </a:bodyPr>
          <a:lstStyle/>
          <a:p>
            <a:r>
              <a:rPr lang="zh-CN" altLang="zh-CN" sz="2400" kern="100" dirty="0">
                <a:latin typeface="Times New Roman" panose="02020603050405020304" pitchFamily="18" charset="0"/>
                <a:ea typeface="宋体" pitchFamily="2" charset="-122"/>
                <a:cs typeface="Times New Roman" panose="02020603050405020304" pitchFamily="18" charset="0"/>
              </a:rPr>
              <a:t>遇到需要将字符串拼接</a:t>
            </a:r>
            <a:r>
              <a:rPr lang="zh-CN" altLang="en-US" sz="2400" kern="100" dirty="0">
                <a:latin typeface="Times New Roman" panose="02020603050405020304" pitchFamily="18" charset="0"/>
                <a:ea typeface="宋体" pitchFamily="2" charset="-122"/>
                <a:cs typeface="Times New Roman" panose="02020603050405020304" pitchFamily="18" charset="0"/>
              </a:rPr>
              <a:t>时，</a:t>
            </a:r>
            <a:r>
              <a:rPr lang="zh-CN" altLang="zh-CN" sz="2400" kern="100" dirty="0">
                <a:latin typeface="Times New Roman" panose="02020603050405020304" pitchFamily="18" charset="0"/>
                <a:ea typeface="宋体" pitchFamily="2" charset="-122"/>
                <a:cs typeface="Times New Roman" panose="02020603050405020304" pitchFamily="18" charset="0"/>
              </a:rPr>
              <a:t>在</a:t>
            </a:r>
            <a:r>
              <a:rPr lang="en-US" altLang="zh-CN" sz="2400" kern="100" dirty="0">
                <a:latin typeface="Times New Roman" panose="02020603050405020304" pitchFamily="18" charset="0"/>
                <a:ea typeface="宋体" pitchFamily="2" charset="-122"/>
                <a:cs typeface="Times New Roman" panose="02020603050405020304" pitchFamily="18" charset="0"/>
              </a:rPr>
              <a:t>Python</a:t>
            </a:r>
            <a:r>
              <a:rPr lang="zh-CN" altLang="zh-CN" sz="2400" kern="100" dirty="0">
                <a:latin typeface="Times New Roman" panose="02020603050405020304" pitchFamily="18" charset="0"/>
                <a:ea typeface="宋体" pitchFamily="2" charset="-122"/>
                <a:cs typeface="Times New Roman" panose="02020603050405020304" pitchFamily="18" charset="0"/>
              </a:rPr>
              <a:t>中只需要在不同字符串之间用</a:t>
            </a:r>
            <a:r>
              <a:rPr lang="en-US" altLang="zh-CN" sz="2400" kern="100" dirty="0">
                <a:latin typeface="Times New Roman" panose="02020603050405020304" pitchFamily="18" charset="0"/>
                <a:ea typeface="宋体" pitchFamily="2" charset="-122"/>
                <a:cs typeface="Times New Roman" panose="02020603050405020304" pitchFamily="18" charset="0"/>
              </a:rPr>
              <a:t> </a:t>
            </a:r>
            <a:r>
              <a:rPr lang="en-US" altLang="zh-CN" sz="2400" kern="100" dirty="0">
                <a:solidFill>
                  <a:schemeClr val="accent1">
                    <a:lumMod val="75000"/>
                  </a:schemeClr>
                </a:solidFill>
                <a:latin typeface="Times New Roman" panose="02020603050405020304" pitchFamily="18" charset="0"/>
                <a:ea typeface="宋体" pitchFamily="2" charset="-122"/>
                <a:cs typeface="Times New Roman" panose="02020603050405020304" pitchFamily="18" charset="0"/>
              </a:rPr>
              <a:t>+ </a:t>
            </a:r>
            <a:r>
              <a:rPr lang="zh-CN" altLang="zh-CN" sz="2400" kern="100" dirty="0">
                <a:latin typeface="Times New Roman" panose="02020603050405020304" pitchFamily="18" charset="0"/>
                <a:ea typeface="宋体" pitchFamily="2" charset="-122"/>
                <a:cs typeface="Times New Roman" panose="02020603050405020304" pitchFamily="18" charset="0"/>
              </a:rPr>
              <a:t>连接即可完成拼接。</a:t>
            </a:r>
            <a:endParaRPr lang="zh-CN" altLang="en-US" sz="2400" kern="100" dirty="0">
              <a:latin typeface="Times New Roman" panose="02020603050405020304" pitchFamily="18" charset="0"/>
              <a:ea typeface="宋体" pitchFamily="2" charset="-122"/>
              <a:cs typeface="Times New Roman" panose="02020603050405020304" pitchFamily="18" charset="0"/>
            </a:endParaRPr>
          </a:p>
        </p:txBody>
      </p:sp>
      <p:sp>
        <p:nvSpPr>
          <p:cNvPr id="12" name="文本框 11"/>
          <p:cNvSpPr txBox="1"/>
          <p:nvPr/>
        </p:nvSpPr>
        <p:spPr>
          <a:xfrm>
            <a:off x="145722" y="3307739"/>
            <a:ext cx="4860036" cy="1200329"/>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latin typeface="Times New Roman" panose="02020603050405020304" pitchFamily="18" charset="0"/>
                <a:ea typeface="宋体" pitchFamily="2" charset="-122"/>
                <a:cs typeface="Times New Roman" panose="02020603050405020304" pitchFamily="18" charset="0"/>
              </a:rPr>
              <a:t>例子</a:t>
            </a:r>
            <a:r>
              <a:rPr lang="en-US" altLang="zh-CN" sz="2400" kern="100" dirty="0">
                <a:latin typeface="Times New Roman" panose="02020603050405020304" pitchFamily="18" charset="0"/>
                <a:ea typeface="宋体" pitchFamily="2" charset="-122"/>
                <a:cs typeface="Times New Roman" panose="02020603050405020304" pitchFamily="18" charset="0"/>
              </a:rPr>
              <a:t>1</a:t>
            </a:r>
            <a:r>
              <a:rPr lang="zh-CN" altLang="en-US" sz="2400" kern="100" dirty="0">
                <a:latin typeface="Times New Roman" panose="02020603050405020304" pitchFamily="18" charset="0"/>
                <a:ea typeface="宋体" pitchFamily="2" charset="-122"/>
                <a:cs typeface="Times New Roman" panose="02020603050405020304" pitchFamily="18" charset="0"/>
              </a:rPr>
              <a:t>：</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brand = 'BMW'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print('This is a '+ brand +' car.' )  </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14" name="文本框 13"/>
          <p:cNvSpPr txBox="1"/>
          <p:nvPr/>
        </p:nvSpPr>
        <p:spPr>
          <a:xfrm>
            <a:off x="5436890" y="3492404"/>
            <a:ext cx="3312368" cy="830997"/>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a:t>
            </a:r>
            <a:r>
              <a:rPr lang="en-US" altLang="zh-CN" sz="2400" kern="100" dirty="0">
                <a:solidFill>
                  <a:srgbClr val="000000"/>
                </a:solidFill>
                <a:effectLst/>
                <a:latin typeface="Times New Roman" panose="02020603050405020304" pitchFamily="18" charset="0"/>
                <a:ea typeface="宋体" pitchFamily="2" charset="-122"/>
              </a:rPr>
              <a:t>1 </a:t>
            </a:r>
            <a:r>
              <a:rPr lang="zh-CN" altLang="en-US" sz="2400" kern="100" dirty="0">
                <a:solidFill>
                  <a:srgbClr val="000000"/>
                </a:solidFill>
                <a:effectLst/>
                <a:latin typeface="Times New Roman" panose="02020603050405020304" pitchFamily="18" charset="0"/>
                <a:ea typeface="宋体" pitchFamily="2" charset="-122"/>
              </a:rPr>
              <a:t>运行结果；</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latin typeface="Times New Roman" panose="02020603050405020304" pitchFamily="18" charset="0"/>
                <a:ea typeface="宋体" pitchFamily="2" charset="-122"/>
              </a:rPr>
              <a:t>This is a BMW car.</a:t>
            </a:r>
            <a:endParaRPr lang="zh-CN" altLang="en-US" sz="2400" kern="100" dirty="0">
              <a:solidFill>
                <a:srgbClr val="000000"/>
              </a:solidFill>
              <a:latin typeface="Times New Roman" panose="02020603050405020304" pitchFamily="18" charset="0"/>
              <a:ea typeface="宋体" pitchFamily="2" charset="-122"/>
            </a:endParaRPr>
          </a:p>
        </p:txBody>
      </p:sp>
      <p:sp>
        <p:nvSpPr>
          <p:cNvPr id="10" name="文本框 9"/>
          <p:cNvSpPr txBox="1"/>
          <p:nvPr/>
        </p:nvSpPr>
        <p:spPr>
          <a:xfrm>
            <a:off x="19528" y="1265258"/>
            <a:ext cx="4589754" cy="461665"/>
          </a:xfrm>
          <a:prstGeom prst="rect">
            <a:avLst/>
          </a:prstGeom>
          <a:noFill/>
        </p:spPr>
        <p:txBody>
          <a:bodyPr wrap="square">
            <a:spAutoFit/>
          </a:bodyPr>
          <a:lstStyle/>
          <a:p>
            <a:r>
              <a:rPr lang="en-US" altLang="zh-CN" sz="2400" b="1" dirty="0">
                <a:solidFill>
                  <a:schemeClr val="tx1">
                    <a:lumMod val="75000"/>
                    <a:lumOff val="25000"/>
                  </a:schemeClr>
                </a:solidFill>
                <a:latin typeface="微软雅黑" panose="020B0503020204020204" pitchFamily="34" charset="-122"/>
              </a:rPr>
              <a:t>2.2.2 </a:t>
            </a:r>
            <a:r>
              <a:rPr lang="zh-CN" altLang="zh-CN" sz="2400" b="1" dirty="0">
                <a:solidFill>
                  <a:schemeClr val="tx1">
                    <a:lumMod val="75000"/>
                    <a:lumOff val="25000"/>
                  </a:schemeClr>
                </a:solidFill>
                <a:latin typeface="微软雅黑" panose="020B0503020204020204" pitchFamily="34" charset="-122"/>
              </a:rPr>
              <a:t>字符串与类型转换</a:t>
            </a:r>
            <a:endParaRPr lang="zh-CN" altLang="en-US" sz="2400" dirty="0"/>
          </a:p>
        </p:txBody>
      </p:sp>
    </p:spTree>
  </p:cSld>
  <p:clrMapOvr>
    <a:masterClrMapping/>
  </p:clrMapOvr>
  <p:transition spd="slow" advClick="0" advTm="0">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文本框 12"/>
          <p:cNvSpPr txBox="1"/>
          <p:nvPr/>
        </p:nvSpPr>
        <p:spPr>
          <a:xfrm>
            <a:off x="1257542" y="1498981"/>
            <a:ext cx="5439740" cy="1200329"/>
          </a:xfrm>
          <a:prstGeom prst="rect">
            <a:avLst/>
          </a:prstGeom>
          <a:solidFill>
            <a:schemeClr val="accent6">
              <a:lumMod val="40000"/>
              <a:lumOff val="60000"/>
            </a:schemeClr>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例子</a:t>
            </a:r>
            <a:r>
              <a:rPr lang="en-US" altLang="zh-CN" sz="2400" kern="100" dirty="0">
                <a:solidFill>
                  <a:srgbClr val="000000"/>
                </a:solidFill>
                <a:effectLst/>
                <a:latin typeface="Times New Roman" panose="02020603050405020304" pitchFamily="18" charset="0"/>
                <a:ea typeface="宋体" pitchFamily="2" charset="-122"/>
              </a:rPr>
              <a:t>2</a:t>
            </a:r>
            <a:r>
              <a:rPr lang="zh-CN" altLang="en-US" sz="2400" kern="100" dirty="0">
                <a:solidFill>
                  <a:srgbClr val="000000"/>
                </a:solidFill>
                <a:effectLst/>
                <a:latin typeface="Times New Roman" panose="02020603050405020304" pitchFamily="18" charset="0"/>
                <a:ea typeface="宋体" pitchFamily="2" charset="-122"/>
              </a:rPr>
              <a:t>：</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price = 30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print('This book is '+ price +' dollars.') </a:t>
            </a:r>
            <a:endParaRPr lang="zh-CN" altLang="zh-CN" sz="2400" kern="100" dirty="0">
              <a:effectLst/>
              <a:latin typeface="Times New Roman" panose="02020603050405020304" pitchFamily="18" charset="0"/>
              <a:ea typeface="宋体" pitchFamily="2" charset="-122"/>
            </a:endParaRPr>
          </a:p>
        </p:txBody>
      </p:sp>
      <p:sp>
        <p:nvSpPr>
          <p:cNvPr id="4" name="文本框 3"/>
          <p:cNvSpPr txBox="1"/>
          <p:nvPr/>
        </p:nvSpPr>
        <p:spPr>
          <a:xfrm>
            <a:off x="142957" y="3414063"/>
            <a:ext cx="8773481" cy="2677656"/>
          </a:xfrm>
          <a:prstGeom prst="rect">
            <a:avLst/>
          </a:prstGeom>
          <a:solidFill>
            <a:schemeClr val="accent1">
              <a:lumMod val="75000"/>
            </a:schemeClr>
          </a:solidFill>
        </p:spPr>
        <p:txBody>
          <a:bodyPr wrap="square" rtlCol="0">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a:t>
            </a:r>
            <a:r>
              <a:rPr lang="en-US" altLang="zh-CN" sz="2400" kern="100" dirty="0">
                <a:solidFill>
                  <a:srgbClr val="000000"/>
                </a:solidFill>
                <a:effectLst/>
                <a:latin typeface="Times New Roman" panose="02020603050405020304" pitchFamily="18" charset="0"/>
                <a:ea typeface="宋体" pitchFamily="2" charset="-122"/>
              </a:rPr>
              <a:t>2 </a:t>
            </a:r>
            <a:r>
              <a:rPr lang="zh-CN" altLang="en-US" sz="2400" kern="100" dirty="0">
                <a:solidFill>
                  <a:srgbClr val="000000"/>
                </a:solidFill>
                <a:effectLst/>
                <a:latin typeface="Times New Roman" panose="02020603050405020304" pitchFamily="18" charset="0"/>
                <a:ea typeface="宋体" pitchFamily="2" charset="-122"/>
              </a:rPr>
              <a:t>运行结果：</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Traceback (most recent call last):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File "C:/Users/11041/PycharmProjects/hello_world/hello.py" line 2, in &lt;module&gt;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print('This book is '+price+' dollars.')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err="1">
                <a:solidFill>
                  <a:srgbClr val="000000"/>
                </a:solidFill>
                <a:effectLst/>
                <a:latin typeface="Times New Roman" panose="02020603050405020304" pitchFamily="18" charset="0"/>
                <a:ea typeface="宋体" pitchFamily="2" charset="-122"/>
              </a:rPr>
              <a:t>TypeError</a:t>
            </a:r>
            <a:r>
              <a:rPr lang="en-US" altLang="zh-CN" sz="2400" kern="100" dirty="0">
                <a:solidFill>
                  <a:srgbClr val="000000"/>
                </a:solidFill>
                <a:effectLst/>
                <a:latin typeface="Times New Roman" panose="02020603050405020304" pitchFamily="18" charset="0"/>
                <a:ea typeface="宋体" pitchFamily="2" charset="-122"/>
              </a:rPr>
              <a:t>: can only concatenate str (not "int") to str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Process finished with exit code 1  </a:t>
            </a:r>
            <a:endParaRPr lang="zh-CN" altLang="zh-CN" sz="2400" kern="100" dirty="0">
              <a:effectLst/>
              <a:latin typeface="Times New Roman" panose="02020603050405020304" pitchFamily="18" charset="0"/>
              <a:ea typeface="宋体" pitchFamily="2" charset="-122"/>
            </a:endParaRPr>
          </a:p>
        </p:txBody>
      </p:sp>
      <p:sp>
        <p:nvSpPr>
          <p:cNvPr id="2" name="对话气泡: 椭圆形 1"/>
          <p:cNvSpPr/>
          <p:nvPr/>
        </p:nvSpPr>
        <p:spPr>
          <a:xfrm>
            <a:off x="5474239" y="1875603"/>
            <a:ext cx="3528392" cy="1647414"/>
          </a:xfrm>
          <a:prstGeom prst="wedgeEllipseCallou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800" kern="100" dirty="0">
                <a:solidFill>
                  <a:schemeClr val="tx1"/>
                </a:solidFill>
                <a:effectLst/>
                <a:latin typeface="Times New Roman" panose="02020603050405020304" pitchFamily="18" charset="0"/>
                <a:ea typeface="宋体" pitchFamily="2" charset="-122"/>
                <a:cs typeface="Times New Roman" panose="02020603050405020304" pitchFamily="18" charset="0"/>
              </a:rPr>
              <a:t>因为在设置变量时没有指定类型，所以</a:t>
            </a:r>
            <a:r>
              <a:rPr lang="en-US" altLang="zh-CN" sz="1800" kern="100" dirty="0">
                <a:solidFill>
                  <a:schemeClr val="tx1"/>
                </a:solidFill>
                <a:effectLst/>
                <a:latin typeface="Times New Roman" panose="02020603050405020304" pitchFamily="18" charset="0"/>
                <a:ea typeface="宋体" pitchFamily="2" charset="-122"/>
              </a:rPr>
              <a:t>price</a:t>
            </a:r>
            <a:r>
              <a:rPr lang="zh-CN" altLang="zh-CN" sz="1800" kern="100" dirty="0">
                <a:solidFill>
                  <a:schemeClr val="tx1"/>
                </a:solidFill>
                <a:effectLst/>
                <a:latin typeface="Times New Roman" panose="02020603050405020304" pitchFamily="18" charset="0"/>
                <a:ea typeface="宋体" pitchFamily="2" charset="-122"/>
                <a:cs typeface="Times New Roman" panose="02020603050405020304" pitchFamily="18" charset="0"/>
              </a:rPr>
              <a:t>默认为整数类型而引发了错误</a:t>
            </a:r>
            <a:endParaRPr lang="zh-CN" altLang="en-US" dirty="0">
              <a:solidFill>
                <a:schemeClr val="tx1"/>
              </a:solidFill>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24322" y="1380496"/>
            <a:ext cx="8496944" cy="830997"/>
          </a:xfrm>
          <a:prstGeom prst="rect">
            <a:avLst/>
          </a:prstGeom>
          <a:noFill/>
        </p:spPr>
        <p:txBody>
          <a:bodyPr wrap="square">
            <a:spAutoFit/>
          </a:bodyPr>
          <a:lstStyle/>
          <a:p>
            <a:r>
              <a:rPr lang="zh-CN" altLang="zh-CN" sz="2400" kern="100" dirty="0">
                <a:effectLst/>
                <a:latin typeface="Times New Roman" panose="02020603050405020304" pitchFamily="18" charset="0"/>
                <a:ea typeface="宋体" pitchFamily="2" charset="-122"/>
                <a:cs typeface="Times New Roman" panose="02020603050405020304" pitchFamily="18" charset="0"/>
              </a:rPr>
              <a:t>在使用数字变量进行字符串拼接时要注意</a:t>
            </a:r>
            <a:r>
              <a:rPr lang="zh-CN" altLang="en-US" sz="2400" kern="100" dirty="0">
                <a:effectLst/>
                <a:latin typeface="Times New Roman" panose="02020603050405020304" pitchFamily="18" charset="0"/>
                <a:ea typeface="宋体" pitchFamily="2" charset="-122"/>
                <a:cs typeface="Times New Roman" panose="02020603050405020304" pitchFamily="18" charset="0"/>
              </a:rPr>
              <a:t>变量类型</a:t>
            </a:r>
            <a:r>
              <a:rPr lang="zh-CN" altLang="zh-CN" sz="2400" kern="100" dirty="0">
                <a:effectLst/>
                <a:latin typeface="Times New Roman" panose="02020603050405020304" pitchFamily="18" charset="0"/>
                <a:ea typeface="宋体" pitchFamily="2" charset="-122"/>
                <a:cs typeface="Times New Roman" panose="02020603050405020304" pitchFamily="18" charset="0"/>
              </a:rPr>
              <a:t>。在这种情况下需要手动将</a:t>
            </a:r>
            <a:r>
              <a:rPr lang="en-US" altLang="zh-CN" sz="2400" kern="100" dirty="0">
                <a:effectLst/>
                <a:latin typeface="Times New Roman" panose="02020603050405020304" pitchFamily="18" charset="0"/>
                <a:ea typeface="宋体" pitchFamily="2" charset="-122"/>
              </a:rPr>
              <a:t>price</a:t>
            </a:r>
            <a:r>
              <a:rPr lang="zh-CN" altLang="zh-CN" sz="2400" kern="100" dirty="0">
                <a:effectLst/>
                <a:latin typeface="Times New Roman" panose="02020603050405020304" pitchFamily="18" charset="0"/>
                <a:ea typeface="宋体" pitchFamily="2" charset="-122"/>
                <a:cs typeface="Times New Roman" panose="02020603050405020304" pitchFamily="18" charset="0"/>
              </a:rPr>
              <a:t>变量的类型转换为字符串：</a:t>
            </a:r>
            <a:endParaRPr lang="zh-CN" altLang="en-US" sz="2400" kern="100" dirty="0">
              <a:latin typeface="Times New Roman" panose="02020603050405020304" pitchFamily="18" charset="0"/>
              <a:ea typeface="宋体" pitchFamily="2" charset="-122"/>
              <a:cs typeface="Times New Roman" panose="02020603050405020304" pitchFamily="18" charset="0"/>
            </a:endParaRPr>
          </a:p>
        </p:txBody>
      </p:sp>
      <p:sp>
        <p:nvSpPr>
          <p:cNvPr id="12" name="文本框 11"/>
          <p:cNvSpPr txBox="1"/>
          <p:nvPr/>
        </p:nvSpPr>
        <p:spPr>
          <a:xfrm>
            <a:off x="252314" y="2997746"/>
            <a:ext cx="5698554" cy="1200329"/>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latin typeface="Times New Roman" panose="02020603050405020304" pitchFamily="18" charset="0"/>
                <a:ea typeface="宋体" pitchFamily="2" charset="-122"/>
                <a:cs typeface="Times New Roman" panose="02020603050405020304" pitchFamily="18" charset="0"/>
              </a:rPr>
              <a:t>例子</a:t>
            </a:r>
            <a:r>
              <a:rPr lang="en-US" altLang="zh-CN" sz="2400" kern="100" dirty="0">
                <a:latin typeface="Times New Roman" panose="02020603050405020304" pitchFamily="18" charset="0"/>
                <a:ea typeface="宋体" pitchFamily="2" charset="-122"/>
                <a:cs typeface="Times New Roman" panose="02020603050405020304" pitchFamily="18" charset="0"/>
              </a:rPr>
              <a:t>3</a:t>
            </a:r>
            <a:r>
              <a:rPr lang="zh-CN" altLang="en-US" sz="2400" kern="100" dirty="0">
                <a:latin typeface="Times New Roman" panose="02020603050405020304" pitchFamily="18" charset="0"/>
                <a:ea typeface="宋体" pitchFamily="2" charset="-122"/>
                <a:cs typeface="Times New Roman" panose="02020603050405020304" pitchFamily="18" charset="0"/>
              </a:rPr>
              <a:t>：</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price = 30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print('This book is '+</a:t>
            </a:r>
            <a:r>
              <a:rPr lang="en-US" altLang="zh-CN" sz="2400" kern="100" dirty="0">
                <a:solidFill>
                  <a:schemeClr val="accent1">
                    <a:lumMod val="75000"/>
                  </a:schemeClr>
                </a:solidFill>
                <a:latin typeface="Times New Roman" panose="02020603050405020304" pitchFamily="18" charset="0"/>
                <a:ea typeface="宋体" pitchFamily="2" charset="-122"/>
                <a:cs typeface="Times New Roman" panose="02020603050405020304" pitchFamily="18" charset="0"/>
              </a:rPr>
              <a:t>str(price)+' </a:t>
            </a:r>
            <a:r>
              <a:rPr lang="en-US" altLang="zh-CN" sz="2400" kern="100" dirty="0">
                <a:latin typeface="Times New Roman" panose="02020603050405020304" pitchFamily="18" charset="0"/>
                <a:ea typeface="宋体" pitchFamily="2" charset="-122"/>
                <a:cs typeface="Times New Roman" panose="02020603050405020304" pitchFamily="18" charset="0"/>
              </a:rPr>
              <a:t>dollars.')</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14" name="文本框 13"/>
          <p:cNvSpPr txBox="1"/>
          <p:nvPr/>
        </p:nvSpPr>
        <p:spPr>
          <a:xfrm>
            <a:off x="5292874" y="4581922"/>
            <a:ext cx="3312368" cy="830997"/>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a:t>
            </a:r>
            <a:r>
              <a:rPr lang="en-US" altLang="zh-CN" sz="2400" kern="100" dirty="0">
                <a:solidFill>
                  <a:srgbClr val="000000"/>
                </a:solidFill>
                <a:effectLst/>
                <a:latin typeface="Times New Roman" panose="02020603050405020304" pitchFamily="18" charset="0"/>
                <a:ea typeface="宋体" pitchFamily="2" charset="-122"/>
              </a:rPr>
              <a:t>3 </a:t>
            </a:r>
            <a:r>
              <a:rPr lang="zh-CN" altLang="en-US" sz="2400" kern="100" dirty="0">
                <a:solidFill>
                  <a:srgbClr val="000000"/>
                </a:solidFill>
                <a:effectLst/>
                <a:latin typeface="Times New Roman" panose="02020603050405020304" pitchFamily="18" charset="0"/>
                <a:ea typeface="宋体" pitchFamily="2" charset="-122"/>
              </a:rPr>
              <a:t>运行结果；</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This book is 30 dollars.</a:t>
            </a:r>
            <a:endParaRPr lang="zh-CN" altLang="en-US" sz="2400"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09338" y="1506481"/>
            <a:ext cx="8496944" cy="1200329"/>
          </a:xfrm>
          <a:prstGeom prst="rect">
            <a:avLst/>
          </a:prstGeom>
          <a:noFill/>
        </p:spPr>
        <p:txBody>
          <a:bodyPr wrap="square">
            <a:spAutoFit/>
          </a:bodyPr>
          <a:lstStyle/>
          <a:p>
            <a:pPr indent="266700" algn="just"/>
            <a:r>
              <a:rPr lang="zh-CN" altLang="zh-CN" sz="2400" kern="100" dirty="0">
                <a:latin typeface="Times New Roman" panose="02020603050405020304" pitchFamily="18" charset="0"/>
                <a:ea typeface="宋体" pitchFamily="2" charset="-122"/>
                <a:cs typeface="Times New Roman" panose="02020603050405020304" pitchFamily="18" charset="0"/>
              </a:rPr>
              <a:t>列表由一系列元素按照一定顺序组成，</a:t>
            </a:r>
            <a:r>
              <a:rPr lang="zh-CN" altLang="en-US" sz="2400" kern="100" dirty="0">
                <a:latin typeface="Times New Roman" panose="02020603050405020304" pitchFamily="18" charset="0"/>
                <a:ea typeface="宋体" pitchFamily="2" charset="-122"/>
                <a:cs typeface="Times New Roman" panose="02020603050405020304" pitchFamily="18" charset="0"/>
              </a:rPr>
              <a:t>在</a:t>
            </a:r>
            <a:r>
              <a:rPr lang="en-US" altLang="zh-CN" sz="2400" kern="100" dirty="0">
                <a:latin typeface="Times New Roman" panose="02020603050405020304" pitchFamily="18" charset="0"/>
                <a:ea typeface="宋体" pitchFamily="2" charset="-122"/>
                <a:cs typeface="Times New Roman" panose="02020603050405020304" pitchFamily="18" charset="0"/>
              </a:rPr>
              <a:t>Python</a:t>
            </a:r>
            <a:r>
              <a:rPr lang="zh-CN" altLang="zh-CN" sz="2400" kern="100" dirty="0">
                <a:latin typeface="Times New Roman" panose="02020603050405020304" pitchFamily="18" charset="0"/>
                <a:ea typeface="宋体" pitchFamily="2" charset="-122"/>
                <a:cs typeface="Times New Roman" panose="02020603050405020304" pitchFamily="18" charset="0"/>
              </a:rPr>
              <a:t>中不需要指定列表的大小。</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r>
              <a:rPr lang="zh-CN" altLang="zh-CN" sz="2400" kern="100" dirty="0">
                <a:latin typeface="Times New Roman" panose="02020603050405020304" pitchFamily="18" charset="0"/>
                <a:ea typeface="宋体" pitchFamily="2" charset="-122"/>
                <a:cs typeface="Times New Roman" panose="02020603050405020304" pitchFamily="18" charset="0"/>
              </a:rPr>
              <a:t>列表用方括号</a:t>
            </a:r>
            <a:r>
              <a:rPr lang="en-US" altLang="zh-CN" sz="2400" kern="100" dirty="0">
                <a:latin typeface="Times New Roman" panose="02020603050405020304" pitchFamily="18" charset="0"/>
                <a:ea typeface="宋体" pitchFamily="2" charset="-122"/>
                <a:cs typeface="Times New Roman" panose="02020603050405020304" pitchFamily="18" charset="0"/>
              </a:rPr>
              <a:t>[ ]</a:t>
            </a:r>
            <a:r>
              <a:rPr lang="zh-CN" altLang="zh-CN" sz="2400" kern="100" dirty="0">
                <a:latin typeface="Times New Roman" panose="02020603050405020304" pitchFamily="18" charset="0"/>
                <a:ea typeface="宋体" pitchFamily="2" charset="-122"/>
                <a:cs typeface="Times New Roman" panose="02020603050405020304" pitchFamily="18" charset="0"/>
              </a:rPr>
              <a:t>表示，其中的各个元素用逗号分隔开来。</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12" name="文本框 11"/>
          <p:cNvSpPr txBox="1"/>
          <p:nvPr/>
        </p:nvSpPr>
        <p:spPr>
          <a:xfrm>
            <a:off x="324322" y="2781722"/>
            <a:ext cx="5882029" cy="3785652"/>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latin typeface="Times New Roman" panose="02020603050405020304" pitchFamily="18" charset="0"/>
                <a:ea typeface="宋体" pitchFamily="2" charset="-122"/>
                <a:cs typeface="Times New Roman" panose="02020603050405020304" pitchFamily="18" charset="0"/>
              </a:rPr>
              <a:t>例子</a:t>
            </a:r>
            <a:r>
              <a:rPr lang="en-US" altLang="zh-CN" sz="2400" kern="100" dirty="0">
                <a:latin typeface="Times New Roman" panose="02020603050405020304" pitchFamily="18" charset="0"/>
                <a:ea typeface="宋体" pitchFamily="2" charset="-122"/>
                <a:cs typeface="Times New Roman" panose="02020603050405020304" pitchFamily="18" charset="0"/>
              </a:rPr>
              <a:t>4</a:t>
            </a:r>
            <a:r>
              <a:rPr lang="zh-CN" altLang="en-US" sz="2400" kern="100" dirty="0">
                <a:latin typeface="Times New Roman" panose="02020603050405020304" pitchFamily="18" charset="0"/>
                <a:ea typeface="宋体" pitchFamily="2" charset="-122"/>
                <a:cs typeface="Times New Roman" panose="02020603050405020304" pitchFamily="18" charset="0"/>
              </a:rPr>
              <a:t> 列表访问元素：</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names = ['SATOMI','Bill','</a:t>
            </a:r>
            <a:r>
              <a:rPr lang="en-US" altLang="zh-CN" sz="2400" kern="100" dirty="0" err="1">
                <a:latin typeface="Times New Roman" panose="02020603050405020304" pitchFamily="18" charset="0"/>
                <a:ea typeface="宋体" pitchFamily="2" charset="-122"/>
                <a:cs typeface="Times New Roman" panose="02020603050405020304" pitchFamily="18" charset="0"/>
              </a:rPr>
              <a:t>LiLei</a:t>
            </a:r>
            <a:r>
              <a:rPr lang="en-US" altLang="zh-CN" sz="2400" kern="100" dirty="0">
                <a:latin typeface="Times New Roman" panose="02020603050405020304" pitchFamily="18" charset="0"/>
                <a:ea typeface="宋体" pitchFamily="2" charset="-122"/>
                <a:cs typeface="Times New Roman" panose="02020603050405020304" pitchFamily="18" charset="0"/>
              </a:rPr>
              <a:t>','</a:t>
            </a:r>
            <a:r>
              <a:rPr lang="en-US" altLang="zh-CN" sz="2400" kern="100" dirty="0" err="1">
                <a:latin typeface="Times New Roman" panose="02020603050405020304" pitchFamily="18" charset="0"/>
                <a:ea typeface="宋体" pitchFamily="2" charset="-122"/>
                <a:cs typeface="Times New Roman" panose="02020603050405020304" pitchFamily="18" charset="0"/>
              </a:rPr>
              <a:t>Jobs','Zed</a:t>
            </a:r>
            <a:r>
              <a:rPr lang="en-US" altLang="zh-CN" sz="2400" kern="100" dirty="0">
                <a:latin typeface="Times New Roman" panose="02020603050405020304" pitchFamily="18" charset="0"/>
                <a:ea typeface="宋体" pitchFamily="2" charset="-122"/>
                <a:cs typeface="Times New Roman" panose="02020603050405020304" pitchFamily="18" charset="0"/>
              </a:rPr>
              <a:t>']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a:t>
            </a:r>
            <a:r>
              <a:rPr lang="zh-CN" altLang="zh-CN" sz="2400" kern="100" dirty="0">
                <a:latin typeface="Times New Roman" panose="02020603050405020304" pitchFamily="18" charset="0"/>
                <a:ea typeface="宋体" pitchFamily="2" charset="-122"/>
                <a:cs typeface="Times New Roman" panose="02020603050405020304" pitchFamily="18" charset="0"/>
              </a:rPr>
              <a:t>打印整个列表</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print(names)  #</a:t>
            </a:r>
            <a:r>
              <a:rPr lang="zh-CN" altLang="zh-CN" sz="2400" kern="100" dirty="0">
                <a:latin typeface="Times New Roman" panose="02020603050405020304" pitchFamily="18" charset="0"/>
                <a:ea typeface="宋体" pitchFamily="2" charset="-122"/>
                <a:cs typeface="Times New Roman" panose="02020603050405020304" pitchFamily="18" charset="0"/>
              </a:rPr>
              <a:t>列表中的元素序号从</a:t>
            </a:r>
            <a:r>
              <a:rPr lang="en-US" altLang="zh-CN" sz="2400" kern="100" dirty="0">
                <a:latin typeface="Times New Roman" panose="02020603050405020304" pitchFamily="18" charset="0"/>
                <a:ea typeface="宋体" pitchFamily="2" charset="-122"/>
                <a:cs typeface="Times New Roman" panose="02020603050405020304" pitchFamily="18" charset="0"/>
              </a:rPr>
              <a:t>0</a:t>
            </a:r>
            <a:r>
              <a:rPr lang="zh-CN" altLang="zh-CN" sz="2400" kern="100" dirty="0">
                <a:latin typeface="Times New Roman" panose="02020603050405020304" pitchFamily="18" charset="0"/>
                <a:ea typeface="宋体" pitchFamily="2" charset="-122"/>
                <a:cs typeface="Times New Roman" panose="02020603050405020304" pitchFamily="18" charset="0"/>
              </a:rPr>
              <a:t>开始，此处访问了列表中的第一个元素</a:t>
            </a:r>
            <a:r>
              <a:rPr lang="en-US" altLang="zh-CN" sz="2400" kern="100" dirty="0">
                <a:latin typeface="Times New Roman" panose="02020603050405020304" pitchFamily="18" charset="0"/>
                <a:ea typeface="宋体" pitchFamily="2" charset="-122"/>
                <a:cs typeface="Times New Roman" panose="02020603050405020304" pitchFamily="18" charset="0"/>
              </a:rPr>
              <a:t>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print(names[0])   #</a:t>
            </a:r>
            <a:r>
              <a:rPr lang="zh-CN" altLang="zh-CN" sz="2400" kern="100" dirty="0">
                <a:latin typeface="Times New Roman" panose="02020603050405020304" pitchFamily="18" charset="0"/>
                <a:ea typeface="宋体" pitchFamily="2" charset="-122"/>
                <a:cs typeface="Times New Roman" panose="02020603050405020304" pitchFamily="18" charset="0"/>
              </a:rPr>
              <a:t>访问第三个元素</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print(names[2])    #</a:t>
            </a:r>
            <a:r>
              <a:rPr lang="zh-CN" altLang="zh-CN" sz="2400" kern="100" dirty="0">
                <a:latin typeface="Times New Roman" panose="02020603050405020304" pitchFamily="18" charset="0"/>
                <a:ea typeface="宋体" pitchFamily="2" charset="-122"/>
                <a:cs typeface="Times New Roman" panose="02020603050405020304" pitchFamily="18" charset="0"/>
              </a:rPr>
              <a:t>访问最后一个元素，序号</a:t>
            </a:r>
            <a:r>
              <a:rPr lang="en-US" altLang="zh-CN" sz="2400" kern="100" dirty="0">
                <a:latin typeface="Times New Roman" panose="02020603050405020304" pitchFamily="18" charset="0"/>
                <a:ea typeface="宋体" pitchFamily="2" charset="-122"/>
                <a:cs typeface="Times New Roman" panose="02020603050405020304" pitchFamily="18" charset="0"/>
              </a:rPr>
              <a:t>-1</a:t>
            </a:r>
            <a:r>
              <a:rPr lang="zh-CN" altLang="zh-CN" sz="2400" kern="100" dirty="0">
                <a:latin typeface="Times New Roman" panose="02020603050405020304" pitchFamily="18" charset="0"/>
                <a:ea typeface="宋体" pitchFamily="2" charset="-122"/>
                <a:cs typeface="Times New Roman" panose="02020603050405020304" pitchFamily="18" charset="0"/>
              </a:rPr>
              <a:t>代表列表的最后一个元素</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print(names[-1])  #</a:t>
            </a:r>
            <a:r>
              <a:rPr lang="zh-CN" altLang="zh-CN" sz="2400" kern="100" dirty="0">
                <a:latin typeface="Times New Roman" panose="02020603050405020304" pitchFamily="18" charset="0"/>
                <a:ea typeface="宋体" pitchFamily="2" charset="-122"/>
                <a:cs typeface="Times New Roman" panose="02020603050405020304" pitchFamily="18" charset="0"/>
              </a:rPr>
              <a:t>访问倒数第二个元素</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print(names[-2]) </a:t>
            </a:r>
            <a:r>
              <a:rPr lang="zh-CN" altLang="zh-CN" sz="2400" kern="100" dirty="0">
                <a:latin typeface="Times New Roman" panose="02020603050405020304" pitchFamily="18" charset="0"/>
                <a:ea typeface="宋体" pitchFamily="2" charset="-122"/>
                <a:cs typeface="Times New Roman" panose="02020603050405020304" pitchFamily="18" charset="0"/>
              </a:rPr>
              <a:t> </a:t>
            </a:r>
            <a:endParaRPr lang="zh-CN" altLang="en-US" sz="2400" kern="100" dirty="0">
              <a:latin typeface="Times New Roman" panose="02020603050405020304" pitchFamily="18" charset="0"/>
              <a:ea typeface="宋体" pitchFamily="2" charset="-122"/>
              <a:cs typeface="Times New Roman" panose="02020603050405020304" pitchFamily="18" charset="0"/>
            </a:endParaRPr>
          </a:p>
        </p:txBody>
      </p:sp>
      <p:sp>
        <p:nvSpPr>
          <p:cNvPr id="14" name="文本框 13"/>
          <p:cNvSpPr txBox="1"/>
          <p:nvPr/>
        </p:nvSpPr>
        <p:spPr>
          <a:xfrm>
            <a:off x="3636690" y="4243471"/>
            <a:ext cx="5256584" cy="2308324"/>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a:t>
            </a:r>
            <a:r>
              <a:rPr lang="en-US" altLang="zh-CN" sz="2400" kern="100" dirty="0">
                <a:solidFill>
                  <a:srgbClr val="000000"/>
                </a:solidFill>
                <a:effectLst/>
                <a:latin typeface="Times New Roman" panose="02020603050405020304" pitchFamily="18" charset="0"/>
                <a:ea typeface="宋体" pitchFamily="2" charset="-122"/>
              </a:rPr>
              <a:t>4 </a:t>
            </a:r>
            <a:r>
              <a:rPr lang="zh-CN" altLang="en-US" sz="2400" kern="100" dirty="0">
                <a:solidFill>
                  <a:srgbClr val="000000"/>
                </a:solidFill>
                <a:effectLst/>
                <a:latin typeface="Times New Roman" panose="02020603050405020304" pitchFamily="18" charset="0"/>
                <a:ea typeface="宋体" pitchFamily="2" charset="-122"/>
              </a:rPr>
              <a:t>运行结果；</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['SATOMI', 'Bill', '</a:t>
            </a:r>
            <a:r>
              <a:rPr lang="en-US" altLang="zh-CN" sz="2400" kern="100" dirty="0" err="1">
                <a:latin typeface="Times New Roman" panose="02020603050405020304" pitchFamily="18" charset="0"/>
                <a:ea typeface="宋体" pitchFamily="2" charset="-122"/>
                <a:cs typeface="Times New Roman" panose="02020603050405020304" pitchFamily="18" charset="0"/>
              </a:rPr>
              <a:t>LiLei</a:t>
            </a:r>
            <a:r>
              <a:rPr lang="en-US" altLang="zh-CN" sz="2400" kern="100" dirty="0">
                <a:latin typeface="Times New Roman" panose="02020603050405020304" pitchFamily="18" charset="0"/>
                <a:ea typeface="宋体" pitchFamily="2" charset="-122"/>
                <a:cs typeface="Times New Roman" panose="02020603050405020304" pitchFamily="18" charset="0"/>
              </a:rPr>
              <a:t>', 'Jobs', 'Zed']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SATOMI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err="1">
                <a:latin typeface="Times New Roman" panose="02020603050405020304" pitchFamily="18" charset="0"/>
                <a:ea typeface="宋体" pitchFamily="2" charset="-122"/>
                <a:cs typeface="Times New Roman" panose="02020603050405020304" pitchFamily="18" charset="0"/>
              </a:rPr>
              <a:t>LiLei</a:t>
            </a:r>
            <a:r>
              <a:rPr lang="en-US" altLang="zh-CN" sz="2400" kern="100" dirty="0">
                <a:latin typeface="Times New Roman" panose="02020603050405020304" pitchFamily="18" charset="0"/>
                <a:ea typeface="宋体" pitchFamily="2" charset="-122"/>
                <a:cs typeface="Times New Roman" panose="02020603050405020304" pitchFamily="18" charset="0"/>
              </a:rPr>
              <a:t>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Zed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Jobs  </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2" name="文本框 1"/>
          <p:cNvSpPr txBox="1"/>
          <p:nvPr/>
        </p:nvSpPr>
        <p:spPr>
          <a:xfrm>
            <a:off x="142957" y="1151050"/>
            <a:ext cx="2304256" cy="461665"/>
          </a:xfrm>
          <a:prstGeom prst="rect">
            <a:avLst/>
          </a:prstGeom>
          <a:noFill/>
        </p:spPr>
        <p:txBody>
          <a:bodyPr wrap="square" rtlCol="0">
            <a:spAutoFit/>
          </a:bodyPr>
          <a:lstStyle/>
          <a:p>
            <a:r>
              <a:rPr lang="en-US" altLang="zh-CN" sz="2400" b="1" dirty="0"/>
              <a:t>2.2.3 </a:t>
            </a:r>
            <a:r>
              <a:rPr lang="zh-CN" altLang="en-US" sz="2400" b="1" dirty="0"/>
              <a:t>列表</a:t>
            </a:r>
            <a:endParaRPr lang="zh-CN" altLang="en-US" sz="2400" b="1" dirty="0"/>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24322" y="1253552"/>
            <a:ext cx="8496944" cy="830997"/>
          </a:xfrm>
          <a:prstGeom prst="rect">
            <a:avLst/>
          </a:prstGeom>
          <a:noFill/>
        </p:spPr>
        <p:txBody>
          <a:bodyPr wrap="square">
            <a:spAutoFit/>
          </a:bodyPr>
          <a:lstStyle/>
          <a:p>
            <a:pPr indent="266700" algn="just"/>
            <a:r>
              <a:rPr lang="zh-CN" altLang="zh-CN" sz="2400" b="1" kern="100" dirty="0">
                <a:effectLst/>
                <a:latin typeface="Times New Roman" panose="02020603050405020304" pitchFamily="18" charset="0"/>
                <a:ea typeface="宋体" pitchFamily="2" charset="-122"/>
                <a:cs typeface="Times New Roman" panose="02020603050405020304" pitchFamily="18" charset="0"/>
              </a:rPr>
              <a:t>修改列表元素的方法</a:t>
            </a:r>
            <a:r>
              <a:rPr lang="zh-CN" altLang="zh-CN" sz="2400" kern="100" dirty="0">
                <a:effectLst/>
                <a:latin typeface="Times New Roman" panose="02020603050405020304" pitchFamily="18" charset="0"/>
                <a:ea typeface="宋体" pitchFamily="2" charset="-122"/>
                <a:cs typeface="Times New Roman" panose="02020603050405020304" pitchFamily="18" charset="0"/>
              </a:rPr>
              <a:t>：指定列表名与元素序号，再指定此处元素的新值</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12" name="文本框 11"/>
          <p:cNvSpPr txBox="1"/>
          <p:nvPr/>
        </p:nvSpPr>
        <p:spPr>
          <a:xfrm>
            <a:off x="1523767" y="2224703"/>
            <a:ext cx="5882029" cy="1938992"/>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latin typeface="Times New Roman" panose="02020603050405020304" pitchFamily="18" charset="0"/>
                <a:ea typeface="宋体" pitchFamily="2" charset="-122"/>
                <a:cs typeface="Times New Roman" panose="02020603050405020304" pitchFamily="18" charset="0"/>
              </a:rPr>
              <a:t>例子</a:t>
            </a:r>
            <a:r>
              <a:rPr lang="en-US" altLang="zh-CN" sz="2400" kern="100" dirty="0">
                <a:latin typeface="Times New Roman" panose="02020603050405020304" pitchFamily="18" charset="0"/>
                <a:ea typeface="宋体" pitchFamily="2" charset="-122"/>
                <a:cs typeface="Times New Roman" panose="02020603050405020304" pitchFamily="18" charset="0"/>
              </a:rPr>
              <a:t>5</a:t>
            </a:r>
            <a:r>
              <a:rPr lang="zh-CN" altLang="en-US" sz="2400" kern="100" dirty="0">
                <a:latin typeface="Times New Roman" panose="02020603050405020304" pitchFamily="18" charset="0"/>
                <a:ea typeface="宋体" pitchFamily="2" charset="-122"/>
                <a:cs typeface="Times New Roman" panose="02020603050405020304" pitchFamily="18" charset="0"/>
              </a:rPr>
              <a:t>  列表访问元素：</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dirty="0">
                <a:latin typeface="Times New Roman" panose="02020603050405020304" pitchFamily="18" charset="0"/>
                <a:cs typeface="Times New Roman" panose="02020603050405020304" pitchFamily="18" charset="0"/>
              </a:rPr>
              <a:t>names = ['SATOMI','Bill','</a:t>
            </a:r>
            <a:r>
              <a:rPr lang="en-US" altLang="zh-CN" sz="2400" dirty="0" err="1">
                <a:latin typeface="Times New Roman" panose="02020603050405020304" pitchFamily="18" charset="0"/>
                <a:cs typeface="Times New Roman" panose="02020603050405020304" pitchFamily="18" charset="0"/>
              </a:rPr>
              <a:t>LiLei</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Jobs','Zed</a:t>
            </a:r>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pPr indent="266700" algn="l" fontAlgn="ctr"/>
            <a:r>
              <a:rPr lang="en-US" altLang="zh-CN" sz="2400" dirty="0">
                <a:latin typeface="Times New Roman" panose="02020603050405020304" pitchFamily="18" charset="0"/>
                <a:cs typeface="Times New Roman" panose="02020603050405020304" pitchFamily="18" charset="0"/>
              </a:rPr>
              <a:t>print(names)  </a:t>
            </a:r>
            <a:endParaRPr lang="zh-CN" altLang="zh-CN" sz="2400" dirty="0">
              <a:latin typeface="Times New Roman" panose="02020603050405020304" pitchFamily="18" charset="0"/>
              <a:cs typeface="Times New Roman" panose="02020603050405020304" pitchFamily="18" charset="0"/>
            </a:endParaRPr>
          </a:p>
          <a:p>
            <a:pPr indent="266700" algn="l" fontAlgn="ctr"/>
            <a:r>
              <a:rPr lang="en-US" altLang="zh-CN" sz="2400" dirty="0">
                <a:latin typeface="Times New Roman" panose="02020603050405020304" pitchFamily="18" charset="0"/>
                <a:cs typeface="Times New Roman" panose="02020603050405020304" pitchFamily="18" charset="0"/>
              </a:rPr>
              <a:t>names[1]='Tom'    #</a:t>
            </a:r>
            <a:r>
              <a:rPr lang="zh-CN" altLang="zh-CN" sz="2400" dirty="0">
                <a:latin typeface="Times New Roman" panose="02020603050405020304" pitchFamily="18" charset="0"/>
                <a:cs typeface="Times New Roman" panose="02020603050405020304" pitchFamily="18" charset="0"/>
              </a:rPr>
              <a:t>修改第二个元素</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print(names)</a:t>
            </a:r>
            <a:endParaRPr lang="zh-CN" altLang="en-US" sz="2400"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1836490" y="4374397"/>
            <a:ext cx="5256584" cy="1200329"/>
          </a:xfrm>
          <a:prstGeom prst="rect">
            <a:avLst/>
          </a:prstGeom>
          <a:solidFill>
            <a:srgbClr val="92D050"/>
          </a:solidFill>
        </p:spPr>
        <p:txBody>
          <a:bodyPr wrap="square">
            <a:spAutoFit/>
          </a:bodyPr>
          <a:lstStyle/>
          <a:p>
            <a:pPr indent="266700" fontAlgn="ctr"/>
            <a:r>
              <a:rPr lang="zh-CN" altLang="en-US" sz="2400" dirty="0">
                <a:latin typeface="Times New Roman" panose="02020603050405020304" pitchFamily="18" charset="0"/>
                <a:cs typeface="Times New Roman" panose="02020603050405020304" pitchFamily="18" charset="0"/>
              </a:rPr>
              <a:t>例</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 运行结果；</a:t>
            </a:r>
            <a:endParaRPr lang="en-US" altLang="zh-CN" sz="2400" dirty="0">
              <a:latin typeface="Times New Roman" panose="02020603050405020304" pitchFamily="18" charset="0"/>
              <a:cs typeface="Times New Roman" panose="02020603050405020304" pitchFamily="18" charset="0"/>
            </a:endParaRPr>
          </a:p>
          <a:p>
            <a:pPr indent="266700" fontAlgn="ctr"/>
            <a:r>
              <a:rPr lang="en-US" altLang="zh-CN" sz="2400" dirty="0">
                <a:latin typeface="Times New Roman" panose="02020603050405020304" pitchFamily="18" charset="0"/>
                <a:cs typeface="Times New Roman" panose="02020603050405020304" pitchFamily="18" charset="0"/>
              </a:rPr>
              <a:t>['SATOMI', 'Bill', '</a:t>
            </a:r>
            <a:r>
              <a:rPr lang="en-US" altLang="zh-CN" sz="2400" dirty="0" err="1">
                <a:latin typeface="Times New Roman" panose="02020603050405020304" pitchFamily="18" charset="0"/>
                <a:cs typeface="Times New Roman" panose="02020603050405020304" pitchFamily="18" charset="0"/>
              </a:rPr>
              <a:t>LiLei</a:t>
            </a:r>
            <a:r>
              <a:rPr lang="en-US" altLang="zh-CN" sz="2400" dirty="0">
                <a:latin typeface="Times New Roman" panose="02020603050405020304" pitchFamily="18" charset="0"/>
                <a:cs typeface="Times New Roman" panose="02020603050405020304" pitchFamily="18" charset="0"/>
              </a:rPr>
              <a:t>', 'Jobs', 'Zed']  </a:t>
            </a:r>
            <a:endParaRPr lang="zh-CN" altLang="zh-CN" sz="2400" dirty="0">
              <a:latin typeface="Times New Roman" panose="02020603050405020304" pitchFamily="18" charset="0"/>
              <a:cs typeface="Times New Roman" panose="02020603050405020304" pitchFamily="18" charset="0"/>
            </a:endParaRPr>
          </a:p>
          <a:p>
            <a:pPr indent="266700" fontAlgn="ctr"/>
            <a:r>
              <a:rPr lang="en-US" altLang="zh-CN" sz="2400" dirty="0">
                <a:latin typeface="Times New Roman" panose="02020603050405020304" pitchFamily="18" charset="0"/>
                <a:cs typeface="Times New Roman" panose="02020603050405020304" pitchFamily="18" charset="0"/>
              </a:rPr>
              <a:t>['SATOMI', 'Tom', '</a:t>
            </a:r>
            <a:r>
              <a:rPr lang="en-US" altLang="zh-CN" sz="2400" dirty="0" err="1">
                <a:latin typeface="Times New Roman" panose="02020603050405020304" pitchFamily="18" charset="0"/>
                <a:cs typeface="Times New Roman" panose="02020603050405020304" pitchFamily="18" charset="0"/>
              </a:rPr>
              <a:t>LiLei</a:t>
            </a:r>
            <a:r>
              <a:rPr lang="en-US" altLang="zh-CN" sz="2400" dirty="0">
                <a:latin typeface="Times New Roman" panose="02020603050405020304" pitchFamily="18" charset="0"/>
                <a:cs typeface="Times New Roman" panose="02020603050405020304" pitchFamily="18" charset="0"/>
              </a:rPr>
              <a:t>', 'Jobs', 'Zed']</a:t>
            </a:r>
            <a:endParaRPr lang="zh-CN" altLang="zh-CN" sz="2400" dirty="0">
              <a:latin typeface="Times New Roman" panose="02020603050405020304" pitchFamily="18" charset="0"/>
              <a:cs typeface="Times New Roman" panose="02020603050405020304" pitchFamily="18" charset="0"/>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24322" y="1253552"/>
            <a:ext cx="8496944" cy="461665"/>
          </a:xfrm>
          <a:prstGeom prst="rect">
            <a:avLst/>
          </a:prstGeom>
          <a:noFill/>
        </p:spPr>
        <p:txBody>
          <a:bodyPr wrap="square">
            <a:spAutoFit/>
          </a:bodyPr>
          <a:lstStyle/>
          <a:p>
            <a:pPr indent="266700" algn="just"/>
            <a:r>
              <a:rPr lang="zh-CN" altLang="zh-CN" sz="2400" b="1" kern="100" dirty="0">
                <a:latin typeface="Times New Roman" panose="02020603050405020304" pitchFamily="18" charset="0"/>
                <a:ea typeface="宋体" pitchFamily="2" charset="-122"/>
                <a:cs typeface="Times New Roman" panose="02020603050405020304" pitchFamily="18" charset="0"/>
              </a:rPr>
              <a:t>在列表中添加新元素</a:t>
            </a:r>
            <a:r>
              <a:rPr lang="zh-CN" altLang="en-US" sz="2400" b="1" kern="100" dirty="0">
                <a:latin typeface="Times New Roman" panose="02020603050405020304" pitchFamily="18" charset="0"/>
                <a:ea typeface="宋体" pitchFamily="2" charset="-122"/>
                <a:cs typeface="Times New Roman" panose="02020603050405020304" pitchFamily="18" charset="0"/>
              </a:rPr>
              <a:t>的方法</a:t>
            </a:r>
            <a:r>
              <a:rPr lang="zh-CN" altLang="zh-CN" sz="2400" b="1" kern="100" dirty="0">
                <a:latin typeface="Times New Roman" panose="02020603050405020304" pitchFamily="18" charset="0"/>
                <a:ea typeface="宋体" pitchFamily="2" charset="-122"/>
                <a:cs typeface="Times New Roman" panose="02020603050405020304" pitchFamily="18" charset="0"/>
              </a:rPr>
              <a:t>：</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12" name="文本框 11"/>
          <p:cNvSpPr txBox="1"/>
          <p:nvPr/>
        </p:nvSpPr>
        <p:spPr>
          <a:xfrm>
            <a:off x="74666" y="4451874"/>
            <a:ext cx="5398228" cy="2308324"/>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latin typeface="Times New Roman" panose="02020603050405020304" pitchFamily="18" charset="0"/>
                <a:ea typeface="宋体" pitchFamily="2" charset="-122"/>
                <a:cs typeface="Times New Roman" panose="02020603050405020304" pitchFamily="18" charset="0"/>
              </a:rPr>
              <a:t>例子</a:t>
            </a:r>
            <a:r>
              <a:rPr lang="en-US" altLang="zh-CN" sz="2400" kern="100" dirty="0">
                <a:latin typeface="Times New Roman" panose="02020603050405020304" pitchFamily="18" charset="0"/>
                <a:ea typeface="宋体" pitchFamily="2" charset="-122"/>
                <a:cs typeface="Times New Roman" panose="02020603050405020304" pitchFamily="18" charset="0"/>
              </a:rPr>
              <a:t>6</a:t>
            </a:r>
            <a:r>
              <a:rPr lang="zh-CN" altLang="en-US" sz="2400" kern="100" dirty="0">
                <a:latin typeface="Times New Roman" panose="02020603050405020304" pitchFamily="18" charset="0"/>
                <a:ea typeface="宋体" pitchFamily="2" charset="-122"/>
                <a:cs typeface="Times New Roman" panose="02020603050405020304" pitchFamily="18" charset="0"/>
              </a:rPr>
              <a:t>  在列表末尾添加新元素：</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names = []                         #</a:t>
            </a:r>
            <a:r>
              <a:rPr lang="zh-CN" altLang="zh-CN" sz="2400" kern="100" dirty="0">
                <a:solidFill>
                  <a:srgbClr val="000000"/>
                </a:solidFill>
                <a:effectLst/>
                <a:latin typeface="Times New Roman" panose="02020603050405020304" pitchFamily="18" charset="0"/>
                <a:ea typeface="宋体" pitchFamily="2" charset="-122"/>
              </a:rPr>
              <a:t>创建空列表</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err="1">
                <a:solidFill>
                  <a:srgbClr val="000000"/>
                </a:solidFill>
                <a:effectLst/>
                <a:latin typeface="Times New Roman" panose="02020603050405020304" pitchFamily="18" charset="0"/>
                <a:ea typeface="宋体" pitchFamily="2" charset="-122"/>
              </a:rPr>
              <a:t>names.</a:t>
            </a:r>
            <a:r>
              <a:rPr lang="en-US" altLang="zh-CN" sz="2400" kern="100" dirty="0" err="1">
                <a:solidFill>
                  <a:schemeClr val="accent1">
                    <a:lumMod val="75000"/>
                  </a:schemeClr>
                </a:solidFill>
                <a:effectLst/>
                <a:latin typeface="Times New Roman" panose="02020603050405020304" pitchFamily="18" charset="0"/>
                <a:ea typeface="宋体" pitchFamily="2" charset="-122"/>
              </a:rPr>
              <a:t>append</a:t>
            </a:r>
            <a:r>
              <a:rPr lang="en-US" altLang="zh-CN" sz="2400" kern="100" dirty="0">
                <a:solidFill>
                  <a:srgbClr val="000000"/>
                </a:solidFill>
                <a:effectLst/>
                <a:latin typeface="Times New Roman" panose="02020603050405020304" pitchFamily="18" charset="0"/>
                <a:ea typeface="宋体" pitchFamily="2" charset="-122"/>
              </a:rPr>
              <a:t>('SATOMI')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err="1">
                <a:solidFill>
                  <a:srgbClr val="000000"/>
                </a:solidFill>
                <a:effectLst/>
                <a:latin typeface="Times New Roman" panose="02020603050405020304" pitchFamily="18" charset="0"/>
                <a:ea typeface="宋体" pitchFamily="2" charset="-122"/>
              </a:rPr>
              <a:t>names.</a:t>
            </a:r>
            <a:r>
              <a:rPr lang="en-US" altLang="zh-CN" sz="2400" kern="100" dirty="0" err="1">
                <a:solidFill>
                  <a:schemeClr val="accent1">
                    <a:lumMod val="75000"/>
                  </a:schemeClr>
                </a:solidFill>
                <a:effectLst/>
                <a:latin typeface="Times New Roman" panose="02020603050405020304" pitchFamily="18" charset="0"/>
                <a:ea typeface="宋体" pitchFamily="2" charset="-122"/>
              </a:rPr>
              <a:t>append</a:t>
            </a:r>
            <a:r>
              <a:rPr lang="en-US" altLang="zh-CN" sz="2400" kern="100" dirty="0">
                <a:solidFill>
                  <a:srgbClr val="000000"/>
                </a:solidFill>
                <a:effectLst/>
                <a:latin typeface="Times New Roman" panose="02020603050405020304" pitchFamily="18" charset="0"/>
                <a:ea typeface="宋体" pitchFamily="2" charset="-122"/>
              </a:rPr>
              <a:t>('</a:t>
            </a:r>
            <a:r>
              <a:rPr lang="en-US" altLang="zh-CN" sz="2400" kern="100" dirty="0" err="1">
                <a:solidFill>
                  <a:srgbClr val="000000"/>
                </a:solidFill>
                <a:effectLst/>
                <a:latin typeface="Times New Roman" panose="02020603050405020304" pitchFamily="18" charset="0"/>
                <a:ea typeface="宋体" pitchFamily="2" charset="-122"/>
              </a:rPr>
              <a:t>LiLei</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err="1">
                <a:solidFill>
                  <a:srgbClr val="000000"/>
                </a:solidFill>
                <a:effectLst/>
                <a:latin typeface="Times New Roman" panose="02020603050405020304" pitchFamily="18" charset="0"/>
                <a:ea typeface="宋体" pitchFamily="2" charset="-122"/>
              </a:rPr>
              <a:t>names.</a:t>
            </a:r>
            <a:r>
              <a:rPr lang="en-US" altLang="zh-CN" sz="2400" kern="100" dirty="0" err="1">
                <a:solidFill>
                  <a:schemeClr val="accent1">
                    <a:lumMod val="75000"/>
                  </a:schemeClr>
                </a:solidFill>
                <a:effectLst/>
                <a:latin typeface="Times New Roman" panose="02020603050405020304" pitchFamily="18" charset="0"/>
                <a:ea typeface="宋体" pitchFamily="2" charset="-122"/>
              </a:rPr>
              <a:t>append</a:t>
            </a:r>
            <a:r>
              <a:rPr lang="en-US" altLang="zh-CN" sz="2400" kern="100" dirty="0">
                <a:solidFill>
                  <a:srgbClr val="000000"/>
                </a:solidFill>
                <a:effectLst/>
                <a:latin typeface="Times New Roman" panose="02020603050405020304" pitchFamily="18" charset="0"/>
                <a:ea typeface="宋体" pitchFamily="2" charset="-122"/>
              </a:rPr>
              <a:t>('Jobs')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print(names)  </a:t>
            </a:r>
            <a:endParaRPr lang="zh-CN" altLang="zh-CN" sz="2400" kern="100" dirty="0">
              <a:effectLst/>
              <a:latin typeface="Times New Roman" panose="02020603050405020304" pitchFamily="18" charset="0"/>
              <a:ea typeface="宋体" pitchFamily="2" charset="-122"/>
            </a:endParaRPr>
          </a:p>
        </p:txBody>
      </p:sp>
      <p:sp>
        <p:nvSpPr>
          <p:cNvPr id="14" name="文本框 13"/>
          <p:cNvSpPr txBox="1"/>
          <p:nvPr/>
        </p:nvSpPr>
        <p:spPr>
          <a:xfrm>
            <a:off x="5478443" y="5236704"/>
            <a:ext cx="3647089" cy="830997"/>
          </a:xfrm>
          <a:prstGeom prst="rect">
            <a:avLst/>
          </a:prstGeom>
          <a:solidFill>
            <a:srgbClr val="92D050"/>
          </a:solidFill>
        </p:spPr>
        <p:txBody>
          <a:bodyPr wrap="square">
            <a:spAutoFit/>
          </a:bodyPr>
          <a:lstStyle>
            <a:defPPr>
              <a:defRPr lang="zh-CN"/>
            </a:defPPr>
            <a:lvl1pPr indent="266700" fontAlgn="ctr">
              <a:defRPr sz="2400" kern="100">
                <a:solidFill>
                  <a:srgbClr val="000000"/>
                </a:solidFill>
                <a:effectLst/>
                <a:latin typeface="Times New Roman" panose="02020603050405020304" pitchFamily="18" charset="0"/>
                <a:ea typeface="宋体" pitchFamily="2" charset="-122"/>
              </a:defRPr>
            </a:lvl1pPr>
          </a:lstStyle>
          <a:p>
            <a:r>
              <a:rPr lang="zh-CN" altLang="en-US" dirty="0"/>
              <a:t>例</a:t>
            </a:r>
            <a:r>
              <a:rPr lang="en-US" altLang="zh-CN" dirty="0"/>
              <a:t>6</a:t>
            </a:r>
            <a:r>
              <a:rPr lang="zh-CN" altLang="en-US" dirty="0"/>
              <a:t>运行结果：</a:t>
            </a:r>
            <a:endParaRPr lang="en-US" altLang="zh-CN" dirty="0"/>
          </a:p>
          <a:p>
            <a:r>
              <a:rPr lang="en-US" altLang="zh-CN" dirty="0"/>
              <a:t>['SATOMI', '</a:t>
            </a:r>
            <a:r>
              <a:rPr lang="en-US" altLang="zh-CN" dirty="0" err="1"/>
              <a:t>LiLei</a:t>
            </a:r>
            <a:r>
              <a:rPr lang="en-US" altLang="zh-CN" dirty="0"/>
              <a:t>', 'Jobs'] </a:t>
            </a:r>
            <a:endParaRPr lang="zh-CN" altLang="zh-CN" dirty="0"/>
          </a:p>
        </p:txBody>
      </p:sp>
      <p:grpSp>
        <p:nvGrpSpPr>
          <p:cNvPr id="20" name="组合 19"/>
          <p:cNvGrpSpPr/>
          <p:nvPr/>
        </p:nvGrpSpPr>
        <p:grpSpPr>
          <a:xfrm>
            <a:off x="1044402" y="1798881"/>
            <a:ext cx="8014410" cy="1486897"/>
            <a:chOff x="1044402" y="1798881"/>
            <a:chExt cx="8014410" cy="1486897"/>
          </a:xfrm>
        </p:grpSpPr>
        <p:grpSp>
          <p:nvGrpSpPr>
            <p:cNvPr id="8" name="组合 7"/>
            <p:cNvGrpSpPr/>
            <p:nvPr/>
          </p:nvGrpSpPr>
          <p:grpSpPr>
            <a:xfrm>
              <a:off x="1044402" y="1889727"/>
              <a:ext cx="6048672" cy="1375861"/>
              <a:chOff x="828378" y="1880968"/>
              <a:chExt cx="6048672" cy="1375861"/>
            </a:xfrm>
          </p:grpSpPr>
          <p:sp>
            <p:nvSpPr>
              <p:cNvPr id="2" name="六边形 1"/>
              <p:cNvSpPr/>
              <p:nvPr/>
            </p:nvSpPr>
            <p:spPr>
              <a:xfrm>
                <a:off x="828378" y="2061642"/>
                <a:ext cx="2016224" cy="1195187"/>
              </a:xfrm>
              <a:prstGeom prst="hexagon">
                <a:avLst/>
              </a:prstGeom>
              <a:solidFill>
                <a:schemeClr val="tx2">
                  <a:lumMod val="20000"/>
                  <a:lumOff val="8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b="1" kern="100" dirty="0">
                    <a:solidFill>
                      <a:schemeClr val="tx1"/>
                    </a:solidFill>
                    <a:latin typeface="Times New Roman" panose="02020603050405020304" pitchFamily="18" charset="0"/>
                    <a:ea typeface="宋体" pitchFamily="2" charset="-122"/>
                    <a:cs typeface="Times New Roman" panose="02020603050405020304" pitchFamily="18" charset="0"/>
                  </a:rPr>
                  <a:t>在列表中添加新元素</a:t>
                </a:r>
                <a:r>
                  <a:rPr lang="zh-CN" altLang="en-US" sz="2000" b="1" kern="100" dirty="0">
                    <a:solidFill>
                      <a:schemeClr val="tx1"/>
                    </a:solidFill>
                    <a:latin typeface="Times New Roman" panose="02020603050405020304" pitchFamily="18" charset="0"/>
                    <a:ea typeface="宋体" pitchFamily="2" charset="-122"/>
                    <a:cs typeface="Times New Roman" panose="02020603050405020304" pitchFamily="18" charset="0"/>
                  </a:rPr>
                  <a:t>的方法</a:t>
                </a:r>
                <a:endParaRPr lang="zh-CN" altLang="en-US" dirty="0">
                  <a:solidFill>
                    <a:schemeClr val="tx1"/>
                  </a:solidFill>
                </a:endParaRPr>
              </a:p>
            </p:txBody>
          </p:sp>
          <p:sp>
            <p:nvSpPr>
              <p:cNvPr id="3" name="矩形: 圆角 2"/>
              <p:cNvSpPr/>
              <p:nvPr/>
            </p:nvSpPr>
            <p:spPr>
              <a:xfrm>
                <a:off x="3626637" y="1880968"/>
                <a:ext cx="3240360" cy="461665"/>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在列表末尾添加新元素</a:t>
                </a:r>
                <a:endParaRPr lang="zh-CN" altLang="en-US" dirty="0">
                  <a:solidFill>
                    <a:schemeClr val="tx1"/>
                  </a:solidFill>
                </a:endParaRPr>
              </a:p>
            </p:txBody>
          </p:sp>
          <p:sp>
            <p:nvSpPr>
              <p:cNvPr id="11" name="矩形: 圆角 10"/>
              <p:cNvSpPr/>
              <p:nvPr/>
            </p:nvSpPr>
            <p:spPr>
              <a:xfrm>
                <a:off x="3636690" y="2739649"/>
                <a:ext cx="3240360" cy="461665"/>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tx1"/>
                    </a:solidFill>
                  </a:rPr>
                  <a:t>在任意位置添加新元素</a:t>
                </a:r>
                <a:endParaRPr lang="zh-CN" altLang="en-US" dirty="0">
                  <a:solidFill>
                    <a:schemeClr val="tx1"/>
                  </a:solidFill>
                </a:endParaRPr>
              </a:p>
            </p:txBody>
          </p:sp>
          <p:cxnSp>
            <p:nvCxnSpPr>
              <p:cNvPr id="5" name="直接箭头连接符 4"/>
              <p:cNvCxnSpPr>
                <a:stCxn id="2" idx="0"/>
                <a:endCxn id="3" idx="1"/>
              </p:cNvCxnSpPr>
              <p:nvPr/>
            </p:nvCxnSpPr>
            <p:spPr>
              <a:xfrm flipV="1">
                <a:off x="2844602" y="2111801"/>
                <a:ext cx="782035" cy="5474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直接箭头连接符 6"/>
              <p:cNvCxnSpPr>
                <a:stCxn id="2" idx="0"/>
                <a:endCxn id="11" idx="1"/>
              </p:cNvCxnSpPr>
              <p:nvPr/>
            </p:nvCxnSpPr>
            <p:spPr>
              <a:xfrm>
                <a:off x="2844602" y="2659236"/>
                <a:ext cx="792088" cy="3112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3" name="矩形: 圆角 12"/>
            <p:cNvSpPr/>
            <p:nvPr/>
          </p:nvSpPr>
          <p:spPr>
            <a:xfrm>
              <a:off x="7453114" y="1798881"/>
              <a:ext cx="1584176" cy="636175"/>
            </a:xfrm>
            <a:prstGeom prst="roundRect">
              <a:avLst/>
            </a:prstGeom>
            <a:solidFill>
              <a:schemeClr val="accent3">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Append()</a:t>
              </a:r>
              <a:endParaRPr lang="zh-CN" altLang="en-US" dirty="0">
                <a:solidFill>
                  <a:schemeClr val="tx1"/>
                </a:solidFill>
              </a:endParaRPr>
            </a:p>
          </p:txBody>
        </p:sp>
        <p:cxnSp>
          <p:nvCxnSpPr>
            <p:cNvPr id="16" name="直接箭头连接符 15"/>
            <p:cNvCxnSpPr>
              <a:stCxn id="3" idx="3"/>
              <a:endCxn id="13" idx="1"/>
            </p:cNvCxnSpPr>
            <p:nvPr/>
          </p:nvCxnSpPr>
          <p:spPr>
            <a:xfrm flipV="1">
              <a:off x="7083021" y="2116969"/>
              <a:ext cx="370093" cy="35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矩形: 圆角 22"/>
            <p:cNvSpPr/>
            <p:nvPr/>
          </p:nvSpPr>
          <p:spPr>
            <a:xfrm>
              <a:off x="7474636" y="2649603"/>
              <a:ext cx="1584176" cy="636175"/>
            </a:xfrm>
            <a:prstGeom prst="roundRect">
              <a:avLst/>
            </a:prstGeom>
            <a:solidFill>
              <a:schemeClr val="accent3">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insert()</a:t>
              </a:r>
              <a:endParaRPr lang="zh-CN" altLang="en-US" dirty="0">
                <a:solidFill>
                  <a:schemeClr val="tx1"/>
                </a:solidFill>
              </a:endParaRPr>
            </a:p>
          </p:txBody>
        </p:sp>
        <p:cxnSp>
          <p:nvCxnSpPr>
            <p:cNvPr id="19" name="直接箭头连接符 18"/>
            <p:cNvCxnSpPr>
              <a:stCxn id="11" idx="3"/>
              <a:endCxn id="23" idx="1"/>
            </p:cNvCxnSpPr>
            <p:nvPr/>
          </p:nvCxnSpPr>
          <p:spPr>
            <a:xfrm flipV="1">
              <a:off x="7093074" y="2967691"/>
              <a:ext cx="381562" cy="115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8" name="文本框 27"/>
          <p:cNvSpPr txBox="1"/>
          <p:nvPr/>
        </p:nvSpPr>
        <p:spPr>
          <a:xfrm>
            <a:off x="74666" y="3278517"/>
            <a:ext cx="9153329" cy="1200329"/>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使用</a:t>
            </a:r>
            <a:r>
              <a:rPr lang="en-US" altLang="zh-CN" sz="2400" kern="100" dirty="0">
                <a:effectLst/>
                <a:latin typeface="Times New Roman" panose="02020603050405020304" pitchFamily="18" charset="0"/>
                <a:ea typeface="宋体" pitchFamily="2" charset="-122"/>
              </a:rPr>
              <a:t>append( )</a:t>
            </a:r>
            <a:r>
              <a:rPr lang="zh-CN" altLang="zh-CN" sz="2400" kern="100" dirty="0">
                <a:effectLst/>
                <a:latin typeface="Times New Roman" panose="02020603050405020304" pitchFamily="18" charset="0"/>
                <a:ea typeface="宋体" pitchFamily="2" charset="-122"/>
              </a:rPr>
              <a:t>方法可以在列表的末尾处加入新元素。这个方法的通常使用情况为：首先创建一个空的列表，再使用</a:t>
            </a:r>
            <a:r>
              <a:rPr lang="en-US" altLang="zh-CN" sz="2400" kern="100" dirty="0">
                <a:solidFill>
                  <a:schemeClr val="accent1">
                    <a:lumMod val="75000"/>
                  </a:schemeClr>
                </a:solidFill>
                <a:effectLst/>
                <a:latin typeface="Times New Roman" panose="02020603050405020304" pitchFamily="18" charset="0"/>
                <a:ea typeface="宋体" pitchFamily="2" charset="-122"/>
              </a:rPr>
              <a:t>append( )</a:t>
            </a:r>
            <a:r>
              <a:rPr lang="zh-CN" altLang="zh-CN" sz="2400" kern="100" dirty="0">
                <a:effectLst/>
                <a:latin typeface="Times New Roman" panose="02020603050405020304" pitchFamily="18" charset="0"/>
                <a:ea typeface="宋体" pitchFamily="2" charset="-122"/>
              </a:rPr>
              <a:t>逐个添加元素，</a:t>
            </a:r>
            <a:r>
              <a:rPr lang="zh-CN" altLang="zh-CN" sz="2400" kern="100" dirty="0">
                <a:solidFill>
                  <a:schemeClr val="accent1">
                    <a:lumMod val="75000"/>
                  </a:schemeClr>
                </a:solidFill>
                <a:effectLst/>
                <a:latin typeface="Times New Roman" panose="02020603050405020304" pitchFamily="18" charset="0"/>
                <a:ea typeface="宋体" pitchFamily="2" charset="-122"/>
              </a:rPr>
              <a:t>经常与循环配合使用</a:t>
            </a:r>
            <a:r>
              <a:rPr lang="zh-CN" altLang="zh-CN" sz="2400" kern="100" dirty="0">
                <a:effectLst/>
                <a:latin typeface="Times New Roman" panose="02020603050405020304" pitchFamily="18" charset="0"/>
                <a:ea typeface="宋体" pitchFamily="2" charset="-122"/>
              </a:rPr>
              <a:t>。</a:t>
            </a:r>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24322" y="1253552"/>
            <a:ext cx="8496944" cy="461665"/>
          </a:xfrm>
          <a:prstGeom prst="rect">
            <a:avLst/>
          </a:prstGeom>
          <a:noFill/>
        </p:spPr>
        <p:txBody>
          <a:bodyPr wrap="square">
            <a:spAutoFit/>
          </a:bodyPr>
          <a:lstStyle/>
          <a:p>
            <a:pPr indent="266700" algn="just"/>
            <a:r>
              <a:rPr lang="zh-CN" altLang="zh-CN" sz="2400" b="1" kern="100" dirty="0">
                <a:latin typeface="Times New Roman" panose="02020603050405020304" pitchFamily="18" charset="0"/>
                <a:ea typeface="宋体" pitchFamily="2" charset="-122"/>
                <a:cs typeface="Times New Roman" panose="02020603050405020304" pitchFamily="18" charset="0"/>
              </a:rPr>
              <a:t>在</a:t>
            </a:r>
            <a:r>
              <a:rPr lang="zh-CN" altLang="en-US" sz="2400" b="1" kern="100" dirty="0">
                <a:latin typeface="Times New Roman" panose="02020603050405020304" pitchFamily="18" charset="0"/>
                <a:ea typeface="宋体" pitchFamily="2" charset="-122"/>
                <a:cs typeface="Times New Roman" panose="02020603050405020304" pitchFamily="18" charset="0"/>
              </a:rPr>
              <a:t>任意位置</a:t>
            </a:r>
            <a:r>
              <a:rPr lang="zh-CN" altLang="zh-CN" sz="2400" b="1" kern="100" dirty="0">
                <a:latin typeface="Times New Roman" panose="02020603050405020304" pitchFamily="18" charset="0"/>
                <a:ea typeface="宋体" pitchFamily="2" charset="-122"/>
                <a:cs typeface="Times New Roman" panose="02020603050405020304" pitchFamily="18" charset="0"/>
              </a:rPr>
              <a:t>添加新元素</a:t>
            </a:r>
            <a:r>
              <a:rPr lang="zh-CN" altLang="en-US" sz="2400" b="1" kern="100" dirty="0">
                <a:latin typeface="Times New Roman" panose="02020603050405020304" pitchFamily="18" charset="0"/>
                <a:ea typeface="宋体" pitchFamily="2" charset="-122"/>
                <a:cs typeface="Times New Roman" panose="02020603050405020304" pitchFamily="18" charset="0"/>
              </a:rPr>
              <a:t>的方法</a:t>
            </a:r>
            <a:r>
              <a:rPr lang="zh-CN" altLang="zh-CN" sz="2400" b="1" kern="100" dirty="0">
                <a:latin typeface="Times New Roman" panose="02020603050405020304" pitchFamily="18" charset="0"/>
                <a:ea typeface="宋体" pitchFamily="2" charset="-122"/>
                <a:cs typeface="Times New Roman" panose="02020603050405020304" pitchFamily="18" charset="0"/>
              </a:rPr>
              <a:t>：</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12" name="文本框 11"/>
          <p:cNvSpPr txBox="1"/>
          <p:nvPr/>
        </p:nvSpPr>
        <p:spPr>
          <a:xfrm>
            <a:off x="1952099" y="2853730"/>
            <a:ext cx="5398228" cy="1569660"/>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latin typeface="Times New Roman" panose="02020603050405020304" pitchFamily="18" charset="0"/>
                <a:ea typeface="宋体" pitchFamily="2" charset="-122"/>
                <a:cs typeface="Times New Roman" panose="02020603050405020304" pitchFamily="18" charset="0"/>
              </a:rPr>
              <a:t>例子</a:t>
            </a:r>
            <a:r>
              <a:rPr lang="en-US" altLang="zh-CN" sz="2400" kern="100" dirty="0">
                <a:latin typeface="Times New Roman" panose="02020603050405020304" pitchFamily="18" charset="0"/>
                <a:ea typeface="宋体" pitchFamily="2" charset="-122"/>
                <a:cs typeface="Times New Roman" panose="02020603050405020304" pitchFamily="18" charset="0"/>
              </a:rPr>
              <a:t>7</a:t>
            </a:r>
            <a:r>
              <a:rPr lang="zh-CN" altLang="en-US" sz="2400" kern="100" dirty="0">
                <a:latin typeface="Times New Roman" panose="02020603050405020304" pitchFamily="18" charset="0"/>
                <a:ea typeface="宋体" pitchFamily="2" charset="-122"/>
                <a:cs typeface="Times New Roman" panose="02020603050405020304" pitchFamily="18" charset="0"/>
              </a:rPr>
              <a:t> 在任意位置添加新元素：</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rPr>
              <a:t>names = ['SATOMI', '</a:t>
            </a:r>
            <a:r>
              <a:rPr lang="en-US" altLang="zh-CN" sz="2400" kern="100" dirty="0" err="1">
                <a:latin typeface="Times New Roman" panose="02020603050405020304" pitchFamily="18" charset="0"/>
                <a:ea typeface="宋体" pitchFamily="2" charset="-122"/>
              </a:rPr>
              <a:t>LiLei</a:t>
            </a:r>
            <a:r>
              <a:rPr lang="en-US" altLang="zh-CN" sz="2400" kern="100" dirty="0">
                <a:latin typeface="Times New Roman" panose="02020603050405020304" pitchFamily="18" charset="0"/>
                <a:ea typeface="宋体" pitchFamily="2" charset="-122"/>
              </a:rPr>
              <a:t>', 'Jobs']  </a:t>
            </a:r>
            <a:endParaRPr lang="zh-CN" altLang="zh-CN" sz="2400" kern="100" dirty="0">
              <a:latin typeface="Times New Roman" panose="02020603050405020304" pitchFamily="18" charset="0"/>
              <a:ea typeface="宋体" pitchFamily="2" charset="-122"/>
            </a:endParaRPr>
          </a:p>
          <a:p>
            <a:pPr indent="266700" algn="l" fontAlgn="ctr"/>
            <a:r>
              <a:rPr lang="en-US" altLang="zh-CN" sz="2400" kern="100" dirty="0" err="1">
                <a:latin typeface="Times New Roman" panose="02020603050405020304" pitchFamily="18" charset="0"/>
                <a:ea typeface="宋体" pitchFamily="2" charset="-122"/>
              </a:rPr>
              <a:t>names.insert</a:t>
            </a:r>
            <a:r>
              <a:rPr lang="en-US" altLang="zh-CN" sz="2400" kern="100" dirty="0">
                <a:latin typeface="Times New Roman" panose="02020603050405020304" pitchFamily="18" charset="0"/>
                <a:ea typeface="宋体" pitchFamily="2" charset="-122"/>
              </a:rPr>
              <a:t>(0,'Jacob')    </a:t>
            </a:r>
            <a:endParaRPr lang="zh-CN" altLang="zh-CN" sz="2400" kern="100" dirty="0">
              <a:latin typeface="Times New Roman" panose="02020603050405020304" pitchFamily="18" charset="0"/>
              <a:ea typeface="宋体" pitchFamily="2" charset="-122"/>
            </a:endParaRPr>
          </a:p>
          <a:p>
            <a:r>
              <a:rPr lang="en-US" altLang="zh-CN" sz="2400" kern="100" dirty="0">
                <a:latin typeface="Times New Roman" panose="02020603050405020304" pitchFamily="18" charset="0"/>
                <a:ea typeface="宋体" pitchFamily="2" charset="-122"/>
              </a:rPr>
              <a:t>    print(names) </a:t>
            </a:r>
            <a:endParaRPr lang="zh-CN" altLang="zh-CN" sz="2400" kern="100" dirty="0">
              <a:latin typeface="Times New Roman" panose="02020603050405020304" pitchFamily="18" charset="0"/>
              <a:ea typeface="宋体" pitchFamily="2" charset="-122"/>
            </a:endParaRPr>
          </a:p>
        </p:txBody>
      </p:sp>
      <p:sp>
        <p:nvSpPr>
          <p:cNvPr id="14" name="文本框 13"/>
          <p:cNvSpPr txBox="1"/>
          <p:nvPr/>
        </p:nvSpPr>
        <p:spPr>
          <a:xfrm>
            <a:off x="2412554" y="4797946"/>
            <a:ext cx="4320480" cy="830997"/>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a:t>
            </a:r>
            <a:r>
              <a:rPr lang="en-US" altLang="zh-CN" sz="2400" kern="100" dirty="0">
                <a:solidFill>
                  <a:srgbClr val="000000"/>
                </a:solidFill>
                <a:effectLst/>
                <a:latin typeface="Times New Roman" panose="02020603050405020304" pitchFamily="18" charset="0"/>
                <a:ea typeface="宋体" pitchFamily="2" charset="-122"/>
              </a:rPr>
              <a:t>7 </a:t>
            </a:r>
            <a:r>
              <a:rPr lang="zh-CN" altLang="en-US" sz="2400" kern="100" dirty="0">
                <a:solidFill>
                  <a:srgbClr val="000000"/>
                </a:solidFill>
                <a:effectLst/>
                <a:latin typeface="Times New Roman" panose="02020603050405020304" pitchFamily="18" charset="0"/>
                <a:ea typeface="宋体" pitchFamily="2" charset="-122"/>
              </a:rPr>
              <a:t>运行结果</a:t>
            </a:r>
            <a:r>
              <a:rPr lang="zh-CN" altLang="en-US" sz="2400" kern="100" dirty="0">
                <a:solidFill>
                  <a:srgbClr val="000000"/>
                </a:solidFill>
                <a:latin typeface="Times New Roman" panose="02020603050405020304" pitchFamily="18" charset="0"/>
                <a:ea typeface="宋体" pitchFamily="2" charset="-122"/>
              </a:rPr>
              <a:t>：</a:t>
            </a:r>
            <a:endParaRPr lang="en-US" altLang="zh-CN" sz="2400" kern="100" dirty="0">
              <a:solidFill>
                <a:srgbClr val="000000"/>
              </a:solidFill>
              <a:effectLst/>
              <a:latin typeface="Times New Roman" panose="02020603050405020304" pitchFamily="18" charset="0"/>
              <a:ea typeface="宋体" pitchFamily="2" charset="-122"/>
            </a:endParaRPr>
          </a:p>
          <a:p>
            <a:pPr fontAlgn="ctr"/>
            <a:r>
              <a:rPr lang="en-US" altLang="zh-CN" sz="2400" kern="100" dirty="0">
                <a:solidFill>
                  <a:srgbClr val="000000"/>
                </a:solidFill>
                <a:latin typeface="Times New Roman" panose="02020603050405020304" pitchFamily="18" charset="0"/>
                <a:ea typeface="宋体" pitchFamily="2" charset="-122"/>
              </a:rPr>
              <a:t>['Jacob', 'SATOMI', '</a:t>
            </a:r>
            <a:r>
              <a:rPr lang="en-US" altLang="zh-CN" sz="2400" kern="100" dirty="0" err="1">
                <a:solidFill>
                  <a:srgbClr val="000000"/>
                </a:solidFill>
                <a:latin typeface="Times New Roman" panose="02020603050405020304" pitchFamily="18" charset="0"/>
                <a:ea typeface="宋体" pitchFamily="2" charset="-122"/>
              </a:rPr>
              <a:t>LiLei</a:t>
            </a:r>
            <a:r>
              <a:rPr lang="en-US" altLang="zh-CN" sz="2400" kern="100" dirty="0">
                <a:solidFill>
                  <a:srgbClr val="000000"/>
                </a:solidFill>
                <a:latin typeface="Times New Roman" panose="02020603050405020304" pitchFamily="18" charset="0"/>
                <a:ea typeface="宋体" pitchFamily="2" charset="-122"/>
              </a:rPr>
              <a:t>', 'Jobs'] </a:t>
            </a:r>
            <a:endParaRPr lang="zh-CN" altLang="zh-CN" sz="2400" kern="100" dirty="0">
              <a:solidFill>
                <a:srgbClr val="000000"/>
              </a:solidFill>
              <a:latin typeface="Times New Roman" panose="02020603050405020304" pitchFamily="18" charset="0"/>
              <a:ea typeface="宋体" pitchFamily="2" charset="-122"/>
            </a:endParaRPr>
          </a:p>
        </p:txBody>
      </p:sp>
      <p:sp>
        <p:nvSpPr>
          <p:cNvPr id="21" name="文本框 20"/>
          <p:cNvSpPr txBox="1"/>
          <p:nvPr/>
        </p:nvSpPr>
        <p:spPr>
          <a:xfrm>
            <a:off x="324322" y="1826758"/>
            <a:ext cx="8640960" cy="830997"/>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使用</a:t>
            </a:r>
            <a:r>
              <a:rPr lang="en-US" altLang="zh-CN" sz="2400" kern="100" dirty="0">
                <a:solidFill>
                  <a:schemeClr val="accent1">
                    <a:lumMod val="75000"/>
                  </a:schemeClr>
                </a:solidFill>
                <a:effectLst/>
                <a:latin typeface="Times New Roman" panose="02020603050405020304" pitchFamily="18" charset="0"/>
                <a:ea typeface="宋体" pitchFamily="2" charset="-122"/>
              </a:rPr>
              <a:t>insert( )</a:t>
            </a:r>
            <a:r>
              <a:rPr lang="zh-CN" altLang="zh-CN" sz="2400" kern="100" dirty="0">
                <a:effectLst/>
                <a:latin typeface="Times New Roman" panose="02020603050405020304" pitchFamily="18" charset="0"/>
                <a:ea typeface="宋体" pitchFamily="2" charset="-122"/>
              </a:rPr>
              <a:t>方法可以在列表的任意指定位置插入新元素。第一个参数指定新元素的位置，第二个参数为新元素的值。</a:t>
            </a:r>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24322" y="1253552"/>
            <a:ext cx="8496944" cy="461665"/>
          </a:xfrm>
          <a:prstGeom prst="rect">
            <a:avLst/>
          </a:prstGeom>
          <a:noFill/>
        </p:spPr>
        <p:txBody>
          <a:bodyPr wrap="square">
            <a:spAutoFit/>
          </a:bodyPr>
          <a:lstStyle/>
          <a:p>
            <a:pPr indent="266700" algn="just"/>
            <a:r>
              <a:rPr lang="zh-CN" altLang="zh-CN" sz="2400" b="1" kern="100" dirty="0">
                <a:latin typeface="Times New Roman" panose="02020603050405020304" pitchFamily="18" charset="0"/>
                <a:ea typeface="宋体" pitchFamily="2" charset="-122"/>
                <a:cs typeface="Times New Roman" panose="02020603050405020304" pitchFamily="18" charset="0"/>
              </a:rPr>
              <a:t>在列表中</a:t>
            </a:r>
            <a:r>
              <a:rPr lang="zh-CN" altLang="en-US" sz="2400" b="1" kern="100" dirty="0">
                <a:latin typeface="Times New Roman" panose="02020603050405020304" pitchFamily="18" charset="0"/>
                <a:ea typeface="宋体" pitchFamily="2" charset="-122"/>
                <a:cs typeface="Times New Roman" panose="02020603050405020304" pitchFamily="18" charset="0"/>
              </a:rPr>
              <a:t>删除</a:t>
            </a:r>
            <a:r>
              <a:rPr lang="zh-CN" altLang="zh-CN" sz="2400" b="1" kern="100" dirty="0">
                <a:latin typeface="Times New Roman" panose="02020603050405020304" pitchFamily="18" charset="0"/>
                <a:ea typeface="宋体" pitchFamily="2" charset="-122"/>
                <a:cs typeface="Times New Roman" panose="02020603050405020304" pitchFamily="18" charset="0"/>
              </a:rPr>
              <a:t>元素</a:t>
            </a:r>
            <a:r>
              <a:rPr lang="zh-CN" altLang="en-US" sz="2400" b="1" kern="100" dirty="0">
                <a:latin typeface="Times New Roman" panose="02020603050405020304" pitchFamily="18" charset="0"/>
                <a:ea typeface="宋体" pitchFamily="2" charset="-122"/>
                <a:cs typeface="Times New Roman" panose="02020603050405020304" pitchFamily="18" charset="0"/>
              </a:rPr>
              <a:t>的方法</a:t>
            </a:r>
            <a:r>
              <a:rPr lang="zh-CN" altLang="zh-CN" sz="2400" b="1" kern="100" dirty="0">
                <a:latin typeface="Times New Roman" panose="02020603050405020304" pitchFamily="18" charset="0"/>
                <a:ea typeface="宋体" pitchFamily="2" charset="-122"/>
                <a:cs typeface="Times New Roman" panose="02020603050405020304" pitchFamily="18" charset="0"/>
              </a:rPr>
              <a:t>：</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12" name="文本框 11"/>
          <p:cNvSpPr txBox="1"/>
          <p:nvPr/>
        </p:nvSpPr>
        <p:spPr>
          <a:xfrm>
            <a:off x="74666" y="4451874"/>
            <a:ext cx="5398228" cy="1569660"/>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latin typeface="Times New Roman" panose="02020603050405020304" pitchFamily="18" charset="0"/>
                <a:ea typeface="宋体" pitchFamily="2" charset="-122"/>
                <a:cs typeface="Times New Roman" panose="02020603050405020304" pitchFamily="18" charset="0"/>
              </a:rPr>
              <a:t>例子</a:t>
            </a:r>
            <a:r>
              <a:rPr lang="en-US" altLang="zh-CN" sz="2400" kern="100" dirty="0">
                <a:latin typeface="Times New Roman" panose="02020603050405020304" pitchFamily="18" charset="0"/>
                <a:ea typeface="宋体" pitchFamily="2" charset="-122"/>
                <a:cs typeface="Times New Roman" panose="02020603050405020304" pitchFamily="18" charset="0"/>
              </a:rPr>
              <a:t>8</a:t>
            </a:r>
            <a:r>
              <a:rPr lang="zh-CN" altLang="en-US" sz="2400" kern="100" dirty="0">
                <a:latin typeface="Times New Roman" panose="02020603050405020304" pitchFamily="18" charset="0"/>
                <a:ea typeface="宋体" pitchFamily="2" charset="-122"/>
                <a:cs typeface="Times New Roman" panose="02020603050405020304" pitchFamily="18" charset="0"/>
              </a:rPr>
              <a:t>  指定位置删除元素：</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names = ['SATOMI', '</a:t>
            </a:r>
            <a:r>
              <a:rPr lang="en-US" altLang="zh-CN" sz="2400" kern="100" dirty="0" err="1">
                <a:latin typeface="Times New Roman" panose="02020603050405020304" pitchFamily="18" charset="0"/>
                <a:ea typeface="宋体" pitchFamily="2" charset="-122"/>
                <a:cs typeface="Times New Roman" panose="02020603050405020304" pitchFamily="18" charset="0"/>
              </a:rPr>
              <a:t>LiLei</a:t>
            </a:r>
            <a:r>
              <a:rPr lang="en-US" altLang="zh-CN" sz="2400" kern="100" dirty="0">
                <a:latin typeface="Times New Roman" panose="02020603050405020304" pitchFamily="18" charset="0"/>
                <a:ea typeface="宋体" pitchFamily="2" charset="-122"/>
                <a:cs typeface="Times New Roman" panose="02020603050405020304" pitchFamily="18" charset="0"/>
              </a:rPr>
              <a:t>', 'Jobs']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del names[-1]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r>
              <a:rPr lang="en-US" altLang="zh-CN" sz="2400" kern="100" dirty="0">
                <a:latin typeface="Times New Roman" panose="02020603050405020304" pitchFamily="18" charset="0"/>
                <a:ea typeface="宋体" pitchFamily="2" charset="-122"/>
                <a:cs typeface="Times New Roman" panose="02020603050405020304" pitchFamily="18" charset="0"/>
              </a:rPr>
              <a:t>    print(names)</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14" name="文本框 13"/>
          <p:cNvSpPr txBox="1"/>
          <p:nvPr/>
        </p:nvSpPr>
        <p:spPr>
          <a:xfrm>
            <a:off x="5982260" y="4762806"/>
            <a:ext cx="2839006" cy="830997"/>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a:t>
            </a:r>
            <a:r>
              <a:rPr lang="en-US" altLang="zh-CN" sz="2400" kern="100" dirty="0">
                <a:solidFill>
                  <a:srgbClr val="000000"/>
                </a:solidFill>
                <a:effectLst/>
                <a:latin typeface="Times New Roman" panose="02020603050405020304" pitchFamily="18" charset="0"/>
                <a:ea typeface="宋体" pitchFamily="2" charset="-122"/>
              </a:rPr>
              <a:t>8 </a:t>
            </a:r>
            <a:r>
              <a:rPr lang="zh-CN" altLang="en-US" sz="2400" kern="100" dirty="0">
                <a:solidFill>
                  <a:srgbClr val="000000"/>
                </a:solidFill>
                <a:effectLst/>
                <a:latin typeface="Times New Roman" panose="02020603050405020304" pitchFamily="18" charset="0"/>
                <a:ea typeface="宋体" pitchFamily="2" charset="-122"/>
              </a:rPr>
              <a:t>运行结果</a:t>
            </a:r>
            <a:r>
              <a:rPr lang="zh-CN" altLang="en-US" sz="2400" kern="100" dirty="0">
                <a:solidFill>
                  <a:srgbClr val="000000"/>
                </a:solidFill>
                <a:latin typeface="Times New Roman" panose="02020603050405020304" pitchFamily="18" charset="0"/>
                <a:ea typeface="宋体" pitchFamily="2" charset="-122"/>
              </a:rPr>
              <a:t>：</a:t>
            </a:r>
            <a:endParaRPr lang="en-US" altLang="zh-CN" sz="2400" kern="100" dirty="0">
              <a:solidFill>
                <a:srgbClr val="000000"/>
              </a:solidFill>
              <a:effectLst/>
              <a:latin typeface="Times New Roman" panose="02020603050405020304" pitchFamily="18" charset="0"/>
              <a:ea typeface="宋体" pitchFamily="2" charset="-122"/>
            </a:endParaRPr>
          </a:p>
          <a:p>
            <a:pPr fontAlgn="ctr"/>
            <a:r>
              <a:rPr lang="en-US" altLang="zh-CN" sz="2400" kern="100" dirty="0">
                <a:latin typeface="Times New Roman" panose="02020603050405020304" pitchFamily="18" charset="0"/>
                <a:ea typeface="宋体" pitchFamily="2" charset="-122"/>
                <a:cs typeface="Times New Roman" panose="02020603050405020304" pitchFamily="18" charset="0"/>
              </a:rPr>
              <a:t>['SATOMI', '</a:t>
            </a:r>
            <a:r>
              <a:rPr lang="en-US" altLang="zh-CN" sz="2400" kern="100" dirty="0" err="1">
                <a:latin typeface="Times New Roman" panose="02020603050405020304" pitchFamily="18" charset="0"/>
                <a:ea typeface="宋体" pitchFamily="2" charset="-122"/>
                <a:cs typeface="Times New Roman" panose="02020603050405020304" pitchFamily="18" charset="0"/>
              </a:rPr>
              <a:t>LiLei</a:t>
            </a:r>
            <a:r>
              <a:rPr lang="en-US" altLang="zh-CN" sz="2400" kern="100" dirty="0">
                <a:latin typeface="Times New Roman" panose="02020603050405020304" pitchFamily="18" charset="0"/>
                <a:ea typeface="宋体" pitchFamily="2" charset="-122"/>
                <a:cs typeface="Times New Roman" panose="02020603050405020304" pitchFamily="18" charset="0"/>
              </a:rPr>
              <a:t>']</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28" name="文本框 27"/>
          <p:cNvSpPr txBox="1"/>
          <p:nvPr/>
        </p:nvSpPr>
        <p:spPr>
          <a:xfrm>
            <a:off x="252314" y="3512322"/>
            <a:ext cx="9153329" cy="461665"/>
          </a:xfrm>
          <a:prstGeom prst="rect">
            <a:avLst/>
          </a:prstGeom>
          <a:noFill/>
        </p:spPr>
        <p:txBody>
          <a:bodyPr wrap="square">
            <a:spAutoFit/>
          </a:bodyPr>
          <a:lstStyle/>
          <a:p>
            <a:pPr indent="266700" algn="just"/>
            <a:r>
              <a:rPr lang="zh-CN" altLang="zh-CN" sz="2400" kern="100" dirty="0">
                <a:latin typeface="Times New Roman" panose="02020603050405020304" pitchFamily="18" charset="0"/>
                <a:ea typeface="宋体" pitchFamily="2" charset="-122"/>
                <a:cs typeface="Times New Roman" panose="02020603050405020304" pitchFamily="18" charset="0"/>
              </a:rPr>
              <a:t>如果你知道要删除元素在列表中的位置，可以使用</a:t>
            </a:r>
            <a:r>
              <a:rPr lang="en-US" altLang="zh-CN" sz="2400" kern="100" dirty="0">
                <a:solidFill>
                  <a:schemeClr val="accent1">
                    <a:lumMod val="75000"/>
                  </a:schemeClr>
                </a:solidFill>
                <a:latin typeface="Times New Roman" panose="02020603050405020304" pitchFamily="18" charset="0"/>
                <a:ea typeface="宋体" pitchFamily="2" charset="-122"/>
                <a:cs typeface="Times New Roman" panose="02020603050405020304" pitchFamily="18" charset="0"/>
              </a:rPr>
              <a:t>del</a:t>
            </a:r>
            <a:r>
              <a:rPr lang="zh-CN" altLang="zh-CN" sz="2400" kern="100" dirty="0">
                <a:latin typeface="Times New Roman" panose="02020603050405020304" pitchFamily="18" charset="0"/>
                <a:ea typeface="宋体" pitchFamily="2" charset="-122"/>
                <a:cs typeface="Times New Roman" panose="02020603050405020304" pitchFamily="18" charset="0"/>
              </a:rPr>
              <a:t>语句</a:t>
            </a:r>
            <a:r>
              <a:rPr lang="zh-CN" altLang="en-US" sz="2400" kern="100" dirty="0">
                <a:latin typeface="Times New Roman" panose="02020603050405020304" pitchFamily="18" charset="0"/>
                <a:ea typeface="宋体" pitchFamily="2" charset="-122"/>
                <a:cs typeface="Times New Roman" panose="02020603050405020304" pitchFamily="18" charset="0"/>
              </a:rPr>
              <a:t>。</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grpSp>
        <p:nvGrpSpPr>
          <p:cNvPr id="24" name="组合 23"/>
          <p:cNvGrpSpPr/>
          <p:nvPr/>
        </p:nvGrpSpPr>
        <p:grpSpPr>
          <a:xfrm>
            <a:off x="712183" y="1813926"/>
            <a:ext cx="8014410" cy="1486897"/>
            <a:chOff x="1056512" y="1813926"/>
            <a:chExt cx="8014410" cy="1486897"/>
          </a:xfrm>
        </p:grpSpPr>
        <p:grpSp>
          <p:nvGrpSpPr>
            <p:cNvPr id="20" name="组合 19"/>
            <p:cNvGrpSpPr/>
            <p:nvPr/>
          </p:nvGrpSpPr>
          <p:grpSpPr>
            <a:xfrm>
              <a:off x="1056512" y="1813926"/>
              <a:ext cx="8014410" cy="1486897"/>
              <a:chOff x="1044402" y="1798881"/>
              <a:chExt cx="8014410" cy="1486897"/>
            </a:xfrm>
          </p:grpSpPr>
          <p:grpSp>
            <p:nvGrpSpPr>
              <p:cNvPr id="8" name="组合 7"/>
              <p:cNvGrpSpPr/>
              <p:nvPr/>
            </p:nvGrpSpPr>
            <p:grpSpPr>
              <a:xfrm>
                <a:off x="1044402" y="2070401"/>
                <a:ext cx="6048672" cy="1195187"/>
                <a:chOff x="828378" y="2061642"/>
                <a:chExt cx="6048672" cy="1195187"/>
              </a:xfrm>
            </p:grpSpPr>
            <p:sp>
              <p:nvSpPr>
                <p:cNvPr id="2" name="六边形 1"/>
                <p:cNvSpPr/>
                <p:nvPr/>
              </p:nvSpPr>
              <p:spPr>
                <a:xfrm>
                  <a:off x="828378" y="2061642"/>
                  <a:ext cx="2016224" cy="1195187"/>
                </a:xfrm>
                <a:prstGeom prst="hexagon">
                  <a:avLst/>
                </a:prstGeom>
                <a:solidFill>
                  <a:schemeClr val="tx2">
                    <a:lumMod val="20000"/>
                    <a:lumOff val="8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b="1" kern="100" dirty="0">
                      <a:solidFill>
                        <a:schemeClr val="tx1"/>
                      </a:solidFill>
                      <a:latin typeface="Times New Roman" panose="02020603050405020304" pitchFamily="18" charset="0"/>
                      <a:ea typeface="宋体" pitchFamily="2" charset="-122"/>
                      <a:cs typeface="Times New Roman" panose="02020603050405020304" pitchFamily="18" charset="0"/>
                    </a:rPr>
                    <a:t>在列表中</a:t>
                  </a:r>
                  <a:r>
                    <a:rPr lang="zh-CN" altLang="en-US" sz="2000" b="1" kern="100" dirty="0">
                      <a:solidFill>
                        <a:schemeClr val="tx1"/>
                      </a:solidFill>
                      <a:latin typeface="Times New Roman" panose="02020603050405020304" pitchFamily="18" charset="0"/>
                      <a:ea typeface="宋体" pitchFamily="2" charset="-122"/>
                      <a:cs typeface="Times New Roman" panose="02020603050405020304" pitchFamily="18" charset="0"/>
                    </a:rPr>
                    <a:t>删除</a:t>
                  </a:r>
                  <a:r>
                    <a:rPr lang="zh-CN" altLang="zh-CN" sz="2000" b="1" kern="100" dirty="0">
                      <a:solidFill>
                        <a:schemeClr val="tx1"/>
                      </a:solidFill>
                      <a:latin typeface="Times New Roman" panose="02020603050405020304" pitchFamily="18" charset="0"/>
                      <a:ea typeface="宋体" pitchFamily="2" charset="-122"/>
                      <a:cs typeface="Times New Roman" panose="02020603050405020304" pitchFamily="18" charset="0"/>
                    </a:rPr>
                    <a:t>元素</a:t>
                  </a:r>
                  <a:r>
                    <a:rPr lang="zh-CN" altLang="en-US" sz="2000" b="1" kern="100" dirty="0">
                      <a:solidFill>
                        <a:schemeClr val="tx1"/>
                      </a:solidFill>
                      <a:latin typeface="Times New Roman" panose="02020603050405020304" pitchFamily="18" charset="0"/>
                      <a:ea typeface="宋体" pitchFamily="2" charset="-122"/>
                      <a:cs typeface="Times New Roman" panose="02020603050405020304" pitchFamily="18" charset="0"/>
                    </a:rPr>
                    <a:t>的方法</a:t>
                  </a:r>
                  <a:endParaRPr lang="zh-CN" altLang="en-US" dirty="0">
                    <a:solidFill>
                      <a:schemeClr val="tx1"/>
                    </a:solidFill>
                  </a:endParaRPr>
                </a:p>
              </p:txBody>
            </p:sp>
            <p:sp>
              <p:nvSpPr>
                <p:cNvPr id="11" name="矩形: 圆角 10"/>
                <p:cNvSpPr/>
                <p:nvPr/>
              </p:nvSpPr>
              <p:spPr>
                <a:xfrm>
                  <a:off x="3636690" y="2739649"/>
                  <a:ext cx="3240360" cy="461665"/>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tx1"/>
                      </a:solidFill>
                    </a:rPr>
                    <a:t>指定值删除元素</a:t>
                  </a:r>
                  <a:endParaRPr lang="zh-CN" altLang="en-US" dirty="0">
                    <a:solidFill>
                      <a:schemeClr val="tx1"/>
                    </a:solidFill>
                  </a:endParaRPr>
                </a:p>
              </p:txBody>
            </p:sp>
            <p:cxnSp>
              <p:nvCxnSpPr>
                <p:cNvPr id="5" name="直接箭头连接符 4"/>
                <p:cNvCxnSpPr>
                  <a:stCxn id="2" idx="0"/>
                </p:cNvCxnSpPr>
                <p:nvPr/>
              </p:nvCxnSpPr>
              <p:spPr>
                <a:xfrm flipV="1">
                  <a:off x="2844602" y="2107422"/>
                  <a:ext cx="720081" cy="5518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直接箭头连接符 6"/>
                <p:cNvCxnSpPr>
                  <a:stCxn id="2" idx="0"/>
                  <a:endCxn id="11" idx="1"/>
                </p:cNvCxnSpPr>
                <p:nvPr/>
              </p:nvCxnSpPr>
              <p:spPr>
                <a:xfrm>
                  <a:off x="2844602" y="2659236"/>
                  <a:ext cx="792088" cy="3112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3" name="矩形: 圆角 12"/>
              <p:cNvSpPr/>
              <p:nvPr/>
            </p:nvSpPr>
            <p:spPr>
              <a:xfrm>
                <a:off x="7453114" y="1798881"/>
                <a:ext cx="1584176" cy="636175"/>
              </a:xfrm>
              <a:prstGeom prst="roundRect">
                <a:avLst/>
              </a:prstGeom>
              <a:solidFill>
                <a:schemeClr val="accent3">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Del</a:t>
                </a:r>
                <a:r>
                  <a:rPr lang="zh-CN" altLang="en-US" dirty="0">
                    <a:solidFill>
                      <a:schemeClr val="tx1"/>
                    </a:solidFill>
                  </a:rPr>
                  <a:t>语句</a:t>
                </a:r>
                <a:endParaRPr lang="zh-CN" altLang="en-US" dirty="0">
                  <a:solidFill>
                    <a:schemeClr val="tx1"/>
                  </a:solidFill>
                </a:endParaRPr>
              </a:p>
            </p:txBody>
          </p:sp>
          <p:cxnSp>
            <p:nvCxnSpPr>
              <p:cNvPr id="16" name="直接箭头连接符 15"/>
              <p:cNvCxnSpPr>
                <a:endCxn id="13" idx="1"/>
              </p:cNvCxnSpPr>
              <p:nvPr/>
            </p:nvCxnSpPr>
            <p:spPr>
              <a:xfrm>
                <a:off x="7021066" y="2116181"/>
                <a:ext cx="432048" cy="7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矩形: 圆角 22"/>
              <p:cNvSpPr/>
              <p:nvPr/>
            </p:nvSpPr>
            <p:spPr>
              <a:xfrm>
                <a:off x="7474636" y="2649603"/>
                <a:ext cx="1584176" cy="636175"/>
              </a:xfrm>
              <a:prstGeom prst="roundRect">
                <a:avLst/>
              </a:prstGeom>
              <a:solidFill>
                <a:schemeClr val="accent3">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remove( )</a:t>
                </a:r>
                <a:endParaRPr lang="zh-CN" altLang="en-US" dirty="0">
                  <a:solidFill>
                    <a:schemeClr val="tx1"/>
                  </a:solidFill>
                </a:endParaRPr>
              </a:p>
            </p:txBody>
          </p:sp>
          <p:cxnSp>
            <p:nvCxnSpPr>
              <p:cNvPr id="19" name="直接箭头连接符 18"/>
              <p:cNvCxnSpPr>
                <a:stCxn id="11" idx="3"/>
                <a:endCxn id="23" idx="1"/>
              </p:cNvCxnSpPr>
              <p:nvPr/>
            </p:nvCxnSpPr>
            <p:spPr>
              <a:xfrm flipV="1">
                <a:off x="7093074" y="2967691"/>
                <a:ext cx="381562" cy="115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9" name="矩形: 圆角 28"/>
            <p:cNvSpPr/>
            <p:nvPr/>
          </p:nvSpPr>
          <p:spPr>
            <a:xfrm>
              <a:off x="3788295" y="1880968"/>
              <a:ext cx="3240360" cy="461665"/>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tx1"/>
                  </a:solidFill>
                </a:rPr>
                <a:t>指定</a:t>
              </a:r>
              <a:r>
                <a:rPr lang="zh-CN" altLang="en-US" dirty="0">
                  <a:solidFill>
                    <a:schemeClr val="tx1"/>
                  </a:solidFill>
                </a:rPr>
                <a:t>位置删除元素</a:t>
              </a:r>
              <a:endParaRPr lang="zh-CN" altLang="en-US" dirty="0">
                <a:solidFill>
                  <a:schemeClr val="tx1"/>
                </a:solidFill>
              </a:endParaRPr>
            </a:p>
          </p:txBody>
        </p:sp>
      </p:gr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159648" y="1255429"/>
            <a:ext cx="8877641" cy="1200329"/>
          </a:xfrm>
          <a:prstGeom prst="rect">
            <a:avLst/>
          </a:prstGeom>
          <a:noFill/>
        </p:spPr>
        <p:txBody>
          <a:bodyPr wrap="square">
            <a:spAutoFit/>
          </a:bodyPr>
          <a:lstStyle/>
          <a:p>
            <a:pPr indent="266700" algn="just"/>
            <a:r>
              <a:rPr lang="zh-CN" altLang="en-US" sz="2400" kern="100" dirty="0">
                <a:effectLst/>
                <a:latin typeface="Times New Roman" panose="02020603050405020304" pitchFamily="18" charset="0"/>
                <a:ea typeface="宋体" pitchFamily="2" charset="-122"/>
                <a:cs typeface="Times New Roman" panose="02020603050405020304" pitchFamily="18" charset="0"/>
              </a:rPr>
              <a:t>如果只需</a:t>
            </a:r>
            <a:r>
              <a:rPr lang="zh-CN" altLang="zh-CN" sz="2400" kern="100" dirty="0">
                <a:effectLst/>
                <a:latin typeface="Times New Roman" panose="02020603050405020304" pitchFamily="18" charset="0"/>
                <a:ea typeface="宋体" pitchFamily="2" charset="-122"/>
                <a:cs typeface="Times New Roman" panose="02020603050405020304" pitchFamily="18" charset="0"/>
              </a:rPr>
              <a:t>要列表中的一部分，这时可以使用</a:t>
            </a:r>
            <a:r>
              <a:rPr lang="zh-CN" altLang="zh-CN"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切片</a:t>
            </a:r>
            <a:r>
              <a:rPr lang="zh-CN" altLang="zh-CN" sz="2400" kern="100" dirty="0">
                <a:effectLst/>
                <a:latin typeface="Times New Roman" panose="02020603050405020304" pitchFamily="18" charset="0"/>
                <a:ea typeface="宋体" pitchFamily="2" charset="-122"/>
                <a:cs typeface="Times New Roman" panose="02020603050405020304" pitchFamily="18" charset="0"/>
              </a:rPr>
              <a:t>。</a:t>
            </a:r>
            <a:r>
              <a:rPr lang="zh-CN" altLang="zh-CN"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在列表名后加</a:t>
            </a:r>
            <a:r>
              <a:rPr lang="en-US" altLang="zh-CN" sz="2400" kern="100" dirty="0">
                <a:solidFill>
                  <a:srgbClr val="FF0000"/>
                </a:solidFill>
                <a:effectLst/>
                <a:latin typeface="Times New Roman" panose="02020603050405020304" pitchFamily="18" charset="0"/>
                <a:ea typeface="宋体" pitchFamily="2" charset="-122"/>
              </a:rPr>
              <a:t>[ : ]</a:t>
            </a:r>
            <a:r>
              <a:rPr lang="zh-CN" altLang="zh-CN"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表示切片</a:t>
            </a:r>
            <a:r>
              <a:rPr lang="zh-CN" altLang="zh-CN" sz="2400" kern="100" dirty="0">
                <a:effectLst/>
                <a:latin typeface="Times New Roman" panose="02020603050405020304" pitchFamily="18" charset="0"/>
                <a:ea typeface="宋体" pitchFamily="2" charset="-122"/>
                <a:cs typeface="Times New Roman" panose="02020603050405020304" pitchFamily="18" charset="0"/>
              </a:rPr>
              <a:t>，冒号左边参数为起始元素序号，右边参数为结束元素的序号</a:t>
            </a:r>
            <a:r>
              <a:rPr lang="en-US" altLang="zh-CN" sz="2400" kern="100" dirty="0">
                <a:effectLst/>
                <a:latin typeface="Times New Roman" panose="02020603050405020304" pitchFamily="18" charset="0"/>
                <a:ea typeface="宋体" pitchFamily="2" charset="-122"/>
              </a:rPr>
              <a:t>+1</a:t>
            </a:r>
            <a:r>
              <a:rPr lang="zh-CN" altLang="en-US" sz="2400" kern="100" dirty="0">
                <a:effectLst/>
                <a:latin typeface="Times New Roman" panose="02020603050405020304" pitchFamily="18" charset="0"/>
                <a:ea typeface="宋体" pitchFamily="2" charset="-122"/>
              </a:rPr>
              <a:t>。</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12" name="文本框 11"/>
          <p:cNvSpPr txBox="1"/>
          <p:nvPr/>
        </p:nvSpPr>
        <p:spPr>
          <a:xfrm>
            <a:off x="396330" y="2455758"/>
            <a:ext cx="8481311" cy="3785652"/>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例子</a:t>
            </a:r>
            <a:r>
              <a:rPr lang="en-US" altLang="zh-CN" sz="2400" kern="100" dirty="0">
                <a:solidFill>
                  <a:srgbClr val="000000"/>
                </a:solidFill>
                <a:effectLst/>
                <a:latin typeface="Times New Roman" panose="02020603050405020304" pitchFamily="18" charset="0"/>
                <a:ea typeface="宋体" pitchFamily="2" charset="-122"/>
              </a:rPr>
              <a:t>9</a:t>
            </a:r>
            <a:r>
              <a:rPr lang="zh-CN" altLang="en-US" sz="2400" kern="100" dirty="0">
                <a:solidFill>
                  <a:srgbClr val="000000"/>
                </a:solidFill>
                <a:effectLst/>
                <a:latin typeface="Times New Roman" panose="02020603050405020304" pitchFamily="18" charset="0"/>
                <a:ea typeface="宋体" pitchFamily="2" charset="-122"/>
              </a:rPr>
              <a:t>：切片的使用</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names = ['SATOMI','Bill','</a:t>
            </a:r>
            <a:r>
              <a:rPr lang="en-US" altLang="zh-CN" sz="2400" kern="100" dirty="0" err="1">
                <a:solidFill>
                  <a:srgbClr val="000000"/>
                </a:solidFill>
                <a:effectLst/>
                <a:latin typeface="Times New Roman" panose="02020603050405020304" pitchFamily="18" charset="0"/>
                <a:ea typeface="宋体" pitchFamily="2" charset="-122"/>
              </a:rPr>
              <a:t>LiLei</a:t>
            </a:r>
            <a:r>
              <a:rPr lang="en-US" altLang="zh-CN" sz="2400" kern="100" dirty="0">
                <a:solidFill>
                  <a:srgbClr val="000000"/>
                </a:solidFill>
                <a:effectLst/>
                <a:latin typeface="Times New Roman" panose="02020603050405020304" pitchFamily="18" charset="0"/>
                <a:ea typeface="宋体" pitchFamily="2" charset="-122"/>
              </a:rPr>
              <a:t>','</a:t>
            </a:r>
            <a:r>
              <a:rPr lang="en-US" altLang="zh-CN" sz="2400" kern="100" dirty="0" err="1">
                <a:solidFill>
                  <a:srgbClr val="000000"/>
                </a:solidFill>
                <a:effectLst/>
                <a:latin typeface="Times New Roman" panose="02020603050405020304" pitchFamily="18" charset="0"/>
                <a:ea typeface="宋体" pitchFamily="2" charset="-122"/>
              </a:rPr>
              <a:t>Jobs','Zed</a:t>
            </a:r>
            <a:r>
              <a:rPr lang="en-US" altLang="zh-CN" sz="2400" kern="100" dirty="0">
                <a:solidFill>
                  <a:srgbClr val="000000"/>
                </a:solidFill>
                <a:effectLst/>
                <a:latin typeface="Times New Roman" panose="02020603050405020304" pitchFamily="18" charset="0"/>
                <a:ea typeface="宋体" pitchFamily="2" charset="-122"/>
              </a:rPr>
              <a:t>’]</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a:t>
            </a:r>
            <a:r>
              <a:rPr lang="zh-CN" altLang="zh-CN" sz="2400" kern="100" dirty="0">
                <a:solidFill>
                  <a:srgbClr val="000000"/>
                </a:solidFill>
                <a:effectLst/>
                <a:latin typeface="Times New Roman" panose="02020603050405020304" pitchFamily="18" charset="0"/>
                <a:ea typeface="宋体" pitchFamily="2" charset="-122"/>
              </a:rPr>
              <a:t>打印序号为</a:t>
            </a:r>
            <a:r>
              <a:rPr lang="en-US" altLang="zh-CN" sz="2400" kern="100" dirty="0">
                <a:solidFill>
                  <a:srgbClr val="000000"/>
                </a:solidFill>
                <a:effectLst/>
                <a:latin typeface="Times New Roman" panose="02020603050405020304" pitchFamily="18" charset="0"/>
                <a:ea typeface="宋体" pitchFamily="2" charset="-122"/>
              </a:rPr>
              <a:t>1,2,3</a:t>
            </a:r>
            <a:r>
              <a:rPr lang="zh-CN" altLang="zh-CN" sz="2400" kern="100" dirty="0">
                <a:solidFill>
                  <a:srgbClr val="000000"/>
                </a:solidFill>
                <a:effectLst/>
                <a:latin typeface="Times New Roman" panose="02020603050405020304" pitchFamily="18" charset="0"/>
                <a:ea typeface="宋体" pitchFamily="2" charset="-122"/>
              </a:rPr>
              <a:t>的元素</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print(names[1:4])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a:t>
            </a:r>
            <a:r>
              <a:rPr lang="zh-CN" altLang="zh-CN" sz="2400" kern="100" dirty="0">
                <a:solidFill>
                  <a:srgbClr val="000000"/>
                </a:solidFill>
                <a:effectLst/>
                <a:latin typeface="Times New Roman" panose="02020603050405020304" pitchFamily="18" charset="0"/>
                <a:ea typeface="宋体" pitchFamily="2" charset="-122"/>
              </a:rPr>
              <a:t>省略左边参数，从列表起始元素开始，序号为</a:t>
            </a:r>
            <a:r>
              <a:rPr lang="en-US" altLang="zh-CN" sz="2400" kern="100" dirty="0">
                <a:solidFill>
                  <a:srgbClr val="000000"/>
                </a:solidFill>
                <a:effectLst/>
                <a:latin typeface="Times New Roman" panose="02020603050405020304" pitchFamily="18" charset="0"/>
                <a:ea typeface="宋体" pitchFamily="2" charset="-122"/>
              </a:rPr>
              <a:t>3</a:t>
            </a:r>
            <a:r>
              <a:rPr lang="zh-CN" altLang="zh-CN" sz="2400" kern="100" dirty="0">
                <a:solidFill>
                  <a:srgbClr val="000000"/>
                </a:solidFill>
                <a:effectLst/>
                <a:latin typeface="Times New Roman" panose="02020603050405020304" pitchFamily="18" charset="0"/>
                <a:ea typeface="宋体" pitchFamily="2" charset="-122"/>
              </a:rPr>
              <a:t>元素结束</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print(names[:4])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a:t>
            </a:r>
            <a:r>
              <a:rPr lang="zh-CN" altLang="zh-CN" sz="2400" kern="100" dirty="0">
                <a:solidFill>
                  <a:srgbClr val="000000"/>
                </a:solidFill>
                <a:effectLst/>
                <a:latin typeface="Times New Roman" panose="02020603050405020304" pitchFamily="18" charset="0"/>
                <a:ea typeface="宋体" pitchFamily="2" charset="-122"/>
              </a:rPr>
              <a:t>省略右边参数，以列表末尾元素结束，序号为</a:t>
            </a:r>
            <a:r>
              <a:rPr lang="en-US" altLang="zh-CN" sz="2400" kern="100" dirty="0">
                <a:solidFill>
                  <a:srgbClr val="000000"/>
                </a:solidFill>
                <a:effectLst/>
                <a:latin typeface="Times New Roman" panose="02020603050405020304" pitchFamily="18" charset="0"/>
                <a:ea typeface="宋体" pitchFamily="2" charset="-122"/>
              </a:rPr>
              <a:t>1</a:t>
            </a:r>
            <a:r>
              <a:rPr lang="zh-CN" altLang="zh-CN" sz="2400" kern="100" dirty="0">
                <a:solidFill>
                  <a:srgbClr val="000000"/>
                </a:solidFill>
                <a:effectLst/>
                <a:latin typeface="Times New Roman" panose="02020603050405020304" pitchFamily="18" charset="0"/>
                <a:ea typeface="宋体" pitchFamily="2" charset="-122"/>
              </a:rPr>
              <a:t>元素开始</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print(names[1:])</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a:t>
            </a:r>
            <a:r>
              <a:rPr lang="zh-CN" altLang="zh-CN" sz="2400" kern="100" dirty="0">
                <a:solidFill>
                  <a:srgbClr val="000000"/>
                </a:solidFill>
                <a:effectLst/>
                <a:latin typeface="Times New Roman" panose="02020603050405020304" pitchFamily="18" charset="0"/>
                <a:ea typeface="宋体" pitchFamily="2" charset="-122"/>
              </a:rPr>
              <a:t>省略左右参数，打印整个列表</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r>
              <a:rPr lang="en-US" altLang="zh-CN" sz="2400" kern="100" dirty="0">
                <a:effectLst/>
                <a:latin typeface="Times New Roman" panose="02020603050405020304" pitchFamily="18" charset="0"/>
                <a:ea typeface="宋体" pitchFamily="2" charset="-122"/>
              </a:rPr>
              <a:t>   print(names[:]) </a:t>
            </a:r>
            <a:endParaRPr lang="zh-CN" altLang="zh-CN" sz="2400" kern="100" dirty="0">
              <a:solidFill>
                <a:srgbClr val="000000"/>
              </a:solidFill>
              <a:latin typeface="Times New Roman" panose="02020603050405020304" pitchFamily="18" charset="0"/>
              <a:ea typeface="宋体" pitchFamily="2" charset="-122"/>
            </a:endParaRPr>
          </a:p>
        </p:txBody>
      </p:sp>
      <p:sp>
        <p:nvSpPr>
          <p:cNvPr id="13" name="文本框 12"/>
          <p:cNvSpPr txBox="1"/>
          <p:nvPr/>
        </p:nvSpPr>
        <p:spPr>
          <a:xfrm>
            <a:off x="3713723" y="4920596"/>
            <a:ext cx="5400600" cy="1938992"/>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a:t>
            </a:r>
            <a:r>
              <a:rPr lang="en-US" altLang="zh-CN" sz="2400" kern="100" dirty="0">
                <a:solidFill>
                  <a:srgbClr val="000000"/>
                </a:solidFill>
                <a:effectLst/>
                <a:latin typeface="Times New Roman" panose="02020603050405020304" pitchFamily="18" charset="0"/>
                <a:ea typeface="宋体" pitchFamily="2" charset="-122"/>
              </a:rPr>
              <a:t>9</a:t>
            </a:r>
            <a:r>
              <a:rPr lang="zh-CN" altLang="en-US" sz="2400" kern="100" dirty="0">
                <a:solidFill>
                  <a:srgbClr val="000000"/>
                </a:solidFill>
                <a:effectLst/>
                <a:latin typeface="Times New Roman" panose="02020603050405020304" pitchFamily="18" charset="0"/>
                <a:ea typeface="宋体" pitchFamily="2" charset="-122"/>
              </a:rPr>
              <a:t> 运行结果：</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['Bill', '</a:t>
            </a:r>
            <a:r>
              <a:rPr lang="en-US" altLang="zh-CN" sz="2400" kern="100" dirty="0" err="1">
                <a:solidFill>
                  <a:srgbClr val="000000"/>
                </a:solidFill>
                <a:effectLst/>
                <a:latin typeface="Times New Roman" panose="02020603050405020304" pitchFamily="18" charset="0"/>
                <a:ea typeface="宋体" pitchFamily="2" charset="-122"/>
              </a:rPr>
              <a:t>LiLei</a:t>
            </a:r>
            <a:r>
              <a:rPr lang="en-US" altLang="zh-CN" sz="2400" kern="100" dirty="0">
                <a:solidFill>
                  <a:srgbClr val="000000"/>
                </a:solidFill>
                <a:effectLst/>
                <a:latin typeface="Times New Roman" panose="02020603050405020304" pitchFamily="18" charset="0"/>
                <a:ea typeface="宋体" pitchFamily="2" charset="-122"/>
              </a:rPr>
              <a:t>', 'Jobs']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['SATOMI', 'Bill', '</a:t>
            </a:r>
            <a:r>
              <a:rPr lang="en-US" altLang="zh-CN" sz="2400" kern="100" dirty="0" err="1">
                <a:solidFill>
                  <a:srgbClr val="000000"/>
                </a:solidFill>
                <a:effectLst/>
                <a:latin typeface="Times New Roman" panose="02020603050405020304" pitchFamily="18" charset="0"/>
                <a:ea typeface="宋体" pitchFamily="2" charset="-122"/>
              </a:rPr>
              <a:t>LiLei</a:t>
            </a:r>
            <a:r>
              <a:rPr lang="en-US" altLang="zh-CN" sz="2400" kern="100" dirty="0">
                <a:solidFill>
                  <a:srgbClr val="000000"/>
                </a:solidFill>
                <a:effectLst/>
                <a:latin typeface="Times New Roman" panose="02020603050405020304" pitchFamily="18" charset="0"/>
                <a:ea typeface="宋体" pitchFamily="2" charset="-122"/>
              </a:rPr>
              <a:t>', 'Jobs']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['Bill', '</a:t>
            </a:r>
            <a:r>
              <a:rPr lang="en-US" altLang="zh-CN" sz="2400" kern="100" dirty="0" err="1">
                <a:solidFill>
                  <a:srgbClr val="000000"/>
                </a:solidFill>
                <a:effectLst/>
                <a:latin typeface="Times New Roman" panose="02020603050405020304" pitchFamily="18" charset="0"/>
                <a:ea typeface="宋体" pitchFamily="2" charset="-122"/>
              </a:rPr>
              <a:t>LiLei</a:t>
            </a:r>
            <a:r>
              <a:rPr lang="en-US" altLang="zh-CN" sz="2400" kern="100" dirty="0">
                <a:solidFill>
                  <a:srgbClr val="000000"/>
                </a:solidFill>
                <a:effectLst/>
                <a:latin typeface="Times New Roman" panose="02020603050405020304" pitchFamily="18" charset="0"/>
                <a:ea typeface="宋体" pitchFamily="2" charset="-122"/>
              </a:rPr>
              <a:t>', 'Jobs', 'Zed']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['SATOMI', 'Bill', '</a:t>
            </a:r>
            <a:r>
              <a:rPr lang="en-US" altLang="zh-CN" sz="2400" kern="100" dirty="0" err="1">
                <a:solidFill>
                  <a:srgbClr val="000000"/>
                </a:solidFill>
                <a:effectLst/>
                <a:latin typeface="Times New Roman" panose="02020603050405020304" pitchFamily="18" charset="0"/>
                <a:ea typeface="宋体" pitchFamily="2" charset="-122"/>
              </a:rPr>
              <a:t>LiLei</a:t>
            </a:r>
            <a:r>
              <a:rPr lang="en-US" altLang="zh-CN" sz="2400" kern="100" dirty="0">
                <a:solidFill>
                  <a:srgbClr val="000000"/>
                </a:solidFill>
                <a:effectLst/>
                <a:latin typeface="Times New Roman" panose="02020603050405020304" pitchFamily="18" charset="0"/>
                <a:ea typeface="宋体" pitchFamily="2" charset="-122"/>
              </a:rPr>
              <a:t>', 'Jobs', 'Zed']   </a:t>
            </a:r>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159648" y="1255429"/>
            <a:ext cx="8877641" cy="830997"/>
          </a:xfrm>
          <a:prstGeom prst="rect">
            <a:avLst/>
          </a:prstGeom>
          <a:noFill/>
        </p:spPr>
        <p:txBody>
          <a:bodyPr wrap="square">
            <a:spAutoFit/>
          </a:bodyPr>
          <a:lstStyle/>
          <a:p>
            <a:pPr indent="266700" algn="just"/>
            <a:r>
              <a:rPr lang="zh-CN" altLang="zh-CN" sz="2400" kern="100" dirty="0">
                <a:latin typeface="Times New Roman" panose="02020603050405020304" pitchFamily="18" charset="0"/>
                <a:cs typeface="Times New Roman" panose="02020603050405020304" pitchFamily="18" charset="0"/>
              </a:rPr>
              <a:t>元组</a:t>
            </a:r>
            <a:r>
              <a:rPr lang="zh-CN" altLang="zh-CN" sz="2400" kern="100" dirty="0">
                <a:effectLst/>
                <a:latin typeface="Times New Roman" panose="02020603050405020304" pitchFamily="18" charset="0"/>
                <a:ea typeface="宋体" pitchFamily="2" charset="-122"/>
                <a:cs typeface="Times New Roman" panose="02020603050405020304" pitchFamily="18" charset="0"/>
              </a:rPr>
              <a:t>用</a:t>
            </a:r>
            <a:r>
              <a:rPr lang="en-US" altLang="zh-CN" sz="2400" kern="100" dirty="0">
                <a:effectLst/>
                <a:latin typeface="Times New Roman" panose="02020603050405020304" pitchFamily="18" charset="0"/>
                <a:ea typeface="宋体" pitchFamily="2" charset="-122"/>
              </a:rPr>
              <a:t>( )</a:t>
            </a:r>
            <a:r>
              <a:rPr lang="zh-CN" altLang="zh-CN" sz="2400" kern="100" dirty="0">
                <a:effectLst/>
                <a:latin typeface="Times New Roman" panose="02020603050405020304" pitchFamily="18" charset="0"/>
                <a:ea typeface="宋体" pitchFamily="2" charset="-122"/>
                <a:cs typeface="Times New Roman" panose="02020603050405020304" pitchFamily="18" charset="0"/>
              </a:rPr>
              <a:t>表示，</a:t>
            </a:r>
            <a:r>
              <a:rPr lang="zh-CN" altLang="zh-CN" sz="2400" kern="100" dirty="0">
                <a:latin typeface="Times New Roman" panose="02020603050405020304" pitchFamily="18" charset="0"/>
                <a:cs typeface="Times New Roman" panose="02020603050405020304" pitchFamily="18" charset="0"/>
              </a:rPr>
              <a:t>可以</a:t>
            </a:r>
            <a:r>
              <a:rPr lang="zh-CN" altLang="zh-CN" sz="2400" kern="100" dirty="0">
                <a:effectLst/>
                <a:latin typeface="Times New Roman" panose="02020603050405020304" pitchFamily="18" charset="0"/>
                <a:ea typeface="宋体" pitchFamily="2" charset="-122"/>
                <a:cs typeface="Times New Roman" panose="02020603050405020304" pitchFamily="18" charset="0"/>
              </a:rPr>
              <a:t>用来存储代码中的定值</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元组中的</a:t>
            </a:r>
            <a:r>
              <a:rPr lang="zh-CN" altLang="zh-CN" sz="2400" kern="100" dirty="0">
                <a:solidFill>
                  <a:srgbClr val="FF0000"/>
                </a:solidFill>
                <a:latin typeface="Times New Roman" panose="02020603050405020304" pitchFamily="18" charset="0"/>
                <a:cs typeface="Times New Roman" panose="02020603050405020304" pitchFamily="18" charset="0"/>
              </a:rPr>
              <a:t>元素不可修改</a:t>
            </a:r>
            <a:r>
              <a:rPr lang="zh-CN" altLang="en-US" sz="2400" kern="100" dirty="0">
                <a:solidFill>
                  <a:srgbClr val="FF0000"/>
                </a:solidFill>
                <a:latin typeface="Times New Roman" panose="02020603050405020304" pitchFamily="18" charset="0"/>
                <a:cs typeface="Times New Roman" panose="02020603050405020304" pitchFamily="18" charset="0"/>
              </a:rPr>
              <a:t>。</a:t>
            </a:r>
            <a:endParaRPr lang="zh-CN" altLang="zh-CN" sz="2400" kern="100" dirty="0">
              <a:solidFill>
                <a:srgbClr val="FF0000"/>
              </a:solidFill>
              <a:latin typeface="Times New Roman" panose="02020603050405020304" pitchFamily="18" charset="0"/>
              <a:ea typeface="宋体" pitchFamily="2" charset="-122"/>
              <a:cs typeface="Times New Roman" panose="02020603050405020304" pitchFamily="18" charset="0"/>
            </a:endParaRPr>
          </a:p>
        </p:txBody>
      </p:sp>
      <p:sp>
        <p:nvSpPr>
          <p:cNvPr id="12" name="文本框 11"/>
          <p:cNvSpPr txBox="1"/>
          <p:nvPr/>
        </p:nvSpPr>
        <p:spPr>
          <a:xfrm>
            <a:off x="2268538" y="2213644"/>
            <a:ext cx="4320480" cy="1569660"/>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例子</a:t>
            </a:r>
            <a:r>
              <a:rPr lang="en-US" altLang="zh-CN" sz="2400" kern="100" dirty="0">
                <a:solidFill>
                  <a:srgbClr val="000000"/>
                </a:solidFill>
                <a:effectLst/>
                <a:latin typeface="Times New Roman" panose="02020603050405020304" pitchFamily="18" charset="0"/>
                <a:ea typeface="宋体" pitchFamily="2" charset="-122"/>
              </a:rPr>
              <a:t>10</a:t>
            </a:r>
            <a:r>
              <a:rPr lang="zh-CN" altLang="en-US" sz="2400" kern="100" dirty="0">
                <a:solidFill>
                  <a:srgbClr val="000000"/>
                </a:solidFill>
                <a:effectLst/>
                <a:latin typeface="Times New Roman" panose="02020603050405020304" pitchFamily="18" charset="0"/>
                <a:ea typeface="宋体" pitchFamily="2" charset="-122"/>
              </a:rPr>
              <a:t>：元组的修改</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cs typeface="Times New Roman" panose="02020603050405020304" pitchFamily="18" charset="0"/>
              </a:rPr>
              <a:t>tuple = (1,2,3,4,5)   </a:t>
            </a:r>
            <a:endParaRPr lang="zh-CN" altLang="zh-CN" sz="2400" kern="100" dirty="0">
              <a:effectLst/>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cs typeface="Times New Roman" panose="02020603050405020304" pitchFamily="18" charset="0"/>
              </a:rPr>
              <a:t>tuple[0] = 6  </a:t>
            </a:r>
            <a:endParaRPr lang="zh-CN" altLang="zh-CN" sz="2400" kern="100" dirty="0">
              <a:effectLst/>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cs typeface="Times New Roman" panose="02020603050405020304" pitchFamily="18" charset="0"/>
              </a:rPr>
              <a:t>print(tuple)  </a:t>
            </a:r>
            <a:endParaRPr lang="zh-CN" altLang="zh-CN" sz="2400" kern="100" dirty="0">
              <a:effectLst/>
              <a:latin typeface="Times New Roman" panose="02020603050405020304" pitchFamily="18" charset="0"/>
              <a:ea typeface="宋体" pitchFamily="2" charset="-122"/>
              <a:cs typeface="Times New Roman" panose="02020603050405020304" pitchFamily="18" charset="0"/>
            </a:endParaRPr>
          </a:p>
        </p:txBody>
      </p:sp>
      <p:sp>
        <p:nvSpPr>
          <p:cNvPr id="13" name="文本框 12"/>
          <p:cNvSpPr txBox="1"/>
          <p:nvPr/>
        </p:nvSpPr>
        <p:spPr>
          <a:xfrm>
            <a:off x="540346" y="4005858"/>
            <a:ext cx="8208912" cy="2677656"/>
          </a:xfrm>
          <a:prstGeom prst="rect">
            <a:avLst/>
          </a:prstGeom>
          <a:solidFill>
            <a:srgbClr val="FF000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a:t>
            </a:r>
            <a:r>
              <a:rPr lang="en-US" altLang="zh-CN" sz="2400" kern="100" dirty="0">
                <a:solidFill>
                  <a:srgbClr val="000000"/>
                </a:solidFill>
                <a:effectLst/>
                <a:latin typeface="Times New Roman" panose="02020603050405020304" pitchFamily="18" charset="0"/>
                <a:ea typeface="宋体" pitchFamily="2" charset="-122"/>
              </a:rPr>
              <a:t>10 </a:t>
            </a:r>
            <a:r>
              <a:rPr lang="zh-CN" altLang="en-US" sz="2400" kern="100" dirty="0">
                <a:solidFill>
                  <a:srgbClr val="000000"/>
                </a:solidFill>
                <a:effectLst/>
                <a:latin typeface="Times New Roman" panose="02020603050405020304" pitchFamily="18" charset="0"/>
                <a:ea typeface="宋体" pitchFamily="2" charset="-122"/>
              </a:rPr>
              <a:t>运行结果：</a:t>
            </a:r>
            <a:endParaRPr lang="en-US" altLang="zh-CN" sz="2400" kern="100" dirty="0">
              <a:solidFill>
                <a:srgbClr val="000000"/>
              </a:solidFill>
              <a:effectLst/>
              <a:latin typeface="Times New Roman" panose="02020603050405020304" pitchFamily="18" charset="0"/>
              <a:ea typeface="宋体" pitchFamily="2" charset="-122"/>
            </a:endParaRPr>
          </a:p>
          <a:p>
            <a:pPr fontAlgn="ctr"/>
            <a:r>
              <a:rPr lang="en-US" altLang="zh-CN" sz="2400" dirty="0"/>
              <a:t>Traceback (most recent call last):  </a:t>
            </a:r>
            <a:endParaRPr lang="zh-CN" altLang="zh-CN" sz="2400" dirty="0"/>
          </a:p>
          <a:p>
            <a:pPr fontAlgn="ctr"/>
            <a:r>
              <a:rPr lang="en-US" altLang="zh-CN" sz="2400" dirty="0"/>
              <a:t>  File "C:/Users/11041/PycharmProjects/hello_world/hello.py" line 28, in &lt;module&gt;  </a:t>
            </a:r>
            <a:endParaRPr lang="zh-CN" altLang="zh-CN" sz="2400" dirty="0"/>
          </a:p>
          <a:p>
            <a:pPr fontAlgn="ctr"/>
            <a:r>
              <a:rPr lang="en-US" altLang="zh-CN" sz="2400" dirty="0"/>
              <a:t>    tuple[0] = 6  </a:t>
            </a:r>
            <a:endParaRPr lang="zh-CN" altLang="zh-CN" sz="2400" dirty="0"/>
          </a:p>
          <a:p>
            <a:pPr fontAlgn="ctr"/>
            <a:r>
              <a:rPr lang="en-US" altLang="zh-CN" sz="2400" dirty="0" err="1"/>
              <a:t>TypeError</a:t>
            </a:r>
            <a:r>
              <a:rPr lang="en-US" altLang="zh-CN" sz="2400" dirty="0"/>
              <a:t>: 'tuple' object does not support item assignment</a:t>
            </a:r>
            <a:endParaRPr lang="zh-CN" altLang="zh-CN" sz="2400" dirty="0"/>
          </a:p>
          <a:p>
            <a:r>
              <a:rPr lang="en-US" altLang="zh-CN" sz="2400" dirty="0"/>
              <a:t>Process finished with exit code 1</a:t>
            </a:r>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24322" y="1879569"/>
            <a:ext cx="8496944" cy="461665"/>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cs typeface="Times New Roman" panose="02020603050405020304" pitchFamily="18" charset="0"/>
              </a:rPr>
              <a:t>循环是让计算机能够自动完成一系列动作的主要方法</a:t>
            </a:r>
            <a:r>
              <a:rPr lang="zh-CN" altLang="en-US" sz="2400" b="1" kern="100" dirty="0">
                <a:latin typeface="Times New Roman" panose="02020603050405020304" pitchFamily="18" charset="0"/>
                <a:ea typeface="宋体" pitchFamily="2" charset="-122"/>
                <a:cs typeface="Times New Roman" panose="02020603050405020304" pitchFamily="18" charset="0"/>
              </a:rPr>
              <a:t>。</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12" name="文本框 11"/>
          <p:cNvSpPr txBox="1"/>
          <p:nvPr/>
        </p:nvSpPr>
        <p:spPr>
          <a:xfrm>
            <a:off x="142957" y="3008729"/>
            <a:ext cx="5794272" cy="1569660"/>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latin typeface="Times New Roman" panose="02020603050405020304" pitchFamily="18" charset="0"/>
                <a:ea typeface="宋体" pitchFamily="2" charset="-122"/>
                <a:cs typeface="Times New Roman" panose="02020603050405020304" pitchFamily="18" charset="0"/>
              </a:rPr>
              <a:t>例子</a:t>
            </a:r>
            <a:r>
              <a:rPr lang="en-US" altLang="zh-CN" sz="2400" kern="100" dirty="0">
                <a:latin typeface="Times New Roman" panose="02020603050405020304" pitchFamily="18" charset="0"/>
                <a:ea typeface="宋体" pitchFamily="2" charset="-122"/>
                <a:cs typeface="Times New Roman" panose="02020603050405020304" pitchFamily="18" charset="0"/>
              </a:rPr>
              <a:t>11</a:t>
            </a:r>
            <a:r>
              <a:rPr lang="zh-CN" altLang="en-US" sz="2400" kern="100" dirty="0">
                <a:latin typeface="Times New Roman" panose="02020603050405020304" pitchFamily="18" charset="0"/>
                <a:ea typeface="宋体" pitchFamily="2" charset="-122"/>
                <a:cs typeface="Times New Roman" panose="02020603050405020304" pitchFamily="18" charset="0"/>
              </a:rPr>
              <a:t> 打印</a:t>
            </a:r>
            <a:r>
              <a:rPr lang="en-US" altLang="zh-CN" sz="2400" kern="100" dirty="0">
                <a:latin typeface="Times New Roman" panose="02020603050405020304" pitchFamily="18" charset="0"/>
                <a:ea typeface="宋体" pitchFamily="2" charset="-122"/>
                <a:cs typeface="Times New Roman" panose="02020603050405020304" pitchFamily="18" charset="0"/>
              </a:rPr>
              <a:t>names</a:t>
            </a:r>
            <a:r>
              <a:rPr lang="zh-CN" altLang="en-US" sz="2400" kern="100" dirty="0">
                <a:latin typeface="Times New Roman" panose="02020603050405020304" pitchFamily="18" charset="0"/>
                <a:ea typeface="宋体" pitchFamily="2" charset="-122"/>
                <a:cs typeface="Times New Roman" panose="02020603050405020304" pitchFamily="18" charset="0"/>
              </a:rPr>
              <a:t>列表：</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solidFill>
                  <a:srgbClr val="000000"/>
                </a:solidFill>
                <a:latin typeface="Times New Roman" panose="02020603050405020304" pitchFamily="18" charset="0"/>
                <a:ea typeface="宋体" pitchFamily="2" charset="-122"/>
              </a:rPr>
              <a:t>names=['SATOMI','Bill','</a:t>
            </a:r>
            <a:r>
              <a:rPr lang="en-US" altLang="zh-CN" sz="2400" kern="100" dirty="0" err="1">
                <a:solidFill>
                  <a:srgbClr val="000000"/>
                </a:solidFill>
                <a:latin typeface="Times New Roman" panose="02020603050405020304" pitchFamily="18" charset="0"/>
                <a:ea typeface="宋体" pitchFamily="2" charset="-122"/>
              </a:rPr>
              <a:t>LiLei</a:t>
            </a:r>
            <a:r>
              <a:rPr lang="en-US" altLang="zh-CN" sz="2400" kern="100" dirty="0">
                <a:solidFill>
                  <a:srgbClr val="000000"/>
                </a:solidFill>
                <a:latin typeface="Times New Roman" panose="02020603050405020304" pitchFamily="18" charset="0"/>
                <a:ea typeface="宋体" pitchFamily="2" charset="-122"/>
              </a:rPr>
              <a:t>','</a:t>
            </a:r>
            <a:r>
              <a:rPr lang="en-US" altLang="zh-CN" sz="2400" kern="100" dirty="0" err="1">
                <a:solidFill>
                  <a:srgbClr val="000000"/>
                </a:solidFill>
                <a:latin typeface="Times New Roman" panose="02020603050405020304" pitchFamily="18" charset="0"/>
                <a:ea typeface="宋体" pitchFamily="2" charset="-122"/>
              </a:rPr>
              <a:t>Jobs','Zed</a:t>
            </a:r>
            <a:r>
              <a:rPr lang="en-US" altLang="zh-CN" sz="2400" kern="100" dirty="0">
                <a:solidFill>
                  <a:srgbClr val="000000"/>
                </a:solidFill>
                <a:latin typeface="Times New Roman" panose="02020603050405020304" pitchFamily="18" charset="0"/>
                <a:ea typeface="宋体" pitchFamily="2" charset="-122"/>
              </a:rPr>
              <a:t>’] </a:t>
            </a:r>
            <a:endParaRPr lang="en-US" altLang="zh-CN" sz="2400" kern="100" dirty="0">
              <a:solidFill>
                <a:srgbClr val="000000"/>
              </a:solidFill>
              <a:latin typeface="Times New Roman" panose="02020603050405020304" pitchFamily="18" charset="0"/>
              <a:ea typeface="宋体" pitchFamily="2" charset="-122"/>
            </a:endParaRPr>
          </a:p>
          <a:p>
            <a:pPr indent="266700" algn="l" fontAlgn="ctr"/>
            <a:r>
              <a:rPr lang="en-US" altLang="zh-CN" sz="2400" kern="100" dirty="0">
                <a:solidFill>
                  <a:srgbClr val="000000"/>
                </a:solidFill>
                <a:latin typeface="Times New Roman" panose="02020603050405020304" pitchFamily="18" charset="0"/>
                <a:ea typeface="宋体" pitchFamily="2" charset="-122"/>
              </a:rPr>
              <a:t>for name in names:  </a:t>
            </a:r>
            <a:endParaRPr lang="zh-CN" altLang="zh-CN" sz="2400" kern="100" dirty="0">
              <a:solidFill>
                <a:srgbClr val="000000"/>
              </a:solidFill>
              <a:latin typeface="Times New Roman" panose="02020603050405020304" pitchFamily="18" charset="0"/>
              <a:ea typeface="宋体" pitchFamily="2" charset="-122"/>
            </a:endParaRPr>
          </a:p>
          <a:p>
            <a:r>
              <a:rPr lang="en-US" altLang="zh-CN" sz="2400" kern="100" dirty="0">
                <a:solidFill>
                  <a:srgbClr val="000000"/>
                </a:solidFill>
                <a:latin typeface="Times New Roman" panose="02020603050405020304" pitchFamily="18" charset="0"/>
                <a:ea typeface="宋体" pitchFamily="2" charset="-122"/>
              </a:rPr>
              <a:t>         print(name) </a:t>
            </a:r>
            <a:endParaRPr lang="zh-CN" altLang="zh-CN" sz="2400" kern="100" dirty="0">
              <a:solidFill>
                <a:srgbClr val="000000"/>
              </a:solidFill>
              <a:latin typeface="Times New Roman" panose="02020603050405020304" pitchFamily="18" charset="0"/>
              <a:ea typeface="宋体" pitchFamily="2" charset="-122"/>
            </a:endParaRPr>
          </a:p>
        </p:txBody>
      </p:sp>
      <p:sp>
        <p:nvSpPr>
          <p:cNvPr id="14" name="文本框 13"/>
          <p:cNvSpPr txBox="1"/>
          <p:nvPr/>
        </p:nvSpPr>
        <p:spPr>
          <a:xfrm>
            <a:off x="6249635" y="2662384"/>
            <a:ext cx="2406958" cy="2308324"/>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a:t>
            </a:r>
            <a:r>
              <a:rPr lang="en-US" altLang="zh-CN" sz="2400" kern="100" dirty="0">
                <a:solidFill>
                  <a:srgbClr val="000000"/>
                </a:solidFill>
                <a:effectLst/>
                <a:latin typeface="Times New Roman" panose="02020603050405020304" pitchFamily="18" charset="0"/>
                <a:ea typeface="宋体" pitchFamily="2" charset="-122"/>
              </a:rPr>
              <a:t>11</a:t>
            </a:r>
            <a:r>
              <a:rPr lang="zh-CN" altLang="en-US" sz="2400" kern="100" dirty="0">
                <a:solidFill>
                  <a:srgbClr val="000000"/>
                </a:solidFill>
                <a:effectLst/>
                <a:latin typeface="Times New Roman" panose="02020603050405020304" pitchFamily="18" charset="0"/>
                <a:ea typeface="宋体" pitchFamily="2" charset="-122"/>
              </a:rPr>
              <a:t> 运行结果</a:t>
            </a:r>
            <a:r>
              <a:rPr lang="zh-CN" altLang="en-US" sz="2400" kern="100" dirty="0">
                <a:solidFill>
                  <a:srgbClr val="000000"/>
                </a:solidFill>
                <a:latin typeface="Times New Roman" panose="02020603050405020304" pitchFamily="18" charset="0"/>
                <a:ea typeface="宋体" pitchFamily="2" charset="-122"/>
              </a:rPr>
              <a:t>：</a:t>
            </a:r>
            <a:endParaRPr lang="en-US" altLang="zh-CN" sz="2400" kern="100" dirty="0">
              <a:solidFill>
                <a:srgbClr val="000000"/>
              </a:solidFill>
              <a:effectLst/>
              <a:latin typeface="Times New Roman" panose="02020603050405020304" pitchFamily="18" charset="0"/>
              <a:ea typeface="宋体" pitchFamily="2" charset="-122"/>
            </a:endParaRPr>
          </a:p>
          <a:p>
            <a:pPr fontAlgn="ctr"/>
            <a:r>
              <a:rPr lang="en-US" altLang="zh-CN" sz="2400" kern="100" dirty="0">
                <a:solidFill>
                  <a:srgbClr val="000000"/>
                </a:solidFill>
                <a:latin typeface="Times New Roman" panose="02020603050405020304" pitchFamily="18" charset="0"/>
                <a:ea typeface="宋体" pitchFamily="2" charset="-122"/>
              </a:rPr>
              <a:t>SATOMI  </a:t>
            </a:r>
            <a:endParaRPr lang="zh-CN" altLang="zh-CN" sz="2400" kern="100" dirty="0">
              <a:solidFill>
                <a:srgbClr val="000000"/>
              </a:solidFill>
              <a:latin typeface="Times New Roman" panose="02020603050405020304" pitchFamily="18" charset="0"/>
              <a:ea typeface="宋体" pitchFamily="2" charset="-122"/>
            </a:endParaRPr>
          </a:p>
          <a:p>
            <a:pPr fontAlgn="ctr"/>
            <a:r>
              <a:rPr lang="en-US" altLang="zh-CN" sz="2400" kern="100" dirty="0">
                <a:solidFill>
                  <a:srgbClr val="000000"/>
                </a:solidFill>
                <a:latin typeface="Times New Roman" panose="02020603050405020304" pitchFamily="18" charset="0"/>
                <a:ea typeface="宋体" pitchFamily="2" charset="-122"/>
              </a:rPr>
              <a:t>Bill  </a:t>
            </a:r>
            <a:endParaRPr lang="zh-CN" altLang="zh-CN" sz="2400" kern="100" dirty="0">
              <a:solidFill>
                <a:srgbClr val="000000"/>
              </a:solidFill>
              <a:latin typeface="Times New Roman" panose="02020603050405020304" pitchFamily="18" charset="0"/>
              <a:ea typeface="宋体" pitchFamily="2" charset="-122"/>
            </a:endParaRPr>
          </a:p>
          <a:p>
            <a:pPr fontAlgn="ctr"/>
            <a:r>
              <a:rPr lang="en-US" altLang="zh-CN" sz="2400" kern="100" dirty="0" err="1">
                <a:solidFill>
                  <a:srgbClr val="000000"/>
                </a:solidFill>
                <a:latin typeface="Times New Roman" panose="02020603050405020304" pitchFamily="18" charset="0"/>
                <a:ea typeface="宋体" pitchFamily="2" charset="-122"/>
              </a:rPr>
              <a:t>LiLei</a:t>
            </a:r>
            <a:r>
              <a:rPr lang="en-US" altLang="zh-CN" sz="2400" kern="100" dirty="0">
                <a:solidFill>
                  <a:srgbClr val="000000"/>
                </a:solidFill>
                <a:latin typeface="Times New Roman" panose="02020603050405020304" pitchFamily="18" charset="0"/>
                <a:ea typeface="宋体" pitchFamily="2" charset="-122"/>
              </a:rPr>
              <a:t>  </a:t>
            </a:r>
            <a:endParaRPr lang="zh-CN" altLang="zh-CN" sz="2400" kern="100" dirty="0">
              <a:solidFill>
                <a:srgbClr val="000000"/>
              </a:solidFill>
              <a:latin typeface="Times New Roman" panose="02020603050405020304" pitchFamily="18" charset="0"/>
              <a:ea typeface="宋体" pitchFamily="2" charset="-122"/>
            </a:endParaRPr>
          </a:p>
          <a:p>
            <a:pPr fontAlgn="ctr"/>
            <a:r>
              <a:rPr lang="en-US" altLang="zh-CN" sz="2400" kern="100" dirty="0">
                <a:solidFill>
                  <a:srgbClr val="000000"/>
                </a:solidFill>
                <a:latin typeface="Times New Roman" panose="02020603050405020304" pitchFamily="18" charset="0"/>
                <a:ea typeface="宋体" pitchFamily="2" charset="-122"/>
              </a:rPr>
              <a:t>Jobs  </a:t>
            </a:r>
            <a:endParaRPr lang="zh-CN" altLang="zh-CN" sz="2400" kern="100" dirty="0">
              <a:solidFill>
                <a:srgbClr val="000000"/>
              </a:solidFill>
              <a:latin typeface="Times New Roman" panose="02020603050405020304" pitchFamily="18" charset="0"/>
              <a:ea typeface="宋体" pitchFamily="2" charset="-122"/>
            </a:endParaRPr>
          </a:p>
          <a:p>
            <a:pPr fontAlgn="ctr"/>
            <a:r>
              <a:rPr lang="en-US" altLang="zh-CN" sz="2400" kern="100" dirty="0">
                <a:solidFill>
                  <a:srgbClr val="000000"/>
                </a:solidFill>
                <a:latin typeface="Times New Roman" panose="02020603050405020304" pitchFamily="18" charset="0"/>
                <a:ea typeface="宋体" pitchFamily="2" charset="-122"/>
              </a:rPr>
              <a:t>Zed  </a:t>
            </a:r>
            <a:endParaRPr lang="zh-CN" altLang="zh-CN" sz="2400" kern="100" dirty="0">
              <a:solidFill>
                <a:srgbClr val="000000"/>
              </a:solidFill>
              <a:latin typeface="Times New Roman" panose="02020603050405020304" pitchFamily="18" charset="0"/>
              <a:ea typeface="宋体" pitchFamily="2" charset="-122"/>
            </a:endParaRPr>
          </a:p>
        </p:txBody>
      </p:sp>
      <p:sp>
        <p:nvSpPr>
          <p:cNvPr id="25" name="文本框 24"/>
          <p:cNvSpPr txBox="1"/>
          <p:nvPr/>
        </p:nvSpPr>
        <p:spPr>
          <a:xfrm>
            <a:off x="324322" y="5229994"/>
            <a:ext cx="8496944" cy="830997"/>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zh-CN" sz="2400" kern="100" dirty="0">
                <a:effectLst/>
                <a:latin typeface="Times New Roman" panose="02020603050405020304" pitchFamily="18" charset="0"/>
                <a:ea typeface="宋体" pitchFamily="2" charset="-122"/>
                <a:cs typeface="Times New Roman" panose="02020603050405020304" pitchFamily="18" charset="0"/>
              </a:rPr>
              <a:t>上面的代码将</a:t>
            </a:r>
            <a:r>
              <a:rPr lang="en-US" altLang="zh-CN" sz="2400" kern="100" dirty="0">
                <a:effectLst/>
                <a:latin typeface="Times New Roman" panose="02020603050405020304" pitchFamily="18" charset="0"/>
                <a:ea typeface="宋体" pitchFamily="2" charset="-122"/>
              </a:rPr>
              <a:t>names</a:t>
            </a:r>
            <a:r>
              <a:rPr lang="zh-CN" altLang="zh-CN" sz="2400" kern="100" dirty="0">
                <a:effectLst/>
                <a:latin typeface="Times New Roman" panose="02020603050405020304" pitchFamily="18" charset="0"/>
                <a:ea typeface="宋体" pitchFamily="2" charset="-122"/>
                <a:cs typeface="Times New Roman" panose="02020603050405020304" pitchFamily="18" charset="0"/>
              </a:rPr>
              <a:t>列表中的每一个元素按顺序赋值给</a:t>
            </a:r>
            <a:r>
              <a:rPr lang="en-US" altLang="zh-CN" sz="2400" kern="100" dirty="0">
                <a:effectLst/>
                <a:latin typeface="Times New Roman" panose="02020603050405020304" pitchFamily="18" charset="0"/>
                <a:ea typeface="宋体" pitchFamily="2" charset="-122"/>
              </a:rPr>
              <a:t>name</a:t>
            </a:r>
            <a:r>
              <a:rPr lang="zh-CN" altLang="zh-CN" sz="2400" kern="100" dirty="0">
                <a:effectLst/>
                <a:latin typeface="Times New Roman" panose="02020603050405020304" pitchFamily="18" charset="0"/>
                <a:ea typeface="宋体" pitchFamily="2" charset="-122"/>
                <a:cs typeface="Times New Roman" panose="02020603050405020304" pitchFamily="18" charset="0"/>
              </a:rPr>
              <a:t>，并打印每一个</a:t>
            </a:r>
            <a:r>
              <a:rPr lang="en-US" altLang="zh-CN" sz="2400" kern="100" dirty="0">
                <a:effectLst/>
                <a:latin typeface="Times New Roman" panose="02020603050405020304" pitchFamily="18" charset="0"/>
                <a:ea typeface="宋体" pitchFamily="2" charset="-122"/>
              </a:rPr>
              <a:t>name</a:t>
            </a:r>
            <a:r>
              <a:rPr lang="zh-CN" altLang="zh-CN" sz="2400" kern="100" dirty="0">
                <a:effectLst/>
                <a:latin typeface="Times New Roman" panose="02020603050405020304" pitchFamily="18" charset="0"/>
                <a:ea typeface="宋体" pitchFamily="2" charset="-122"/>
                <a:cs typeface="Times New Roman" panose="02020603050405020304" pitchFamily="18" charset="0"/>
              </a:rPr>
              <a:t>。</a:t>
            </a:r>
            <a:endParaRPr lang="zh-CN" altLang="en-US" dirty="0"/>
          </a:p>
        </p:txBody>
      </p:sp>
      <p:sp>
        <p:nvSpPr>
          <p:cNvPr id="2" name="文本框 1"/>
          <p:cNvSpPr txBox="1"/>
          <p:nvPr/>
        </p:nvSpPr>
        <p:spPr>
          <a:xfrm>
            <a:off x="12623" y="1288261"/>
            <a:ext cx="2232248" cy="461665"/>
          </a:xfrm>
          <a:prstGeom prst="rect">
            <a:avLst/>
          </a:prstGeom>
          <a:noFill/>
        </p:spPr>
        <p:txBody>
          <a:bodyPr wrap="square" rtlCol="0">
            <a:spAutoFit/>
          </a:bodyPr>
          <a:lstStyle/>
          <a:p>
            <a:r>
              <a:rPr lang="en-US" altLang="zh-CN" sz="2400" b="1" dirty="0"/>
              <a:t>2.2.4 </a:t>
            </a:r>
            <a:r>
              <a:rPr lang="zh-CN" altLang="en-US" sz="2400" b="1" dirty="0"/>
              <a:t>循环</a:t>
            </a:r>
            <a:endParaRPr lang="zh-CN" altLang="en-US" sz="2400" b="1" dirty="0"/>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文本框 11"/>
          <p:cNvSpPr txBox="1"/>
          <p:nvPr/>
        </p:nvSpPr>
        <p:spPr>
          <a:xfrm>
            <a:off x="142957" y="2293251"/>
            <a:ext cx="6197677" cy="830997"/>
          </a:xfrm>
          <a:prstGeom prst="rect">
            <a:avLst/>
          </a:prstGeom>
          <a:solidFill>
            <a:schemeClr val="tx2">
              <a:lumMod val="20000"/>
              <a:lumOff val="80000"/>
            </a:schemeClr>
          </a:solidFill>
        </p:spPr>
        <p:txBody>
          <a:bodyPr wrap="square">
            <a:spAutoFit/>
          </a:bodyPr>
          <a:lstStyle/>
          <a:p>
            <a:pPr indent="266700" algn="l" fontAlgn="ctr"/>
            <a:r>
              <a:rPr lang="en-US" altLang="zh-CN" sz="2400" kern="100" dirty="0">
                <a:solidFill>
                  <a:srgbClr val="000000"/>
                </a:solidFill>
                <a:latin typeface="Times New Roman" panose="02020603050405020304" pitchFamily="18" charset="0"/>
                <a:ea typeface="宋体" pitchFamily="2" charset="-122"/>
              </a:rPr>
              <a:t>for name in names:  </a:t>
            </a:r>
            <a:endParaRPr lang="zh-CN" altLang="zh-CN" sz="2400" kern="100" dirty="0">
              <a:solidFill>
                <a:srgbClr val="000000"/>
              </a:solidFill>
              <a:latin typeface="Times New Roman" panose="02020603050405020304" pitchFamily="18" charset="0"/>
              <a:ea typeface="宋体" pitchFamily="2" charset="-122"/>
            </a:endParaRPr>
          </a:p>
          <a:p>
            <a:pPr indent="266700" algn="l" fontAlgn="ctr"/>
            <a:r>
              <a:rPr lang="en-US" altLang="zh-CN" sz="2400" kern="100" dirty="0">
                <a:solidFill>
                  <a:srgbClr val="000000"/>
                </a:solidFill>
                <a:latin typeface="Times New Roman" panose="02020603050405020304" pitchFamily="18" charset="0"/>
                <a:ea typeface="宋体" pitchFamily="2" charset="-122"/>
              </a:rPr>
              <a:t>    print(</a:t>
            </a:r>
            <a:r>
              <a:rPr lang="en-US" altLang="zh-CN" sz="2400" kern="100" dirty="0" err="1">
                <a:solidFill>
                  <a:srgbClr val="000000"/>
                </a:solidFill>
                <a:latin typeface="Times New Roman" panose="02020603050405020304" pitchFamily="18" charset="0"/>
                <a:ea typeface="宋体" pitchFamily="2" charset="-122"/>
              </a:rPr>
              <a:t>name,end</a:t>
            </a:r>
            <a:r>
              <a:rPr lang="en-US" altLang="zh-CN" sz="2400" kern="100" dirty="0">
                <a:solidFill>
                  <a:srgbClr val="000000"/>
                </a:solidFill>
                <a:latin typeface="Times New Roman" panose="02020603050405020304" pitchFamily="18" charset="0"/>
                <a:ea typeface="宋体" pitchFamily="2" charset="-122"/>
              </a:rPr>
              <a:t> = ' ')   #</a:t>
            </a:r>
            <a:r>
              <a:rPr lang="zh-CN" altLang="zh-CN" sz="2400" kern="100" dirty="0">
                <a:solidFill>
                  <a:srgbClr val="000000"/>
                </a:solidFill>
                <a:latin typeface="Times New Roman" panose="02020603050405020304" pitchFamily="18" charset="0"/>
                <a:ea typeface="宋体" pitchFamily="2" charset="-122"/>
              </a:rPr>
              <a:t>默认情况是</a:t>
            </a:r>
            <a:r>
              <a:rPr lang="en-US" altLang="zh-CN" sz="2400" kern="100" dirty="0">
                <a:solidFill>
                  <a:srgbClr val="000000"/>
                </a:solidFill>
                <a:latin typeface="Times New Roman" panose="02020603050405020304" pitchFamily="18" charset="0"/>
                <a:ea typeface="宋体" pitchFamily="2" charset="-122"/>
              </a:rPr>
              <a:t>end='\n'</a:t>
            </a:r>
            <a:endParaRPr lang="zh-CN" altLang="zh-CN" sz="2400" kern="100" dirty="0">
              <a:solidFill>
                <a:srgbClr val="000000"/>
              </a:solidFill>
              <a:latin typeface="Times New Roman" panose="02020603050405020304" pitchFamily="18" charset="0"/>
              <a:ea typeface="宋体" pitchFamily="2" charset="-122"/>
            </a:endParaRPr>
          </a:p>
        </p:txBody>
      </p:sp>
      <p:sp>
        <p:nvSpPr>
          <p:cNvPr id="14" name="文本框 13"/>
          <p:cNvSpPr txBox="1"/>
          <p:nvPr/>
        </p:nvSpPr>
        <p:spPr>
          <a:xfrm>
            <a:off x="5580906" y="3342926"/>
            <a:ext cx="3189252" cy="784830"/>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运行结果</a:t>
            </a:r>
            <a:r>
              <a:rPr lang="zh-CN" altLang="en-US" sz="2400" kern="100" dirty="0">
                <a:solidFill>
                  <a:srgbClr val="000000"/>
                </a:solidFill>
                <a:latin typeface="Times New Roman" panose="02020603050405020304" pitchFamily="18" charset="0"/>
                <a:ea typeface="宋体" pitchFamily="2" charset="-122"/>
              </a:rPr>
              <a:t>：</a:t>
            </a:r>
            <a:endParaRPr lang="en-US" altLang="zh-CN" sz="2400" kern="100" dirty="0">
              <a:solidFill>
                <a:srgbClr val="000000"/>
              </a:solidFill>
              <a:effectLst/>
              <a:latin typeface="Times New Roman" panose="02020603050405020304" pitchFamily="18" charset="0"/>
              <a:ea typeface="宋体" pitchFamily="2" charset="-122"/>
            </a:endParaRPr>
          </a:p>
          <a:p>
            <a:pPr fontAlgn="ctr"/>
            <a:r>
              <a:rPr lang="en-US" altLang="zh-CN" dirty="0"/>
              <a:t>SATOMI Bill </a:t>
            </a:r>
            <a:r>
              <a:rPr lang="en-US" altLang="zh-CN" dirty="0" err="1"/>
              <a:t>LiLei</a:t>
            </a:r>
            <a:r>
              <a:rPr lang="en-US" altLang="zh-CN" dirty="0"/>
              <a:t> Jobs Zed  </a:t>
            </a:r>
            <a:endParaRPr lang="zh-CN" altLang="zh-CN" dirty="0"/>
          </a:p>
        </p:txBody>
      </p:sp>
      <p:sp>
        <p:nvSpPr>
          <p:cNvPr id="11" name="文本框 10"/>
          <p:cNvSpPr txBox="1"/>
          <p:nvPr/>
        </p:nvSpPr>
        <p:spPr>
          <a:xfrm>
            <a:off x="126157" y="1260215"/>
            <a:ext cx="8893274" cy="830997"/>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rPr>
              <a:t>   Python</a:t>
            </a:r>
            <a:r>
              <a:rPr lang="zh-CN" altLang="zh-CN" sz="2400" kern="100" dirty="0">
                <a:effectLst/>
                <a:latin typeface="Times New Roman" panose="02020603050405020304" pitchFamily="18" charset="0"/>
                <a:ea typeface="宋体" pitchFamily="2" charset="-122"/>
              </a:rPr>
              <a:t>中的</a:t>
            </a:r>
            <a:r>
              <a:rPr lang="en-US" altLang="zh-CN" sz="2400" kern="100" dirty="0">
                <a:effectLst/>
                <a:latin typeface="Times New Roman" panose="02020603050405020304" pitchFamily="18" charset="0"/>
                <a:ea typeface="宋体" pitchFamily="2" charset="-122"/>
              </a:rPr>
              <a:t>print</a:t>
            </a:r>
            <a:r>
              <a:rPr lang="zh-CN" altLang="zh-CN" sz="2400" kern="100" dirty="0">
                <a:effectLst/>
                <a:latin typeface="Times New Roman" panose="02020603050405020304" pitchFamily="18" charset="0"/>
                <a:ea typeface="宋体" pitchFamily="2" charset="-122"/>
              </a:rPr>
              <a:t>语句默认以换行符结尾。如果想要它们显示在同一行，可以这样：</a:t>
            </a:r>
            <a:endParaRPr lang="zh-CN" altLang="zh-CN" sz="2400" kern="100" dirty="0">
              <a:effectLst/>
              <a:latin typeface="Times New Roman" panose="02020603050405020304" pitchFamily="18" charset="0"/>
              <a:ea typeface="宋体" pitchFamily="2" charset="-122"/>
            </a:endParaRPr>
          </a:p>
        </p:txBody>
      </p:sp>
      <p:sp>
        <p:nvSpPr>
          <p:cNvPr id="15" name="文本框 14"/>
          <p:cNvSpPr txBox="1"/>
          <p:nvPr/>
        </p:nvSpPr>
        <p:spPr>
          <a:xfrm>
            <a:off x="288318" y="4653930"/>
            <a:ext cx="8568952" cy="830997"/>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命名建议：列表名以复数形式命名</a:t>
            </a:r>
            <a:r>
              <a:rPr lang="zh-CN" altLang="en-US" sz="2400" kern="100" dirty="0">
                <a:effectLst/>
                <a:latin typeface="Times New Roman" panose="02020603050405020304" pitchFamily="18" charset="0"/>
                <a:ea typeface="宋体" pitchFamily="2" charset="-122"/>
              </a:rPr>
              <a:t>。</a:t>
            </a:r>
            <a:endParaRPr lang="en-US" altLang="zh-CN" sz="2400" kern="100" dirty="0">
              <a:latin typeface="Times New Roman" panose="02020603050405020304" pitchFamily="18" charset="0"/>
              <a:ea typeface="宋体" pitchFamily="2" charset="-122"/>
            </a:endParaRPr>
          </a:p>
          <a:p>
            <a:pPr indent="266700" algn="just"/>
            <a:r>
              <a:rPr lang="en-US" altLang="zh-CN" sz="2400" kern="100" dirty="0">
                <a:effectLst/>
                <a:latin typeface="Times New Roman" panose="02020603050405020304" pitchFamily="18" charset="0"/>
                <a:ea typeface="宋体" pitchFamily="2" charset="-122"/>
              </a:rPr>
              <a:t>                    </a:t>
            </a:r>
            <a:r>
              <a:rPr lang="zh-CN" altLang="zh-CN" sz="2400" kern="100" dirty="0">
                <a:effectLst/>
                <a:latin typeface="Times New Roman" panose="02020603050405020304" pitchFamily="18" charset="0"/>
                <a:ea typeface="宋体" pitchFamily="2" charset="-122"/>
              </a:rPr>
              <a:t>列表中的每个元素则以对应的单数形式命名。</a:t>
            </a:r>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文本框 11"/>
          <p:cNvSpPr txBox="1"/>
          <p:nvPr/>
        </p:nvSpPr>
        <p:spPr>
          <a:xfrm>
            <a:off x="270870" y="2687596"/>
            <a:ext cx="6197677" cy="2677656"/>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latin typeface="Times New Roman" panose="02020603050405020304" pitchFamily="18" charset="0"/>
                <a:ea typeface="宋体" pitchFamily="2" charset="-122"/>
                <a:cs typeface="Times New Roman" panose="02020603050405020304" pitchFamily="18" charset="0"/>
              </a:rPr>
              <a:t>例子</a:t>
            </a:r>
            <a:r>
              <a:rPr lang="en-US" altLang="zh-CN" sz="2400" kern="100" dirty="0">
                <a:latin typeface="Times New Roman" panose="02020603050405020304" pitchFamily="18" charset="0"/>
                <a:ea typeface="宋体" pitchFamily="2" charset="-122"/>
                <a:cs typeface="Times New Roman" panose="02020603050405020304" pitchFamily="18" charset="0"/>
              </a:rPr>
              <a:t>12</a:t>
            </a:r>
            <a:r>
              <a:rPr lang="zh-CN" altLang="en-US" sz="2400" kern="100" dirty="0">
                <a:latin typeface="Times New Roman" panose="02020603050405020304" pitchFamily="18" charset="0"/>
                <a:ea typeface="宋体" pitchFamily="2" charset="-122"/>
                <a:cs typeface="Times New Roman" panose="02020603050405020304" pitchFamily="18" charset="0"/>
              </a:rPr>
              <a:t>  </a:t>
            </a:r>
            <a:r>
              <a:rPr lang="en-US" altLang="zh-CN" sz="2400" kern="100" dirty="0">
                <a:latin typeface="Times New Roman" panose="02020603050405020304" pitchFamily="18" charset="0"/>
                <a:ea typeface="宋体" pitchFamily="2" charset="-122"/>
                <a:cs typeface="Times New Roman" panose="02020603050405020304" pitchFamily="18" charset="0"/>
              </a:rPr>
              <a:t>range</a:t>
            </a:r>
            <a:r>
              <a:rPr lang="zh-CN" altLang="en-US" sz="2400" kern="100" dirty="0">
                <a:latin typeface="Times New Roman" panose="02020603050405020304" pitchFamily="18" charset="0"/>
                <a:ea typeface="宋体" pitchFamily="2" charset="-122"/>
                <a:cs typeface="Times New Roman" panose="02020603050405020304" pitchFamily="18" charset="0"/>
              </a:rPr>
              <a:t>（）函数：</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nums1 = list(range(1,6,2)) #</a:t>
            </a:r>
            <a:r>
              <a:rPr lang="zh-CN" altLang="zh-CN" sz="2400" kern="100" dirty="0">
                <a:latin typeface="Times New Roman" panose="02020603050405020304" pitchFamily="18" charset="0"/>
                <a:ea typeface="宋体" pitchFamily="2" charset="-122"/>
                <a:cs typeface="Times New Roman" panose="02020603050405020304" pitchFamily="18" charset="0"/>
              </a:rPr>
              <a:t>以</a:t>
            </a:r>
            <a:r>
              <a:rPr lang="en-US" altLang="zh-CN" sz="2400" kern="100" dirty="0">
                <a:latin typeface="Times New Roman" panose="02020603050405020304" pitchFamily="18" charset="0"/>
                <a:ea typeface="宋体" pitchFamily="2" charset="-122"/>
                <a:cs typeface="Times New Roman" panose="02020603050405020304" pitchFamily="18" charset="0"/>
              </a:rPr>
              <a:t>1</a:t>
            </a:r>
            <a:r>
              <a:rPr lang="zh-CN" altLang="zh-CN" sz="2400" kern="100" dirty="0">
                <a:latin typeface="Times New Roman" panose="02020603050405020304" pitchFamily="18" charset="0"/>
                <a:ea typeface="宋体" pitchFamily="2" charset="-122"/>
                <a:cs typeface="Times New Roman" panose="02020603050405020304" pitchFamily="18" charset="0"/>
              </a:rPr>
              <a:t>开始，以</a:t>
            </a:r>
            <a:r>
              <a:rPr lang="en-US" altLang="zh-CN" sz="2400" kern="100" dirty="0">
                <a:latin typeface="Times New Roman" panose="02020603050405020304" pitchFamily="18" charset="0"/>
                <a:ea typeface="宋体" pitchFamily="2" charset="-122"/>
                <a:cs typeface="Times New Roman" panose="02020603050405020304" pitchFamily="18" charset="0"/>
              </a:rPr>
              <a:t>5</a:t>
            </a:r>
            <a:r>
              <a:rPr lang="zh-CN" altLang="zh-CN" sz="2400" kern="100" dirty="0">
                <a:latin typeface="Times New Roman" panose="02020603050405020304" pitchFamily="18" charset="0"/>
                <a:ea typeface="宋体" pitchFamily="2" charset="-122"/>
                <a:cs typeface="Times New Roman" panose="02020603050405020304" pitchFamily="18" charset="0"/>
              </a:rPr>
              <a:t>结束，步长为</a:t>
            </a:r>
            <a:r>
              <a:rPr lang="en-US" altLang="zh-CN" sz="2400" kern="100" dirty="0">
                <a:latin typeface="Times New Roman" panose="02020603050405020304" pitchFamily="18" charset="0"/>
                <a:ea typeface="宋体" pitchFamily="2" charset="-122"/>
                <a:cs typeface="Times New Roman" panose="02020603050405020304" pitchFamily="18" charset="0"/>
              </a:rPr>
              <a:t>2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print(nums1)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nums2 = list(range(6))     #</a:t>
            </a:r>
            <a:r>
              <a:rPr lang="zh-CN" altLang="zh-CN" sz="2400" kern="100" dirty="0">
                <a:latin typeface="Times New Roman" panose="02020603050405020304" pitchFamily="18" charset="0"/>
                <a:ea typeface="宋体" pitchFamily="2" charset="-122"/>
                <a:cs typeface="Times New Roman" panose="02020603050405020304" pitchFamily="18" charset="0"/>
              </a:rPr>
              <a:t>省略起始默认为</a:t>
            </a:r>
            <a:r>
              <a:rPr lang="en-US" altLang="zh-CN" sz="2400" kern="100" dirty="0">
                <a:latin typeface="Times New Roman" panose="02020603050405020304" pitchFamily="18" charset="0"/>
                <a:ea typeface="宋体" pitchFamily="2" charset="-122"/>
                <a:cs typeface="Times New Roman" panose="02020603050405020304" pitchFamily="18" charset="0"/>
              </a:rPr>
              <a:t>0</a:t>
            </a:r>
            <a:r>
              <a:rPr lang="zh-CN" altLang="zh-CN" sz="2400" kern="100" dirty="0">
                <a:latin typeface="Times New Roman" panose="02020603050405020304" pitchFamily="18" charset="0"/>
                <a:ea typeface="宋体" pitchFamily="2" charset="-122"/>
                <a:cs typeface="Times New Roman" panose="02020603050405020304" pitchFamily="18" charset="0"/>
              </a:rPr>
              <a:t>，省略步长默认为</a:t>
            </a:r>
            <a:r>
              <a:rPr lang="en-US" altLang="zh-CN" sz="2400" kern="100" dirty="0">
                <a:latin typeface="Times New Roman" panose="02020603050405020304" pitchFamily="18" charset="0"/>
                <a:ea typeface="宋体" pitchFamily="2" charset="-122"/>
                <a:cs typeface="Times New Roman" panose="02020603050405020304" pitchFamily="18" charset="0"/>
              </a:rPr>
              <a:t>1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print(nums2)  </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14" name="文本框 13"/>
          <p:cNvSpPr txBox="1"/>
          <p:nvPr/>
        </p:nvSpPr>
        <p:spPr>
          <a:xfrm>
            <a:off x="5668329" y="5446018"/>
            <a:ext cx="3189252" cy="1200329"/>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mn-ea"/>
              </a:rPr>
              <a:t>例</a:t>
            </a:r>
            <a:r>
              <a:rPr lang="en-US" altLang="zh-CN" sz="2400" kern="100" dirty="0">
                <a:solidFill>
                  <a:srgbClr val="000000"/>
                </a:solidFill>
                <a:effectLst/>
                <a:latin typeface="+mn-ea"/>
              </a:rPr>
              <a:t>12 </a:t>
            </a:r>
            <a:r>
              <a:rPr lang="zh-CN" altLang="en-US" sz="2400" kern="100" dirty="0">
                <a:solidFill>
                  <a:srgbClr val="000000"/>
                </a:solidFill>
                <a:effectLst/>
                <a:latin typeface="+mn-ea"/>
              </a:rPr>
              <a:t>运行结果</a:t>
            </a:r>
            <a:r>
              <a:rPr lang="zh-CN" altLang="en-US" sz="2400" kern="100" dirty="0">
                <a:solidFill>
                  <a:srgbClr val="000000"/>
                </a:solidFill>
                <a:latin typeface="+mn-ea"/>
              </a:rPr>
              <a:t>：</a:t>
            </a:r>
            <a:endParaRPr lang="en-US" altLang="zh-CN" sz="2400" kern="100" dirty="0">
              <a:solidFill>
                <a:srgbClr val="000000"/>
              </a:solidFill>
              <a:effectLst/>
              <a:latin typeface="+mn-ea"/>
            </a:endParaRPr>
          </a:p>
          <a:p>
            <a:pPr fontAlgn="ctr"/>
            <a:r>
              <a:rPr lang="en-US" altLang="zh-CN" sz="2400" dirty="0">
                <a:latin typeface="+mn-ea"/>
              </a:rPr>
              <a:t>[1, 3, 5]  </a:t>
            </a:r>
            <a:endParaRPr lang="zh-CN" altLang="zh-CN" sz="2400" dirty="0">
              <a:latin typeface="+mn-ea"/>
            </a:endParaRPr>
          </a:p>
          <a:p>
            <a:pPr fontAlgn="ctr"/>
            <a:r>
              <a:rPr lang="en-US" altLang="zh-CN" sz="2400" dirty="0">
                <a:latin typeface="+mn-ea"/>
              </a:rPr>
              <a:t>[0, 1, 2, 3, 4, 5]  </a:t>
            </a:r>
            <a:endParaRPr lang="zh-CN" altLang="zh-CN" sz="2400" dirty="0">
              <a:latin typeface="+mn-ea"/>
            </a:endParaRPr>
          </a:p>
        </p:txBody>
      </p:sp>
      <p:sp>
        <p:nvSpPr>
          <p:cNvPr id="11" name="文本框 10"/>
          <p:cNvSpPr txBox="1"/>
          <p:nvPr/>
        </p:nvSpPr>
        <p:spPr>
          <a:xfrm>
            <a:off x="0" y="1199623"/>
            <a:ext cx="8893274" cy="1569660"/>
          </a:xfrm>
          <a:prstGeom prst="rect">
            <a:avLst/>
          </a:prstGeom>
          <a:noFill/>
        </p:spPr>
        <p:txBody>
          <a:bodyPr wrap="square">
            <a:spAutoFit/>
          </a:bodyPr>
          <a:lstStyle/>
          <a:p>
            <a:pPr indent="266700" algn="just"/>
            <a:r>
              <a:rPr lang="zh-CN" altLang="zh-CN" sz="2400" kern="100" dirty="0">
                <a:latin typeface="Times New Roman" panose="02020603050405020304" pitchFamily="18" charset="0"/>
                <a:cs typeface="Times New Roman" panose="02020603050405020304" pitchFamily="18" charset="0"/>
              </a:rPr>
              <a:t>我们可以使用</a:t>
            </a:r>
            <a:r>
              <a:rPr lang="en-US" altLang="zh-CN" sz="2400" kern="100" dirty="0">
                <a:solidFill>
                  <a:srgbClr val="FF0000"/>
                </a:solidFill>
                <a:latin typeface="Times New Roman" panose="02020603050405020304" pitchFamily="18" charset="0"/>
                <a:cs typeface="Times New Roman" panose="02020603050405020304" pitchFamily="18" charset="0"/>
              </a:rPr>
              <a:t>range( )</a:t>
            </a:r>
            <a:r>
              <a:rPr lang="zh-CN" altLang="zh-CN" sz="2400" kern="100" dirty="0">
                <a:solidFill>
                  <a:srgbClr val="FF0000"/>
                </a:solidFill>
                <a:latin typeface="Times New Roman" panose="02020603050405020304" pitchFamily="18" charset="0"/>
                <a:cs typeface="Times New Roman" panose="02020603050405020304" pitchFamily="18" charset="0"/>
              </a:rPr>
              <a:t>函数</a:t>
            </a:r>
            <a:r>
              <a:rPr lang="zh-CN" altLang="zh-CN" sz="2400" kern="100" dirty="0">
                <a:latin typeface="Times New Roman" panose="02020603050405020304" pitchFamily="18" charset="0"/>
                <a:cs typeface="Times New Roman" panose="02020603050405020304" pitchFamily="18" charset="0"/>
              </a:rPr>
              <a:t>创建</a:t>
            </a:r>
            <a:r>
              <a:rPr lang="zh-CN" altLang="zh-CN" sz="2400" kern="100" dirty="0">
                <a:latin typeface="Times New Roman" panose="02020603050405020304" pitchFamily="18" charset="0"/>
                <a:ea typeface="宋体" pitchFamily="2" charset="-122"/>
                <a:cs typeface="Times New Roman" panose="02020603050405020304" pitchFamily="18" charset="0"/>
              </a:rPr>
              <a:t>一个数字列表。</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r>
              <a:rPr lang="en-US" altLang="zh-CN" sz="2400" kern="100" dirty="0">
                <a:latin typeface="Times New Roman" panose="02020603050405020304" pitchFamily="18" charset="0"/>
                <a:ea typeface="宋体" pitchFamily="2" charset="-122"/>
                <a:cs typeface="Times New Roman" panose="02020603050405020304" pitchFamily="18" charset="0"/>
              </a:rPr>
              <a:t>range( )</a:t>
            </a:r>
            <a:r>
              <a:rPr lang="zh-CN" altLang="zh-CN" sz="2400" kern="100" dirty="0">
                <a:latin typeface="Times New Roman" panose="02020603050405020304" pitchFamily="18" charset="0"/>
                <a:ea typeface="宋体" pitchFamily="2" charset="-122"/>
                <a:cs typeface="Times New Roman" panose="02020603050405020304" pitchFamily="18" charset="0"/>
              </a:rPr>
              <a:t>函数括号内可指定</a:t>
            </a:r>
            <a:r>
              <a:rPr lang="en-US" altLang="zh-CN" sz="2400" kern="100" dirty="0">
                <a:latin typeface="Times New Roman" panose="02020603050405020304" pitchFamily="18" charset="0"/>
                <a:ea typeface="宋体" pitchFamily="2" charset="-122"/>
                <a:cs typeface="Times New Roman" panose="02020603050405020304" pitchFamily="18" charset="0"/>
              </a:rPr>
              <a:t>3</a:t>
            </a:r>
            <a:r>
              <a:rPr lang="zh-CN" altLang="zh-CN" sz="2400" kern="100" dirty="0">
                <a:latin typeface="Times New Roman" panose="02020603050405020304" pitchFamily="18" charset="0"/>
                <a:ea typeface="宋体" pitchFamily="2" charset="-122"/>
                <a:cs typeface="Times New Roman" panose="02020603050405020304" pitchFamily="18" charset="0"/>
              </a:rPr>
              <a:t>个参数：起始数字，结束数字</a:t>
            </a:r>
            <a:r>
              <a:rPr lang="en-US" altLang="zh-CN" sz="2400" kern="100" dirty="0">
                <a:latin typeface="Times New Roman" panose="02020603050405020304" pitchFamily="18" charset="0"/>
                <a:ea typeface="宋体" pitchFamily="2" charset="-122"/>
                <a:cs typeface="Times New Roman" panose="02020603050405020304" pitchFamily="18" charset="0"/>
              </a:rPr>
              <a:t>+1</a:t>
            </a:r>
            <a:r>
              <a:rPr lang="zh-CN" altLang="zh-CN" sz="2400" kern="100" dirty="0">
                <a:latin typeface="Times New Roman" panose="02020603050405020304" pitchFamily="18" charset="0"/>
                <a:ea typeface="宋体" pitchFamily="2" charset="-122"/>
                <a:cs typeface="Times New Roman" panose="02020603050405020304" pitchFamily="18" charset="0"/>
              </a:rPr>
              <a:t>，步长。</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just"/>
            <a:r>
              <a:rPr lang="zh-CN" altLang="zh-CN" sz="2400" kern="100" dirty="0">
                <a:latin typeface="Times New Roman" panose="02020603050405020304" pitchFamily="18" charset="0"/>
                <a:ea typeface="宋体" pitchFamily="2" charset="-122"/>
                <a:cs typeface="Times New Roman" panose="02020603050405020304" pitchFamily="18" charset="0"/>
              </a:rPr>
              <a:t>起始数字省略则默认从</a:t>
            </a:r>
            <a:r>
              <a:rPr lang="en-US" altLang="zh-CN" sz="2400" kern="100" dirty="0">
                <a:latin typeface="Times New Roman" panose="02020603050405020304" pitchFamily="18" charset="0"/>
                <a:ea typeface="宋体" pitchFamily="2" charset="-122"/>
                <a:cs typeface="Times New Roman" panose="02020603050405020304" pitchFamily="18" charset="0"/>
              </a:rPr>
              <a:t>0</a:t>
            </a:r>
            <a:r>
              <a:rPr lang="zh-CN" altLang="zh-CN" sz="2400" kern="100" dirty="0">
                <a:latin typeface="Times New Roman" panose="02020603050405020304" pitchFamily="18" charset="0"/>
                <a:ea typeface="宋体" pitchFamily="2" charset="-122"/>
                <a:cs typeface="Times New Roman" panose="02020603050405020304" pitchFamily="18" charset="0"/>
              </a:rPr>
              <a:t>开始，步长省略默认为</a:t>
            </a:r>
            <a:r>
              <a:rPr lang="en-US" altLang="zh-CN" sz="2400" kern="100" dirty="0">
                <a:latin typeface="Times New Roman" panose="02020603050405020304" pitchFamily="18" charset="0"/>
                <a:ea typeface="宋体" pitchFamily="2" charset="-122"/>
                <a:cs typeface="Times New Roman" panose="02020603050405020304" pitchFamily="18" charset="0"/>
              </a:rPr>
              <a:t>1</a:t>
            </a:r>
            <a:r>
              <a:rPr lang="zh-CN" altLang="zh-CN" sz="2400" kern="100" dirty="0">
                <a:latin typeface="Times New Roman" panose="02020603050405020304" pitchFamily="18" charset="0"/>
                <a:ea typeface="宋体" pitchFamily="2" charset="-122"/>
                <a:cs typeface="Times New Roman" panose="02020603050405020304" pitchFamily="18" charset="0"/>
              </a:rPr>
              <a:t>。</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文本框 11"/>
          <p:cNvSpPr txBox="1"/>
          <p:nvPr/>
        </p:nvSpPr>
        <p:spPr>
          <a:xfrm>
            <a:off x="324322" y="2511774"/>
            <a:ext cx="6197677" cy="1938992"/>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latin typeface="Times New Roman" panose="02020603050405020304" pitchFamily="18" charset="0"/>
                <a:ea typeface="宋体" pitchFamily="2" charset="-122"/>
                <a:cs typeface="Times New Roman" panose="02020603050405020304" pitchFamily="18" charset="0"/>
              </a:rPr>
              <a:t>例子</a:t>
            </a:r>
            <a:r>
              <a:rPr lang="en-US" altLang="zh-CN" sz="2400" kern="100" dirty="0">
                <a:latin typeface="Times New Roman" panose="02020603050405020304" pitchFamily="18" charset="0"/>
                <a:ea typeface="宋体" pitchFamily="2" charset="-122"/>
                <a:cs typeface="Times New Roman" panose="02020603050405020304" pitchFamily="18" charset="0"/>
              </a:rPr>
              <a:t>13</a:t>
            </a:r>
            <a:r>
              <a:rPr lang="zh-CN" altLang="en-US" sz="2400" kern="100" dirty="0">
                <a:latin typeface="Times New Roman" panose="02020603050405020304" pitchFamily="18" charset="0"/>
                <a:ea typeface="宋体" pitchFamily="2" charset="-122"/>
                <a:cs typeface="Times New Roman" panose="02020603050405020304" pitchFamily="18" charset="0"/>
              </a:rPr>
              <a:t>  </a:t>
            </a:r>
            <a:r>
              <a:rPr lang="en-US" altLang="zh-CN" sz="2400" kern="100" dirty="0">
                <a:latin typeface="Times New Roman" panose="02020603050405020304" pitchFamily="18" charset="0"/>
                <a:ea typeface="宋体" pitchFamily="2" charset="-122"/>
                <a:cs typeface="Times New Roman" panose="02020603050405020304" pitchFamily="18" charset="0"/>
              </a:rPr>
              <a:t>range</a:t>
            </a:r>
            <a:r>
              <a:rPr lang="zh-CN" altLang="en-US" sz="2400" kern="100" dirty="0">
                <a:latin typeface="Times New Roman" panose="02020603050405020304" pitchFamily="18" charset="0"/>
                <a:ea typeface="宋体" pitchFamily="2" charset="-122"/>
                <a:cs typeface="Times New Roman" panose="02020603050405020304" pitchFamily="18" charset="0"/>
              </a:rPr>
              <a:t>（）函数：</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num = 0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while num &lt; 5: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    num += 1           #</a:t>
            </a:r>
            <a:r>
              <a:rPr lang="zh-CN" altLang="zh-CN" sz="2400" kern="100" dirty="0">
                <a:latin typeface="Times New Roman" panose="02020603050405020304" pitchFamily="18" charset="0"/>
                <a:ea typeface="宋体" pitchFamily="2" charset="-122"/>
                <a:cs typeface="Times New Roman" panose="02020603050405020304" pitchFamily="18" charset="0"/>
              </a:rPr>
              <a:t>此处相当于</a:t>
            </a:r>
            <a:r>
              <a:rPr lang="en-US" altLang="zh-CN" sz="2400" kern="100" dirty="0">
                <a:latin typeface="Times New Roman" panose="02020603050405020304" pitchFamily="18" charset="0"/>
                <a:ea typeface="宋体" pitchFamily="2" charset="-122"/>
                <a:cs typeface="Times New Roman" panose="02020603050405020304" pitchFamily="18" charset="0"/>
              </a:rPr>
              <a:t>num=num+1</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r>
              <a:rPr lang="en-US" altLang="zh-CN" sz="2400" kern="100" dirty="0">
                <a:latin typeface="Times New Roman" panose="02020603050405020304" pitchFamily="18" charset="0"/>
                <a:ea typeface="宋体" pitchFamily="2" charset="-122"/>
                <a:cs typeface="Times New Roman" panose="02020603050405020304" pitchFamily="18" charset="0"/>
              </a:rPr>
              <a:t>    print(num) </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14" name="文本框 13"/>
          <p:cNvSpPr txBox="1"/>
          <p:nvPr/>
        </p:nvSpPr>
        <p:spPr>
          <a:xfrm>
            <a:off x="5364882" y="4149874"/>
            <a:ext cx="3189252" cy="2308324"/>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mn-ea"/>
              </a:rPr>
              <a:t>例</a:t>
            </a:r>
            <a:r>
              <a:rPr lang="en-US" altLang="zh-CN" sz="2400" kern="100" dirty="0">
                <a:solidFill>
                  <a:srgbClr val="000000"/>
                </a:solidFill>
                <a:effectLst/>
                <a:latin typeface="+mn-ea"/>
              </a:rPr>
              <a:t>13</a:t>
            </a:r>
            <a:r>
              <a:rPr lang="zh-CN" altLang="en-US" sz="2400" kern="100" dirty="0">
                <a:solidFill>
                  <a:srgbClr val="000000"/>
                </a:solidFill>
                <a:effectLst/>
                <a:latin typeface="+mn-ea"/>
              </a:rPr>
              <a:t> 运行结果</a:t>
            </a:r>
            <a:r>
              <a:rPr lang="zh-CN" altLang="en-US" sz="2400" kern="100" dirty="0">
                <a:solidFill>
                  <a:srgbClr val="000000"/>
                </a:solidFill>
                <a:latin typeface="+mn-ea"/>
              </a:rPr>
              <a:t>：</a:t>
            </a:r>
            <a:endParaRPr lang="en-US" altLang="zh-CN" sz="2400" kern="100" dirty="0">
              <a:solidFill>
                <a:srgbClr val="000000"/>
              </a:solidFill>
              <a:effectLst/>
              <a:latin typeface="+mn-ea"/>
            </a:endParaRPr>
          </a:p>
          <a:p>
            <a:pPr fontAlgn="ctr"/>
            <a:r>
              <a:rPr lang="en-US" altLang="zh-CN" sz="2400" dirty="0">
                <a:latin typeface="+mn-ea"/>
              </a:rPr>
              <a:t>1</a:t>
            </a:r>
            <a:endParaRPr lang="zh-CN" altLang="zh-CN" sz="2400" dirty="0">
              <a:latin typeface="+mn-ea"/>
            </a:endParaRPr>
          </a:p>
          <a:p>
            <a:pPr fontAlgn="ctr"/>
            <a:r>
              <a:rPr lang="en-US" altLang="zh-CN" sz="2400" dirty="0">
                <a:latin typeface="+mn-ea"/>
              </a:rPr>
              <a:t>2</a:t>
            </a:r>
            <a:endParaRPr lang="zh-CN" altLang="zh-CN" sz="2400" dirty="0">
              <a:latin typeface="+mn-ea"/>
            </a:endParaRPr>
          </a:p>
          <a:p>
            <a:pPr fontAlgn="ctr"/>
            <a:r>
              <a:rPr lang="en-US" altLang="zh-CN" sz="2400" dirty="0">
                <a:latin typeface="+mn-ea"/>
              </a:rPr>
              <a:t>3</a:t>
            </a:r>
            <a:endParaRPr lang="zh-CN" altLang="zh-CN" sz="2400" dirty="0">
              <a:latin typeface="+mn-ea"/>
            </a:endParaRPr>
          </a:p>
          <a:p>
            <a:pPr fontAlgn="ctr"/>
            <a:r>
              <a:rPr lang="en-US" altLang="zh-CN" sz="2400" dirty="0">
                <a:latin typeface="+mn-ea"/>
              </a:rPr>
              <a:t>4</a:t>
            </a:r>
            <a:endParaRPr lang="en-US" altLang="zh-CN" sz="2400" dirty="0">
              <a:latin typeface="+mn-ea"/>
            </a:endParaRPr>
          </a:p>
          <a:p>
            <a:pPr fontAlgn="ctr"/>
            <a:r>
              <a:rPr lang="en-US" altLang="zh-CN" sz="2400" dirty="0">
                <a:latin typeface="+mn-ea"/>
              </a:rPr>
              <a:t>5</a:t>
            </a:r>
            <a:endParaRPr lang="zh-CN" altLang="zh-CN" sz="2400" dirty="0">
              <a:latin typeface="+mn-ea"/>
            </a:endParaRPr>
          </a:p>
        </p:txBody>
      </p:sp>
      <p:sp>
        <p:nvSpPr>
          <p:cNvPr id="11" name="文本框 10"/>
          <p:cNvSpPr txBox="1"/>
          <p:nvPr/>
        </p:nvSpPr>
        <p:spPr>
          <a:xfrm>
            <a:off x="0" y="1199623"/>
            <a:ext cx="8893274" cy="830997"/>
          </a:xfrm>
          <a:prstGeom prst="rect">
            <a:avLst/>
          </a:prstGeom>
          <a:noFill/>
        </p:spPr>
        <p:txBody>
          <a:bodyPr wrap="square">
            <a:spAutoFit/>
          </a:bodyPr>
          <a:lstStyle/>
          <a:p>
            <a:pPr indent="266700" algn="just"/>
            <a:r>
              <a:rPr lang="en-US" altLang="zh-CN" sz="2400" b="1" kern="100" dirty="0">
                <a:effectLst/>
                <a:latin typeface="Times New Roman" panose="02020603050405020304" pitchFamily="18" charset="0"/>
                <a:ea typeface="宋体" pitchFamily="2" charset="-122"/>
              </a:rPr>
              <a:t>while</a:t>
            </a:r>
            <a:r>
              <a:rPr lang="zh-CN" altLang="zh-CN" sz="2400" b="1" kern="100" dirty="0">
                <a:effectLst/>
                <a:latin typeface="Times New Roman" panose="02020603050405020304" pitchFamily="18" charset="0"/>
                <a:ea typeface="宋体" pitchFamily="2" charset="-122"/>
                <a:cs typeface="Times New Roman" panose="02020603050405020304" pitchFamily="18" charset="0"/>
              </a:rPr>
              <a:t>循换</a:t>
            </a:r>
            <a:r>
              <a:rPr lang="zh-CN" altLang="zh-CN" sz="2400" kern="100" dirty="0">
                <a:latin typeface="Times New Roman" panose="02020603050405020304" pitchFamily="18" charset="0"/>
                <a:ea typeface="宋体" pitchFamily="2" charset="-122"/>
                <a:cs typeface="Times New Roman" panose="02020603050405020304" pitchFamily="18" charset="0"/>
              </a:rPr>
              <a:t>。在使用</a:t>
            </a:r>
            <a:r>
              <a:rPr lang="zh-CN" altLang="en-US" sz="2400" kern="100" dirty="0">
                <a:latin typeface="Times New Roman" panose="02020603050405020304" pitchFamily="18" charset="0"/>
                <a:ea typeface="宋体" pitchFamily="2" charset="-122"/>
                <a:cs typeface="Times New Roman" panose="02020603050405020304" pitchFamily="18" charset="0"/>
              </a:rPr>
              <a:t>循环</a:t>
            </a:r>
            <a:r>
              <a:rPr lang="zh-CN" altLang="zh-CN" sz="2400" kern="100" dirty="0">
                <a:latin typeface="Times New Roman" panose="02020603050405020304" pitchFamily="18" charset="0"/>
                <a:ea typeface="宋体" pitchFamily="2" charset="-122"/>
                <a:cs typeface="Times New Roman" panose="02020603050405020304" pitchFamily="18" charset="0"/>
              </a:rPr>
              <a:t>时一定要注意设置好终止条件，避免出现死循环。</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文本框 11"/>
          <p:cNvSpPr txBox="1"/>
          <p:nvPr/>
        </p:nvSpPr>
        <p:spPr>
          <a:xfrm>
            <a:off x="711008" y="2567775"/>
            <a:ext cx="6197677" cy="2677656"/>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latin typeface="Times New Roman" panose="02020603050405020304" pitchFamily="18" charset="0"/>
                <a:ea typeface="宋体" pitchFamily="2" charset="-122"/>
                <a:cs typeface="Times New Roman" panose="02020603050405020304" pitchFamily="18" charset="0"/>
              </a:rPr>
              <a:t>例子</a:t>
            </a:r>
            <a:r>
              <a:rPr lang="en-US" altLang="zh-CN" sz="2400" kern="100" dirty="0">
                <a:latin typeface="Times New Roman" panose="02020603050405020304" pitchFamily="18" charset="0"/>
                <a:ea typeface="宋体" pitchFamily="2" charset="-122"/>
                <a:cs typeface="Times New Roman" panose="02020603050405020304" pitchFamily="18" charset="0"/>
              </a:rPr>
              <a:t>14</a:t>
            </a:r>
            <a:r>
              <a:rPr lang="zh-CN" altLang="en-US" sz="2400" kern="100" dirty="0">
                <a:latin typeface="Times New Roman" panose="02020603050405020304" pitchFamily="18" charset="0"/>
                <a:ea typeface="宋体" pitchFamily="2" charset="-122"/>
                <a:cs typeface="Times New Roman" panose="02020603050405020304" pitchFamily="18" charset="0"/>
              </a:rPr>
              <a:t>  ：选择性名字大写</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names = ['</a:t>
            </a:r>
            <a:r>
              <a:rPr lang="en-US" altLang="zh-CN" sz="2400" kern="100" dirty="0" err="1">
                <a:solidFill>
                  <a:srgbClr val="000000"/>
                </a:solidFill>
                <a:effectLst/>
                <a:latin typeface="Times New Roman" panose="02020603050405020304" pitchFamily="18" charset="0"/>
                <a:ea typeface="宋体" pitchFamily="2" charset="-122"/>
              </a:rPr>
              <a:t>satomi</a:t>
            </a:r>
            <a:r>
              <a:rPr lang="en-US" altLang="zh-CN" sz="2400" kern="100" dirty="0">
                <a:solidFill>
                  <a:srgbClr val="000000"/>
                </a:solidFill>
                <a:effectLst/>
                <a:latin typeface="Times New Roman" panose="02020603050405020304" pitchFamily="18" charset="0"/>
                <a:ea typeface="宋体" pitchFamily="2" charset="-122"/>
              </a:rPr>
              <a:t>','</a:t>
            </a:r>
            <a:r>
              <a:rPr lang="en-US" altLang="zh-CN" sz="2400" kern="100" dirty="0" err="1">
                <a:solidFill>
                  <a:srgbClr val="000000"/>
                </a:solidFill>
                <a:effectLst/>
                <a:latin typeface="Times New Roman" panose="02020603050405020304" pitchFamily="18" charset="0"/>
                <a:ea typeface="宋体" pitchFamily="2" charset="-122"/>
              </a:rPr>
              <a:t>bill','li</a:t>
            </a:r>
            <a:r>
              <a:rPr lang="en-US" altLang="zh-CN" sz="2400" kern="100" dirty="0">
                <a:solidFill>
                  <a:srgbClr val="000000"/>
                </a:solidFill>
                <a:effectLst/>
                <a:latin typeface="Times New Roman" panose="02020603050405020304" pitchFamily="18" charset="0"/>
                <a:ea typeface="宋体" pitchFamily="2" charset="-122"/>
              </a:rPr>
              <a:t> </a:t>
            </a:r>
            <a:r>
              <a:rPr lang="en-US" altLang="zh-CN" sz="2400" kern="100" dirty="0" err="1">
                <a:solidFill>
                  <a:srgbClr val="000000"/>
                </a:solidFill>
                <a:effectLst/>
                <a:latin typeface="Times New Roman" panose="02020603050405020304" pitchFamily="18" charset="0"/>
                <a:ea typeface="宋体" pitchFamily="2" charset="-122"/>
              </a:rPr>
              <a:t>lei','jobs','zed</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for name in names: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if name == '</a:t>
            </a:r>
            <a:r>
              <a:rPr lang="en-US" altLang="zh-CN" sz="2400" kern="100" dirty="0" err="1">
                <a:solidFill>
                  <a:srgbClr val="000000"/>
                </a:solidFill>
                <a:effectLst/>
                <a:latin typeface="Times New Roman" panose="02020603050405020304" pitchFamily="18" charset="0"/>
                <a:ea typeface="宋体" pitchFamily="2" charset="-122"/>
              </a:rPr>
              <a:t>satomi</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print(</a:t>
            </a:r>
            <a:r>
              <a:rPr lang="en-US" altLang="zh-CN" sz="2400" kern="100" dirty="0" err="1">
                <a:solidFill>
                  <a:srgbClr val="000000"/>
                </a:solidFill>
                <a:effectLst/>
                <a:latin typeface="Times New Roman" panose="02020603050405020304" pitchFamily="18" charset="0"/>
                <a:ea typeface="宋体" pitchFamily="2" charset="-122"/>
              </a:rPr>
              <a:t>name.upper</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else:  </a:t>
            </a:r>
            <a:endParaRPr lang="zh-CN" altLang="zh-CN" sz="2400" kern="100" dirty="0">
              <a:effectLst/>
              <a:latin typeface="Times New Roman" panose="02020603050405020304" pitchFamily="18" charset="0"/>
              <a:ea typeface="宋体" pitchFamily="2" charset="-122"/>
            </a:endParaRPr>
          </a:p>
          <a:p>
            <a:r>
              <a:rPr lang="en-US" altLang="zh-CN" sz="2400" kern="100" dirty="0">
                <a:effectLst/>
                <a:latin typeface="Times New Roman" panose="02020603050405020304" pitchFamily="18" charset="0"/>
                <a:ea typeface="宋体" pitchFamily="2" charset="-122"/>
              </a:rPr>
              <a:t>        print(</a:t>
            </a:r>
            <a:r>
              <a:rPr lang="en-US" altLang="zh-CN" sz="2400" kern="100" dirty="0" err="1">
                <a:effectLst/>
                <a:latin typeface="Times New Roman" panose="02020603050405020304" pitchFamily="18" charset="0"/>
                <a:ea typeface="宋体" pitchFamily="2" charset="-122"/>
              </a:rPr>
              <a:t>name.title</a:t>
            </a:r>
            <a:r>
              <a:rPr lang="en-US" altLang="zh-CN" sz="2400" kern="100" dirty="0">
                <a:effectLst/>
                <a:latin typeface="Times New Roman" panose="02020603050405020304" pitchFamily="18" charset="0"/>
                <a:ea typeface="宋体" pitchFamily="2" charset="-122"/>
              </a:rPr>
              <a:t>()) </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14" name="文本框 13"/>
          <p:cNvSpPr txBox="1"/>
          <p:nvPr/>
        </p:nvSpPr>
        <p:spPr>
          <a:xfrm>
            <a:off x="1919572" y="5659965"/>
            <a:ext cx="3805350" cy="830997"/>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a:t>
            </a:r>
            <a:r>
              <a:rPr lang="en-US" altLang="zh-CN" sz="2400" kern="100" dirty="0">
                <a:solidFill>
                  <a:srgbClr val="000000"/>
                </a:solidFill>
                <a:effectLst/>
                <a:latin typeface="Times New Roman" panose="02020603050405020304" pitchFamily="18" charset="0"/>
                <a:ea typeface="宋体" pitchFamily="2" charset="-122"/>
              </a:rPr>
              <a:t>14 </a:t>
            </a:r>
            <a:r>
              <a:rPr lang="zh-CN" altLang="en-US" sz="2400" kern="100" dirty="0">
                <a:solidFill>
                  <a:srgbClr val="000000"/>
                </a:solidFill>
                <a:effectLst/>
                <a:latin typeface="Times New Roman" panose="02020603050405020304" pitchFamily="18" charset="0"/>
                <a:ea typeface="宋体" pitchFamily="2" charset="-122"/>
              </a:rPr>
              <a:t>运行结果</a:t>
            </a:r>
            <a:r>
              <a:rPr lang="zh-CN" altLang="en-US" sz="2400" kern="100" dirty="0">
                <a:solidFill>
                  <a:srgbClr val="000000"/>
                </a:solidFill>
                <a:latin typeface="Times New Roman" panose="02020603050405020304" pitchFamily="18" charset="0"/>
                <a:ea typeface="宋体" pitchFamily="2" charset="-122"/>
              </a:rPr>
              <a:t>：</a:t>
            </a:r>
            <a:endParaRPr lang="en-US" altLang="zh-CN" sz="2400" kern="100" dirty="0">
              <a:solidFill>
                <a:srgbClr val="000000"/>
              </a:solidFill>
              <a:effectLst/>
              <a:latin typeface="Times New Roman" panose="02020603050405020304" pitchFamily="18" charset="0"/>
              <a:ea typeface="宋体" pitchFamily="2" charset="-122"/>
            </a:endParaRPr>
          </a:p>
          <a:p>
            <a:pPr fontAlgn="ctr"/>
            <a:r>
              <a:rPr lang="en-US" altLang="zh-CN" sz="2400" dirty="0"/>
              <a:t>SATOMI  Bill  Li Lei  Jobs  Zed</a:t>
            </a:r>
            <a:endParaRPr lang="zh-CN" altLang="zh-CN" sz="2400" dirty="0"/>
          </a:p>
        </p:txBody>
      </p:sp>
      <p:sp>
        <p:nvSpPr>
          <p:cNvPr id="11" name="文本框 10"/>
          <p:cNvSpPr txBox="1"/>
          <p:nvPr/>
        </p:nvSpPr>
        <p:spPr>
          <a:xfrm>
            <a:off x="-107726" y="1868332"/>
            <a:ext cx="8893274" cy="461665"/>
          </a:xfrm>
          <a:prstGeom prst="rect">
            <a:avLst/>
          </a:prstGeom>
          <a:noFill/>
        </p:spPr>
        <p:txBody>
          <a:bodyPr wrap="square">
            <a:spAutoFit/>
          </a:bodyPr>
          <a:lstStyle/>
          <a:p>
            <a:pPr indent="266700" algn="just"/>
            <a:r>
              <a:rPr lang="zh-CN" altLang="zh-CN"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判断语句使计算机在特定情况下执行特定的动作</a:t>
            </a:r>
            <a:r>
              <a:rPr lang="zh-CN" altLang="zh-CN" sz="2400" kern="100" dirty="0">
                <a:effectLst/>
                <a:latin typeface="Times New Roman" panose="02020603050405020304" pitchFamily="18" charset="0"/>
                <a:ea typeface="宋体" pitchFamily="2" charset="-122"/>
                <a:cs typeface="Times New Roman" panose="02020603050405020304" pitchFamily="18" charset="0"/>
              </a:rPr>
              <a:t>。</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2" name="对话气泡: 圆角矩形 1"/>
          <p:cNvSpPr/>
          <p:nvPr/>
        </p:nvSpPr>
        <p:spPr>
          <a:xfrm>
            <a:off x="5401172" y="4291813"/>
            <a:ext cx="3384376" cy="1368152"/>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kern="100" dirty="0">
                <a:solidFill>
                  <a:schemeClr val="tx1"/>
                </a:solidFill>
                <a:effectLst/>
                <a:latin typeface="Times New Roman" panose="02020603050405020304" pitchFamily="18" charset="0"/>
                <a:ea typeface="宋体" pitchFamily="2" charset="-122"/>
              </a:rPr>
              <a:t>upper( )</a:t>
            </a:r>
            <a:r>
              <a:rPr lang="zh-CN" altLang="zh-CN" sz="2400" kern="100" dirty="0">
                <a:solidFill>
                  <a:schemeClr val="tx1"/>
                </a:solidFill>
                <a:effectLst/>
                <a:latin typeface="Times New Roman" panose="02020603050405020304" pitchFamily="18" charset="0"/>
                <a:ea typeface="宋体" pitchFamily="2" charset="-122"/>
                <a:cs typeface="Times New Roman" panose="02020603050405020304" pitchFamily="18" charset="0"/>
              </a:rPr>
              <a:t>方法将单词中的字母全部变为大写，而</a:t>
            </a:r>
            <a:r>
              <a:rPr lang="en-US" altLang="zh-CN" sz="2400" kern="100" dirty="0">
                <a:solidFill>
                  <a:schemeClr val="tx1"/>
                </a:solidFill>
                <a:effectLst/>
                <a:latin typeface="Times New Roman" panose="02020603050405020304" pitchFamily="18" charset="0"/>
                <a:ea typeface="宋体" pitchFamily="2" charset="-122"/>
              </a:rPr>
              <a:t>title( )</a:t>
            </a:r>
            <a:r>
              <a:rPr lang="zh-CN" altLang="zh-CN" sz="2400" kern="100" dirty="0">
                <a:solidFill>
                  <a:schemeClr val="tx1"/>
                </a:solidFill>
                <a:effectLst/>
                <a:latin typeface="Times New Roman" panose="02020603050405020304" pitchFamily="18" charset="0"/>
                <a:ea typeface="宋体" pitchFamily="2" charset="-122"/>
                <a:cs typeface="Times New Roman" panose="02020603050405020304" pitchFamily="18" charset="0"/>
              </a:rPr>
              <a:t>方法只将每个单词的首字母大写。</a:t>
            </a:r>
            <a:endParaRPr lang="zh-CN" altLang="en-US" sz="2400" dirty="0">
              <a:solidFill>
                <a:schemeClr val="tx1"/>
              </a:solidFill>
            </a:endParaRPr>
          </a:p>
        </p:txBody>
      </p:sp>
      <p:sp>
        <p:nvSpPr>
          <p:cNvPr id="3" name="文本框 2"/>
          <p:cNvSpPr txBox="1"/>
          <p:nvPr/>
        </p:nvSpPr>
        <p:spPr>
          <a:xfrm>
            <a:off x="142957" y="1212398"/>
            <a:ext cx="2701645" cy="461665"/>
          </a:xfrm>
          <a:prstGeom prst="rect">
            <a:avLst/>
          </a:prstGeom>
          <a:noFill/>
        </p:spPr>
        <p:txBody>
          <a:bodyPr wrap="square" rtlCol="0">
            <a:spAutoFit/>
          </a:bodyPr>
          <a:lstStyle/>
          <a:p>
            <a:r>
              <a:rPr lang="en-US" altLang="zh-CN" sz="2400" b="1" dirty="0"/>
              <a:t>2.2.5 </a:t>
            </a:r>
            <a:r>
              <a:rPr lang="zh-CN" altLang="en-US" sz="2400" b="1" dirty="0"/>
              <a:t>判断</a:t>
            </a:r>
            <a:endParaRPr lang="zh-CN" altLang="en-US" sz="2400" b="1" dirty="0"/>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ppt_x"/>
                                          </p:val>
                                        </p:tav>
                                        <p:tav tm="100000">
                                          <p:val>
                                            <p:strVal val="#ppt_x"/>
                                          </p:val>
                                        </p:tav>
                                      </p:tavLst>
                                    </p:anim>
                                    <p:anim calcmode="lin" valueType="num">
                                      <p:cBhvr additive="base">
                                        <p:cTn id="1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126157" y="1557586"/>
            <a:ext cx="8893274" cy="1569660"/>
          </a:xfrm>
          <a:prstGeom prst="rect">
            <a:avLst/>
          </a:prstGeom>
          <a:noFill/>
        </p:spPr>
        <p:txBody>
          <a:bodyPr wrap="square">
            <a:spAutoFit/>
          </a:bodyPr>
          <a:lstStyle/>
          <a:p>
            <a:pPr marL="342900" indent="-342900" algn="just">
              <a:buFont typeface="Wingdings" panose="05000000000000000000" pitchFamily="2" charset="2"/>
              <a:buChar char="p"/>
            </a:pPr>
            <a:r>
              <a:rPr lang="zh-CN" altLang="zh-CN" sz="2400" kern="100" dirty="0">
                <a:effectLst/>
                <a:latin typeface="+mn-ea"/>
              </a:rPr>
              <a:t>每一个</a:t>
            </a:r>
            <a:r>
              <a:rPr lang="en-US" altLang="zh-CN" sz="2400" kern="100" dirty="0">
                <a:effectLst/>
                <a:latin typeface="+mn-ea"/>
              </a:rPr>
              <a:t>if</a:t>
            </a:r>
            <a:r>
              <a:rPr lang="zh-CN" altLang="zh-CN" sz="2400" kern="100" dirty="0">
                <a:effectLst/>
                <a:latin typeface="+mn-ea"/>
              </a:rPr>
              <a:t>语句都是一个值为</a:t>
            </a:r>
            <a:r>
              <a:rPr lang="en-US" altLang="zh-CN" sz="2400" kern="100" dirty="0">
                <a:effectLst/>
                <a:latin typeface="+mn-ea"/>
              </a:rPr>
              <a:t>True</a:t>
            </a:r>
            <a:r>
              <a:rPr lang="zh-CN" altLang="zh-CN" sz="2400" kern="100" dirty="0">
                <a:effectLst/>
                <a:latin typeface="+mn-ea"/>
              </a:rPr>
              <a:t>或</a:t>
            </a:r>
            <a:r>
              <a:rPr lang="en-US" altLang="zh-CN" sz="2400" kern="100" dirty="0">
                <a:effectLst/>
                <a:latin typeface="+mn-ea"/>
              </a:rPr>
              <a:t>False</a:t>
            </a:r>
            <a:r>
              <a:rPr lang="zh-CN" altLang="zh-CN" sz="2400" kern="100" dirty="0">
                <a:effectLst/>
                <a:latin typeface="+mn-ea"/>
              </a:rPr>
              <a:t>的布尔表达式，如果语句的值为</a:t>
            </a:r>
            <a:r>
              <a:rPr lang="en-US" altLang="zh-CN" sz="2400" kern="100" dirty="0">
                <a:effectLst/>
                <a:latin typeface="+mn-ea"/>
              </a:rPr>
              <a:t>True</a:t>
            </a:r>
            <a:r>
              <a:rPr lang="zh-CN" altLang="zh-CN" sz="2400" kern="100" dirty="0">
                <a:effectLst/>
                <a:latin typeface="+mn-ea"/>
              </a:rPr>
              <a:t>，则执行</a:t>
            </a:r>
            <a:r>
              <a:rPr lang="en-US" altLang="zh-CN" sz="2400" kern="100" dirty="0">
                <a:effectLst/>
                <a:latin typeface="+mn-ea"/>
              </a:rPr>
              <a:t>if</a:t>
            </a:r>
            <a:r>
              <a:rPr lang="zh-CN" altLang="zh-CN" sz="2400" kern="100" dirty="0">
                <a:effectLst/>
                <a:latin typeface="+mn-ea"/>
              </a:rPr>
              <a:t>语句后面的代码；如果为</a:t>
            </a:r>
            <a:r>
              <a:rPr lang="en-US" altLang="zh-CN" sz="2400" kern="100" dirty="0">
                <a:effectLst/>
                <a:latin typeface="+mn-ea"/>
              </a:rPr>
              <a:t>False</a:t>
            </a:r>
            <a:r>
              <a:rPr lang="zh-CN" altLang="zh-CN" sz="2400" kern="100" dirty="0">
                <a:effectLst/>
                <a:latin typeface="+mn-ea"/>
              </a:rPr>
              <a:t>，则跳过</a:t>
            </a:r>
            <a:r>
              <a:rPr lang="en-US" altLang="zh-CN" sz="2400" kern="100" dirty="0">
                <a:effectLst/>
                <a:latin typeface="+mn-ea"/>
              </a:rPr>
              <a:t>if</a:t>
            </a:r>
            <a:r>
              <a:rPr lang="zh-CN" altLang="zh-CN" sz="2400" kern="100" dirty="0">
                <a:effectLst/>
                <a:latin typeface="+mn-ea"/>
              </a:rPr>
              <a:t>语句后面的代码。</a:t>
            </a:r>
            <a:endParaRPr lang="en-US" altLang="zh-CN" sz="2400" kern="100" dirty="0">
              <a:effectLst/>
              <a:latin typeface="+mn-ea"/>
            </a:endParaRPr>
          </a:p>
          <a:p>
            <a:pPr marL="342900" indent="-342900" algn="just">
              <a:buFont typeface="Wingdings" panose="05000000000000000000" pitchFamily="2" charset="2"/>
              <a:buChar char="p"/>
            </a:pPr>
            <a:r>
              <a:rPr lang="en-US" altLang="zh-CN" sz="2400" kern="100" dirty="0">
                <a:effectLst/>
                <a:latin typeface="+mn-ea"/>
              </a:rPr>
              <a:t>if</a:t>
            </a:r>
            <a:r>
              <a:rPr lang="zh-CN" altLang="zh-CN" sz="2400" kern="100" dirty="0">
                <a:effectLst/>
                <a:latin typeface="+mn-ea"/>
              </a:rPr>
              <a:t>语句使用缩进表示要执行的动作</a:t>
            </a:r>
            <a:r>
              <a:rPr lang="zh-CN" altLang="zh-CN" sz="2400" kern="100" dirty="0">
                <a:effectLst/>
                <a:latin typeface="Times New Roman" panose="02020603050405020304" pitchFamily="18" charset="0"/>
                <a:ea typeface="宋体" pitchFamily="2" charset="-122"/>
              </a:rPr>
              <a:t>。</a:t>
            </a:r>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111200" y="1189585"/>
            <a:ext cx="8893274" cy="1938992"/>
          </a:xfrm>
          <a:prstGeom prst="rect">
            <a:avLst/>
          </a:prstGeom>
          <a:noFill/>
        </p:spPr>
        <p:txBody>
          <a:bodyPr wrap="square">
            <a:spAutoFit/>
          </a:bodyPr>
          <a:lstStyle/>
          <a:p>
            <a:pPr indent="266700" algn="just"/>
            <a:r>
              <a:rPr lang="en-US" altLang="zh-CN"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if</a:t>
            </a:r>
            <a:r>
              <a:rPr lang="zh-CN" altLang="zh-CN"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也可以一次性判断多个条件</a:t>
            </a:r>
            <a:r>
              <a:rPr lang="zh-CN" altLang="en-US" sz="2400" kern="100" dirty="0">
                <a:solidFill>
                  <a:srgbClr val="FF0000"/>
                </a:solidFill>
                <a:latin typeface="Times New Roman" panose="02020603050405020304" pitchFamily="18" charset="0"/>
                <a:ea typeface="宋体" pitchFamily="2" charset="-122"/>
                <a:cs typeface="Times New Roman" panose="02020603050405020304" pitchFamily="18" charset="0"/>
              </a:rPr>
              <a:t>。</a:t>
            </a:r>
            <a:endParaRPr lang="en-US" altLang="zh-CN" sz="2400" kern="100" dirty="0">
              <a:solidFill>
                <a:srgbClr val="FF0000"/>
              </a:solidFill>
              <a:latin typeface="Times New Roman" panose="02020603050405020304" pitchFamily="18" charset="0"/>
              <a:ea typeface="宋体" pitchFamily="2" charset="-122"/>
              <a:cs typeface="Times New Roman" panose="02020603050405020304" pitchFamily="18" charset="0"/>
            </a:endParaRPr>
          </a:p>
          <a:p>
            <a:pPr indent="266700" algn="just"/>
            <a:r>
              <a:rPr lang="zh-CN" altLang="zh-CN" sz="2400" kern="100" dirty="0">
                <a:effectLst/>
                <a:latin typeface="Times New Roman" panose="02020603050405020304" pitchFamily="18" charset="0"/>
                <a:ea typeface="宋体" pitchFamily="2" charset="-122"/>
                <a:cs typeface="Times New Roman" panose="02020603050405020304" pitchFamily="18" charset="0"/>
              </a:rPr>
              <a:t>使用</a:t>
            </a:r>
            <a:r>
              <a:rPr lang="en-US" altLang="zh-CN" sz="2400" kern="100" dirty="0">
                <a:solidFill>
                  <a:srgbClr val="FF0000"/>
                </a:solidFill>
                <a:effectLst/>
                <a:latin typeface="Times New Roman" panose="02020603050405020304" pitchFamily="18" charset="0"/>
                <a:ea typeface="宋体" pitchFamily="2" charset="-122"/>
              </a:rPr>
              <a:t>and</a:t>
            </a:r>
            <a:r>
              <a:rPr lang="zh-CN" altLang="zh-CN" sz="2400" kern="100" dirty="0">
                <a:effectLst/>
                <a:latin typeface="Times New Roman" panose="02020603050405020304" pitchFamily="18" charset="0"/>
                <a:ea typeface="宋体" pitchFamily="2" charset="-122"/>
                <a:cs typeface="Times New Roman" panose="02020603050405020304" pitchFamily="18" charset="0"/>
              </a:rPr>
              <a:t>语句时，所有条件都通过结果为</a:t>
            </a:r>
            <a:r>
              <a:rPr lang="en-US" altLang="zh-CN" sz="2400" kern="100" dirty="0">
                <a:effectLst/>
                <a:latin typeface="Times New Roman" panose="02020603050405020304" pitchFamily="18" charset="0"/>
                <a:ea typeface="宋体" pitchFamily="2" charset="-122"/>
              </a:rPr>
              <a:t>True</a:t>
            </a:r>
            <a:r>
              <a:rPr lang="zh-CN" altLang="zh-CN" sz="2400" kern="100" dirty="0">
                <a:effectLst/>
                <a:latin typeface="Times New Roman" panose="02020603050405020304" pitchFamily="18" charset="0"/>
                <a:ea typeface="宋体" pitchFamily="2" charset="-122"/>
                <a:cs typeface="Times New Roman" panose="02020603050405020304" pitchFamily="18" charset="0"/>
              </a:rPr>
              <a:t>，有一个条件没通过即为</a:t>
            </a:r>
            <a:r>
              <a:rPr lang="en-US" altLang="zh-CN" sz="2400" kern="100" dirty="0">
                <a:effectLst/>
                <a:latin typeface="Times New Roman" panose="02020603050405020304" pitchFamily="18" charset="0"/>
                <a:ea typeface="宋体" pitchFamily="2" charset="-122"/>
              </a:rPr>
              <a:t>False</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endParaRPr lang="en-US" altLang="zh-CN" sz="2400" kern="100" dirty="0">
              <a:effectLst/>
              <a:latin typeface="Times New Roman" panose="02020603050405020304" pitchFamily="18" charset="0"/>
              <a:ea typeface="宋体" pitchFamily="2" charset="-122"/>
              <a:cs typeface="Times New Roman" panose="02020603050405020304" pitchFamily="18" charset="0"/>
            </a:endParaRPr>
          </a:p>
          <a:p>
            <a:pPr indent="266700" algn="just"/>
            <a:r>
              <a:rPr lang="zh-CN" altLang="zh-CN" sz="2400" kern="100" dirty="0">
                <a:effectLst/>
                <a:latin typeface="Times New Roman" panose="02020603050405020304" pitchFamily="18" charset="0"/>
                <a:ea typeface="宋体" pitchFamily="2" charset="-122"/>
                <a:cs typeface="Times New Roman" panose="02020603050405020304" pitchFamily="18" charset="0"/>
              </a:rPr>
              <a:t>使用</a:t>
            </a:r>
            <a:r>
              <a:rPr lang="en-US" altLang="zh-CN" sz="2400" kern="100" dirty="0">
                <a:solidFill>
                  <a:srgbClr val="FF0000"/>
                </a:solidFill>
                <a:effectLst/>
                <a:latin typeface="Times New Roman" panose="02020603050405020304" pitchFamily="18" charset="0"/>
                <a:ea typeface="宋体" pitchFamily="2" charset="-122"/>
              </a:rPr>
              <a:t>or</a:t>
            </a:r>
            <a:r>
              <a:rPr lang="zh-CN" altLang="zh-CN" sz="2400" kern="100" dirty="0">
                <a:effectLst/>
                <a:latin typeface="Times New Roman" panose="02020603050405020304" pitchFamily="18" charset="0"/>
                <a:ea typeface="宋体" pitchFamily="2" charset="-122"/>
                <a:cs typeface="Times New Roman" panose="02020603050405020304" pitchFamily="18" charset="0"/>
              </a:rPr>
              <a:t>语句时，只要有一个条件通过即为</a:t>
            </a:r>
            <a:r>
              <a:rPr lang="en-US" altLang="zh-CN" sz="2400" kern="100" dirty="0">
                <a:effectLst/>
                <a:latin typeface="Times New Roman" panose="02020603050405020304" pitchFamily="18" charset="0"/>
                <a:ea typeface="宋体" pitchFamily="2" charset="-122"/>
              </a:rPr>
              <a:t>True</a:t>
            </a:r>
            <a:r>
              <a:rPr lang="zh-CN" altLang="zh-CN" sz="2400" kern="100" dirty="0">
                <a:effectLst/>
                <a:latin typeface="Times New Roman" panose="02020603050405020304" pitchFamily="18" charset="0"/>
                <a:ea typeface="宋体" pitchFamily="2" charset="-122"/>
                <a:cs typeface="Times New Roman" panose="02020603050405020304" pitchFamily="18" charset="0"/>
              </a:rPr>
              <a:t>，所有条件都没通过时结果为</a:t>
            </a:r>
            <a:r>
              <a:rPr lang="en-US" altLang="zh-CN" sz="2400" kern="100" dirty="0">
                <a:effectLst/>
                <a:latin typeface="Times New Roman" panose="02020603050405020304" pitchFamily="18" charset="0"/>
                <a:ea typeface="宋体" pitchFamily="2" charset="-122"/>
              </a:rPr>
              <a:t>False</a:t>
            </a:r>
            <a:r>
              <a:rPr lang="zh-CN" altLang="zh-CN" sz="2400" kern="100" dirty="0">
                <a:effectLst/>
                <a:latin typeface="Times New Roman" panose="02020603050405020304" pitchFamily="18" charset="0"/>
                <a:ea typeface="宋体" pitchFamily="2" charset="-122"/>
                <a:cs typeface="Times New Roman" panose="02020603050405020304" pitchFamily="18" charset="0"/>
              </a:rPr>
              <a:t>。</a:t>
            </a:r>
            <a:endParaRPr lang="zh-CN" altLang="zh-CN" sz="2400" kern="100" dirty="0">
              <a:effectLst/>
              <a:latin typeface="Times New Roman" panose="02020603050405020304" pitchFamily="18" charset="0"/>
              <a:ea typeface="宋体" pitchFamily="2" charset="-122"/>
            </a:endParaRPr>
          </a:p>
        </p:txBody>
      </p:sp>
      <p:sp>
        <p:nvSpPr>
          <p:cNvPr id="8" name="文本框 7"/>
          <p:cNvSpPr txBox="1"/>
          <p:nvPr/>
        </p:nvSpPr>
        <p:spPr>
          <a:xfrm>
            <a:off x="670137" y="3149970"/>
            <a:ext cx="8056251" cy="3046988"/>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例子</a:t>
            </a:r>
            <a:r>
              <a:rPr lang="en-US" altLang="zh-CN" sz="2400" kern="100" dirty="0">
                <a:solidFill>
                  <a:srgbClr val="000000"/>
                </a:solidFill>
                <a:effectLst/>
                <a:latin typeface="Times New Roman" panose="02020603050405020304" pitchFamily="18" charset="0"/>
                <a:ea typeface="宋体" pitchFamily="2" charset="-122"/>
              </a:rPr>
              <a:t>15</a:t>
            </a:r>
            <a:r>
              <a:rPr lang="zh-CN" altLang="en-US" sz="2400" kern="100" dirty="0">
                <a:solidFill>
                  <a:srgbClr val="000000"/>
                </a:solidFill>
                <a:effectLst/>
                <a:latin typeface="Times New Roman" panose="02020603050405020304" pitchFamily="18" charset="0"/>
                <a:ea typeface="宋体" pitchFamily="2" charset="-122"/>
              </a:rPr>
              <a:t> </a:t>
            </a:r>
            <a:r>
              <a:rPr lang="en-US" altLang="zh-CN" sz="2400" kern="100" dirty="0">
                <a:solidFill>
                  <a:srgbClr val="000000"/>
                </a:solidFill>
                <a:effectLst/>
                <a:latin typeface="Times New Roman" panose="02020603050405020304" pitchFamily="18" charset="0"/>
                <a:ea typeface="宋体" pitchFamily="2" charset="-122"/>
              </a:rPr>
              <a:t>if</a:t>
            </a:r>
            <a:r>
              <a:rPr lang="zh-CN" altLang="en-US" sz="2400" kern="100" dirty="0">
                <a:solidFill>
                  <a:srgbClr val="000000"/>
                </a:solidFill>
                <a:effectLst/>
                <a:latin typeface="Times New Roman" panose="02020603050405020304" pitchFamily="18" charset="0"/>
                <a:ea typeface="宋体" pitchFamily="2" charset="-122"/>
              </a:rPr>
              <a:t>多分支使用</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num = 5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err="1">
                <a:solidFill>
                  <a:srgbClr val="000000"/>
                </a:solidFill>
                <a:effectLst/>
                <a:latin typeface="Times New Roman" panose="02020603050405020304" pitchFamily="18" charset="0"/>
                <a:ea typeface="宋体" pitchFamily="2" charset="-122"/>
              </a:rPr>
              <a:t>a,b,c,d</a:t>
            </a:r>
            <a:r>
              <a:rPr lang="en-US" altLang="zh-CN" sz="2400" kern="100" dirty="0">
                <a:solidFill>
                  <a:srgbClr val="000000"/>
                </a:solidFill>
                <a:effectLst/>
                <a:latin typeface="Times New Roman" panose="02020603050405020304" pitchFamily="18" charset="0"/>
                <a:ea typeface="宋体" pitchFamily="2" charset="-122"/>
              </a:rPr>
              <a:t> = 2,3,6,8  #c,d</a:t>
            </a:r>
            <a:r>
              <a:rPr lang="zh-CN" altLang="zh-CN" sz="2400" kern="100" dirty="0">
                <a:solidFill>
                  <a:srgbClr val="000000"/>
                </a:solidFill>
                <a:effectLst/>
                <a:latin typeface="Times New Roman" panose="02020603050405020304" pitchFamily="18" charset="0"/>
                <a:ea typeface="宋体" pitchFamily="2" charset="-122"/>
              </a:rPr>
              <a:t>都大于</a:t>
            </a:r>
            <a:r>
              <a:rPr lang="en-US" altLang="zh-CN" sz="2400" kern="100" dirty="0">
                <a:solidFill>
                  <a:srgbClr val="000000"/>
                </a:solidFill>
                <a:effectLst/>
                <a:latin typeface="Times New Roman" panose="02020603050405020304" pitchFamily="18" charset="0"/>
                <a:ea typeface="宋体" pitchFamily="2" charset="-122"/>
              </a:rPr>
              <a:t>num</a:t>
            </a:r>
            <a:r>
              <a:rPr lang="zh-CN" altLang="zh-CN" sz="2400" kern="100" dirty="0">
                <a:solidFill>
                  <a:srgbClr val="000000"/>
                </a:solidFill>
                <a:effectLst/>
                <a:latin typeface="Times New Roman" panose="02020603050405020304" pitchFamily="18" charset="0"/>
                <a:ea typeface="宋体" pitchFamily="2" charset="-122"/>
              </a:rPr>
              <a:t>，结果为</a:t>
            </a:r>
            <a:r>
              <a:rPr lang="en-US" altLang="zh-CN" sz="2400" kern="100" dirty="0">
                <a:solidFill>
                  <a:srgbClr val="000000"/>
                </a:solidFill>
                <a:effectLst/>
                <a:latin typeface="Times New Roman" panose="02020603050405020304" pitchFamily="18" charset="0"/>
                <a:ea typeface="宋体" pitchFamily="2" charset="-122"/>
              </a:rPr>
              <a:t>True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if c &gt; num and d &gt; num: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print('True')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else: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print('False’)  </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#a</a:t>
            </a:r>
            <a:r>
              <a:rPr lang="zh-CN" altLang="zh-CN" sz="2400" kern="100" dirty="0">
                <a:solidFill>
                  <a:srgbClr val="000000"/>
                </a:solidFill>
                <a:effectLst/>
                <a:latin typeface="Times New Roman" panose="02020603050405020304" pitchFamily="18" charset="0"/>
                <a:ea typeface="宋体" pitchFamily="2" charset="-122"/>
              </a:rPr>
              <a:t>小于</a:t>
            </a:r>
            <a:r>
              <a:rPr lang="en-US" altLang="zh-CN" sz="2400" kern="100" dirty="0">
                <a:solidFill>
                  <a:srgbClr val="000000"/>
                </a:solidFill>
                <a:effectLst/>
                <a:latin typeface="Times New Roman" panose="02020603050405020304" pitchFamily="18" charset="0"/>
                <a:ea typeface="宋体" pitchFamily="2" charset="-122"/>
              </a:rPr>
              <a:t>num</a:t>
            </a:r>
            <a:r>
              <a:rPr lang="zh-CN" altLang="zh-CN" sz="2400" kern="100" dirty="0">
                <a:solidFill>
                  <a:srgbClr val="000000"/>
                </a:solidFill>
                <a:effectLst/>
                <a:latin typeface="Times New Roman" panose="02020603050405020304" pitchFamily="18" charset="0"/>
                <a:ea typeface="宋体" pitchFamily="2" charset="-122"/>
              </a:rPr>
              <a:t>，结果即为</a:t>
            </a:r>
            <a:r>
              <a:rPr lang="en-US" altLang="zh-CN" sz="2400" kern="100" dirty="0">
                <a:solidFill>
                  <a:srgbClr val="000000"/>
                </a:solidFill>
                <a:effectLst/>
                <a:latin typeface="Times New Roman" panose="02020603050405020304" pitchFamily="18" charset="0"/>
                <a:ea typeface="宋体" pitchFamily="2" charset="-122"/>
              </a:rPr>
              <a:t>False,</a:t>
            </a:r>
            <a:r>
              <a:rPr lang="zh-CN" altLang="zh-CN" sz="2400" kern="100" dirty="0">
                <a:solidFill>
                  <a:srgbClr val="000000"/>
                </a:solidFill>
                <a:effectLst/>
                <a:latin typeface="Times New Roman" panose="02020603050405020304" pitchFamily="18" charset="0"/>
                <a:ea typeface="宋体" pitchFamily="2" charset="-122"/>
              </a:rPr>
              <a:t>用</a:t>
            </a:r>
            <a:r>
              <a:rPr lang="en-US" altLang="zh-CN" sz="2400" kern="100" dirty="0">
                <a:solidFill>
                  <a:srgbClr val="000000"/>
                </a:solidFill>
                <a:effectLst/>
                <a:latin typeface="Times New Roman" panose="02020603050405020304" pitchFamily="18" charset="0"/>
                <a:ea typeface="宋体" pitchFamily="2" charset="-122"/>
              </a:rPr>
              <a:t>()</a:t>
            </a:r>
            <a:r>
              <a:rPr lang="zh-CN" altLang="zh-CN" sz="2400" kern="100" dirty="0">
                <a:solidFill>
                  <a:srgbClr val="000000"/>
                </a:solidFill>
                <a:effectLst/>
                <a:latin typeface="Times New Roman" panose="02020603050405020304" pitchFamily="18" charset="0"/>
                <a:ea typeface="宋体" pitchFamily="2" charset="-122"/>
              </a:rPr>
              <a:t>将条件括起来增加可读性</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文本框 7"/>
          <p:cNvSpPr txBox="1"/>
          <p:nvPr/>
        </p:nvSpPr>
        <p:spPr>
          <a:xfrm>
            <a:off x="337643" y="1413570"/>
            <a:ext cx="8470301" cy="3785652"/>
          </a:xfrm>
          <a:prstGeom prst="rect">
            <a:avLst/>
          </a:prstGeom>
          <a:solidFill>
            <a:schemeClr val="tx2">
              <a:lumMod val="20000"/>
              <a:lumOff val="80000"/>
            </a:schemeClr>
          </a:solidFill>
        </p:spPr>
        <p:txBody>
          <a:bodyPr wrap="square">
            <a:spAutoFit/>
          </a:bodyPr>
          <a:lstStyle/>
          <a:p>
            <a:pPr indent="266700" algn="l" fontAlgn="ctr"/>
            <a:r>
              <a:rPr lang="en-US" altLang="zh-CN" sz="2400" kern="100" dirty="0">
                <a:solidFill>
                  <a:srgbClr val="000000"/>
                </a:solidFill>
                <a:effectLst/>
                <a:latin typeface="Times New Roman" panose="02020603050405020304" pitchFamily="18" charset="0"/>
                <a:ea typeface="宋体" pitchFamily="2" charset="-122"/>
              </a:rPr>
              <a:t>if (a &gt; num) and (c &gt; num):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print('True’)  </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else: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print('False')  #a</a:t>
            </a:r>
            <a:r>
              <a:rPr lang="zh-CN" altLang="zh-CN" sz="2400" kern="100" dirty="0">
                <a:solidFill>
                  <a:srgbClr val="000000"/>
                </a:solidFill>
                <a:effectLst/>
                <a:latin typeface="Times New Roman" panose="02020603050405020304" pitchFamily="18" charset="0"/>
                <a:ea typeface="宋体" pitchFamily="2" charset="-122"/>
              </a:rPr>
              <a:t>小于</a:t>
            </a:r>
            <a:r>
              <a:rPr lang="en-US" altLang="zh-CN" sz="2400" kern="100" dirty="0">
                <a:solidFill>
                  <a:srgbClr val="000000"/>
                </a:solidFill>
                <a:effectLst/>
                <a:latin typeface="Times New Roman" panose="02020603050405020304" pitchFamily="18" charset="0"/>
                <a:ea typeface="宋体" pitchFamily="2" charset="-122"/>
              </a:rPr>
              <a:t>num</a:t>
            </a:r>
            <a:r>
              <a:rPr lang="zh-CN" altLang="zh-CN" sz="2400" kern="100" dirty="0">
                <a:solidFill>
                  <a:srgbClr val="000000"/>
                </a:solidFill>
                <a:effectLst/>
                <a:latin typeface="Times New Roman" panose="02020603050405020304" pitchFamily="18" charset="0"/>
                <a:ea typeface="宋体" pitchFamily="2" charset="-122"/>
              </a:rPr>
              <a:t>但</a:t>
            </a:r>
            <a:r>
              <a:rPr lang="en-US" altLang="zh-CN" sz="2400" kern="100" dirty="0">
                <a:solidFill>
                  <a:srgbClr val="000000"/>
                </a:solidFill>
                <a:effectLst/>
                <a:latin typeface="Times New Roman" panose="02020603050405020304" pitchFamily="18" charset="0"/>
                <a:ea typeface="宋体" pitchFamily="2" charset="-122"/>
              </a:rPr>
              <a:t>c</a:t>
            </a:r>
            <a:r>
              <a:rPr lang="zh-CN" altLang="zh-CN" sz="2400" kern="100" dirty="0">
                <a:solidFill>
                  <a:srgbClr val="000000"/>
                </a:solidFill>
                <a:effectLst/>
                <a:latin typeface="Times New Roman" panose="02020603050405020304" pitchFamily="18" charset="0"/>
                <a:ea typeface="宋体" pitchFamily="2" charset="-122"/>
              </a:rPr>
              <a:t>大于</a:t>
            </a:r>
            <a:r>
              <a:rPr lang="en-US" altLang="zh-CN" sz="2400" kern="100" dirty="0">
                <a:solidFill>
                  <a:srgbClr val="000000"/>
                </a:solidFill>
                <a:effectLst/>
                <a:latin typeface="Times New Roman" panose="02020603050405020304" pitchFamily="18" charset="0"/>
                <a:ea typeface="宋体" pitchFamily="2" charset="-122"/>
              </a:rPr>
              <a:t>num</a:t>
            </a:r>
            <a:r>
              <a:rPr lang="zh-CN" altLang="zh-CN" sz="2400" kern="100" dirty="0">
                <a:solidFill>
                  <a:srgbClr val="000000"/>
                </a:solidFill>
                <a:effectLst/>
                <a:latin typeface="Times New Roman" panose="02020603050405020304" pitchFamily="18" charset="0"/>
                <a:ea typeface="宋体" pitchFamily="2" charset="-122"/>
              </a:rPr>
              <a:t>，整体结果为</a:t>
            </a:r>
            <a:r>
              <a:rPr lang="en-US" altLang="zh-CN" sz="2400" kern="100" dirty="0">
                <a:solidFill>
                  <a:srgbClr val="000000"/>
                </a:solidFill>
                <a:effectLst/>
                <a:latin typeface="Times New Roman" panose="02020603050405020304" pitchFamily="18" charset="0"/>
                <a:ea typeface="宋体" pitchFamily="2" charset="-122"/>
              </a:rPr>
              <a:t>True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if (a &gt; num) or (c &gt; num):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print('True')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else: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print('False')  #a</a:t>
            </a:r>
            <a:r>
              <a:rPr lang="zh-CN" altLang="zh-CN" sz="2400" kern="100" dirty="0">
                <a:solidFill>
                  <a:srgbClr val="000000"/>
                </a:solidFill>
                <a:effectLst/>
                <a:latin typeface="Times New Roman" panose="02020603050405020304" pitchFamily="18" charset="0"/>
                <a:ea typeface="宋体" pitchFamily="2" charset="-122"/>
              </a:rPr>
              <a:t>小于</a:t>
            </a:r>
            <a:r>
              <a:rPr lang="en-US" altLang="zh-CN" sz="2400" kern="100" dirty="0">
                <a:solidFill>
                  <a:srgbClr val="000000"/>
                </a:solidFill>
                <a:effectLst/>
                <a:latin typeface="Times New Roman" panose="02020603050405020304" pitchFamily="18" charset="0"/>
                <a:ea typeface="宋体" pitchFamily="2" charset="-122"/>
              </a:rPr>
              <a:t>num</a:t>
            </a:r>
            <a:r>
              <a:rPr lang="zh-CN" altLang="zh-CN" sz="2400" kern="100" dirty="0">
                <a:solidFill>
                  <a:srgbClr val="000000"/>
                </a:solidFill>
                <a:effectLst/>
                <a:latin typeface="Times New Roman" panose="02020603050405020304" pitchFamily="18" charset="0"/>
                <a:ea typeface="宋体" pitchFamily="2" charset="-122"/>
              </a:rPr>
              <a:t>且</a:t>
            </a:r>
            <a:r>
              <a:rPr lang="en-US" altLang="zh-CN" sz="2400" kern="100" dirty="0">
                <a:solidFill>
                  <a:srgbClr val="000000"/>
                </a:solidFill>
                <a:effectLst/>
                <a:latin typeface="Times New Roman" panose="02020603050405020304" pitchFamily="18" charset="0"/>
                <a:ea typeface="宋体" pitchFamily="2" charset="-122"/>
              </a:rPr>
              <a:t>b</a:t>
            </a:r>
            <a:r>
              <a:rPr lang="zh-CN" altLang="zh-CN" sz="2400" kern="100" dirty="0">
                <a:solidFill>
                  <a:srgbClr val="000000"/>
                </a:solidFill>
                <a:effectLst/>
                <a:latin typeface="Times New Roman" panose="02020603050405020304" pitchFamily="18" charset="0"/>
                <a:ea typeface="宋体" pitchFamily="2" charset="-122"/>
              </a:rPr>
              <a:t>小于</a:t>
            </a:r>
            <a:r>
              <a:rPr lang="en-US" altLang="zh-CN" sz="2400" kern="100" dirty="0">
                <a:solidFill>
                  <a:srgbClr val="000000"/>
                </a:solidFill>
                <a:effectLst/>
                <a:latin typeface="Times New Roman" panose="02020603050405020304" pitchFamily="18" charset="0"/>
                <a:ea typeface="宋体" pitchFamily="2" charset="-122"/>
              </a:rPr>
              <a:t>num</a:t>
            </a:r>
            <a:r>
              <a:rPr lang="zh-CN" altLang="zh-CN" sz="2400" kern="100" dirty="0">
                <a:solidFill>
                  <a:srgbClr val="000000"/>
                </a:solidFill>
                <a:effectLst/>
                <a:latin typeface="Times New Roman" panose="02020603050405020304" pitchFamily="18" charset="0"/>
                <a:ea typeface="宋体" pitchFamily="2" charset="-122"/>
              </a:rPr>
              <a:t>，结果为</a:t>
            </a:r>
            <a:r>
              <a:rPr lang="en-US" altLang="zh-CN" sz="2400" kern="100" dirty="0">
                <a:solidFill>
                  <a:srgbClr val="000000"/>
                </a:solidFill>
                <a:effectLst/>
                <a:latin typeface="Times New Roman" panose="02020603050405020304" pitchFamily="18" charset="0"/>
                <a:ea typeface="宋体" pitchFamily="2" charset="-122"/>
              </a:rPr>
              <a:t>False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if (a &gt; num) or (b &gt; num):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print('True')  </a:t>
            </a:r>
            <a:endParaRPr lang="zh-CN" altLang="zh-CN" sz="2400" kern="100" dirty="0">
              <a:effectLst/>
              <a:latin typeface="Times New Roman" panose="02020603050405020304" pitchFamily="18" charset="0"/>
              <a:ea typeface="宋体" pitchFamily="2" charset="-122"/>
            </a:endParaRPr>
          </a:p>
        </p:txBody>
      </p:sp>
      <p:sp>
        <p:nvSpPr>
          <p:cNvPr id="13" name="文本框 12"/>
          <p:cNvSpPr txBox="1"/>
          <p:nvPr/>
        </p:nvSpPr>
        <p:spPr>
          <a:xfrm>
            <a:off x="3276650" y="5533750"/>
            <a:ext cx="4589754" cy="830997"/>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a:t>
            </a:r>
            <a:r>
              <a:rPr lang="en-US" altLang="zh-CN" sz="2400" kern="100" dirty="0">
                <a:solidFill>
                  <a:srgbClr val="000000"/>
                </a:solidFill>
                <a:effectLst/>
                <a:latin typeface="Times New Roman" panose="02020603050405020304" pitchFamily="18" charset="0"/>
                <a:ea typeface="宋体" pitchFamily="2" charset="-122"/>
              </a:rPr>
              <a:t>15</a:t>
            </a:r>
            <a:r>
              <a:rPr lang="zh-CN" altLang="en-US" sz="2400" kern="100" dirty="0">
                <a:solidFill>
                  <a:srgbClr val="000000"/>
                </a:solidFill>
                <a:effectLst/>
                <a:latin typeface="Times New Roman" panose="02020603050405020304" pitchFamily="18" charset="0"/>
                <a:ea typeface="宋体" pitchFamily="2" charset="-122"/>
              </a:rPr>
              <a:t> 运行结果：</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True  False  True  False</a:t>
            </a:r>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111200" y="1189585"/>
            <a:ext cx="8893274" cy="1938992"/>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在一个判断模块中需要</a:t>
            </a:r>
            <a:r>
              <a:rPr lang="zh-CN" altLang="zh-CN" sz="2400" kern="100" dirty="0">
                <a:solidFill>
                  <a:srgbClr val="FF0000"/>
                </a:solidFill>
                <a:effectLst/>
                <a:latin typeface="Times New Roman" panose="02020603050405020304" pitchFamily="18" charset="0"/>
                <a:ea typeface="宋体" pitchFamily="2" charset="-122"/>
              </a:rPr>
              <a:t>验证多个条件</a:t>
            </a:r>
            <a:r>
              <a:rPr lang="zh-CN" altLang="zh-CN" sz="2400" kern="100" dirty="0">
                <a:effectLst/>
                <a:latin typeface="Times New Roman" panose="02020603050405020304" pitchFamily="18" charset="0"/>
                <a:ea typeface="宋体" pitchFamily="2" charset="-122"/>
              </a:rPr>
              <a:t>，可以使用</a:t>
            </a:r>
            <a:r>
              <a:rPr lang="en-US" altLang="zh-CN" sz="2400" kern="100" dirty="0">
                <a:solidFill>
                  <a:srgbClr val="FF0000"/>
                </a:solidFill>
                <a:effectLst/>
                <a:latin typeface="Times New Roman" panose="02020603050405020304" pitchFamily="18" charset="0"/>
                <a:ea typeface="宋体" pitchFamily="2" charset="-122"/>
              </a:rPr>
              <a:t>if-</a:t>
            </a:r>
            <a:r>
              <a:rPr lang="en-US" altLang="zh-CN" sz="2400" kern="100" dirty="0" err="1">
                <a:solidFill>
                  <a:srgbClr val="FF0000"/>
                </a:solidFill>
                <a:effectLst/>
                <a:latin typeface="Times New Roman" panose="02020603050405020304" pitchFamily="18" charset="0"/>
                <a:ea typeface="宋体" pitchFamily="2" charset="-122"/>
              </a:rPr>
              <a:t>elif</a:t>
            </a:r>
            <a:r>
              <a:rPr lang="en-US" altLang="zh-CN" sz="2400" kern="100" dirty="0">
                <a:solidFill>
                  <a:srgbClr val="FF0000"/>
                </a:solidFill>
                <a:effectLst/>
                <a:latin typeface="Times New Roman" panose="02020603050405020304" pitchFamily="18" charset="0"/>
                <a:ea typeface="宋体" pitchFamily="2" charset="-122"/>
              </a:rPr>
              <a:t>-else</a:t>
            </a:r>
            <a:r>
              <a:rPr lang="zh-CN" altLang="zh-CN" sz="2400" kern="100" dirty="0">
                <a:effectLst/>
                <a:latin typeface="Times New Roman" panose="02020603050405020304" pitchFamily="18" charset="0"/>
                <a:ea typeface="宋体" pitchFamily="2" charset="-122"/>
              </a:rPr>
              <a:t>结构，中间可以使用多个</a:t>
            </a:r>
            <a:r>
              <a:rPr lang="en-US" altLang="zh-CN" sz="2400" kern="100" dirty="0" err="1">
                <a:effectLst/>
                <a:latin typeface="Times New Roman" panose="02020603050405020304" pitchFamily="18" charset="0"/>
                <a:ea typeface="宋体" pitchFamily="2" charset="-122"/>
              </a:rPr>
              <a:t>elif</a:t>
            </a:r>
            <a:r>
              <a:rPr lang="zh-CN" altLang="zh-CN" sz="2400" kern="100" dirty="0">
                <a:effectLst/>
                <a:latin typeface="Times New Roman" panose="02020603050405020304" pitchFamily="18" charset="0"/>
                <a:ea typeface="宋体" pitchFamily="2" charset="-122"/>
              </a:rPr>
              <a:t>语句，</a:t>
            </a:r>
            <a:r>
              <a:rPr lang="en-US" altLang="zh-CN" sz="2400" kern="100" dirty="0">
                <a:effectLst/>
                <a:latin typeface="Times New Roman" panose="02020603050405020304" pitchFamily="18" charset="0"/>
                <a:ea typeface="宋体" pitchFamily="2" charset="-122"/>
              </a:rPr>
              <a:t>else</a:t>
            </a:r>
            <a:r>
              <a:rPr lang="zh-CN" altLang="zh-CN" sz="2400" kern="100" dirty="0">
                <a:effectLst/>
                <a:latin typeface="Times New Roman" panose="02020603050405020304" pitchFamily="18" charset="0"/>
                <a:ea typeface="宋体" pitchFamily="2" charset="-122"/>
              </a:rPr>
              <a:t>语句可以省略。</a:t>
            </a:r>
            <a:endParaRPr lang="en-US" altLang="zh-CN" sz="2400" kern="100" dirty="0">
              <a:effectLst/>
              <a:latin typeface="Times New Roman" panose="02020603050405020304" pitchFamily="18" charset="0"/>
              <a:ea typeface="宋体" pitchFamily="2" charset="-122"/>
            </a:endParaRPr>
          </a:p>
          <a:p>
            <a:pPr indent="266700" algn="just"/>
            <a:r>
              <a:rPr lang="zh-CN" altLang="zh-CN" sz="2400" kern="100" dirty="0">
                <a:effectLst/>
                <a:latin typeface="Times New Roman" panose="02020603050405020304" pitchFamily="18" charset="0"/>
                <a:ea typeface="宋体" pitchFamily="2" charset="-122"/>
              </a:rPr>
              <a:t>例</a:t>
            </a:r>
            <a:r>
              <a:rPr lang="zh-CN" altLang="en-US"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rPr>
              <a:t>某个景区的门票价格是这样规定的：</a:t>
            </a:r>
            <a:r>
              <a:rPr lang="en-US" altLang="zh-CN" sz="2400" kern="100" dirty="0">
                <a:effectLst/>
                <a:latin typeface="Times New Roman" panose="02020603050405020304" pitchFamily="18" charset="0"/>
                <a:ea typeface="宋体" pitchFamily="2" charset="-122"/>
              </a:rPr>
              <a:t>5</a:t>
            </a:r>
            <a:r>
              <a:rPr lang="zh-CN" altLang="zh-CN" sz="2400" kern="100" dirty="0">
                <a:effectLst/>
                <a:latin typeface="Times New Roman" panose="02020603050405020304" pitchFamily="18" charset="0"/>
                <a:ea typeface="宋体" pitchFamily="2" charset="-122"/>
              </a:rPr>
              <a:t>岁以下儿童免费；</a:t>
            </a:r>
            <a:r>
              <a:rPr lang="en-US" altLang="zh-CN" sz="2400" kern="100" dirty="0">
                <a:effectLst/>
                <a:latin typeface="Times New Roman" panose="02020603050405020304" pitchFamily="18" charset="0"/>
                <a:ea typeface="宋体" pitchFamily="2" charset="-122"/>
              </a:rPr>
              <a:t>18</a:t>
            </a:r>
            <a:r>
              <a:rPr lang="zh-CN" altLang="zh-CN" sz="2400" kern="100" dirty="0">
                <a:effectLst/>
                <a:latin typeface="Times New Roman" panose="02020603050405020304" pitchFamily="18" charset="0"/>
                <a:ea typeface="宋体" pitchFamily="2" charset="-122"/>
              </a:rPr>
              <a:t>岁以下儿童票价为</a:t>
            </a:r>
            <a:r>
              <a:rPr lang="en-US" altLang="zh-CN" sz="2400" kern="100" dirty="0">
                <a:effectLst/>
                <a:latin typeface="Times New Roman" panose="02020603050405020304" pitchFamily="18" charset="0"/>
                <a:ea typeface="宋体" pitchFamily="2" charset="-122"/>
              </a:rPr>
              <a:t>15</a:t>
            </a:r>
            <a:r>
              <a:rPr lang="zh-CN" altLang="zh-CN" sz="2400" kern="100" dirty="0">
                <a:effectLst/>
                <a:latin typeface="Times New Roman" panose="02020603050405020304" pitchFamily="18" charset="0"/>
                <a:ea typeface="宋体" pitchFamily="2" charset="-122"/>
              </a:rPr>
              <a:t>元；</a:t>
            </a:r>
            <a:r>
              <a:rPr lang="en-US" altLang="zh-CN" sz="2400" kern="100" dirty="0">
                <a:effectLst/>
                <a:latin typeface="Times New Roman" panose="02020603050405020304" pitchFamily="18" charset="0"/>
                <a:ea typeface="宋体" pitchFamily="2" charset="-122"/>
              </a:rPr>
              <a:t>60</a:t>
            </a:r>
            <a:r>
              <a:rPr lang="zh-CN" altLang="zh-CN" sz="2400" kern="100" dirty="0">
                <a:effectLst/>
                <a:latin typeface="Times New Roman" panose="02020603050405020304" pitchFamily="18" charset="0"/>
                <a:ea typeface="宋体" pitchFamily="2" charset="-122"/>
              </a:rPr>
              <a:t>岁以上老人票价为</a:t>
            </a:r>
            <a:r>
              <a:rPr lang="en-US" altLang="zh-CN" sz="2400" kern="100" dirty="0">
                <a:effectLst/>
                <a:latin typeface="Times New Roman" panose="02020603050405020304" pitchFamily="18" charset="0"/>
                <a:ea typeface="宋体" pitchFamily="2" charset="-122"/>
              </a:rPr>
              <a:t>20</a:t>
            </a:r>
            <a:r>
              <a:rPr lang="zh-CN" altLang="zh-CN" sz="2400" kern="100" dirty="0">
                <a:effectLst/>
                <a:latin typeface="Times New Roman" panose="02020603050405020304" pitchFamily="18" charset="0"/>
                <a:ea typeface="宋体" pitchFamily="2" charset="-122"/>
              </a:rPr>
              <a:t>元；其余情况票价为</a:t>
            </a:r>
            <a:r>
              <a:rPr lang="en-US" altLang="zh-CN" sz="2400" kern="100" dirty="0">
                <a:effectLst/>
                <a:latin typeface="Times New Roman" panose="02020603050405020304" pitchFamily="18" charset="0"/>
                <a:ea typeface="宋体" pitchFamily="2" charset="-122"/>
              </a:rPr>
              <a:t>30</a:t>
            </a:r>
            <a:r>
              <a:rPr lang="zh-CN" altLang="zh-CN" sz="2400" kern="100" dirty="0">
                <a:effectLst/>
                <a:latin typeface="Times New Roman" panose="02020603050405020304" pitchFamily="18" charset="0"/>
                <a:ea typeface="宋体" pitchFamily="2" charset="-122"/>
              </a:rPr>
              <a:t>元。</a:t>
            </a:r>
            <a:endParaRPr lang="zh-CN" altLang="zh-CN" sz="2400" kern="100" dirty="0">
              <a:effectLst/>
              <a:latin typeface="Times New Roman" panose="02020603050405020304" pitchFamily="18" charset="0"/>
              <a:ea typeface="宋体" pitchFamily="2" charset="-122"/>
            </a:endParaRPr>
          </a:p>
        </p:txBody>
      </p:sp>
      <p:sp>
        <p:nvSpPr>
          <p:cNvPr id="8" name="文本框 7"/>
          <p:cNvSpPr txBox="1"/>
          <p:nvPr/>
        </p:nvSpPr>
        <p:spPr>
          <a:xfrm>
            <a:off x="2264941" y="2997746"/>
            <a:ext cx="4585792" cy="3416320"/>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例子</a:t>
            </a:r>
            <a:r>
              <a:rPr lang="en-US" altLang="zh-CN" sz="2400" kern="100" dirty="0">
                <a:solidFill>
                  <a:srgbClr val="000000"/>
                </a:solidFill>
                <a:effectLst/>
                <a:latin typeface="Times New Roman" panose="02020603050405020304" pitchFamily="18" charset="0"/>
                <a:ea typeface="宋体" pitchFamily="2" charset="-122"/>
              </a:rPr>
              <a:t>16</a:t>
            </a:r>
            <a:r>
              <a:rPr lang="zh-CN" altLang="en-US" sz="2400" kern="100" dirty="0">
                <a:solidFill>
                  <a:srgbClr val="000000"/>
                </a:solidFill>
                <a:effectLst/>
                <a:latin typeface="Times New Roman" panose="02020603050405020304" pitchFamily="18" charset="0"/>
                <a:ea typeface="宋体" pitchFamily="2" charset="-122"/>
              </a:rPr>
              <a:t>：</a:t>
            </a:r>
            <a:r>
              <a:rPr lang="en-US" altLang="zh-CN" sz="2400" kern="100" dirty="0">
                <a:solidFill>
                  <a:srgbClr val="000000"/>
                </a:solidFill>
                <a:effectLst/>
                <a:latin typeface="Times New Roman" panose="02020603050405020304" pitchFamily="18" charset="0"/>
                <a:ea typeface="宋体" pitchFamily="2" charset="-122"/>
              </a:rPr>
              <a:t>if-</a:t>
            </a:r>
            <a:r>
              <a:rPr lang="en-US" altLang="zh-CN" sz="2400" kern="100" dirty="0" err="1">
                <a:solidFill>
                  <a:srgbClr val="000000"/>
                </a:solidFill>
                <a:effectLst/>
                <a:latin typeface="Times New Roman" panose="02020603050405020304" pitchFamily="18" charset="0"/>
                <a:ea typeface="宋体" pitchFamily="2" charset="-122"/>
              </a:rPr>
              <a:t>elif</a:t>
            </a:r>
            <a:r>
              <a:rPr lang="en-US" altLang="zh-CN" sz="2400" kern="100" dirty="0">
                <a:solidFill>
                  <a:srgbClr val="000000"/>
                </a:solidFill>
                <a:effectLst/>
                <a:latin typeface="Times New Roman" panose="02020603050405020304" pitchFamily="18" charset="0"/>
                <a:ea typeface="宋体" pitchFamily="2" charset="-122"/>
              </a:rPr>
              <a:t>-else</a:t>
            </a:r>
            <a:r>
              <a:rPr lang="zh-CN" altLang="en-US" sz="2400" kern="100" dirty="0">
                <a:solidFill>
                  <a:srgbClr val="000000"/>
                </a:solidFill>
                <a:effectLst/>
                <a:latin typeface="Times New Roman" panose="02020603050405020304" pitchFamily="18" charset="0"/>
                <a:ea typeface="宋体" pitchFamily="2" charset="-122"/>
              </a:rPr>
              <a:t>使用</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if  age &lt; 5:  </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price = 0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err="1">
                <a:solidFill>
                  <a:srgbClr val="000000"/>
                </a:solidFill>
                <a:effectLst/>
                <a:latin typeface="Times New Roman" panose="02020603050405020304" pitchFamily="18" charset="0"/>
                <a:ea typeface="宋体" pitchFamily="2" charset="-122"/>
              </a:rPr>
              <a:t>elif</a:t>
            </a:r>
            <a:r>
              <a:rPr lang="en-US" altLang="zh-CN" sz="2400" kern="100" dirty="0">
                <a:solidFill>
                  <a:srgbClr val="000000"/>
                </a:solidFill>
                <a:effectLst/>
                <a:latin typeface="Times New Roman" panose="02020603050405020304" pitchFamily="18" charset="0"/>
                <a:ea typeface="宋体" pitchFamily="2" charset="-122"/>
              </a:rPr>
              <a:t>  age &lt; 18: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price = 15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err="1">
                <a:solidFill>
                  <a:srgbClr val="000000"/>
                </a:solidFill>
                <a:effectLst/>
                <a:latin typeface="Times New Roman" panose="02020603050405020304" pitchFamily="18" charset="0"/>
                <a:ea typeface="宋体" pitchFamily="2" charset="-122"/>
              </a:rPr>
              <a:t>elif</a:t>
            </a:r>
            <a:r>
              <a:rPr lang="en-US" altLang="zh-CN" sz="2400" kern="100" dirty="0">
                <a:solidFill>
                  <a:srgbClr val="000000"/>
                </a:solidFill>
                <a:effectLst/>
                <a:latin typeface="Times New Roman" panose="02020603050405020304" pitchFamily="18" charset="0"/>
                <a:ea typeface="宋体" pitchFamily="2" charset="-122"/>
              </a:rPr>
              <a:t>  age &gt; 60: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price = 20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else: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price = 30  </a:t>
            </a:r>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176306" y="1761384"/>
            <a:ext cx="8893274" cy="1569660"/>
          </a:xfrm>
          <a:prstGeom prst="rect">
            <a:avLst/>
          </a:prstGeom>
          <a:noFill/>
        </p:spPr>
        <p:txBody>
          <a:bodyPr wrap="square">
            <a:spAutoFit/>
          </a:bodyPr>
          <a:lstStyle/>
          <a:p>
            <a:pPr indent="266700" algn="just"/>
            <a:r>
              <a:rPr lang="zh-CN" altLang="zh-CN" sz="2400" kern="100" dirty="0">
                <a:solidFill>
                  <a:srgbClr val="FF0000"/>
                </a:solidFill>
                <a:effectLst/>
                <a:latin typeface="Times New Roman" panose="02020603050405020304" pitchFamily="18" charset="0"/>
                <a:ea typeface="宋体" pitchFamily="2" charset="-122"/>
              </a:rPr>
              <a:t>字典经常用来存储一个对象的多种属性</a:t>
            </a:r>
            <a:r>
              <a:rPr lang="zh-CN" altLang="zh-CN" sz="2400" kern="100" dirty="0">
                <a:effectLst/>
                <a:latin typeface="Times New Roman" panose="02020603050405020304" pitchFamily="18" charset="0"/>
                <a:ea typeface="宋体" pitchFamily="2" charset="-122"/>
              </a:rPr>
              <a:t>。构成方式为一系列键值对，每个键与一个值相关联，可以使用键来访问对应的值。</a:t>
            </a:r>
            <a:endParaRPr lang="en-US" altLang="zh-CN" sz="2400" kern="100" dirty="0">
              <a:effectLst/>
              <a:latin typeface="Times New Roman" panose="02020603050405020304" pitchFamily="18" charset="0"/>
              <a:ea typeface="宋体" pitchFamily="2" charset="-122"/>
            </a:endParaRPr>
          </a:p>
          <a:p>
            <a:pPr indent="266700" algn="just"/>
            <a:r>
              <a:rPr lang="zh-CN" altLang="zh-CN" sz="2400" kern="100" dirty="0">
                <a:effectLst/>
                <a:latin typeface="Times New Roman" panose="02020603050405020304" pitchFamily="18" charset="0"/>
                <a:ea typeface="宋体" pitchFamily="2" charset="-122"/>
              </a:rPr>
              <a:t>字典用</a:t>
            </a:r>
            <a:r>
              <a:rPr lang="en-US" altLang="zh-CN" sz="2400" kern="100" dirty="0">
                <a:effectLst/>
                <a:latin typeface="Times New Roman" panose="02020603050405020304" pitchFamily="18" charset="0"/>
                <a:ea typeface="宋体" pitchFamily="2" charset="-122"/>
              </a:rPr>
              <a:t>{ }</a:t>
            </a:r>
            <a:r>
              <a:rPr lang="zh-CN" altLang="zh-CN" sz="2400" kern="100" dirty="0">
                <a:effectLst/>
                <a:latin typeface="Times New Roman" panose="02020603050405020304" pitchFamily="18" charset="0"/>
                <a:ea typeface="宋体" pitchFamily="2" charset="-122"/>
              </a:rPr>
              <a:t>表示，键与对应值之间用冒号分隔开，每个键值对之间用逗号分隔开。</a:t>
            </a:r>
            <a:endParaRPr lang="zh-CN" altLang="zh-CN" sz="1800" kern="100" dirty="0">
              <a:effectLst/>
              <a:latin typeface="Times New Roman" panose="02020603050405020304" pitchFamily="18" charset="0"/>
              <a:ea typeface="宋体" pitchFamily="2" charset="-122"/>
            </a:endParaRPr>
          </a:p>
        </p:txBody>
      </p:sp>
      <p:sp>
        <p:nvSpPr>
          <p:cNvPr id="8" name="文本框 7"/>
          <p:cNvSpPr txBox="1"/>
          <p:nvPr/>
        </p:nvSpPr>
        <p:spPr>
          <a:xfrm>
            <a:off x="712183" y="3308143"/>
            <a:ext cx="4585792" cy="3416320"/>
          </a:xfrm>
          <a:prstGeom prst="rect">
            <a:avLst/>
          </a:prstGeom>
          <a:solidFill>
            <a:schemeClr val="tx2">
              <a:lumMod val="20000"/>
              <a:lumOff val="80000"/>
            </a:schemeClr>
          </a:solidFill>
        </p:spPr>
        <p:txBody>
          <a:bodyPr wrap="square">
            <a:spAutoFit/>
          </a:bodyPr>
          <a:lstStyle>
            <a:defPPr>
              <a:defRPr lang="zh-CN"/>
            </a:defPPr>
            <a:lvl1pPr indent="266700" fontAlgn="ctr">
              <a:defRPr sz="1800" kern="100">
                <a:solidFill>
                  <a:srgbClr val="000000"/>
                </a:solidFill>
                <a:effectLst/>
                <a:latin typeface="Times New Roman" panose="02020603050405020304" pitchFamily="18" charset="0"/>
                <a:ea typeface="宋体" pitchFamily="2" charset="-122"/>
              </a:defRPr>
            </a:lvl1pPr>
          </a:lstStyle>
          <a:p>
            <a:r>
              <a:rPr lang="zh-CN" altLang="en-US" sz="2400" dirty="0"/>
              <a:t>例子</a:t>
            </a:r>
            <a:r>
              <a:rPr lang="en-US" altLang="zh-CN" sz="2400" dirty="0"/>
              <a:t>17</a:t>
            </a:r>
            <a:r>
              <a:rPr lang="zh-CN" altLang="en-US" sz="2400" dirty="0"/>
              <a:t> 字典的使用：</a:t>
            </a:r>
            <a:endParaRPr lang="en-US" altLang="zh-CN" sz="2400" dirty="0"/>
          </a:p>
          <a:p>
            <a:r>
              <a:rPr lang="en-US" altLang="zh-CN" sz="2400" dirty="0"/>
              <a:t>id = {  </a:t>
            </a:r>
            <a:endParaRPr lang="zh-CN" altLang="zh-CN" sz="2400" dirty="0"/>
          </a:p>
          <a:p>
            <a:r>
              <a:rPr lang="en-US" altLang="zh-CN" sz="2400" dirty="0"/>
              <a:t>    'name' : 'Zed',  </a:t>
            </a:r>
            <a:endParaRPr lang="zh-CN" altLang="zh-CN" sz="2400" dirty="0"/>
          </a:p>
          <a:p>
            <a:r>
              <a:rPr lang="en-US" altLang="zh-CN" sz="2400" dirty="0"/>
              <a:t>    'gender' : 'male',  </a:t>
            </a:r>
            <a:endParaRPr lang="zh-CN" altLang="zh-CN" sz="2400" dirty="0"/>
          </a:p>
          <a:p>
            <a:r>
              <a:rPr lang="en-US" altLang="zh-CN" sz="2400" dirty="0"/>
              <a:t>    'profession' : 'Ninja'  </a:t>
            </a:r>
            <a:endParaRPr lang="zh-CN" altLang="zh-CN" sz="2400" dirty="0"/>
          </a:p>
          <a:p>
            <a:r>
              <a:rPr lang="en-US" altLang="zh-CN" sz="2400" dirty="0"/>
              <a:t>    } </a:t>
            </a:r>
            <a:endParaRPr lang="en-US" altLang="zh-CN" sz="2400" dirty="0"/>
          </a:p>
          <a:p>
            <a:r>
              <a:rPr lang="en-US" altLang="zh-CN" sz="2400" dirty="0"/>
              <a:t>print(id['name'])  </a:t>
            </a:r>
            <a:endParaRPr lang="zh-CN" altLang="zh-CN" sz="2400" dirty="0"/>
          </a:p>
          <a:p>
            <a:r>
              <a:rPr lang="en-US" altLang="zh-CN" sz="2400" dirty="0"/>
              <a:t>print(id['gender'])  </a:t>
            </a:r>
            <a:endParaRPr lang="zh-CN" altLang="zh-CN" sz="2400" dirty="0"/>
          </a:p>
          <a:p>
            <a:r>
              <a:rPr lang="en-US" altLang="zh-CN" sz="2400" dirty="0"/>
              <a:t>print(id['profession'])</a:t>
            </a:r>
            <a:endParaRPr lang="zh-CN" altLang="zh-CN" sz="2400" dirty="0"/>
          </a:p>
        </p:txBody>
      </p:sp>
      <p:sp>
        <p:nvSpPr>
          <p:cNvPr id="12" name="文本框 11"/>
          <p:cNvSpPr txBox="1"/>
          <p:nvPr/>
        </p:nvSpPr>
        <p:spPr>
          <a:xfrm>
            <a:off x="5833853" y="4427944"/>
            <a:ext cx="2699382" cy="1569660"/>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a:t>
            </a:r>
            <a:r>
              <a:rPr lang="en-US" altLang="zh-CN" sz="2400" kern="100" dirty="0">
                <a:solidFill>
                  <a:srgbClr val="000000"/>
                </a:solidFill>
                <a:effectLst/>
                <a:latin typeface="Times New Roman" panose="02020603050405020304" pitchFamily="18" charset="0"/>
                <a:ea typeface="宋体" pitchFamily="2" charset="-122"/>
              </a:rPr>
              <a:t>17</a:t>
            </a:r>
            <a:r>
              <a:rPr lang="zh-CN" altLang="en-US" sz="2400" kern="100" dirty="0">
                <a:solidFill>
                  <a:srgbClr val="000000"/>
                </a:solidFill>
                <a:effectLst/>
                <a:latin typeface="Times New Roman" panose="02020603050405020304" pitchFamily="18" charset="0"/>
                <a:ea typeface="宋体" pitchFamily="2" charset="-122"/>
              </a:rPr>
              <a:t> 运行结果：</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Zed</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Male</a:t>
            </a:r>
            <a:endParaRPr lang="zh-CN" altLang="zh-CN" sz="2400" kern="100" dirty="0">
              <a:effectLst/>
              <a:latin typeface="Times New Roman" panose="02020603050405020304" pitchFamily="18" charset="0"/>
              <a:ea typeface="宋体" pitchFamily="2" charset="-122"/>
            </a:endParaRPr>
          </a:p>
          <a:p>
            <a:r>
              <a:rPr lang="en-US" altLang="zh-CN" sz="2400" kern="100" dirty="0">
                <a:effectLst/>
                <a:latin typeface="Times New Roman" panose="02020603050405020304" pitchFamily="18" charset="0"/>
                <a:ea typeface="宋体" pitchFamily="2" charset="-122"/>
              </a:rPr>
              <a:t>    Ninja</a:t>
            </a:r>
            <a:endParaRPr lang="zh-CN" altLang="en-US" sz="2400" dirty="0"/>
          </a:p>
        </p:txBody>
      </p:sp>
      <p:sp>
        <p:nvSpPr>
          <p:cNvPr id="2" name="文本框 1"/>
          <p:cNvSpPr txBox="1"/>
          <p:nvPr/>
        </p:nvSpPr>
        <p:spPr>
          <a:xfrm>
            <a:off x="21270" y="1215659"/>
            <a:ext cx="2520280" cy="461665"/>
          </a:xfrm>
          <a:prstGeom prst="rect">
            <a:avLst/>
          </a:prstGeom>
          <a:noFill/>
        </p:spPr>
        <p:txBody>
          <a:bodyPr wrap="square" rtlCol="0">
            <a:spAutoFit/>
          </a:bodyPr>
          <a:lstStyle/>
          <a:p>
            <a:r>
              <a:rPr lang="en-US" altLang="zh-CN" sz="2400" b="1" dirty="0"/>
              <a:t>2.2.6 </a:t>
            </a:r>
            <a:r>
              <a:rPr lang="zh-CN" altLang="en-US" sz="2400" b="1" dirty="0"/>
              <a:t>字典</a:t>
            </a:r>
            <a:endParaRPr lang="zh-CN" altLang="en-US" sz="2400" b="1" dirty="0"/>
          </a:p>
        </p:txBody>
      </p:sp>
    </p:spTree>
  </p:cSld>
  <p:clrMapOvr>
    <a:masterClrMapping/>
  </p:clrMapOvr>
  <p:transition spd="slow" advClick="0" advTm="0">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111200" y="1189585"/>
            <a:ext cx="8893274" cy="830997"/>
          </a:xfrm>
          <a:prstGeom prst="rect">
            <a:avLst/>
          </a:prstGeom>
          <a:noFill/>
        </p:spPr>
        <p:txBody>
          <a:bodyPr wrap="square">
            <a:spAutoFit/>
          </a:bodyPr>
          <a:lstStyle/>
          <a:p>
            <a:pPr indent="266700" algn="just"/>
            <a:r>
              <a:rPr lang="zh-CN" altLang="en-US" sz="2400" kern="100" dirty="0">
                <a:effectLst/>
                <a:latin typeface="Times New Roman" panose="02020603050405020304" pitchFamily="18" charset="0"/>
                <a:ea typeface="宋体" pitchFamily="2" charset="-122"/>
              </a:rPr>
              <a:t>当</a:t>
            </a:r>
            <a:r>
              <a:rPr lang="zh-CN" altLang="zh-CN" sz="2400" kern="100" dirty="0">
                <a:effectLst/>
                <a:latin typeface="Times New Roman" panose="02020603050405020304" pitchFamily="18" charset="0"/>
                <a:ea typeface="宋体" pitchFamily="2" charset="-122"/>
              </a:rPr>
              <a:t>字典内有很多个键值对，</a:t>
            </a:r>
            <a:r>
              <a:rPr lang="zh-CN" altLang="en-US" sz="2400" kern="100" dirty="0">
                <a:effectLst/>
                <a:latin typeface="Times New Roman" panose="02020603050405020304" pitchFamily="18" charset="0"/>
                <a:ea typeface="宋体" pitchFamily="2" charset="-122"/>
              </a:rPr>
              <a:t>为提高访问效率，</a:t>
            </a:r>
            <a:r>
              <a:rPr lang="zh-CN" altLang="zh-CN" sz="2400" kern="100" dirty="0">
                <a:effectLst/>
                <a:latin typeface="Times New Roman" panose="02020603050405020304" pitchFamily="18" charset="0"/>
                <a:ea typeface="宋体" pitchFamily="2" charset="-122"/>
              </a:rPr>
              <a:t>可以使用</a:t>
            </a:r>
            <a:r>
              <a:rPr lang="zh-CN" altLang="zh-CN" sz="2400" kern="100" dirty="0">
                <a:solidFill>
                  <a:srgbClr val="FF0000"/>
                </a:solidFill>
                <a:effectLst/>
                <a:latin typeface="Times New Roman" panose="02020603050405020304" pitchFamily="18" charset="0"/>
                <a:ea typeface="宋体" pitchFamily="2" charset="-122"/>
              </a:rPr>
              <a:t>循环</a:t>
            </a:r>
            <a:r>
              <a:rPr lang="zh-CN" altLang="zh-CN" sz="2400" kern="100" dirty="0">
                <a:effectLst/>
                <a:latin typeface="Times New Roman" panose="02020603050405020304" pitchFamily="18" charset="0"/>
                <a:ea typeface="宋体" pitchFamily="2" charset="-122"/>
              </a:rPr>
              <a:t>来遍历字典</a:t>
            </a:r>
            <a:r>
              <a:rPr lang="zh-CN" altLang="en-US" sz="2400" kern="100" dirty="0">
                <a:effectLst/>
                <a:latin typeface="Times New Roman" panose="02020603050405020304" pitchFamily="18" charset="0"/>
                <a:ea typeface="宋体" pitchFamily="2" charset="-122"/>
              </a:rPr>
              <a:t>。</a:t>
            </a:r>
            <a:endParaRPr lang="zh-CN" altLang="zh-CN" sz="2400" kern="100" dirty="0">
              <a:effectLst/>
              <a:latin typeface="Times New Roman" panose="02020603050405020304" pitchFamily="18" charset="0"/>
              <a:ea typeface="宋体" pitchFamily="2" charset="-122"/>
            </a:endParaRPr>
          </a:p>
        </p:txBody>
      </p:sp>
      <p:sp>
        <p:nvSpPr>
          <p:cNvPr id="8" name="文本框 7"/>
          <p:cNvSpPr txBox="1"/>
          <p:nvPr/>
        </p:nvSpPr>
        <p:spPr>
          <a:xfrm>
            <a:off x="682770" y="2336504"/>
            <a:ext cx="4585792" cy="4154984"/>
          </a:xfrm>
          <a:prstGeom prst="rect">
            <a:avLst/>
          </a:prstGeom>
          <a:solidFill>
            <a:schemeClr val="tx2">
              <a:lumMod val="20000"/>
              <a:lumOff val="80000"/>
            </a:schemeClr>
          </a:solidFill>
        </p:spPr>
        <p:txBody>
          <a:bodyPr wrap="square">
            <a:spAutoFit/>
          </a:bodyPr>
          <a:lstStyle>
            <a:defPPr>
              <a:defRPr lang="zh-CN"/>
            </a:defPPr>
            <a:lvl1pPr indent="266700" fontAlgn="ctr">
              <a:defRPr sz="1800" kern="100">
                <a:solidFill>
                  <a:srgbClr val="000000"/>
                </a:solidFill>
                <a:effectLst/>
                <a:latin typeface="Times New Roman" panose="02020603050405020304" pitchFamily="18" charset="0"/>
                <a:ea typeface="宋体" pitchFamily="2" charset="-122"/>
              </a:defRPr>
            </a:lvl1pPr>
          </a:lstStyle>
          <a:p>
            <a:r>
              <a:rPr lang="zh-CN" altLang="en-US" sz="2400" dirty="0"/>
              <a:t>例子</a:t>
            </a:r>
            <a:r>
              <a:rPr lang="en-US" altLang="zh-CN" sz="2400" dirty="0"/>
              <a:t>18</a:t>
            </a:r>
            <a:r>
              <a:rPr lang="zh-CN" altLang="en-US" sz="2400" dirty="0"/>
              <a:t> 字典的使用：</a:t>
            </a:r>
            <a:endParaRPr lang="en-US" altLang="zh-CN" sz="2400" dirty="0"/>
          </a:p>
          <a:p>
            <a:r>
              <a:rPr lang="en-US" altLang="zh-CN" sz="2400" dirty="0"/>
              <a:t>id = { </a:t>
            </a:r>
            <a:endParaRPr lang="zh-CN" altLang="zh-CN" sz="2400" dirty="0"/>
          </a:p>
          <a:p>
            <a:r>
              <a:rPr lang="en-US" altLang="zh-CN" sz="2400" dirty="0"/>
              <a:t>'</a:t>
            </a:r>
            <a:r>
              <a:rPr lang="en-US" altLang="zh-CN" sz="2400" dirty="0" err="1"/>
              <a:t>name':'Zed</a:t>
            </a:r>
            <a:r>
              <a:rPr lang="en-US" altLang="zh-CN" sz="2400" dirty="0"/>
              <a:t>',</a:t>
            </a:r>
            <a:endParaRPr lang="zh-CN" altLang="zh-CN" sz="2400" dirty="0"/>
          </a:p>
          <a:p>
            <a:r>
              <a:rPr lang="en-US" altLang="zh-CN" sz="2400" dirty="0"/>
              <a:t> 	'gender' : 'male', </a:t>
            </a:r>
            <a:endParaRPr lang="zh-CN" altLang="zh-CN" sz="2400" dirty="0"/>
          </a:p>
          <a:p>
            <a:r>
              <a:rPr lang="en-US" altLang="zh-CN" sz="2400" dirty="0"/>
              <a:t>     'profession' : 'Ninja'  </a:t>
            </a:r>
            <a:endParaRPr lang="zh-CN" altLang="zh-CN" sz="2400" dirty="0"/>
          </a:p>
          <a:p>
            <a:r>
              <a:rPr lang="en-US" altLang="zh-CN" sz="2400" dirty="0"/>
              <a:t>     }   </a:t>
            </a:r>
            <a:endParaRPr lang="zh-CN" altLang="zh-CN" sz="2400" dirty="0"/>
          </a:p>
          <a:p>
            <a:r>
              <a:rPr lang="en-US" altLang="zh-CN" sz="2400" dirty="0"/>
              <a:t>#</a:t>
            </a:r>
            <a:r>
              <a:rPr lang="zh-CN" altLang="zh-CN" sz="2400" dirty="0"/>
              <a:t>方法</a:t>
            </a:r>
            <a:r>
              <a:rPr lang="en-US" altLang="zh-CN" sz="2400" dirty="0"/>
              <a:t>items()</a:t>
            </a:r>
            <a:r>
              <a:rPr lang="zh-CN" altLang="zh-CN" sz="2400" dirty="0"/>
              <a:t>返回一个键值对列表</a:t>
            </a:r>
            <a:r>
              <a:rPr lang="en-US" altLang="zh-CN" sz="2400" dirty="0"/>
              <a:t>  </a:t>
            </a:r>
            <a:endParaRPr lang="zh-CN" altLang="zh-CN" sz="2400" dirty="0"/>
          </a:p>
          <a:p>
            <a:r>
              <a:rPr lang="en-US" altLang="zh-CN" sz="2400" dirty="0"/>
              <a:t>for </a:t>
            </a:r>
            <a:r>
              <a:rPr lang="en-US" altLang="zh-CN" sz="2400" dirty="0" err="1"/>
              <a:t>key,value</a:t>
            </a:r>
            <a:r>
              <a:rPr lang="en-US" altLang="zh-CN" sz="2400" dirty="0"/>
              <a:t> in </a:t>
            </a:r>
            <a:r>
              <a:rPr lang="en-US" altLang="zh-CN" sz="2400" dirty="0" err="1"/>
              <a:t>id.items</a:t>
            </a:r>
            <a:r>
              <a:rPr lang="en-US" altLang="zh-CN" sz="2400" dirty="0"/>
              <a:t>():  </a:t>
            </a:r>
            <a:endParaRPr lang="zh-CN" altLang="zh-CN" sz="2400" dirty="0"/>
          </a:p>
          <a:p>
            <a:r>
              <a:rPr lang="en-US" altLang="zh-CN" sz="2400" dirty="0"/>
              <a:t>    print('key: ' + key) </a:t>
            </a:r>
            <a:endParaRPr lang="en-US" altLang="zh-CN" sz="2400" dirty="0"/>
          </a:p>
          <a:p>
            <a:r>
              <a:rPr lang="en-US" altLang="zh-CN" sz="2400" dirty="0"/>
              <a:t>    print('value: ' + value) </a:t>
            </a:r>
            <a:endParaRPr lang="zh-CN" altLang="zh-CN" sz="2400" dirty="0"/>
          </a:p>
        </p:txBody>
      </p:sp>
      <p:sp>
        <p:nvSpPr>
          <p:cNvPr id="12" name="文本框 11"/>
          <p:cNvSpPr txBox="1"/>
          <p:nvPr/>
        </p:nvSpPr>
        <p:spPr>
          <a:xfrm>
            <a:off x="5801381" y="3285778"/>
            <a:ext cx="3194256" cy="2677656"/>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例子</a:t>
            </a:r>
            <a:r>
              <a:rPr lang="en-US" altLang="zh-CN" sz="2400" kern="100" dirty="0">
                <a:solidFill>
                  <a:srgbClr val="000000"/>
                </a:solidFill>
                <a:effectLst/>
                <a:latin typeface="Times New Roman" panose="02020603050405020304" pitchFamily="18" charset="0"/>
                <a:ea typeface="宋体" pitchFamily="2" charset="-122"/>
              </a:rPr>
              <a:t>18</a:t>
            </a:r>
            <a:r>
              <a:rPr lang="zh-CN" altLang="en-US" sz="2400" kern="100" dirty="0">
                <a:solidFill>
                  <a:srgbClr val="000000"/>
                </a:solidFill>
                <a:effectLst/>
                <a:latin typeface="Times New Roman" panose="02020603050405020304" pitchFamily="18" charset="0"/>
                <a:ea typeface="宋体" pitchFamily="2" charset="-122"/>
              </a:rPr>
              <a:t> 运行结果：</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key: name</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value: Zed</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key: gender</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value: male</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key: profession</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value: Ninja </a:t>
            </a:r>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111200" y="1189585"/>
            <a:ext cx="8893274" cy="830997"/>
          </a:xfrm>
          <a:prstGeom prst="rect">
            <a:avLst/>
          </a:prstGeom>
          <a:noFill/>
        </p:spPr>
        <p:txBody>
          <a:bodyPr wrap="square">
            <a:spAutoFit/>
          </a:bodyPr>
          <a:lstStyle/>
          <a:p>
            <a:pPr indent="266700" algn="just"/>
            <a:r>
              <a:rPr lang="zh-CN" altLang="zh-CN" sz="2400" kern="100" dirty="0">
                <a:effectLst/>
                <a:ea typeface="宋体" pitchFamily="2" charset="-122"/>
                <a:cs typeface="Times New Roman" panose="02020603050405020304" pitchFamily="18" charset="0"/>
              </a:rPr>
              <a:t>如果只需要字典中的键或值，可以将</a:t>
            </a:r>
            <a:r>
              <a:rPr lang="en-US" altLang="zh-CN" sz="2400" kern="100" dirty="0">
                <a:solidFill>
                  <a:srgbClr val="FF0000"/>
                </a:solidFill>
                <a:effectLst/>
                <a:latin typeface="Times New Roman" panose="02020603050405020304" pitchFamily="18" charset="0"/>
                <a:ea typeface="宋体" pitchFamily="2" charset="-122"/>
              </a:rPr>
              <a:t>items( )</a:t>
            </a:r>
            <a:r>
              <a:rPr lang="zh-CN" altLang="zh-CN" sz="2400" kern="100" dirty="0">
                <a:solidFill>
                  <a:srgbClr val="FF0000"/>
                </a:solidFill>
                <a:effectLst/>
                <a:ea typeface="宋体" pitchFamily="2" charset="-122"/>
                <a:cs typeface="Times New Roman" panose="02020603050405020304" pitchFamily="18" charset="0"/>
              </a:rPr>
              <a:t>改为</a:t>
            </a:r>
            <a:r>
              <a:rPr lang="en-US" altLang="zh-CN" sz="2400" kern="100" dirty="0">
                <a:solidFill>
                  <a:srgbClr val="FF0000"/>
                </a:solidFill>
                <a:effectLst/>
                <a:latin typeface="Times New Roman" panose="02020603050405020304" pitchFamily="18" charset="0"/>
                <a:ea typeface="宋体" pitchFamily="2" charset="-122"/>
              </a:rPr>
              <a:t>keys( )</a:t>
            </a:r>
            <a:r>
              <a:rPr lang="zh-CN" altLang="zh-CN" sz="2400" kern="100" dirty="0">
                <a:solidFill>
                  <a:srgbClr val="FF0000"/>
                </a:solidFill>
                <a:effectLst/>
                <a:ea typeface="宋体" pitchFamily="2" charset="-122"/>
                <a:cs typeface="Times New Roman" panose="02020603050405020304" pitchFamily="18" charset="0"/>
              </a:rPr>
              <a:t>或</a:t>
            </a:r>
            <a:r>
              <a:rPr lang="en-US" altLang="zh-CN" sz="2400" kern="100" dirty="0">
                <a:solidFill>
                  <a:srgbClr val="FF0000"/>
                </a:solidFill>
                <a:effectLst/>
                <a:latin typeface="Times New Roman" panose="02020603050405020304" pitchFamily="18" charset="0"/>
                <a:ea typeface="宋体" pitchFamily="2" charset="-122"/>
              </a:rPr>
              <a:t>values( )</a:t>
            </a:r>
            <a:r>
              <a:rPr lang="zh-CN" altLang="en-US" sz="2400" kern="100" dirty="0">
                <a:solidFill>
                  <a:srgbClr val="FF0000"/>
                </a:solidFill>
                <a:effectLst/>
                <a:latin typeface="Times New Roman" panose="02020603050405020304" pitchFamily="18" charset="0"/>
                <a:ea typeface="宋体" pitchFamily="2" charset="-122"/>
              </a:rPr>
              <a:t>。</a:t>
            </a:r>
            <a:endParaRPr lang="zh-CN" altLang="zh-CN" sz="2400" kern="100" dirty="0">
              <a:solidFill>
                <a:srgbClr val="FF0000"/>
              </a:solidFill>
              <a:effectLst/>
              <a:latin typeface="Times New Roman" panose="02020603050405020304" pitchFamily="18" charset="0"/>
              <a:ea typeface="宋体" pitchFamily="2" charset="-122"/>
            </a:endParaRPr>
          </a:p>
        </p:txBody>
      </p:sp>
      <p:sp>
        <p:nvSpPr>
          <p:cNvPr id="8" name="文本框 7"/>
          <p:cNvSpPr txBox="1"/>
          <p:nvPr/>
        </p:nvSpPr>
        <p:spPr>
          <a:xfrm>
            <a:off x="252314" y="2172322"/>
            <a:ext cx="5832648" cy="4154984"/>
          </a:xfrm>
          <a:prstGeom prst="rect">
            <a:avLst/>
          </a:prstGeom>
          <a:solidFill>
            <a:schemeClr val="tx2">
              <a:lumMod val="20000"/>
              <a:lumOff val="80000"/>
            </a:schemeClr>
          </a:solidFill>
        </p:spPr>
        <p:txBody>
          <a:bodyPr wrap="square">
            <a:spAutoFit/>
          </a:bodyPr>
          <a:lstStyle>
            <a:defPPr>
              <a:defRPr lang="zh-CN"/>
            </a:defPPr>
            <a:lvl1pPr indent="266700" fontAlgn="ctr">
              <a:defRPr sz="1800" kern="100">
                <a:solidFill>
                  <a:srgbClr val="000000"/>
                </a:solidFill>
                <a:effectLst/>
                <a:latin typeface="Times New Roman" panose="02020603050405020304" pitchFamily="18" charset="0"/>
                <a:ea typeface="宋体" pitchFamily="2" charset="-122"/>
              </a:defRPr>
            </a:lvl1pPr>
          </a:lstStyle>
          <a:p>
            <a:r>
              <a:rPr lang="zh-CN" altLang="en-US" sz="2400" dirty="0"/>
              <a:t>例子</a:t>
            </a:r>
            <a:r>
              <a:rPr lang="en-US" altLang="zh-CN" sz="2400" dirty="0"/>
              <a:t>19</a:t>
            </a:r>
            <a:r>
              <a:rPr lang="zh-CN" altLang="en-US" sz="2400" dirty="0"/>
              <a:t> 字典的使用：</a:t>
            </a:r>
            <a:endParaRPr lang="en-US" altLang="zh-CN" sz="2400" dirty="0"/>
          </a:p>
          <a:p>
            <a:r>
              <a:rPr lang="en-US" altLang="zh-CN" sz="2400" dirty="0"/>
              <a:t>id = {  </a:t>
            </a:r>
            <a:endParaRPr lang="zh-CN" altLang="zh-CN" sz="2400" dirty="0"/>
          </a:p>
          <a:p>
            <a:r>
              <a:rPr lang="en-US" altLang="zh-CN" sz="2400" dirty="0"/>
              <a:t>     'name' : 'Zed',  </a:t>
            </a:r>
            <a:endParaRPr lang="zh-CN" altLang="zh-CN" sz="2400" dirty="0"/>
          </a:p>
          <a:p>
            <a:r>
              <a:rPr lang="en-US" altLang="zh-CN" sz="2400" dirty="0"/>
              <a:t>     'gender' : 'male',  </a:t>
            </a:r>
            <a:endParaRPr lang="zh-CN" altLang="zh-CN" sz="2400" dirty="0"/>
          </a:p>
          <a:p>
            <a:r>
              <a:rPr lang="en-US" altLang="zh-CN" sz="2400" dirty="0"/>
              <a:t>     'profession' : 'Ninja'  </a:t>
            </a:r>
            <a:endParaRPr lang="zh-CN" altLang="zh-CN" sz="2400" dirty="0"/>
          </a:p>
          <a:p>
            <a:r>
              <a:rPr lang="en-US" altLang="zh-CN" sz="2400" dirty="0"/>
              <a:t>     }  #</a:t>
            </a:r>
            <a:r>
              <a:rPr lang="zh-CN" altLang="zh-CN" sz="2400" dirty="0"/>
              <a:t>方法</a:t>
            </a:r>
            <a:r>
              <a:rPr lang="en-US" altLang="zh-CN" sz="2400" dirty="0"/>
              <a:t>keys()</a:t>
            </a:r>
            <a:r>
              <a:rPr lang="zh-CN" altLang="zh-CN" sz="2400" dirty="0"/>
              <a:t>返回所有键组成的列表</a:t>
            </a:r>
            <a:r>
              <a:rPr lang="en-US" altLang="zh-CN" sz="2400" dirty="0"/>
              <a:t>  </a:t>
            </a:r>
            <a:endParaRPr lang="zh-CN" altLang="zh-CN" sz="2400" dirty="0"/>
          </a:p>
          <a:p>
            <a:r>
              <a:rPr lang="en-US" altLang="zh-CN" sz="2400" dirty="0"/>
              <a:t>for key in </a:t>
            </a:r>
            <a:r>
              <a:rPr lang="en-US" altLang="zh-CN" sz="2400" dirty="0" err="1"/>
              <a:t>id.keys</a:t>
            </a:r>
            <a:r>
              <a:rPr lang="en-US" altLang="zh-CN" sz="2400" dirty="0"/>
              <a:t>():  </a:t>
            </a:r>
            <a:endParaRPr lang="zh-CN" altLang="zh-CN" sz="2400" dirty="0"/>
          </a:p>
          <a:p>
            <a:r>
              <a:rPr lang="en-US" altLang="zh-CN" sz="2400" dirty="0"/>
              <a:t>    print('key: ' + key) #</a:t>
            </a:r>
            <a:r>
              <a:rPr lang="zh-CN" altLang="zh-CN" sz="2400" dirty="0"/>
              <a:t>方法</a:t>
            </a:r>
            <a:r>
              <a:rPr lang="en-US" altLang="zh-CN" sz="2400" dirty="0"/>
              <a:t>values()</a:t>
            </a:r>
            <a:r>
              <a:rPr lang="zh-CN" altLang="zh-CN" sz="2400" dirty="0"/>
              <a:t>返回所有值组成的列表</a:t>
            </a:r>
            <a:r>
              <a:rPr lang="en-US" altLang="zh-CN" sz="2400" dirty="0"/>
              <a:t>  </a:t>
            </a:r>
            <a:endParaRPr lang="zh-CN" altLang="zh-CN" sz="2400" dirty="0"/>
          </a:p>
          <a:p>
            <a:r>
              <a:rPr lang="en-US" altLang="zh-CN" sz="2400" dirty="0"/>
              <a:t>for value in </a:t>
            </a:r>
            <a:r>
              <a:rPr lang="en-US" altLang="zh-CN" sz="2400" dirty="0" err="1"/>
              <a:t>id.values</a:t>
            </a:r>
            <a:r>
              <a:rPr lang="en-US" altLang="zh-CN" sz="2400" dirty="0"/>
              <a:t>():  </a:t>
            </a:r>
            <a:endParaRPr lang="zh-CN" altLang="zh-CN" sz="2400" dirty="0"/>
          </a:p>
          <a:p>
            <a:r>
              <a:rPr lang="en-US" altLang="zh-CN" sz="2400" dirty="0"/>
              <a:t>    print('value: ' + value)  </a:t>
            </a:r>
            <a:endParaRPr lang="zh-CN" altLang="zh-CN" sz="2400" dirty="0"/>
          </a:p>
        </p:txBody>
      </p:sp>
      <p:sp>
        <p:nvSpPr>
          <p:cNvPr id="12" name="文本框 11"/>
          <p:cNvSpPr txBox="1"/>
          <p:nvPr/>
        </p:nvSpPr>
        <p:spPr>
          <a:xfrm>
            <a:off x="6192064" y="3102891"/>
            <a:ext cx="2844602" cy="2677656"/>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a:t>
            </a:r>
            <a:r>
              <a:rPr lang="en-US" altLang="zh-CN" sz="2400" kern="100" dirty="0">
                <a:solidFill>
                  <a:srgbClr val="000000"/>
                </a:solidFill>
                <a:effectLst/>
                <a:latin typeface="Times New Roman" panose="02020603050405020304" pitchFamily="18" charset="0"/>
                <a:ea typeface="宋体" pitchFamily="2" charset="-122"/>
              </a:rPr>
              <a:t>19</a:t>
            </a:r>
            <a:r>
              <a:rPr lang="zh-CN" altLang="en-US" sz="2400" kern="100" dirty="0">
                <a:solidFill>
                  <a:srgbClr val="000000"/>
                </a:solidFill>
                <a:effectLst/>
                <a:latin typeface="Times New Roman" panose="02020603050405020304" pitchFamily="18" charset="0"/>
                <a:ea typeface="宋体" pitchFamily="2" charset="-122"/>
              </a:rPr>
              <a:t> 运行结果：</a:t>
            </a:r>
            <a:endParaRPr lang="en-US" altLang="zh-CN" sz="2400" kern="100" dirty="0">
              <a:solidFill>
                <a:srgbClr val="000000"/>
              </a:solidFill>
              <a:effectLst/>
              <a:latin typeface="Times New Roman" panose="02020603050405020304" pitchFamily="18" charset="0"/>
              <a:ea typeface="宋体" pitchFamily="2" charset="-122"/>
            </a:endParaRPr>
          </a:p>
          <a:p>
            <a:pPr indent="266700" fontAlgn="ctr"/>
            <a:r>
              <a:rPr lang="en-US" altLang="zh-CN" sz="2400" kern="100" dirty="0">
                <a:solidFill>
                  <a:srgbClr val="000000"/>
                </a:solidFill>
                <a:latin typeface="Times New Roman" panose="02020603050405020304" pitchFamily="18" charset="0"/>
                <a:ea typeface="宋体" pitchFamily="2" charset="-122"/>
              </a:rPr>
              <a:t>key: name</a:t>
            </a:r>
            <a:endParaRPr lang="zh-CN" altLang="zh-CN" sz="2400" kern="100" dirty="0">
              <a:solidFill>
                <a:srgbClr val="000000"/>
              </a:solidFill>
              <a:latin typeface="Times New Roman" panose="02020603050405020304" pitchFamily="18" charset="0"/>
              <a:ea typeface="宋体" pitchFamily="2" charset="-122"/>
            </a:endParaRPr>
          </a:p>
          <a:p>
            <a:pPr indent="266700" fontAlgn="ctr"/>
            <a:r>
              <a:rPr lang="en-US" altLang="zh-CN" sz="2400" kern="100" dirty="0">
                <a:solidFill>
                  <a:srgbClr val="000000"/>
                </a:solidFill>
                <a:latin typeface="Times New Roman" panose="02020603050405020304" pitchFamily="18" charset="0"/>
                <a:ea typeface="宋体" pitchFamily="2" charset="-122"/>
              </a:rPr>
              <a:t>key: gender</a:t>
            </a:r>
            <a:endParaRPr lang="zh-CN" altLang="zh-CN" sz="2400" kern="100" dirty="0">
              <a:solidFill>
                <a:srgbClr val="000000"/>
              </a:solidFill>
              <a:latin typeface="Times New Roman" panose="02020603050405020304" pitchFamily="18" charset="0"/>
              <a:ea typeface="宋体" pitchFamily="2" charset="-122"/>
            </a:endParaRPr>
          </a:p>
          <a:p>
            <a:pPr indent="266700" fontAlgn="ctr"/>
            <a:r>
              <a:rPr lang="en-US" altLang="zh-CN" sz="2400" kern="100" dirty="0">
                <a:solidFill>
                  <a:srgbClr val="000000"/>
                </a:solidFill>
                <a:latin typeface="Times New Roman" panose="02020603050405020304" pitchFamily="18" charset="0"/>
                <a:ea typeface="宋体" pitchFamily="2" charset="-122"/>
              </a:rPr>
              <a:t>key: profession</a:t>
            </a:r>
            <a:endParaRPr lang="zh-CN" altLang="zh-CN" sz="2400" kern="100" dirty="0">
              <a:solidFill>
                <a:srgbClr val="000000"/>
              </a:solidFill>
              <a:latin typeface="Times New Roman" panose="02020603050405020304" pitchFamily="18" charset="0"/>
              <a:ea typeface="宋体" pitchFamily="2" charset="-122"/>
            </a:endParaRPr>
          </a:p>
          <a:p>
            <a:pPr indent="266700" fontAlgn="ctr"/>
            <a:r>
              <a:rPr lang="en-US" altLang="zh-CN" sz="2400" kern="100" dirty="0">
                <a:solidFill>
                  <a:srgbClr val="000000"/>
                </a:solidFill>
                <a:latin typeface="Times New Roman" panose="02020603050405020304" pitchFamily="18" charset="0"/>
                <a:ea typeface="宋体" pitchFamily="2" charset="-122"/>
              </a:rPr>
              <a:t>value: Zed</a:t>
            </a:r>
            <a:endParaRPr lang="zh-CN" altLang="zh-CN" sz="2400" kern="100" dirty="0">
              <a:solidFill>
                <a:srgbClr val="000000"/>
              </a:solidFill>
              <a:latin typeface="Times New Roman" panose="02020603050405020304" pitchFamily="18" charset="0"/>
              <a:ea typeface="宋体" pitchFamily="2" charset="-122"/>
            </a:endParaRPr>
          </a:p>
          <a:p>
            <a:pPr indent="266700" fontAlgn="ctr"/>
            <a:r>
              <a:rPr lang="en-US" altLang="zh-CN" sz="2400" kern="100" dirty="0">
                <a:solidFill>
                  <a:srgbClr val="000000"/>
                </a:solidFill>
                <a:latin typeface="Times New Roman" panose="02020603050405020304" pitchFamily="18" charset="0"/>
                <a:ea typeface="宋体" pitchFamily="2" charset="-122"/>
              </a:rPr>
              <a:t>value: male</a:t>
            </a:r>
            <a:endParaRPr lang="zh-CN" altLang="zh-CN" sz="2400" kern="100" dirty="0">
              <a:solidFill>
                <a:srgbClr val="000000"/>
              </a:solidFill>
              <a:latin typeface="Times New Roman" panose="02020603050405020304" pitchFamily="18" charset="0"/>
              <a:ea typeface="宋体" pitchFamily="2" charset="-122"/>
            </a:endParaRPr>
          </a:p>
          <a:p>
            <a:pPr indent="266700" fontAlgn="ctr"/>
            <a:r>
              <a:rPr lang="en-US" altLang="zh-CN" sz="2400" kern="100" dirty="0">
                <a:solidFill>
                  <a:srgbClr val="000000"/>
                </a:solidFill>
                <a:latin typeface="Times New Roman" panose="02020603050405020304" pitchFamily="18" charset="0"/>
                <a:ea typeface="宋体" pitchFamily="2" charset="-122"/>
              </a:rPr>
              <a:t>value: Ninja</a:t>
            </a:r>
            <a:endParaRPr lang="zh-CN" altLang="zh-CN" sz="2400" kern="100" dirty="0">
              <a:solidFill>
                <a:srgbClr val="000000"/>
              </a:solidFill>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126157" y="1198466"/>
            <a:ext cx="8893274" cy="461665"/>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cs typeface="Times New Roman" panose="02020603050405020304" pitchFamily="18" charset="0"/>
              </a:rPr>
              <a:t>类似于列表，也可以对字典元素进行增加，修改，删除等操作</a:t>
            </a:r>
            <a:r>
              <a:rPr lang="zh-CN" altLang="en-US" sz="2400" kern="100" dirty="0">
                <a:effectLst/>
                <a:latin typeface="Times New Roman" panose="02020603050405020304" pitchFamily="18" charset="0"/>
                <a:ea typeface="宋体" pitchFamily="2" charset="-122"/>
              </a:rPr>
              <a:t>。</a:t>
            </a:r>
            <a:endParaRPr lang="zh-CN" altLang="zh-CN" sz="2400" kern="100" dirty="0">
              <a:effectLst/>
              <a:latin typeface="Times New Roman" panose="02020603050405020304" pitchFamily="18" charset="0"/>
              <a:ea typeface="宋体" pitchFamily="2" charset="-122"/>
            </a:endParaRPr>
          </a:p>
        </p:txBody>
      </p:sp>
      <p:sp>
        <p:nvSpPr>
          <p:cNvPr id="8" name="文本框 7"/>
          <p:cNvSpPr txBox="1"/>
          <p:nvPr/>
        </p:nvSpPr>
        <p:spPr>
          <a:xfrm>
            <a:off x="1781939" y="1949368"/>
            <a:ext cx="5671175" cy="4524315"/>
          </a:xfrm>
          <a:prstGeom prst="rect">
            <a:avLst/>
          </a:prstGeom>
          <a:solidFill>
            <a:schemeClr val="tx2">
              <a:lumMod val="20000"/>
              <a:lumOff val="80000"/>
            </a:schemeClr>
          </a:solidFill>
        </p:spPr>
        <p:txBody>
          <a:bodyPr wrap="square">
            <a:spAutoFit/>
          </a:bodyPr>
          <a:lstStyle>
            <a:defPPr>
              <a:defRPr lang="zh-CN"/>
            </a:defPPr>
            <a:lvl1pPr indent="266700" fontAlgn="ctr">
              <a:defRPr sz="1800" kern="100">
                <a:solidFill>
                  <a:srgbClr val="000000"/>
                </a:solidFill>
                <a:effectLst/>
                <a:latin typeface="Times New Roman" panose="02020603050405020304" pitchFamily="18" charset="0"/>
                <a:ea typeface="宋体" pitchFamily="2" charset="-122"/>
              </a:defRPr>
            </a:lvl1pPr>
          </a:lstStyle>
          <a:p>
            <a:r>
              <a:rPr lang="zh-CN" altLang="en-US" sz="2400" dirty="0"/>
              <a:t>例子</a:t>
            </a:r>
            <a:r>
              <a:rPr lang="en-US" altLang="zh-CN" sz="2400" dirty="0"/>
              <a:t>20 </a:t>
            </a:r>
            <a:r>
              <a:rPr lang="zh-CN" altLang="en-US" sz="2400" dirty="0"/>
              <a:t>字典的使用：</a:t>
            </a:r>
            <a:endParaRPr lang="en-US" altLang="zh-CN" sz="2400" dirty="0"/>
          </a:p>
          <a:p>
            <a:r>
              <a:rPr lang="en-US" altLang="zh-CN" sz="2400" dirty="0"/>
              <a:t>id = {  </a:t>
            </a:r>
            <a:endParaRPr lang="zh-CN" altLang="zh-CN" sz="2400" dirty="0"/>
          </a:p>
          <a:p>
            <a:r>
              <a:rPr lang="en-US" altLang="zh-CN" sz="2400" dirty="0"/>
              <a:t>     'name' : 'Zed',  </a:t>
            </a:r>
            <a:endParaRPr lang="zh-CN" altLang="zh-CN" sz="2400" dirty="0"/>
          </a:p>
          <a:p>
            <a:r>
              <a:rPr lang="en-US" altLang="zh-CN" sz="2400" dirty="0"/>
              <a:t>     'gender' : 'male',  </a:t>
            </a:r>
            <a:endParaRPr lang="zh-CN" altLang="zh-CN" sz="2400" dirty="0"/>
          </a:p>
          <a:p>
            <a:r>
              <a:rPr lang="en-US" altLang="zh-CN" sz="2400" dirty="0"/>
              <a:t>     'profession' : 'Ninja'  </a:t>
            </a:r>
            <a:endParaRPr lang="zh-CN" altLang="zh-CN" sz="2400" dirty="0"/>
          </a:p>
          <a:p>
            <a:r>
              <a:rPr lang="en-US" altLang="zh-CN" sz="2400" dirty="0"/>
              <a:t>     }   #</a:t>
            </a:r>
            <a:r>
              <a:rPr lang="zh-CN" altLang="zh-CN" sz="2400" dirty="0"/>
              <a:t>增加一个键</a:t>
            </a:r>
            <a:r>
              <a:rPr lang="en-US" altLang="zh-CN" sz="2400" dirty="0"/>
              <a:t>age</a:t>
            </a:r>
            <a:r>
              <a:rPr lang="zh-CN" altLang="zh-CN" sz="2400" dirty="0"/>
              <a:t>，值为</a:t>
            </a:r>
            <a:r>
              <a:rPr lang="en-US" altLang="zh-CN" sz="2400" dirty="0"/>
              <a:t>34  </a:t>
            </a:r>
            <a:endParaRPr lang="zh-CN" altLang="zh-CN" sz="2400" dirty="0"/>
          </a:p>
          <a:p>
            <a:r>
              <a:rPr lang="en-US" altLang="zh-CN" sz="2400" dirty="0"/>
              <a:t>id['age'] = 34  </a:t>
            </a:r>
            <a:endParaRPr lang="zh-CN" altLang="zh-CN" sz="2400" dirty="0"/>
          </a:p>
          <a:p>
            <a:r>
              <a:rPr lang="en-US" altLang="zh-CN" sz="2400" dirty="0"/>
              <a:t>print(id)  #</a:t>
            </a:r>
            <a:r>
              <a:rPr lang="zh-CN" altLang="zh-CN" sz="2400" dirty="0"/>
              <a:t>将键</a:t>
            </a:r>
            <a:r>
              <a:rPr lang="en-US" altLang="zh-CN" sz="2400" dirty="0"/>
              <a:t>age</a:t>
            </a:r>
            <a:r>
              <a:rPr lang="zh-CN" altLang="zh-CN" sz="2400" dirty="0"/>
              <a:t>的值修改为</a:t>
            </a:r>
            <a:r>
              <a:rPr lang="en-US" altLang="zh-CN" sz="2400" dirty="0"/>
              <a:t>35  </a:t>
            </a:r>
            <a:endParaRPr lang="zh-CN" altLang="zh-CN" sz="2400" dirty="0"/>
          </a:p>
          <a:p>
            <a:r>
              <a:rPr lang="en-US" altLang="zh-CN" sz="2400" dirty="0"/>
              <a:t>id['age'] = 35  </a:t>
            </a:r>
            <a:endParaRPr lang="zh-CN" altLang="zh-CN" sz="2400" dirty="0"/>
          </a:p>
          <a:p>
            <a:r>
              <a:rPr lang="en-US" altLang="zh-CN" sz="2400" dirty="0"/>
              <a:t>print(id)    #</a:t>
            </a:r>
            <a:r>
              <a:rPr lang="zh-CN" altLang="zh-CN" sz="2400" dirty="0"/>
              <a:t>删除键</a:t>
            </a:r>
            <a:r>
              <a:rPr lang="en-US" altLang="zh-CN" sz="2400" dirty="0"/>
              <a:t>age  </a:t>
            </a:r>
            <a:endParaRPr lang="zh-CN" altLang="zh-CN" sz="2400" dirty="0"/>
          </a:p>
          <a:p>
            <a:r>
              <a:rPr lang="en-US" altLang="zh-CN" sz="2400" dirty="0"/>
              <a:t>del id['age']  </a:t>
            </a:r>
            <a:endParaRPr lang="zh-CN" altLang="zh-CN" sz="2400" dirty="0"/>
          </a:p>
          <a:p>
            <a:r>
              <a:rPr lang="en-US" altLang="zh-CN" sz="2400" dirty="0"/>
              <a:t>print(id)  </a:t>
            </a:r>
            <a:endParaRPr lang="zh-CN" altLang="zh-CN" sz="2400" dirty="0"/>
          </a:p>
        </p:txBody>
      </p:sp>
    </p:spTree>
  </p:cSld>
  <p:clrMapOvr>
    <a:masterClrMapping/>
  </p:clrMapOvr>
  <p:transition spd="slow" advClick="0" advTm="0">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56521" y="1827233"/>
            <a:ext cx="8893274" cy="830997"/>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cs typeface="Times New Roman" panose="02020603050405020304" pitchFamily="18" charset="0"/>
              </a:rPr>
              <a:t>使用函数</a:t>
            </a:r>
            <a:r>
              <a:rPr lang="zh-CN" altLang="en-US" sz="2400" kern="100" dirty="0">
                <a:effectLst/>
                <a:latin typeface="Times New Roman" panose="02020603050405020304" pitchFamily="18" charset="0"/>
                <a:ea typeface="宋体" pitchFamily="2" charset="-122"/>
                <a:cs typeface="Times New Roman" panose="02020603050405020304" pitchFamily="18" charset="0"/>
              </a:rPr>
              <a:t>前</a:t>
            </a:r>
            <a:r>
              <a:rPr lang="zh-CN" altLang="zh-CN" sz="2400" kern="100" dirty="0">
                <a:effectLst/>
                <a:latin typeface="Times New Roman" panose="02020603050405020304" pitchFamily="18" charset="0"/>
                <a:ea typeface="宋体" pitchFamily="2" charset="-122"/>
                <a:cs typeface="Times New Roman" panose="02020603050405020304" pitchFamily="18" charset="0"/>
              </a:rPr>
              <a:t>，必须先定义它，函数定义包括函数名、参数、功能简介、执行动作、返回值等等</a:t>
            </a:r>
            <a:r>
              <a:rPr lang="zh-CN" altLang="en-US" sz="2400" kern="100" dirty="0">
                <a:effectLst/>
                <a:latin typeface="Times New Roman" panose="02020603050405020304" pitchFamily="18" charset="0"/>
                <a:ea typeface="宋体" pitchFamily="2" charset="-122"/>
              </a:rPr>
              <a:t>。</a:t>
            </a:r>
            <a:endParaRPr lang="zh-CN" altLang="zh-CN" sz="2400" kern="100" dirty="0">
              <a:effectLst/>
              <a:latin typeface="Times New Roman" panose="02020603050405020304" pitchFamily="18" charset="0"/>
              <a:ea typeface="宋体" pitchFamily="2" charset="-122"/>
            </a:endParaRPr>
          </a:p>
        </p:txBody>
      </p:sp>
      <p:sp>
        <p:nvSpPr>
          <p:cNvPr id="8" name="文本框 7"/>
          <p:cNvSpPr txBox="1"/>
          <p:nvPr/>
        </p:nvSpPr>
        <p:spPr>
          <a:xfrm>
            <a:off x="2593103" y="2818085"/>
            <a:ext cx="3816424" cy="1569660"/>
          </a:xfrm>
          <a:prstGeom prst="rect">
            <a:avLst/>
          </a:prstGeom>
          <a:solidFill>
            <a:schemeClr val="tx2">
              <a:lumMod val="20000"/>
              <a:lumOff val="80000"/>
            </a:schemeClr>
          </a:solidFill>
        </p:spPr>
        <p:txBody>
          <a:bodyPr wrap="square">
            <a:spAutoFit/>
          </a:bodyPr>
          <a:lstStyle/>
          <a:p>
            <a:pPr indent="266700" algn="l" fontAlgn="ctr"/>
            <a:r>
              <a:rPr lang="en-US" altLang="zh-CN" sz="2400" kern="100" dirty="0">
                <a:solidFill>
                  <a:srgbClr val="000000"/>
                </a:solidFill>
                <a:effectLst/>
                <a:latin typeface="Times New Roman" panose="02020603050405020304" pitchFamily="18" charset="0"/>
                <a:ea typeface="宋体" pitchFamily="2" charset="-122"/>
              </a:rPr>
              <a:t>def square(num):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a:t>
            </a:r>
            <a:r>
              <a:rPr lang="zh-CN" altLang="zh-CN" sz="2400" kern="100" dirty="0">
                <a:solidFill>
                  <a:srgbClr val="000000"/>
                </a:solidFill>
                <a:effectLst/>
                <a:latin typeface="Times New Roman" panose="02020603050405020304" pitchFamily="18" charset="0"/>
                <a:ea typeface="宋体" pitchFamily="2" charset="-122"/>
              </a:rPr>
              <a:t>计算一个数的平方</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return num*num  </a:t>
            </a:r>
            <a:endParaRPr lang="zh-CN" altLang="zh-CN" sz="2400" kern="100" dirty="0">
              <a:effectLst/>
              <a:latin typeface="Times New Roman" panose="02020603050405020304" pitchFamily="18" charset="0"/>
              <a:ea typeface="宋体" pitchFamily="2" charset="-122"/>
            </a:endParaRPr>
          </a:p>
          <a:p>
            <a:r>
              <a:rPr lang="en-US" altLang="zh-CN" sz="2400" kern="100" dirty="0">
                <a:effectLst/>
                <a:latin typeface="Times New Roman" panose="02020603050405020304" pitchFamily="18" charset="0"/>
                <a:ea typeface="宋体" pitchFamily="2" charset="-122"/>
              </a:rPr>
              <a:t>print(square(6)) </a:t>
            </a:r>
            <a:endParaRPr lang="zh-CN" altLang="zh-CN" sz="2400" kern="100" dirty="0">
              <a:effectLst/>
              <a:latin typeface="Times New Roman" panose="02020603050405020304" pitchFamily="18" charset="0"/>
              <a:ea typeface="宋体" pitchFamily="2" charset="-122"/>
            </a:endParaRPr>
          </a:p>
        </p:txBody>
      </p:sp>
      <p:sp>
        <p:nvSpPr>
          <p:cNvPr id="9" name="文本框 8"/>
          <p:cNvSpPr txBox="1"/>
          <p:nvPr/>
        </p:nvSpPr>
        <p:spPr>
          <a:xfrm>
            <a:off x="0" y="4509914"/>
            <a:ext cx="9002631" cy="1200329"/>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关键字</a:t>
            </a:r>
            <a:r>
              <a:rPr lang="en-US" altLang="zh-CN" sz="2400" kern="100" dirty="0">
                <a:solidFill>
                  <a:srgbClr val="FF0000"/>
                </a:solidFill>
                <a:effectLst/>
                <a:latin typeface="Times New Roman" panose="02020603050405020304" pitchFamily="18" charset="0"/>
                <a:ea typeface="宋体" pitchFamily="2" charset="-122"/>
              </a:rPr>
              <a:t>def</a:t>
            </a:r>
            <a:r>
              <a:rPr lang="zh-CN" altLang="zh-CN" sz="2400" kern="100" dirty="0">
                <a:effectLst/>
                <a:latin typeface="Times New Roman" panose="02020603050405020304" pitchFamily="18" charset="0"/>
                <a:ea typeface="宋体" pitchFamily="2" charset="-122"/>
              </a:rPr>
              <a:t>表示要定义函数，函数名为</a:t>
            </a:r>
            <a:r>
              <a:rPr lang="en-US" altLang="zh-CN" sz="2400" kern="100" dirty="0">
                <a:effectLst/>
                <a:latin typeface="Times New Roman" panose="02020603050405020304" pitchFamily="18" charset="0"/>
                <a:ea typeface="宋体" pitchFamily="2" charset="-122"/>
              </a:rPr>
              <a:t>square</a:t>
            </a:r>
            <a:r>
              <a:rPr lang="zh-CN" altLang="zh-CN" sz="2400" kern="100" dirty="0">
                <a:effectLst/>
                <a:latin typeface="Times New Roman" panose="02020603050405020304" pitchFamily="18" charset="0"/>
                <a:ea typeface="宋体" pitchFamily="2" charset="-122"/>
              </a:rPr>
              <a:t>，在调用时需要传递一个形参</a:t>
            </a:r>
            <a:r>
              <a:rPr lang="en-US" altLang="zh-CN" sz="2400" kern="100" dirty="0">
                <a:effectLst/>
                <a:latin typeface="Times New Roman" panose="02020603050405020304" pitchFamily="18" charset="0"/>
                <a:ea typeface="宋体" pitchFamily="2" charset="-122"/>
              </a:rPr>
              <a:t>num</a:t>
            </a:r>
            <a:r>
              <a:rPr lang="zh-CN" altLang="zh-CN" sz="2400" kern="100" dirty="0">
                <a:effectLst/>
                <a:latin typeface="Times New Roman" panose="02020603050405020304" pitchFamily="18" charset="0"/>
                <a:ea typeface="宋体" pitchFamily="2" charset="-122"/>
              </a:rPr>
              <a:t>，第三行定义返回值为</a:t>
            </a:r>
            <a:r>
              <a:rPr lang="en-US" altLang="zh-CN" sz="2400" kern="100" dirty="0">
                <a:effectLst/>
                <a:latin typeface="Times New Roman" panose="02020603050405020304" pitchFamily="18" charset="0"/>
                <a:ea typeface="宋体" pitchFamily="2" charset="-122"/>
              </a:rPr>
              <a:t>num</a:t>
            </a:r>
            <a:r>
              <a:rPr lang="zh-CN" altLang="zh-CN" sz="2400" kern="100" dirty="0">
                <a:effectLst/>
                <a:latin typeface="Times New Roman" panose="02020603050405020304" pitchFamily="18" charset="0"/>
                <a:ea typeface="宋体" pitchFamily="2" charset="-122"/>
              </a:rPr>
              <a:t>的平方，最后一行调用了</a:t>
            </a:r>
            <a:r>
              <a:rPr lang="en-US" altLang="zh-CN" sz="2400" kern="100" dirty="0">
                <a:effectLst/>
                <a:latin typeface="Times New Roman" panose="02020603050405020304" pitchFamily="18" charset="0"/>
                <a:ea typeface="宋体" pitchFamily="2" charset="-122"/>
              </a:rPr>
              <a:t>square</a:t>
            </a:r>
            <a:r>
              <a:rPr lang="zh-CN" altLang="zh-CN" sz="2400" kern="100" dirty="0">
                <a:effectLst/>
                <a:latin typeface="Times New Roman" panose="02020603050405020304" pitchFamily="18" charset="0"/>
                <a:ea typeface="宋体" pitchFamily="2" charset="-122"/>
              </a:rPr>
              <a:t>函数，并传递实参</a:t>
            </a:r>
            <a:r>
              <a:rPr lang="en-US" altLang="zh-CN" sz="2400" kern="100" dirty="0">
                <a:effectLst/>
                <a:latin typeface="Times New Roman" panose="02020603050405020304" pitchFamily="18" charset="0"/>
                <a:ea typeface="宋体" pitchFamily="2" charset="-122"/>
              </a:rPr>
              <a:t>6</a:t>
            </a:r>
            <a:r>
              <a:rPr lang="zh-CN" altLang="zh-CN" sz="2400" kern="100" dirty="0">
                <a:effectLst/>
                <a:latin typeface="Times New Roman" panose="02020603050405020304" pitchFamily="18" charset="0"/>
                <a:ea typeface="宋体" pitchFamily="2" charset="-122"/>
              </a:rPr>
              <a:t>，最后的运行结果为</a:t>
            </a:r>
            <a:r>
              <a:rPr lang="en-US" altLang="zh-CN" sz="2400" kern="100" dirty="0">
                <a:effectLst/>
                <a:latin typeface="Times New Roman" panose="02020603050405020304" pitchFamily="18" charset="0"/>
                <a:ea typeface="宋体" pitchFamily="2" charset="-122"/>
              </a:rPr>
              <a:t>36</a:t>
            </a:r>
            <a:r>
              <a:rPr lang="zh-CN" altLang="zh-CN" sz="2400" kern="100" dirty="0">
                <a:effectLst/>
                <a:latin typeface="Times New Roman" panose="02020603050405020304" pitchFamily="18" charset="0"/>
                <a:ea typeface="宋体" pitchFamily="2" charset="-122"/>
              </a:rPr>
              <a:t>。</a:t>
            </a:r>
            <a:endParaRPr lang="zh-CN" altLang="zh-CN" sz="2400" kern="100" dirty="0">
              <a:effectLst/>
              <a:latin typeface="Times New Roman" panose="02020603050405020304" pitchFamily="18" charset="0"/>
              <a:ea typeface="宋体" pitchFamily="2" charset="-122"/>
            </a:endParaRPr>
          </a:p>
        </p:txBody>
      </p:sp>
      <p:sp>
        <p:nvSpPr>
          <p:cNvPr id="2" name="文本框 1"/>
          <p:cNvSpPr txBox="1"/>
          <p:nvPr/>
        </p:nvSpPr>
        <p:spPr>
          <a:xfrm>
            <a:off x="99025" y="1272051"/>
            <a:ext cx="1844387" cy="461665"/>
          </a:xfrm>
          <a:prstGeom prst="rect">
            <a:avLst/>
          </a:prstGeom>
          <a:noFill/>
        </p:spPr>
        <p:txBody>
          <a:bodyPr wrap="square" rtlCol="0">
            <a:spAutoFit/>
          </a:bodyPr>
          <a:lstStyle/>
          <a:p>
            <a:r>
              <a:rPr lang="en-US" altLang="zh-CN" sz="2400" b="1" dirty="0"/>
              <a:t>2.2.7 </a:t>
            </a:r>
            <a:r>
              <a:rPr lang="zh-CN" altLang="en-US" sz="2400" b="1" dirty="0"/>
              <a:t>函数</a:t>
            </a:r>
            <a:endParaRPr lang="zh-CN" altLang="en-US" sz="2400" b="1" dirty="0"/>
          </a:p>
        </p:txBody>
      </p:sp>
    </p:spTree>
  </p:cSld>
  <p:clrMapOvr>
    <a:masterClrMapping/>
  </p:clrMapOvr>
  <p:transition spd="slow" advClick="0" advTm="0">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111200" y="1189585"/>
            <a:ext cx="8893274" cy="1569660"/>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cs typeface="Times New Roman" panose="02020603050405020304" pitchFamily="18" charset="0"/>
              </a:rPr>
              <a:t>使用函数还有一个优点是可以将它们与主程序分离并存储在别的文件中，在需要调用时将它们导入到主程序中，称之为</a:t>
            </a:r>
            <a:r>
              <a:rPr lang="zh-CN" altLang="zh-CN"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函数的模块化。</a:t>
            </a:r>
            <a:endParaRPr lang="en-US" altLang="zh-CN" sz="2400" kern="100" dirty="0">
              <a:solidFill>
                <a:srgbClr val="FF0000"/>
              </a:solidFill>
              <a:effectLst/>
              <a:latin typeface="Times New Roman" panose="02020603050405020304" pitchFamily="18" charset="0"/>
              <a:ea typeface="宋体" pitchFamily="2" charset="-122"/>
              <a:cs typeface="Times New Roman" panose="02020603050405020304" pitchFamily="18" charset="0"/>
            </a:endParaRPr>
          </a:p>
          <a:p>
            <a:pPr indent="266700" algn="just"/>
            <a:endParaRPr lang="zh-CN" altLang="zh-CN" sz="2400" kern="100" dirty="0">
              <a:effectLst/>
              <a:latin typeface="Times New Roman" panose="02020603050405020304" pitchFamily="18" charset="0"/>
              <a:ea typeface="宋体" pitchFamily="2" charset="-122"/>
            </a:endParaRPr>
          </a:p>
        </p:txBody>
      </p:sp>
      <p:sp>
        <p:nvSpPr>
          <p:cNvPr id="9" name="文本框 8"/>
          <p:cNvSpPr txBox="1"/>
          <p:nvPr/>
        </p:nvSpPr>
        <p:spPr>
          <a:xfrm>
            <a:off x="324322" y="4395030"/>
            <a:ext cx="8640960" cy="830997"/>
          </a:xfrm>
          <a:prstGeom prst="rect">
            <a:avLst/>
          </a:prstGeom>
          <a:noFill/>
        </p:spPr>
        <p:txBody>
          <a:bodyPr wrap="square">
            <a:spAutoFit/>
          </a:bodyPr>
          <a:lstStyle/>
          <a:p>
            <a:pPr indent="266700" algn="just"/>
            <a:r>
              <a:rPr lang="zh-CN" altLang="zh-CN" sz="2400" kern="100" dirty="0">
                <a:latin typeface="Times New Roman" panose="02020603050405020304" pitchFamily="18" charset="0"/>
                <a:ea typeface="宋体" pitchFamily="2" charset="-122"/>
              </a:rPr>
              <a:t>想要在主程序</a:t>
            </a:r>
            <a:r>
              <a:rPr lang="en-US" altLang="zh-CN" sz="2400" kern="100" dirty="0">
                <a:latin typeface="Times New Roman" panose="02020603050405020304" pitchFamily="18" charset="0"/>
                <a:ea typeface="宋体" pitchFamily="2" charset="-122"/>
              </a:rPr>
              <a:t>hello.py</a:t>
            </a:r>
            <a:r>
              <a:rPr lang="zh-CN" altLang="zh-CN" sz="2400" kern="100" dirty="0">
                <a:latin typeface="Times New Roman" panose="02020603050405020304" pitchFamily="18" charset="0"/>
                <a:ea typeface="宋体" pitchFamily="2" charset="-122"/>
              </a:rPr>
              <a:t>中调用函数</a:t>
            </a:r>
            <a:r>
              <a:rPr lang="en-US" altLang="zh-CN" sz="2400" kern="100" dirty="0">
                <a:latin typeface="Times New Roman" panose="02020603050405020304" pitchFamily="18" charset="0"/>
                <a:ea typeface="宋体" pitchFamily="2" charset="-122"/>
              </a:rPr>
              <a:t>square</a:t>
            </a:r>
            <a:r>
              <a:rPr lang="zh-CN" altLang="zh-CN" sz="2400" kern="100" dirty="0">
                <a:latin typeface="Times New Roman" panose="02020603050405020304" pitchFamily="18" charset="0"/>
                <a:ea typeface="宋体" pitchFamily="2" charset="-122"/>
              </a:rPr>
              <a:t>时，只需将</a:t>
            </a:r>
            <a:r>
              <a:rPr lang="en-US" altLang="zh-CN" sz="2400" kern="100" dirty="0">
                <a:latin typeface="Times New Roman" panose="02020603050405020304" pitchFamily="18" charset="0"/>
                <a:ea typeface="宋体" pitchFamily="2" charset="-122"/>
              </a:rPr>
              <a:t>func.py</a:t>
            </a:r>
            <a:r>
              <a:rPr lang="zh-CN" altLang="zh-CN" sz="2400" kern="100" dirty="0">
                <a:latin typeface="Times New Roman" panose="02020603050405020304" pitchFamily="18" charset="0"/>
                <a:ea typeface="宋体" pitchFamily="2" charset="-122"/>
              </a:rPr>
              <a:t>模块使用</a:t>
            </a:r>
            <a:r>
              <a:rPr lang="en-US" altLang="zh-CN" sz="2400" kern="100" dirty="0">
                <a:latin typeface="Times New Roman" panose="02020603050405020304" pitchFamily="18" charset="0"/>
                <a:ea typeface="宋体" pitchFamily="2" charset="-122"/>
              </a:rPr>
              <a:t>import</a:t>
            </a:r>
            <a:r>
              <a:rPr lang="zh-CN" altLang="zh-CN" sz="2400" kern="100" dirty="0">
                <a:latin typeface="Times New Roman" panose="02020603050405020304" pitchFamily="18" charset="0"/>
                <a:ea typeface="宋体" pitchFamily="2" charset="-122"/>
              </a:rPr>
              <a:t>导入后再调用</a:t>
            </a:r>
            <a:r>
              <a:rPr lang="en-US" altLang="zh-CN" sz="2400" kern="100" dirty="0">
                <a:latin typeface="Times New Roman" panose="02020603050405020304" pitchFamily="18" charset="0"/>
                <a:ea typeface="宋体" pitchFamily="2" charset="-122"/>
              </a:rPr>
              <a:t>square</a:t>
            </a:r>
            <a:r>
              <a:rPr lang="zh-CN" altLang="zh-CN" sz="2400" kern="100" dirty="0">
                <a:latin typeface="Times New Roman" panose="02020603050405020304" pitchFamily="18" charset="0"/>
                <a:ea typeface="宋体" pitchFamily="2" charset="-122"/>
              </a:rPr>
              <a:t>即可，</a:t>
            </a:r>
            <a:endParaRPr lang="zh-CN" altLang="zh-CN" sz="2400" kern="100" dirty="0">
              <a:latin typeface="Times New Roman" panose="02020603050405020304" pitchFamily="18" charset="0"/>
              <a:ea typeface="宋体" pitchFamily="2" charset="-122"/>
            </a:endParaRPr>
          </a:p>
        </p:txBody>
      </p:sp>
      <p:pic>
        <p:nvPicPr>
          <p:cNvPr id="10" name="图片 9"/>
          <p:cNvPicPr>
            <a:picLocks noChangeAspect="1"/>
          </p:cNvPicPr>
          <p:nvPr/>
        </p:nvPicPr>
        <p:blipFill>
          <a:blip r:embed="rId1"/>
          <a:stretch>
            <a:fillRect/>
          </a:stretch>
        </p:blipFill>
        <p:spPr>
          <a:xfrm>
            <a:off x="1492346" y="2205658"/>
            <a:ext cx="6160896" cy="1569660"/>
          </a:xfrm>
          <a:prstGeom prst="rect">
            <a:avLst/>
          </a:prstGeom>
          <a:noFill/>
          <a:ln>
            <a:noFill/>
          </a:ln>
        </p:spPr>
      </p:pic>
      <p:sp>
        <p:nvSpPr>
          <p:cNvPr id="2" name="文本框 1"/>
          <p:cNvSpPr txBox="1"/>
          <p:nvPr/>
        </p:nvSpPr>
        <p:spPr>
          <a:xfrm>
            <a:off x="2988618" y="3900508"/>
            <a:ext cx="3672408" cy="369332"/>
          </a:xfrm>
          <a:prstGeom prst="rect">
            <a:avLst/>
          </a:prstGeom>
          <a:noFill/>
        </p:spPr>
        <p:txBody>
          <a:bodyPr wrap="square" rtlCol="0">
            <a:spAutoFit/>
          </a:bodyPr>
          <a:lstStyle>
            <a:defPPr>
              <a:defRPr lang="zh-CN"/>
            </a:defPPr>
            <a:lvl1pPr>
              <a:defRPr sz="1800" kern="0">
                <a:latin typeface="Times New Roman" panose="02020603050405020304" pitchFamily="18" charset="0"/>
                <a:cs typeface="Times New Roman" panose="02020603050405020304" pitchFamily="18" charset="0"/>
              </a:defRPr>
            </a:lvl1pPr>
          </a:lstStyle>
          <a:p>
            <a:r>
              <a:rPr lang="zh-CN" altLang="en-US" dirty="0"/>
              <a:t>图</a:t>
            </a:r>
            <a:r>
              <a:rPr lang="en-US" altLang="zh-CN" dirty="0"/>
              <a:t>2.8 </a:t>
            </a:r>
            <a:r>
              <a:rPr lang="zh-CN" altLang="zh-CN" dirty="0"/>
              <a:t>将函数定义存储在模块中</a:t>
            </a:r>
            <a:endParaRPr lang="zh-CN" altLang="en-US" dirty="0"/>
          </a:p>
        </p:txBody>
      </p:sp>
      <p:sp>
        <p:nvSpPr>
          <p:cNvPr id="12" name="文本框 11"/>
          <p:cNvSpPr txBox="1"/>
          <p:nvPr/>
        </p:nvSpPr>
        <p:spPr>
          <a:xfrm>
            <a:off x="2556570" y="5489774"/>
            <a:ext cx="4589754" cy="830997"/>
          </a:xfrm>
          <a:prstGeom prst="rect">
            <a:avLst/>
          </a:prstGeom>
          <a:solidFill>
            <a:schemeClr val="tx2">
              <a:lumMod val="20000"/>
              <a:lumOff val="80000"/>
            </a:schemeClr>
          </a:solidFill>
        </p:spPr>
        <p:txBody>
          <a:bodyPr wrap="square">
            <a:spAutoFit/>
          </a:bodyPr>
          <a:lstStyle/>
          <a:p>
            <a:pPr indent="266700" algn="l" fontAlgn="ctr"/>
            <a:r>
              <a:rPr lang="en-US" altLang="zh-CN" sz="2400" kern="100" dirty="0">
                <a:solidFill>
                  <a:srgbClr val="000000"/>
                </a:solidFill>
                <a:effectLst/>
                <a:latin typeface="Times New Roman" panose="02020603050405020304" pitchFamily="18" charset="0"/>
                <a:ea typeface="宋体" pitchFamily="2" charset="-122"/>
              </a:rPr>
              <a:t>from </a:t>
            </a:r>
            <a:r>
              <a:rPr lang="en-US" altLang="zh-CN" sz="2400" kern="100" dirty="0" err="1">
                <a:solidFill>
                  <a:srgbClr val="000000"/>
                </a:solidFill>
                <a:effectLst/>
                <a:latin typeface="Times New Roman" panose="02020603050405020304" pitchFamily="18" charset="0"/>
                <a:ea typeface="宋体" pitchFamily="2" charset="-122"/>
              </a:rPr>
              <a:t>func</a:t>
            </a:r>
            <a:r>
              <a:rPr lang="en-US" altLang="zh-CN" sz="2400" kern="100" dirty="0">
                <a:solidFill>
                  <a:srgbClr val="000000"/>
                </a:solidFill>
                <a:effectLst/>
                <a:latin typeface="Times New Roman" panose="02020603050405020304" pitchFamily="18" charset="0"/>
                <a:ea typeface="宋体" pitchFamily="2" charset="-122"/>
              </a:rPr>
              <a:t> import square as </a:t>
            </a:r>
            <a:r>
              <a:rPr lang="en-US" altLang="zh-CN" sz="2400" kern="100" dirty="0" err="1">
                <a:solidFill>
                  <a:srgbClr val="000000"/>
                </a:solidFill>
                <a:effectLst/>
                <a:latin typeface="Times New Roman" panose="02020603050405020304" pitchFamily="18" charset="0"/>
                <a:ea typeface="宋体" pitchFamily="2" charset="-122"/>
              </a:rPr>
              <a:t>sqr</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a:t>
            </a:r>
            <a:r>
              <a:rPr lang="en-US" altLang="zh-CN" sz="2400" kern="100" dirty="0" err="1">
                <a:solidFill>
                  <a:srgbClr val="000000"/>
                </a:solidFill>
                <a:effectLst/>
                <a:latin typeface="Times New Roman" panose="02020603050405020304" pitchFamily="18" charset="0"/>
                <a:ea typeface="宋体" pitchFamily="2" charset="-122"/>
              </a:rPr>
              <a:t>sqr</a:t>
            </a:r>
            <a:r>
              <a:rPr lang="en-US" altLang="zh-CN" sz="2400" kern="100" dirty="0">
                <a:solidFill>
                  <a:srgbClr val="000000"/>
                </a:solidFill>
                <a:effectLst/>
                <a:latin typeface="Times New Roman" panose="02020603050405020304" pitchFamily="18" charset="0"/>
                <a:ea typeface="宋体" pitchFamily="2" charset="-122"/>
              </a:rPr>
              <a:t>(6))  </a:t>
            </a:r>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32358" y="1764767"/>
            <a:ext cx="8893274" cy="830997"/>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库可以理解为具有相关功能的模块的集合。有一些库是</a:t>
            </a:r>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rPr>
              <a:t>自带的标准库，还有一些是第三方库，需要自行下载安装。</a:t>
            </a:r>
            <a:endParaRPr lang="zh-CN" altLang="zh-CN" sz="2400" kern="100" dirty="0">
              <a:effectLst/>
              <a:latin typeface="Times New Roman" panose="02020603050405020304" pitchFamily="18" charset="0"/>
              <a:ea typeface="宋体" pitchFamily="2" charset="-122"/>
            </a:endParaRPr>
          </a:p>
        </p:txBody>
      </p:sp>
      <p:sp>
        <p:nvSpPr>
          <p:cNvPr id="10" name="文本框 9"/>
          <p:cNvSpPr txBox="1"/>
          <p:nvPr/>
        </p:nvSpPr>
        <p:spPr>
          <a:xfrm>
            <a:off x="32358" y="2555665"/>
            <a:ext cx="8893274" cy="3416320"/>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rPr>
              <a:t>中自带了</a:t>
            </a:r>
            <a:r>
              <a:rPr lang="en-US" altLang="zh-CN" sz="2400" kern="100" dirty="0">
                <a:effectLst/>
                <a:latin typeface="Times New Roman" panose="02020603050405020304" pitchFamily="18" charset="0"/>
                <a:ea typeface="宋体" pitchFamily="2" charset="-122"/>
              </a:rPr>
              <a:t>pip</a:t>
            </a:r>
            <a:r>
              <a:rPr lang="zh-CN" altLang="zh-CN" sz="2400" kern="100" dirty="0">
                <a:effectLst/>
                <a:latin typeface="Times New Roman" panose="02020603050405020304" pitchFamily="18" charset="0"/>
                <a:ea typeface="宋体" pitchFamily="2" charset="-122"/>
              </a:rPr>
              <a:t>来安装各种第三方库，以</a:t>
            </a:r>
            <a:r>
              <a:rPr lang="en-US" altLang="zh-CN" sz="2400" kern="100" dirty="0">
                <a:effectLst/>
                <a:latin typeface="Times New Roman" panose="02020603050405020304" pitchFamily="18" charset="0"/>
                <a:ea typeface="宋体" pitchFamily="2" charset="-122"/>
              </a:rPr>
              <a:t>Windows10</a:t>
            </a:r>
            <a:r>
              <a:rPr lang="zh-CN" altLang="zh-CN" sz="2400" kern="100" dirty="0">
                <a:effectLst/>
                <a:latin typeface="Times New Roman" panose="02020603050405020304" pitchFamily="18" charset="0"/>
                <a:ea typeface="宋体" pitchFamily="2" charset="-122"/>
              </a:rPr>
              <a:t>系统下更换为阿里源为例：</a:t>
            </a:r>
            <a:endParaRPr lang="zh-CN" altLang="zh-CN" sz="2400" kern="100" dirty="0">
              <a:effectLst/>
              <a:latin typeface="Times New Roman" panose="02020603050405020304" pitchFamily="18" charset="0"/>
              <a:ea typeface="宋体" pitchFamily="2" charset="-122"/>
            </a:endParaRPr>
          </a:p>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在用户路径下创建一个</a:t>
            </a:r>
            <a:r>
              <a:rPr lang="en-US" altLang="zh-CN" sz="2400" kern="100" dirty="0">
                <a:effectLst/>
                <a:latin typeface="Times New Roman" panose="02020603050405020304" pitchFamily="18" charset="0"/>
                <a:ea typeface="宋体" pitchFamily="2" charset="-122"/>
              </a:rPr>
              <a:t>pip</a:t>
            </a:r>
            <a:r>
              <a:rPr lang="zh-CN" altLang="zh-CN" sz="2400" kern="100" dirty="0">
                <a:effectLst/>
                <a:latin typeface="Times New Roman" panose="02020603050405020304" pitchFamily="18" charset="0"/>
                <a:ea typeface="宋体" pitchFamily="2" charset="-122"/>
              </a:rPr>
              <a:t>文件夹</a:t>
            </a:r>
            <a:r>
              <a:rPr lang="en-US" altLang="zh-CN"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rPr>
              <a:t>文件夹所在路径格式为</a:t>
            </a:r>
            <a:r>
              <a:rPr lang="en-US" altLang="zh-CN" sz="2400" kern="100" dirty="0">
                <a:effectLst/>
                <a:latin typeface="Times New Roman" panose="02020603050405020304" pitchFamily="18" charset="0"/>
                <a:ea typeface="宋体" pitchFamily="2" charset="-122"/>
              </a:rPr>
              <a:t>C:\</a:t>
            </a:r>
            <a:r>
              <a:rPr lang="zh-CN" altLang="zh-CN" sz="2400" kern="100" dirty="0">
                <a:effectLst/>
                <a:latin typeface="Times New Roman" panose="02020603050405020304" pitchFamily="18" charset="0"/>
                <a:ea typeface="宋体" pitchFamily="2" charset="-122"/>
              </a:rPr>
              <a:t>用户</a:t>
            </a:r>
            <a:r>
              <a:rPr lang="en-US" altLang="zh-CN"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rPr>
              <a:t>计算机名</a:t>
            </a:r>
            <a:r>
              <a:rPr lang="en-US" altLang="zh-CN"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rPr>
              <a:t>，例如</a:t>
            </a:r>
            <a:r>
              <a:rPr lang="en-US" altLang="zh-CN" sz="2400" kern="100" dirty="0">
                <a:effectLst/>
                <a:latin typeface="Times New Roman" panose="02020603050405020304" pitchFamily="18" charset="0"/>
                <a:ea typeface="宋体" pitchFamily="2" charset="-122"/>
              </a:rPr>
              <a:t>C:\Users\11041\pip</a:t>
            </a:r>
            <a:endParaRPr lang="en-US" altLang="zh-CN" sz="2400" kern="100" dirty="0">
              <a:latin typeface="Times New Roman" panose="02020603050405020304" pitchFamily="18" charset="0"/>
              <a:ea typeface="宋体" pitchFamily="2" charset="-122"/>
            </a:endParaRPr>
          </a:p>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新建一个记事本文本文件，内容如下：</a:t>
            </a:r>
            <a:endParaRPr lang="zh-CN" altLang="zh-CN" sz="2400" kern="100" dirty="0">
              <a:effectLst/>
              <a:latin typeface="Times New Roman" panose="02020603050405020304" pitchFamily="18" charset="0"/>
              <a:ea typeface="宋体" pitchFamily="2" charset="-122"/>
            </a:endParaRPr>
          </a:p>
          <a:p>
            <a:pPr indent="266700" algn="just"/>
            <a:r>
              <a:rPr lang="en-US" altLang="zh-CN" sz="2400" kern="100" dirty="0">
                <a:effectLst/>
                <a:latin typeface="Times New Roman" panose="02020603050405020304" pitchFamily="18" charset="0"/>
                <a:ea typeface="宋体" pitchFamily="2" charset="-122"/>
              </a:rPr>
              <a:t>[global]</a:t>
            </a:r>
            <a:endParaRPr lang="zh-CN" altLang="zh-CN" sz="2400" kern="100" dirty="0">
              <a:effectLst/>
              <a:latin typeface="Times New Roman" panose="02020603050405020304" pitchFamily="18" charset="0"/>
              <a:ea typeface="宋体" pitchFamily="2" charset="-122"/>
            </a:endParaRPr>
          </a:p>
          <a:p>
            <a:pPr indent="266700" algn="just"/>
            <a:r>
              <a:rPr lang="en-US" altLang="zh-CN" sz="2400" kern="100" dirty="0">
                <a:effectLst/>
                <a:latin typeface="Times New Roman" panose="02020603050405020304" pitchFamily="18" charset="0"/>
                <a:ea typeface="宋体" pitchFamily="2" charset="-122"/>
              </a:rPr>
              <a:t>index-</a:t>
            </a:r>
            <a:r>
              <a:rPr lang="en-US" altLang="zh-CN" sz="2400" kern="100" dirty="0" err="1">
                <a:effectLst/>
                <a:latin typeface="Times New Roman" panose="02020603050405020304" pitchFamily="18" charset="0"/>
                <a:ea typeface="宋体" pitchFamily="2" charset="-122"/>
              </a:rPr>
              <a:t>url</a:t>
            </a:r>
            <a:r>
              <a:rPr lang="en-US" altLang="zh-CN" sz="2400" kern="100" dirty="0">
                <a:effectLst/>
                <a:latin typeface="Times New Roman" panose="02020603050405020304" pitchFamily="18" charset="0"/>
                <a:ea typeface="宋体" pitchFamily="2" charset="-122"/>
              </a:rPr>
              <a:t> = http://mirrors.aliyun.com/pypi/simple/</a:t>
            </a:r>
            <a:endParaRPr lang="zh-CN" altLang="zh-CN" sz="2400" kern="100" dirty="0">
              <a:effectLst/>
              <a:latin typeface="Times New Roman" panose="02020603050405020304" pitchFamily="18" charset="0"/>
              <a:ea typeface="宋体" pitchFamily="2" charset="-122"/>
            </a:endParaRPr>
          </a:p>
          <a:p>
            <a:pPr indent="266700" algn="just"/>
            <a:r>
              <a:rPr lang="en-US" altLang="zh-CN" sz="2400" kern="100" dirty="0">
                <a:effectLst/>
                <a:latin typeface="Times New Roman" panose="02020603050405020304" pitchFamily="18" charset="0"/>
                <a:ea typeface="宋体" pitchFamily="2" charset="-122"/>
              </a:rPr>
              <a:t>[install]</a:t>
            </a:r>
            <a:endParaRPr lang="zh-CN" altLang="zh-CN" sz="2400" kern="100" dirty="0">
              <a:effectLst/>
              <a:latin typeface="Times New Roman" panose="02020603050405020304" pitchFamily="18" charset="0"/>
              <a:ea typeface="宋体" pitchFamily="2" charset="-122"/>
            </a:endParaRPr>
          </a:p>
          <a:p>
            <a:pPr indent="266700" algn="just"/>
            <a:r>
              <a:rPr lang="en-US" altLang="zh-CN" sz="2400" kern="100" dirty="0">
                <a:effectLst/>
                <a:latin typeface="Times New Roman" panose="02020603050405020304" pitchFamily="18" charset="0"/>
                <a:ea typeface="宋体" pitchFamily="2" charset="-122"/>
              </a:rPr>
              <a:t>trusted-host=mirrors.aliyun.com</a:t>
            </a:r>
            <a:endParaRPr lang="zh-CN" altLang="zh-CN" sz="2400" kern="100" dirty="0">
              <a:effectLst/>
              <a:latin typeface="Times New Roman" panose="02020603050405020304" pitchFamily="18" charset="0"/>
              <a:ea typeface="宋体" pitchFamily="2" charset="-122"/>
            </a:endParaRPr>
          </a:p>
        </p:txBody>
      </p:sp>
      <p:sp>
        <p:nvSpPr>
          <p:cNvPr id="2" name="文本框 1"/>
          <p:cNvSpPr txBox="1"/>
          <p:nvPr/>
        </p:nvSpPr>
        <p:spPr>
          <a:xfrm>
            <a:off x="49647" y="1256595"/>
            <a:ext cx="2736304" cy="461665"/>
          </a:xfrm>
          <a:prstGeom prst="rect">
            <a:avLst/>
          </a:prstGeom>
          <a:noFill/>
        </p:spPr>
        <p:txBody>
          <a:bodyPr wrap="square" rtlCol="0">
            <a:spAutoFit/>
          </a:bodyPr>
          <a:lstStyle/>
          <a:p>
            <a:r>
              <a:rPr lang="en-US" altLang="zh-CN" sz="2400" b="1" dirty="0"/>
              <a:t>2.2.8 </a:t>
            </a:r>
            <a:r>
              <a:rPr lang="zh-CN" altLang="en-US" sz="2400" b="1" dirty="0"/>
              <a:t>使用库</a:t>
            </a:r>
            <a:endParaRPr lang="zh-CN" altLang="en-US" sz="2400" b="1" dirty="0"/>
          </a:p>
        </p:txBody>
      </p:sp>
    </p:spTree>
  </p:cSld>
  <p:clrMapOvr>
    <a:masterClrMapping/>
  </p:clrMapOvr>
  <p:transition spd="slow" advClick="0" advTm="0">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111200" y="1189585"/>
            <a:ext cx="8893274" cy="6370975"/>
          </a:xfrm>
          <a:prstGeom prst="rect">
            <a:avLst/>
          </a:prstGeom>
          <a:noFill/>
        </p:spPr>
        <p:txBody>
          <a:bodyPr wrap="square">
            <a:spAutoFit/>
          </a:bodyPr>
          <a:lstStyle/>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将新建的记事本文件名保存为</a:t>
            </a:r>
            <a:r>
              <a:rPr lang="en-US" altLang="zh-CN" sz="2400" kern="100" dirty="0">
                <a:effectLst/>
                <a:latin typeface="Times New Roman" panose="02020603050405020304" pitchFamily="18" charset="0"/>
                <a:ea typeface="宋体" pitchFamily="2" charset="-122"/>
              </a:rPr>
              <a:t>pip.ini</a:t>
            </a:r>
            <a:r>
              <a:rPr lang="zh-CN" altLang="zh-CN" sz="2400" kern="100" dirty="0">
                <a:effectLst/>
                <a:latin typeface="Times New Roman" panose="02020603050405020304" pitchFamily="18" charset="0"/>
                <a:ea typeface="宋体" pitchFamily="2" charset="-122"/>
              </a:rPr>
              <a:t>，如图</a:t>
            </a:r>
            <a:r>
              <a:rPr lang="en-US" altLang="zh-CN" sz="2400" kern="100" dirty="0">
                <a:effectLst/>
                <a:latin typeface="Times New Roman" panose="02020603050405020304" pitchFamily="18" charset="0"/>
                <a:ea typeface="宋体" pitchFamily="2" charset="-122"/>
              </a:rPr>
              <a:t>2.9 </a:t>
            </a:r>
            <a:r>
              <a:rPr lang="zh-CN" altLang="zh-CN" sz="2400" kern="100" dirty="0">
                <a:effectLst/>
                <a:latin typeface="Times New Roman" panose="02020603050405020304" pitchFamily="18" charset="0"/>
                <a:ea typeface="宋体" pitchFamily="2" charset="-122"/>
              </a:rPr>
              <a:t>所示。</a:t>
            </a:r>
            <a:endParaRPr lang="en-US" altLang="zh-CN" sz="2400" kern="100" dirty="0">
              <a:effectLst/>
              <a:latin typeface="Times New Roman" panose="02020603050405020304" pitchFamily="18" charset="0"/>
              <a:ea typeface="宋体" pitchFamily="2" charset="-122"/>
            </a:endParaRPr>
          </a:p>
          <a:p>
            <a:pPr indent="266700" algn="just"/>
            <a:endParaRPr lang="zh-CN" altLang="zh-CN" sz="2400" kern="100" dirty="0">
              <a:effectLst/>
              <a:latin typeface="Times New Roman" panose="02020603050405020304" pitchFamily="18" charset="0"/>
              <a:ea typeface="宋体" pitchFamily="2" charset="-122"/>
            </a:endParaRPr>
          </a:p>
          <a:p>
            <a:pPr indent="266700" algn="just"/>
            <a:endParaRPr lang="en-US" altLang="zh-CN" sz="2400" kern="100" dirty="0">
              <a:effectLst/>
              <a:latin typeface="Times New Roman" panose="02020603050405020304" pitchFamily="18" charset="0"/>
              <a:ea typeface="宋体" pitchFamily="2" charset="-122"/>
            </a:endParaRPr>
          </a:p>
          <a:p>
            <a:pPr indent="266700" algn="just"/>
            <a:endParaRPr lang="en-US" altLang="zh-CN" sz="2400" kern="100" dirty="0">
              <a:latin typeface="Times New Roman" panose="02020603050405020304" pitchFamily="18" charset="0"/>
              <a:ea typeface="宋体" pitchFamily="2" charset="-122"/>
            </a:endParaRPr>
          </a:p>
          <a:p>
            <a:pPr indent="266700" algn="just"/>
            <a:endParaRPr lang="en-US" altLang="zh-CN" sz="2400" kern="100" dirty="0">
              <a:effectLst/>
              <a:latin typeface="Times New Roman" panose="02020603050405020304" pitchFamily="18" charset="0"/>
              <a:ea typeface="宋体" pitchFamily="2" charset="-122"/>
            </a:endParaRPr>
          </a:p>
          <a:p>
            <a:pPr indent="266700" algn="just"/>
            <a:endParaRPr lang="en-US" altLang="zh-CN" sz="2400" kern="100" dirty="0">
              <a:effectLst/>
              <a:latin typeface="Times New Roman" panose="02020603050405020304" pitchFamily="18" charset="0"/>
              <a:ea typeface="宋体" pitchFamily="2" charset="-122"/>
            </a:endParaRPr>
          </a:p>
          <a:p>
            <a:pPr marL="342900" indent="-342900" algn="just">
              <a:buFont typeface="Wingdings" panose="05000000000000000000" pitchFamily="2" charset="2"/>
              <a:buChar char="p"/>
            </a:pPr>
            <a:endParaRPr lang="en-US" altLang="zh-CN" sz="2400" kern="100" dirty="0">
              <a:effectLst/>
              <a:latin typeface="Times New Roman" panose="02020603050405020304" pitchFamily="18" charset="0"/>
              <a:ea typeface="宋体" pitchFamily="2" charset="-122"/>
            </a:endParaRPr>
          </a:p>
          <a:p>
            <a:pPr algn="just"/>
            <a:endParaRPr lang="en-US" altLang="zh-CN" sz="2400" kern="100" dirty="0">
              <a:effectLst/>
              <a:latin typeface="Times New Roman" panose="02020603050405020304" pitchFamily="18" charset="0"/>
              <a:ea typeface="宋体" pitchFamily="2" charset="-122"/>
            </a:endParaRPr>
          </a:p>
          <a:p>
            <a:pPr marL="285750" indent="-285750" algn="just">
              <a:buFont typeface="Wingdings" panose="05000000000000000000" pitchFamily="2" charset="2"/>
              <a:buChar char="p"/>
            </a:pPr>
            <a:r>
              <a:rPr lang="zh-CN" altLang="zh-CN" sz="2400" kern="100" dirty="0">
                <a:latin typeface="Times New Roman" panose="02020603050405020304" pitchFamily="18" charset="0"/>
                <a:ea typeface="宋体" pitchFamily="2" charset="-122"/>
              </a:rPr>
              <a:t>将</a:t>
            </a:r>
            <a:r>
              <a:rPr lang="en-US" altLang="zh-CN" sz="2400" kern="100" dirty="0">
                <a:latin typeface="Times New Roman" panose="02020603050405020304" pitchFamily="18" charset="0"/>
                <a:ea typeface="宋体" pitchFamily="2" charset="-122"/>
              </a:rPr>
              <a:t>Python37</a:t>
            </a:r>
            <a:r>
              <a:rPr lang="zh-CN" altLang="zh-CN" sz="2400" kern="100" dirty="0">
                <a:latin typeface="Times New Roman" panose="02020603050405020304" pitchFamily="18" charset="0"/>
                <a:ea typeface="宋体" pitchFamily="2" charset="-122"/>
              </a:rPr>
              <a:t>文件夹下的</a:t>
            </a:r>
            <a:r>
              <a:rPr lang="en-US" altLang="zh-CN" sz="2400" kern="100" dirty="0">
                <a:latin typeface="Times New Roman" panose="02020603050405020304" pitchFamily="18" charset="0"/>
                <a:ea typeface="宋体" pitchFamily="2" charset="-122"/>
              </a:rPr>
              <a:t>Scripts</a:t>
            </a:r>
            <a:r>
              <a:rPr lang="zh-CN" altLang="zh-CN" sz="2400" kern="100" dirty="0">
                <a:latin typeface="Times New Roman" panose="02020603050405020304" pitchFamily="18" charset="0"/>
                <a:ea typeface="宋体" pitchFamily="2" charset="-122"/>
              </a:rPr>
              <a:t>文件夹添加到环境变量。环境变量添加完毕后如图</a:t>
            </a:r>
            <a:r>
              <a:rPr lang="en-US" altLang="zh-CN" sz="2400" kern="100" dirty="0">
                <a:latin typeface="Times New Roman" panose="02020603050405020304" pitchFamily="18" charset="0"/>
                <a:ea typeface="宋体" pitchFamily="2" charset="-122"/>
              </a:rPr>
              <a:t> </a:t>
            </a:r>
            <a:r>
              <a:rPr lang="zh-CN" altLang="zh-CN" sz="2400" kern="100" dirty="0">
                <a:latin typeface="Times New Roman" panose="02020603050405020304" pitchFamily="18" charset="0"/>
                <a:ea typeface="宋体" pitchFamily="2" charset="-122"/>
              </a:rPr>
              <a:t>中项所示</a:t>
            </a:r>
            <a:r>
              <a:rPr lang="zh-CN" altLang="en-US" sz="2400" kern="100" dirty="0">
                <a:latin typeface="Times New Roman" panose="02020603050405020304" pitchFamily="18" charset="0"/>
                <a:ea typeface="宋体" pitchFamily="2" charset="-122"/>
              </a:rPr>
              <a:t>。</a:t>
            </a:r>
            <a:endParaRPr lang="en-US" altLang="zh-CN" sz="2400" kern="100" dirty="0">
              <a:latin typeface="Times New Roman" panose="02020603050405020304" pitchFamily="18" charset="0"/>
              <a:ea typeface="宋体" pitchFamily="2" charset="-122"/>
            </a:endParaRPr>
          </a:p>
          <a:p>
            <a:pPr indent="266700" algn="just"/>
            <a:endParaRPr lang="en-US" altLang="zh-CN" sz="2400" kern="100" dirty="0">
              <a:latin typeface="Times New Roman" panose="02020603050405020304" pitchFamily="18" charset="0"/>
              <a:ea typeface="宋体" pitchFamily="2" charset="-122"/>
            </a:endParaRPr>
          </a:p>
          <a:p>
            <a:pPr indent="266700" algn="just"/>
            <a:endParaRPr lang="en-US" altLang="zh-CN" sz="2400" kern="100" dirty="0">
              <a:effectLst/>
              <a:latin typeface="Times New Roman" panose="02020603050405020304" pitchFamily="18" charset="0"/>
              <a:ea typeface="宋体" pitchFamily="2" charset="-122"/>
            </a:endParaRPr>
          </a:p>
          <a:p>
            <a:pPr indent="266700" algn="just"/>
            <a:endParaRPr lang="en-US" altLang="zh-CN" sz="2400" kern="100" dirty="0">
              <a:latin typeface="Times New Roman" panose="02020603050405020304" pitchFamily="18" charset="0"/>
              <a:ea typeface="宋体" pitchFamily="2" charset="-122"/>
            </a:endParaRPr>
          </a:p>
          <a:p>
            <a:pPr indent="266700" algn="just"/>
            <a:endParaRPr lang="en-US" altLang="zh-CN" sz="2400" kern="100" dirty="0">
              <a:effectLst/>
              <a:latin typeface="Times New Roman" panose="02020603050405020304" pitchFamily="18" charset="0"/>
              <a:ea typeface="宋体" pitchFamily="2" charset="-122"/>
            </a:endParaRPr>
          </a:p>
          <a:p>
            <a:pPr indent="266700" algn="just"/>
            <a:endParaRPr lang="en-US" altLang="zh-CN" sz="2400" kern="100" dirty="0">
              <a:latin typeface="Times New Roman" panose="02020603050405020304" pitchFamily="18" charset="0"/>
              <a:ea typeface="宋体" pitchFamily="2" charset="-122"/>
            </a:endParaRPr>
          </a:p>
          <a:p>
            <a:pPr indent="266700" algn="just"/>
            <a:endParaRPr lang="en-US" altLang="zh-CN" sz="2400" kern="100" dirty="0">
              <a:effectLst/>
              <a:latin typeface="Times New Roman" panose="02020603050405020304" pitchFamily="18" charset="0"/>
              <a:ea typeface="宋体" pitchFamily="2" charset="-122"/>
            </a:endParaRPr>
          </a:p>
          <a:p>
            <a:pPr indent="266700" algn="just"/>
            <a:endParaRPr lang="en-US" altLang="zh-CN" sz="2400" kern="100" dirty="0">
              <a:latin typeface="Times New Roman" panose="02020603050405020304" pitchFamily="18" charset="0"/>
              <a:ea typeface="宋体" pitchFamily="2" charset="-122"/>
            </a:endParaRPr>
          </a:p>
        </p:txBody>
      </p:sp>
      <p:pic>
        <p:nvPicPr>
          <p:cNvPr id="8" name="图片 7"/>
          <p:cNvPicPr>
            <a:picLocks noChangeAspect="1"/>
          </p:cNvPicPr>
          <p:nvPr/>
        </p:nvPicPr>
        <p:blipFill>
          <a:blip r:embed="rId1"/>
          <a:stretch>
            <a:fillRect/>
          </a:stretch>
        </p:blipFill>
        <p:spPr>
          <a:xfrm>
            <a:off x="1734165" y="1752625"/>
            <a:ext cx="5647344" cy="1872208"/>
          </a:xfrm>
          <a:prstGeom prst="rect">
            <a:avLst/>
          </a:prstGeom>
          <a:noFill/>
          <a:ln>
            <a:noFill/>
          </a:ln>
        </p:spPr>
      </p:pic>
      <p:sp>
        <p:nvSpPr>
          <p:cNvPr id="5" name="文本框 4"/>
          <p:cNvSpPr txBox="1"/>
          <p:nvPr/>
        </p:nvSpPr>
        <p:spPr>
          <a:xfrm>
            <a:off x="3060626" y="3726617"/>
            <a:ext cx="2592288" cy="369332"/>
          </a:xfrm>
          <a:prstGeom prst="rect">
            <a:avLst/>
          </a:prstGeom>
          <a:noFill/>
        </p:spPr>
        <p:txBody>
          <a:bodyPr wrap="square" rtlCol="0">
            <a:spAutoFit/>
          </a:bodyPr>
          <a:lstStyle/>
          <a:p>
            <a:r>
              <a:rPr lang="zh-CN" altLang="en-US" sz="1800" dirty="0">
                <a:latin typeface="Times New Roman" panose="02020603050405020304" pitchFamily="18" charset="0"/>
                <a:cs typeface="Times New Roman" panose="02020603050405020304" pitchFamily="18" charset="0"/>
              </a:rPr>
              <a:t>图</a:t>
            </a:r>
            <a:r>
              <a:rPr lang="en-US" altLang="zh-CN" sz="1800" dirty="0">
                <a:latin typeface="Times New Roman" panose="02020603050405020304" pitchFamily="18" charset="0"/>
                <a:cs typeface="Times New Roman" panose="02020603050405020304" pitchFamily="18" charset="0"/>
              </a:rPr>
              <a:t>2.9</a:t>
            </a:r>
            <a:r>
              <a:rPr lang="zh-CN" altLang="en-US" sz="1800" dirty="0">
                <a:latin typeface="Times New Roman" panose="02020603050405020304" pitchFamily="18" charset="0"/>
                <a:cs typeface="Times New Roman" panose="02020603050405020304" pitchFamily="18" charset="0"/>
              </a:rPr>
              <a:t> 更改</a:t>
            </a:r>
            <a:r>
              <a:rPr lang="en-US" altLang="zh-CN" sz="1800" dirty="0">
                <a:latin typeface="Times New Roman" panose="02020603050405020304" pitchFamily="18" charset="0"/>
                <a:cs typeface="Times New Roman" panose="02020603050405020304" pitchFamily="18" charset="0"/>
              </a:rPr>
              <a:t>pip</a:t>
            </a:r>
            <a:r>
              <a:rPr lang="zh-CN" altLang="en-US" sz="1800" dirty="0">
                <a:latin typeface="Times New Roman" panose="02020603050405020304" pitchFamily="18" charset="0"/>
                <a:cs typeface="Times New Roman" panose="02020603050405020304" pitchFamily="18" charset="0"/>
              </a:rPr>
              <a:t>下载源</a:t>
            </a:r>
            <a:endParaRPr lang="zh-CN" altLang="en-US" sz="1800" dirty="0">
              <a:latin typeface="Times New Roman" panose="02020603050405020304" pitchFamily="18" charset="0"/>
              <a:cs typeface="Times New Roman" panose="02020603050405020304" pitchFamily="18" charset="0"/>
            </a:endParaRPr>
          </a:p>
        </p:txBody>
      </p:sp>
      <p:pic>
        <p:nvPicPr>
          <p:cNvPr id="15" name="图片 14"/>
          <p:cNvPicPr>
            <a:picLocks noChangeAspect="1"/>
          </p:cNvPicPr>
          <p:nvPr/>
        </p:nvPicPr>
        <p:blipFill>
          <a:blip r:embed="rId2"/>
          <a:stretch>
            <a:fillRect/>
          </a:stretch>
        </p:blipFill>
        <p:spPr>
          <a:xfrm>
            <a:off x="4500786" y="2493690"/>
            <a:ext cx="4320480" cy="4238324"/>
          </a:xfrm>
          <a:prstGeom prst="rect">
            <a:avLst/>
          </a:prstGeom>
          <a:noFill/>
          <a:ln>
            <a:noFill/>
          </a:ln>
        </p:spPr>
      </p:pic>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111200" y="1189585"/>
            <a:ext cx="8893274" cy="1846659"/>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以安装一个第三方库</a:t>
            </a:r>
            <a:r>
              <a:rPr lang="en-US" altLang="zh-CN" sz="2400" kern="100" dirty="0">
                <a:effectLst/>
                <a:latin typeface="Times New Roman" panose="02020603050405020304" pitchFamily="18" charset="0"/>
                <a:ea typeface="宋体" pitchFamily="2" charset="-122"/>
              </a:rPr>
              <a:t>pandas</a:t>
            </a:r>
            <a:r>
              <a:rPr lang="zh-CN" altLang="zh-CN" sz="2400" kern="100" dirty="0">
                <a:effectLst/>
                <a:latin typeface="Times New Roman" panose="02020603050405020304" pitchFamily="18" charset="0"/>
                <a:ea typeface="宋体" pitchFamily="2" charset="-122"/>
              </a:rPr>
              <a:t>作为示例：</a:t>
            </a:r>
            <a:endParaRPr lang="en-US" altLang="zh-CN" sz="2400" kern="100" dirty="0">
              <a:effectLst/>
              <a:latin typeface="Times New Roman" panose="02020603050405020304" pitchFamily="18" charset="0"/>
              <a:ea typeface="宋体" pitchFamily="2" charset="-122"/>
            </a:endParaRPr>
          </a:p>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在命令行窗口输入</a:t>
            </a:r>
            <a:r>
              <a:rPr lang="en-US" altLang="zh-CN" sz="2400" kern="100" dirty="0">
                <a:solidFill>
                  <a:srgbClr val="FF0000"/>
                </a:solidFill>
                <a:effectLst/>
                <a:latin typeface="Times New Roman" panose="02020603050405020304" pitchFamily="18" charset="0"/>
                <a:ea typeface="宋体" pitchFamily="2" charset="-122"/>
              </a:rPr>
              <a:t>pip install pandas</a:t>
            </a:r>
            <a:r>
              <a:rPr lang="zh-CN" altLang="zh-CN" sz="2400" kern="100" dirty="0">
                <a:effectLst/>
                <a:latin typeface="Times New Roman" panose="02020603050405020304" pitchFamily="18" charset="0"/>
                <a:ea typeface="宋体" pitchFamily="2" charset="-122"/>
              </a:rPr>
              <a:t>，就会自动安装当前最新版本的</a:t>
            </a:r>
            <a:r>
              <a:rPr lang="en-US" altLang="zh-CN" sz="2400" kern="100" dirty="0">
                <a:effectLst/>
                <a:latin typeface="Times New Roman" panose="02020603050405020304" pitchFamily="18" charset="0"/>
                <a:ea typeface="宋体" pitchFamily="2" charset="-122"/>
              </a:rPr>
              <a:t>pandas</a:t>
            </a:r>
            <a:r>
              <a:rPr lang="zh-CN" altLang="zh-CN" sz="2400" kern="100" dirty="0">
                <a:effectLst/>
                <a:latin typeface="Times New Roman" panose="02020603050405020304" pitchFamily="18" charset="0"/>
                <a:ea typeface="宋体" pitchFamily="2" charset="-122"/>
              </a:rPr>
              <a:t>与其他需要的组件，可以看到当前最新版本为</a:t>
            </a:r>
            <a:r>
              <a:rPr lang="en-US" altLang="zh-CN" sz="2400" kern="100" dirty="0">
                <a:effectLst/>
                <a:latin typeface="Times New Roman" panose="02020603050405020304" pitchFamily="18" charset="0"/>
                <a:ea typeface="宋体" pitchFamily="2" charset="-122"/>
              </a:rPr>
              <a:t>0.25.1</a:t>
            </a:r>
            <a:r>
              <a:rPr lang="zh-CN" altLang="zh-CN" sz="2400" kern="100" dirty="0">
                <a:effectLst/>
                <a:latin typeface="Times New Roman" panose="02020603050405020304" pitchFamily="18" charset="0"/>
                <a:ea typeface="宋体" pitchFamily="2" charset="-122"/>
              </a:rPr>
              <a:t>，如图</a:t>
            </a:r>
            <a:r>
              <a:rPr lang="en-US" altLang="zh-CN" sz="2400" kern="100" dirty="0">
                <a:effectLst/>
                <a:latin typeface="Times New Roman" panose="02020603050405020304" pitchFamily="18" charset="0"/>
                <a:ea typeface="宋体" pitchFamily="2" charset="-122"/>
              </a:rPr>
              <a:t>2. 10 </a:t>
            </a:r>
            <a:r>
              <a:rPr lang="zh-CN" altLang="zh-CN" sz="2400" kern="100" dirty="0">
                <a:effectLst/>
                <a:latin typeface="Times New Roman" panose="02020603050405020304" pitchFamily="18" charset="0"/>
                <a:ea typeface="宋体" pitchFamily="2" charset="-122"/>
              </a:rPr>
              <a:t>所示。</a:t>
            </a:r>
            <a:endParaRPr lang="en-US" altLang="zh-CN" sz="2400" kern="100" dirty="0">
              <a:effectLst/>
              <a:latin typeface="Times New Roman" panose="02020603050405020304" pitchFamily="18" charset="0"/>
              <a:ea typeface="宋体" pitchFamily="2" charset="-122"/>
            </a:endParaRPr>
          </a:p>
          <a:p>
            <a:pPr indent="266700" algn="just"/>
            <a:endParaRPr lang="zh-CN" altLang="zh-CN" sz="1800" kern="100" dirty="0">
              <a:effectLst/>
              <a:latin typeface="Times New Roman" panose="02020603050405020304" pitchFamily="18" charset="0"/>
              <a:ea typeface="宋体" pitchFamily="2" charset="-122"/>
            </a:endParaRPr>
          </a:p>
        </p:txBody>
      </p:sp>
      <p:pic>
        <p:nvPicPr>
          <p:cNvPr id="10" name="图片 9"/>
          <p:cNvPicPr>
            <a:picLocks noChangeAspect="1"/>
          </p:cNvPicPr>
          <p:nvPr/>
        </p:nvPicPr>
        <p:blipFill>
          <a:blip r:embed="rId1"/>
          <a:stretch>
            <a:fillRect/>
          </a:stretch>
        </p:blipFill>
        <p:spPr>
          <a:xfrm>
            <a:off x="989455" y="2712073"/>
            <a:ext cx="7136763" cy="1368152"/>
          </a:xfrm>
          <a:prstGeom prst="rect">
            <a:avLst/>
          </a:prstGeom>
          <a:noFill/>
          <a:ln>
            <a:noFill/>
          </a:ln>
        </p:spPr>
      </p:pic>
      <p:sp>
        <p:nvSpPr>
          <p:cNvPr id="12" name="文本框 11"/>
          <p:cNvSpPr txBox="1"/>
          <p:nvPr/>
        </p:nvSpPr>
        <p:spPr>
          <a:xfrm>
            <a:off x="1926669" y="4080225"/>
            <a:ext cx="4589754" cy="369332"/>
          </a:xfrm>
          <a:prstGeom prst="rect">
            <a:avLst/>
          </a:prstGeom>
          <a:noFill/>
        </p:spPr>
        <p:txBody>
          <a:bodyPr wrap="square">
            <a:spAutoFit/>
          </a:bodyPr>
          <a:lstStyle/>
          <a:p>
            <a:pPr indent="266700" algn="ctr"/>
            <a:r>
              <a:rPr lang="zh-CN" altLang="zh-CN" sz="1800" kern="100" dirty="0">
                <a:latin typeface="Times New Roman" panose="02020603050405020304" pitchFamily="18" charset="0"/>
                <a:cs typeface="Times New Roman" panose="02020603050405020304" pitchFamily="18" charset="0"/>
              </a:rPr>
              <a:t>图</a:t>
            </a:r>
            <a:r>
              <a:rPr lang="en-US" altLang="zh-CN" sz="1800" kern="100" dirty="0">
                <a:latin typeface="Times New Roman" panose="02020603050405020304" pitchFamily="18" charset="0"/>
                <a:cs typeface="Times New Roman" panose="02020603050405020304" pitchFamily="18" charset="0"/>
              </a:rPr>
              <a:t>2.10 </a:t>
            </a:r>
            <a:r>
              <a:rPr lang="zh-CN" altLang="zh-CN" sz="1800" kern="100" dirty="0">
                <a:latin typeface="Times New Roman" panose="02020603050405020304" pitchFamily="18" charset="0"/>
                <a:cs typeface="Times New Roman" panose="02020603050405020304" pitchFamily="18" charset="0"/>
              </a:rPr>
              <a:t>用</a:t>
            </a:r>
            <a:r>
              <a:rPr lang="en-US" altLang="zh-CN" sz="1800" kern="100" dirty="0">
                <a:latin typeface="Times New Roman" panose="02020603050405020304" pitchFamily="18" charset="0"/>
                <a:cs typeface="Times New Roman" panose="02020603050405020304" pitchFamily="18" charset="0"/>
              </a:rPr>
              <a:t>pip</a:t>
            </a:r>
            <a:r>
              <a:rPr lang="zh-CN" altLang="zh-CN" sz="1800" kern="100" dirty="0">
                <a:latin typeface="Times New Roman" panose="02020603050405020304" pitchFamily="18" charset="0"/>
                <a:cs typeface="Times New Roman" panose="02020603050405020304" pitchFamily="18" charset="0"/>
              </a:rPr>
              <a:t>安装</a:t>
            </a:r>
            <a:r>
              <a:rPr lang="en-US" altLang="zh-CN" sz="1800" kern="100" dirty="0">
                <a:latin typeface="Times New Roman" panose="02020603050405020304" pitchFamily="18" charset="0"/>
                <a:cs typeface="Times New Roman" panose="02020603050405020304" pitchFamily="18" charset="0"/>
              </a:rPr>
              <a:t>pandas</a:t>
            </a:r>
            <a:endParaRPr lang="zh-CN" altLang="zh-CN" sz="1800" kern="100"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133891" y="4293209"/>
            <a:ext cx="8752159" cy="1200329"/>
          </a:xfrm>
          <a:prstGeom prst="rect">
            <a:avLst/>
          </a:prstGeom>
          <a:noFill/>
        </p:spPr>
        <p:txBody>
          <a:bodyPr wrap="square">
            <a:spAutoFit/>
          </a:bodyPr>
          <a:lstStyle/>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在命令行窗口输入</a:t>
            </a:r>
            <a:r>
              <a:rPr lang="en-US" altLang="zh-CN" sz="2400" kern="100" dirty="0">
                <a:solidFill>
                  <a:srgbClr val="FF0000"/>
                </a:solidFill>
                <a:effectLst/>
                <a:latin typeface="Times New Roman" panose="02020603050405020304" pitchFamily="18" charset="0"/>
                <a:ea typeface="宋体" pitchFamily="2" charset="-122"/>
              </a:rPr>
              <a:t>python</a:t>
            </a:r>
            <a:r>
              <a:rPr lang="zh-CN" altLang="zh-CN" sz="2400" kern="100" dirty="0">
                <a:solidFill>
                  <a:srgbClr val="FF0000"/>
                </a:solidFill>
                <a:effectLst/>
                <a:latin typeface="Times New Roman" panose="02020603050405020304" pitchFamily="18" charset="0"/>
                <a:ea typeface="宋体" pitchFamily="2" charset="-122"/>
              </a:rPr>
              <a:t>→</a:t>
            </a:r>
            <a:r>
              <a:rPr lang="en-US" altLang="zh-CN" sz="2400" kern="100" dirty="0">
                <a:solidFill>
                  <a:srgbClr val="FF0000"/>
                </a:solidFill>
                <a:effectLst/>
                <a:latin typeface="Times New Roman" panose="02020603050405020304" pitchFamily="18" charset="0"/>
                <a:ea typeface="宋体" pitchFamily="2" charset="-122"/>
              </a:rPr>
              <a:t>import pandas</a:t>
            </a:r>
            <a:r>
              <a:rPr lang="zh-CN" altLang="zh-CN" sz="2400" kern="100" dirty="0">
                <a:effectLst/>
                <a:latin typeface="Times New Roman" panose="02020603050405020304" pitchFamily="18" charset="0"/>
                <a:ea typeface="宋体" pitchFamily="2" charset="-122"/>
              </a:rPr>
              <a:t>，出现</a:t>
            </a:r>
            <a:r>
              <a:rPr lang="en-US" altLang="zh-CN" sz="2400" kern="100" dirty="0">
                <a:effectLst/>
                <a:latin typeface="Times New Roman" panose="02020603050405020304" pitchFamily="18" charset="0"/>
                <a:ea typeface="宋体" pitchFamily="2" charset="-122"/>
              </a:rPr>
              <a:t>&gt;&gt;&gt;</a:t>
            </a:r>
            <a:r>
              <a:rPr lang="zh-CN" altLang="zh-CN" sz="2400" kern="100" dirty="0">
                <a:effectLst/>
                <a:latin typeface="Times New Roman" panose="02020603050405020304" pitchFamily="18" charset="0"/>
                <a:ea typeface="宋体" pitchFamily="2" charset="-122"/>
              </a:rPr>
              <a:t>符号代表已经成功安装并导入，如图</a:t>
            </a:r>
            <a:r>
              <a:rPr lang="en-US" altLang="zh-CN" sz="2400" kern="100" dirty="0">
                <a:effectLst/>
                <a:latin typeface="Times New Roman" panose="02020603050405020304" pitchFamily="18" charset="0"/>
                <a:ea typeface="宋体" pitchFamily="2" charset="-122"/>
              </a:rPr>
              <a:t>2.11</a:t>
            </a:r>
            <a:r>
              <a:rPr lang="zh-CN" altLang="zh-CN" sz="2400" kern="100" dirty="0">
                <a:effectLst/>
                <a:latin typeface="Times New Roman" panose="02020603050405020304" pitchFamily="18" charset="0"/>
                <a:ea typeface="宋体" pitchFamily="2" charset="-122"/>
              </a:rPr>
              <a:t>所示：</a:t>
            </a:r>
            <a:endParaRPr lang="en-US" altLang="zh-CN" sz="2400" kern="100" dirty="0">
              <a:effectLst/>
              <a:latin typeface="Times New Roman" panose="02020603050405020304" pitchFamily="18" charset="0"/>
              <a:ea typeface="宋体" pitchFamily="2" charset="-122"/>
            </a:endParaRPr>
          </a:p>
          <a:p>
            <a:pPr indent="266700" algn="just"/>
            <a:endParaRPr lang="zh-CN" altLang="zh-CN" sz="2400" kern="100" dirty="0">
              <a:effectLst/>
              <a:latin typeface="Times New Roman" panose="02020603050405020304" pitchFamily="18" charset="0"/>
              <a:ea typeface="宋体" pitchFamily="2" charset="-122"/>
            </a:endParaRPr>
          </a:p>
        </p:txBody>
      </p:sp>
      <p:pic>
        <p:nvPicPr>
          <p:cNvPr id="16" name="图片 15"/>
          <p:cNvPicPr>
            <a:picLocks noChangeAspect="1"/>
          </p:cNvPicPr>
          <p:nvPr/>
        </p:nvPicPr>
        <p:blipFill>
          <a:blip r:embed="rId2"/>
          <a:stretch>
            <a:fillRect/>
          </a:stretch>
        </p:blipFill>
        <p:spPr>
          <a:xfrm>
            <a:off x="1114001" y="5086019"/>
            <a:ext cx="7168523" cy="815037"/>
          </a:xfrm>
          <a:prstGeom prst="rect">
            <a:avLst/>
          </a:prstGeom>
          <a:noFill/>
          <a:ln>
            <a:noFill/>
          </a:ln>
        </p:spPr>
      </p:pic>
      <p:sp>
        <p:nvSpPr>
          <p:cNvPr id="17" name="文本框 16"/>
          <p:cNvSpPr txBox="1"/>
          <p:nvPr/>
        </p:nvSpPr>
        <p:spPr>
          <a:xfrm>
            <a:off x="1980506" y="5901056"/>
            <a:ext cx="4589754" cy="369332"/>
          </a:xfrm>
          <a:prstGeom prst="rect">
            <a:avLst/>
          </a:prstGeom>
          <a:noFill/>
        </p:spPr>
        <p:txBody>
          <a:bodyPr wrap="square">
            <a:spAutoFit/>
          </a:bodyPr>
          <a:lstStyle/>
          <a:p>
            <a:pPr indent="266700" algn="ctr"/>
            <a:r>
              <a:rPr lang="zh-CN" altLang="zh-CN" sz="1800" kern="100" dirty="0">
                <a:latin typeface="Times New Roman" panose="02020603050405020304" pitchFamily="18" charset="0"/>
                <a:cs typeface="Times New Roman" panose="02020603050405020304" pitchFamily="18" charset="0"/>
              </a:rPr>
              <a:t>图</a:t>
            </a:r>
            <a:r>
              <a:rPr lang="en-US" altLang="zh-CN" sz="1800" kern="100" dirty="0">
                <a:latin typeface="Times New Roman" panose="02020603050405020304" pitchFamily="18" charset="0"/>
                <a:cs typeface="Times New Roman" panose="02020603050405020304" pitchFamily="18" charset="0"/>
              </a:rPr>
              <a:t>2.11 </a:t>
            </a:r>
            <a:r>
              <a:rPr lang="zh-CN" altLang="zh-CN" sz="1800" kern="100" dirty="0">
                <a:latin typeface="Times New Roman" panose="02020603050405020304" pitchFamily="18" charset="0"/>
                <a:cs typeface="Times New Roman" panose="02020603050405020304" pitchFamily="18" charset="0"/>
              </a:rPr>
              <a:t>验证是否成功安装</a:t>
            </a:r>
            <a:endParaRPr lang="zh-CN" altLang="zh-CN" sz="1800" kern="100" dirty="0">
              <a:latin typeface="Times New Roman" panose="02020603050405020304" pitchFamily="18" charset="0"/>
              <a:cs typeface="Times New Roman" panose="02020603050405020304" pitchFamily="18" charset="0"/>
            </a:endParaRPr>
          </a:p>
        </p:txBody>
      </p:sp>
    </p:spTree>
  </p:cSld>
  <p:clrMapOvr>
    <a:masterClrMapping/>
  </p:clrMapOvr>
  <p:transition spd="slow" advClick="0" advTm="0">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111200" y="1189585"/>
            <a:ext cx="8893274" cy="1200329"/>
          </a:xfrm>
          <a:prstGeom prst="rect">
            <a:avLst/>
          </a:prstGeom>
          <a:noFill/>
        </p:spPr>
        <p:txBody>
          <a:bodyPr wrap="square">
            <a:spAutoFit/>
          </a:bodyPr>
          <a:lstStyle/>
          <a:p>
            <a:pPr marL="285750" indent="-28575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cs typeface="Times New Roman" panose="02020603050405020304" pitchFamily="18" charset="0"/>
              </a:rPr>
              <a:t>如果想要安装以往版本的库，可在库名称后加</a:t>
            </a:r>
            <a:r>
              <a:rPr lang="en-US" altLang="zh-CN"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cs typeface="Times New Roman" panose="02020603050405020304" pitchFamily="18" charset="0"/>
              </a:rPr>
              <a:t>版本号，例如安装</a:t>
            </a:r>
            <a:r>
              <a:rPr lang="en-US" altLang="zh-CN" sz="2400" kern="100" dirty="0">
                <a:effectLst/>
                <a:latin typeface="Times New Roman" panose="02020603050405020304" pitchFamily="18" charset="0"/>
                <a:ea typeface="宋体" pitchFamily="2" charset="-122"/>
              </a:rPr>
              <a:t>0.25.0</a:t>
            </a:r>
            <a:r>
              <a:rPr lang="zh-CN" altLang="zh-CN" sz="2400" kern="100" dirty="0">
                <a:effectLst/>
                <a:latin typeface="Times New Roman" panose="02020603050405020304" pitchFamily="18" charset="0"/>
                <a:ea typeface="宋体" pitchFamily="2" charset="-122"/>
                <a:cs typeface="Times New Roman" panose="02020603050405020304" pitchFamily="18" charset="0"/>
              </a:rPr>
              <a:t>版本的</a:t>
            </a:r>
            <a:r>
              <a:rPr lang="en-US" altLang="zh-CN" sz="2400" kern="100" dirty="0">
                <a:effectLst/>
                <a:latin typeface="Times New Roman" panose="02020603050405020304" pitchFamily="18" charset="0"/>
                <a:ea typeface="宋体" pitchFamily="2" charset="-122"/>
              </a:rPr>
              <a:t>pandas</a:t>
            </a:r>
            <a:r>
              <a:rPr lang="zh-CN" altLang="zh-CN" sz="2400" kern="100" dirty="0">
                <a:effectLst/>
                <a:latin typeface="Times New Roman" panose="02020603050405020304" pitchFamily="18" charset="0"/>
                <a:ea typeface="宋体" pitchFamily="2" charset="-122"/>
                <a:cs typeface="Times New Roman" panose="02020603050405020304" pitchFamily="18" charset="0"/>
              </a:rPr>
              <a:t>，在在命令行窗口输入</a:t>
            </a:r>
            <a:r>
              <a:rPr lang="en-US" altLang="zh-CN" sz="2400" kern="100" dirty="0">
                <a:solidFill>
                  <a:srgbClr val="FF0000"/>
                </a:solidFill>
                <a:effectLst/>
                <a:latin typeface="Times New Roman" panose="02020603050405020304" pitchFamily="18" charset="0"/>
                <a:ea typeface="宋体" pitchFamily="2" charset="-122"/>
              </a:rPr>
              <a:t>pip install pandas==0.25.0</a:t>
            </a:r>
            <a:r>
              <a:rPr lang="zh-CN" altLang="zh-CN" sz="2400" kern="100" dirty="0">
                <a:effectLst/>
                <a:latin typeface="Times New Roman" panose="02020603050405020304" pitchFamily="18" charset="0"/>
                <a:ea typeface="宋体" pitchFamily="2" charset="-122"/>
                <a:cs typeface="Times New Roman" panose="02020603050405020304" pitchFamily="18" charset="0"/>
              </a:rPr>
              <a:t>，可以看到用指定版本代替了原版本</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endParaRPr lang="zh-CN" altLang="zh-CN" sz="2400" kern="100" dirty="0">
              <a:effectLst/>
              <a:latin typeface="Times New Roman" panose="02020603050405020304" pitchFamily="18" charset="0"/>
              <a:ea typeface="宋体" pitchFamily="2" charset="-122"/>
            </a:endParaRPr>
          </a:p>
        </p:txBody>
      </p:sp>
      <p:sp>
        <p:nvSpPr>
          <p:cNvPr id="12" name="文本框 11"/>
          <p:cNvSpPr txBox="1"/>
          <p:nvPr/>
        </p:nvSpPr>
        <p:spPr>
          <a:xfrm>
            <a:off x="1926669" y="4080225"/>
            <a:ext cx="4589754" cy="369332"/>
          </a:xfrm>
          <a:prstGeom prst="rect">
            <a:avLst/>
          </a:prstGeom>
          <a:noFill/>
        </p:spPr>
        <p:txBody>
          <a:bodyPr wrap="square">
            <a:spAutoFit/>
          </a:bodyPr>
          <a:lstStyle/>
          <a:p>
            <a:pPr indent="266700" algn="ctr"/>
            <a:r>
              <a:rPr lang="zh-CN" altLang="zh-CN" sz="1800" kern="100" dirty="0">
                <a:latin typeface="Times New Roman" panose="02020603050405020304" pitchFamily="18" charset="0"/>
                <a:cs typeface="Times New Roman" panose="02020603050405020304" pitchFamily="18" charset="0"/>
              </a:rPr>
              <a:t>图</a:t>
            </a:r>
            <a:r>
              <a:rPr lang="en-US" altLang="zh-CN" sz="1800" kern="100" dirty="0">
                <a:latin typeface="Times New Roman" panose="02020603050405020304" pitchFamily="18" charset="0"/>
                <a:cs typeface="Times New Roman" panose="02020603050405020304" pitchFamily="18" charset="0"/>
              </a:rPr>
              <a:t>2.12 </a:t>
            </a:r>
            <a:r>
              <a:rPr lang="zh-CN" altLang="zh-CN" sz="1800" kern="100" dirty="0">
                <a:latin typeface="Times New Roman" panose="02020603050405020304" pitchFamily="18" charset="0"/>
                <a:cs typeface="Times New Roman" panose="02020603050405020304" pitchFamily="18" charset="0"/>
              </a:rPr>
              <a:t>安装指定版本的</a:t>
            </a:r>
            <a:r>
              <a:rPr lang="en-US" altLang="zh-CN" sz="1800" kern="100" dirty="0">
                <a:latin typeface="Times New Roman" panose="02020603050405020304" pitchFamily="18" charset="0"/>
                <a:cs typeface="Times New Roman" panose="02020603050405020304" pitchFamily="18" charset="0"/>
              </a:rPr>
              <a:t>pandas</a:t>
            </a:r>
            <a:endParaRPr lang="zh-CN" altLang="zh-CN" sz="1800" kern="100"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142957" y="4437777"/>
            <a:ext cx="8861517" cy="1200329"/>
          </a:xfrm>
          <a:prstGeom prst="rect">
            <a:avLst/>
          </a:prstGeom>
          <a:noFill/>
        </p:spPr>
        <p:txBody>
          <a:bodyPr wrap="square">
            <a:spAutoFit/>
          </a:bodyPr>
          <a:lstStyle/>
          <a:p>
            <a:pPr marL="285750" indent="-28575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在命令行窗口输入</a:t>
            </a:r>
            <a:r>
              <a:rPr lang="en-US" altLang="zh-CN" sz="2400" kern="100" dirty="0">
                <a:effectLst/>
                <a:latin typeface="Times New Roman" panose="02020603050405020304" pitchFamily="18" charset="0"/>
                <a:ea typeface="宋体" pitchFamily="2" charset="-122"/>
              </a:rPr>
              <a:t>pip uninstall pandas</a:t>
            </a:r>
            <a:r>
              <a:rPr lang="zh-CN" altLang="zh-CN" sz="2400" kern="100" dirty="0">
                <a:effectLst/>
                <a:latin typeface="Times New Roman" panose="02020603050405020304" pitchFamily="18" charset="0"/>
                <a:ea typeface="宋体" pitchFamily="2" charset="-122"/>
              </a:rPr>
              <a:t>可以卸载</a:t>
            </a:r>
            <a:r>
              <a:rPr lang="en-US" altLang="zh-CN" sz="2400" kern="100" dirty="0">
                <a:effectLst/>
                <a:latin typeface="Times New Roman" panose="02020603050405020304" pitchFamily="18" charset="0"/>
                <a:ea typeface="宋体" pitchFamily="2" charset="-122"/>
              </a:rPr>
              <a:t>pandas</a:t>
            </a:r>
            <a:r>
              <a:rPr lang="zh-CN" altLang="zh-CN" sz="2400" kern="100" dirty="0">
                <a:effectLst/>
                <a:latin typeface="Times New Roman" panose="02020603050405020304" pitchFamily="18" charset="0"/>
                <a:ea typeface="宋体" pitchFamily="2" charset="-122"/>
              </a:rPr>
              <a:t>库，输入</a:t>
            </a:r>
            <a:r>
              <a:rPr lang="en-US" altLang="zh-CN" sz="2400" kern="100" dirty="0">
                <a:effectLst/>
                <a:latin typeface="Times New Roman" panose="02020603050405020304" pitchFamily="18" charset="0"/>
                <a:ea typeface="宋体" pitchFamily="2" charset="-122"/>
              </a:rPr>
              <a:t>pip list</a:t>
            </a:r>
            <a:r>
              <a:rPr lang="zh-CN" altLang="zh-CN" sz="2400" kern="100" dirty="0">
                <a:effectLst/>
                <a:latin typeface="Times New Roman" panose="02020603050405020304" pitchFamily="18" charset="0"/>
                <a:ea typeface="宋体" pitchFamily="2" charset="-122"/>
              </a:rPr>
              <a:t>可查看所有用</a:t>
            </a:r>
            <a:r>
              <a:rPr lang="en-US" altLang="zh-CN" sz="2400" kern="100" dirty="0">
                <a:effectLst/>
                <a:latin typeface="Times New Roman" panose="02020603050405020304" pitchFamily="18" charset="0"/>
                <a:ea typeface="宋体" pitchFamily="2" charset="-122"/>
              </a:rPr>
              <a:t>pip</a:t>
            </a:r>
            <a:r>
              <a:rPr lang="zh-CN" altLang="zh-CN" sz="2400" kern="100" dirty="0">
                <a:effectLst/>
                <a:latin typeface="Times New Roman" panose="02020603050405020304" pitchFamily="18" charset="0"/>
                <a:ea typeface="宋体" pitchFamily="2" charset="-122"/>
              </a:rPr>
              <a:t>安装的库。</a:t>
            </a:r>
            <a:endParaRPr lang="zh-CN" altLang="zh-CN" sz="2400" kern="100" dirty="0">
              <a:effectLst/>
              <a:latin typeface="Times New Roman" panose="02020603050405020304" pitchFamily="18" charset="0"/>
              <a:ea typeface="宋体" pitchFamily="2" charset="-122"/>
            </a:endParaRPr>
          </a:p>
          <a:p>
            <a:pPr indent="266700" algn="just"/>
            <a:endParaRPr lang="zh-CN" altLang="zh-CN" sz="2400" kern="100" dirty="0">
              <a:effectLst/>
              <a:latin typeface="Times New Roman" panose="02020603050405020304" pitchFamily="18" charset="0"/>
              <a:ea typeface="宋体" pitchFamily="2" charset="-122"/>
            </a:endParaRPr>
          </a:p>
        </p:txBody>
      </p:sp>
      <p:pic>
        <p:nvPicPr>
          <p:cNvPr id="13" name="图片 12"/>
          <p:cNvPicPr>
            <a:picLocks noChangeAspect="1"/>
          </p:cNvPicPr>
          <p:nvPr/>
        </p:nvPicPr>
        <p:blipFill>
          <a:blip r:embed="rId1"/>
          <a:stretch>
            <a:fillRect/>
          </a:stretch>
        </p:blipFill>
        <p:spPr>
          <a:xfrm>
            <a:off x="684362" y="2500457"/>
            <a:ext cx="7704960" cy="1657300"/>
          </a:xfrm>
          <a:prstGeom prst="rect">
            <a:avLst/>
          </a:prstGeom>
          <a:noFill/>
          <a:ln>
            <a:noFill/>
          </a:ln>
        </p:spPr>
      </p:pic>
    </p:spTree>
  </p:cSld>
  <p:clrMapOvr>
    <a:masterClrMapping/>
  </p:clrMapOvr>
  <p:transition spd="slow" advClick="0" advTm="0">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111200" y="1189585"/>
            <a:ext cx="8893274" cy="2308324"/>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我们还可以使用</a:t>
            </a:r>
            <a:r>
              <a:rPr lang="en-US" altLang="zh-CN" sz="2400" kern="100" dirty="0">
                <a:effectLst/>
                <a:latin typeface="Times New Roman" panose="02020603050405020304" pitchFamily="18" charset="0"/>
                <a:ea typeface="宋体" pitchFamily="2" charset="-122"/>
              </a:rPr>
              <a:t>Anaconda</a:t>
            </a:r>
            <a:r>
              <a:rPr lang="zh-CN" altLang="zh-CN" sz="2400" kern="100" dirty="0">
                <a:effectLst/>
                <a:latin typeface="Times New Roman" panose="02020603050405020304" pitchFamily="18" charset="0"/>
                <a:ea typeface="宋体" pitchFamily="2" charset="-122"/>
              </a:rPr>
              <a:t>创建各种虚拟环境配置我们需要的</a:t>
            </a:r>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rPr>
              <a:t>版本与各种库。</a:t>
            </a:r>
            <a:endParaRPr lang="en-US" altLang="zh-CN" sz="2400" kern="100" dirty="0">
              <a:effectLst/>
              <a:latin typeface="Times New Roman" panose="02020603050405020304" pitchFamily="18" charset="0"/>
              <a:ea typeface="宋体" pitchFamily="2" charset="-122"/>
            </a:endParaRPr>
          </a:p>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打开网址</a:t>
            </a:r>
            <a:r>
              <a:rPr lang="en-US" altLang="zh-CN" sz="2400" kern="100" dirty="0">
                <a:effectLst/>
                <a:latin typeface="Times New Roman" panose="02020603050405020304" pitchFamily="18" charset="0"/>
                <a:ea typeface="宋体" pitchFamily="2" charset="-122"/>
                <a:hlinkClick r:id="rId1"/>
              </a:rPr>
              <a:t>https://www.anaconda.com/distribution/#download-section</a:t>
            </a:r>
            <a:r>
              <a:rPr lang="zh-CN" altLang="en-US"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rPr>
              <a:t>选择下载适当的版本后按照提示进行安装。</a:t>
            </a:r>
            <a:r>
              <a:rPr lang="zh-CN" altLang="en-US" sz="2400" kern="100" dirty="0">
                <a:effectLst/>
                <a:latin typeface="Times New Roman" panose="02020603050405020304" pitchFamily="18" charset="0"/>
                <a:ea typeface="宋体" pitchFamily="2" charset="-122"/>
              </a:rPr>
              <a:t>如</a:t>
            </a:r>
            <a:r>
              <a:rPr lang="zh-CN" altLang="zh-CN"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2.13</a:t>
            </a:r>
            <a:r>
              <a:rPr lang="zh-CN" altLang="en-US" sz="2400" kern="100" dirty="0">
                <a:effectLst/>
                <a:latin typeface="Times New Roman" panose="02020603050405020304" pitchFamily="18" charset="0"/>
                <a:ea typeface="宋体" pitchFamily="2" charset="-122"/>
              </a:rPr>
              <a:t>所示。</a:t>
            </a:r>
            <a:endParaRPr lang="en-US" altLang="zh-CN" sz="2400" kern="100" dirty="0">
              <a:effectLst/>
              <a:latin typeface="Times New Roman" panose="02020603050405020304" pitchFamily="18" charset="0"/>
              <a:ea typeface="宋体" pitchFamily="2" charset="-122"/>
            </a:endParaRPr>
          </a:p>
          <a:p>
            <a:pPr indent="266700" algn="just"/>
            <a:endParaRPr lang="zh-CN" altLang="zh-CN" sz="2400" kern="100" dirty="0">
              <a:effectLst/>
              <a:latin typeface="Times New Roman" panose="02020603050405020304" pitchFamily="18" charset="0"/>
              <a:ea typeface="宋体" pitchFamily="2" charset="-122"/>
            </a:endParaRPr>
          </a:p>
        </p:txBody>
      </p:sp>
      <p:pic>
        <p:nvPicPr>
          <p:cNvPr id="10" name="图片 9"/>
          <p:cNvPicPr>
            <a:picLocks noChangeAspect="1"/>
          </p:cNvPicPr>
          <p:nvPr/>
        </p:nvPicPr>
        <p:blipFill>
          <a:blip r:embed="rId2"/>
          <a:stretch>
            <a:fillRect/>
          </a:stretch>
        </p:blipFill>
        <p:spPr>
          <a:xfrm>
            <a:off x="2196530" y="3069754"/>
            <a:ext cx="4320480" cy="3350974"/>
          </a:xfrm>
          <a:prstGeom prst="rect">
            <a:avLst/>
          </a:prstGeom>
          <a:noFill/>
          <a:ln>
            <a:noFill/>
          </a:ln>
        </p:spPr>
      </p:pic>
      <p:sp>
        <p:nvSpPr>
          <p:cNvPr id="3" name="文本框 2"/>
          <p:cNvSpPr txBox="1"/>
          <p:nvPr/>
        </p:nvSpPr>
        <p:spPr>
          <a:xfrm>
            <a:off x="3132634" y="6526138"/>
            <a:ext cx="2664296" cy="369332"/>
          </a:xfrm>
          <a:prstGeom prst="rect">
            <a:avLst/>
          </a:prstGeom>
          <a:noFill/>
        </p:spPr>
        <p:txBody>
          <a:bodyPr wrap="square" rtlCol="0">
            <a:spAutoFit/>
          </a:bodyPr>
          <a:lstStyle/>
          <a:p>
            <a:r>
              <a:rPr lang="zh-CN" altLang="en-US" sz="1800" kern="100" dirty="0">
                <a:latin typeface="Times New Roman" panose="02020603050405020304" pitchFamily="18" charset="0"/>
                <a:cs typeface="Times New Roman" panose="02020603050405020304" pitchFamily="18" charset="0"/>
              </a:rPr>
              <a:t>图</a:t>
            </a:r>
            <a:r>
              <a:rPr lang="en-US" altLang="zh-CN" sz="1800" kern="100" dirty="0">
                <a:latin typeface="Times New Roman" panose="02020603050405020304" pitchFamily="18" charset="0"/>
                <a:cs typeface="Times New Roman" panose="02020603050405020304" pitchFamily="18" charset="0"/>
              </a:rPr>
              <a:t>2.13 </a:t>
            </a:r>
            <a:r>
              <a:rPr lang="zh-CN" altLang="zh-CN" sz="1800" kern="100" dirty="0">
                <a:latin typeface="Times New Roman" panose="02020603050405020304" pitchFamily="18" charset="0"/>
                <a:cs typeface="Times New Roman" panose="02020603050405020304" pitchFamily="18" charset="0"/>
              </a:rPr>
              <a:t>安装</a:t>
            </a:r>
            <a:r>
              <a:rPr lang="en-US" altLang="zh-CN" sz="1800" kern="100" dirty="0">
                <a:latin typeface="Times New Roman" panose="02020603050405020304" pitchFamily="18" charset="0"/>
                <a:cs typeface="Times New Roman" panose="02020603050405020304" pitchFamily="18" charset="0"/>
              </a:rPr>
              <a:t>Anaconda</a:t>
            </a:r>
            <a:endParaRPr lang="zh-CN" altLang="en-US" sz="1800" kern="100" dirty="0">
              <a:latin typeface="Times New Roman" panose="02020603050405020304" pitchFamily="18" charset="0"/>
              <a:cs typeface="Times New Roman" panose="02020603050405020304" pitchFamily="18" charset="0"/>
            </a:endParaRPr>
          </a:p>
        </p:txBody>
      </p:sp>
    </p:spTree>
  </p:cSld>
  <p:clrMapOvr>
    <a:masterClrMapping/>
  </p:clrMapOvr>
  <p:transition spd="slow" advClick="0" advTm="0">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111200" y="1189585"/>
            <a:ext cx="8893274" cy="830997"/>
          </a:xfrm>
          <a:prstGeom prst="rect">
            <a:avLst/>
          </a:prstGeom>
          <a:noFill/>
        </p:spPr>
        <p:txBody>
          <a:bodyPr wrap="square">
            <a:spAutoFit/>
          </a:bodyPr>
          <a:lstStyle/>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安装完成后在开始菜单找到</a:t>
            </a:r>
            <a:r>
              <a:rPr lang="en-US" altLang="zh-CN" sz="2400" kern="100" dirty="0">
                <a:effectLst/>
                <a:latin typeface="Times New Roman" panose="02020603050405020304" pitchFamily="18" charset="0"/>
                <a:ea typeface="宋体" pitchFamily="2" charset="-122"/>
              </a:rPr>
              <a:t>Anaconda3</a:t>
            </a:r>
            <a:r>
              <a:rPr lang="zh-CN" altLang="zh-CN" sz="2400" kern="100" dirty="0">
                <a:effectLst/>
                <a:latin typeface="Times New Roman" panose="02020603050405020304" pitchFamily="18" charset="0"/>
                <a:ea typeface="宋体" pitchFamily="2" charset="-122"/>
              </a:rPr>
              <a:t>菜单，右击</a:t>
            </a:r>
            <a:r>
              <a:rPr lang="en-US" altLang="zh-CN" sz="2400" kern="100" dirty="0">
                <a:solidFill>
                  <a:srgbClr val="FF0000"/>
                </a:solidFill>
                <a:effectLst/>
                <a:latin typeface="Times New Roman" panose="02020603050405020304" pitchFamily="18" charset="0"/>
                <a:ea typeface="宋体" pitchFamily="2" charset="-122"/>
              </a:rPr>
              <a:t>Anaconda </a:t>
            </a:r>
            <a:r>
              <a:rPr lang="en-US" altLang="zh-CN" sz="2400" kern="100" dirty="0" err="1">
                <a:solidFill>
                  <a:srgbClr val="FF0000"/>
                </a:solidFill>
                <a:effectLst/>
                <a:latin typeface="Times New Roman" panose="02020603050405020304" pitchFamily="18" charset="0"/>
                <a:ea typeface="宋体" pitchFamily="2" charset="-122"/>
              </a:rPr>
              <a:t>Powershell</a:t>
            </a:r>
            <a:r>
              <a:rPr lang="en-US" altLang="zh-CN" sz="2400" kern="100" dirty="0">
                <a:solidFill>
                  <a:srgbClr val="FF0000"/>
                </a:solidFill>
                <a:effectLst/>
                <a:latin typeface="Times New Roman" panose="02020603050405020304" pitchFamily="18" charset="0"/>
                <a:ea typeface="宋体" pitchFamily="2" charset="-122"/>
              </a:rPr>
              <a:t> Prompt</a:t>
            </a:r>
            <a:r>
              <a:rPr lang="zh-CN" altLang="zh-CN" sz="2400" kern="100" dirty="0">
                <a:effectLst/>
                <a:latin typeface="Times New Roman" panose="02020603050405020304" pitchFamily="18" charset="0"/>
                <a:ea typeface="宋体" pitchFamily="2" charset="-122"/>
              </a:rPr>
              <a:t>后选择以管理员身份运行，如图</a:t>
            </a:r>
            <a:r>
              <a:rPr lang="en-US" altLang="zh-CN" sz="2400" kern="100" dirty="0">
                <a:effectLst/>
                <a:latin typeface="Times New Roman" panose="02020603050405020304" pitchFamily="18" charset="0"/>
                <a:ea typeface="宋体" pitchFamily="2" charset="-122"/>
              </a:rPr>
              <a:t>2.14 </a:t>
            </a:r>
            <a:r>
              <a:rPr lang="zh-CN" altLang="zh-CN" sz="2400" kern="100" dirty="0">
                <a:effectLst/>
                <a:latin typeface="Times New Roman" panose="02020603050405020304" pitchFamily="18" charset="0"/>
                <a:ea typeface="宋体" pitchFamily="2" charset="-122"/>
              </a:rPr>
              <a:t>所示。</a:t>
            </a:r>
            <a:endParaRPr lang="zh-CN" altLang="zh-CN" sz="2400" kern="100" dirty="0">
              <a:effectLst/>
              <a:latin typeface="Times New Roman" panose="02020603050405020304" pitchFamily="18" charset="0"/>
              <a:ea typeface="宋体" pitchFamily="2" charset="-122"/>
            </a:endParaRPr>
          </a:p>
        </p:txBody>
      </p:sp>
      <p:sp>
        <p:nvSpPr>
          <p:cNvPr id="3" name="文本框 2"/>
          <p:cNvSpPr txBox="1"/>
          <p:nvPr/>
        </p:nvSpPr>
        <p:spPr>
          <a:xfrm>
            <a:off x="3240646" y="5300671"/>
            <a:ext cx="2664296" cy="369332"/>
          </a:xfrm>
          <a:prstGeom prst="rect">
            <a:avLst/>
          </a:prstGeom>
          <a:noFill/>
        </p:spPr>
        <p:txBody>
          <a:bodyPr wrap="square" rtlCol="0">
            <a:spAutoFit/>
          </a:bodyPr>
          <a:lstStyle/>
          <a:p>
            <a:r>
              <a:rPr lang="zh-CN" altLang="en-US" sz="1800" kern="100" dirty="0">
                <a:latin typeface="Times New Roman" panose="02020603050405020304" pitchFamily="18" charset="0"/>
                <a:cs typeface="Times New Roman" panose="02020603050405020304" pitchFamily="18" charset="0"/>
              </a:rPr>
              <a:t>图</a:t>
            </a:r>
            <a:r>
              <a:rPr lang="en-US" altLang="zh-CN" sz="1800" kern="100" dirty="0">
                <a:latin typeface="Times New Roman" panose="02020603050405020304" pitchFamily="18" charset="0"/>
                <a:cs typeface="Times New Roman" panose="02020603050405020304" pitchFamily="18" charset="0"/>
              </a:rPr>
              <a:t>2.14</a:t>
            </a:r>
            <a:r>
              <a:rPr lang="zh-CN" altLang="en-US" sz="1800" kern="100" dirty="0">
                <a:latin typeface="Times New Roman" panose="02020603050405020304" pitchFamily="18" charset="0"/>
                <a:cs typeface="Times New Roman" panose="02020603050405020304" pitchFamily="18" charset="0"/>
              </a:rPr>
              <a:t> </a:t>
            </a:r>
            <a:r>
              <a:rPr lang="zh-CN" altLang="zh-CN" sz="1800" kern="100" dirty="0">
                <a:latin typeface="Times New Roman" panose="02020603050405020304" pitchFamily="18" charset="0"/>
                <a:cs typeface="Times New Roman" panose="02020603050405020304" pitchFamily="18" charset="0"/>
              </a:rPr>
              <a:t>安装</a:t>
            </a:r>
            <a:r>
              <a:rPr lang="en-US" altLang="zh-CN" sz="1800" kern="100" dirty="0">
                <a:latin typeface="Times New Roman" panose="02020603050405020304" pitchFamily="18" charset="0"/>
                <a:cs typeface="Times New Roman" panose="02020603050405020304" pitchFamily="18" charset="0"/>
              </a:rPr>
              <a:t>Anaconda</a:t>
            </a:r>
            <a:endParaRPr lang="zh-CN" altLang="en-US" sz="1800" kern="100" dirty="0">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1954102" y="2163974"/>
            <a:ext cx="4979655" cy="2994011"/>
          </a:xfrm>
          <a:prstGeom prst="rect">
            <a:avLst/>
          </a:prstGeom>
          <a:noFill/>
          <a:ln>
            <a:noFill/>
          </a:ln>
        </p:spPr>
      </p:pic>
    </p:spTree>
  </p:cSld>
  <p:clrMapOvr>
    <a:masterClrMapping/>
  </p:clrMapOvr>
  <p:transition spd="slow" advClick="0" advTm="0">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111200" y="1189585"/>
            <a:ext cx="8893274" cy="1938992"/>
          </a:xfrm>
          <a:prstGeom prst="rect">
            <a:avLst/>
          </a:prstGeom>
          <a:noFill/>
        </p:spPr>
        <p:txBody>
          <a:bodyPr wrap="square">
            <a:spAutoFit/>
          </a:bodyPr>
          <a:lstStyle/>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在打开的窗口内输入</a:t>
            </a:r>
            <a:r>
              <a:rPr lang="en-US" altLang="zh-CN" sz="2400" kern="100" dirty="0" err="1">
                <a:solidFill>
                  <a:srgbClr val="FF0000"/>
                </a:solidFill>
                <a:effectLst/>
                <a:latin typeface="Times New Roman" panose="02020603050405020304" pitchFamily="18" charset="0"/>
                <a:ea typeface="宋体" pitchFamily="2" charset="-122"/>
              </a:rPr>
              <a:t>conda</a:t>
            </a:r>
            <a:r>
              <a:rPr lang="en-US" altLang="zh-CN" sz="2400" kern="100" dirty="0">
                <a:solidFill>
                  <a:srgbClr val="FF0000"/>
                </a:solidFill>
                <a:effectLst/>
                <a:latin typeface="Times New Roman" panose="02020603050405020304" pitchFamily="18" charset="0"/>
                <a:ea typeface="宋体" pitchFamily="2" charset="-122"/>
              </a:rPr>
              <a:t> create -n book python=3.6</a:t>
            </a:r>
            <a:r>
              <a:rPr lang="zh-CN" altLang="zh-CN" sz="2400" kern="100" dirty="0">
                <a:effectLst/>
                <a:latin typeface="Times New Roman" panose="02020603050405020304" pitchFamily="18" charset="0"/>
                <a:ea typeface="宋体" pitchFamily="2" charset="-122"/>
              </a:rPr>
              <a:t>，出现询问后输入</a:t>
            </a:r>
            <a:r>
              <a:rPr lang="en-US" altLang="zh-CN" sz="2400" kern="100" dirty="0">
                <a:solidFill>
                  <a:srgbClr val="FF0000"/>
                </a:solidFill>
                <a:effectLst/>
                <a:latin typeface="Times New Roman" panose="02020603050405020304" pitchFamily="18" charset="0"/>
                <a:ea typeface="宋体" pitchFamily="2" charset="-122"/>
              </a:rPr>
              <a:t>y</a:t>
            </a:r>
            <a:r>
              <a:rPr lang="zh-CN" altLang="zh-CN" sz="2400" kern="100" dirty="0">
                <a:effectLst/>
                <a:latin typeface="Times New Roman" panose="02020603050405020304" pitchFamily="18" charset="0"/>
                <a:ea typeface="宋体" pitchFamily="2" charset="-122"/>
              </a:rPr>
              <a:t>，按下</a:t>
            </a:r>
            <a:r>
              <a:rPr lang="en-US" altLang="zh-CN" sz="2400" kern="100" dirty="0">
                <a:effectLst/>
                <a:latin typeface="Times New Roman" panose="02020603050405020304" pitchFamily="18" charset="0"/>
                <a:ea typeface="宋体" pitchFamily="2" charset="-122"/>
              </a:rPr>
              <a:t>ENTER</a:t>
            </a:r>
            <a:r>
              <a:rPr lang="zh-CN" altLang="zh-CN" sz="2400" kern="100" dirty="0">
                <a:effectLst/>
                <a:latin typeface="Times New Roman" panose="02020603050405020304" pitchFamily="18" charset="0"/>
                <a:ea typeface="宋体" pitchFamily="2" charset="-122"/>
              </a:rPr>
              <a:t>就可以创建一个</a:t>
            </a:r>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rPr>
              <a:t>版本为</a:t>
            </a:r>
            <a:r>
              <a:rPr lang="en-US" altLang="zh-CN" sz="2400" kern="100" dirty="0">
                <a:effectLst/>
                <a:latin typeface="Times New Roman" panose="02020603050405020304" pitchFamily="18" charset="0"/>
                <a:ea typeface="宋体" pitchFamily="2" charset="-122"/>
              </a:rPr>
              <a:t>3.6</a:t>
            </a:r>
            <a:r>
              <a:rPr lang="zh-CN" altLang="zh-CN" sz="2400" kern="100" dirty="0">
                <a:effectLst/>
                <a:latin typeface="Times New Roman" panose="02020603050405020304" pitchFamily="18" charset="0"/>
                <a:ea typeface="宋体" pitchFamily="2" charset="-122"/>
              </a:rPr>
              <a:t>的，名称为</a:t>
            </a:r>
            <a:r>
              <a:rPr lang="en-US" altLang="zh-CN" sz="2400" kern="100" dirty="0">
                <a:effectLst/>
                <a:latin typeface="Times New Roman" panose="02020603050405020304" pitchFamily="18" charset="0"/>
                <a:ea typeface="宋体" pitchFamily="2" charset="-122"/>
              </a:rPr>
              <a:t>book</a:t>
            </a:r>
            <a:r>
              <a:rPr lang="zh-CN" altLang="zh-CN" sz="2400" kern="100" dirty="0">
                <a:effectLst/>
                <a:latin typeface="Times New Roman" panose="02020603050405020304" pitchFamily="18" charset="0"/>
                <a:ea typeface="宋体" pitchFamily="2" charset="-122"/>
              </a:rPr>
              <a:t>的虚拟</a:t>
            </a:r>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rPr>
              <a:t>环境。</a:t>
            </a:r>
            <a:endParaRPr lang="en-US" altLang="zh-CN" sz="2400" kern="100" dirty="0">
              <a:effectLst/>
              <a:latin typeface="Times New Roman" panose="02020603050405020304" pitchFamily="18" charset="0"/>
              <a:ea typeface="宋体" pitchFamily="2" charset="-122"/>
            </a:endParaRPr>
          </a:p>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在窗口内输入</a:t>
            </a:r>
            <a:r>
              <a:rPr lang="en-US" altLang="zh-CN" sz="2400" kern="100" dirty="0" err="1">
                <a:solidFill>
                  <a:srgbClr val="FF0000"/>
                </a:solidFill>
                <a:effectLst/>
                <a:latin typeface="Times New Roman" panose="02020603050405020304" pitchFamily="18" charset="0"/>
                <a:ea typeface="宋体" pitchFamily="2" charset="-122"/>
              </a:rPr>
              <a:t>conda</a:t>
            </a:r>
            <a:r>
              <a:rPr lang="en-US" altLang="zh-CN" sz="2400" kern="100" dirty="0">
                <a:solidFill>
                  <a:srgbClr val="FF0000"/>
                </a:solidFill>
                <a:effectLst/>
                <a:latin typeface="Times New Roman" panose="02020603050405020304" pitchFamily="18" charset="0"/>
                <a:ea typeface="宋体" pitchFamily="2" charset="-122"/>
              </a:rPr>
              <a:t> activate book</a:t>
            </a:r>
            <a:r>
              <a:rPr lang="zh-CN" altLang="zh-CN" sz="2400" kern="100" dirty="0">
                <a:effectLst/>
                <a:latin typeface="Times New Roman" panose="02020603050405020304" pitchFamily="18" charset="0"/>
                <a:ea typeface="宋体" pitchFamily="2" charset="-122"/>
              </a:rPr>
              <a:t>即可激活创建好的</a:t>
            </a:r>
            <a:r>
              <a:rPr lang="en-US" altLang="zh-CN" sz="2400" kern="100" dirty="0">
                <a:effectLst/>
                <a:latin typeface="Times New Roman" panose="02020603050405020304" pitchFamily="18" charset="0"/>
                <a:ea typeface="宋体" pitchFamily="2" charset="-122"/>
              </a:rPr>
              <a:t>book</a:t>
            </a:r>
            <a:r>
              <a:rPr lang="zh-CN" altLang="zh-CN" sz="2400" kern="100" dirty="0">
                <a:effectLst/>
                <a:latin typeface="Times New Roman" panose="02020603050405020304" pitchFamily="18" charset="0"/>
                <a:ea typeface="宋体" pitchFamily="2" charset="-122"/>
              </a:rPr>
              <a:t>环境。</a:t>
            </a:r>
            <a:r>
              <a:rPr lang="zh-CN" altLang="en-US" sz="2400" kern="100" dirty="0">
                <a:effectLst/>
                <a:latin typeface="Times New Roman" panose="02020603050405020304" pitchFamily="18" charset="0"/>
                <a:ea typeface="宋体" pitchFamily="2" charset="-122"/>
              </a:rPr>
              <a:t>如图</a:t>
            </a:r>
            <a:r>
              <a:rPr lang="en-US" altLang="zh-CN" sz="2400" kern="100" dirty="0">
                <a:effectLst/>
                <a:latin typeface="Times New Roman" panose="02020603050405020304" pitchFamily="18" charset="0"/>
                <a:ea typeface="宋体" pitchFamily="2" charset="-122"/>
              </a:rPr>
              <a:t>2.15 </a:t>
            </a:r>
            <a:r>
              <a:rPr lang="zh-CN" altLang="en-US" sz="2400" kern="100" dirty="0">
                <a:effectLst/>
                <a:latin typeface="Times New Roman" panose="02020603050405020304" pitchFamily="18" charset="0"/>
                <a:ea typeface="宋体" pitchFamily="2" charset="-122"/>
              </a:rPr>
              <a:t>所示。</a:t>
            </a:r>
            <a:endParaRPr lang="zh-CN" altLang="zh-CN" sz="2400" kern="100" dirty="0">
              <a:effectLst/>
              <a:latin typeface="Times New Roman" panose="02020603050405020304" pitchFamily="18" charset="0"/>
              <a:ea typeface="宋体" pitchFamily="2" charset="-122"/>
            </a:endParaRPr>
          </a:p>
        </p:txBody>
      </p:sp>
      <p:sp>
        <p:nvSpPr>
          <p:cNvPr id="3" name="文本框 2"/>
          <p:cNvSpPr txBox="1"/>
          <p:nvPr/>
        </p:nvSpPr>
        <p:spPr>
          <a:xfrm>
            <a:off x="3366115" y="4653930"/>
            <a:ext cx="2664296" cy="369332"/>
          </a:xfrm>
          <a:prstGeom prst="rect">
            <a:avLst/>
          </a:prstGeom>
          <a:noFill/>
        </p:spPr>
        <p:txBody>
          <a:bodyPr wrap="square" rtlCol="0">
            <a:spAutoFit/>
          </a:bodyPr>
          <a:lstStyle/>
          <a:p>
            <a:r>
              <a:rPr lang="zh-CN" altLang="en-US" sz="1800" kern="100" dirty="0">
                <a:latin typeface="Times New Roman" panose="02020603050405020304" pitchFamily="18" charset="0"/>
                <a:cs typeface="Times New Roman" panose="02020603050405020304" pitchFamily="18" charset="0"/>
              </a:rPr>
              <a:t>图</a:t>
            </a:r>
            <a:r>
              <a:rPr lang="en-US" altLang="zh-CN" sz="1800" kern="100" dirty="0">
                <a:latin typeface="Times New Roman" panose="02020603050405020304" pitchFamily="18" charset="0"/>
                <a:cs typeface="Times New Roman" panose="02020603050405020304" pitchFamily="18" charset="0"/>
              </a:rPr>
              <a:t>2.15</a:t>
            </a:r>
            <a:r>
              <a:rPr lang="zh-CN" altLang="en-US" sz="1800" kern="100" dirty="0">
                <a:latin typeface="Times New Roman" panose="02020603050405020304" pitchFamily="18" charset="0"/>
                <a:cs typeface="Times New Roman" panose="02020603050405020304" pitchFamily="18" charset="0"/>
              </a:rPr>
              <a:t> 激活虚拟环境</a:t>
            </a:r>
            <a:endParaRPr lang="zh-CN" altLang="en-US" sz="1800" kern="100" dirty="0">
              <a:latin typeface="Times New Roman" panose="02020603050405020304" pitchFamily="18" charset="0"/>
              <a:cs typeface="Times New Roman" panose="02020603050405020304" pitchFamily="18" charset="0"/>
            </a:endParaRPr>
          </a:p>
        </p:txBody>
      </p:sp>
      <p:pic>
        <p:nvPicPr>
          <p:cNvPr id="10" name="图片 9"/>
          <p:cNvPicPr>
            <a:picLocks noChangeAspect="1"/>
          </p:cNvPicPr>
          <p:nvPr/>
        </p:nvPicPr>
        <p:blipFill>
          <a:blip r:embed="rId1"/>
          <a:stretch>
            <a:fillRect/>
          </a:stretch>
        </p:blipFill>
        <p:spPr>
          <a:xfrm>
            <a:off x="531605" y="3239120"/>
            <a:ext cx="8082378" cy="1224131"/>
          </a:xfrm>
          <a:prstGeom prst="rect">
            <a:avLst/>
          </a:prstGeom>
          <a:noFill/>
          <a:ln>
            <a:noFill/>
          </a:ln>
        </p:spPr>
      </p:pic>
    </p:spTree>
  </p:cSld>
  <p:clrMapOvr>
    <a:masterClrMapping/>
  </p:clrMapOvr>
  <p:transition spd="slow" advClick="0" advTm="0">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文本框 11"/>
          <p:cNvSpPr txBox="1"/>
          <p:nvPr/>
        </p:nvSpPr>
        <p:spPr>
          <a:xfrm>
            <a:off x="252314" y="1203639"/>
            <a:ext cx="8640960" cy="2308324"/>
          </a:xfrm>
          <a:prstGeom prst="rect">
            <a:avLst/>
          </a:prstGeom>
          <a:noFill/>
        </p:spPr>
        <p:txBody>
          <a:bodyPr wrap="square">
            <a:spAutoFit/>
          </a:bodyPr>
          <a:lstStyle/>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在</a:t>
            </a:r>
            <a:r>
              <a:rPr lang="en-US" altLang="zh-CN" sz="2400" kern="100" dirty="0">
                <a:effectLst/>
                <a:latin typeface="Times New Roman" panose="02020603050405020304" pitchFamily="18" charset="0"/>
                <a:ea typeface="宋体" pitchFamily="2" charset="-122"/>
              </a:rPr>
              <a:t>PyCharm</a:t>
            </a:r>
            <a:r>
              <a:rPr lang="zh-CN" altLang="zh-CN" sz="2400" kern="100" dirty="0">
                <a:effectLst/>
                <a:latin typeface="Times New Roman" panose="02020603050405020304" pitchFamily="18" charset="0"/>
                <a:ea typeface="宋体" pitchFamily="2" charset="-122"/>
              </a:rPr>
              <a:t>中选择</a:t>
            </a:r>
            <a:r>
              <a:rPr lang="en-US" altLang="zh-CN" sz="2400" kern="100" dirty="0" err="1">
                <a:solidFill>
                  <a:srgbClr val="FF0000"/>
                </a:solidFill>
                <a:effectLst/>
                <a:latin typeface="Times New Roman" panose="02020603050405020304" pitchFamily="18" charset="0"/>
                <a:ea typeface="宋体" pitchFamily="2" charset="-122"/>
              </a:rPr>
              <a:t>File→Settings→Project:Hello_world→Project</a:t>
            </a:r>
            <a:r>
              <a:rPr lang="en-US" altLang="zh-CN" sz="2400" kern="100" dirty="0">
                <a:solidFill>
                  <a:srgbClr val="FF0000"/>
                </a:solidFill>
                <a:effectLst/>
                <a:latin typeface="Times New Roman" panose="02020603050405020304" pitchFamily="18" charset="0"/>
                <a:ea typeface="宋体" pitchFamily="2" charset="-122"/>
              </a:rPr>
              <a:t> Interpreter</a:t>
            </a:r>
            <a:r>
              <a:rPr lang="zh-CN" altLang="zh-CN" sz="2400" kern="100" dirty="0">
                <a:effectLst/>
                <a:latin typeface="Times New Roman" panose="02020603050405020304" pitchFamily="18" charset="0"/>
                <a:ea typeface="宋体" pitchFamily="2" charset="-122"/>
              </a:rPr>
              <a:t>，点击右上角齿轮</a:t>
            </a:r>
            <a:r>
              <a:rPr lang="en-US" altLang="zh-CN" sz="2400" kern="100" dirty="0">
                <a:effectLst/>
                <a:latin typeface="Times New Roman" panose="02020603050405020304" pitchFamily="18" charset="0"/>
                <a:ea typeface="宋体" pitchFamily="2" charset="-122"/>
              </a:rPr>
              <a:t>→</a:t>
            </a:r>
            <a:r>
              <a:rPr lang="en-US" altLang="zh-CN" sz="2400" kern="100" dirty="0">
                <a:solidFill>
                  <a:srgbClr val="FF0000"/>
                </a:solidFill>
                <a:effectLst/>
                <a:latin typeface="Times New Roman" panose="02020603050405020304" pitchFamily="18" charset="0"/>
                <a:ea typeface="宋体" pitchFamily="2" charset="-122"/>
              </a:rPr>
              <a:t>Add...→</a:t>
            </a:r>
            <a:r>
              <a:rPr lang="en-US" altLang="zh-CN" sz="2400" kern="100" dirty="0" err="1">
                <a:solidFill>
                  <a:srgbClr val="FF0000"/>
                </a:solidFill>
                <a:effectLst/>
                <a:latin typeface="Times New Roman" panose="02020603050405020304" pitchFamily="18" charset="0"/>
                <a:ea typeface="宋体" pitchFamily="2" charset="-122"/>
              </a:rPr>
              <a:t>Conda</a:t>
            </a:r>
            <a:r>
              <a:rPr lang="en-US" altLang="zh-CN" sz="2400" kern="100" dirty="0">
                <a:solidFill>
                  <a:srgbClr val="FF0000"/>
                </a:solidFill>
                <a:effectLst/>
                <a:latin typeface="Times New Roman" panose="02020603050405020304" pitchFamily="18" charset="0"/>
                <a:ea typeface="宋体" pitchFamily="2" charset="-122"/>
              </a:rPr>
              <a:t> </a:t>
            </a:r>
            <a:r>
              <a:rPr lang="en-US" altLang="zh-CN" sz="2400" kern="100" dirty="0" err="1">
                <a:solidFill>
                  <a:srgbClr val="FF0000"/>
                </a:solidFill>
                <a:effectLst/>
                <a:latin typeface="Times New Roman" panose="02020603050405020304" pitchFamily="18" charset="0"/>
                <a:ea typeface="宋体" pitchFamily="2" charset="-122"/>
              </a:rPr>
              <a:t>Environment→Existing</a:t>
            </a:r>
            <a:r>
              <a:rPr lang="en-US" altLang="zh-CN" sz="2400" kern="100" dirty="0">
                <a:solidFill>
                  <a:srgbClr val="FF0000"/>
                </a:solidFill>
                <a:effectLst/>
                <a:latin typeface="Times New Roman" panose="02020603050405020304" pitchFamily="18" charset="0"/>
                <a:ea typeface="宋体" pitchFamily="2" charset="-122"/>
              </a:rPr>
              <a:t> </a:t>
            </a:r>
            <a:r>
              <a:rPr lang="en-US" altLang="zh-CN" sz="2400" kern="100" dirty="0" err="1">
                <a:solidFill>
                  <a:srgbClr val="FF0000"/>
                </a:solidFill>
                <a:effectLst/>
                <a:latin typeface="Times New Roman" panose="02020603050405020304" pitchFamily="18" charset="0"/>
                <a:ea typeface="宋体" pitchFamily="2" charset="-122"/>
              </a:rPr>
              <a:t>Environment→OK</a:t>
            </a:r>
            <a:r>
              <a:rPr lang="zh-CN" altLang="zh-CN" sz="2400" kern="100" dirty="0">
                <a:effectLst/>
                <a:latin typeface="Times New Roman" panose="02020603050405020304" pitchFamily="18" charset="0"/>
                <a:ea typeface="宋体" pitchFamily="2" charset="-122"/>
              </a:rPr>
              <a:t>，就可以选择创建的</a:t>
            </a:r>
            <a:r>
              <a:rPr lang="en-US" altLang="zh-CN" sz="2400" kern="100" dirty="0">
                <a:effectLst/>
                <a:latin typeface="Times New Roman" panose="02020603050405020304" pitchFamily="18" charset="0"/>
                <a:ea typeface="宋体" pitchFamily="2" charset="-122"/>
              </a:rPr>
              <a:t>book</a:t>
            </a:r>
            <a:r>
              <a:rPr lang="zh-CN" altLang="zh-CN" sz="2400" kern="100" dirty="0">
                <a:effectLst/>
                <a:latin typeface="Times New Roman" panose="02020603050405020304" pitchFamily="18" charset="0"/>
                <a:ea typeface="宋体" pitchFamily="2" charset="-122"/>
              </a:rPr>
              <a:t>环境，此后默认的解释器与使用的库都会变为</a:t>
            </a:r>
            <a:r>
              <a:rPr lang="en-US" altLang="zh-CN" sz="2400" kern="100" dirty="0">
                <a:effectLst/>
                <a:latin typeface="Times New Roman" panose="02020603050405020304" pitchFamily="18" charset="0"/>
                <a:ea typeface="宋体" pitchFamily="2" charset="-122"/>
              </a:rPr>
              <a:t>book</a:t>
            </a:r>
            <a:r>
              <a:rPr lang="zh-CN" altLang="zh-CN" sz="2400" kern="100" dirty="0">
                <a:effectLst/>
                <a:latin typeface="Times New Roman" panose="02020603050405020304" pitchFamily="18" charset="0"/>
                <a:ea typeface="宋体" pitchFamily="2" charset="-122"/>
              </a:rPr>
              <a:t>环境下。在</a:t>
            </a:r>
            <a:r>
              <a:rPr lang="en-US" altLang="zh-CN" sz="2400" kern="100" dirty="0">
                <a:effectLst/>
                <a:latin typeface="Times New Roman" panose="02020603050405020304" pitchFamily="18" charset="0"/>
                <a:ea typeface="宋体" pitchFamily="2" charset="-122"/>
              </a:rPr>
              <a:t>Project Interpreter</a:t>
            </a:r>
            <a:r>
              <a:rPr lang="zh-CN" altLang="zh-CN" sz="2400" kern="100" dirty="0">
                <a:effectLst/>
                <a:latin typeface="Times New Roman" panose="02020603050405020304" pitchFamily="18" charset="0"/>
                <a:ea typeface="宋体" pitchFamily="2" charset="-122"/>
              </a:rPr>
              <a:t>中可以切换各种环境，如图</a:t>
            </a:r>
            <a:r>
              <a:rPr lang="en-US" altLang="zh-CN" sz="2400" kern="100" dirty="0">
                <a:effectLst/>
                <a:latin typeface="Times New Roman" panose="02020603050405020304" pitchFamily="18" charset="0"/>
                <a:ea typeface="宋体" pitchFamily="2" charset="-122"/>
              </a:rPr>
              <a:t>2.16</a:t>
            </a:r>
            <a:r>
              <a:rPr lang="zh-CN" altLang="zh-CN" sz="2400" kern="100" dirty="0">
                <a:effectLst/>
                <a:latin typeface="Times New Roman" panose="02020603050405020304" pitchFamily="18" charset="0"/>
                <a:ea typeface="宋体" pitchFamily="2" charset="-122"/>
              </a:rPr>
              <a:t>所示。</a:t>
            </a:r>
            <a:endParaRPr lang="en-US" altLang="zh-CN" sz="2400" kern="100" dirty="0">
              <a:effectLst/>
              <a:latin typeface="Times New Roman" panose="02020603050405020304" pitchFamily="18" charset="0"/>
              <a:ea typeface="宋体" pitchFamily="2" charset="-122"/>
            </a:endParaRPr>
          </a:p>
          <a:p>
            <a:pPr indent="266700" algn="just"/>
            <a:endParaRPr lang="zh-CN" altLang="zh-CN" sz="2400" kern="100" dirty="0">
              <a:effectLst/>
              <a:latin typeface="Times New Roman" panose="02020603050405020304" pitchFamily="18" charset="0"/>
              <a:ea typeface="宋体" pitchFamily="2" charset="-122"/>
            </a:endParaRPr>
          </a:p>
        </p:txBody>
      </p:sp>
      <p:pic>
        <p:nvPicPr>
          <p:cNvPr id="14" name="图片 13"/>
          <p:cNvPicPr>
            <a:picLocks noChangeAspect="1"/>
          </p:cNvPicPr>
          <p:nvPr/>
        </p:nvPicPr>
        <p:blipFill>
          <a:blip r:embed="rId1"/>
          <a:stretch>
            <a:fillRect/>
          </a:stretch>
        </p:blipFill>
        <p:spPr>
          <a:xfrm>
            <a:off x="2033967" y="3069754"/>
            <a:ext cx="5328592" cy="3450633"/>
          </a:xfrm>
          <a:prstGeom prst="rect">
            <a:avLst/>
          </a:prstGeom>
          <a:noFill/>
          <a:ln>
            <a:noFill/>
          </a:ln>
        </p:spPr>
      </p:pic>
      <p:sp>
        <p:nvSpPr>
          <p:cNvPr id="4" name="文本框 3"/>
          <p:cNvSpPr txBox="1"/>
          <p:nvPr/>
        </p:nvSpPr>
        <p:spPr>
          <a:xfrm>
            <a:off x="3060626" y="6520387"/>
            <a:ext cx="3744416" cy="369332"/>
          </a:xfrm>
          <a:prstGeom prst="rect">
            <a:avLst/>
          </a:prstGeom>
          <a:noFill/>
        </p:spPr>
        <p:txBody>
          <a:bodyPr wrap="square" rtlCol="0">
            <a:spAutoFit/>
          </a:bodyPr>
          <a:lstStyle/>
          <a:p>
            <a:r>
              <a:rPr lang="zh-CN" altLang="en-US" sz="1800" kern="100" dirty="0">
                <a:latin typeface="Times New Roman" panose="02020603050405020304" pitchFamily="18" charset="0"/>
                <a:cs typeface="Times New Roman" panose="02020603050405020304" pitchFamily="18" charset="0"/>
              </a:rPr>
              <a:t>图</a:t>
            </a:r>
            <a:r>
              <a:rPr lang="en-US" altLang="zh-CN" sz="1800" kern="100" dirty="0">
                <a:latin typeface="Times New Roman" panose="02020603050405020304" pitchFamily="18" charset="0"/>
                <a:cs typeface="Times New Roman" panose="02020603050405020304" pitchFamily="18" charset="0"/>
              </a:rPr>
              <a:t>2.16</a:t>
            </a:r>
            <a:r>
              <a:rPr lang="zh-CN" altLang="en-US" sz="1800" kern="100" dirty="0">
                <a:latin typeface="Times New Roman" panose="02020603050405020304" pitchFamily="18" charset="0"/>
                <a:cs typeface="Times New Roman" panose="02020603050405020304" pitchFamily="18" charset="0"/>
              </a:rPr>
              <a:t> 在</a:t>
            </a:r>
            <a:r>
              <a:rPr lang="en-US" altLang="zh-CN" sz="1800" kern="100" dirty="0" err="1">
                <a:latin typeface="Times New Roman" panose="02020603050405020304" pitchFamily="18" charset="0"/>
                <a:cs typeface="Times New Roman" panose="02020603050405020304" pitchFamily="18" charset="0"/>
              </a:rPr>
              <a:t>Pycharm</a:t>
            </a:r>
            <a:r>
              <a:rPr lang="zh-CN" altLang="en-US" sz="1800" kern="100" dirty="0">
                <a:latin typeface="Times New Roman" panose="02020603050405020304" pitchFamily="18" charset="0"/>
                <a:cs typeface="Times New Roman" panose="02020603050405020304" pitchFamily="18" charset="0"/>
              </a:rPr>
              <a:t>中选择虚拟环境</a:t>
            </a:r>
            <a:endParaRPr lang="zh-CN" altLang="en-US" sz="1800" kern="100" dirty="0">
              <a:latin typeface="Times New Roman" panose="02020603050405020304" pitchFamily="18" charset="0"/>
              <a:cs typeface="Times New Roman" panose="02020603050405020304" pitchFamily="18" charset="0"/>
            </a:endParaRPr>
          </a:p>
        </p:txBody>
      </p:sp>
    </p:spTree>
  </p:cSld>
  <p:clrMapOvr>
    <a:masterClrMapping/>
  </p:clrMapOvr>
  <p:transition spd="slow" advClick="0" advTm="0">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文本框 11"/>
          <p:cNvSpPr txBox="1"/>
          <p:nvPr/>
        </p:nvSpPr>
        <p:spPr>
          <a:xfrm>
            <a:off x="252314" y="1203639"/>
            <a:ext cx="8640960" cy="830997"/>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cs typeface="Times New Roman" panose="02020603050405020304" pitchFamily="18" charset="0"/>
              </a:rPr>
              <a:t>一般在安装</a:t>
            </a:r>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cs typeface="Times New Roman" panose="02020603050405020304" pitchFamily="18" charset="0"/>
              </a:rPr>
              <a:t>时都自带</a:t>
            </a:r>
            <a:r>
              <a:rPr lang="en-US" altLang="zh-CN" sz="2400" kern="100" dirty="0" err="1">
                <a:effectLst/>
                <a:latin typeface="Times New Roman" panose="02020603050405020304" pitchFamily="18" charset="0"/>
                <a:ea typeface="宋体" pitchFamily="2" charset="-122"/>
              </a:rPr>
              <a:t>numpy</a:t>
            </a:r>
            <a:r>
              <a:rPr lang="zh-CN" altLang="zh-CN" sz="2400" kern="100" dirty="0">
                <a:effectLst/>
                <a:latin typeface="Times New Roman" panose="02020603050405020304" pitchFamily="18" charset="0"/>
                <a:ea typeface="宋体" pitchFamily="2" charset="-122"/>
                <a:cs typeface="Times New Roman" panose="02020603050405020304" pitchFamily="18" charset="0"/>
              </a:rPr>
              <a:t>，在使用时只需要直接导入即可。</a:t>
            </a:r>
            <a:endParaRPr lang="zh-CN" altLang="zh-CN" sz="2400" kern="100" dirty="0">
              <a:effectLst/>
              <a:latin typeface="Times New Roman" panose="02020603050405020304" pitchFamily="18" charset="0"/>
              <a:ea typeface="宋体" pitchFamily="2" charset="-122"/>
            </a:endParaRPr>
          </a:p>
        </p:txBody>
      </p:sp>
      <p:sp>
        <p:nvSpPr>
          <p:cNvPr id="10" name="文本框 9"/>
          <p:cNvSpPr txBox="1"/>
          <p:nvPr/>
        </p:nvSpPr>
        <p:spPr>
          <a:xfrm>
            <a:off x="1044402" y="2034636"/>
            <a:ext cx="6120680" cy="3416320"/>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solidFill>
                  <a:srgbClr val="000000"/>
                </a:solidFill>
                <a:latin typeface="Times New Roman" panose="02020603050405020304" pitchFamily="18" charset="0"/>
                <a:ea typeface="宋体" pitchFamily="2" charset="-122"/>
              </a:rPr>
              <a:t>例子</a:t>
            </a:r>
            <a:r>
              <a:rPr lang="en-US" altLang="zh-CN" sz="2400" kern="100" dirty="0">
                <a:solidFill>
                  <a:srgbClr val="000000"/>
                </a:solidFill>
                <a:latin typeface="Times New Roman" panose="02020603050405020304" pitchFamily="18" charset="0"/>
                <a:ea typeface="宋体" pitchFamily="2" charset="-122"/>
              </a:rPr>
              <a:t>21</a:t>
            </a:r>
            <a:r>
              <a:rPr lang="zh-CN" altLang="en-US" sz="2400" kern="100" dirty="0">
                <a:solidFill>
                  <a:srgbClr val="000000"/>
                </a:solidFill>
                <a:latin typeface="Times New Roman" panose="02020603050405020304" pitchFamily="18" charset="0"/>
                <a:ea typeface="宋体" pitchFamily="2" charset="-122"/>
              </a:rPr>
              <a:t> </a:t>
            </a:r>
            <a:r>
              <a:rPr lang="en-US" altLang="zh-CN" sz="2400" kern="100" dirty="0" err="1">
                <a:solidFill>
                  <a:srgbClr val="000000"/>
                </a:solidFill>
                <a:latin typeface="Times New Roman" panose="02020603050405020304" pitchFamily="18" charset="0"/>
                <a:ea typeface="宋体" pitchFamily="2" charset="-122"/>
              </a:rPr>
              <a:t>numpy</a:t>
            </a:r>
            <a:r>
              <a:rPr lang="zh-CN" altLang="en-US" sz="2400" kern="100" dirty="0">
                <a:solidFill>
                  <a:srgbClr val="000000"/>
                </a:solidFill>
                <a:latin typeface="Times New Roman" panose="02020603050405020304" pitchFamily="18" charset="0"/>
                <a:ea typeface="宋体" pitchFamily="2" charset="-122"/>
              </a:rPr>
              <a:t>的使用</a:t>
            </a:r>
            <a:endParaRPr lang="en-US" altLang="zh-CN" sz="2400" kern="100" dirty="0">
              <a:solidFill>
                <a:srgbClr val="000000"/>
              </a:solidFill>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import </a:t>
            </a:r>
            <a:r>
              <a:rPr lang="en-US" altLang="zh-CN" sz="2400" kern="100" dirty="0" err="1">
                <a:solidFill>
                  <a:srgbClr val="000000"/>
                </a:solidFill>
                <a:effectLst/>
                <a:latin typeface="Times New Roman" panose="02020603050405020304" pitchFamily="18" charset="0"/>
                <a:ea typeface="宋体" pitchFamily="2" charset="-122"/>
              </a:rPr>
              <a:t>numpy</a:t>
            </a:r>
            <a:r>
              <a:rPr lang="en-US" altLang="zh-CN" sz="2400" kern="100" dirty="0">
                <a:solidFill>
                  <a:srgbClr val="000000"/>
                </a:solidFill>
                <a:effectLst/>
                <a:latin typeface="Times New Roman" panose="02020603050405020304" pitchFamily="18" charset="0"/>
                <a:ea typeface="宋体" pitchFamily="2" charset="-122"/>
              </a:rPr>
              <a:t> as np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x = </a:t>
            </a:r>
            <a:r>
              <a:rPr lang="en-US" altLang="zh-CN" sz="2400" kern="100" dirty="0" err="1">
                <a:solidFill>
                  <a:srgbClr val="000000"/>
                </a:solidFill>
                <a:effectLst/>
                <a:latin typeface="Times New Roman" panose="02020603050405020304" pitchFamily="18" charset="0"/>
                <a:ea typeface="宋体" pitchFamily="2" charset="-122"/>
              </a:rPr>
              <a:t>np.array</a:t>
            </a:r>
            <a:r>
              <a:rPr lang="en-US" altLang="zh-CN" sz="2400" kern="100" dirty="0">
                <a:solidFill>
                  <a:srgbClr val="000000"/>
                </a:solidFill>
                <a:effectLst/>
                <a:latin typeface="Times New Roman" panose="02020603050405020304" pitchFamily="18" charset="0"/>
                <a:ea typeface="宋体" pitchFamily="2" charset="-122"/>
              </a:rPr>
              <a:t>([1,2,3])    #</a:t>
            </a:r>
            <a:r>
              <a:rPr lang="zh-CN" altLang="zh-CN" sz="2400" kern="100" dirty="0">
                <a:solidFill>
                  <a:srgbClr val="000000"/>
                </a:solidFill>
                <a:effectLst/>
                <a:latin typeface="Times New Roman" panose="02020603050405020304" pitchFamily="18" charset="0"/>
                <a:ea typeface="宋体" pitchFamily="2" charset="-122"/>
              </a:rPr>
              <a:t>创建</a:t>
            </a:r>
            <a:r>
              <a:rPr lang="en-US" altLang="zh-CN" sz="2400" kern="100" dirty="0">
                <a:solidFill>
                  <a:srgbClr val="000000"/>
                </a:solidFill>
                <a:effectLst/>
                <a:latin typeface="Times New Roman" panose="02020603050405020304" pitchFamily="18" charset="0"/>
                <a:ea typeface="宋体" pitchFamily="2" charset="-122"/>
              </a:rPr>
              <a:t>2</a:t>
            </a:r>
            <a:r>
              <a:rPr lang="zh-CN" altLang="zh-CN" sz="2400" kern="100" dirty="0">
                <a:solidFill>
                  <a:srgbClr val="000000"/>
                </a:solidFill>
                <a:effectLst/>
                <a:latin typeface="Times New Roman" panose="02020603050405020304" pitchFamily="18" charset="0"/>
                <a:ea typeface="宋体" pitchFamily="2" charset="-122"/>
              </a:rPr>
              <a:t>个</a:t>
            </a:r>
            <a:r>
              <a:rPr lang="en-US" altLang="zh-CN" sz="2400" kern="100" dirty="0" err="1">
                <a:solidFill>
                  <a:srgbClr val="000000"/>
                </a:solidFill>
                <a:effectLst/>
                <a:latin typeface="Times New Roman" panose="02020603050405020304" pitchFamily="18" charset="0"/>
                <a:ea typeface="宋体" pitchFamily="2" charset="-122"/>
              </a:rPr>
              <a:t>numpy</a:t>
            </a:r>
            <a:r>
              <a:rPr lang="zh-CN" altLang="zh-CN" sz="2400" kern="100" dirty="0">
                <a:solidFill>
                  <a:srgbClr val="000000"/>
                </a:solidFill>
                <a:effectLst/>
                <a:latin typeface="Times New Roman" panose="02020603050405020304" pitchFamily="18" charset="0"/>
                <a:ea typeface="宋体" pitchFamily="2" charset="-122"/>
              </a:rPr>
              <a:t>数组</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y = </a:t>
            </a:r>
            <a:r>
              <a:rPr lang="en-US" altLang="zh-CN" sz="2400" kern="100" dirty="0" err="1">
                <a:solidFill>
                  <a:srgbClr val="000000"/>
                </a:solidFill>
                <a:effectLst/>
                <a:latin typeface="Times New Roman" panose="02020603050405020304" pitchFamily="18" charset="0"/>
                <a:ea typeface="宋体" pitchFamily="2" charset="-122"/>
              </a:rPr>
              <a:t>np.array</a:t>
            </a:r>
            <a:r>
              <a:rPr lang="en-US" altLang="zh-CN" sz="2400" kern="100" dirty="0">
                <a:solidFill>
                  <a:srgbClr val="000000"/>
                </a:solidFill>
                <a:effectLst/>
                <a:latin typeface="Times New Roman" panose="02020603050405020304" pitchFamily="18" charset="0"/>
                <a:ea typeface="宋体" pitchFamily="2" charset="-122"/>
              </a:rPr>
              <a:t>([4,5,6])</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a:t>
            </a:r>
            <a:r>
              <a:rPr lang="en-US" altLang="zh-CN" sz="2400" kern="100" dirty="0" err="1">
                <a:solidFill>
                  <a:srgbClr val="000000"/>
                </a:solidFill>
                <a:effectLst/>
                <a:latin typeface="Times New Roman" panose="02020603050405020304" pitchFamily="18" charset="0"/>
                <a:ea typeface="宋体" pitchFamily="2" charset="-122"/>
              </a:rPr>
              <a:t>x+y</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print(x-y)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print(x*y)</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print(x/y)      </a:t>
            </a:r>
            <a:endParaRPr lang="zh-CN" altLang="zh-CN" sz="2400" kern="100" dirty="0">
              <a:effectLst/>
              <a:latin typeface="Times New Roman" panose="02020603050405020304" pitchFamily="18" charset="0"/>
              <a:ea typeface="宋体" pitchFamily="2" charset="-122"/>
            </a:endParaRPr>
          </a:p>
          <a:p>
            <a:r>
              <a:rPr lang="en-US" altLang="zh-CN" sz="2400" kern="100" dirty="0">
                <a:effectLst/>
                <a:latin typeface="Times New Roman" panose="02020603050405020304" pitchFamily="18" charset="0"/>
                <a:ea typeface="宋体" pitchFamily="2" charset="-122"/>
              </a:rPr>
              <a:t>   print(x/2) </a:t>
            </a:r>
            <a:endParaRPr lang="zh-CN" altLang="en-US" sz="2400" dirty="0"/>
          </a:p>
        </p:txBody>
      </p:sp>
      <p:sp>
        <p:nvSpPr>
          <p:cNvPr id="13" name="文本框 12"/>
          <p:cNvSpPr txBox="1"/>
          <p:nvPr/>
        </p:nvSpPr>
        <p:spPr>
          <a:xfrm>
            <a:off x="5724922" y="4501787"/>
            <a:ext cx="3024336" cy="2308324"/>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a:t>
            </a:r>
            <a:r>
              <a:rPr lang="en-US" altLang="zh-CN" sz="2400" kern="100" dirty="0">
                <a:solidFill>
                  <a:srgbClr val="000000"/>
                </a:solidFill>
                <a:effectLst/>
                <a:latin typeface="Times New Roman" panose="02020603050405020304" pitchFamily="18" charset="0"/>
                <a:ea typeface="宋体" pitchFamily="2" charset="-122"/>
              </a:rPr>
              <a:t>21 </a:t>
            </a:r>
            <a:r>
              <a:rPr lang="zh-CN" altLang="en-US" sz="2400" kern="100" dirty="0">
                <a:solidFill>
                  <a:srgbClr val="000000"/>
                </a:solidFill>
                <a:effectLst/>
                <a:latin typeface="Times New Roman" panose="02020603050405020304" pitchFamily="18" charset="0"/>
                <a:ea typeface="宋体" pitchFamily="2" charset="-122"/>
              </a:rPr>
              <a:t>运行结果</a:t>
            </a:r>
            <a:r>
              <a:rPr lang="en-US" altLang="zh-CN" sz="2400" kern="100" dirty="0">
                <a:solidFill>
                  <a:srgbClr val="000000"/>
                </a:solidFill>
                <a:effectLst/>
                <a:latin typeface="Times New Roman" panose="02020603050405020304" pitchFamily="18" charset="0"/>
                <a:ea typeface="宋体" pitchFamily="2" charset="-122"/>
              </a:rPr>
              <a:t>:</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[5 7 9]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[-3 -3 -3]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[ 4 10 18]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[0.25 0.4  0.5 ]  </a:t>
            </a:r>
            <a:endParaRPr lang="zh-CN" altLang="zh-CN" sz="2400" kern="100" dirty="0">
              <a:effectLst/>
              <a:latin typeface="Times New Roman" panose="02020603050405020304" pitchFamily="18" charset="0"/>
              <a:ea typeface="宋体" pitchFamily="2" charset="-122"/>
            </a:endParaRPr>
          </a:p>
          <a:p>
            <a:r>
              <a:rPr lang="en-US" altLang="zh-CN" sz="2400" kern="100" dirty="0">
                <a:effectLst/>
                <a:latin typeface="Times New Roman" panose="02020603050405020304" pitchFamily="18" charset="0"/>
                <a:ea typeface="宋体" pitchFamily="2" charset="-122"/>
              </a:rPr>
              <a:t>   [0.5 1.  1.5] </a:t>
            </a:r>
            <a:endParaRPr lang="zh-CN" altLang="en-US" sz="2400" dirty="0"/>
          </a:p>
        </p:txBody>
      </p:sp>
    </p:spTree>
  </p:cSld>
  <p:clrMapOvr>
    <a:masterClrMapping/>
  </p:clrMapOvr>
  <p:transition spd="slow" advClick="0" advTm="0">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文本框 11"/>
          <p:cNvSpPr txBox="1"/>
          <p:nvPr/>
        </p:nvSpPr>
        <p:spPr>
          <a:xfrm>
            <a:off x="252314" y="1203639"/>
            <a:ext cx="8640960" cy="1200329"/>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cs typeface="Times New Roman" panose="02020603050405020304" pitchFamily="18" charset="0"/>
              </a:rPr>
              <a:t>能够与数字进行运算是因为</a:t>
            </a:r>
            <a:r>
              <a:rPr lang="en-US" altLang="zh-CN" sz="2400" kern="100" dirty="0" err="1">
                <a:effectLst/>
                <a:latin typeface="Times New Roman" panose="02020603050405020304" pitchFamily="18" charset="0"/>
                <a:ea typeface="宋体" pitchFamily="2" charset="-122"/>
              </a:rPr>
              <a:t>numpy</a:t>
            </a:r>
            <a:r>
              <a:rPr lang="zh-CN" altLang="zh-CN" sz="2400" kern="100" dirty="0">
                <a:effectLst/>
                <a:latin typeface="Times New Roman" panose="02020603050405020304" pitchFamily="18" charset="0"/>
                <a:ea typeface="宋体" pitchFamily="2" charset="-122"/>
                <a:cs typeface="Times New Roman" panose="02020603050405020304" pitchFamily="18" charset="0"/>
              </a:rPr>
              <a:t>在运算时进行了广播</a:t>
            </a:r>
            <a:r>
              <a:rPr lang="en-US" altLang="zh-CN" sz="2400" kern="100" dirty="0">
                <a:effectLst/>
                <a:latin typeface="Times New Roman" panose="02020603050405020304" pitchFamily="18" charset="0"/>
                <a:ea typeface="宋体" pitchFamily="2" charset="-122"/>
              </a:rPr>
              <a:t>(</a:t>
            </a:r>
            <a:r>
              <a:rPr lang="en-US" altLang="zh-CN" sz="2400" kern="100" dirty="0">
                <a:solidFill>
                  <a:srgbClr val="FF0000"/>
                </a:solidFill>
                <a:effectLst/>
                <a:latin typeface="Times New Roman" panose="02020603050405020304" pitchFamily="18" charset="0"/>
                <a:ea typeface="宋体" pitchFamily="2" charset="-122"/>
              </a:rPr>
              <a:t>broadcast</a:t>
            </a:r>
            <a:r>
              <a:rPr lang="en-US" altLang="zh-CN"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cs typeface="Times New Roman" panose="02020603050405020304" pitchFamily="18" charset="0"/>
              </a:rPr>
              <a:t>，将单个数字扩充为与被除数组相同形状的数组后进行运算。</a:t>
            </a:r>
            <a:endParaRPr lang="zh-CN" altLang="zh-CN" sz="2400" kern="100" dirty="0">
              <a:effectLst/>
              <a:latin typeface="Times New Roman" panose="02020603050405020304" pitchFamily="18" charset="0"/>
              <a:ea typeface="宋体" pitchFamily="2" charset="-122"/>
            </a:endParaRPr>
          </a:p>
        </p:txBody>
      </p:sp>
      <p:sp>
        <p:nvSpPr>
          <p:cNvPr id="13" name="文本框 12"/>
          <p:cNvSpPr txBox="1"/>
          <p:nvPr/>
        </p:nvSpPr>
        <p:spPr>
          <a:xfrm>
            <a:off x="612354" y="2403968"/>
            <a:ext cx="5328592" cy="3046988"/>
          </a:xfrm>
          <a:prstGeom prst="rect">
            <a:avLst/>
          </a:prstGeom>
          <a:solidFill>
            <a:schemeClr val="bg1">
              <a:lumMod val="85000"/>
            </a:schemeClr>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例子</a:t>
            </a:r>
            <a:r>
              <a:rPr lang="en-US" altLang="zh-CN" sz="2400" kern="100" dirty="0">
                <a:solidFill>
                  <a:srgbClr val="000000"/>
                </a:solidFill>
                <a:effectLst/>
                <a:latin typeface="Times New Roman" panose="02020603050405020304" pitchFamily="18" charset="0"/>
                <a:ea typeface="宋体" pitchFamily="2" charset="-122"/>
              </a:rPr>
              <a:t>22</a:t>
            </a:r>
            <a:r>
              <a:rPr lang="zh-CN" altLang="en-US" sz="2400" kern="100" dirty="0">
                <a:solidFill>
                  <a:srgbClr val="000000"/>
                </a:solidFill>
                <a:effectLst/>
                <a:latin typeface="Times New Roman" panose="02020603050405020304" pitchFamily="18" charset="0"/>
                <a:ea typeface="宋体" pitchFamily="2" charset="-122"/>
              </a:rPr>
              <a:t>  广播机制</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import </a:t>
            </a:r>
            <a:r>
              <a:rPr lang="en-US" altLang="zh-CN" sz="2400" kern="100" dirty="0" err="1">
                <a:solidFill>
                  <a:srgbClr val="000000"/>
                </a:solidFill>
                <a:effectLst/>
                <a:latin typeface="Times New Roman" panose="02020603050405020304" pitchFamily="18" charset="0"/>
                <a:ea typeface="宋体" pitchFamily="2" charset="-122"/>
              </a:rPr>
              <a:t>numpy</a:t>
            </a:r>
            <a:r>
              <a:rPr lang="en-US" altLang="zh-CN" sz="2400" kern="100" dirty="0">
                <a:solidFill>
                  <a:srgbClr val="000000"/>
                </a:solidFill>
                <a:effectLst/>
                <a:latin typeface="Times New Roman" panose="02020603050405020304" pitchFamily="18" charset="0"/>
                <a:ea typeface="宋体" pitchFamily="2" charset="-122"/>
              </a:rPr>
              <a:t> as np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a = </a:t>
            </a:r>
            <a:r>
              <a:rPr lang="en-US" altLang="zh-CN" sz="2400" kern="100" dirty="0" err="1">
                <a:solidFill>
                  <a:srgbClr val="000000"/>
                </a:solidFill>
                <a:effectLst/>
                <a:latin typeface="Times New Roman" panose="02020603050405020304" pitchFamily="18" charset="0"/>
                <a:ea typeface="宋体" pitchFamily="2" charset="-122"/>
              </a:rPr>
              <a:t>np.array</a:t>
            </a:r>
            <a:r>
              <a:rPr lang="en-US" altLang="zh-CN" sz="2400" kern="100" dirty="0">
                <a:solidFill>
                  <a:srgbClr val="000000"/>
                </a:solidFill>
                <a:effectLst/>
                <a:latin typeface="Times New Roman" panose="02020603050405020304" pitchFamily="18" charset="0"/>
                <a:ea typeface="宋体" pitchFamily="2" charset="-122"/>
              </a:rPr>
              <a:t>([[1,2],[3,4]])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b = </a:t>
            </a:r>
            <a:r>
              <a:rPr lang="en-US" altLang="zh-CN" sz="2400" kern="100" dirty="0" err="1">
                <a:solidFill>
                  <a:srgbClr val="000000"/>
                </a:solidFill>
                <a:effectLst/>
                <a:latin typeface="Times New Roman" panose="02020603050405020304" pitchFamily="18" charset="0"/>
                <a:ea typeface="宋体" pitchFamily="2" charset="-122"/>
              </a:rPr>
              <a:t>np.array</a:t>
            </a:r>
            <a:r>
              <a:rPr lang="en-US" altLang="zh-CN" sz="2400" kern="100" dirty="0">
                <a:solidFill>
                  <a:srgbClr val="000000"/>
                </a:solidFill>
                <a:effectLst/>
                <a:latin typeface="Times New Roman" panose="02020603050405020304" pitchFamily="18" charset="0"/>
                <a:ea typeface="宋体" pitchFamily="2" charset="-122"/>
              </a:rPr>
              <a:t>([10,20])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a:t>
            </a:r>
            <a:r>
              <a:rPr lang="en-US" altLang="zh-CN" sz="2400" kern="100" dirty="0" err="1">
                <a:solidFill>
                  <a:srgbClr val="000000"/>
                </a:solidFill>
                <a:effectLst/>
                <a:latin typeface="Times New Roman" panose="02020603050405020304" pitchFamily="18" charset="0"/>
                <a:ea typeface="宋体" pitchFamily="2" charset="-122"/>
              </a:rPr>
              <a:t>a.shape</a:t>
            </a:r>
            <a:r>
              <a:rPr lang="en-US" altLang="zh-CN" sz="2400" kern="100" dirty="0">
                <a:solidFill>
                  <a:srgbClr val="000000"/>
                </a:solidFill>
                <a:effectLst/>
                <a:latin typeface="Times New Roman" panose="02020603050405020304" pitchFamily="18" charset="0"/>
                <a:ea typeface="宋体" pitchFamily="2" charset="-122"/>
              </a:rPr>
              <a:t>)   </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#.shape</a:t>
            </a:r>
            <a:r>
              <a:rPr lang="zh-CN" altLang="zh-CN" sz="2400" kern="100" dirty="0">
                <a:solidFill>
                  <a:srgbClr val="000000"/>
                </a:solidFill>
                <a:effectLst/>
                <a:latin typeface="Times New Roman" panose="02020603050405020304" pitchFamily="18" charset="0"/>
                <a:ea typeface="宋体" pitchFamily="2" charset="-122"/>
              </a:rPr>
              <a:t>操作可以显示矩阵的形状</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a:t>
            </a:r>
            <a:r>
              <a:rPr lang="en-US" altLang="zh-CN" sz="2400" kern="100" dirty="0" err="1">
                <a:solidFill>
                  <a:srgbClr val="000000"/>
                </a:solidFill>
                <a:effectLst/>
                <a:latin typeface="Times New Roman" panose="02020603050405020304" pitchFamily="18" charset="0"/>
                <a:ea typeface="宋体" pitchFamily="2" charset="-122"/>
              </a:rPr>
              <a:t>b.shape</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print(a/b)  </a:t>
            </a:r>
            <a:endParaRPr lang="zh-CN" altLang="zh-CN" sz="2400" kern="100" dirty="0">
              <a:effectLst/>
              <a:latin typeface="Times New Roman" panose="02020603050405020304" pitchFamily="18" charset="0"/>
              <a:ea typeface="宋体" pitchFamily="2" charset="-122"/>
            </a:endParaRPr>
          </a:p>
        </p:txBody>
      </p:sp>
      <p:sp>
        <p:nvSpPr>
          <p:cNvPr id="11" name="文本框 10"/>
          <p:cNvSpPr txBox="1"/>
          <p:nvPr/>
        </p:nvSpPr>
        <p:spPr>
          <a:xfrm>
            <a:off x="6123364" y="3696791"/>
            <a:ext cx="2931383" cy="1938992"/>
          </a:xfrm>
          <a:prstGeom prst="rect">
            <a:avLst/>
          </a:prstGeom>
          <a:solidFill>
            <a:srgbClr val="92D050"/>
          </a:solidFill>
        </p:spPr>
        <p:txBody>
          <a:bodyPr wrap="square">
            <a:spAutoFit/>
          </a:bodyPr>
          <a:lstStyle/>
          <a:p>
            <a:r>
              <a:rPr lang="zh-CN" altLang="en-US" sz="2400" dirty="0"/>
              <a:t>例</a:t>
            </a:r>
            <a:r>
              <a:rPr lang="en-US" altLang="zh-CN" sz="2400" dirty="0"/>
              <a:t>22</a:t>
            </a:r>
            <a:r>
              <a:rPr lang="zh-CN" altLang="en-US" sz="2400" dirty="0"/>
              <a:t> 运行结果：</a:t>
            </a:r>
            <a:endParaRPr lang="en-US" altLang="zh-CN" sz="2400" dirty="0"/>
          </a:p>
          <a:p>
            <a:pPr indent="266700" algn="l" fontAlgn="ctr"/>
            <a:r>
              <a:rPr lang="en-US" altLang="zh-CN" sz="2400" kern="100" dirty="0">
                <a:solidFill>
                  <a:srgbClr val="000000"/>
                </a:solidFill>
                <a:effectLst/>
                <a:latin typeface="Times New Roman" panose="02020603050405020304" pitchFamily="18" charset="0"/>
                <a:ea typeface="宋体" pitchFamily="2" charset="-122"/>
              </a:rPr>
              <a:t>(2, 2)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(2,)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[[0.1 0.1]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[0.3 0.2]]</a:t>
            </a:r>
            <a:endParaRPr lang="zh-CN" altLang="zh-CN" sz="2400" kern="100" dirty="0">
              <a:effectLst/>
              <a:latin typeface="Times New Roman" panose="02020603050405020304" pitchFamily="18" charset="0"/>
              <a:ea typeface="宋体" pitchFamily="2" charset="-122"/>
            </a:endParaRPr>
          </a:p>
        </p:txBody>
      </p:sp>
      <p:sp>
        <p:nvSpPr>
          <p:cNvPr id="14" name="文本框 13"/>
          <p:cNvSpPr txBox="1"/>
          <p:nvPr/>
        </p:nvSpPr>
        <p:spPr>
          <a:xfrm>
            <a:off x="341779" y="5655949"/>
            <a:ext cx="8712968" cy="830997"/>
          </a:xfrm>
          <a:prstGeom prst="rect">
            <a:avLst/>
          </a:prstGeom>
          <a:noFill/>
        </p:spPr>
        <p:txBody>
          <a:bodyPr wrap="square">
            <a:spAutoFit/>
          </a:bodyPr>
          <a:lstStyle/>
          <a:p>
            <a:r>
              <a:rPr lang="en-US" altLang="zh-CN" sz="2000" kern="100" dirty="0">
                <a:effectLst/>
                <a:latin typeface="Times New Roman" panose="02020603050405020304" pitchFamily="18" charset="0"/>
                <a:ea typeface="宋体" pitchFamily="2" charset="-122"/>
                <a:cs typeface="Times New Roman" panose="02020603050405020304" pitchFamily="18" charset="0"/>
              </a:rPr>
              <a:t>  </a:t>
            </a:r>
            <a:r>
              <a:rPr lang="zh-CN" altLang="zh-CN" sz="2400" kern="100" dirty="0">
                <a:latin typeface="Times New Roman" panose="02020603050405020304" pitchFamily="18" charset="0"/>
                <a:ea typeface="宋体" pitchFamily="2" charset="-122"/>
                <a:cs typeface="Times New Roman" panose="02020603050405020304" pitchFamily="18" charset="0"/>
              </a:rPr>
              <a:t>在进行</a:t>
            </a:r>
            <a:r>
              <a:rPr lang="en-US" altLang="zh-CN" sz="2400" kern="100" dirty="0">
                <a:latin typeface="Times New Roman" panose="02020603050405020304" pitchFamily="18" charset="0"/>
                <a:ea typeface="宋体" pitchFamily="2" charset="-122"/>
                <a:cs typeface="Times New Roman" panose="02020603050405020304" pitchFamily="18" charset="0"/>
              </a:rPr>
              <a:t>a/b</a:t>
            </a:r>
            <a:r>
              <a:rPr lang="zh-CN" altLang="zh-CN" sz="2400" kern="100" dirty="0">
                <a:latin typeface="Times New Roman" panose="02020603050405020304" pitchFamily="18" charset="0"/>
                <a:ea typeface="宋体" pitchFamily="2" charset="-122"/>
                <a:cs typeface="Times New Roman" panose="02020603050405020304" pitchFamily="18" charset="0"/>
              </a:rPr>
              <a:t>运算时，</a:t>
            </a:r>
            <a:r>
              <a:rPr lang="en-US" altLang="zh-CN" sz="2400" kern="100" dirty="0" err="1">
                <a:latin typeface="Times New Roman" panose="02020603050405020304" pitchFamily="18" charset="0"/>
                <a:ea typeface="宋体" pitchFamily="2" charset="-122"/>
                <a:cs typeface="Times New Roman" panose="02020603050405020304" pitchFamily="18" charset="0"/>
              </a:rPr>
              <a:t>numpy</a:t>
            </a:r>
            <a:r>
              <a:rPr lang="zh-CN" altLang="zh-CN" sz="2400" kern="100" dirty="0">
                <a:latin typeface="Times New Roman" panose="02020603050405020304" pitchFamily="18" charset="0"/>
                <a:ea typeface="宋体" pitchFamily="2" charset="-122"/>
                <a:cs typeface="Times New Roman" panose="02020603050405020304" pitchFamily="18" charset="0"/>
              </a:rPr>
              <a:t>进行了广播操作，将</a:t>
            </a:r>
            <a:r>
              <a:rPr lang="en-US" altLang="zh-CN" sz="2400" kern="100" dirty="0">
                <a:latin typeface="Times New Roman" panose="02020603050405020304" pitchFamily="18" charset="0"/>
                <a:ea typeface="宋体" pitchFamily="2" charset="-122"/>
                <a:cs typeface="Times New Roman" panose="02020603050405020304" pitchFamily="18" charset="0"/>
              </a:rPr>
              <a:t>b</a:t>
            </a:r>
            <a:r>
              <a:rPr lang="zh-CN" altLang="zh-CN" sz="2400" kern="100" dirty="0">
                <a:latin typeface="Times New Roman" panose="02020603050405020304" pitchFamily="18" charset="0"/>
                <a:ea typeface="宋体" pitchFamily="2" charset="-122"/>
                <a:cs typeface="Times New Roman" panose="02020603050405020304" pitchFamily="18" charset="0"/>
              </a:rPr>
              <a:t>数组扩充为</a:t>
            </a:r>
            <a:r>
              <a:rPr lang="en-US" altLang="zh-CN" sz="2400" kern="100" dirty="0">
                <a:latin typeface="Times New Roman" panose="02020603050405020304" pitchFamily="18" charset="0"/>
                <a:ea typeface="宋体" pitchFamily="2" charset="-122"/>
                <a:cs typeface="Times New Roman" panose="02020603050405020304" pitchFamily="18" charset="0"/>
              </a:rPr>
              <a:t>[[10,20],[10,20]]</a:t>
            </a:r>
            <a:r>
              <a:rPr lang="zh-CN" altLang="zh-CN" sz="2400" kern="100" dirty="0">
                <a:latin typeface="Times New Roman" panose="02020603050405020304" pitchFamily="18" charset="0"/>
                <a:ea typeface="宋体" pitchFamily="2" charset="-122"/>
                <a:cs typeface="Times New Roman" panose="02020603050405020304" pitchFamily="18" charset="0"/>
              </a:rPr>
              <a:t>后与数组</a:t>
            </a:r>
            <a:r>
              <a:rPr lang="en-US" altLang="zh-CN" sz="2400" kern="100" dirty="0">
                <a:latin typeface="Times New Roman" panose="02020603050405020304" pitchFamily="18" charset="0"/>
                <a:ea typeface="宋体" pitchFamily="2" charset="-122"/>
                <a:cs typeface="Times New Roman" panose="02020603050405020304" pitchFamily="18" charset="0"/>
              </a:rPr>
              <a:t>a</a:t>
            </a:r>
            <a:r>
              <a:rPr lang="zh-CN" altLang="zh-CN" sz="2400" kern="100" dirty="0">
                <a:latin typeface="Times New Roman" panose="02020603050405020304" pitchFamily="18" charset="0"/>
                <a:ea typeface="宋体" pitchFamily="2" charset="-122"/>
                <a:cs typeface="Times New Roman" panose="02020603050405020304" pitchFamily="18" charset="0"/>
              </a:rPr>
              <a:t>进行对应元素除法运算。</a:t>
            </a:r>
            <a:endParaRPr lang="zh-CN" altLang="en-US" sz="2400"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文本框 11"/>
          <p:cNvSpPr txBox="1"/>
          <p:nvPr/>
        </p:nvSpPr>
        <p:spPr>
          <a:xfrm>
            <a:off x="252314" y="1203639"/>
            <a:ext cx="8640960" cy="1200329"/>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cs typeface="Times New Roman" panose="02020603050405020304" pitchFamily="18" charset="0"/>
              </a:rPr>
              <a:t>还有一种运算——矩阵乘法</a:t>
            </a:r>
            <a:r>
              <a:rPr lang="en-US" altLang="zh-CN"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cs typeface="Times New Roman" panose="02020603050405020304" pitchFamily="18" charset="0"/>
              </a:rPr>
              <a:t>也叫点乘</a:t>
            </a:r>
            <a:r>
              <a:rPr lang="en-US" altLang="zh-CN"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cs typeface="Times New Roman" panose="02020603050405020304" pitchFamily="18" charset="0"/>
              </a:rPr>
              <a:t>也会经常被使用，可以用</a:t>
            </a:r>
            <a:r>
              <a:rPr lang="en-US" altLang="zh-CN" sz="2400" kern="100" dirty="0">
                <a:solidFill>
                  <a:srgbClr val="FF0000"/>
                </a:solidFill>
                <a:effectLst/>
                <a:latin typeface="Times New Roman" panose="02020603050405020304" pitchFamily="18" charset="0"/>
                <a:ea typeface="宋体" pitchFamily="2" charset="-122"/>
              </a:rPr>
              <a:t>dot( )</a:t>
            </a:r>
            <a:r>
              <a:rPr lang="zh-CN" altLang="zh-CN" sz="2400" kern="100" dirty="0">
                <a:effectLst/>
                <a:latin typeface="Times New Roman" panose="02020603050405020304" pitchFamily="18" charset="0"/>
                <a:ea typeface="宋体" pitchFamily="2" charset="-122"/>
                <a:cs typeface="Times New Roman" panose="02020603050405020304" pitchFamily="18" charset="0"/>
              </a:rPr>
              <a:t>函数实现，要求进行运算的矩阵形状符合矩阵乘法的要求。</a:t>
            </a:r>
            <a:endParaRPr lang="zh-CN" altLang="zh-CN" sz="2400" kern="100" dirty="0">
              <a:effectLst/>
              <a:latin typeface="Times New Roman" panose="02020603050405020304" pitchFamily="18" charset="0"/>
              <a:ea typeface="宋体" pitchFamily="2" charset="-122"/>
            </a:endParaRPr>
          </a:p>
        </p:txBody>
      </p:sp>
      <p:sp>
        <p:nvSpPr>
          <p:cNvPr id="13" name="文本框 12"/>
          <p:cNvSpPr txBox="1"/>
          <p:nvPr/>
        </p:nvSpPr>
        <p:spPr>
          <a:xfrm>
            <a:off x="1199077" y="2528565"/>
            <a:ext cx="4627318" cy="2677656"/>
          </a:xfrm>
          <a:prstGeom prst="rect">
            <a:avLst/>
          </a:prstGeom>
          <a:solidFill>
            <a:schemeClr val="bg1">
              <a:lumMod val="85000"/>
            </a:schemeClr>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例子</a:t>
            </a:r>
            <a:r>
              <a:rPr lang="en-US" altLang="zh-CN" sz="2400" kern="100" dirty="0">
                <a:solidFill>
                  <a:srgbClr val="000000"/>
                </a:solidFill>
                <a:effectLst/>
                <a:latin typeface="Times New Roman" panose="02020603050405020304" pitchFamily="18" charset="0"/>
                <a:ea typeface="宋体" pitchFamily="2" charset="-122"/>
              </a:rPr>
              <a:t>23</a:t>
            </a:r>
            <a:r>
              <a:rPr lang="zh-CN" altLang="en-US" sz="2400" kern="100" dirty="0">
                <a:solidFill>
                  <a:srgbClr val="000000"/>
                </a:solidFill>
                <a:effectLst/>
                <a:latin typeface="Times New Roman" panose="02020603050405020304" pitchFamily="18" charset="0"/>
                <a:ea typeface="宋体" pitchFamily="2" charset="-122"/>
              </a:rPr>
              <a:t> 矩阵乘法</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import </a:t>
            </a:r>
            <a:r>
              <a:rPr lang="en-US" altLang="zh-CN" sz="2400" kern="100" dirty="0" err="1">
                <a:solidFill>
                  <a:srgbClr val="000000"/>
                </a:solidFill>
                <a:effectLst/>
                <a:latin typeface="Times New Roman" panose="02020603050405020304" pitchFamily="18" charset="0"/>
                <a:ea typeface="宋体" pitchFamily="2" charset="-122"/>
              </a:rPr>
              <a:t>numpy</a:t>
            </a:r>
            <a:r>
              <a:rPr lang="en-US" altLang="zh-CN" sz="2400" kern="100" dirty="0">
                <a:solidFill>
                  <a:srgbClr val="000000"/>
                </a:solidFill>
                <a:effectLst/>
                <a:latin typeface="Times New Roman" panose="02020603050405020304" pitchFamily="18" charset="0"/>
                <a:ea typeface="宋体" pitchFamily="2" charset="-122"/>
              </a:rPr>
              <a:t> as np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a = </a:t>
            </a:r>
            <a:r>
              <a:rPr lang="en-US" altLang="zh-CN" sz="2400" kern="100" dirty="0" err="1">
                <a:solidFill>
                  <a:srgbClr val="000000"/>
                </a:solidFill>
                <a:effectLst/>
                <a:latin typeface="Times New Roman" panose="02020603050405020304" pitchFamily="18" charset="0"/>
                <a:ea typeface="宋体" pitchFamily="2" charset="-122"/>
              </a:rPr>
              <a:t>np.array</a:t>
            </a:r>
            <a:r>
              <a:rPr lang="en-US" altLang="zh-CN" sz="2400" kern="100" dirty="0">
                <a:solidFill>
                  <a:srgbClr val="000000"/>
                </a:solidFill>
                <a:effectLst/>
                <a:latin typeface="Times New Roman" panose="02020603050405020304" pitchFamily="18" charset="0"/>
                <a:ea typeface="宋体" pitchFamily="2" charset="-122"/>
              </a:rPr>
              <a:t>([[1,2,3],[4,5,6]])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b = </a:t>
            </a:r>
            <a:r>
              <a:rPr lang="en-US" altLang="zh-CN" sz="2400" kern="100" dirty="0" err="1">
                <a:solidFill>
                  <a:srgbClr val="000000"/>
                </a:solidFill>
                <a:effectLst/>
                <a:latin typeface="Times New Roman" panose="02020603050405020304" pitchFamily="18" charset="0"/>
                <a:ea typeface="宋体" pitchFamily="2" charset="-122"/>
              </a:rPr>
              <a:t>np.array</a:t>
            </a:r>
            <a:r>
              <a:rPr lang="en-US" altLang="zh-CN" sz="2400" kern="100" dirty="0">
                <a:solidFill>
                  <a:srgbClr val="000000"/>
                </a:solidFill>
                <a:effectLst/>
                <a:latin typeface="Times New Roman" panose="02020603050405020304" pitchFamily="18" charset="0"/>
                <a:ea typeface="宋体" pitchFamily="2" charset="-122"/>
              </a:rPr>
              <a:t>([[2,4],[6,8],[10,12]])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a:t>
            </a:r>
            <a:r>
              <a:rPr lang="en-US" altLang="zh-CN" sz="2400" kern="100" dirty="0" err="1">
                <a:solidFill>
                  <a:srgbClr val="000000"/>
                </a:solidFill>
                <a:effectLst/>
                <a:latin typeface="Times New Roman" panose="02020603050405020304" pitchFamily="18" charset="0"/>
                <a:ea typeface="宋体" pitchFamily="2" charset="-122"/>
              </a:rPr>
              <a:t>a.shape</a:t>
            </a:r>
            <a:r>
              <a:rPr lang="en-US" altLang="zh-CN" sz="2400" kern="100" dirty="0">
                <a:solidFill>
                  <a:srgbClr val="000000"/>
                </a:solidFill>
                <a:effectLst/>
                <a:latin typeface="Times New Roman" panose="02020603050405020304" pitchFamily="18" charset="0"/>
                <a:ea typeface="宋体" pitchFamily="2" charset="-122"/>
              </a:rPr>
              <a:t>)</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a:t>
            </a:r>
            <a:r>
              <a:rPr lang="en-US" altLang="zh-CN" sz="2400" kern="100" dirty="0" err="1">
                <a:solidFill>
                  <a:srgbClr val="000000"/>
                </a:solidFill>
                <a:effectLst/>
                <a:latin typeface="Times New Roman" panose="02020603050405020304" pitchFamily="18" charset="0"/>
                <a:ea typeface="宋体" pitchFamily="2" charset="-122"/>
              </a:rPr>
              <a:t>b.shape</a:t>
            </a:r>
            <a:r>
              <a:rPr lang="en-US" altLang="zh-CN" sz="2400" kern="100" dirty="0">
                <a:solidFill>
                  <a:srgbClr val="000000"/>
                </a:solidFill>
                <a:effectLst/>
                <a:latin typeface="Times New Roman" panose="02020603050405020304" pitchFamily="18" charset="0"/>
                <a:ea typeface="宋体" pitchFamily="2" charset="-122"/>
              </a:rPr>
              <a:t>)</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print(np.dot(</a:t>
            </a:r>
            <a:r>
              <a:rPr lang="en-US" altLang="zh-CN" sz="2400" kern="100" dirty="0" err="1">
                <a:solidFill>
                  <a:srgbClr val="000000"/>
                </a:solidFill>
                <a:effectLst/>
                <a:latin typeface="Times New Roman" panose="02020603050405020304" pitchFamily="18" charset="0"/>
                <a:ea typeface="宋体" pitchFamily="2" charset="-122"/>
              </a:rPr>
              <a:t>a,b</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p:txBody>
      </p:sp>
      <p:sp>
        <p:nvSpPr>
          <p:cNvPr id="11" name="文本框 10"/>
          <p:cNvSpPr txBox="1"/>
          <p:nvPr/>
        </p:nvSpPr>
        <p:spPr>
          <a:xfrm>
            <a:off x="5292874" y="4471726"/>
            <a:ext cx="2886859" cy="1938992"/>
          </a:xfrm>
          <a:prstGeom prst="rect">
            <a:avLst/>
          </a:prstGeom>
          <a:solidFill>
            <a:srgbClr val="92D050"/>
          </a:solidFill>
        </p:spPr>
        <p:txBody>
          <a:bodyPr wrap="square">
            <a:spAutoFit/>
          </a:bodyPr>
          <a:lstStyle>
            <a:defPPr>
              <a:defRPr lang="zh-CN"/>
            </a:defPPr>
          </a:lstStyle>
          <a:p>
            <a:r>
              <a:rPr lang="zh-CN" altLang="en-US" sz="2400" dirty="0"/>
              <a:t>例</a:t>
            </a:r>
            <a:r>
              <a:rPr lang="en-US" altLang="zh-CN" sz="2400" dirty="0"/>
              <a:t>23 </a:t>
            </a:r>
            <a:r>
              <a:rPr lang="zh-CN" altLang="en-US" sz="2400" dirty="0"/>
              <a:t>运行结果：</a:t>
            </a:r>
            <a:endParaRPr lang="en-US" altLang="zh-CN" sz="2400" dirty="0"/>
          </a:p>
          <a:p>
            <a:r>
              <a:rPr lang="en-US" altLang="zh-CN" sz="2400" dirty="0">
                <a:latin typeface="+mn-ea"/>
              </a:rPr>
              <a:t>(2, 3)  </a:t>
            </a:r>
            <a:endParaRPr lang="zh-CN" altLang="zh-CN" sz="2400" dirty="0">
              <a:latin typeface="+mn-ea"/>
            </a:endParaRPr>
          </a:p>
          <a:p>
            <a:r>
              <a:rPr lang="en-US" altLang="zh-CN" sz="2400" dirty="0">
                <a:latin typeface="+mn-ea"/>
              </a:rPr>
              <a:t>(3, 2)  </a:t>
            </a:r>
            <a:endParaRPr lang="zh-CN" altLang="zh-CN" sz="2400" dirty="0">
              <a:latin typeface="+mn-ea"/>
            </a:endParaRPr>
          </a:p>
          <a:p>
            <a:r>
              <a:rPr lang="en-US" altLang="zh-CN" sz="2400" dirty="0">
                <a:latin typeface="+mn-ea"/>
              </a:rPr>
              <a:t>[[ 44  56]  </a:t>
            </a:r>
            <a:endParaRPr lang="zh-CN" altLang="zh-CN" sz="2400" dirty="0">
              <a:latin typeface="+mn-ea"/>
            </a:endParaRPr>
          </a:p>
          <a:p>
            <a:r>
              <a:rPr lang="en-US" altLang="zh-CN" sz="2400" dirty="0">
                <a:latin typeface="+mn-ea"/>
              </a:rPr>
              <a:t> [ 98 128]] </a:t>
            </a:r>
            <a:endParaRPr lang="zh-CN" altLang="zh-CN" sz="2400" dirty="0">
              <a:latin typeface="+mn-ea"/>
            </a:endParaRPr>
          </a:p>
        </p:txBody>
      </p:sp>
    </p:spTree>
  </p:cSld>
  <p:clrMapOvr>
    <a:masterClrMapping/>
  </p:clrMapOvr>
  <p:transition spd="slow" advClick="0" advTm="0">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4" name="文本框 13"/>
          <p:cNvSpPr txBox="1"/>
          <p:nvPr/>
        </p:nvSpPr>
        <p:spPr>
          <a:xfrm>
            <a:off x="216310" y="1252159"/>
            <a:ext cx="8712968" cy="830997"/>
          </a:xfrm>
          <a:prstGeom prst="rect">
            <a:avLst/>
          </a:prstGeom>
          <a:noFill/>
        </p:spPr>
        <p:txBody>
          <a:bodyPr wrap="square">
            <a:spAutoFit/>
          </a:bodyPr>
          <a:lstStyle/>
          <a:p>
            <a:r>
              <a:rPr lang="zh-CN" altLang="zh-CN" sz="2400" kern="100" dirty="0">
                <a:latin typeface="Times New Roman" panose="02020603050405020304" pitchFamily="18" charset="0"/>
                <a:ea typeface="宋体" pitchFamily="2" charset="-122"/>
                <a:cs typeface="Times New Roman" panose="02020603050405020304" pitchFamily="18" charset="0"/>
              </a:rPr>
              <a:t>使用</a:t>
            </a:r>
            <a:r>
              <a:rPr lang="en-US" altLang="zh-CN" sz="2400" kern="100" dirty="0">
                <a:solidFill>
                  <a:srgbClr val="FF0000"/>
                </a:solidFill>
                <a:latin typeface="Times New Roman" panose="02020603050405020304" pitchFamily="18" charset="0"/>
                <a:ea typeface="宋体" pitchFamily="2" charset="-122"/>
                <a:cs typeface="Times New Roman" panose="02020603050405020304" pitchFamily="18" charset="0"/>
              </a:rPr>
              <a:t>.reshape()</a:t>
            </a:r>
            <a:r>
              <a:rPr lang="zh-CN" altLang="zh-CN" sz="2400" kern="100" dirty="0">
                <a:solidFill>
                  <a:srgbClr val="FF0000"/>
                </a:solidFill>
                <a:latin typeface="Times New Roman" panose="02020603050405020304" pitchFamily="18" charset="0"/>
                <a:ea typeface="宋体" pitchFamily="2" charset="-122"/>
                <a:cs typeface="Times New Roman" panose="02020603050405020304" pitchFamily="18" charset="0"/>
              </a:rPr>
              <a:t>函数</a:t>
            </a:r>
            <a:r>
              <a:rPr lang="zh-CN" altLang="zh-CN" sz="2400" kern="100" dirty="0">
                <a:latin typeface="Times New Roman" panose="02020603050405020304" pitchFamily="18" charset="0"/>
                <a:ea typeface="宋体" pitchFamily="2" charset="-122"/>
                <a:cs typeface="Times New Roman" panose="02020603050405020304" pitchFamily="18" charset="0"/>
              </a:rPr>
              <a:t>可以改变矩阵的形状，改变后元素保持原有的相邻关系。</a:t>
            </a:r>
            <a:endParaRPr lang="en-US"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15" name="文本框 14"/>
          <p:cNvSpPr txBox="1"/>
          <p:nvPr/>
        </p:nvSpPr>
        <p:spPr>
          <a:xfrm>
            <a:off x="972394" y="2421682"/>
            <a:ext cx="4589754" cy="1569660"/>
          </a:xfrm>
          <a:prstGeom prst="rect">
            <a:avLst/>
          </a:prstGeom>
          <a:solidFill>
            <a:schemeClr val="bg1">
              <a:lumMod val="85000"/>
            </a:schemeClr>
          </a:solidFill>
        </p:spPr>
        <p:txBody>
          <a:bodyPr wrap="square">
            <a:spAutoFit/>
          </a:bodyPr>
          <a:lstStyle>
            <a:defPPr>
              <a:defRPr lang="zh-CN"/>
            </a:defPPr>
            <a:lvl1pPr indent="266700" fontAlgn="ctr">
              <a:defRPr sz="1800" kern="100">
                <a:solidFill>
                  <a:srgbClr val="000000"/>
                </a:solidFill>
                <a:effectLst/>
                <a:latin typeface="Times New Roman" panose="02020603050405020304" pitchFamily="18" charset="0"/>
                <a:ea typeface="宋体" pitchFamily="2" charset="-122"/>
              </a:defRPr>
            </a:lvl1pPr>
          </a:lstStyle>
          <a:p>
            <a:r>
              <a:rPr lang="zh-CN" altLang="en-US" sz="2400" dirty="0"/>
              <a:t>例子</a:t>
            </a:r>
            <a:r>
              <a:rPr lang="en-US" altLang="zh-CN" sz="2400" dirty="0"/>
              <a:t>24</a:t>
            </a:r>
            <a:r>
              <a:rPr lang="zh-CN" altLang="en-US" sz="2400" dirty="0"/>
              <a:t>  </a:t>
            </a:r>
            <a:r>
              <a:rPr lang="en-US" altLang="zh-CN" sz="2400" dirty="0"/>
              <a:t>reshape</a:t>
            </a:r>
            <a:r>
              <a:rPr lang="zh-CN" altLang="en-US" sz="2400" dirty="0"/>
              <a:t>函数</a:t>
            </a:r>
            <a:endParaRPr lang="en-US" altLang="zh-CN" sz="2400" dirty="0"/>
          </a:p>
          <a:p>
            <a:r>
              <a:rPr lang="en-US" altLang="zh-CN" sz="2400" dirty="0"/>
              <a:t>a = </a:t>
            </a:r>
            <a:r>
              <a:rPr lang="en-US" altLang="zh-CN" sz="2400" dirty="0" err="1"/>
              <a:t>np.array</a:t>
            </a:r>
            <a:r>
              <a:rPr lang="en-US" altLang="zh-CN" sz="2400" dirty="0"/>
              <a:t>([[1,3,2],[3,4,1]])</a:t>
            </a:r>
            <a:endParaRPr lang="zh-CN" altLang="zh-CN" sz="2400" dirty="0"/>
          </a:p>
          <a:p>
            <a:r>
              <a:rPr lang="en-US" altLang="zh-CN" sz="2400" dirty="0"/>
              <a:t>b=</a:t>
            </a:r>
            <a:r>
              <a:rPr lang="en-US" altLang="zh-CN" sz="2400" dirty="0" err="1"/>
              <a:t>a.reshape</a:t>
            </a:r>
            <a:r>
              <a:rPr lang="en-US" altLang="zh-CN" sz="2400" dirty="0"/>
              <a:t>(3,2)</a:t>
            </a:r>
            <a:endParaRPr lang="zh-CN" altLang="zh-CN" sz="2400" dirty="0"/>
          </a:p>
          <a:p>
            <a:r>
              <a:rPr lang="en-US" altLang="zh-CN" sz="2400" dirty="0"/>
              <a:t>print(b)</a:t>
            </a:r>
            <a:endParaRPr lang="zh-CN" altLang="zh-CN" sz="2400" dirty="0"/>
          </a:p>
        </p:txBody>
      </p:sp>
      <p:sp>
        <p:nvSpPr>
          <p:cNvPr id="16" name="文本框 15"/>
          <p:cNvSpPr txBox="1"/>
          <p:nvPr/>
        </p:nvSpPr>
        <p:spPr>
          <a:xfrm>
            <a:off x="5264533" y="3645818"/>
            <a:ext cx="2880320" cy="1569660"/>
          </a:xfrm>
          <a:prstGeom prst="rect">
            <a:avLst/>
          </a:prstGeom>
          <a:solidFill>
            <a:srgbClr val="92D050"/>
          </a:solidFill>
        </p:spPr>
        <p:txBody>
          <a:bodyPr wrap="square">
            <a:spAutoFit/>
          </a:bodyPr>
          <a:lstStyle/>
          <a:p>
            <a:pPr fontAlgn="ctr"/>
            <a:r>
              <a:rPr lang="zh-CN" altLang="en-US" sz="2400" kern="100" dirty="0">
                <a:solidFill>
                  <a:srgbClr val="000000"/>
                </a:solidFill>
                <a:latin typeface="Times New Roman" panose="02020603050405020304" pitchFamily="18" charset="0"/>
                <a:ea typeface="宋体" pitchFamily="2" charset="-122"/>
              </a:rPr>
              <a:t>例</a:t>
            </a:r>
            <a:r>
              <a:rPr lang="en-US" altLang="zh-CN" sz="2400" kern="100" dirty="0">
                <a:solidFill>
                  <a:srgbClr val="000000"/>
                </a:solidFill>
                <a:latin typeface="Times New Roman" panose="02020603050405020304" pitchFamily="18" charset="0"/>
                <a:ea typeface="宋体" pitchFamily="2" charset="-122"/>
              </a:rPr>
              <a:t>24 </a:t>
            </a:r>
            <a:r>
              <a:rPr lang="zh-CN" altLang="en-US" sz="2400" kern="100" dirty="0">
                <a:solidFill>
                  <a:srgbClr val="000000"/>
                </a:solidFill>
                <a:latin typeface="Times New Roman" panose="02020603050405020304" pitchFamily="18" charset="0"/>
                <a:ea typeface="宋体" pitchFamily="2" charset="-122"/>
              </a:rPr>
              <a:t>运行结果：</a:t>
            </a:r>
            <a:endParaRPr lang="en-US" altLang="zh-CN" sz="2400" kern="100" dirty="0">
              <a:solidFill>
                <a:srgbClr val="000000"/>
              </a:solidFill>
              <a:latin typeface="Times New Roman" panose="02020603050405020304" pitchFamily="18" charset="0"/>
              <a:ea typeface="宋体" pitchFamily="2" charset="-122"/>
            </a:endParaRPr>
          </a:p>
          <a:p>
            <a:pPr fontAlgn="ctr"/>
            <a:r>
              <a:rPr lang="en-US" altLang="zh-CN" sz="2400" kern="100" dirty="0">
                <a:solidFill>
                  <a:srgbClr val="000000"/>
                </a:solidFill>
                <a:latin typeface="Times New Roman" panose="02020603050405020304" pitchFamily="18" charset="0"/>
                <a:ea typeface="宋体" pitchFamily="2" charset="-122"/>
              </a:rPr>
              <a:t> [[1 3]</a:t>
            </a:r>
            <a:endParaRPr lang="zh-CN" altLang="zh-CN" sz="2400" kern="100" dirty="0">
              <a:solidFill>
                <a:srgbClr val="000000"/>
              </a:solidFill>
              <a:latin typeface="Times New Roman" panose="02020603050405020304" pitchFamily="18" charset="0"/>
              <a:ea typeface="宋体" pitchFamily="2" charset="-122"/>
            </a:endParaRPr>
          </a:p>
          <a:p>
            <a:pPr fontAlgn="ctr"/>
            <a:r>
              <a:rPr lang="en-US" altLang="zh-CN" sz="2400" kern="100" dirty="0">
                <a:solidFill>
                  <a:srgbClr val="000000"/>
                </a:solidFill>
                <a:latin typeface="Times New Roman" panose="02020603050405020304" pitchFamily="18" charset="0"/>
                <a:ea typeface="宋体" pitchFamily="2" charset="-122"/>
              </a:rPr>
              <a:t> [2 3]</a:t>
            </a:r>
            <a:endParaRPr lang="zh-CN" altLang="zh-CN" sz="2400" kern="100" dirty="0">
              <a:solidFill>
                <a:srgbClr val="000000"/>
              </a:solidFill>
              <a:latin typeface="Times New Roman" panose="02020603050405020304" pitchFamily="18" charset="0"/>
              <a:ea typeface="宋体" pitchFamily="2" charset="-122"/>
            </a:endParaRPr>
          </a:p>
          <a:p>
            <a:pPr fontAlgn="ctr"/>
            <a:r>
              <a:rPr lang="en-US" altLang="zh-CN" sz="2400" kern="100" dirty="0">
                <a:solidFill>
                  <a:srgbClr val="000000"/>
                </a:solidFill>
                <a:latin typeface="Times New Roman" panose="02020603050405020304" pitchFamily="18" charset="0"/>
                <a:ea typeface="宋体" pitchFamily="2" charset="-122"/>
              </a:rPr>
              <a:t> [4 1]]</a:t>
            </a:r>
            <a:endParaRPr lang="zh-CN" altLang="zh-CN" sz="2400" kern="100" dirty="0">
              <a:solidFill>
                <a:srgbClr val="000000"/>
              </a:solidFill>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0" y="1684036"/>
            <a:ext cx="8893274" cy="1938992"/>
          </a:xfrm>
          <a:prstGeom prst="rect">
            <a:avLst/>
          </a:prstGeom>
          <a:noFill/>
        </p:spPr>
        <p:txBody>
          <a:bodyPr wrap="square">
            <a:spAutoFit/>
          </a:bodyPr>
          <a:lstStyle/>
          <a:p>
            <a:pPr marL="342900" indent="-342900" algn="just">
              <a:buFont typeface="Wingdings" panose="05000000000000000000" pitchFamily="2" charset="2"/>
              <a:buChar char="p"/>
            </a:pPr>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rPr>
              <a:t>用</a:t>
            </a:r>
            <a:r>
              <a:rPr lang="zh-CN" altLang="zh-CN" sz="2400" kern="100" dirty="0">
                <a:solidFill>
                  <a:srgbClr val="FF0000"/>
                </a:solidFill>
                <a:effectLst/>
                <a:latin typeface="Times New Roman" panose="02020603050405020304" pitchFamily="18" charset="0"/>
                <a:ea typeface="宋体" pitchFamily="2" charset="-122"/>
              </a:rPr>
              <a:t>类</a:t>
            </a:r>
            <a:r>
              <a:rPr lang="zh-CN" altLang="zh-CN" sz="2400" kern="100" dirty="0">
                <a:effectLst/>
                <a:latin typeface="Times New Roman" panose="02020603050405020304" pitchFamily="18" charset="0"/>
                <a:ea typeface="宋体" pitchFamily="2" charset="-122"/>
              </a:rPr>
              <a:t>来模拟表示现实世界中的事物和情景，并基于这些类来创建对象。</a:t>
            </a:r>
            <a:endParaRPr lang="en-US" altLang="zh-CN" sz="2400" kern="100" dirty="0">
              <a:effectLst/>
              <a:latin typeface="Times New Roman" panose="02020603050405020304" pitchFamily="18" charset="0"/>
              <a:ea typeface="宋体" pitchFamily="2" charset="-122"/>
            </a:endParaRPr>
          </a:p>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在编写类时，可以先定义一大类都有的通用行为，然后可以根据每个对象各自具有的特点来编写不同的功能。根据类来创建对象称为实例化。</a:t>
            </a:r>
            <a:endParaRPr lang="zh-CN" altLang="zh-CN" sz="2400" kern="100" dirty="0">
              <a:effectLst/>
              <a:latin typeface="Times New Roman" panose="02020603050405020304" pitchFamily="18" charset="0"/>
              <a:ea typeface="宋体" pitchFamily="2" charset="-122"/>
            </a:endParaRPr>
          </a:p>
        </p:txBody>
      </p:sp>
      <p:sp>
        <p:nvSpPr>
          <p:cNvPr id="8" name="文本框 7"/>
          <p:cNvSpPr txBox="1"/>
          <p:nvPr/>
        </p:nvSpPr>
        <p:spPr>
          <a:xfrm>
            <a:off x="864382" y="3603040"/>
            <a:ext cx="5760640" cy="3139321"/>
          </a:xfrm>
          <a:prstGeom prst="rect">
            <a:avLst/>
          </a:prstGeom>
          <a:solidFill>
            <a:schemeClr val="bg1">
              <a:lumMod val="85000"/>
            </a:schemeClr>
          </a:solidFill>
        </p:spPr>
        <p:txBody>
          <a:bodyPr wrap="square">
            <a:spAutoFit/>
          </a:bodyPr>
          <a:lstStyle>
            <a:defPPr>
              <a:defRPr lang="zh-CN"/>
            </a:defPPr>
            <a:lvl1pPr indent="266700" fontAlgn="ctr">
              <a:defRPr sz="1800" kern="100">
                <a:solidFill>
                  <a:srgbClr val="000000"/>
                </a:solidFill>
                <a:effectLst/>
                <a:latin typeface="Times New Roman" panose="02020603050405020304" pitchFamily="18" charset="0"/>
                <a:ea typeface="宋体" pitchFamily="2" charset="-122"/>
              </a:defRPr>
            </a:lvl1pPr>
          </a:lstStyle>
          <a:p>
            <a:r>
              <a:rPr lang="en-US" altLang="zh-CN" sz="2200" dirty="0"/>
              <a:t>class Dog():  '''</a:t>
            </a:r>
            <a:r>
              <a:rPr lang="zh-CN" altLang="zh-CN" sz="2200" dirty="0"/>
              <a:t>创建模拟小狗的类</a:t>
            </a:r>
            <a:r>
              <a:rPr lang="en-US" altLang="zh-CN" sz="2200" dirty="0"/>
              <a:t>'''  </a:t>
            </a:r>
            <a:endParaRPr lang="zh-CN" altLang="zh-CN" sz="2200" dirty="0"/>
          </a:p>
          <a:p>
            <a:r>
              <a:rPr lang="en-US" altLang="zh-CN" sz="2200" dirty="0"/>
              <a:t>    def __</a:t>
            </a:r>
            <a:r>
              <a:rPr lang="en-US" altLang="zh-CN" sz="2200" dirty="0" err="1"/>
              <a:t>init</a:t>
            </a:r>
            <a:r>
              <a:rPr lang="en-US" altLang="zh-CN" sz="2200" dirty="0"/>
              <a:t>__(</a:t>
            </a:r>
            <a:r>
              <a:rPr lang="en-US" altLang="zh-CN" sz="2200" dirty="0" err="1"/>
              <a:t>self,name,age</a:t>
            </a:r>
            <a:r>
              <a:rPr lang="en-US" altLang="zh-CN" sz="2200" dirty="0"/>
              <a:t>):  </a:t>
            </a:r>
            <a:endParaRPr lang="zh-CN" altLang="zh-CN" sz="2200" dirty="0"/>
          </a:p>
          <a:p>
            <a:r>
              <a:rPr lang="en-US" altLang="zh-CN" sz="2200" dirty="0"/>
              <a:t>        '''''</a:t>
            </a:r>
            <a:r>
              <a:rPr lang="zh-CN" altLang="zh-CN" sz="2200" dirty="0"/>
              <a:t>初始化属性</a:t>
            </a:r>
            <a:r>
              <a:rPr lang="en-US" altLang="zh-CN" sz="2200" dirty="0"/>
              <a:t>name</a:t>
            </a:r>
            <a:r>
              <a:rPr lang="zh-CN" altLang="zh-CN" sz="2200" dirty="0"/>
              <a:t>和</a:t>
            </a:r>
            <a:r>
              <a:rPr lang="en-US" altLang="zh-CN" sz="2200" dirty="0"/>
              <a:t>age'‘’ </a:t>
            </a:r>
            <a:endParaRPr lang="en-US" altLang="zh-CN" sz="2200" dirty="0"/>
          </a:p>
          <a:p>
            <a:r>
              <a:rPr lang="en-US" altLang="zh-CN" sz="2200" dirty="0"/>
              <a:t>        self.name = name  </a:t>
            </a:r>
            <a:endParaRPr lang="zh-CN" altLang="zh-CN" sz="2200" dirty="0"/>
          </a:p>
          <a:p>
            <a:r>
              <a:rPr lang="en-US" altLang="zh-CN" sz="2200" dirty="0"/>
              <a:t>        </a:t>
            </a:r>
            <a:r>
              <a:rPr lang="en-US" altLang="zh-CN" sz="2200" dirty="0" err="1"/>
              <a:t>self.age</a:t>
            </a:r>
            <a:r>
              <a:rPr lang="en-US" altLang="zh-CN" sz="2200" dirty="0"/>
              <a:t> = age</a:t>
            </a:r>
            <a:endParaRPr lang="zh-CN" altLang="zh-CN" sz="2200" dirty="0"/>
          </a:p>
          <a:p>
            <a:r>
              <a:rPr lang="en-US" altLang="zh-CN" sz="2200" dirty="0"/>
              <a:t>     def sit(self):   '''''</a:t>
            </a:r>
            <a:r>
              <a:rPr lang="zh-CN" altLang="zh-CN" sz="2200" dirty="0"/>
              <a:t>模拟小狗蹲下</a:t>
            </a:r>
            <a:r>
              <a:rPr lang="en-US" altLang="zh-CN" sz="2200" dirty="0"/>
              <a:t>'''  </a:t>
            </a:r>
            <a:endParaRPr lang="zh-CN" altLang="zh-CN" sz="2200" dirty="0"/>
          </a:p>
          <a:p>
            <a:r>
              <a:rPr lang="en-US" altLang="zh-CN" sz="2200" dirty="0"/>
              <a:t>        print(self.name + ' is now sitting.’)</a:t>
            </a:r>
            <a:endParaRPr lang="zh-CN" altLang="zh-CN" sz="2200" dirty="0"/>
          </a:p>
          <a:p>
            <a:r>
              <a:rPr lang="en-US" altLang="zh-CN" sz="2200" dirty="0"/>
              <a:t>     def </a:t>
            </a:r>
            <a:r>
              <a:rPr lang="en-US" altLang="zh-CN" sz="2200" dirty="0" err="1"/>
              <a:t>roll_over</a:t>
            </a:r>
            <a:r>
              <a:rPr lang="en-US" altLang="zh-CN" sz="2200" dirty="0"/>
              <a:t>(self):   '''''</a:t>
            </a:r>
            <a:r>
              <a:rPr lang="zh-CN" altLang="zh-CN" sz="2200" dirty="0"/>
              <a:t>模拟小狗打滚</a:t>
            </a:r>
            <a:r>
              <a:rPr lang="en-US" altLang="zh-CN" sz="2200" dirty="0"/>
              <a:t>'''  </a:t>
            </a:r>
            <a:endParaRPr lang="zh-CN" altLang="zh-CN" sz="2200" dirty="0"/>
          </a:p>
          <a:p>
            <a:r>
              <a:rPr lang="en-US" altLang="zh-CN" sz="2200" dirty="0"/>
              <a:t>        print(self.name + ' rolled over.')    </a:t>
            </a:r>
            <a:endParaRPr lang="zh-CN" altLang="zh-CN" sz="2200" dirty="0"/>
          </a:p>
        </p:txBody>
      </p:sp>
      <p:sp>
        <p:nvSpPr>
          <p:cNvPr id="2" name="对话气泡: 圆角矩形 1"/>
          <p:cNvSpPr/>
          <p:nvPr/>
        </p:nvSpPr>
        <p:spPr>
          <a:xfrm>
            <a:off x="4698263" y="4219263"/>
            <a:ext cx="4320480" cy="1357078"/>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kern="100" dirty="0">
                <a:effectLst/>
                <a:latin typeface="Times New Roman" panose="02020603050405020304" pitchFamily="18" charset="0"/>
                <a:ea typeface="宋体" pitchFamily="2" charset="-122"/>
              </a:rPr>
              <a:t>类用</a:t>
            </a:r>
            <a:r>
              <a:rPr lang="en-US" altLang="zh-CN" sz="2000" kern="100" dirty="0">
                <a:effectLst/>
                <a:latin typeface="Times New Roman" panose="02020603050405020304" pitchFamily="18" charset="0"/>
                <a:ea typeface="宋体" pitchFamily="2" charset="-122"/>
              </a:rPr>
              <a:t>class</a:t>
            </a:r>
            <a:r>
              <a:rPr lang="zh-CN" altLang="zh-CN" sz="2000" kern="100" dirty="0">
                <a:effectLst/>
                <a:latin typeface="Times New Roman" panose="02020603050405020304" pitchFamily="18" charset="0"/>
                <a:ea typeface="宋体" pitchFamily="2" charset="-122"/>
              </a:rPr>
              <a:t>表示，在命名类时</a:t>
            </a:r>
            <a:r>
              <a:rPr lang="zh-CN" altLang="en-US" sz="2000" kern="100" dirty="0">
                <a:effectLst/>
                <a:latin typeface="Times New Roman" panose="02020603050405020304" pitchFamily="18" charset="0"/>
                <a:ea typeface="宋体" pitchFamily="2" charset="-122"/>
              </a:rPr>
              <a:t>，</a:t>
            </a:r>
            <a:r>
              <a:rPr lang="zh-CN" altLang="zh-CN" sz="2000" kern="100" dirty="0">
                <a:effectLst/>
                <a:latin typeface="Times New Roman" panose="02020603050405020304" pitchFamily="18" charset="0"/>
                <a:ea typeface="宋体" pitchFamily="2" charset="-122"/>
              </a:rPr>
              <a:t>将类名中的每个单词首字母都大写而不使用下划线。后面括号中是空的</a:t>
            </a:r>
            <a:r>
              <a:rPr lang="zh-CN" altLang="en-US" sz="2000" kern="100" dirty="0">
                <a:effectLst/>
                <a:latin typeface="Times New Roman" panose="02020603050405020304" pitchFamily="18" charset="0"/>
                <a:ea typeface="宋体" pitchFamily="2" charset="-122"/>
              </a:rPr>
              <a:t>。</a:t>
            </a:r>
            <a:endParaRPr lang="zh-CN" altLang="en-US" sz="2000" dirty="0"/>
          </a:p>
        </p:txBody>
      </p:sp>
      <p:sp>
        <p:nvSpPr>
          <p:cNvPr id="3" name="文本框 2"/>
          <p:cNvSpPr txBox="1"/>
          <p:nvPr/>
        </p:nvSpPr>
        <p:spPr>
          <a:xfrm>
            <a:off x="108298" y="1228786"/>
            <a:ext cx="1512168" cy="461665"/>
          </a:xfrm>
          <a:prstGeom prst="rect">
            <a:avLst/>
          </a:prstGeom>
          <a:noFill/>
        </p:spPr>
        <p:txBody>
          <a:bodyPr wrap="square" rtlCol="0">
            <a:spAutoFit/>
          </a:bodyPr>
          <a:lstStyle/>
          <a:p>
            <a:r>
              <a:rPr lang="en-US" altLang="zh-CN" sz="2400" b="1" dirty="0"/>
              <a:t>2.2.9 </a:t>
            </a:r>
            <a:r>
              <a:rPr lang="zh-CN" altLang="en-US" sz="2400" b="1" dirty="0"/>
              <a:t>类</a:t>
            </a:r>
            <a:endParaRPr lang="zh-CN" altLang="en-US" sz="2400" b="1" dirty="0"/>
          </a:p>
        </p:txBody>
      </p:sp>
    </p:spTree>
  </p:cSld>
  <p:clrMapOvr>
    <a:masterClrMapping/>
  </p:clrMapOvr>
  <p:transition spd="slow" advClick="0" advTm="0">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36290" y="1485578"/>
            <a:ext cx="8893274" cy="3046988"/>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类中的函数称为</a:t>
            </a:r>
            <a:r>
              <a:rPr lang="zh-CN" altLang="zh-CN" sz="2400" kern="100" dirty="0">
                <a:solidFill>
                  <a:srgbClr val="FF0000"/>
                </a:solidFill>
                <a:effectLst/>
                <a:latin typeface="Times New Roman" panose="02020603050405020304" pitchFamily="18" charset="0"/>
                <a:ea typeface="宋体" pitchFamily="2" charset="-122"/>
              </a:rPr>
              <a:t>方法</a:t>
            </a:r>
            <a:r>
              <a:rPr lang="zh-CN" altLang="zh-CN" sz="2400" kern="100" dirty="0">
                <a:effectLst/>
                <a:latin typeface="Times New Roman" panose="02020603050405020304" pitchFamily="18" charset="0"/>
                <a:ea typeface="宋体" pitchFamily="2" charset="-122"/>
              </a:rPr>
              <a:t>。</a:t>
            </a:r>
            <a:endParaRPr lang="en-US" altLang="zh-CN" sz="2400" kern="100" dirty="0">
              <a:effectLst/>
              <a:latin typeface="Times New Roman" panose="02020603050405020304" pitchFamily="18" charset="0"/>
              <a:ea typeface="宋体" pitchFamily="2" charset="-122"/>
            </a:endParaRPr>
          </a:p>
          <a:p>
            <a:pPr indent="266700" algn="just"/>
            <a:r>
              <a:rPr lang="zh-CN" altLang="zh-CN" sz="2400" kern="100" dirty="0">
                <a:effectLst/>
                <a:latin typeface="Times New Roman" panose="02020603050405020304" pitchFamily="18" charset="0"/>
                <a:ea typeface="宋体" pitchFamily="2" charset="-122"/>
              </a:rPr>
              <a:t>第</a:t>
            </a:r>
            <a:r>
              <a:rPr lang="en-US" altLang="zh-CN" sz="2400" kern="100" dirty="0">
                <a:effectLst/>
                <a:latin typeface="Times New Roman" panose="02020603050405020304" pitchFamily="18" charset="0"/>
                <a:ea typeface="宋体" pitchFamily="2" charset="-122"/>
              </a:rPr>
              <a:t>4</a:t>
            </a:r>
            <a:r>
              <a:rPr lang="zh-CN" altLang="zh-CN" sz="2400" kern="100" dirty="0">
                <a:effectLst/>
                <a:latin typeface="Times New Roman" panose="02020603050405020304" pitchFamily="18" charset="0"/>
                <a:ea typeface="宋体" pitchFamily="2" charset="-122"/>
              </a:rPr>
              <a:t>行中的</a:t>
            </a:r>
            <a:r>
              <a:rPr lang="en-US" altLang="zh-CN" sz="2400" kern="100" dirty="0">
                <a:effectLst/>
                <a:latin typeface="Times New Roman" panose="02020603050405020304" pitchFamily="18" charset="0"/>
                <a:ea typeface="宋体" pitchFamily="2" charset="-122"/>
              </a:rPr>
              <a:t>__</a:t>
            </a:r>
            <a:r>
              <a:rPr lang="en-US" altLang="zh-CN" sz="2400" kern="100" dirty="0" err="1">
                <a:effectLst/>
                <a:latin typeface="Times New Roman" panose="02020603050405020304" pitchFamily="18" charset="0"/>
                <a:ea typeface="宋体" pitchFamily="2" charset="-122"/>
              </a:rPr>
              <a:t>init</a:t>
            </a:r>
            <a:r>
              <a:rPr lang="en-US" altLang="zh-CN" sz="2400" kern="100" dirty="0">
                <a:effectLst/>
                <a:latin typeface="Times New Roman" panose="02020603050405020304" pitchFamily="18" charset="0"/>
                <a:ea typeface="宋体" pitchFamily="2" charset="-122"/>
              </a:rPr>
              <a:t>__( )</a:t>
            </a:r>
            <a:r>
              <a:rPr lang="zh-CN" altLang="zh-CN" sz="2400" kern="100" dirty="0">
                <a:effectLst/>
                <a:latin typeface="Times New Roman" panose="02020603050405020304" pitchFamily="18" charset="0"/>
                <a:ea typeface="宋体" pitchFamily="2" charset="-122"/>
              </a:rPr>
              <a:t>是一个特殊的方法</a:t>
            </a:r>
            <a:r>
              <a:rPr lang="en-US" altLang="zh-CN" sz="2400" kern="100" dirty="0">
                <a:effectLst/>
                <a:latin typeface="Times New Roman" panose="02020603050405020304" pitchFamily="18" charset="0"/>
                <a:ea typeface="宋体" pitchFamily="2" charset="-122"/>
              </a:rPr>
              <a:t>(</a:t>
            </a:r>
            <a:r>
              <a:rPr lang="en-US" altLang="zh-CN" sz="2400" kern="100" dirty="0" err="1">
                <a:effectLst/>
                <a:latin typeface="Times New Roman" panose="02020603050405020304" pitchFamily="18" charset="0"/>
                <a:ea typeface="宋体" pitchFamily="2" charset="-122"/>
              </a:rPr>
              <a:t>init</a:t>
            </a:r>
            <a:r>
              <a:rPr lang="zh-CN" altLang="zh-CN" sz="2400" kern="100" dirty="0">
                <a:effectLst/>
                <a:latin typeface="Times New Roman" panose="02020603050405020304" pitchFamily="18" charset="0"/>
                <a:ea typeface="宋体" pitchFamily="2" charset="-122"/>
              </a:rPr>
              <a:t>前后各有</a:t>
            </a:r>
            <a:r>
              <a:rPr lang="en-US" altLang="zh-CN" sz="2400" kern="100" dirty="0">
                <a:effectLst/>
                <a:latin typeface="Times New Roman" panose="02020603050405020304" pitchFamily="18" charset="0"/>
                <a:ea typeface="宋体" pitchFamily="2" charset="-122"/>
              </a:rPr>
              <a:t>2</a:t>
            </a:r>
            <a:r>
              <a:rPr lang="zh-CN" altLang="zh-CN" sz="2400" kern="100" dirty="0">
                <a:effectLst/>
                <a:latin typeface="Times New Roman" panose="02020603050405020304" pitchFamily="18" charset="0"/>
                <a:ea typeface="宋体" pitchFamily="2" charset="-122"/>
              </a:rPr>
              <a:t>个</a:t>
            </a:r>
            <a:r>
              <a:rPr lang="en-US" altLang="zh-CN" sz="2400" kern="100" dirty="0">
                <a:effectLst/>
                <a:latin typeface="Times New Roman" panose="02020603050405020304" pitchFamily="18" charset="0"/>
                <a:ea typeface="宋体" pitchFamily="2" charset="-122"/>
              </a:rPr>
              <a:t>_</a:t>
            </a:r>
            <a:r>
              <a:rPr lang="en-US" altLang="zh-CN" sz="2400" kern="100" dirty="0">
                <a:effectLst/>
                <a:latin typeface="宋体" pitchFamily="2" charset="-122"/>
                <a:ea typeface="宋体" pitchFamily="2" charset="-122"/>
              </a:rPr>
              <a:t>)</a:t>
            </a:r>
            <a:r>
              <a:rPr lang="zh-CN" altLang="zh-CN" sz="2400" kern="100" dirty="0">
                <a:effectLst/>
                <a:latin typeface="Times New Roman" panose="02020603050405020304" pitchFamily="18" charset="0"/>
                <a:ea typeface="宋体" pitchFamily="2" charset="-122"/>
              </a:rPr>
              <a:t>，每当根据类</a:t>
            </a:r>
            <a:r>
              <a:rPr lang="en-US" altLang="zh-CN" sz="2400" kern="100" dirty="0">
                <a:effectLst/>
                <a:latin typeface="Times New Roman" panose="02020603050405020304" pitchFamily="18" charset="0"/>
                <a:ea typeface="宋体" pitchFamily="2" charset="-122"/>
              </a:rPr>
              <a:t>Dog</a:t>
            </a:r>
            <a:r>
              <a:rPr lang="zh-CN" altLang="zh-CN" sz="2400" kern="100" dirty="0">
                <a:effectLst/>
                <a:latin typeface="Times New Roman" panose="02020603050405020304" pitchFamily="18" charset="0"/>
                <a:ea typeface="宋体" pitchFamily="2" charset="-122"/>
              </a:rPr>
              <a:t>创建新实例时，都会自动运行它，也称为</a:t>
            </a:r>
            <a:r>
              <a:rPr lang="zh-CN" altLang="zh-CN" sz="2400" kern="100" dirty="0">
                <a:solidFill>
                  <a:srgbClr val="FF0000"/>
                </a:solidFill>
                <a:effectLst/>
                <a:latin typeface="Times New Roman" panose="02020603050405020304" pitchFamily="18" charset="0"/>
                <a:ea typeface="宋体" pitchFamily="2" charset="-122"/>
              </a:rPr>
              <a:t>构造函数</a:t>
            </a:r>
            <a:r>
              <a:rPr lang="zh-CN" altLang="zh-CN" sz="2400" kern="100" dirty="0">
                <a:effectLst/>
                <a:latin typeface="Times New Roman" panose="02020603050405020304" pitchFamily="18" charset="0"/>
                <a:ea typeface="宋体" pitchFamily="2" charset="-122"/>
              </a:rPr>
              <a:t>。</a:t>
            </a:r>
            <a:r>
              <a:rPr lang="en-US" altLang="zh-CN" sz="2400" kern="100" dirty="0">
                <a:effectLst/>
                <a:latin typeface="Times New Roman" panose="02020603050405020304" pitchFamily="18" charset="0"/>
                <a:ea typeface="宋体" pitchFamily="2" charset="-122"/>
              </a:rPr>
              <a:t>__</a:t>
            </a:r>
            <a:r>
              <a:rPr lang="en-US" altLang="zh-CN" sz="2400" kern="100" dirty="0" err="1">
                <a:effectLst/>
                <a:latin typeface="Times New Roman" panose="02020603050405020304" pitchFamily="18" charset="0"/>
                <a:ea typeface="宋体" pitchFamily="2" charset="-122"/>
              </a:rPr>
              <a:t>init</a:t>
            </a:r>
            <a:r>
              <a:rPr lang="en-US" altLang="zh-CN" sz="2400" kern="100" dirty="0">
                <a:effectLst/>
                <a:latin typeface="Times New Roman" panose="02020603050405020304" pitchFamily="18" charset="0"/>
                <a:ea typeface="宋体" pitchFamily="2" charset="-122"/>
              </a:rPr>
              <a:t>__( )</a:t>
            </a:r>
            <a:r>
              <a:rPr lang="zh-CN" altLang="zh-CN" sz="2400" kern="100" dirty="0">
                <a:effectLst/>
                <a:latin typeface="Times New Roman" panose="02020603050405020304" pitchFamily="18" charset="0"/>
                <a:ea typeface="宋体" pitchFamily="2" charset="-122"/>
              </a:rPr>
              <a:t>方法在定义时包含</a:t>
            </a:r>
            <a:r>
              <a:rPr lang="en-US" altLang="zh-CN" sz="2400" kern="100" dirty="0">
                <a:effectLst/>
                <a:latin typeface="Times New Roman" panose="02020603050405020304" pitchFamily="18" charset="0"/>
                <a:ea typeface="宋体" pitchFamily="2" charset="-122"/>
              </a:rPr>
              <a:t>self</a:t>
            </a:r>
            <a:r>
              <a:rPr lang="zh-CN" altLang="zh-CN" sz="2400" kern="100" dirty="0">
                <a:effectLst/>
                <a:latin typeface="Times New Roman" panose="02020603050405020304" pitchFamily="18" charset="0"/>
                <a:ea typeface="宋体" pitchFamily="2" charset="-122"/>
              </a:rPr>
              <a:t>、</a:t>
            </a:r>
            <a:r>
              <a:rPr lang="en-US" altLang="zh-CN" sz="2400" kern="100" dirty="0">
                <a:effectLst/>
                <a:latin typeface="Times New Roman" panose="02020603050405020304" pitchFamily="18" charset="0"/>
                <a:ea typeface="宋体" pitchFamily="2" charset="-122"/>
              </a:rPr>
              <a:t>name</a:t>
            </a:r>
            <a:r>
              <a:rPr lang="zh-CN" altLang="zh-CN" sz="2400" kern="100" dirty="0">
                <a:effectLst/>
                <a:latin typeface="Times New Roman" panose="02020603050405020304" pitchFamily="18" charset="0"/>
                <a:ea typeface="宋体" pitchFamily="2" charset="-122"/>
              </a:rPr>
              <a:t>、</a:t>
            </a:r>
            <a:r>
              <a:rPr lang="en-US" altLang="zh-CN" sz="2400" kern="100" dirty="0">
                <a:effectLst/>
                <a:latin typeface="Times New Roman" panose="02020603050405020304" pitchFamily="18" charset="0"/>
                <a:ea typeface="宋体" pitchFamily="2" charset="-122"/>
              </a:rPr>
              <a:t>age</a:t>
            </a:r>
            <a:r>
              <a:rPr lang="zh-CN" altLang="zh-CN" sz="2400" kern="100" dirty="0">
                <a:effectLst/>
                <a:latin typeface="Times New Roman" panose="02020603050405020304" pitchFamily="18" charset="0"/>
                <a:ea typeface="宋体" pitchFamily="2" charset="-122"/>
              </a:rPr>
              <a:t>共</a:t>
            </a:r>
            <a:r>
              <a:rPr lang="en-US" altLang="zh-CN" sz="2400" kern="100" dirty="0">
                <a:effectLst/>
                <a:latin typeface="Times New Roman" panose="02020603050405020304" pitchFamily="18" charset="0"/>
                <a:ea typeface="宋体" pitchFamily="2" charset="-122"/>
              </a:rPr>
              <a:t>3</a:t>
            </a:r>
            <a:r>
              <a:rPr lang="zh-CN" altLang="zh-CN" sz="2400" kern="100" dirty="0">
                <a:effectLst/>
                <a:latin typeface="Times New Roman" panose="02020603050405020304" pitchFamily="18" charset="0"/>
                <a:ea typeface="宋体" pitchFamily="2" charset="-122"/>
              </a:rPr>
              <a:t>个形参。</a:t>
            </a:r>
            <a:endParaRPr lang="en-US" altLang="zh-CN" sz="2400" kern="100" dirty="0">
              <a:effectLst/>
              <a:latin typeface="Times New Roman" panose="02020603050405020304" pitchFamily="18" charset="0"/>
              <a:ea typeface="宋体" pitchFamily="2" charset="-122"/>
            </a:endParaRPr>
          </a:p>
          <a:p>
            <a:pPr indent="266700" algn="just"/>
            <a:r>
              <a:rPr lang="en-US" altLang="zh-CN" sz="2400" kern="100" dirty="0">
                <a:solidFill>
                  <a:srgbClr val="FF0000"/>
                </a:solidFill>
                <a:effectLst/>
                <a:latin typeface="Times New Roman" panose="02020603050405020304" pitchFamily="18" charset="0"/>
                <a:ea typeface="宋体" pitchFamily="2" charset="-122"/>
              </a:rPr>
              <a:t>self</a:t>
            </a:r>
            <a:r>
              <a:rPr lang="zh-CN" altLang="zh-CN" sz="2400" kern="100" dirty="0">
                <a:solidFill>
                  <a:srgbClr val="FF0000"/>
                </a:solidFill>
                <a:effectLst/>
                <a:latin typeface="Times New Roman" panose="02020603050405020304" pitchFamily="18" charset="0"/>
                <a:ea typeface="宋体" pitchFamily="2" charset="-122"/>
              </a:rPr>
              <a:t>是必不可少的，且必须位于最前面</a:t>
            </a:r>
            <a:r>
              <a:rPr lang="zh-CN" altLang="zh-CN" sz="2400" kern="100" dirty="0">
                <a:effectLst/>
                <a:latin typeface="Times New Roman" panose="02020603050405020304" pitchFamily="18" charset="0"/>
                <a:ea typeface="宋体" pitchFamily="2" charset="-122"/>
              </a:rPr>
              <a:t>。在</a:t>
            </a:r>
            <a:r>
              <a:rPr lang="en-US" altLang="zh-CN" sz="2400" kern="100" dirty="0">
                <a:effectLst/>
                <a:latin typeface="Times New Roman" panose="02020603050405020304" pitchFamily="18" charset="0"/>
                <a:ea typeface="宋体" pitchFamily="2" charset="-122"/>
              </a:rPr>
              <a:t>Python</a:t>
            </a:r>
            <a:r>
              <a:rPr lang="zh-CN" altLang="zh-CN" sz="2400" kern="100" dirty="0">
                <a:effectLst/>
                <a:latin typeface="Times New Roman" panose="02020603050405020304" pitchFamily="18" charset="0"/>
                <a:ea typeface="宋体" pitchFamily="2" charset="-122"/>
              </a:rPr>
              <a:t>调用</a:t>
            </a:r>
            <a:r>
              <a:rPr lang="en-US" altLang="zh-CN" sz="2400" kern="100" dirty="0">
                <a:effectLst/>
                <a:latin typeface="Times New Roman" panose="02020603050405020304" pitchFamily="18" charset="0"/>
                <a:ea typeface="宋体" pitchFamily="2" charset="-122"/>
              </a:rPr>
              <a:t>__</a:t>
            </a:r>
            <a:r>
              <a:rPr lang="en-US" altLang="zh-CN" sz="2400" kern="100" dirty="0" err="1">
                <a:effectLst/>
                <a:latin typeface="Times New Roman" panose="02020603050405020304" pitchFamily="18" charset="0"/>
                <a:ea typeface="宋体" pitchFamily="2" charset="-122"/>
              </a:rPr>
              <a:t>init</a:t>
            </a:r>
            <a:r>
              <a:rPr lang="en-US" altLang="zh-CN" sz="2400" kern="100" dirty="0">
                <a:effectLst/>
                <a:latin typeface="Times New Roman" panose="02020603050405020304" pitchFamily="18" charset="0"/>
                <a:ea typeface="宋体" pitchFamily="2" charset="-122"/>
              </a:rPr>
              <a:t>__( )</a:t>
            </a:r>
            <a:r>
              <a:rPr lang="zh-CN" altLang="zh-CN" sz="2400" kern="100" dirty="0">
                <a:effectLst/>
                <a:latin typeface="Times New Roman" panose="02020603050405020304" pitchFamily="18" charset="0"/>
                <a:ea typeface="宋体" pitchFamily="2" charset="-122"/>
              </a:rPr>
              <a:t>方法创建实例时，将自动传入形参</a:t>
            </a:r>
            <a:r>
              <a:rPr lang="en-US" altLang="zh-CN" sz="2400" kern="100" dirty="0">
                <a:effectLst/>
                <a:latin typeface="Times New Roman" panose="02020603050405020304" pitchFamily="18" charset="0"/>
                <a:ea typeface="宋体" pitchFamily="2" charset="-122"/>
              </a:rPr>
              <a:t>self</a:t>
            </a:r>
            <a:r>
              <a:rPr lang="zh-CN" altLang="zh-CN" sz="2400" kern="100" dirty="0">
                <a:effectLst/>
                <a:latin typeface="Times New Roman" panose="02020603050405020304" pitchFamily="18" charset="0"/>
                <a:ea typeface="宋体" pitchFamily="2" charset="-122"/>
              </a:rPr>
              <a:t>，每个与类相关联的方法都会自动传递形参</a:t>
            </a:r>
            <a:r>
              <a:rPr lang="en-US" altLang="zh-CN" sz="2400" kern="100" dirty="0">
                <a:effectLst/>
                <a:latin typeface="Times New Roman" panose="02020603050405020304" pitchFamily="18" charset="0"/>
                <a:ea typeface="宋体" pitchFamily="2" charset="-122"/>
              </a:rPr>
              <a:t>self</a:t>
            </a:r>
            <a:r>
              <a:rPr lang="zh-CN" altLang="zh-CN" sz="2400" kern="100" dirty="0">
                <a:effectLst/>
                <a:latin typeface="Times New Roman" panose="02020603050405020304" pitchFamily="18" charset="0"/>
                <a:ea typeface="宋体" pitchFamily="2" charset="-122"/>
              </a:rPr>
              <a:t>，它是一个指向实例本身的引用，让实例能够访问类中的属性和方法。</a:t>
            </a:r>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800" y="1341562"/>
            <a:ext cx="8893274" cy="830997"/>
          </a:xfrm>
          <a:prstGeom prst="rect">
            <a:avLst/>
          </a:prstGeom>
          <a:noFill/>
        </p:spPr>
        <p:txBody>
          <a:bodyPr wrap="square">
            <a:spAutoFit/>
          </a:bodyPr>
          <a:lstStyle/>
          <a:p>
            <a:pPr indent="266700" algn="just"/>
            <a:r>
              <a:rPr lang="zh-CN" altLang="zh-CN"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类可以当做如何创建实例的说明</a:t>
            </a:r>
            <a:r>
              <a:rPr lang="zh-CN" altLang="zh-CN" sz="2400" kern="100" dirty="0">
                <a:solidFill>
                  <a:srgbClr val="FF0000"/>
                </a:solidFill>
                <a:effectLst/>
                <a:latin typeface="Times New Roman" panose="02020603050405020304" pitchFamily="18" charset="0"/>
                <a:ea typeface="宋体" pitchFamily="2" charset="-122"/>
              </a:rPr>
              <a:t>。</a:t>
            </a:r>
            <a:endParaRPr lang="en-US" altLang="zh-CN" sz="2400" kern="100" dirty="0">
              <a:solidFill>
                <a:srgbClr val="FF0000"/>
              </a:solidFill>
              <a:effectLst/>
              <a:latin typeface="Times New Roman" panose="02020603050405020304" pitchFamily="18" charset="0"/>
              <a:ea typeface="宋体" pitchFamily="2" charset="-122"/>
            </a:endParaRPr>
          </a:p>
          <a:p>
            <a:pPr indent="266700" algn="just"/>
            <a:endParaRPr lang="zh-CN" altLang="zh-CN" sz="2400" kern="100" dirty="0">
              <a:effectLst/>
              <a:latin typeface="Times New Roman" panose="02020603050405020304" pitchFamily="18" charset="0"/>
              <a:ea typeface="宋体" pitchFamily="2" charset="-122"/>
            </a:endParaRPr>
          </a:p>
        </p:txBody>
      </p:sp>
      <p:sp>
        <p:nvSpPr>
          <p:cNvPr id="8" name="文本框 7"/>
          <p:cNvSpPr txBox="1"/>
          <p:nvPr/>
        </p:nvSpPr>
        <p:spPr>
          <a:xfrm>
            <a:off x="712183" y="1890456"/>
            <a:ext cx="6912767" cy="1569660"/>
          </a:xfrm>
          <a:prstGeom prst="rect">
            <a:avLst/>
          </a:prstGeom>
          <a:solidFill>
            <a:schemeClr val="tx2">
              <a:lumMod val="20000"/>
              <a:lumOff val="80000"/>
            </a:schemeClr>
          </a:solidFill>
        </p:spPr>
        <p:txBody>
          <a:bodyPr wrap="square">
            <a:spAutoFit/>
          </a:bodyPr>
          <a:lstStyle>
            <a:defPPr>
              <a:defRPr lang="zh-CN"/>
            </a:defPPr>
            <a:lvl1pPr indent="266700" fontAlgn="ctr">
              <a:defRPr sz="1800" kern="100">
                <a:solidFill>
                  <a:srgbClr val="000000"/>
                </a:solidFill>
                <a:effectLst/>
                <a:latin typeface="Times New Roman" panose="02020603050405020304" pitchFamily="18" charset="0"/>
                <a:ea typeface="宋体" pitchFamily="2" charset="-122"/>
              </a:defRPr>
            </a:lvl1pPr>
          </a:lstStyle>
          <a:p>
            <a:r>
              <a:rPr lang="zh-CN" altLang="en-US" sz="2400" dirty="0"/>
              <a:t>例子</a:t>
            </a:r>
            <a:r>
              <a:rPr lang="en-US" altLang="zh-CN" sz="2400" dirty="0"/>
              <a:t>25</a:t>
            </a:r>
            <a:r>
              <a:rPr lang="zh-CN" altLang="en-US" sz="2400" dirty="0"/>
              <a:t> 创建实例：</a:t>
            </a:r>
            <a:endParaRPr lang="en-US" altLang="zh-CN" sz="2400" dirty="0"/>
          </a:p>
          <a:p>
            <a:r>
              <a:rPr lang="en-US" altLang="zh-CN" sz="2400" dirty="0" err="1"/>
              <a:t>my_dog</a:t>
            </a:r>
            <a:r>
              <a:rPr lang="en-US" altLang="zh-CN" sz="2400" dirty="0"/>
              <a:t> = Dog('Bob',6)  </a:t>
            </a:r>
            <a:endParaRPr lang="zh-CN" altLang="zh-CN" sz="2400" dirty="0"/>
          </a:p>
          <a:p>
            <a:r>
              <a:rPr lang="en-US" altLang="zh-CN" sz="2400" dirty="0"/>
              <a:t>print("My dog's name is " + my_dog.name)  </a:t>
            </a:r>
            <a:endParaRPr lang="zh-CN" altLang="zh-CN" sz="2400" dirty="0"/>
          </a:p>
          <a:p>
            <a:r>
              <a:rPr lang="en-US" altLang="zh-CN" sz="2400" dirty="0"/>
              <a:t>   print('My dog is ' + str(</a:t>
            </a:r>
            <a:r>
              <a:rPr lang="en-US" altLang="zh-CN" sz="2400" dirty="0" err="1"/>
              <a:t>my_dog.age</a:t>
            </a:r>
            <a:r>
              <a:rPr lang="en-US" altLang="zh-CN" sz="2400" dirty="0"/>
              <a:t>) + ' years old')</a:t>
            </a:r>
            <a:endParaRPr lang="zh-CN" altLang="en-US" sz="2400" dirty="0"/>
          </a:p>
        </p:txBody>
      </p:sp>
      <p:sp>
        <p:nvSpPr>
          <p:cNvPr id="13" name="文本框 12"/>
          <p:cNvSpPr txBox="1"/>
          <p:nvPr/>
        </p:nvSpPr>
        <p:spPr>
          <a:xfrm>
            <a:off x="2262796" y="3717826"/>
            <a:ext cx="3590838" cy="1200329"/>
          </a:xfrm>
          <a:prstGeom prst="rect">
            <a:avLst/>
          </a:prstGeom>
          <a:solidFill>
            <a:srgbClr val="92D050"/>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例子</a:t>
            </a:r>
            <a:r>
              <a:rPr lang="en-US" altLang="zh-CN" sz="2400" kern="100" dirty="0">
                <a:solidFill>
                  <a:srgbClr val="000000"/>
                </a:solidFill>
                <a:effectLst/>
                <a:latin typeface="Times New Roman" panose="02020603050405020304" pitchFamily="18" charset="0"/>
                <a:ea typeface="宋体" pitchFamily="2" charset="-122"/>
              </a:rPr>
              <a:t>25</a:t>
            </a:r>
            <a:r>
              <a:rPr lang="zh-CN" altLang="en-US" sz="2400" kern="100" dirty="0">
                <a:solidFill>
                  <a:srgbClr val="000000"/>
                </a:solidFill>
                <a:effectLst/>
                <a:latin typeface="Times New Roman" panose="02020603050405020304" pitchFamily="18" charset="0"/>
                <a:ea typeface="宋体" pitchFamily="2" charset="-122"/>
              </a:rPr>
              <a:t> 运行结果：</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My dog's name is Bob  </a:t>
            </a:r>
            <a:endParaRPr lang="zh-CN" altLang="zh-CN" sz="2400" kern="100" dirty="0">
              <a:effectLst/>
              <a:latin typeface="Times New Roman" panose="02020603050405020304" pitchFamily="18" charset="0"/>
              <a:ea typeface="宋体" pitchFamily="2" charset="-122"/>
            </a:endParaRPr>
          </a:p>
          <a:p>
            <a:r>
              <a:rPr lang="en-US" altLang="zh-CN" sz="2400" kern="100" dirty="0">
                <a:effectLst/>
                <a:latin typeface="Times New Roman" panose="02020603050405020304" pitchFamily="18" charset="0"/>
                <a:ea typeface="宋体" pitchFamily="2" charset="-122"/>
              </a:rPr>
              <a:t>     My dog is 6 years old </a:t>
            </a:r>
            <a:endParaRPr lang="zh-CN" altLang="en-US" sz="2400" dirty="0"/>
          </a:p>
        </p:txBody>
      </p:sp>
      <p:sp>
        <p:nvSpPr>
          <p:cNvPr id="15" name="文本框 14"/>
          <p:cNvSpPr txBox="1"/>
          <p:nvPr/>
        </p:nvSpPr>
        <p:spPr>
          <a:xfrm>
            <a:off x="612354" y="5365048"/>
            <a:ext cx="3590838" cy="830997"/>
          </a:xfrm>
          <a:prstGeom prst="rect">
            <a:avLst/>
          </a:prstGeom>
          <a:solidFill>
            <a:schemeClr val="bg1">
              <a:lumMod val="85000"/>
            </a:schemeClr>
          </a:solidFill>
        </p:spPr>
        <p:txBody>
          <a:bodyPr wrap="square">
            <a:spAutoFit/>
          </a:bodyPr>
          <a:lstStyle>
            <a:defPPr>
              <a:defRPr lang="zh-CN"/>
            </a:defPPr>
            <a:lvl1pPr indent="266700" fontAlgn="ctr">
              <a:defRPr sz="1800" kern="100">
                <a:solidFill>
                  <a:srgbClr val="000000"/>
                </a:solidFill>
                <a:effectLst/>
                <a:latin typeface="Times New Roman" panose="02020603050405020304" pitchFamily="18" charset="0"/>
                <a:ea typeface="宋体" pitchFamily="2" charset="-122"/>
              </a:defRPr>
            </a:lvl1pPr>
          </a:lstStyle>
          <a:p>
            <a:r>
              <a:rPr lang="en-US" altLang="zh-CN" sz="2400" dirty="0" err="1"/>
              <a:t>my_dog.sit</a:t>
            </a:r>
            <a:r>
              <a:rPr lang="en-US" altLang="zh-CN" sz="2400" dirty="0"/>
              <a:t>()  </a:t>
            </a:r>
            <a:endParaRPr lang="zh-CN" altLang="zh-CN" sz="2400" dirty="0"/>
          </a:p>
          <a:p>
            <a:r>
              <a:rPr lang="en-US" altLang="zh-CN" sz="2400" dirty="0" err="1"/>
              <a:t>my_dog.roll_over</a:t>
            </a:r>
            <a:r>
              <a:rPr lang="en-US" altLang="zh-CN" sz="2400" dirty="0"/>
              <a:t>()  </a:t>
            </a:r>
            <a:endParaRPr lang="zh-CN" altLang="zh-CN" sz="2400" dirty="0"/>
          </a:p>
        </p:txBody>
      </p:sp>
      <p:sp>
        <p:nvSpPr>
          <p:cNvPr id="17" name="文本框 16"/>
          <p:cNvSpPr txBox="1"/>
          <p:nvPr/>
        </p:nvSpPr>
        <p:spPr>
          <a:xfrm>
            <a:off x="5220066" y="5013487"/>
            <a:ext cx="3313168" cy="1200329"/>
          </a:xfrm>
          <a:prstGeom prst="rect">
            <a:avLst/>
          </a:prstGeom>
          <a:solidFill>
            <a:srgbClr val="92D050"/>
          </a:solidFill>
        </p:spPr>
        <p:txBody>
          <a:bodyPr wrap="square">
            <a:spAutoFit/>
          </a:bodyPr>
          <a:lstStyle/>
          <a:p>
            <a:pPr indent="266700" fontAlgn="ctr"/>
            <a:r>
              <a:rPr lang="zh-CN" altLang="en-US" sz="2400" kern="100" dirty="0">
                <a:solidFill>
                  <a:srgbClr val="000000"/>
                </a:solidFill>
                <a:latin typeface="Times New Roman" panose="02020603050405020304" pitchFamily="18" charset="0"/>
                <a:ea typeface="宋体" pitchFamily="2" charset="-122"/>
              </a:rPr>
              <a:t>运行结果：</a:t>
            </a:r>
            <a:endParaRPr lang="en-US" altLang="zh-CN" sz="2400" kern="100" dirty="0">
              <a:solidFill>
                <a:srgbClr val="000000"/>
              </a:solidFill>
              <a:latin typeface="Times New Roman" panose="02020603050405020304" pitchFamily="18" charset="0"/>
              <a:ea typeface="宋体" pitchFamily="2" charset="-122"/>
            </a:endParaRPr>
          </a:p>
          <a:p>
            <a:pPr indent="266700" fontAlgn="ctr"/>
            <a:r>
              <a:rPr lang="en-US" altLang="zh-CN" sz="2400" kern="100" dirty="0">
                <a:solidFill>
                  <a:srgbClr val="000000"/>
                </a:solidFill>
                <a:latin typeface="Times New Roman" panose="02020603050405020304" pitchFamily="18" charset="0"/>
                <a:ea typeface="宋体" pitchFamily="2" charset="-122"/>
              </a:rPr>
              <a:t>Bob is now sitting.  </a:t>
            </a:r>
            <a:endParaRPr lang="zh-CN" altLang="zh-CN" sz="2400" kern="100" dirty="0">
              <a:solidFill>
                <a:srgbClr val="000000"/>
              </a:solidFill>
              <a:latin typeface="Times New Roman" panose="02020603050405020304" pitchFamily="18" charset="0"/>
              <a:ea typeface="宋体" pitchFamily="2" charset="-122"/>
            </a:endParaRPr>
          </a:p>
          <a:p>
            <a:r>
              <a:rPr lang="en-US" altLang="zh-CN" sz="2400" kern="100" dirty="0">
                <a:solidFill>
                  <a:srgbClr val="000000"/>
                </a:solidFill>
                <a:latin typeface="Times New Roman" panose="02020603050405020304" pitchFamily="18" charset="0"/>
                <a:ea typeface="宋体" pitchFamily="2" charset="-122"/>
              </a:rPr>
              <a:t>     Bob rolled over. </a:t>
            </a:r>
            <a:endParaRPr lang="zh-CN" altLang="en-US" sz="2400" kern="100" dirty="0">
              <a:solidFill>
                <a:srgbClr val="000000"/>
              </a:solidFill>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800" y="1341562"/>
            <a:ext cx="8893274" cy="830997"/>
          </a:xfrm>
          <a:prstGeom prst="rect">
            <a:avLst/>
          </a:prstGeom>
          <a:noFill/>
        </p:spPr>
        <p:txBody>
          <a:bodyPr wrap="square">
            <a:spAutoFit/>
          </a:bodyPr>
          <a:lstStyle/>
          <a:p>
            <a:pPr indent="266700" algn="just"/>
            <a:r>
              <a:rPr lang="zh-CN" altLang="zh-CN"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类可以当做如何创建实例的说明</a:t>
            </a:r>
            <a:r>
              <a:rPr lang="zh-CN" altLang="zh-CN" sz="2400" kern="100" dirty="0">
                <a:solidFill>
                  <a:srgbClr val="FF0000"/>
                </a:solidFill>
                <a:effectLst/>
                <a:latin typeface="Times New Roman" panose="02020603050405020304" pitchFamily="18" charset="0"/>
                <a:ea typeface="宋体" pitchFamily="2" charset="-122"/>
              </a:rPr>
              <a:t>。</a:t>
            </a:r>
            <a:endParaRPr lang="en-US" altLang="zh-CN" sz="2400" kern="100" dirty="0">
              <a:solidFill>
                <a:srgbClr val="FF0000"/>
              </a:solidFill>
              <a:effectLst/>
              <a:latin typeface="Times New Roman" panose="02020603050405020304" pitchFamily="18" charset="0"/>
              <a:ea typeface="宋体" pitchFamily="2" charset="-122"/>
            </a:endParaRPr>
          </a:p>
          <a:p>
            <a:pPr indent="266700" algn="just"/>
            <a:endParaRPr lang="zh-CN" altLang="zh-CN" sz="2400" kern="100" dirty="0">
              <a:effectLst/>
              <a:latin typeface="Times New Roman" panose="02020603050405020304" pitchFamily="18" charset="0"/>
              <a:ea typeface="宋体" pitchFamily="2" charset="-122"/>
            </a:endParaRPr>
          </a:p>
        </p:txBody>
      </p:sp>
      <p:sp>
        <p:nvSpPr>
          <p:cNvPr id="19" name="文本框 18"/>
          <p:cNvSpPr txBox="1"/>
          <p:nvPr/>
        </p:nvSpPr>
        <p:spPr>
          <a:xfrm>
            <a:off x="540346" y="1981054"/>
            <a:ext cx="6804322" cy="1569660"/>
          </a:xfrm>
          <a:prstGeom prst="rect">
            <a:avLst/>
          </a:prstGeom>
          <a:solidFill>
            <a:schemeClr val="bg1">
              <a:lumMod val="85000"/>
            </a:schemeClr>
          </a:solidFill>
        </p:spPr>
        <p:txBody>
          <a:bodyPr wrap="square">
            <a:spAutoFit/>
          </a:bodyPr>
          <a:lstStyle>
            <a:defPPr>
              <a:defRPr lang="zh-CN"/>
            </a:defPPr>
            <a:lvl1pPr indent="266700" fontAlgn="ctr">
              <a:defRPr sz="1800" kern="100">
                <a:solidFill>
                  <a:srgbClr val="000000"/>
                </a:solidFill>
                <a:effectLst/>
                <a:latin typeface="Times New Roman" panose="02020603050405020304" pitchFamily="18" charset="0"/>
                <a:ea typeface="宋体" pitchFamily="2" charset="-122"/>
              </a:defRPr>
            </a:lvl1pPr>
          </a:lstStyle>
          <a:p>
            <a:r>
              <a:rPr lang="zh-CN" altLang="en-US" sz="2400" dirty="0"/>
              <a:t>例子</a:t>
            </a:r>
            <a:r>
              <a:rPr lang="en-US" altLang="zh-CN" sz="2400" dirty="0"/>
              <a:t>26 </a:t>
            </a:r>
            <a:r>
              <a:rPr lang="zh-CN" altLang="en-US" sz="2400" dirty="0"/>
              <a:t>属性修改：</a:t>
            </a:r>
            <a:endParaRPr lang="en-US" altLang="zh-CN" sz="2400" dirty="0"/>
          </a:p>
          <a:p>
            <a:r>
              <a:rPr lang="en-US" altLang="zh-CN" sz="2400" dirty="0" err="1"/>
              <a:t>my_dog</a:t>
            </a:r>
            <a:r>
              <a:rPr lang="en-US" altLang="zh-CN" sz="2400" dirty="0"/>
              <a:t> = Dog('Bob',6)  </a:t>
            </a:r>
            <a:endParaRPr lang="zh-CN" altLang="zh-CN" sz="2400" dirty="0"/>
          </a:p>
          <a:p>
            <a:r>
              <a:rPr lang="en-US" altLang="zh-CN" sz="2400" dirty="0" err="1"/>
              <a:t>my_dog.age</a:t>
            </a:r>
            <a:r>
              <a:rPr lang="en-US" altLang="zh-CN" sz="2400" dirty="0"/>
              <a:t> = 7  </a:t>
            </a:r>
            <a:endParaRPr lang="zh-CN" altLang="zh-CN" sz="2400" dirty="0"/>
          </a:p>
          <a:p>
            <a:r>
              <a:rPr lang="en-US" altLang="zh-CN" sz="2400" dirty="0"/>
              <a:t>print('My dog is '+str(</a:t>
            </a:r>
            <a:r>
              <a:rPr lang="en-US" altLang="zh-CN" sz="2400" dirty="0" err="1"/>
              <a:t>my_dog.age</a:t>
            </a:r>
            <a:r>
              <a:rPr lang="en-US" altLang="zh-CN" sz="2400" dirty="0"/>
              <a:t>)+' years old')  </a:t>
            </a:r>
            <a:endParaRPr lang="zh-CN" altLang="zh-CN" sz="2400" dirty="0"/>
          </a:p>
        </p:txBody>
      </p:sp>
      <p:sp>
        <p:nvSpPr>
          <p:cNvPr id="20" name="文本框 19"/>
          <p:cNvSpPr txBox="1"/>
          <p:nvPr/>
        </p:nvSpPr>
        <p:spPr>
          <a:xfrm>
            <a:off x="2556570" y="3933850"/>
            <a:ext cx="3590838" cy="830997"/>
          </a:xfrm>
          <a:prstGeom prst="rect">
            <a:avLst/>
          </a:prstGeom>
          <a:solidFill>
            <a:srgbClr val="92D050"/>
          </a:solidFill>
        </p:spPr>
        <p:txBody>
          <a:bodyPr wrap="square">
            <a:spAutoFit/>
          </a:bodyPr>
          <a:lstStyle>
            <a:defPPr>
              <a:defRPr lang="zh-CN"/>
            </a:defPPr>
            <a:lvl1pPr indent="266700" fontAlgn="ctr">
              <a:defRPr sz="1800" kern="100">
                <a:solidFill>
                  <a:srgbClr val="000000"/>
                </a:solidFill>
                <a:effectLst/>
                <a:latin typeface="Times New Roman" panose="02020603050405020304" pitchFamily="18" charset="0"/>
                <a:ea typeface="宋体" pitchFamily="2" charset="-122"/>
              </a:defRPr>
            </a:lvl1pPr>
          </a:lstStyle>
          <a:p>
            <a:r>
              <a:rPr lang="zh-CN" altLang="en-US" sz="2400" dirty="0"/>
              <a:t>例</a:t>
            </a:r>
            <a:r>
              <a:rPr lang="en-US" altLang="zh-CN" sz="2400" dirty="0"/>
              <a:t>26 </a:t>
            </a:r>
            <a:r>
              <a:rPr lang="zh-CN" altLang="en-US" sz="2400" dirty="0"/>
              <a:t>运行结果：</a:t>
            </a:r>
            <a:endParaRPr lang="en-US" altLang="zh-CN" sz="2400" dirty="0"/>
          </a:p>
          <a:p>
            <a:r>
              <a:rPr lang="en-US" altLang="zh-CN" sz="2400" dirty="0"/>
              <a:t>My dog is 7 years old </a:t>
            </a:r>
            <a:endParaRPr lang="zh-CN" altLang="en-US" sz="2400" dirty="0"/>
          </a:p>
        </p:txBody>
      </p:sp>
    </p:spTree>
  </p:cSld>
  <p:clrMapOvr>
    <a:masterClrMapping/>
  </p:clrMapOvr>
  <p:transition spd="slow" advClick="0" advTm="0">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800" y="1341562"/>
            <a:ext cx="8893274" cy="2677656"/>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在编写类时并不是总需要从头开始</a:t>
            </a:r>
            <a:r>
              <a:rPr lang="en-US" altLang="zh-CN" sz="2400" kern="100" dirty="0">
                <a:latin typeface="Times New Roman" panose="02020603050405020304" pitchFamily="18" charset="0"/>
                <a:ea typeface="宋体" pitchFamily="2" charset="-122"/>
              </a:rPr>
              <a:t>, </a:t>
            </a:r>
            <a:r>
              <a:rPr lang="zh-CN" altLang="zh-CN" sz="2400" kern="100" dirty="0">
                <a:effectLst/>
                <a:latin typeface="Times New Roman" panose="02020603050405020304" pitchFamily="18" charset="0"/>
                <a:ea typeface="宋体" pitchFamily="2" charset="-122"/>
              </a:rPr>
              <a:t>可以使用</a:t>
            </a:r>
            <a:r>
              <a:rPr lang="zh-CN" altLang="zh-CN" sz="2400" kern="100" dirty="0">
                <a:solidFill>
                  <a:srgbClr val="FF0000"/>
                </a:solidFill>
                <a:effectLst/>
                <a:latin typeface="Times New Roman" panose="02020603050405020304" pitchFamily="18" charset="0"/>
                <a:ea typeface="宋体" pitchFamily="2" charset="-122"/>
              </a:rPr>
              <a:t>继承</a:t>
            </a:r>
            <a:r>
              <a:rPr lang="zh-CN" altLang="zh-CN" sz="2400" kern="100" dirty="0">
                <a:effectLst/>
                <a:latin typeface="Times New Roman" panose="02020603050405020304" pitchFamily="18" charset="0"/>
                <a:ea typeface="宋体" pitchFamily="2" charset="-122"/>
              </a:rPr>
              <a:t>。</a:t>
            </a:r>
            <a:endParaRPr lang="en-US" altLang="zh-CN" sz="2400" kern="100" dirty="0">
              <a:effectLst/>
              <a:latin typeface="Times New Roman" panose="02020603050405020304" pitchFamily="18" charset="0"/>
              <a:ea typeface="宋体" pitchFamily="2" charset="-122"/>
            </a:endParaRPr>
          </a:p>
          <a:p>
            <a:pPr indent="266700" algn="just"/>
            <a:r>
              <a:rPr lang="zh-CN" altLang="zh-CN" sz="2400" kern="100" dirty="0">
                <a:effectLst/>
                <a:latin typeface="Times New Roman" panose="02020603050405020304" pitchFamily="18" charset="0"/>
                <a:ea typeface="宋体" pitchFamily="2" charset="-122"/>
              </a:rPr>
              <a:t>一个类继承另一个类时，将自动获得所继承类的所有属性和方法。原有的类称为</a:t>
            </a:r>
            <a:r>
              <a:rPr lang="zh-CN" altLang="zh-CN" sz="2400" kern="100" dirty="0">
                <a:solidFill>
                  <a:srgbClr val="FF0000"/>
                </a:solidFill>
                <a:effectLst/>
                <a:latin typeface="Times New Roman" panose="02020603050405020304" pitchFamily="18" charset="0"/>
                <a:ea typeface="宋体" pitchFamily="2" charset="-122"/>
              </a:rPr>
              <a:t>父类</a:t>
            </a:r>
            <a:r>
              <a:rPr lang="zh-CN" altLang="zh-CN" sz="2400" kern="100" dirty="0">
                <a:effectLst/>
                <a:latin typeface="Times New Roman" panose="02020603050405020304" pitchFamily="18" charset="0"/>
                <a:ea typeface="宋体" pitchFamily="2" charset="-122"/>
              </a:rPr>
              <a:t>，新编写的类称为</a:t>
            </a:r>
            <a:r>
              <a:rPr lang="zh-CN" altLang="zh-CN" sz="2400" kern="100" dirty="0">
                <a:solidFill>
                  <a:srgbClr val="FF0000"/>
                </a:solidFill>
                <a:effectLst/>
                <a:latin typeface="Times New Roman" panose="02020603050405020304" pitchFamily="18" charset="0"/>
                <a:ea typeface="宋体" pitchFamily="2" charset="-122"/>
              </a:rPr>
              <a:t>子类</a:t>
            </a:r>
            <a:r>
              <a:rPr lang="zh-CN" altLang="zh-CN" sz="2400" kern="100" dirty="0">
                <a:effectLst/>
                <a:latin typeface="Times New Roman" panose="02020603050405020304" pitchFamily="18" charset="0"/>
                <a:ea typeface="宋体" pitchFamily="2" charset="-122"/>
              </a:rPr>
              <a:t>。</a:t>
            </a:r>
            <a:r>
              <a:rPr lang="zh-CN" altLang="zh-CN" sz="2400" kern="100" dirty="0">
                <a:solidFill>
                  <a:srgbClr val="FF0000"/>
                </a:solidFill>
                <a:effectLst/>
                <a:latin typeface="Times New Roman" panose="02020603050405020304" pitchFamily="18" charset="0"/>
                <a:ea typeface="宋体" pitchFamily="2" charset="-122"/>
              </a:rPr>
              <a:t>子类继承父类的所有属性和方法</a:t>
            </a:r>
            <a:r>
              <a:rPr lang="zh-CN" altLang="zh-CN" sz="2400" kern="100" dirty="0">
                <a:effectLst/>
                <a:latin typeface="Times New Roman" panose="02020603050405020304" pitchFamily="18" charset="0"/>
                <a:ea typeface="宋体" pitchFamily="2" charset="-122"/>
              </a:rPr>
              <a:t>，还可以添加自己所独有的属性和方法。</a:t>
            </a:r>
            <a:endParaRPr lang="en-US" altLang="zh-CN" sz="2400" kern="100" dirty="0">
              <a:effectLst/>
              <a:latin typeface="Times New Roman" panose="02020603050405020304" pitchFamily="18" charset="0"/>
              <a:ea typeface="宋体" pitchFamily="2" charset="-122"/>
            </a:endParaRPr>
          </a:p>
          <a:p>
            <a:pPr indent="266700" algn="just"/>
            <a:r>
              <a:rPr lang="zh-CN" altLang="zh-CN" sz="2400" kern="100" dirty="0">
                <a:effectLst/>
                <a:latin typeface="Times New Roman" panose="02020603050405020304" pitchFamily="18" charset="0"/>
                <a:ea typeface="宋体" pitchFamily="2" charset="-122"/>
              </a:rPr>
              <a:t>在创建子类实例时，需要先给父类的所有属性赋值，因此子类的</a:t>
            </a:r>
            <a:r>
              <a:rPr lang="en-US" altLang="zh-CN" sz="2400" kern="100" dirty="0">
                <a:effectLst/>
                <a:latin typeface="Times New Roman" panose="02020603050405020304" pitchFamily="18" charset="0"/>
                <a:ea typeface="宋体" pitchFamily="2" charset="-122"/>
              </a:rPr>
              <a:t>__</a:t>
            </a:r>
            <a:r>
              <a:rPr lang="en-US" altLang="zh-CN" sz="2400" kern="100" dirty="0" err="1">
                <a:effectLst/>
                <a:latin typeface="Times New Roman" panose="02020603050405020304" pitchFamily="18" charset="0"/>
                <a:ea typeface="宋体" pitchFamily="2" charset="-122"/>
              </a:rPr>
              <a:t>init</a:t>
            </a:r>
            <a:r>
              <a:rPr lang="en-US" altLang="zh-CN" sz="2400" kern="100" dirty="0">
                <a:effectLst/>
                <a:latin typeface="Times New Roman" panose="02020603050405020304" pitchFamily="18" charset="0"/>
                <a:ea typeface="宋体" pitchFamily="2" charset="-122"/>
              </a:rPr>
              <a:t>__( )</a:t>
            </a:r>
            <a:r>
              <a:rPr lang="zh-CN" altLang="zh-CN" sz="2400" kern="100" dirty="0">
                <a:effectLst/>
                <a:latin typeface="Times New Roman" panose="02020603050405020304" pitchFamily="18" charset="0"/>
                <a:ea typeface="宋体" pitchFamily="2" charset="-122"/>
              </a:rPr>
              <a:t>方法需要借助父类</a:t>
            </a:r>
            <a:r>
              <a:rPr lang="en-US" altLang="zh-CN"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rPr>
              <a:t>来完成。</a:t>
            </a:r>
            <a:r>
              <a:rPr lang="zh-CN" altLang="zh-CN" sz="2400" kern="100" dirty="0">
                <a:solidFill>
                  <a:srgbClr val="FF0000"/>
                </a:solidFill>
                <a:effectLst/>
                <a:latin typeface="Times New Roman" panose="02020603050405020304" pitchFamily="18" charset="0"/>
                <a:ea typeface="宋体" pitchFamily="2" charset="-122"/>
              </a:rPr>
              <a:t>父类必须包含在当前文件中且位于子类之前。</a:t>
            </a:r>
            <a:endParaRPr lang="en-US" altLang="zh-CN" sz="2400" kern="100" dirty="0">
              <a:solidFill>
                <a:srgbClr val="FF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6" name="文本框 15"/>
          <p:cNvSpPr txBox="1"/>
          <p:nvPr/>
        </p:nvSpPr>
        <p:spPr>
          <a:xfrm>
            <a:off x="891673" y="1221721"/>
            <a:ext cx="6878109" cy="4893647"/>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例子</a:t>
            </a:r>
            <a:r>
              <a:rPr lang="en-US" altLang="zh-CN" sz="2400" kern="100" dirty="0">
                <a:solidFill>
                  <a:srgbClr val="000000"/>
                </a:solidFill>
                <a:effectLst/>
                <a:latin typeface="Times New Roman" panose="02020603050405020304" pitchFamily="18" charset="0"/>
                <a:ea typeface="宋体" pitchFamily="2" charset="-122"/>
              </a:rPr>
              <a:t>27  </a:t>
            </a:r>
            <a:r>
              <a:rPr lang="zh-CN" altLang="en-US" sz="2400" kern="100" dirty="0">
                <a:solidFill>
                  <a:srgbClr val="000000"/>
                </a:solidFill>
                <a:effectLst/>
                <a:latin typeface="Times New Roman" panose="02020603050405020304" pitchFamily="18" charset="0"/>
                <a:ea typeface="宋体" pitchFamily="2" charset="-122"/>
              </a:rPr>
              <a:t>类的使用</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class </a:t>
            </a:r>
            <a:r>
              <a:rPr lang="en-US" altLang="zh-CN" sz="2400" kern="100" dirty="0" err="1">
                <a:solidFill>
                  <a:srgbClr val="000000"/>
                </a:solidFill>
                <a:effectLst/>
                <a:latin typeface="Times New Roman" panose="02020603050405020304" pitchFamily="18" charset="0"/>
                <a:ea typeface="宋体" pitchFamily="2" charset="-122"/>
              </a:rPr>
              <a:t>SportingDog</a:t>
            </a:r>
            <a:r>
              <a:rPr lang="en-US" altLang="zh-CN" sz="2400" kern="100" dirty="0">
                <a:solidFill>
                  <a:srgbClr val="000000"/>
                </a:solidFill>
                <a:effectLst/>
                <a:latin typeface="Times New Roman" panose="02020603050405020304" pitchFamily="18" charset="0"/>
                <a:ea typeface="宋体" pitchFamily="2" charset="-122"/>
              </a:rPr>
              <a:t>(Dog):    '''''</a:t>
            </a:r>
            <a:r>
              <a:rPr lang="zh-CN" altLang="zh-CN" sz="2400" kern="100" dirty="0">
                <a:solidFill>
                  <a:srgbClr val="000000"/>
                </a:solidFill>
                <a:effectLst/>
                <a:latin typeface="Times New Roman" panose="02020603050405020304" pitchFamily="18" charset="0"/>
                <a:ea typeface="宋体" pitchFamily="2" charset="-122"/>
              </a:rPr>
              <a:t>创建猎犬的类</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def __</a:t>
            </a:r>
            <a:r>
              <a:rPr lang="en-US" altLang="zh-CN" sz="2400" kern="100" dirty="0" err="1">
                <a:solidFill>
                  <a:srgbClr val="000000"/>
                </a:solidFill>
                <a:effectLst/>
                <a:latin typeface="Times New Roman" panose="02020603050405020304" pitchFamily="18" charset="0"/>
                <a:ea typeface="宋体" pitchFamily="2" charset="-122"/>
              </a:rPr>
              <a:t>init</a:t>
            </a:r>
            <a:r>
              <a:rPr lang="en-US" altLang="zh-CN" sz="2400" kern="100" dirty="0">
                <a:solidFill>
                  <a:srgbClr val="000000"/>
                </a:solidFill>
                <a:effectLst/>
                <a:latin typeface="Times New Roman" panose="02020603050405020304" pitchFamily="18" charset="0"/>
                <a:ea typeface="宋体" pitchFamily="2" charset="-122"/>
              </a:rPr>
              <a:t>__(</a:t>
            </a:r>
            <a:r>
              <a:rPr lang="en-US" altLang="zh-CN" sz="2400" kern="100" dirty="0" err="1">
                <a:solidFill>
                  <a:srgbClr val="000000"/>
                </a:solidFill>
                <a:effectLst/>
                <a:latin typeface="Times New Roman" panose="02020603050405020304" pitchFamily="18" charset="0"/>
                <a:ea typeface="宋体" pitchFamily="2" charset="-122"/>
              </a:rPr>
              <a:t>self,name,age</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a:t>
            </a:r>
            <a:r>
              <a:rPr lang="zh-CN" altLang="zh-CN" sz="2400" kern="100" dirty="0">
                <a:solidFill>
                  <a:srgbClr val="000000"/>
                </a:solidFill>
                <a:effectLst/>
                <a:latin typeface="Times New Roman" panose="02020603050405020304" pitchFamily="18" charset="0"/>
                <a:ea typeface="宋体" pitchFamily="2" charset="-122"/>
              </a:rPr>
              <a:t>初始化父类的属性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a:t>
            </a:r>
            <a:r>
              <a:rPr lang="zh-CN" altLang="zh-CN" sz="2400" kern="100" dirty="0">
                <a:solidFill>
                  <a:srgbClr val="000000"/>
                </a:solidFill>
                <a:effectLst/>
                <a:latin typeface="Times New Roman" panose="02020603050405020304" pitchFamily="18" charset="0"/>
                <a:ea typeface="宋体" pitchFamily="2" charset="-122"/>
              </a:rPr>
              <a:t>再初始化猎犬的属性</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super().__</a:t>
            </a:r>
            <a:r>
              <a:rPr lang="en-US" altLang="zh-CN" sz="2400" kern="100" dirty="0" err="1">
                <a:solidFill>
                  <a:srgbClr val="000000"/>
                </a:solidFill>
                <a:effectLst/>
                <a:latin typeface="Times New Roman" panose="02020603050405020304" pitchFamily="18" charset="0"/>
                <a:ea typeface="宋体" pitchFamily="2" charset="-122"/>
              </a:rPr>
              <a:t>init</a:t>
            </a:r>
            <a:r>
              <a:rPr lang="en-US" altLang="zh-CN" sz="2400" kern="100" dirty="0">
                <a:solidFill>
                  <a:srgbClr val="000000"/>
                </a:solidFill>
                <a:effectLst/>
                <a:latin typeface="Times New Roman" panose="02020603050405020304" pitchFamily="18" charset="0"/>
                <a:ea typeface="宋体" pitchFamily="2" charset="-122"/>
              </a:rPr>
              <a:t>__(</a:t>
            </a:r>
            <a:r>
              <a:rPr lang="en-US" altLang="zh-CN" sz="2400" kern="100" dirty="0" err="1">
                <a:solidFill>
                  <a:srgbClr val="000000"/>
                </a:solidFill>
                <a:effectLst/>
                <a:latin typeface="Times New Roman" panose="02020603050405020304" pitchFamily="18" charset="0"/>
                <a:ea typeface="宋体" pitchFamily="2" charset="-122"/>
              </a:rPr>
              <a:t>name,age</a:t>
            </a:r>
            <a:r>
              <a:rPr lang="en-US" altLang="zh-CN" sz="2400" kern="100" dirty="0">
                <a:solidFill>
                  <a:srgbClr val="000000"/>
                </a:solidFill>
                <a:effectLst/>
                <a:latin typeface="Times New Roman" panose="02020603050405020304" pitchFamily="18" charset="0"/>
                <a:ea typeface="宋体" pitchFamily="2" charset="-122"/>
              </a:rPr>
              <a:t>)</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def hunting(self):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a:t>
            </a:r>
            <a:r>
              <a:rPr lang="zh-CN" altLang="zh-CN" sz="2400" kern="100" dirty="0">
                <a:solidFill>
                  <a:srgbClr val="000000"/>
                </a:solidFill>
                <a:effectLst/>
                <a:latin typeface="Times New Roman" panose="02020603050405020304" pitchFamily="18" charset="0"/>
                <a:ea typeface="宋体" pitchFamily="2" charset="-122"/>
              </a:rPr>
              <a:t>打印猎犬正在狩猎的信息</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print('This dog is hunting.’) </a:t>
            </a:r>
            <a:endParaRPr lang="en-US" altLang="zh-CN" sz="2400" kern="100" dirty="0">
              <a:solidFill>
                <a:srgbClr val="000000"/>
              </a:solidFill>
              <a:effectLst/>
              <a:latin typeface="Times New Roman" panose="02020603050405020304" pitchFamily="18" charset="0"/>
              <a:ea typeface="宋体" pitchFamily="2" charset="-122"/>
            </a:endParaRPr>
          </a:p>
          <a:p>
            <a:pPr indent="266700" fontAlgn="ctr"/>
            <a:r>
              <a:rPr lang="en-US" altLang="zh-CN" sz="2400" kern="100" dirty="0" err="1">
                <a:solidFill>
                  <a:srgbClr val="000000"/>
                </a:solidFill>
                <a:latin typeface="Times New Roman" panose="02020603050405020304" pitchFamily="18" charset="0"/>
                <a:ea typeface="宋体" pitchFamily="2" charset="-122"/>
              </a:rPr>
              <a:t>spt_dog</a:t>
            </a:r>
            <a:r>
              <a:rPr lang="en-US" altLang="zh-CN" sz="2400" kern="100" dirty="0">
                <a:solidFill>
                  <a:srgbClr val="000000"/>
                </a:solidFill>
                <a:latin typeface="Times New Roman" panose="02020603050405020304" pitchFamily="18" charset="0"/>
                <a:ea typeface="宋体" pitchFamily="2" charset="-122"/>
              </a:rPr>
              <a:t>=</a:t>
            </a:r>
            <a:r>
              <a:rPr lang="en-US" altLang="zh-CN" sz="2400" kern="100" dirty="0" err="1">
                <a:solidFill>
                  <a:srgbClr val="000000"/>
                </a:solidFill>
                <a:latin typeface="Times New Roman" panose="02020603050405020304" pitchFamily="18" charset="0"/>
                <a:ea typeface="宋体" pitchFamily="2" charset="-122"/>
              </a:rPr>
              <a:t>SportingDog</a:t>
            </a:r>
            <a:r>
              <a:rPr lang="en-US" altLang="zh-CN" sz="2400" kern="100" dirty="0">
                <a:solidFill>
                  <a:srgbClr val="000000"/>
                </a:solidFill>
                <a:latin typeface="Times New Roman" panose="02020603050405020304" pitchFamily="18" charset="0"/>
                <a:ea typeface="宋体" pitchFamily="2" charset="-122"/>
              </a:rPr>
              <a:t>('Tom',5)</a:t>
            </a:r>
            <a:endParaRPr lang="zh-CN" altLang="zh-CN" sz="2400" kern="100" dirty="0">
              <a:solidFill>
                <a:srgbClr val="000000"/>
              </a:solidFill>
              <a:latin typeface="Times New Roman" panose="02020603050405020304" pitchFamily="18" charset="0"/>
              <a:ea typeface="宋体" pitchFamily="2" charset="-122"/>
            </a:endParaRPr>
          </a:p>
          <a:p>
            <a:pPr indent="266700" fontAlgn="ctr"/>
            <a:r>
              <a:rPr lang="en-US" altLang="zh-CN" sz="2400" kern="100" dirty="0" err="1">
                <a:solidFill>
                  <a:srgbClr val="000000"/>
                </a:solidFill>
                <a:latin typeface="Times New Roman" panose="02020603050405020304" pitchFamily="18" charset="0"/>
                <a:ea typeface="宋体" pitchFamily="2" charset="-122"/>
              </a:rPr>
              <a:t>spt_dog.sit</a:t>
            </a:r>
            <a:r>
              <a:rPr lang="en-US" altLang="zh-CN" sz="2400" kern="100" dirty="0">
                <a:solidFill>
                  <a:srgbClr val="000000"/>
                </a:solidFill>
                <a:latin typeface="Times New Roman" panose="02020603050405020304" pitchFamily="18" charset="0"/>
                <a:ea typeface="宋体" pitchFamily="2" charset="-122"/>
              </a:rPr>
              <a:t>()  </a:t>
            </a:r>
            <a:endParaRPr lang="zh-CN" altLang="zh-CN" sz="2400" kern="100" dirty="0">
              <a:solidFill>
                <a:srgbClr val="000000"/>
              </a:solidFill>
              <a:latin typeface="Times New Roman" panose="02020603050405020304" pitchFamily="18" charset="0"/>
              <a:ea typeface="宋体" pitchFamily="2" charset="-122"/>
            </a:endParaRPr>
          </a:p>
          <a:p>
            <a:pPr indent="266700" fontAlgn="ctr"/>
            <a:r>
              <a:rPr lang="en-US" altLang="zh-CN" sz="2400" kern="100" dirty="0" err="1">
                <a:solidFill>
                  <a:srgbClr val="000000"/>
                </a:solidFill>
                <a:latin typeface="Times New Roman" panose="02020603050405020304" pitchFamily="18" charset="0"/>
                <a:ea typeface="宋体" pitchFamily="2" charset="-122"/>
              </a:rPr>
              <a:t>spt_dog.roll_over</a:t>
            </a:r>
            <a:r>
              <a:rPr lang="en-US" altLang="zh-CN" sz="2400" kern="100" dirty="0">
                <a:solidFill>
                  <a:srgbClr val="000000"/>
                </a:solidFill>
                <a:latin typeface="Times New Roman" panose="02020603050405020304" pitchFamily="18" charset="0"/>
                <a:ea typeface="宋体" pitchFamily="2" charset="-122"/>
              </a:rPr>
              <a:t>()  </a:t>
            </a:r>
            <a:endParaRPr lang="zh-CN" altLang="zh-CN" sz="2400" kern="100" dirty="0">
              <a:solidFill>
                <a:srgbClr val="000000"/>
              </a:solidFill>
              <a:latin typeface="Times New Roman" panose="02020603050405020304" pitchFamily="18" charset="0"/>
              <a:ea typeface="宋体" pitchFamily="2" charset="-122"/>
            </a:endParaRPr>
          </a:p>
          <a:p>
            <a:pPr indent="266700" fontAlgn="ctr"/>
            <a:r>
              <a:rPr lang="en-US" altLang="zh-CN" sz="2400" kern="100" dirty="0" err="1">
                <a:solidFill>
                  <a:srgbClr val="000000"/>
                </a:solidFill>
                <a:latin typeface="Times New Roman" panose="02020603050405020304" pitchFamily="18" charset="0"/>
                <a:ea typeface="宋体" pitchFamily="2" charset="-122"/>
              </a:rPr>
              <a:t>spt_dog.hunting</a:t>
            </a:r>
            <a:r>
              <a:rPr lang="en-US" altLang="zh-CN" sz="2400" kern="100" dirty="0">
                <a:solidFill>
                  <a:srgbClr val="000000"/>
                </a:solidFill>
                <a:latin typeface="Times New Roman" panose="02020603050405020304" pitchFamily="18" charset="0"/>
                <a:ea typeface="宋体" pitchFamily="2" charset="-122"/>
              </a:rPr>
              <a:t>()  </a:t>
            </a:r>
            <a:endParaRPr lang="zh-CN" altLang="zh-CN" sz="2400" kern="100" dirty="0">
              <a:solidFill>
                <a:srgbClr val="000000"/>
              </a:solidFill>
              <a:latin typeface="Times New Roman" panose="02020603050405020304" pitchFamily="18" charset="0"/>
              <a:ea typeface="宋体" pitchFamily="2" charset="-122"/>
            </a:endParaRPr>
          </a:p>
        </p:txBody>
      </p:sp>
      <p:sp>
        <p:nvSpPr>
          <p:cNvPr id="5" name="矩形 4"/>
          <p:cNvSpPr/>
          <p:nvPr/>
        </p:nvSpPr>
        <p:spPr>
          <a:xfrm>
            <a:off x="5292874" y="5135199"/>
            <a:ext cx="3601200" cy="1489514"/>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66700" algn="l" fontAlgn="ctr"/>
            <a:endParaRPr lang="en-US" altLang="zh-CN" sz="1800" kern="100" dirty="0">
              <a:solidFill>
                <a:srgbClr val="000000"/>
              </a:solidFill>
              <a:effectLst/>
              <a:latin typeface="Times New Roman" panose="02020603050405020304" pitchFamily="18" charset="0"/>
              <a:ea typeface="宋体" pitchFamily="2" charset="-122"/>
            </a:endParaRPr>
          </a:p>
          <a:p>
            <a:pPr indent="266700" fontAlgn="ctr"/>
            <a:r>
              <a:rPr lang="zh-CN" altLang="en-US" sz="2400" kern="100" dirty="0">
                <a:solidFill>
                  <a:srgbClr val="000000"/>
                </a:solidFill>
                <a:latin typeface="Times New Roman" panose="02020603050405020304" pitchFamily="18" charset="0"/>
                <a:ea typeface="宋体" pitchFamily="2" charset="-122"/>
              </a:rPr>
              <a:t>例</a:t>
            </a:r>
            <a:r>
              <a:rPr lang="en-US" altLang="zh-CN" sz="2400" kern="100" dirty="0">
                <a:solidFill>
                  <a:srgbClr val="000000"/>
                </a:solidFill>
                <a:latin typeface="Times New Roman" panose="02020603050405020304" pitchFamily="18" charset="0"/>
                <a:ea typeface="宋体" pitchFamily="2" charset="-122"/>
              </a:rPr>
              <a:t>27 </a:t>
            </a:r>
            <a:r>
              <a:rPr lang="zh-CN" altLang="en-US" sz="2400" kern="100" dirty="0">
                <a:solidFill>
                  <a:srgbClr val="000000"/>
                </a:solidFill>
                <a:latin typeface="Times New Roman" panose="02020603050405020304" pitchFamily="18" charset="0"/>
                <a:ea typeface="宋体" pitchFamily="2" charset="-122"/>
              </a:rPr>
              <a:t>运行结果：</a:t>
            </a:r>
            <a:endParaRPr lang="en-US" altLang="zh-CN" sz="2400" kern="100" dirty="0">
              <a:solidFill>
                <a:srgbClr val="000000"/>
              </a:solidFill>
              <a:latin typeface="Times New Roman" panose="02020603050405020304" pitchFamily="18" charset="0"/>
              <a:ea typeface="宋体" pitchFamily="2" charset="-122"/>
            </a:endParaRPr>
          </a:p>
          <a:p>
            <a:pPr indent="266700" fontAlgn="ctr"/>
            <a:r>
              <a:rPr lang="en-US" altLang="zh-CN" sz="2400" kern="100" dirty="0">
                <a:solidFill>
                  <a:srgbClr val="000000"/>
                </a:solidFill>
                <a:latin typeface="Times New Roman" panose="02020603050405020304" pitchFamily="18" charset="0"/>
                <a:ea typeface="宋体" pitchFamily="2" charset="-122"/>
              </a:rPr>
              <a:t>Tom is now sitting.  </a:t>
            </a:r>
            <a:endParaRPr lang="zh-CN" altLang="zh-CN" sz="2400" kern="100" dirty="0">
              <a:solidFill>
                <a:srgbClr val="000000"/>
              </a:solidFill>
              <a:latin typeface="Times New Roman" panose="02020603050405020304" pitchFamily="18" charset="0"/>
              <a:ea typeface="宋体" pitchFamily="2" charset="-122"/>
            </a:endParaRPr>
          </a:p>
          <a:p>
            <a:pPr indent="266700" fontAlgn="ctr"/>
            <a:r>
              <a:rPr lang="en-US" altLang="zh-CN" sz="2400" kern="100" dirty="0">
                <a:solidFill>
                  <a:srgbClr val="000000"/>
                </a:solidFill>
                <a:latin typeface="Times New Roman" panose="02020603050405020304" pitchFamily="18" charset="0"/>
                <a:ea typeface="宋体" pitchFamily="2" charset="-122"/>
              </a:rPr>
              <a:t>Tom rolled over.  </a:t>
            </a:r>
            <a:endParaRPr lang="zh-CN" altLang="zh-CN" sz="2400" kern="100" dirty="0">
              <a:solidFill>
                <a:srgbClr val="000000"/>
              </a:solidFill>
              <a:latin typeface="Times New Roman" panose="02020603050405020304" pitchFamily="18" charset="0"/>
              <a:ea typeface="宋体" pitchFamily="2" charset="-122"/>
            </a:endParaRPr>
          </a:p>
          <a:p>
            <a:pPr indent="266700" fontAlgn="ctr"/>
            <a:r>
              <a:rPr lang="en-US" altLang="zh-CN" sz="2400" kern="100" dirty="0">
                <a:solidFill>
                  <a:srgbClr val="000000"/>
                </a:solidFill>
                <a:latin typeface="Times New Roman" panose="02020603050405020304" pitchFamily="18" charset="0"/>
                <a:ea typeface="宋体" pitchFamily="2" charset="-122"/>
              </a:rPr>
              <a:t>This dog is hunting</a:t>
            </a:r>
            <a:r>
              <a:rPr lang="en-US" altLang="zh-CN" sz="1800" kern="100" dirty="0">
                <a:solidFill>
                  <a:srgbClr val="000000"/>
                </a:solidFill>
                <a:effectLst/>
                <a:latin typeface="Times New Roman" panose="02020603050405020304" pitchFamily="18" charset="0"/>
                <a:ea typeface="宋体" pitchFamily="2" charset="-122"/>
              </a:rPr>
              <a:t>.  </a:t>
            </a:r>
            <a:endParaRPr lang="zh-CN" altLang="zh-CN" sz="1800" kern="100" dirty="0">
              <a:effectLst/>
              <a:latin typeface="Times New Roman" panose="02020603050405020304" pitchFamily="18" charset="0"/>
              <a:ea typeface="宋体" pitchFamily="2" charset="-122"/>
            </a:endParaRPr>
          </a:p>
          <a:p>
            <a:pPr algn="ctr"/>
            <a:endParaRPr lang="zh-CN" altLang="en-US" dirty="0"/>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文本框 10"/>
          <p:cNvSpPr txBox="1"/>
          <p:nvPr/>
        </p:nvSpPr>
        <p:spPr>
          <a:xfrm>
            <a:off x="126157" y="1340720"/>
            <a:ext cx="8893274" cy="4062651"/>
          </a:xfrm>
          <a:prstGeom prst="rect">
            <a:avLst/>
          </a:prstGeom>
          <a:noFill/>
        </p:spPr>
        <p:txBody>
          <a:bodyPr wrap="square">
            <a:spAutoFit/>
          </a:bodyPr>
          <a:lstStyle/>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首先我们创建了名为</a:t>
            </a:r>
            <a:r>
              <a:rPr lang="en-US" altLang="zh-CN" sz="2400" kern="100" dirty="0" err="1">
                <a:effectLst/>
                <a:latin typeface="Times New Roman" panose="02020603050405020304" pitchFamily="18" charset="0"/>
                <a:ea typeface="宋体" pitchFamily="2" charset="-122"/>
              </a:rPr>
              <a:t>SportingDog</a:t>
            </a:r>
            <a:r>
              <a:rPr lang="zh-CN" altLang="zh-CN" sz="2400" kern="100" dirty="0">
                <a:effectLst/>
                <a:latin typeface="Times New Roman" panose="02020603050405020304" pitchFamily="18" charset="0"/>
                <a:ea typeface="宋体" pitchFamily="2" charset="-122"/>
              </a:rPr>
              <a:t>的类，后面的括号指明它是从父类</a:t>
            </a:r>
            <a:r>
              <a:rPr lang="en-US" altLang="zh-CN" sz="2400" kern="100" dirty="0">
                <a:effectLst/>
                <a:latin typeface="Times New Roman" panose="02020603050405020304" pitchFamily="18" charset="0"/>
                <a:ea typeface="宋体" pitchFamily="2" charset="-122"/>
              </a:rPr>
              <a:t>Car</a:t>
            </a:r>
            <a:r>
              <a:rPr lang="zh-CN" altLang="zh-CN" sz="2400" kern="100" dirty="0">
                <a:effectLst/>
                <a:latin typeface="Times New Roman" panose="02020603050405020304" pitchFamily="18" charset="0"/>
                <a:ea typeface="宋体" pitchFamily="2" charset="-122"/>
              </a:rPr>
              <a:t>继承而来的。</a:t>
            </a:r>
            <a:endParaRPr lang="zh-CN" altLang="zh-CN" sz="2400" kern="100" dirty="0">
              <a:effectLst/>
              <a:latin typeface="Times New Roman" panose="02020603050405020304" pitchFamily="18" charset="0"/>
              <a:ea typeface="宋体" pitchFamily="2" charset="-122"/>
            </a:endParaRPr>
          </a:p>
          <a:p>
            <a:pPr marL="342900" indent="-342900" algn="just">
              <a:buFont typeface="Wingdings" panose="05000000000000000000" pitchFamily="2" charset="2"/>
              <a:buChar char="p"/>
            </a:pPr>
            <a:r>
              <a:rPr lang="en-US" altLang="zh-CN" sz="2400" kern="100" dirty="0">
                <a:solidFill>
                  <a:srgbClr val="FF0000"/>
                </a:solidFill>
                <a:effectLst/>
                <a:latin typeface="Times New Roman" panose="02020603050405020304" pitchFamily="18" charset="0"/>
                <a:ea typeface="宋体" pitchFamily="2" charset="-122"/>
              </a:rPr>
              <a:t>super( )</a:t>
            </a:r>
            <a:r>
              <a:rPr lang="zh-CN" altLang="zh-CN" sz="2400" kern="100" dirty="0">
                <a:solidFill>
                  <a:srgbClr val="FF0000"/>
                </a:solidFill>
                <a:effectLst/>
                <a:latin typeface="Times New Roman" panose="02020603050405020304" pitchFamily="18" charset="0"/>
                <a:ea typeface="宋体" pitchFamily="2" charset="-122"/>
              </a:rPr>
              <a:t>是一个特殊的函数，可以将父类与子类关联起来</a:t>
            </a:r>
            <a:r>
              <a:rPr lang="zh-CN" altLang="zh-CN" sz="2400" kern="100" dirty="0">
                <a:effectLst/>
                <a:latin typeface="Times New Roman" panose="02020603050405020304" pitchFamily="18" charset="0"/>
                <a:ea typeface="宋体" pitchFamily="2" charset="-122"/>
              </a:rPr>
              <a:t>。这行代码调用了父类的</a:t>
            </a:r>
            <a:r>
              <a:rPr lang="en-US" altLang="zh-CN" sz="2400" kern="100" dirty="0">
                <a:effectLst/>
                <a:latin typeface="Times New Roman" panose="02020603050405020304" pitchFamily="18" charset="0"/>
                <a:ea typeface="宋体" pitchFamily="2" charset="-122"/>
              </a:rPr>
              <a:t>__</a:t>
            </a:r>
            <a:r>
              <a:rPr lang="en-US" altLang="zh-CN" sz="2400" kern="100" dirty="0" err="1">
                <a:effectLst/>
                <a:latin typeface="Times New Roman" panose="02020603050405020304" pitchFamily="18" charset="0"/>
                <a:ea typeface="宋体" pitchFamily="2" charset="-122"/>
              </a:rPr>
              <a:t>init</a:t>
            </a:r>
            <a:r>
              <a:rPr lang="en-US" altLang="zh-CN" sz="2400" kern="100" dirty="0">
                <a:effectLst/>
                <a:latin typeface="Times New Roman" panose="02020603050405020304" pitchFamily="18" charset="0"/>
                <a:ea typeface="宋体" pitchFamily="2" charset="-122"/>
              </a:rPr>
              <a:t>__( )</a:t>
            </a:r>
            <a:r>
              <a:rPr lang="zh-CN" altLang="zh-CN" sz="2400" kern="100" dirty="0">
                <a:effectLst/>
                <a:latin typeface="Times New Roman" panose="02020603050405020304" pitchFamily="18" charset="0"/>
                <a:ea typeface="宋体" pitchFamily="2" charset="-122"/>
              </a:rPr>
              <a:t>方法，让</a:t>
            </a:r>
            <a:r>
              <a:rPr lang="en-US" altLang="zh-CN" sz="2400" kern="100" dirty="0" err="1">
                <a:effectLst/>
                <a:latin typeface="Times New Roman" panose="02020603050405020304" pitchFamily="18" charset="0"/>
                <a:ea typeface="宋体" pitchFamily="2" charset="-122"/>
              </a:rPr>
              <a:t>SportingDog</a:t>
            </a:r>
            <a:r>
              <a:rPr lang="zh-CN" altLang="zh-CN" sz="2400" kern="100" dirty="0">
                <a:effectLst/>
                <a:latin typeface="Times New Roman" panose="02020603050405020304" pitchFamily="18" charset="0"/>
                <a:ea typeface="宋体" pitchFamily="2" charset="-122"/>
              </a:rPr>
              <a:t>类的示例包含父类的所有属性。父类也称为超类</a:t>
            </a:r>
            <a:r>
              <a:rPr lang="en-US" altLang="zh-CN" sz="2400" kern="100" dirty="0">
                <a:effectLst/>
                <a:latin typeface="Times New Roman" panose="02020603050405020304" pitchFamily="18" charset="0"/>
                <a:ea typeface="宋体" pitchFamily="2" charset="-122"/>
              </a:rPr>
              <a:t>(superclass)</a:t>
            </a:r>
            <a:r>
              <a:rPr lang="zh-CN" altLang="zh-CN" sz="2400" kern="100" dirty="0">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接下来我们定义了</a:t>
            </a:r>
            <a:r>
              <a:rPr lang="en-US" altLang="zh-CN" sz="2400" kern="100" dirty="0" err="1">
                <a:effectLst/>
                <a:latin typeface="Times New Roman" panose="02020603050405020304" pitchFamily="18" charset="0"/>
                <a:ea typeface="宋体" pitchFamily="2" charset="-122"/>
              </a:rPr>
              <a:t>SportingDog</a:t>
            </a:r>
            <a:r>
              <a:rPr lang="zh-CN" altLang="zh-CN" sz="2400" kern="100" dirty="0">
                <a:effectLst/>
                <a:latin typeface="Times New Roman" panose="02020603050405020304" pitchFamily="18" charset="0"/>
                <a:ea typeface="宋体" pitchFamily="2" charset="-122"/>
              </a:rPr>
              <a:t>类独有的方法</a:t>
            </a:r>
            <a:r>
              <a:rPr lang="en-US" altLang="zh-CN" sz="2400" kern="100" dirty="0">
                <a:effectLst/>
                <a:latin typeface="Times New Roman" panose="02020603050405020304" pitchFamily="18" charset="0"/>
                <a:ea typeface="宋体" pitchFamily="2" charset="-122"/>
              </a:rPr>
              <a:t>hunting</a:t>
            </a:r>
            <a:r>
              <a:rPr lang="zh-CN" altLang="zh-CN" sz="2400" kern="100" dirty="0">
                <a:effectLst/>
                <a:latin typeface="Times New Roman" panose="02020603050405020304" pitchFamily="18" charset="0"/>
                <a:ea typeface="宋体" pitchFamily="2" charset="-122"/>
              </a:rPr>
              <a:t>，并创建了名叫</a:t>
            </a:r>
            <a:r>
              <a:rPr lang="en-US" altLang="zh-CN" sz="2400" kern="100" dirty="0">
                <a:effectLst/>
                <a:latin typeface="Times New Roman" panose="02020603050405020304" pitchFamily="18" charset="0"/>
                <a:ea typeface="宋体" pitchFamily="2" charset="-122"/>
              </a:rPr>
              <a:t>Tom</a:t>
            </a:r>
            <a:r>
              <a:rPr lang="zh-CN" altLang="zh-CN" sz="2400" kern="100" dirty="0">
                <a:effectLst/>
                <a:latin typeface="Times New Roman" panose="02020603050405020304" pitchFamily="18" charset="0"/>
                <a:ea typeface="宋体" pitchFamily="2" charset="-122"/>
              </a:rPr>
              <a:t>，年龄为</a:t>
            </a:r>
            <a:r>
              <a:rPr lang="en-US" altLang="zh-CN" sz="2400" kern="100" dirty="0">
                <a:effectLst/>
                <a:latin typeface="Times New Roman" panose="02020603050405020304" pitchFamily="18" charset="0"/>
                <a:ea typeface="宋体" pitchFamily="2" charset="-122"/>
              </a:rPr>
              <a:t>5</a:t>
            </a:r>
            <a:r>
              <a:rPr lang="zh-CN" altLang="zh-CN" sz="2400" kern="100" dirty="0">
                <a:effectLst/>
                <a:latin typeface="Times New Roman" panose="02020603050405020304" pitchFamily="18" charset="0"/>
                <a:ea typeface="宋体" pitchFamily="2" charset="-122"/>
              </a:rPr>
              <a:t>的</a:t>
            </a:r>
            <a:r>
              <a:rPr lang="en-US" altLang="zh-CN" sz="2400" kern="100" dirty="0" err="1">
                <a:effectLst/>
                <a:latin typeface="Times New Roman" panose="02020603050405020304" pitchFamily="18" charset="0"/>
                <a:ea typeface="宋体" pitchFamily="2" charset="-122"/>
              </a:rPr>
              <a:t>spt_dog</a:t>
            </a:r>
            <a:r>
              <a:rPr lang="zh-CN" altLang="zh-CN" sz="2400" kern="100" dirty="0">
                <a:effectLst/>
                <a:latin typeface="Times New Roman" panose="02020603050405020304" pitchFamily="18" charset="0"/>
                <a:ea typeface="宋体" pitchFamily="2" charset="-122"/>
              </a:rPr>
              <a:t>示例。</a:t>
            </a:r>
            <a:endParaRPr lang="zh-CN" altLang="zh-CN" sz="2400" kern="100" dirty="0">
              <a:effectLst/>
              <a:latin typeface="Times New Roman" panose="02020603050405020304" pitchFamily="18" charset="0"/>
              <a:ea typeface="宋体" pitchFamily="2" charset="-122"/>
            </a:endParaRPr>
          </a:p>
          <a:p>
            <a:pPr marL="342900" indent="-342900" algn="just">
              <a:buFont typeface="Wingdings" panose="05000000000000000000" pitchFamily="2" charset="2"/>
              <a:buChar char="p"/>
            </a:pPr>
            <a:r>
              <a:rPr lang="zh-CN" altLang="zh-CN" sz="2400" kern="100" dirty="0">
                <a:effectLst/>
                <a:latin typeface="Times New Roman" panose="02020603050405020304" pitchFamily="18" charset="0"/>
                <a:ea typeface="宋体" pitchFamily="2" charset="-122"/>
              </a:rPr>
              <a:t>最后我们不仅可以使用父类</a:t>
            </a:r>
            <a:r>
              <a:rPr lang="en-US" altLang="zh-CN" sz="2400" kern="100" dirty="0">
                <a:effectLst/>
                <a:latin typeface="Times New Roman" panose="02020603050405020304" pitchFamily="18" charset="0"/>
                <a:ea typeface="宋体" pitchFamily="2" charset="-122"/>
              </a:rPr>
              <a:t>Dog</a:t>
            </a:r>
            <a:r>
              <a:rPr lang="zh-CN" altLang="zh-CN" sz="2400" kern="100" dirty="0">
                <a:effectLst/>
                <a:latin typeface="Times New Roman" panose="02020603050405020304" pitchFamily="18" charset="0"/>
                <a:ea typeface="宋体" pitchFamily="2" charset="-122"/>
              </a:rPr>
              <a:t>具有的方法</a:t>
            </a:r>
            <a:r>
              <a:rPr lang="en-US" altLang="zh-CN" sz="2400" kern="100" dirty="0">
                <a:effectLst/>
                <a:latin typeface="Times New Roman" panose="02020603050405020304" pitchFamily="18" charset="0"/>
                <a:ea typeface="宋体" pitchFamily="2" charset="-122"/>
              </a:rPr>
              <a:t>sit( )</a:t>
            </a:r>
            <a:r>
              <a:rPr lang="zh-CN" altLang="zh-CN" sz="2400" kern="100" dirty="0">
                <a:effectLst/>
                <a:latin typeface="Times New Roman" panose="02020603050405020304" pitchFamily="18" charset="0"/>
                <a:ea typeface="宋体" pitchFamily="2" charset="-122"/>
              </a:rPr>
              <a:t>和</a:t>
            </a:r>
            <a:r>
              <a:rPr lang="en-US" altLang="zh-CN" sz="2400" kern="100" dirty="0" err="1">
                <a:effectLst/>
                <a:latin typeface="Times New Roman" panose="02020603050405020304" pitchFamily="18" charset="0"/>
                <a:ea typeface="宋体" pitchFamily="2" charset="-122"/>
              </a:rPr>
              <a:t>roll_over</a:t>
            </a:r>
            <a:r>
              <a:rPr lang="en-US" altLang="zh-CN" sz="2400" kern="100" dirty="0">
                <a:effectLst/>
                <a:latin typeface="Times New Roman" panose="02020603050405020304" pitchFamily="18" charset="0"/>
                <a:ea typeface="宋体" pitchFamily="2" charset="-122"/>
              </a:rPr>
              <a:t>( )</a:t>
            </a:r>
            <a:r>
              <a:rPr lang="zh-CN" altLang="zh-CN" sz="2400" kern="100" dirty="0">
                <a:effectLst/>
                <a:latin typeface="Times New Roman" panose="02020603050405020304" pitchFamily="18" charset="0"/>
                <a:ea typeface="宋体" pitchFamily="2" charset="-122"/>
              </a:rPr>
              <a:t>，也可以使用子类</a:t>
            </a:r>
            <a:r>
              <a:rPr lang="en-US" altLang="zh-CN" sz="2400" kern="100" dirty="0" err="1">
                <a:effectLst/>
                <a:latin typeface="Times New Roman" panose="02020603050405020304" pitchFamily="18" charset="0"/>
                <a:ea typeface="宋体" pitchFamily="2" charset="-122"/>
              </a:rPr>
              <a:t>SportingDog</a:t>
            </a:r>
            <a:r>
              <a:rPr lang="zh-CN" altLang="zh-CN" sz="2400" kern="100" dirty="0">
                <a:effectLst/>
                <a:latin typeface="Times New Roman" panose="02020603050405020304" pitchFamily="18" charset="0"/>
                <a:ea typeface="宋体" pitchFamily="2" charset="-122"/>
              </a:rPr>
              <a:t>独有的方法</a:t>
            </a:r>
            <a:r>
              <a:rPr lang="en-US" altLang="zh-CN" sz="2400" kern="100" dirty="0">
                <a:effectLst/>
                <a:latin typeface="Times New Roman" panose="02020603050405020304" pitchFamily="18" charset="0"/>
                <a:ea typeface="宋体" pitchFamily="2" charset="-122"/>
              </a:rPr>
              <a:t>hunting</a:t>
            </a:r>
            <a:r>
              <a:rPr lang="zh-CN" altLang="zh-CN" sz="2400" kern="100" dirty="0">
                <a:effectLst/>
                <a:latin typeface="Times New Roman" panose="02020603050405020304" pitchFamily="18" charset="0"/>
                <a:ea typeface="宋体" pitchFamily="2" charset="-122"/>
              </a:rPr>
              <a:t>。</a:t>
            </a:r>
            <a:endParaRPr lang="zh-CN" altLang="zh-CN" sz="2400" kern="100" dirty="0">
              <a:effectLst/>
              <a:latin typeface="Times New Roman" panose="02020603050405020304" pitchFamily="18" charset="0"/>
              <a:ea typeface="宋体" pitchFamily="2" charset="-122"/>
            </a:endParaRPr>
          </a:p>
          <a:p>
            <a:pPr indent="266700" algn="just"/>
            <a:endParaRPr lang="zh-CN" altLang="zh-CN" sz="1800" kern="100" dirty="0">
              <a:effectLst/>
              <a:latin typeface="Times New Roman" panose="02020603050405020304" pitchFamily="18" charset="0"/>
              <a:ea typeface="宋体" pitchFamily="2" charset="-122"/>
            </a:endParaRPr>
          </a:p>
          <a:p>
            <a:pPr indent="266700" algn="just"/>
            <a:endParaRPr lang="zh-CN" altLang="zh-CN" sz="2400" kern="100" dirty="0">
              <a:effectLst/>
              <a:latin typeface="Times New Roman" panose="02020603050405020304" pitchFamily="18" charset="0"/>
              <a:ea typeface="宋体" pitchFamily="2" charset="-122"/>
            </a:endParaRPr>
          </a:p>
        </p:txBody>
      </p:sp>
      <p:sp>
        <p:nvSpPr>
          <p:cNvPr id="16" name="文本框 15"/>
          <p:cNvSpPr txBox="1"/>
          <p:nvPr/>
        </p:nvSpPr>
        <p:spPr>
          <a:xfrm>
            <a:off x="-119841" y="4221882"/>
            <a:ext cx="4536504" cy="830997"/>
          </a:xfrm>
          <a:prstGeom prst="rect">
            <a:avLst/>
          </a:prstGeom>
          <a:noFill/>
        </p:spPr>
        <p:txBody>
          <a:bodyPr wrap="square">
            <a:spAutoFit/>
          </a:bodyPr>
          <a:lstStyle/>
          <a:p>
            <a:pPr indent="266700" algn="l" fontAlgn="ct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24322" y="1594052"/>
            <a:ext cx="8496944" cy="461665"/>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cs typeface="Times New Roman" panose="02020603050405020304" pitchFamily="18" charset="0"/>
              </a:rPr>
              <a:t>在图像处理中经常会涉及到对文件的读取、写入等</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12" name="文本框 11"/>
          <p:cNvSpPr txBox="1"/>
          <p:nvPr/>
        </p:nvSpPr>
        <p:spPr>
          <a:xfrm>
            <a:off x="144081" y="4715876"/>
            <a:ext cx="5652914" cy="1938992"/>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latin typeface="Times New Roman" panose="02020603050405020304" pitchFamily="18" charset="0"/>
                <a:ea typeface="宋体" pitchFamily="2" charset="-122"/>
                <a:cs typeface="Times New Roman" panose="02020603050405020304" pitchFamily="18" charset="0"/>
              </a:rPr>
              <a:t>例子</a:t>
            </a:r>
            <a:r>
              <a:rPr lang="en-US" altLang="zh-CN" sz="2400" kern="100" dirty="0">
                <a:latin typeface="Times New Roman" panose="02020603050405020304" pitchFamily="18" charset="0"/>
                <a:ea typeface="宋体" pitchFamily="2" charset="-122"/>
                <a:cs typeface="Times New Roman" panose="02020603050405020304" pitchFamily="18" charset="0"/>
              </a:rPr>
              <a:t>28</a:t>
            </a:r>
            <a:r>
              <a:rPr lang="zh-CN" altLang="en-US" sz="2400" kern="100" dirty="0">
                <a:latin typeface="Times New Roman" panose="02020603050405020304" pitchFamily="18" charset="0"/>
                <a:ea typeface="宋体" pitchFamily="2" charset="-122"/>
                <a:cs typeface="Times New Roman" panose="02020603050405020304" pitchFamily="18" charset="0"/>
              </a:rPr>
              <a:t>  文件读取：</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path = </a:t>
            </a:r>
            <a:r>
              <a:rPr lang="en-US" altLang="zh-CN" sz="2400" kern="100" dirty="0" err="1">
                <a:latin typeface="Times New Roman" panose="02020603050405020304" pitchFamily="18" charset="0"/>
                <a:ea typeface="宋体" pitchFamily="2" charset="-122"/>
                <a:cs typeface="Times New Roman" panose="02020603050405020304" pitchFamily="18" charset="0"/>
              </a:rPr>
              <a:t>r'C</a:t>
            </a:r>
            <a:r>
              <a:rPr lang="en-US" altLang="zh-CN" sz="2400" kern="100" dirty="0">
                <a:latin typeface="Times New Roman" panose="02020603050405020304" pitchFamily="18" charset="0"/>
                <a:ea typeface="宋体" pitchFamily="2" charset="-122"/>
                <a:cs typeface="Times New Roman" panose="02020603050405020304" pitchFamily="18" charset="0"/>
              </a:rPr>
              <a:t>:\Users\11041\Desktop\name.txt'  </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with open(path) as </a:t>
            </a:r>
            <a:r>
              <a:rPr lang="en-US" altLang="zh-CN" sz="2400" kern="100" dirty="0" err="1">
                <a:latin typeface="Times New Roman" panose="02020603050405020304" pitchFamily="18" charset="0"/>
                <a:ea typeface="宋体" pitchFamily="2" charset="-122"/>
                <a:cs typeface="Times New Roman" panose="02020603050405020304" pitchFamily="18" charset="0"/>
              </a:rPr>
              <a:t>file_object</a:t>
            </a:r>
            <a:r>
              <a:rPr lang="en-US" altLang="zh-CN" sz="2400" kern="100" dirty="0">
                <a:latin typeface="Times New Roman" panose="02020603050405020304" pitchFamily="18" charset="0"/>
                <a:ea typeface="宋体" pitchFamily="2" charset="-122"/>
                <a:cs typeface="Times New Roman" panose="02020603050405020304" pitchFamily="18" charset="0"/>
              </a:rPr>
              <a:t>:</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contents = </a:t>
            </a:r>
            <a:r>
              <a:rPr lang="en-US" altLang="zh-CN" sz="2400" kern="100" dirty="0" err="1">
                <a:latin typeface="Times New Roman" panose="02020603050405020304" pitchFamily="18" charset="0"/>
                <a:ea typeface="宋体" pitchFamily="2" charset="-122"/>
                <a:cs typeface="Times New Roman" panose="02020603050405020304" pitchFamily="18" charset="0"/>
              </a:rPr>
              <a:t>file_object.read</a:t>
            </a:r>
            <a:r>
              <a:rPr lang="en-US" altLang="zh-CN" sz="2400" kern="100" dirty="0">
                <a:latin typeface="Times New Roman" panose="02020603050405020304" pitchFamily="18" charset="0"/>
                <a:ea typeface="宋体" pitchFamily="2" charset="-122"/>
                <a:cs typeface="Times New Roman" panose="02020603050405020304" pitchFamily="18" charset="0"/>
              </a:rPr>
              <a:t>()</a:t>
            </a:r>
            <a:endParaRPr lang="zh-CN"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kern="100" dirty="0">
                <a:latin typeface="Times New Roman" panose="02020603050405020304" pitchFamily="18" charset="0"/>
                <a:ea typeface="宋体" pitchFamily="2" charset="-122"/>
                <a:cs typeface="Times New Roman" panose="02020603050405020304" pitchFamily="18" charset="0"/>
              </a:rPr>
              <a:t>print(contents)  </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4" name="文本框 3"/>
          <p:cNvSpPr txBox="1"/>
          <p:nvPr/>
        </p:nvSpPr>
        <p:spPr>
          <a:xfrm>
            <a:off x="2851058" y="3910805"/>
            <a:ext cx="3240359" cy="369332"/>
          </a:xfrm>
          <a:prstGeom prst="rect">
            <a:avLst/>
          </a:prstGeom>
          <a:noFill/>
        </p:spPr>
        <p:txBody>
          <a:bodyPr wrap="square" rtlCol="0">
            <a:spAutoFit/>
          </a:bodyPr>
          <a:lstStyle/>
          <a:p>
            <a:r>
              <a:rPr lang="zh-CN" altLang="en-US" sz="1800" kern="100" dirty="0">
                <a:latin typeface="Times New Roman" panose="02020603050405020304" pitchFamily="18" charset="0"/>
                <a:cs typeface="Times New Roman" panose="02020603050405020304" pitchFamily="18" charset="0"/>
              </a:rPr>
              <a:t>图</a:t>
            </a:r>
            <a:r>
              <a:rPr lang="en-US" altLang="zh-CN" sz="1800" kern="100" dirty="0">
                <a:latin typeface="Times New Roman" panose="02020603050405020304" pitchFamily="18" charset="0"/>
                <a:cs typeface="Times New Roman" panose="02020603050405020304" pitchFamily="18" charset="0"/>
              </a:rPr>
              <a:t>2.17 name.txt</a:t>
            </a:r>
            <a:r>
              <a:rPr lang="zh-CN" altLang="en-US" sz="1800" kern="100" dirty="0">
                <a:latin typeface="Times New Roman" panose="02020603050405020304" pitchFamily="18" charset="0"/>
                <a:cs typeface="Times New Roman" panose="02020603050405020304" pitchFamily="18" charset="0"/>
              </a:rPr>
              <a:t>创建</a:t>
            </a:r>
            <a:endParaRPr lang="zh-CN" altLang="en-US" sz="1800" kern="100" dirty="0">
              <a:latin typeface="Times New Roman" panose="02020603050405020304" pitchFamily="18" charset="0"/>
              <a:cs typeface="Times New Roman" panose="02020603050405020304" pitchFamily="18" charset="0"/>
            </a:endParaRPr>
          </a:p>
        </p:txBody>
      </p:sp>
      <p:sp>
        <p:nvSpPr>
          <p:cNvPr id="26" name="文本框 25"/>
          <p:cNvSpPr txBox="1"/>
          <p:nvPr/>
        </p:nvSpPr>
        <p:spPr>
          <a:xfrm>
            <a:off x="109502" y="2004518"/>
            <a:ext cx="9010373" cy="1154162"/>
          </a:xfrm>
          <a:prstGeom prst="rect">
            <a:avLst/>
          </a:prstGeom>
          <a:noFill/>
        </p:spPr>
        <p:txBody>
          <a:bodyPr wrap="square">
            <a:spAutoFit/>
          </a:bodyPr>
          <a:lstStyle/>
          <a:p>
            <a:pPr indent="457200"/>
            <a:r>
              <a:rPr lang="zh-CN" altLang="zh-CN" sz="2400" kern="100" dirty="0">
                <a:effectLst/>
                <a:latin typeface="Times New Roman" panose="02020603050405020304" pitchFamily="18" charset="0"/>
                <a:ea typeface="宋体" pitchFamily="2" charset="-122"/>
                <a:cs typeface="Times New Roman" panose="02020603050405020304" pitchFamily="18" charset="0"/>
              </a:rPr>
              <a:t>首先在桌面上创建一个文本文档，命名为</a:t>
            </a:r>
            <a:r>
              <a:rPr lang="en-US" altLang="zh-CN" sz="2400" kern="100" dirty="0">
                <a:effectLst/>
                <a:latin typeface="Times New Roman" panose="02020603050405020304" pitchFamily="18" charset="0"/>
                <a:ea typeface="宋体" pitchFamily="2" charset="-122"/>
              </a:rPr>
              <a:t>name.txt</a:t>
            </a:r>
            <a:r>
              <a:rPr lang="zh-CN" altLang="zh-CN" sz="2400" kern="100" dirty="0">
                <a:effectLst/>
                <a:latin typeface="Times New Roman" panose="02020603050405020304" pitchFamily="18" charset="0"/>
                <a:ea typeface="宋体" pitchFamily="2" charset="-122"/>
                <a:cs typeface="Times New Roman" panose="02020603050405020304" pitchFamily="18" charset="0"/>
              </a:rPr>
              <a:t>，里面存储了一些姓名信息</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endParaRPr lang="en-US" altLang="zh-CN" sz="2400" kern="100" dirty="0">
              <a:effectLst/>
              <a:latin typeface="Times New Roman" panose="02020603050405020304" pitchFamily="18" charset="0"/>
              <a:ea typeface="宋体" pitchFamily="2" charset="-122"/>
              <a:cs typeface="Times New Roman" panose="02020603050405020304" pitchFamily="18" charset="0"/>
            </a:endParaRPr>
          </a:p>
          <a:p>
            <a:pPr indent="457200"/>
            <a:endParaRPr lang="zh-CN" altLang="en-US" dirty="0"/>
          </a:p>
        </p:txBody>
      </p:sp>
      <p:pic>
        <p:nvPicPr>
          <p:cNvPr id="27" name="图片 26"/>
          <p:cNvPicPr>
            <a:picLocks noChangeAspect="1"/>
          </p:cNvPicPr>
          <p:nvPr/>
        </p:nvPicPr>
        <p:blipFill>
          <a:blip r:embed="rId1"/>
          <a:stretch>
            <a:fillRect/>
          </a:stretch>
        </p:blipFill>
        <p:spPr>
          <a:xfrm>
            <a:off x="2196530" y="2844457"/>
            <a:ext cx="3879850" cy="984885"/>
          </a:xfrm>
          <a:prstGeom prst="rect">
            <a:avLst/>
          </a:prstGeom>
          <a:noFill/>
          <a:ln>
            <a:noFill/>
          </a:ln>
        </p:spPr>
      </p:pic>
      <p:sp>
        <p:nvSpPr>
          <p:cNvPr id="30" name="文本框 29"/>
          <p:cNvSpPr txBox="1"/>
          <p:nvPr/>
        </p:nvSpPr>
        <p:spPr>
          <a:xfrm>
            <a:off x="468338" y="4220617"/>
            <a:ext cx="4589754" cy="461665"/>
          </a:xfrm>
          <a:prstGeom prst="rect">
            <a:avLst/>
          </a:prstGeom>
          <a:noFill/>
        </p:spPr>
        <p:txBody>
          <a:bodyPr wrap="square">
            <a:spAutoFit/>
          </a:bodyPr>
          <a:lstStyle/>
          <a:p>
            <a:r>
              <a:rPr lang="zh-CN" altLang="zh-CN" sz="2400" kern="100" dirty="0">
                <a:effectLst/>
                <a:latin typeface="Times New Roman" panose="02020603050405020304" pitchFamily="18" charset="0"/>
                <a:ea typeface="宋体" pitchFamily="2" charset="-122"/>
                <a:cs typeface="Times New Roman" panose="02020603050405020304" pitchFamily="18" charset="0"/>
              </a:rPr>
              <a:t>使用以下代码打开它</a:t>
            </a:r>
            <a:endParaRPr lang="zh-CN" altLang="en-US" dirty="0"/>
          </a:p>
        </p:txBody>
      </p:sp>
      <p:sp>
        <p:nvSpPr>
          <p:cNvPr id="31" name="文本框 30"/>
          <p:cNvSpPr txBox="1"/>
          <p:nvPr/>
        </p:nvSpPr>
        <p:spPr>
          <a:xfrm>
            <a:off x="6076380" y="4411906"/>
            <a:ext cx="2240830" cy="2308324"/>
          </a:xfrm>
          <a:prstGeom prst="rect">
            <a:avLst/>
          </a:prstGeom>
          <a:solidFill>
            <a:srgbClr val="92D050"/>
          </a:solidFill>
        </p:spPr>
        <p:txBody>
          <a:bodyPr wrap="square">
            <a:spAutoFit/>
          </a:bodyPr>
          <a:lstStyle/>
          <a:p>
            <a:pPr algn="l" fontAlgn="ctr"/>
            <a:r>
              <a:rPr lang="zh-CN" altLang="en-US" sz="2400" kern="100" dirty="0">
                <a:solidFill>
                  <a:srgbClr val="000000"/>
                </a:solidFill>
                <a:effectLst/>
                <a:latin typeface="Times New Roman" panose="02020603050405020304" pitchFamily="18" charset="0"/>
                <a:ea typeface="宋体" pitchFamily="2" charset="-122"/>
              </a:rPr>
              <a:t>例</a:t>
            </a:r>
            <a:r>
              <a:rPr lang="en-US" altLang="zh-CN" sz="2400" kern="100" dirty="0">
                <a:solidFill>
                  <a:srgbClr val="000000"/>
                </a:solidFill>
                <a:effectLst/>
                <a:latin typeface="Times New Roman" panose="02020603050405020304" pitchFamily="18" charset="0"/>
                <a:ea typeface="宋体" pitchFamily="2" charset="-122"/>
              </a:rPr>
              <a:t>28</a:t>
            </a:r>
            <a:r>
              <a:rPr lang="zh-CN" altLang="en-US" sz="2400" kern="100" dirty="0">
                <a:solidFill>
                  <a:srgbClr val="000000"/>
                </a:solidFill>
                <a:effectLst/>
                <a:latin typeface="Times New Roman" panose="02020603050405020304" pitchFamily="18" charset="0"/>
                <a:ea typeface="宋体" pitchFamily="2" charset="-122"/>
              </a:rPr>
              <a:t>运行结果</a:t>
            </a:r>
            <a:r>
              <a:rPr lang="zh-CN" altLang="en-US" sz="2400" kern="100" dirty="0">
                <a:solidFill>
                  <a:srgbClr val="000000"/>
                </a:solidFill>
                <a:latin typeface="Times New Roman" panose="02020603050405020304" pitchFamily="18" charset="0"/>
                <a:ea typeface="宋体" pitchFamily="2" charset="-122"/>
              </a:rPr>
              <a:t>：</a:t>
            </a:r>
            <a:endParaRPr lang="en-US" altLang="zh-CN" sz="2400" kern="100" dirty="0">
              <a:solidFill>
                <a:srgbClr val="000000"/>
              </a:solidFill>
              <a:effectLst/>
              <a:latin typeface="Times New Roman" panose="02020603050405020304" pitchFamily="18" charset="0"/>
              <a:ea typeface="宋体" pitchFamily="2" charset="-122"/>
            </a:endParaRPr>
          </a:p>
          <a:p>
            <a:pPr fontAlgn="ctr"/>
            <a:r>
              <a:rPr lang="en-US" altLang="zh-CN" sz="2400" dirty="0"/>
              <a:t>SATOMI    </a:t>
            </a:r>
            <a:endParaRPr lang="zh-CN" altLang="zh-CN" sz="2400" dirty="0"/>
          </a:p>
          <a:p>
            <a:pPr fontAlgn="ctr"/>
            <a:r>
              <a:rPr lang="en-US" altLang="zh-CN" sz="2400" dirty="0"/>
              <a:t>Bill   </a:t>
            </a:r>
            <a:endParaRPr lang="zh-CN" altLang="zh-CN" sz="2400" dirty="0"/>
          </a:p>
          <a:p>
            <a:pPr fontAlgn="ctr"/>
            <a:r>
              <a:rPr lang="en-US" altLang="zh-CN" sz="2400" dirty="0" err="1"/>
              <a:t>LiLei</a:t>
            </a:r>
            <a:r>
              <a:rPr lang="en-US" altLang="zh-CN" sz="2400" dirty="0"/>
              <a:t>    </a:t>
            </a:r>
            <a:endParaRPr lang="zh-CN" altLang="zh-CN" sz="2400" dirty="0"/>
          </a:p>
          <a:p>
            <a:pPr fontAlgn="ctr"/>
            <a:r>
              <a:rPr lang="en-US" altLang="zh-CN" sz="2400" dirty="0"/>
              <a:t>Jobs    </a:t>
            </a:r>
            <a:endParaRPr lang="zh-CN" altLang="zh-CN" sz="2400" dirty="0"/>
          </a:p>
          <a:p>
            <a:r>
              <a:rPr lang="en-US" altLang="zh-CN" sz="2400" dirty="0"/>
              <a:t>Zed </a:t>
            </a:r>
            <a:endParaRPr lang="zh-CN" altLang="zh-CN" sz="2400" kern="100" dirty="0">
              <a:latin typeface="Times New Roman" panose="02020603050405020304" pitchFamily="18" charset="0"/>
              <a:ea typeface="宋体" pitchFamily="2" charset="-122"/>
              <a:cs typeface="Times New Roman" panose="02020603050405020304" pitchFamily="18" charset="0"/>
            </a:endParaRPr>
          </a:p>
        </p:txBody>
      </p:sp>
      <p:sp>
        <p:nvSpPr>
          <p:cNvPr id="2" name="文本框 1"/>
          <p:cNvSpPr txBox="1"/>
          <p:nvPr/>
        </p:nvSpPr>
        <p:spPr>
          <a:xfrm>
            <a:off x="26911" y="1174216"/>
            <a:ext cx="2736304" cy="461665"/>
          </a:xfrm>
          <a:prstGeom prst="rect">
            <a:avLst/>
          </a:prstGeom>
          <a:noFill/>
        </p:spPr>
        <p:txBody>
          <a:bodyPr wrap="square" rtlCol="0">
            <a:spAutoFit/>
          </a:bodyPr>
          <a:lstStyle/>
          <a:p>
            <a:r>
              <a:rPr lang="en-US" altLang="zh-CN" sz="2400" b="1" dirty="0"/>
              <a:t>2.2.10 </a:t>
            </a:r>
            <a:r>
              <a:rPr lang="zh-CN" altLang="en-US" sz="2400" b="1" dirty="0"/>
              <a:t>文件</a:t>
            </a:r>
            <a:endParaRPr lang="zh-CN" altLang="en-US" sz="2400" b="1" dirty="0"/>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24322" y="1253552"/>
            <a:ext cx="8496944" cy="830997"/>
          </a:xfrm>
          <a:prstGeom prst="rect">
            <a:avLst/>
          </a:prstGeom>
          <a:noFill/>
        </p:spPr>
        <p:txBody>
          <a:bodyPr wrap="square">
            <a:spAutoFit/>
          </a:bodyPr>
          <a:lstStyle/>
          <a:p>
            <a:pPr indent="266700" algn="just"/>
            <a:r>
              <a:rPr lang="zh-CN" altLang="zh-CN" sz="2400" kern="100" dirty="0">
                <a:latin typeface="Times New Roman" panose="02020603050405020304" pitchFamily="18" charset="0"/>
                <a:ea typeface="宋体" pitchFamily="2" charset="-122"/>
              </a:rPr>
              <a:t>我们也经常需要把得到的数据储存在文件中，这就涉及到文件的写入</a:t>
            </a:r>
            <a:r>
              <a:rPr lang="zh-CN" altLang="en-US" sz="2400" kern="100" dirty="0">
                <a:latin typeface="Times New Roman" panose="02020603050405020304" pitchFamily="18" charset="0"/>
                <a:ea typeface="宋体" pitchFamily="2" charset="-122"/>
              </a:rPr>
              <a:t>。</a:t>
            </a:r>
            <a:endParaRPr lang="zh-CN" altLang="zh-CN" sz="2400" kern="100" dirty="0">
              <a:latin typeface="Times New Roman" panose="02020603050405020304" pitchFamily="18" charset="0"/>
              <a:ea typeface="宋体" pitchFamily="2" charset="-122"/>
            </a:endParaRPr>
          </a:p>
        </p:txBody>
      </p:sp>
      <p:sp>
        <p:nvSpPr>
          <p:cNvPr id="12" name="文本框 11"/>
          <p:cNvSpPr txBox="1"/>
          <p:nvPr/>
        </p:nvSpPr>
        <p:spPr>
          <a:xfrm>
            <a:off x="2052514" y="1889851"/>
            <a:ext cx="5606396" cy="1569660"/>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latin typeface="Times New Roman" panose="02020603050405020304" pitchFamily="18" charset="0"/>
                <a:ea typeface="宋体" pitchFamily="2" charset="-122"/>
                <a:cs typeface="Times New Roman" panose="02020603050405020304" pitchFamily="18" charset="0"/>
              </a:rPr>
              <a:t>例子</a:t>
            </a:r>
            <a:r>
              <a:rPr lang="en-US" altLang="zh-CN" sz="2400" kern="100" dirty="0">
                <a:latin typeface="Times New Roman" panose="02020603050405020304" pitchFamily="18" charset="0"/>
                <a:ea typeface="宋体" pitchFamily="2" charset="-122"/>
                <a:cs typeface="Times New Roman" panose="02020603050405020304" pitchFamily="18" charset="0"/>
              </a:rPr>
              <a:t>29</a:t>
            </a:r>
            <a:r>
              <a:rPr lang="zh-CN" altLang="en-US" sz="2400" kern="100" dirty="0">
                <a:latin typeface="Times New Roman" panose="02020603050405020304" pitchFamily="18" charset="0"/>
                <a:ea typeface="宋体" pitchFamily="2" charset="-122"/>
                <a:cs typeface="Times New Roman" panose="02020603050405020304" pitchFamily="18" charset="0"/>
              </a:rPr>
              <a:t>  文件写入：</a:t>
            </a:r>
            <a:endParaRPr lang="en-US" altLang="zh-CN" sz="2400" kern="100" dirty="0">
              <a:latin typeface="Times New Roman" panose="02020603050405020304" pitchFamily="18" charset="0"/>
              <a:ea typeface="宋体" pitchFamily="2" charset="-122"/>
              <a:cs typeface="Times New Roman" panose="02020603050405020304" pitchFamily="18" charset="0"/>
            </a:endParaRPr>
          </a:p>
          <a:p>
            <a:pPr indent="266700" algn="l" fontAlgn="ctr"/>
            <a:r>
              <a:rPr lang="en-US" altLang="zh-CN" sz="2400" dirty="0">
                <a:latin typeface="Times New Roman" panose="02020603050405020304" pitchFamily="18" charset="0"/>
                <a:cs typeface="Times New Roman" panose="02020603050405020304" pitchFamily="18" charset="0"/>
              </a:rPr>
              <a:t>path = </a:t>
            </a:r>
            <a:r>
              <a:rPr lang="en-US" altLang="zh-CN" sz="2400" dirty="0" err="1">
                <a:latin typeface="Times New Roman" panose="02020603050405020304" pitchFamily="18" charset="0"/>
                <a:cs typeface="Times New Roman" panose="02020603050405020304" pitchFamily="18" charset="0"/>
              </a:rPr>
              <a:t>r'C</a:t>
            </a:r>
            <a:r>
              <a:rPr lang="en-US" altLang="zh-CN" sz="2400" dirty="0">
                <a:latin typeface="Times New Roman" panose="02020603050405020304" pitchFamily="18" charset="0"/>
                <a:cs typeface="Times New Roman" panose="02020603050405020304" pitchFamily="18" charset="0"/>
              </a:rPr>
              <a:t>:\Users\11041\Desktop\pi.txt'    </a:t>
            </a:r>
            <a:endParaRPr lang="zh-CN" altLang="zh-CN" sz="2400" dirty="0">
              <a:latin typeface="Times New Roman" panose="02020603050405020304" pitchFamily="18" charset="0"/>
              <a:cs typeface="Times New Roman" panose="02020603050405020304" pitchFamily="18" charset="0"/>
            </a:endParaRPr>
          </a:p>
          <a:p>
            <a:pPr indent="266700" algn="l" fontAlgn="ctr"/>
            <a:r>
              <a:rPr lang="en-US" altLang="zh-CN" sz="2400" dirty="0">
                <a:latin typeface="Times New Roman" panose="02020603050405020304" pitchFamily="18" charset="0"/>
                <a:cs typeface="Times New Roman" panose="02020603050405020304" pitchFamily="18" charset="0"/>
              </a:rPr>
              <a:t>with open(</a:t>
            </a:r>
            <a:r>
              <a:rPr lang="en-US" altLang="zh-CN" sz="2400" dirty="0" err="1">
                <a:latin typeface="Times New Roman" panose="02020603050405020304" pitchFamily="18" charset="0"/>
                <a:cs typeface="Times New Roman" panose="02020603050405020304" pitchFamily="18" charset="0"/>
              </a:rPr>
              <a:t>path,'w</a:t>
            </a:r>
            <a:r>
              <a:rPr lang="en-US" altLang="zh-CN" sz="2400" dirty="0">
                <a:latin typeface="Times New Roman" panose="02020603050405020304" pitchFamily="18" charset="0"/>
                <a:cs typeface="Times New Roman" panose="02020603050405020304" pitchFamily="18" charset="0"/>
              </a:rPr>
              <a:t>') as </a:t>
            </a:r>
            <a:r>
              <a:rPr lang="en-US" altLang="zh-CN" sz="2400" dirty="0" err="1">
                <a:latin typeface="Times New Roman" panose="02020603050405020304" pitchFamily="18" charset="0"/>
                <a:cs typeface="Times New Roman" panose="02020603050405020304" pitchFamily="18" charset="0"/>
              </a:rPr>
              <a:t>file_object</a:t>
            </a:r>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file_object.write</a:t>
            </a:r>
            <a:r>
              <a:rPr lang="en-US" altLang="zh-CN" sz="2400" dirty="0">
                <a:latin typeface="Times New Roman" panose="02020603050405020304" pitchFamily="18" charset="0"/>
                <a:cs typeface="Times New Roman" panose="02020603050405020304" pitchFamily="18" charset="0"/>
              </a:rPr>
              <a:t>('3.1415926') </a:t>
            </a:r>
            <a:endParaRPr lang="zh-CN" altLang="zh-CN" sz="2400"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1" y="3504371"/>
            <a:ext cx="9153329" cy="830997"/>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这次调用</a:t>
            </a:r>
            <a:r>
              <a:rPr lang="en-US" altLang="zh-CN" sz="2400" kern="100" dirty="0">
                <a:effectLst/>
                <a:latin typeface="Times New Roman" panose="02020603050405020304" pitchFamily="18" charset="0"/>
                <a:ea typeface="宋体" pitchFamily="2" charset="-122"/>
              </a:rPr>
              <a:t>open( )</a:t>
            </a:r>
            <a:r>
              <a:rPr lang="zh-CN" altLang="zh-CN" sz="2400" kern="100" dirty="0">
                <a:effectLst/>
                <a:latin typeface="Times New Roman" panose="02020603050405020304" pitchFamily="18" charset="0"/>
                <a:ea typeface="宋体" pitchFamily="2" charset="-122"/>
              </a:rPr>
              <a:t>函数时传递了</a:t>
            </a:r>
            <a:r>
              <a:rPr lang="en-US" altLang="zh-CN" sz="2400" kern="100" dirty="0">
                <a:effectLst/>
                <a:latin typeface="Times New Roman" panose="02020603050405020304" pitchFamily="18" charset="0"/>
                <a:ea typeface="宋体" pitchFamily="2" charset="-122"/>
              </a:rPr>
              <a:t>2</a:t>
            </a:r>
            <a:r>
              <a:rPr lang="zh-CN" altLang="zh-CN" sz="2400" kern="100" dirty="0">
                <a:effectLst/>
                <a:latin typeface="Times New Roman" panose="02020603050405020304" pitchFamily="18" charset="0"/>
                <a:ea typeface="宋体" pitchFamily="2" charset="-122"/>
              </a:rPr>
              <a:t>个实参，第一个实参是要打开的文件的路径，第二个实参是打开的模式。</a:t>
            </a:r>
            <a:endParaRPr lang="en-US" altLang="zh-CN" sz="2400" kern="100" dirty="0">
              <a:effectLst/>
              <a:latin typeface="Times New Roman" panose="02020603050405020304" pitchFamily="18" charset="0"/>
              <a:ea typeface="宋体" pitchFamily="2" charset="-122"/>
            </a:endParaRPr>
          </a:p>
        </p:txBody>
      </p:sp>
      <p:pic>
        <p:nvPicPr>
          <p:cNvPr id="15" name="图片 14"/>
          <p:cNvPicPr>
            <a:picLocks noChangeAspect="1"/>
          </p:cNvPicPr>
          <p:nvPr/>
        </p:nvPicPr>
        <p:blipFill>
          <a:blip r:embed="rId1"/>
          <a:stretch>
            <a:fillRect/>
          </a:stretch>
        </p:blipFill>
        <p:spPr>
          <a:xfrm>
            <a:off x="1521592" y="5035238"/>
            <a:ext cx="6353342" cy="1272964"/>
          </a:xfrm>
          <a:prstGeom prst="rect">
            <a:avLst/>
          </a:prstGeom>
          <a:noFill/>
          <a:ln>
            <a:noFill/>
          </a:ln>
        </p:spPr>
      </p:pic>
      <p:sp>
        <p:nvSpPr>
          <p:cNvPr id="3" name="文本框 2"/>
          <p:cNvSpPr txBox="1"/>
          <p:nvPr/>
        </p:nvSpPr>
        <p:spPr>
          <a:xfrm>
            <a:off x="396330" y="4487951"/>
            <a:ext cx="2016224" cy="461665"/>
          </a:xfrm>
          <a:prstGeom prst="rect">
            <a:avLst/>
          </a:prstGeom>
          <a:noFill/>
        </p:spPr>
        <p:txBody>
          <a:bodyPr wrap="square" rtlCol="0">
            <a:spAutoFit/>
          </a:bodyPr>
          <a:lstStyle/>
          <a:p>
            <a:r>
              <a:rPr lang="zh-CN" altLang="en-US" sz="2400" dirty="0"/>
              <a:t>运行结果：</a:t>
            </a:r>
            <a:endParaRPr lang="zh-CN" altLang="en-US" sz="2400" dirty="0"/>
          </a:p>
        </p:txBody>
      </p:sp>
      <p:sp>
        <p:nvSpPr>
          <p:cNvPr id="17" name="文本框 16"/>
          <p:cNvSpPr txBox="1"/>
          <p:nvPr/>
        </p:nvSpPr>
        <p:spPr>
          <a:xfrm>
            <a:off x="3474127" y="6397923"/>
            <a:ext cx="2448272" cy="369332"/>
          </a:xfrm>
          <a:prstGeom prst="rect">
            <a:avLst/>
          </a:prstGeom>
          <a:noFill/>
        </p:spPr>
        <p:txBody>
          <a:bodyPr wrap="square" rtlCol="0">
            <a:spAutoFit/>
          </a:bodyPr>
          <a:lstStyle/>
          <a:p>
            <a:r>
              <a:rPr lang="zh-CN" altLang="en-US" sz="1800" kern="100" dirty="0">
                <a:latin typeface="Times New Roman" panose="02020603050405020304" pitchFamily="18" charset="0"/>
                <a:ea typeface="宋体" pitchFamily="2" charset="-122"/>
                <a:cs typeface="Times New Roman" panose="02020603050405020304" pitchFamily="18" charset="0"/>
              </a:rPr>
              <a:t>图</a:t>
            </a:r>
            <a:r>
              <a:rPr lang="en-US" altLang="zh-CN" sz="1800" kern="100" dirty="0">
                <a:latin typeface="Times New Roman" panose="02020603050405020304" pitchFamily="18" charset="0"/>
                <a:ea typeface="宋体" pitchFamily="2" charset="-122"/>
                <a:cs typeface="Times New Roman" panose="02020603050405020304" pitchFamily="18" charset="0"/>
              </a:rPr>
              <a:t>2.18</a:t>
            </a:r>
            <a:r>
              <a:rPr lang="zh-CN" altLang="en-US" sz="1800" kern="100" dirty="0">
                <a:latin typeface="Times New Roman" panose="02020603050405020304" pitchFamily="18" charset="0"/>
                <a:ea typeface="宋体" pitchFamily="2" charset="-122"/>
                <a:cs typeface="Times New Roman" panose="02020603050405020304" pitchFamily="18" charset="0"/>
              </a:rPr>
              <a:t> 创建</a:t>
            </a:r>
            <a:r>
              <a:rPr lang="en-US" altLang="zh-CN" sz="1800" kern="100" dirty="0">
                <a:latin typeface="Times New Roman" panose="02020603050405020304" pitchFamily="18" charset="0"/>
                <a:ea typeface="宋体" pitchFamily="2" charset="-122"/>
                <a:cs typeface="Times New Roman" panose="02020603050405020304" pitchFamily="18" charset="0"/>
              </a:rPr>
              <a:t>pi.txt</a:t>
            </a:r>
            <a:r>
              <a:rPr lang="zh-CN" altLang="en-US" sz="1800" kern="100" dirty="0">
                <a:latin typeface="Times New Roman" panose="02020603050405020304" pitchFamily="18" charset="0"/>
                <a:ea typeface="宋体" pitchFamily="2" charset="-122"/>
                <a:cs typeface="Times New Roman" panose="02020603050405020304" pitchFamily="18" charset="0"/>
              </a:rPr>
              <a:t>文件</a:t>
            </a:r>
            <a:endParaRPr lang="zh-CN" altLang="en-US" sz="1800"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50970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24322" y="1628027"/>
            <a:ext cx="8496944" cy="3046988"/>
          </a:xfrm>
          <a:prstGeom prst="rect">
            <a:avLst/>
          </a:prstGeom>
          <a:noFill/>
        </p:spPr>
        <p:txBody>
          <a:bodyPr wrap="square">
            <a:spAutoFit/>
          </a:bodyPr>
          <a:lstStyle/>
          <a:p>
            <a:pPr indent="266700" algn="just"/>
            <a:r>
              <a:rPr lang="zh-CN" altLang="zh-CN" sz="2400" kern="100" dirty="0">
                <a:latin typeface="Times New Roman" panose="02020603050405020304" pitchFamily="18" charset="0"/>
                <a:ea typeface="宋体" pitchFamily="2" charset="-122"/>
              </a:rPr>
              <a:t>在上面的例子中，我们使用了写入模式</a:t>
            </a:r>
            <a:r>
              <a:rPr lang="en-US" altLang="zh-CN" sz="2400" kern="100" dirty="0">
                <a:latin typeface="Times New Roman" panose="02020603050405020304" pitchFamily="18" charset="0"/>
                <a:ea typeface="宋体" pitchFamily="2" charset="-122"/>
              </a:rPr>
              <a:t>(‘ w ’)</a:t>
            </a:r>
            <a:r>
              <a:rPr lang="zh-CN" altLang="zh-CN" sz="2400" kern="100" dirty="0">
                <a:latin typeface="Times New Roman" panose="02020603050405020304" pitchFamily="18" charset="0"/>
                <a:ea typeface="宋体" pitchFamily="2" charset="-122"/>
              </a:rPr>
              <a:t>。在打开文件时，可以选择</a:t>
            </a:r>
            <a:r>
              <a:rPr lang="zh-CN" altLang="zh-CN" sz="2400" kern="100" dirty="0">
                <a:solidFill>
                  <a:srgbClr val="FF0000"/>
                </a:solidFill>
                <a:latin typeface="Times New Roman" panose="02020603050405020304" pitchFamily="18" charset="0"/>
                <a:ea typeface="宋体" pitchFamily="2" charset="-122"/>
              </a:rPr>
              <a:t>只读模式</a:t>
            </a:r>
            <a:r>
              <a:rPr lang="en-US" altLang="zh-CN" sz="2400" kern="100" dirty="0">
                <a:solidFill>
                  <a:srgbClr val="FF0000"/>
                </a:solidFill>
                <a:latin typeface="Times New Roman" panose="02020603050405020304" pitchFamily="18" charset="0"/>
                <a:ea typeface="宋体" pitchFamily="2" charset="-122"/>
              </a:rPr>
              <a:t>(‘ r ’)</a:t>
            </a:r>
            <a:r>
              <a:rPr lang="zh-CN" altLang="zh-CN" sz="2400" kern="100" dirty="0">
                <a:latin typeface="Times New Roman" panose="02020603050405020304" pitchFamily="18" charset="0"/>
                <a:ea typeface="宋体" pitchFamily="2" charset="-122"/>
              </a:rPr>
              <a:t>、</a:t>
            </a:r>
            <a:r>
              <a:rPr lang="zh-CN" altLang="zh-CN" sz="2400" kern="100" dirty="0">
                <a:solidFill>
                  <a:srgbClr val="FF0000"/>
                </a:solidFill>
                <a:latin typeface="Times New Roman" panose="02020603050405020304" pitchFamily="18" charset="0"/>
                <a:ea typeface="宋体" pitchFamily="2" charset="-122"/>
              </a:rPr>
              <a:t>写入模式</a:t>
            </a:r>
            <a:r>
              <a:rPr lang="en-US" altLang="zh-CN" sz="2400" kern="100" dirty="0">
                <a:solidFill>
                  <a:srgbClr val="FF0000"/>
                </a:solidFill>
                <a:latin typeface="Times New Roman" panose="02020603050405020304" pitchFamily="18" charset="0"/>
                <a:ea typeface="宋体" pitchFamily="2" charset="-122"/>
              </a:rPr>
              <a:t>(‘ w ’)</a:t>
            </a:r>
            <a:r>
              <a:rPr lang="zh-CN" altLang="zh-CN" sz="2400" kern="100" dirty="0">
                <a:solidFill>
                  <a:srgbClr val="FF0000"/>
                </a:solidFill>
                <a:latin typeface="Times New Roman" panose="02020603050405020304" pitchFamily="18" charset="0"/>
                <a:ea typeface="宋体" pitchFamily="2" charset="-122"/>
              </a:rPr>
              <a:t>和附加模式</a:t>
            </a:r>
            <a:r>
              <a:rPr lang="en-US" altLang="zh-CN" sz="2400" kern="100" dirty="0">
                <a:solidFill>
                  <a:srgbClr val="FF0000"/>
                </a:solidFill>
                <a:latin typeface="Times New Roman" panose="02020603050405020304" pitchFamily="18" charset="0"/>
                <a:ea typeface="宋体" pitchFamily="2" charset="-122"/>
              </a:rPr>
              <a:t>(‘ a ’)</a:t>
            </a:r>
            <a:r>
              <a:rPr lang="zh-CN" altLang="zh-CN" sz="2400" kern="100" dirty="0">
                <a:latin typeface="Times New Roman" panose="02020603050405020304" pitchFamily="18" charset="0"/>
                <a:ea typeface="宋体" pitchFamily="2" charset="-122"/>
              </a:rPr>
              <a:t>或能够</a:t>
            </a:r>
            <a:r>
              <a:rPr lang="zh-CN" altLang="zh-CN" sz="2400" kern="100" dirty="0">
                <a:solidFill>
                  <a:srgbClr val="FF0000"/>
                </a:solidFill>
                <a:latin typeface="Times New Roman" panose="02020603050405020304" pitchFamily="18" charset="0"/>
                <a:ea typeface="宋体" pitchFamily="2" charset="-122"/>
              </a:rPr>
              <a:t>读取写入的模式</a:t>
            </a:r>
            <a:r>
              <a:rPr lang="en-US" altLang="zh-CN" sz="2400" kern="100" dirty="0">
                <a:solidFill>
                  <a:srgbClr val="FF0000"/>
                </a:solidFill>
                <a:latin typeface="Times New Roman" panose="02020603050405020304" pitchFamily="18" charset="0"/>
                <a:ea typeface="宋体" pitchFamily="2" charset="-122"/>
              </a:rPr>
              <a:t>(‘r+’)</a:t>
            </a:r>
            <a:r>
              <a:rPr lang="zh-CN" altLang="zh-CN" sz="2400" kern="100" dirty="0">
                <a:latin typeface="Times New Roman" panose="02020603050405020304" pitchFamily="18" charset="0"/>
                <a:ea typeface="宋体" pitchFamily="2" charset="-122"/>
              </a:rPr>
              <a:t>。如果写入的文件不存在，将会自动创建它。</a:t>
            </a:r>
            <a:endParaRPr lang="en-US" altLang="zh-CN" sz="2400" kern="100" dirty="0">
              <a:latin typeface="Times New Roman" panose="02020603050405020304" pitchFamily="18" charset="0"/>
              <a:ea typeface="宋体" pitchFamily="2" charset="-122"/>
            </a:endParaRPr>
          </a:p>
          <a:p>
            <a:pPr indent="266700" algn="just"/>
            <a:r>
              <a:rPr lang="en-US" altLang="zh-CN" sz="2400" kern="100" dirty="0">
                <a:latin typeface="Times New Roman" panose="02020603050405020304" pitchFamily="18" charset="0"/>
                <a:ea typeface="宋体" pitchFamily="2" charset="-122"/>
              </a:rPr>
              <a:t>※※</a:t>
            </a:r>
            <a:r>
              <a:rPr lang="zh-CN" altLang="zh-CN" sz="2400" kern="100" dirty="0">
                <a:solidFill>
                  <a:srgbClr val="FF0000"/>
                </a:solidFill>
                <a:latin typeface="Times New Roman" panose="02020603050405020304" pitchFamily="18" charset="0"/>
                <a:ea typeface="宋体" pitchFamily="2" charset="-122"/>
              </a:rPr>
              <a:t>写入模式</a:t>
            </a:r>
            <a:r>
              <a:rPr lang="en-US" altLang="zh-CN" sz="2400" kern="100" dirty="0">
                <a:solidFill>
                  <a:srgbClr val="FF0000"/>
                </a:solidFill>
                <a:latin typeface="Times New Roman" panose="02020603050405020304" pitchFamily="18" charset="0"/>
                <a:ea typeface="宋体" pitchFamily="2" charset="-122"/>
              </a:rPr>
              <a:t>(‘ w ’)</a:t>
            </a:r>
            <a:r>
              <a:rPr lang="zh-CN" altLang="zh-CN" sz="2400" kern="100" dirty="0">
                <a:solidFill>
                  <a:srgbClr val="FF0000"/>
                </a:solidFill>
                <a:latin typeface="Times New Roman" panose="02020603050405020304" pitchFamily="18" charset="0"/>
                <a:ea typeface="宋体" pitchFamily="2" charset="-122"/>
              </a:rPr>
              <a:t>和附加模式</a:t>
            </a:r>
            <a:r>
              <a:rPr lang="en-US" altLang="zh-CN" sz="2400" kern="100" dirty="0">
                <a:solidFill>
                  <a:srgbClr val="FF0000"/>
                </a:solidFill>
                <a:latin typeface="Times New Roman" panose="02020603050405020304" pitchFamily="18" charset="0"/>
                <a:ea typeface="宋体" pitchFamily="2" charset="-122"/>
              </a:rPr>
              <a:t>(‘ a ’)</a:t>
            </a:r>
            <a:r>
              <a:rPr lang="zh-CN" altLang="zh-CN" sz="2400" kern="100" dirty="0">
                <a:solidFill>
                  <a:srgbClr val="FF0000"/>
                </a:solidFill>
                <a:latin typeface="Times New Roman" panose="02020603050405020304" pitchFamily="18" charset="0"/>
                <a:ea typeface="宋体" pitchFamily="2" charset="-122"/>
              </a:rPr>
              <a:t>的区别</a:t>
            </a:r>
            <a:r>
              <a:rPr lang="zh-CN" altLang="en-US" sz="2400" kern="100" dirty="0">
                <a:solidFill>
                  <a:srgbClr val="FF0000"/>
                </a:solidFill>
                <a:latin typeface="Times New Roman" panose="02020603050405020304" pitchFamily="18" charset="0"/>
                <a:ea typeface="宋体" pitchFamily="2" charset="-122"/>
              </a:rPr>
              <a:t>：</a:t>
            </a:r>
            <a:r>
              <a:rPr lang="zh-CN" altLang="zh-CN" sz="2400" kern="100" dirty="0">
                <a:latin typeface="Times New Roman" panose="02020603050405020304" pitchFamily="18" charset="0"/>
                <a:ea typeface="宋体" pitchFamily="2" charset="-122"/>
              </a:rPr>
              <a:t>写入模式</a:t>
            </a:r>
            <a:r>
              <a:rPr lang="en-US" altLang="zh-CN" sz="2400" kern="100" dirty="0">
                <a:latin typeface="Times New Roman" panose="02020603050405020304" pitchFamily="18" charset="0"/>
                <a:ea typeface="宋体" pitchFamily="2" charset="-122"/>
              </a:rPr>
              <a:t>(' w ')</a:t>
            </a:r>
            <a:r>
              <a:rPr lang="zh-CN" altLang="zh-CN" sz="2400" kern="100" dirty="0">
                <a:latin typeface="Times New Roman" panose="02020603050405020304" pitchFamily="18" charset="0"/>
                <a:ea typeface="宋体" pitchFamily="2" charset="-122"/>
              </a:rPr>
              <a:t>下新写入的内容会覆盖原有的文件内容，而附加模式</a:t>
            </a:r>
            <a:r>
              <a:rPr lang="en-US" altLang="zh-CN" sz="2400" kern="100" dirty="0">
                <a:latin typeface="Times New Roman" panose="02020603050405020304" pitchFamily="18" charset="0"/>
                <a:ea typeface="宋体" pitchFamily="2" charset="-122"/>
              </a:rPr>
              <a:t>(' a ')</a:t>
            </a:r>
            <a:r>
              <a:rPr lang="zh-CN" altLang="zh-CN" sz="2400" kern="100" dirty="0">
                <a:latin typeface="Times New Roman" panose="02020603050405020304" pitchFamily="18" charset="0"/>
                <a:ea typeface="宋体" pitchFamily="2" charset="-122"/>
              </a:rPr>
              <a:t>下新写入的内容不会覆盖原有的文件内容，而是附加到原有内容后面。</a:t>
            </a:r>
            <a:endParaRPr lang="zh-CN" altLang="zh-CN" sz="2400" kern="100" dirty="0">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123359"/>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2.3 OpenCV</a:t>
            </a:r>
            <a:r>
              <a:rPr lang="zh-CN" altLang="zh-CN" sz="2100" b="1" dirty="0">
                <a:solidFill>
                  <a:schemeClr val="tx1">
                    <a:lumMod val="75000"/>
                    <a:lumOff val="25000"/>
                  </a:schemeClr>
                </a:solidFill>
                <a:latin typeface="微软雅黑" panose="020B0503020204020204" pitchFamily="34" charset="-122"/>
              </a:rPr>
              <a:t>基础知识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30" name="文本框 29"/>
          <p:cNvSpPr txBox="1"/>
          <p:nvPr/>
        </p:nvSpPr>
        <p:spPr>
          <a:xfrm>
            <a:off x="-17113" y="1824155"/>
            <a:ext cx="9145588" cy="4154984"/>
          </a:xfrm>
          <a:prstGeom prst="rect">
            <a:avLst/>
          </a:prstGeom>
          <a:noFill/>
        </p:spPr>
        <p:txBody>
          <a:bodyPr wrap="square">
            <a:spAutoFit/>
          </a:bodyPr>
          <a:lstStyle/>
          <a:p>
            <a:pPr indent="266700" algn="just" latinLnBrk="1"/>
            <a:r>
              <a:rPr lang="en-US" altLang="zh-CN" sz="2400" kern="100" dirty="0">
                <a:effectLst/>
                <a:latin typeface="Times New Roman" panose="02020603050405020304" pitchFamily="18" charset="0"/>
                <a:ea typeface="宋体" pitchFamily="2" charset="-122"/>
              </a:rPr>
              <a:t>OpenCV</a:t>
            </a:r>
            <a:r>
              <a:rPr lang="zh-CN" altLang="zh-CN" sz="2400" kern="100" dirty="0">
                <a:effectLst/>
                <a:latin typeface="Times New Roman" panose="02020603050405020304" pitchFamily="18" charset="0"/>
                <a:ea typeface="宋体" pitchFamily="2" charset="-122"/>
              </a:rPr>
              <a:t>是一款免费的计算机视觉开源软件，可以操作图像和视频。</a:t>
            </a:r>
            <a:endParaRPr lang="en-US" altLang="zh-CN" sz="2400" kern="100" dirty="0">
              <a:effectLst/>
              <a:latin typeface="Times New Roman" panose="02020603050405020304" pitchFamily="18" charset="0"/>
              <a:ea typeface="宋体" pitchFamily="2" charset="-122"/>
            </a:endParaRPr>
          </a:p>
          <a:p>
            <a:pPr algn="just" latinLnBrk="1"/>
            <a:r>
              <a:rPr lang="en-US" altLang="zh-CN" sz="2400" b="1" kern="100" dirty="0">
                <a:latin typeface="Times New Roman" panose="02020603050405020304" pitchFamily="18" charset="0"/>
                <a:ea typeface="宋体" pitchFamily="2" charset="-122"/>
              </a:rPr>
              <a:t>2.3.2 </a:t>
            </a:r>
            <a:r>
              <a:rPr lang="zh-CN" altLang="en-US" sz="2400" b="1" kern="100" dirty="0">
                <a:latin typeface="Times New Roman" panose="02020603050405020304" pitchFamily="18" charset="0"/>
                <a:ea typeface="宋体" pitchFamily="2" charset="-122"/>
              </a:rPr>
              <a:t>安装</a:t>
            </a:r>
            <a:r>
              <a:rPr lang="en-US" altLang="zh-CN" sz="2400" b="1" kern="100" dirty="0">
                <a:latin typeface="Times New Roman" panose="02020603050405020304" pitchFamily="18" charset="0"/>
                <a:ea typeface="宋体" pitchFamily="2" charset="-122"/>
              </a:rPr>
              <a:t>OpenCV</a:t>
            </a:r>
            <a:endParaRPr lang="en-US" altLang="zh-CN" sz="2400" b="1" kern="100" dirty="0">
              <a:latin typeface="Times New Roman" panose="02020603050405020304" pitchFamily="18" charset="0"/>
              <a:ea typeface="宋体" pitchFamily="2" charset="-122"/>
            </a:endParaRPr>
          </a:p>
          <a:p>
            <a:pPr marL="342900" indent="-342900" algn="just" latinLnBrk="1">
              <a:buFont typeface="Wingdings" panose="05000000000000000000" pitchFamily="2" charset="2"/>
              <a:buChar char="p"/>
            </a:pPr>
            <a:r>
              <a:rPr lang="zh-CN" altLang="zh-CN" sz="2400" kern="100" dirty="0">
                <a:latin typeface="Times New Roman" panose="02020603050405020304" pitchFamily="18" charset="0"/>
                <a:ea typeface="宋体" pitchFamily="2" charset="-122"/>
              </a:rPr>
              <a:t>进入网址</a:t>
            </a:r>
            <a:r>
              <a:rPr lang="en-US" altLang="zh-CN" sz="2400" kern="100" dirty="0">
                <a:latin typeface="Times New Roman" panose="02020603050405020304" pitchFamily="18" charset="0"/>
                <a:ea typeface="宋体" pitchFamily="2" charset="-122"/>
                <a:hlinkClick r:id="rId1"/>
              </a:rPr>
              <a:t>https://www.lfd.uci.edu/~gohlke/pythonlibs/#opencv</a:t>
            </a:r>
            <a:r>
              <a:rPr lang="zh-CN" altLang="en-US" sz="2400" kern="100" dirty="0">
                <a:latin typeface="Times New Roman" panose="02020603050405020304" pitchFamily="18" charset="0"/>
                <a:ea typeface="宋体" pitchFamily="2" charset="-122"/>
              </a:rPr>
              <a:t>，</a:t>
            </a:r>
            <a:r>
              <a:rPr lang="zh-CN" altLang="zh-CN" sz="2400" kern="100" dirty="0">
                <a:latin typeface="Times New Roman" panose="02020603050405020304" pitchFamily="18" charset="0"/>
                <a:ea typeface="宋体" pitchFamily="2" charset="-122"/>
              </a:rPr>
              <a:t>找到</a:t>
            </a:r>
            <a:r>
              <a:rPr lang="en-US" altLang="zh-CN" sz="2400" kern="100" dirty="0">
                <a:latin typeface="Times New Roman" panose="02020603050405020304" pitchFamily="18" charset="0"/>
                <a:ea typeface="宋体" pitchFamily="2" charset="-122"/>
              </a:rPr>
              <a:t>OpenCV</a:t>
            </a:r>
            <a:r>
              <a:rPr lang="zh-CN" altLang="zh-CN" sz="2400" kern="100" dirty="0">
                <a:latin typeface="Times New Roman" panose="02020603050405020304" pitchFamily="18" charset="0"/>
                <a:ea typeface="宋体" pitchFamily="2" charset="-122"/>
              </a:rPr>
              <a:t>选择下载适合的版本，</a:t>
            </a:r>
            <a:r>
              <a:rPr lang="en-US" altLang="zh-CN" sz="2400" kern="100" dirty="0">
                <a:latin typeface="Times New Roman" panose="02020603050405020304" pitchFamily="18" charset="0"/>
                <a:ea typeface="宋体" pitchFamily="2" charset="-122"/>
              </a:rPr>
              <a:t>cp</a:t>
            </a:r>
            <a:r>
              <a:rPr lang="zh-CN" altLang="zh-CN" sz="2400" kern="100" dirty="0">
                <a:latin typeface="Times New Roman" panose="02020603050405020304" pitchFamily="18" charset="0"/>
                <a:ea typeface="宋体" pitchFamily="2" charset="-122"/>
              </a:rPr>
              <a:t>后的数字代表</a:t>
            </a:r>
            <a:r>
              <a:rPr lang="en-US" altLang="zh-CN" sz="2400" kern="100" dirty="0">
                <a:latin typeface="Times New Roman" panose="02020603050405020304" pitchFamily="18" charset="0"/>
                <a:ea typeface="宋体" pitchFamily="2" charset="-122"/>
              </a:rPr>
              <a:t>Python</a:t>
            </a:r>
            <a:r>
              <a:rPr lang="zh-CN" altLang="zh-CN" sz="2400" kern="100" dirty="0">
                <a:latin typeface="Times New Roman" panose="02020603050405020304" pitchFamily="18" charset="0"/>
                <a:ea typeface="宋体" pitchFamily="2" charset="-122"/>
              </a:rPr>
              <a:t>的版本，</a:t>
            </a:r>
            <a:r>
              <a:rPr lang="en-US" altLang="zh-CN" sz="2400" kern="100" dirty="0">
                <a:latin typeface="Times New Roman" panose="02020603050405020304" pitchFamily="18" charset="0"/>
                <a:ea typeface="宋体" pitchFamily="2" charset="-122"/>
              </a:rPr>
              <a:t>cp37</a:t>
            </a:r>
            <a:r>
              <a:rPr lang="zh-CN" altLang="zh-CN" sz="2400" kern="100" dirty="0">
                <a:latin typeface="Times New Roman" panose="02020603050405020304" pitchFamily="18" charset="0"/>
                <a:ea typeface="宋体" pitchFamily="2" charset="-122"/>
              </a:rPr>
              <a:t>为</a:t>
            </a:r>
            <a:r>
              <a:rPr lang="en-US" altLang="zh-CN" sz="2400" kern="100" dirty="0">
                <a:latin typeface="Times New Roman" panose="02020603050405020304" pitchFamily="18" charset="0"/>
                <a:ea typeface="宋体" pitchFamily="2" charset="-122"/>
              </a:rPr>
              <a:t>Python3.7</a:t>
            </a:r>
            <a:r>
              <a:rPr lang="zh-CN" altLang="zh-CN" sz="2400" kern="100" dirty="0">
                <a:latin typeface="Times New Roman" panose="02020603050405020304" pitchFamily="18" charset="0"/>
                <a:ea typeface="宋体" pitchFamily="2" charset="-122"/>
              </a:rPr>
              <a:t>，以此类推。</a:t>
            </a:r>
            <a:endParaRPr lang="zh-CN" altLang="zh-CN" sz="2400" kern="100" dirty="0">
              <a:latin typeface="Times New Roman" panose="02020603050405020304" pitchFamily="18" charset="0"/>
              <a:ea typeface="宋体" pitchFamily="2" charset="-122"/>
            </a:endParaRPr>
          </a:p>
          <a:p>
            <a:pPr marL="342900" indent="-342900" algn="just" latinLnBrk="1">
              <a:buFont typeface="Wingdings" panose="05000000000000000000" pitchFamily="2" charset="2"/>
              <a:buChar char="p"/>
            </a:pPr>
            <a:r>
              <a:rPr lang="zh-CN" altLang="zh-CN" sz="2400" kern="100" dirty="0">
                <a:latin typeface="Times New Roman" panose="02020603050405020304" pitchFamily="18" charset="0"/>
                <a:ea typeface="宋体" pitchFamily="2" charset="-122"/>
              </a:rPr>
              <a:t>下载完成后在命令行中切换目录到安装包所在路径</a:t>
            </a:r>
            <a:r>
              <a:rPr lang="en-US" altLang="zh-CN" sz="2400" kern="100" dirty="0">
                <a:latin typeface="Times New Roman" panose="02020603050405020304" pitchFamily="18" charset="0"/>
                <a:ea typeface="宋体" pitchFamily="2" charset="-122"/>
              </a:rPr>
              <a:t>(</a:t>
            </a:r>
            <a:r>
              <a:rPr lang="zh-CN" altLang="zh-CN" sz="2400" kern="100" dirty="0">
                <a:latin typeface="Times New Roman" panose="02020603050405020304" pitchFamily="18" charset="0"/>
                <a:ea typeface="宋体" pitchFamily="2" charset="-122"/>
              </a:rPr>
              <a:t>以桌面为例</a:t>
            </a:r>
            <a:r>
              <a:rPr lang="en-US" altLang="zh-CN" sz="2400" kern="100" dirty="0">
                <a:latin typeface="Times New Roman" panose="02020603050405020304" pitchFamily="18" charset="0"/>
                <a:ea typeface="宋体" pitchFamily="2" charset="-122"/>
              </a:rPr>
              <a:t>)</a:t>
            </a:r>
            <a:r>
              <a:rPr lang="zh-CN" altLang="zh-CN" sz="2400" kern="100" dirty="0">
                <a:latin typeface="Times New Roman" panose="02020603050405020304" pitchFamily="18" charset="0"/>
                <a:ea typeface="宋体" pitchFamily="2" charset="-122"/>
              </a:rPr>
              <a:t>，输入</a:t>
            </a:r>
            <a:r>
              <a:rPr lang="en-US" altLang="zh-CN" sz="2400" kern="100" dirty="0">
                <a:solidFill>
                  <a:schemeClr val="accent1">
                    <a:lumMod val="75000"/>
                  </a:schemeClr>
                </a:solidFill>
                <a:latin typeface="Times New Roman" panose="02020603050405020304" pitchFamily="18" charset="0"/>
                <a:ea typeface="宋体" pitchFamily="2" charset="-122"/>
              </a:rPr>
              <a:t>pip install </a:t>
            </a:r>
            <a:r>
              <a:rPr lang="zh-CN" altLang="zh-CN" sz="2400" kern="100" dirty="0">
                <a:solidFill>
                  <a:schemeClr val="accent1">
                    <a:lumMod val="75000"/>
                  </a:schemeClr>
                </a:solidFill>
                <a:latin typeface="Times New Roman" panose="02020603050405020304" pitchFamily="18" charset="0"/>
                <a:ea typeface="宋体" pitchFamily="2" charset="-122"/>
              </a:rPr>
              <a:t>文件名</a:t>
            </a:r>
            <a:r>
              <a:rPr lang="zh-CN" altLang="zh-CN" sz="2400" kern="100" dirty="0">
                <a:latin typeface="Times New Roman" panose="02020603050405020304" pitchFamily="18" charset="0"/>
                <a:ea typeface="宋体" pitchFamily="2" charset="-122"/>
              </a:rPr>
              <a:t>，如图</a:t>
            </a:r>
            <a:r>
              <a:rPr lang="en-US" altLang="zh-CN" sz="2400" kern="100" dirty="0">
                <a:latin typeface="Times New Roman" panose="02020603050405020304" pitchFamily="18" charset="0"/>
                <a:ea typeface="宋体" pitchFamily="2" charset="-122"/>
              </a:rPr>
              <a:t>2.19</a:t>
            </a:r>
            <a:r>
              <a:rPr lang="zh-CN" altLang="zh-CN" sz="2400" kern="100" dirty="0">
                <a:latin typeface="Times New Roman" panose="02020603050405020304" pitchFamily="18" charset="0"/>
                <a:ea typeface="宋体" pitchFamily="2" charset="-122"/>
              </a:rPr>
              <a:t>所示</a:t>
            </a:r>
            <a:r>
              <a:rPr lang="zh-CN" altLang="en-US" sz="2400" kern="100" dirty="0">
                <a:latin typeface="Times New Roman" panose="02020603050405020304" pitchFamily="18" charset="0"/>
                <a:ea typeface="宋体" pitchFamily="2" charset="-122"/>
              </a:rPr>
              <a:t>。</a:t>
            </a:r>
            <a:endParaRPr lang="en-US" altLang="zh-CN" sz="2400" kern="100" dirty="0">
              <a:latin typeface="Times New Roman" panose="02020603050405020304" pitchFamily="18" charset="0"/>
              <a:ea typeface="宋体" pitchFamily="2" charset="-122"/>
            </a:endParaRPr>
          </a:p>
          <a:p>
            <a:pPr indent="266700" algn="just" latinLnBrk="1"/>
            <a:endParaRPr lang="en-US" altLang="zh-CN" sz="2400" kern="100" dirty="0">
              <a:latin typeface="Times New Roman" panose="02020603050405020304" pitchFamily="18" charset="0"/>
              <a:ea typeface="宋体" pitchFamily="2" charset="-122"/>
            </a:endParaRPr>
          </a:p>
          <a:p>
            <a:pPr indent="266700" algn="just" latinLnBrk="1"/>
            <a:endParaRPr lang="zh-CN" altLang="zh-CN" sz="2400" kern="100" dirty="0">
              <a:latin typeface="Times New Roman" panose="02020603050405020304" pitchFamily="18" charset="0"/>
              <a:ea typeface="宋体" pitchFamily="2" charset="-122"/>
            </a:endParaRPr>
          </a:p>
          <a:p>
            <a:pPr indent="266700" algn="just"/>
            <a:endParaRPr lang="zh-CN" altLang="zh-CN" sz="2400" kern="100" dirty="0">
              <a:effectLst/>
              <a:latin typeface="Times New Roman" panose="02020603050405020304" pitchFamily="18" charset="0"/>
              <a:ea typeface="宋体" pitchFamily="2" charset="-122"/>
            </a:endParaRPr>
          </a:p>
        </p:txBody>
      </p:sp>
      <p:pic>
        <p:nvPicPr>
          <p:cNvPr id="6" name="图片 5"/>
          <p:cNvPicPr>
            <a:picLocks noChangeAspect="1"/>
          </p:cNvPicPr>
          <p:nvPr/>
        </p:nvPicPr>
        <p:blipFill>
          <a:blip r:embed="rId2"/>
          <a:stretch>
            <a:fillRect/>
          </a:stretch>
        </p:blipFill>
        <p:spPr>
          <a:xfrm>
            <a:off x="726542" y="4754690"/>
            <a:ext cx="7692504" cy="1748296"/>
          </a:xfrm>
          <a:prstGeom prst="rect">
            <a:avLst/>
          </a:prstGeom>
        </p:spPr>
      </p:pic>
      <p:sp>
        <p:nvSpPr>
          <p:cNvPr id="8" name="文本框 7"/>
          <p:cNvSpPr txBox="1"/>
          <p:nvPr/>
        </p:nvSpPr>
        <p:spPr>
          <a:xfrm>
            <a:off x="3474193" y="6458468"/>
            <a:ext cx="3168352" cy="692497"/>
          </a:xfrm>
          <a:prstGeom prst="rect">
            <a:avLst/>
          </a:prstGeom>
          <a:noFill/>
        </p:spPr>
        <p:txBody>
          <a:bodyPr wrap="square" rtlCol="0">
            <a:spAutoFit/>
          </a:bodyPr>
          <a:lstStyle/>
          <a:p>
            <a:r>
              <a:rPr lang="zh-CN" altLang="en-US" sz="1800" kern="100" dirty="0">
                <a:effectLst/>
                <a:latin typeface="Times New Roman" panose="02020603050405020304" pitchFamily="18" charset="0"/>
                <a:cs typeface="Times New Roman" panose="02020603050405020304" pitchFamily="18" charset="0"/>
              </a:rPr>
              <a:t>图</a:t>
            </a:r>
            <a:r>
              <a:rPr lang="en-US" altLang="zh-CN" sz="1800" kern="100" dirty="0">
                <a:latin typeface="Times New Roman" panose="02020603050405020304" pitchFamily="18" charset="0"/>
                <a:cs typeface="Times New Roman" panose="02020603050405020304" pitchFamily="18" charset="0"/>
              </a:rPr>
              <a:t>2.19 </a:t>
            </a:r>
            <a:r>
              <a:rPr lang="zh-CN" altLang="zh-CN" sz="1800" kern="100" dirty="0">
                <a:effectLst/>
                <a:latin typeface="Times New Roman" panose="02020603050405020304" pitchFamily="18" charset="0"/>
                <a:cs typeface="Times New Roman" panose="02020603050405020304" pitchFamily="18" charset="0"/>
              </a:rPr>
              <a:t>安装</a:t>
            </a:r>
            <a:r>
              <a:rPr lang="en-US" altLang="zh-CN" sz="1800" kern="100" dirty="0">
                <a:effectLst/>
                <a:latin typeface="Times New Roman" panose="02020603050405020304" pitchFamily="18" charset="0"/>
                <a:cs typeface="Times New Roman" panose="02020603050405020304" pitchFamily="18" charset="0"/>
              </a:rPr>
              <a:t>OpenCV</a:t>
            </a:r>
            <a:endParaRPr lang="zh-CN" altLang="zh-CN" sz="1800" kern="100" dirty="0">
              <a:effectLst/>
              <a:latin typeface="Times New Roman" panose="02020603050405020304" pitchFamily="18" charset="0"/>
              <a:cs typeface="Times New Roman" panose="02020603050405020304" pitchFamily="18" charset="0"/>
            </a:endParaRPr>
          </a:p>
          <a:p>
            <a:endParaRPr lang="zh-CN" altLang="en-US" dirty="0"/>
          </a:p>
        </p:txBody>
      </p:sp>
      <p:sp>
        <p:nvSpPr>
          <p:cNvPr id="2" name="文本框 1"/>
          <p:cNvSpPr txBox="1"/>
          <p:nvPr/>
        </p:nvSpPr>
        <p:spPr>
          <a:xfrm>
            <a:off x="0" y="1304925"/>
            <a:ext cx="2820035" cy="460375"/>
          </a:xfrm>
          <a:prstGeom prst="rect">
            <a:avLst/>
          </a:prstGeom>
          <a:noFill/>
        </p:spPr>
        <p:txBody>
          <a:bodyPr wrap="square" rtlCol="0">
            <a:spAutoFit/>
          </a:bodyPr>
          <a:lstStyle/>
          <a:p>
            <a:r>
              <a:rPr lang="en-US" altLang="zh-CN" sz="2400" b="1" dirty="0"/>
              <a:t>2.3.1 OpenCV</a:t>
            </a:r>
            <a:r>
              <a:rPr lang="zh-CN" altLang="en-US" sz="2400" b="1" dirty="0"/>
              <a:t>简介</a:t>
            </a:r>
            <a:endParaRPr lang="zh-CN" altLang="en-US" sz="2400" b="1" dirty="0"/>
          </a:p>
        </p:txBody>
      </p:sp>
    </p:spTree>
  </p:cSld>
  <p:clrMapOvr>
    <a:masterClrMapping/>
  </p:clrMapOvr>
  <p:transition spd="slow" advClick="0" advTm="0">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269554"/>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30" name="文本框 29"/>
          <p:cNvSpPr txBox="1"/>
          <p:nvPr/>
        </p:nvSpPr>
        <p:spPr>
          <a:xfrm>
            <a:off x="14457" y="1363280"/>
            <a:ext cx="9145588" cy="2308324"/>
          </a:xfrm>
          <a:prstGeom prst="rect">
            <a:avLst/>
          </a:prstGeom>
          <a:noFill/>
        </p:spPr>
        <p:txBody>
          <a:bodyPr wrap="square">
            <a:spAutoFit/>
          </a:bodyPr>
          <a:lstStyle/>
          <a:p>
            <a:pPr marL="342900" indent="-342900" algn="just">
              <a:buFont typeface="Wingdings" panose="05000000000000000000" pitchFamily="2" charset="2"/>
              <a:buChar char="p"/>
            </a:pPr>
            <a:r>
              <a:rPr lang="zh-CN" altLang="zh-CN" sz="2400" kern="100" dirty="0">
                <a:latin typeface="Times New Roman" panose="02020603050405020304" pitchFamily="18" charset="0"/>
                <a:ea typeface="宋体" pitchFamily="2" charset="-122"/>
              </a:rPr>
              <a:t>安装完成后输入</a:t>
            </a:r>
            <a:r>
              <a:rPr lang="en-US" altLang="zh-CN" sz="2400" kern="100" dirty="0">
                <a:solidFill>
                  <a:schemeClr val="accent1">
                    <a:lumMod val="75000"/>
                  </a:schemeClr>
                </a:solidFill>
                <a:latin typeface="Times New Roman" panose="02020603050405020304" pitchFamily="18" charset="0"/>
                <a:ea typeface="宋体" pitchFamily="2" charset="-122"/>
              </a:rPr>
              <a:t>python</a:t>
            </a:r>
            <a:r>
              <a:rPr lang="zh-CN" altLang="zh-CN" sz="2400" kern="100" dirty="0">
                <a:solidFill>
                  <a:schemeClr val="accent1">
                    <a:lumMod val="75000"/>
                  </a:schemeClr>
                </a:solidFill>
                <a:latin typeface="Times New Roman" panose="02020603050405020304" pitchFamily="18" charset="0"/>
                <a:ea typeface="宋体" pitchFamily="2" charset="-122"/>
              </a:rPr>
              <a:t>→</a:t>
            </a:r>
            <a:r>
              <a:rPr lang="en-US" altLang="zh-CN" sz="2400" kern="100" dirty="0">
                <a:solidFill>
                  <a:schemeClr val="accent1">
                    <a:lumMod val="75000"/>
                  </a:schemeClr>
                </a:solidFill>
                <a:latin typeface="Times New Roman" panose="02020603050405020304" pitchFamily="18" charset="0"/>
                <a:ea typeface="宋体" pitchFamily="2" charset="-122"/>
              </a:rPr>
              <a:t>import cv2</a:t>
            </a:r>
            <a:r>
              <a:rPr lang="zh-CN" altLang="zh-CN" sz="2400" kern="100" dirty="0">
                <a:latin typeface="Times New Roman" panose="02020603050405020304" pitchFamily="18" charset="0"/>
                <a:ea typeface="宋体" pitchFamily="2" charset="-122"/>
              </a:rPr>
              <a:t>，出现</a:t>
            </a:r>
            <a:r>
              <a:rPr lang="en-US" altLang="zh-CN" sz="2400" kern="100" dirty="0">
                <a:latin typeface="Times New Roman" panose="02020603050405020304" pitchFamily="18" charset="0"/>
                <a:ea typeface="宋体" pitchFamily="2" charset="-122"/>
              </a:rPr>
              <a:t>&gt;&gt;&gt;</a:t>
            </a:r>
            <a:r>
              <a:rPr lang="zh-CN" altLang="zh-CN" sz="2400" kern="100" dirty="0">
                <a:latin typeface="Times New Roman" panose="02020603050405020304" pitchFamily="18" charset="0"/>
                <a:ea typeface="宋体" pitchFamily="2" charset="-122"/>
              </a:rPr>
              <a:t>符号代表安装并导入成功，如图</a:t>
            </a:r>
            <a:r>
              <a:rPr lang="en-US" altLang="zh-CN" sz="2400" kern="100" dirty="0">
                <a:latin typeface="Times New Roman" panose="02020603050405020304" pitchFamily="18" charset="0"/>
                <a:ea typeface="宋体" pitchFamily="2" charset="-122"/>
              </a:rPr>
              <a:t>2.20</a:t>
            </a:r>
            <a:r>
              <a:rPr lang="zh-CN" altLang="zh-CN" sz="2400" kern="100" dirty="0">
                <a:latin typeface="Times New Roman" panose="02020603050405020304" pitchFamily="18" charset="0"/>
                <a:ea typeface="宋体" pitchFamily="2" charset="-122"/>
              </a:rPr>
              <a:t>所示</a:t>
            </a:r>
            <a:r>
              <a:rPr lang="zh-CN" altLang="en-US" sz="2400" kern="100" dirty="0">
                <a:latin typeface="Times New Roman" panose="02020603050405020304" pitchFamily="18" charset="0"/>
                <a:ea typeface="宋体" pitchFamily="2" charset="-122"/>
              </a:rPr>
              <a:t>。</a:t>
            </a:r>
            <a:endParaRPr lang="en-US" altLang="zh-CN" sz="2400" kern="100" dirty="0">
              <a:latin typeface="Times New Roman" panose="02020603050405020304" pitchFamily="18" charset="0"/>
              <a:ea typeface="宋体" pitchFamily="2" charset="-122"/>
            </a:endParaRPr>
          </a:p>
          <a:p>
            <a:pPr indent="266700" algn="just"/>
            <a:endParaRPr lang="zh-CN" altLang="zh-CN" sz="2400" kern="100" dirty="0">
              <a:latin typeface="Times New Roman" panose="02020603050405020304" pitchFamily="18" charset="0"/>
              <a:ea typeface="宋体" pitchFamily="2" charset="-122"/>
            </a:endParaRPr>
          </a:p>
          <a:p>
            <a:pPr indent="266700" algn="just" latinLnBrk="1"/>
            <a:endParaRPr lang="en-US" altLang="zh-CN" sz="2400" kern="100" dirty="0">
              <a:latin typeface="Times New Roman" panose="02020603050405020304" pitchFamily="18" charset="0"/>
              <a:ea typeface="宋体" pitchFamily="2" charset="-122"/>
            </a:endParaRPr>
          </a:p>
          <a:p>
            <a:pPr indent="266700" algn="just" latinLnBrk="1"/>
            <a:endParaRPr lang="zh-CN" altLang="zh-CN" sz="2400" kern="100" dirty="0">
              <a:latin typeface="Times New Roman" panose="02020603050405020304" pitchFamily="18" charset="0"/>
              <a:ea typeface="宋体" pitchFamily="2" charset="-122"/>
            </a:endParaRPr>
          </a:p>
          <a:p>
            <a:pPr indent="266700" algn="just"/>
            <a:endParaRPr lang="zh-CN" altLang="zh-CN" sz="2400" kern="100" dirty="0">
              <a:effectLst/>
              <a:latin typeface="Times New Roman" panose="02020603050405020304" pitchFamily="18" charset="0"/>
              <a:ea typeface="宋体" pitchFamily="2" charset="-122"/>
            </a:endParaRPr>
          </a:p>
        </p:txBody>
      </p:sp>
      <p:sp>
        <p:nvSpPr>
          <p:cNvPr id="8" name="文本框 7"/>
          <p:cNvSpPr txBox="1"/>
          <p:nvPr/>
        </p:nvSpPr>
        <p:spPr>
          <a:xfrm>
            <a:off x="3204642" y="4437906"/>
            <a:ext cx="3168352" cy="692497"/>
          </a:xfrm>
          <a:prstGeom prst="rect">
            <a:avLst/>
          </a:prstGeom>
          <a:noFill/>
        </p:spPr>
        <p:txBody>
          <a:bodyPr wrap="square" rtlCol="0">
            <a:spAutoFit/>
          </a:bodyPr>
          <a:lstStyle/>
          <a:p>
            <a:r>
              <a:rPr lang="zh-CN" altLang="en-US" sz="1800" kern="100" dirty="0">
                <a:latin typeface="Times New Roman" panose="02020603050405020304" pitchFamily="18" charset="0"/>
                <a:cs typeface="Times New Roman" panose="02020603050405020304" pitchFamily="18" charset="0"/>
              </a:rPr>
              <a:t>图</a:t>
            </a:r>
            <a:r>
              <a:rPr lang="en-US" altLang="zh-CN" sz="1800" kern="100" dirty="0">
                <a:latin typeface="Times New Roman" panose="02020603050405020304" pitchFamily="18" charset="0"/>
                <a:cs typeface="Times New Roman" panose="02020603050405020304" pitchFamily="18" charset="0"/>
              </a:rPr>
              <a:t>2.20 </a:t>
            </a:r>
            <a:r>
              <a:rPr lang="zh-CN" altLang="en-US" sz="1800" kern="100" dirty="0">
                <a:latin typeface="Times New Roman" panose="02020603050405020304" pitchFamily="18" charset="0"/>
                <a:cs typeface="Times New Roman" panose="02020603050405020304" pitchFamily="18" charset="0"/>
              </a:rPr>
              <a:t>导入</a:t>
            </a:r>
            <a:r>
              <a:rPr lang="en-US" altLang="zh-CN" sz="1800" kern="100" dirty="0">
                <a:latin typeface="Times New Roman" panose="02020603050405020304" pitchFamily="18" charset="0"/>
                <a:cs typeface="Times New Roman" panose="02020603050405020304" pitchFamily="18" charset="0"/>
              </a:rPr>
              <a:t>OpenCV</a:t>
            </a:r>
            <a:endParaRPr lang="zh-CN" altLang="zh-CN" sz="1800" kern="100" dirty="0">
              <a:latin typeface="Times New Roman" panose="02020603050405020304" pitchFamily="18" charset="0"/>
              <a:cs typeface="Times New Roman" panose="02020603050405020304" pitchFamily="18" charset="0"/>
            </a:endParaRPr>
          </a:p>
          <a:p>
            <a:endParaRPr lang="zh-CN" altLang="en-US" dirty="0"/>
          </a:p>
        </p:txBody>
      </p:sp>
      <p:pic>
        <p:nvPicPr>
          <p:cNvPr id="3" name="图片 2"/>
          <p:cNvPicPr>
            <a:picLocks noChangeAspect="1"/>
          </p:cNvPicPr>
          <p:nvPr/>
        </p:nvPicPr>
        <p:blipFill>
          <a:blip r:embed="rId1"/>
          <a:stretch>
            <a:fillRect/>
          </a:stretch>
        </p:blipFill>
        <p:spPr>
          <a:xfrm>
            <a:off x="142957" y="2511576"/>
            <a:ext cx="8572500" cy="1819275"/>
          </a:xfrm>
          <a:prstGeom prst="rect">
            <a:avLst/>
          </a:prstGeom>
        </p:spPr>
      </p:pic>
    </p:spTree>
  </p:cSld>
  <p:clrMapOvr>
    <a:masterClrMapping/>
  </p:clrMapOvr>
  <p:transition spd="slow" advClick="0" advTm="0">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269554"/>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30" name="文本框 29"/>
          <p:cNvSpPr txBox="1"/>
          <p:nvPr/>
        </p:nvSpPr>
        <p:spPr>
          <a:xfrm>
            <a:off x="-125081" y="2025650"/>
            <a:ext cx="9145588" cy="1938992"/>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cs typeface="Times New Roman" panose="02020603050405020304" pitchFamily="18" charset="0"/>
              </a:rPr>
              <a:t>在</a:t>
            </a:r>
            <a:r>
              <a:rPr lang="en-US" altLang="zh-CN" sz="2400" kern="100" dirty="0">
                <a:effectLst/>
                <a:latin typeface="Times New Roman" panose="02020603050405020304" pitchFamily="18" charset="0"/>
                <a:ea typeface="宋体" pitchFamily="2" charset="-122"/>
              </a:rPr>
              <a:t>OpenCV</a:t>
            </a:r>
            <a:r>
              <a:rPr lang="zh-CN" altLang="zh-CN" sz="2400" kern="100" dirty="0">
                <a:effectLst/>
                <a:latin typeface="Times New Roman" panose="02020603050405020304" pitchFamily="18" charset="0"/>
                <a:ea typeface="宋体" pitchFamily="2" charset="-122"/>
                <a:cs typeface="Times New Roman" panose="02020603050405020304" pitchFamily="18" charset="0"/>
              </a:rPr>
              <a:t>中对图像文件进行读取、显示、保存是最基本的操作</a:t>
            </a:r>
            <a:r>
              <a:rPr lang="zh-CN" altLang="en-US" sz="2400" kern="100" dirty="0">
                <a:latin typeface="Times New Roman" panose="02020603050405020304" pitchFamily="18" charset="0"/>
                <a:ea typeface="宋体" pitchFamily="2" charset="-122"/>
              </a:rPr>
              <a:t>。</a:t>
            </a:r>
            <a:endParaRPr lang="en-US" altLang="zh-CN" sz="2400" kern="100" dirty="0">
              <a:latin typeface="Times New Roman" panose="02020603050405020304" pitchFamily="18" charset="0"/>
              <a:ea typeface="宋体" pitchFamily="2" charset="-122"/>
            </a:endParaRPr>
          </a:p>
          <a:p>
            <a:pPr indent="266700" algn="just"/>
            <a:endParaRPr lang="zh-CN" altLang="zh-CN" sz="2400" kern="100" dirty="0">
              <a:latin typeface="Times New Roman" panose="02020603050405020304" pitchFamily="18" charset="0"/>
              <a:ea typeface="宋体" pitchFamily="2" charset="-122"/>
            </a:endParaRPr>
          </a:p>
          <a:p>
            <a:pPr indent="266700" algn="just" latinLnBrk="1"/>
            <a:endParaRPr lang="en-US" altLang="zh-CN" sz="2400" kern="100" dirty="0">
              <a:latin typeface="Times New Roman" panose="02020603050405020304" pitchFamily="18" charset="0"/>
              <a:ea typeface="宋体" pitchFamily="2" charset="-122"/>
            </a:endParaRPr>
          </a:p>
          <a:p>
            <a:pPr indent="266700" algn="just" latinLnBrk="1"/>
            <a:endParaRPr lang="zh-CN" altLang="zh-CN" sz="2400" kern="100" dirty="0">
              <a:latin typeface="Times New Roman" panose="02020603050405020304" pitchFamily="18" charset="0"/>
              <a:ea typeface="宋体" pitchFamily="2" charset="-122"/>
            </a:endParaRPr>
          </a:p>
          <a:p>
            <a:pPr indent="266700" algn="just"/>
            <a:endParaRPr lang="zh-CN" altLang="zh-CN" sz="2400" kern="100" dirty="0">
              <a:effectLst/>
              <a:latin typeface="Times New Roman" panose="02020603050405020304" pitchFamily="18" charset="0"/>
              <a:ea typeface="宋体" pitchFamily="2" charset="-122"/>
            </a:endParaRPr>
          </a:p>
        </p:txBody>
      </p:sp>
      <p:sp>
        <p:nvSpPr>
          <p:cNvPr id="10" name="文本框 9"/>
          <p:cNvSpPr txBox="1"/>
          <p:nvPr/>
        </p:nvSpPr>
        <p:spPr>
          <a:xfrm>
            <a:off x="726475" y="2463595"/>
            <a:ext cx="8136904" cy="1938992"/>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solidFill>
                  <a:srgbClr val="000000"/>
                </a:solidFill>
                <a:effectLst/>
                <a:latin typeface="Times New Roman" panose="02020603050405020304" pitchFamily="18" charset="0"/>
                <a:ea typeface="宋体" pitchFamily="2" charset="-122"/>
              </a:rPr>
              <a:t>例子</a:t>
            </a:r>
            <a:r>
              <a:rPr lang="en-US" altLang="zh-CN" sz="2400" kern="100" dirty="0">
                <a:solidFill>
                  <a:srgbClr val="000000"/>
                </a:solidFill>
                <a:effectLst/>
                <a:latin typeface="Times New Roman" panose="02020603050405020304" pitchFamily="18" charset="0"/>
                <a:ea typeface="宋体" pitchFamily="2" charset="-122"/>
              </a:rPr>
              <a:t>30 </a:t>
            </a:r>
            <a:r>
              <a:rPr lang="zh-CN" altLang="en-US" sz="2400" kern="100" dirty="0">
                <a:solidFill>
                  <a:srgbClr val="000000"/>
                </a:solidFill>
                <a:effectLst/>
                <a:latin typeface="Times New Roman" panose="02020603050405020304" pitchFamily="18" charset="0"/>
                <a:ea typeface="宋体" pitchFamily="2" charset="-122"/>
              </a:rPr>
              <a:t> 图像文件基本操作</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import cv2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err="1">
                <a:solidFill>
                  <a:srgbClr val="000000"/>
                </a:solidFill>
                <a:effectLst/>
                <a:latin typeface="Times New Roman" panose="02020603050405020304" pitchFamily="18" charset="0"/>
                <a:ea typeface="宋体" pitchFamily="2" charset="-122"/>
              </a:rPr>
              <a:t>img</a:t>
            </a:r>
            <a:r>
              <a:rPr lang="en-US" altLang="zh-CN" sz="2400" kern="100" dirty="0">
                <a:solidFill>
                  <a:srgbClr val="000000"/>
                </a:solidFill>
                <a:effectLst/>
                <a:latin typeface="Times New Roman" panose="02020603050405020304" pitchFamily="18" charset="0"/>
                <a:ea typeface="宋体" pitchFamily="2" charset="-122"/>
              </a:rPr>
              <a:t> = cv2.imread(</a:t>
            </a:r>
            <a:r>
              <a:rPr lang="en-US" altLang="zh-CN" sz="2400" kern="100" dirty="0" err="1">
                <a:solidFill>
                  <a:srgbClr val="000000"/>
                </a:solidFill>
                <a:effectLst/>
                <a:latin typeface="Times New Roman" panose="02020603050405020304" pitchFamily="18" charset="0"/>
                <a:ea typeface="宋体" pitchFamily="2" charset="-122"/>
              </a:rPr>
              <a:t>r'C</a:t>
            </a:r>
            <a:r>
              <a:rPr lang="en-US" altLang="zh-CN" sz="2400" kern="100" dirty="0">
                <a:solidFill>
                  <a:srgbClr val="000000"/>
                </a:solidFill>
                <a:effectLst/>
                <a:latin typeface="Times New Roman" panose="02020603050405020304" pitchFamily="18" charset="0"/>
                <a:ea typeface="宋体" pitchFamily="2" charset="-122"/>
              </a:rPr>
              <a:t>:\Users\11041\Desktop\SATOMI.png',1)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cv2.imshow('SATOMI',</a:t>
            </a:r>
            <a:r>
              <a:rPr lang="en-US" altLang="zh-CN" sz="2400" kern="100" dirty="0" err="1">
                <a:solidFill>
                  <a:srgbClr val="000000"/>
                </a:solidFill>
                <a:effectLst/>
                <a:latin typeface="Times New Roman" panose="02020603050405020304" pitchFamily="18" charset="0"/>
                <a:ea typeface="宋体" pitchFamily="2" charset="-122"/>
              </a:rPr>
              <a:t>img</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cv2.waitKey(0)  </a:t>
            </a:r>
            <a:endParaRPr lang="zh-CN" altLang="zh-CN" sz="2400" kern="100" dirty="0">
              <a:effectLst/>
              <a:latin typeface="Times New Roman" panose="02020603050405020304" pitchFamily="18" charset="0"/>
              <a:ea typeface="宋体" pitchFamily="2" charset="-122"/>
            </a:endParaRPr>
          </a:p>
        </p:txBody>
      </p:sp>
      <p:sp>
        <p:nvSpPr>
          <p:cNvPr id="12" name="文本框 11"/>
          <p:cNvSpPr txBox="1"/>
          <p:nvPr/>
        </p:nvSpPr>
        <p:spPr>
          <a:xfrm>
            <a:off x="142957" y="4402587"/>
            <a:ext cx="8823498" cy="1200329"/>
          </a:xfrm>
          <a:prstGeom prst="rect">
            <a:avLst/>
          </a:prstGeom>
          <a:noFill/>
        </p:spPr>
        <p:txBody>
          <a:bodyPr wrap="square">
            <a:spAutoFit/>
          </a:bodyPr>
          <a:lstStyle/>
          <a:p>
            <a:pPr marL="342900" indent="-342900" algn="just">
              <a:buFont typeface="Wingdings" panose="05000000000000000000" pitchFamily="2" charset="2"/>
              <a:buChar char="p"/>
            </a:pPr>
            <a:r>
              <a:rPr lang="en-US" altLang="zh-CN" sz="2400" kern="100" dirty="0" err="1">
                <a:solidFill>
                  <a:srgbClr val="FF0000"/>
                </a:solidFill>
                <a:effectLst/>
                <a:latin typeface="Times New Roman" panose="02020603050405020304" pitchFamily="18" charset="0"/>
                <a:ea typeface="宋体" pitchFamily="2" charset="-122"/>
              </a:rPr>
              <a:t>imread</a:t>
            </a:r>
            <a:r>
              <a:rPr lang="en-US" altLang="zh-CN" sz="2400" kern="100" dirty="0">
                <a:solidFill>
                  <a:srgbClr val="FF0000"/>
                </a:solidFill>
                <a:effectLst/>
                <a:latin typeface="Times New Roman" panose="02020603050405020304" pitchFamily="18" charset="0"/>
                <a:ea typeface="宋体" pitchFamily="2" charset="-122"/>
              </a:rPr>
              <a:t>( )</a:t>
            </a:r>
            <a:r>
              <a:rPr lang="zh-CN" altLang="zh-CN" sz="2400" kern="100" dirty="0">
                <a:solidFill>
                  <a:srgbClr val="FF0000"/>
                </a:solidFill>
                <a:effectLst/>
                <a:latin typeface="Times New Roman" panose="02020603050405020304" pitchFamily="18" charset="0"/>
                <a:ea typeface="宋体" pitchFamily="2" charset="-122"/>
              </a:rPr>
              <a:t>函数用来读取图像</a:t>
            </a:r>
            <a:r>
              <a:rPr lang="zh-CN" altLang="zh-CN" sz="2400" kern="100" dirty="0">
                <a:effectLst/>
                <a:latin typeface="Times New Roman" panose="02020603050405020304" pitchFamily="18" charset="0"/>
                <a:ea typeface="宋体" pitchFamily="2" charset="-122"/>
              </a:rPr>
              <a:t>，它接受</a:t>
            </a:r>
            <a:r>
              <a:rPr lang="en-US" altLang="zh-CN" sz="2400" kern="100" dirty="0">
                <a:effectLst/>
                <a:latin typeface="Times New Roman" panose="02020603050405020304" pitchFamily="18" charset="0"/>
                <a:ea typeface="宋体" pitchFamily="2" charset="-122"/>
              </a:rPr>
              <a:t>2</a:t>
            </a:r>
            <a:r>
              <a:rPr lang="zh-CN" altLang="zh-CN" sz="2400" kern="100" dirty="0">
                <a:effectLst/>
                <a:latin typeface="Times New Roman" panose="02020603050405020304" pitchFamily="18" charset="0"/>
                <a:ea typeface="宋体" pitchFamily="2" charset="-122"/>
              </a:rPr>
              <a:t>个实参，第一个为图像文件所在的路径，第二个为读取类型</a:t>
            </a:r>
            <a:r>
              <a:rPr lang="en-US" altLang="zh-CN" sz="2400" kern="100" dirty="0">
                <a:effectLst/>
                <a:latin typeface="Times New Roman" panose="02020603050405020304" pitchFamily="18" charset="0"/>
                <a:ea typeface="宋体" pitchFamily="2" charset="-122"/>
              </a:rPr>
              <a:t>flags</a:t>
            </a:r>
            <a:r>
              <a:rPr lang="zh-CN" altLang="zh-CN" sz="2400" kern="100" dirty="0">
                <a:effectLst/>
                <a:latin typeface="Times New Roman" panose="02020603050405020304" pitchFamily="18" charset="0"/>
                <a:ea typeface="宋体" pitchFamily="2" charset="-122"/>
              </a:rPr>
              <a:t>，默认为</a:t>
            </a:r>
            <a:r>
              <a:rPr lang="en-US" altLang="zh-CN" sz="2400" kern="100" dirty="0">
                <a:effectLst/>
                <a:latin typeface="Times New Roman" panose="02020603050405020304" pitchFamily="18" charset="0"/>
                <a:ea typeface="宋体" pitchFamily="2" charset="-122"/>
              </a:rPr>
              <a:t>1</a:t>
            </a:r>
            <a:r>
              <a:rPr lang="zh-CN" altLang="en-US"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rPr>
              <a:t>具体见表</a:t>
            </a:r>
            <a:r>
              <a:rPr lang="en-US" altLang="zh-CN" sz="2400" kern="100" dirty="0">
                <a:effectLst/>
                <a:latin typeface="Times New Roman" panose="02020603050405020304" pitchFamily="18" charset="0"/>
                <a:ea typeface="宋体" pitchFamily="2" charset="-122"/>
              </a:rPr>
              <a:t>2.1</a:t>
            </a:r>
            <a:r>
              <a:rPr lang="zh-CN" altLang="zh-CN" sz="2400" kern="100" dirty="0">
                <a:effectLst/>
                <a:latin typeface="Times New Roman" panose="02020603050405020304" pitchFamily="18" charset="0"/>
                <a:ea typeface="宋体" pitchFamily="2" charset="-122"/>
              </a:rPr>
              <a:t>。</a:t>
            </a:r>
            <a:endParaRPr lang="zh-CN" altLang="zh-CN" sz="2400" kern="100" dirty="0">
              <a:effectLst/>
              <a:latin typeface="Times New Roman" panose="02020603050405020304" pitchFamily="18" charset="0"/>
              <a:ea typeface="宋体" pitchFamily="2" charset="-122"/>
            </a:endParaRPr>
          </a:p>
        </p:txBody>
      </p:sp>
      <p:sp>
        <p:nvSpPr>
          <p:cNvPr id="2" name="文本框 1"/>
          <p:cNvSpPr txBox="1"/>
          <p:nvPr/>
        </p:nvSpPr>
        <p:spPr>
          <a:xfrm>
            <a:off x="35964" y="1416770"/>
            <a:ext cx="3456710" cy="461665"/>
          </a:xfrm>
          <a:prstGeom prst="rect">
            <a:avLst/>
          </a:prstGeom>
          <a:noFill/>
        </p:spPr>
        <p:txBody>
          <a:bodyPr wrap="square" rtlCol="0">
            <a:spAutoFit/>
          </a:bodyPr>
          <a:lstStyle/>
          <a:p>
            <a:r>
              <a:rPr lang="en-US" altLang="zh-CN" sz="2400" b="1" dirty="0"/>
              <a:t>2.3.3 </a:t>
            </a:r>
            <a:r>
              <a:rPr lang="zh-CN" altLang="en-US" sz="2400" b="1" dirty="0"/>
              <a:t>图像文件基本操作</a:t>
            </a:r>
            <a:endParaRPr lang="zh-CN" altLang="en-US" sz="2400" b="1" dirty="0"/>
          </a:p>
        </p:txBody>
      </p:sp>
    </p:spTree>
  </p:cSld>
  <p:clrMapOvr>
    <a:masterClrMapping/>
  </p:clrMapOvr>
  <p:transition spd="slow" advClick="0" advTm="0">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269554"/>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3" name="Rectangle 1"/>
          <p:cNvSpPr>
            <a:spLocks noChangeArrowheads="1"/>
          </p:cNvSpPr>
          <p:nvPr/>
        </p:nvSpPr>
        <p:spPr bwMode="auto">
          <a:xfrm>
            <a:off x="3161991" y="1629594"/>
            <a:ext cx="282160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0" marR="0" lvl="0" indent="266700" algn="ctr" defTabSz="914400" rtl="0" eaLnBrk="0" fontAlgn="base" latinLnBrk="0" hangingPunct="0">
              <a:lnSpc>
                <a:spcPct val="100000"/>
              </a:lnSpc>
              <a:spcBef>
                <a:spcPct val="0"/>
              </a:spcBef>
              <a:spcAft>
                <a:spcPct val="0"/>
              </a:spcAft>
              <a:buClrTx/>
              <a:buSzTx/>
              <a:buFontTx/>
              <a:buNone/>
            </a:pPr>
            <a:r>
              <a:rPr kumimoji="0" lang="zh-CN" altLang="zh-CN" sz="2400" b="0" i="0" u="none" strike="noStrike" cap="none" normalizeH="0" baseline="0" dirty="0">
                <a:ln>
                  <a:noFill/>
                </a:ln>
                <a:solidFill>
                  <a:schemeClr val="tx1"/>
                </a:solidFill>
                <a:effectLst/>
                <a:latin typeface="宋体" pitchFamily="2" charset="-122"/>
                <a:ea typeface="黑体" panose="02010609060101010101" pitchFamily="49" charset="-122"/>
                <a:cs typeface="Times New Roman" panose="02020603050405020304" pitchFamily="18" charset="0"/>
              </a:rPr>
              <a:t>表</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2.1  flags</a:t>
            </a:r>
            <a:r>
              <a:rPr kumimoji="0" lang="zh-CN" altLang="en-US" sz="2400" b="0" i="0" u="none" strike="noStrike" cap="none" normalizeH="0" baseline="0" dirty="0">
                <a:ln>
                  <a:noFill/>
                </a:ln>
                <a:solidFill>
                  <a:schemeClr val="tx1"/>
                </a:solidFill>
                <a:effectLst/>
                <a:latin typeface="宋体" pitchFamily="2" charset="-122"/>
                <a:ea typeface="黑体" panose="02010609060101010101" pitchFamily="49" charset="-122"/>
                <a:cs typeface="Times New Roman" panose="02020603050405020304" pitchFamily="18" charset="0"/>
              </a:rPr>
              <a:t>标记值</a:t>
            </a:r>
            <a:endParaRPr kumimoji="0" lang="zh-CN" altLang="en-US" sz="2400" b="0" i="0" u="none" strike="noStrike" cap="none" normalizeH="0" baseline="0" dirty="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Arial" panose="020B0604020202090204" pitchFamily="34" charset="0"/>
            </a:endParaRPr>
          </a:p>
        </p:txBody>
      </p:sp>
      <p:graphicFrame>
        <p:nvGraphicFramePr>
          <p:cNvPr id="5" name="表格 5"/>
          <p:cNvGraphicFramePr>
            <a:graphicFrameLocks noGrp="1"/>
          </p:cNvGraphicFramePr>
          <p:nvPr/>
        </p:nvGraphicFramePr>
        <p:xfrm>
          <a:off x="1281410" y="2193098"/>
          <a:ext cx="6747768" cy="3088990"/>
        </p:xfrm>
        <a:graphic>
          <a:graphicData uri="http://schemas.openxmlformats.org/drawingml/2006/table">
            <a:tbl>
              <a:tblPr firstRow="1" bandRow="1">
                <a:tableStyleId>{21E4AEA4-8DFA-4A89-87EB-49C32662AFE0}</a:tableStyleId>
              </a:tblPr>
              <a:tblGrid>
                <a:gridCol w="2355280"/>
                <a:gridCol w="3299263"/>
                <a:gridCol w="1093225"/>
              </a:tblGrid>
              <a:tr h="316313">
                <a:tc>
                  <a:txBody>
                    <a:bodyPr/>
                    <a:lstStyle/>
                    <a:p>
                      <a:pPr algn="ctr"/>
                      <a:r>
                        <a:rPr lang="zh-CN" altLang="en-US" sz="1575" b="1" kern="1200" dirty="0">
                          <a:solidFill>
                            <a:schemeClr val="tx1"/>
                          </a:solidFill>
                          <a:latin typeface="+mn-lt"/>
                          <a:ea typeface="+mn-ea"/>
                          <a:cs typeface="+mn-cs"/>
                        </a:rPr>
                        <a:t>值</a:t>
                      </a:r>
                      <a:endParaRPr lang="zh-CN" altLang="en-US" sz="1575" b="1" kern="1200" dirty="0">
                        <a:solidFill>
                          <a:schemeClr val="tx1"/>
                        </a:solidFill>
                        <a:latin typeface="+mn-lt"/>
                        <a:ea typeface="+mn-ea"/>
                        <a:cs typeface="+mn-cs"/>
                      </a:endParaRPr>
                    </a:p>
                  </a:txBody>
                  <a:tcPr/>
                </a:tc>
                <a:tc>
                  <a:txBody>
                    <a:bodyPr/>
                    <a:lstStyle/>
                    <a:p>
                      <a:pPr algn="ctr"/>
                      <a:r>
                        <a:rPr lang="zh-CN" altLang="en-US" dirty="0">
                          <a:solidFill>
                            <a:schemeClr val="tx1"/>
                          </a:solidFill>
                        </a:rPr>
                        <a:t>含义</a:t>
                      </a:r>
                      <a:endParaRPr lang="zh-CN" altLang="en-US" dirty="0">
                        <a:solidFill>
                          <a:schemeClr val="tx1"/>
                        </a:solidFill>
                      </a:endParaRPr>
                    </a:p>
                  </a:txBody>
                  <a:tcPr/>
                </a:tc>
                <a:tc>
                  <a:txBody>
                    <a:bodyPr/>
                    <a:lstStyle/>
                    <a:p>
                      <a:pPr marL="0" algn="ctr" defTabSz="816610" rtl="0" eaLnBrk="1" latinLnBrk="0" hangingPunct="1"/>
                      <a:r>
                        <a:rPr lang="zh-CN" altLang="en-US" sz="1575" b="1" kern="1200" dirty="0">
                          <a:solidFill>
                            <a:schemeClr val="tx1"/>
                          </a:solidFill>
                          <a:latin typeface="+mn-lt"/>
                          <a:ea typeface="+mn-ea"/>
                          <a:cs typeface="+mn-cs"/>
                        </a:rPr>
                        <a:t>数值</a:t>
                      </a:r>
                      <a:endParaRPr lang="zh-CN" altLang="en-US" sz="1575" b="1" kern="1200" dirty="0">
                        <a:solidFill>
                          <a:schemeClr val="tx1"/>
                        </a:solidFill>
                        <a:latin typeface="+mn-lt"/>
                        <a:ea typeface="+mn-ea"/>
                        <a:cs typeface="+mn-cs"/>
                      </a:endParaRPr>
                    </a:p>
                  </a:txBody>
                  <a:tcPr/>
                </a:tc>
              </a:tr>
              <a:tr h="545367">
                <a:tc>
                  <a:txBody>
                    <a:bodyPr/>
                    <a:lstStyle/>
                    <a:p>
                      <a:r>
                        <a:rPr lang="en-US" altLang="zh-CN" sz="1575" kern="1200" dirty="0">
                          <a:solidFill>
                            <a:schemeClr val="dk1"/>
                          </a:solidFill>
                          <a:effectLst/>
                          <a:latin typeface="+mn-lt"/>
                          <a:ea typeface="+mn-ea"/>
                          <a:cs typeface="+mn-cs"/>
                        </a:rPr>
                        <a:t>cv2.IMREAD_UNCHARGRD</a:t>
                      </a:r>
                      <a:endParaRPr lang="zh-CN" altLang="en-US" dirty="0"/>
                    </a:p>
                  </a:txBody>
                  <a:tcPr/>
                </a:tc>
                <a:tc>
                  <a:txBody>
                    <a:bodyPr/>
                    <a:lstStyle/>
                    <a:p>
                      <a:pPr algn="ctr"/>
                      <a:r>
                        <a:rPr lang="zh-CN" altLang="zh-CN" sz="1575" kern="1200" dirty="0">
                          <a:solidFill>
                            <a:schemeClr val="dk1"/>
                          </a:solidFill>
                          <a:effectLst/>
                          <a:latin typeface="+mn-lt"/>
                          <a:ea typeface="+mn-ea"/>
                          <a:cs typeface="+mn-cs"/>
                        </a:rPr>
                        <a:t>保持原格式不变</a:t>
                      </a:r>
                      <a:r>
                        <a:rPr lang="zh-CN" altLang="en-US" sz="1575" kern="1200" dirty="0">
                          <a:solidFill>
                            <a:schemeClr val="dk1"/>
                          </a:solidFill>
                          <a:effectLst/>
                          <a:latin typeface="+mn-lt"/>
                          <a:ea typeface="+mn-ea"/>
                          <a:cs typeface="+mn-cs"/>
                        </a:rPr>
                        <a:t>。</a:t>
                      </a:r>
                      <a:endParaRPr lang="zh-CN" altLang="en-US" dirty="0"/>
                    </a:p>
                  </a:txBody>
                  <a:tcPr/>
                </a:tc>
                <a:tc>
                  <a:txBody>
                    <a:bodyPr/>
                    <a:lstStyle/>
                    <a:p>
                      <a:pPr algn="ctr"/>
                      <a:r>
                        <a:rPr lang="en-US" altLang="zh-CN" sz="1575" kern="1200" dirty="0">
                          <a:solidFill>
                            <a:schemeClr val="dk1"/>
                          </a:solidFill>
                          <a:effectLst/>
                          <a:latin typeface="+mn-lt"/>
                          <a:ea typeface="+mn-ea"/>
                          <a:cs typeface="+mn-cs"/>
                        </a:rPr>
                        <a:t>-1</a:t>
                      </a:r>
                      <a:endParaRPr lang="zh-CN" altLang="en-US" dirty="0"/>
                    </a:p>
                  </a:txBody>
                  <a:tcPr/>
                </a:tc>
              </a:tr>
              <a:tr h="375196">
                <a:tc>
                  <a:txBody>
                    <a:bodyPr/>
                    <a:lstStyle/>
                    <a:p>
                      <a:r>
                        <a:rPr lang="en-US" altLang="zh-CN" sz="1575" kern="1200" dirty="0">
                          <a:solidFill>
                            <a:schemeClr val="dk1"/>
                          </a:solidFill>
                          <a:effectLst/>
                          <a:latin typeface="+mn-lt"/>
                          <a:ea typeface="+mn-ea"/>
                          <a:cs typeface="+mn-cs"/>
                        </a:rPr>
                        <a:t>cv2.IMREAD_GRAYSCALE</a:t>
                      </a:r>
                      <a:endParaRPr lang="zh-CN" altLang="en-US" dirty="0"/>
                    </a:p>
                  </a:txBody>
                  <a:tcPr/>
                </a:tc>
                <a:tc>
                  <a:txBody>
                    <a:bodyPr/>
                    <a:lstStyle/>
                    <a:p>
                      <a:pPr indent="266700" algn="ctr"/>
                      <a:r>
                        <a:rPr lang="zh-CN" altLang="en-US" sz="1575" kern="1200" dirty="0">
                          <a:solidFill>
                            <a:schemeClr val="dk1"/>
                          </a:solidFill>
                          <a:effectLst/>
                          <a:latin typeface="+mn-lt"/>
                          <a:ea typeface="+mn-ea"/>
                          <a:cs typeface="+mn-cs"/>
                        </a:rPr>
                        <a:t>将图像调整为单通道的灰度图像。</a:t>
                      </a:r>
                      <a:endParaRPr lang="zh-CN" altLang="en-US" sz="1575" kern="1200" dirty="0">
                        <a:solidFill>
                          <a:schemeClr val="dk1"/>
                        </a:solidFill>
                        <a:effectLst/>
                        <a:latin typeface="+mn-lt"/>
                        <a:ea typeface="+mn-ea"/>
                        <a:cs typeface="+mn-cs"/>
                      </a:endParaRPr>
                    </a:p>
                  </a:txBody>
                  <a:tcPr marL="68580" marR="68580" marT="0" marB="0"/>
                </a:tc>
                <a:tc>
                  <a:txBody>
                    <a:bodyPr/>
                    <a:lstStyle/>
                    <a:p>
                      <a:pPr algn="ctr"/>
                      <a:r>
                        <a:rPr lang="en-US" altLang="zh-CN" sz="1575" kern="1200" dirty="0">
                          <a:solidFill>
                            <a:schemeClr val="dk1"/>
                          </a:solidFill>
                          <a:effectLst/>
                          <a:latin typeface="+mn-lt"/>
                          <a:ea typeface="+mn-ea"/>
                          <a:cs typeface="+mn-cs"/>
                        </a:rPr>
                        <a:t>0</a:t>
                      </a:r>
                      <a:endParaRPr lang="zh-CN" altLang="en-US" dirty="0"/>
                    </a:p>
                  </a:txBody>
                  <a:tcPr/>
                </a:tc>
              </a:tr>
              <a:tr h="560727">
                <a:tc>
                  <a:txBody>
                    <a:bodyPr/>
                    <a:lstStyle/>
                    <a:p>
                      <a:r>
                        <a:rPr lang="en-US" altLang="zh-CN" sz="1575" kern="1200" dirty="0">
                          <a:solidFill>
                            <a:schemeClr val="dk1"/>
                          </a:solidFill>
                          <a:effectLst/>
                          <a:latin typeface="+mn-lt"/>
                          <a:ea typeface="+mn-ea"/>
                          <a:cs typeface="+mn-cs"/>
                        </a:rPr>
                        <a:t>cv2.IMREAD_COLOR</a:t>
                      </a:r>
                      <a:endParaRPr lang="zh-CN" altLang="en-US" dirty="0"/>
                    </a:p>
                  </a:txBody>
                  <a:tcPr/>
                </a:tc>
                <a:tc>
                  <a:txBody>
                    <a:bodyPr/>
                    <a:lstStyle/>
                    <a:p>
                      <a:pPr algn="ctr"/>
                      <a:r>
                        <a:rPr lang="zh-CN" altLang="zh-CN" sz="1575" kern="1200" dirty="0">
                          <a:solidFill>
                            <a:schemeClr val="dk1"/>
                          </a:solidFill>
                          <a:effectLst/>
                          <a:latin typeface="+mn-lt"/>
                          <a:ea typeface="+mn-ea"/>
                          <a:cs typeface="+mn-cs"/>
                        </a:rPr>
                        <a:t>将图像调整为</a:t>
                      </a:r>
                      <a:r>
                        <a:rPr lang="en-US" altLang="zh-CN" sz="1575" kern="1200" dirty="0">
                          <a:solidFill>
                            <a:schemeClr val="dk1"/>
                          </a:solidFill>
                          <a:effectLst/>
                          <a:latin typeface="+mn-lt"/>
                          <a:ea typeface="+mn-ea"/>
                          <a:cs typeface="+mn-cs"/>
                        </a:rPr>
                        <a:t>3</a:t>
                      </a:r>
                      <a:r>
                        <a:rPr lang="zh-CN" altLang="zh-CN" sz="1575" kern="1200" dirty="0">
                          <a:solidFill>
                            <a:schemeClr val="dk1"/>
                          </a:solidFill>
                          <a:effectLst/>
                          <a:latin typeface="+mn-lt"/>
                          <a:ea typeface="+mn-ea"/>
                          <a:cs typeface="+mn-cs"/>
                        </a:rPr>
                        <a:t>通道的</a:t>
                      </a:r>
                      <a:r>
                        <a:rPr lang="en-US" altLang="zh-CN" sz="1575" kern="1200" dirty="0">
                          <a:solidFill>
                            <a:schemeClr val="dk1"/>
                          </a:solidFill>
                          <a:effectLst/>
                          <a:latin typeface="+mn-lt"/>
                          <a:ea typeface="+mn-ea"/>
                          <a:cs typeface="+mn-cs"/>
                        </a:rPr>
                        <a:t>BGR</a:t>
                      </a:r>
                      <a:r>
                        <a:rPr lang="zh-CN" altLang="zh-CN" sz="1575" kern="1200" dirty="0">
                          <a:solidFill>
                            <a:schemeClr val="dk1"/>
                          </a:solidFill>
                          <a:effectLst/>
                          <a:latin typeface="+mn-lt"/>
                          <a:ea typeface="+mn-ea"/>
                          <a:cs typeface="+mn-cs"/>
                        </a:rPr>
                        <a:t>图像。该值是默认值</a:t>
                      </a:r>
                      <a:r>
                        <a:rPr lang="zh-CN" altLang="en-US" sz="1575" kern="1200" dirty="0">
                          <a:solidFill>
                            <a:schemeClr val="dk1"/>
                          </a:solidFill>
                          <a:effectLst/>
                          <a:latin typeface="+mn-lt"/>
                          <a:ea typeface="+mn-ea"/>
                          <a:cs typeface="+mn-cs"/>
                        </a:rPr>
                        <a:t>。</a:t>
                      </a:r>
                      <a:endParaRPr lang="zh-CN" altLang="en-US" dirty="0"/>
                    </a:p>
                  </a:txBody>
                  <a:tcPr/>
                </a:tc>
                <a:tc>
                  <a:txBody>
                    <a:bodyPr/>
                    <a:lstStyle/>
                    <a:p>
                      <a:pPr algn="ctr"/>
                      <a:r>
                        <a:rPr lang="en-US" altLang="zh-CN" sz="1575" kern="1200" dirty="0">
                          <a:solidFill>
                            <a:schemeClr val="dk1"/>
                          </a:solidFill>
                          <a:effectLst/>
                          <a:latin typeface="+mn-lt"/>
                          <a:ea typeface="+mn-ea"/>
                          <a:cs typeface="+mn-cs"/>
                        </a:rPr>
                        <a:t>1</a:t>
                      </a:r>
                      <a:endParaRPr lang="zh-CN" altLang="en-US" dirty="0"/>
                    </a:p>
                  </a:txBody>
                  <a:tcPr/>
                </a:tc>
              </a:tr>
              <a:tr h="687163">
                <a:tc>
                  <a:txBody>
                    <a:bodyPr/>
                    <a:lstStyle/>
                    <a:p>
                      <a:r>
                        <a:rPr lang="en-US" altLang="zh-CN" sz="1575" kern="1200" dirty="0">
                          <a:solidFill>
                            <a:schemeClr val="dk1"/>
                          </a:solidFill>
                          <a:effectLst/>
                          <a:latin typeface="+mn-lt"/>
                          <a:ea typeface="+mn-ea"/>
                          <a:cs typeface="+mn-cs"/>
                        </a:rPr>
                        <a:t>cv2.IMREAD_ANYDEPTH</a:t>
                      </a:r>
                      <a:endParaRPr lang="zh-CN" altLang="en-US" dirty="0"/>
                    </a:p>
                  </a:txBody>
                  <a:tcPr/>
                </a:tc>
                <a:tc>
                  <a:txBody>
                    <a:bodyPr/>
                    <a:lstStyle/>
                    <a:p>
                      <a:pPr indent="266700" algn="ctr"/>
                      <a:r>
                        <a:rPr lang="zh-CN" altLang="en-US" sz="1575" kern="1200" dirty="0">
                          <a:solidFill>
                            <a:schemeClr val="dk1"/>
                          </a:solidFill>
                          <a:effectLst/>
                          <a:latin typeface="+mn-lt"/>
                          <a:ea typeface="+mn-ea"/>
                          <a:cs typeface="+mn-cs"/>
                        </a:rPr>
                        <a:t>当载入图像为</a:t>
                      </a:r>
                      <a:r>
                        <a:rPr lang="en-US" sz="1575" kern="1200" dirty="0">
                          <a:solidFill>
                            <a:schemeClr val="dk1"/>
                          </a:solidFill>
                          <a:effectLst/>
                          <a:latin typeface="+mn-lt"/>
                          <a:ea typeface="+mn-ea"/>
                          <a:cs typeface="+mn-cs"/>
                        </a:rPr>
                        <a:t>16</a:t>
                      </a:r>
                      <a:r>
                        <a:rPr lang="zh-CN" altLang="en-US" sz="1575" kern="1200" dirty="0">
                          <a:solidFill>
                            <a:schemeClr val="dk1"/>
                          </a:solidFill>
                          <a:effectLst/>
                          <a:latin typeface="+mn-lt"/>
                          <a:ea typeface="+mn-ea"/>
                          <a:cs typeface="+mn-cs"/>
                        </a:rPr>
                        <a:t>位或</a:t>
                      </a:r>
                      <a:r>
                        <a:rPr lang="en-US" sz="1575" kern="1200" dirty="0">
                          <a:solidFill>
                            <a:schemeClr val="dk1"/>
                          </a:solidFill>
                          <a:effectLst/>
                          <a:latin typeface="+mn-lt"/>
                          <a:ea typeface="+mn-ea"/>
                          <a:cs typeface="+mn-cs"/>
                        </a:rPr>
                        <a:t>32</a:t>
                      </a:r>
                      <a:r>
                        <a:rPr lang="zh-CN" altLang="en-US" sz="1575" kern="1200" dirty="0">
                          <a:solidFill>
                            <a:schemeClr val="dk1"/>
                          </a:solidFill>
                          <a:effectLst/>
                          <a:latin typeface="+mn-lt"/>
                          <a:ea typeface="+mn-ea"/>
                          <a:cs typeface="+mn-cs"/>
                        </a:rPr>
                        <a:t>位时，返回对应的深度图像，则将其转换为</a:t>
                      </a:r>
                      <a:r>
                        <a:rPr lang="en-US" sz="1575" kern="1200" dirty="0">
                          <a:solidFill>
                            <a:schemeClr val="dk1"/>
                          </a:solidFill>
                          <a:effectLst/>
                          <a:latin typeface="+mn-lt"/>
                          <a:ea typeface="+mn-ea"/>
                          <a:cs typeface="+mn-cs"/>
                        </a:rPr>
                        <a:t>8</a:t>
                      </a:r>
                      <a:r>
                        <a:rPr lang="zh-CN" altLang="en-US" sz="1575" kern="1200" dirty="0">
                          <a:solidFill>
                            <a:schemeClr val="dk1"/>
                          </a:solidFill>
                          <a:effectLst/>
                          <a:latin typeface="+mn-lt"/>
                          <a:ea typeface="+mn-ea"/>
                          <a:cs typeface="+mn-cs"/>
                        </a:rPr>
                        <a:t>位图像。</a:t>
                      </a:r>
                      <a:endParaRPr lang="zh-CN" altLang="en-US" sz="1575" kern="1200" dirty="0">
                        <a:solidFill>
                          <a:schemeClr val="dk1"/>
                        </a:solidFill>
                        <a:effectLst/>
                        <a:latin typeface="+mn-lt"/>
                        <a:ea typeface="+mn-ea"/>
                        <a:cs typeface="+mn-cs"/>
                      </a:endParaRPr>
                    </a:p>
                  </a:txBody>
                  <a:tcPr marL="68580" marR="68580" marT="0" marB="0"/>
                </a:tc>
                <a:tc>
                  <a:txBody>
                    <a:bodyPr/>
                    <a:lstStyle/>
                    <a:p>
                      <a:pPr algn="ctr"/>
                      <a:r>
                        <a:rPr lang="en-US" altLang="zh-CN" sz="1575" kern="1200" dirty="0">
                          <a:solidFill>
                            <a:schemeClr val="dk1"/>
                          </a:solidFill>
                          <a:effectLst/>
                          <a:latin typeface="+mn-lt"/>
                          <a:ea typeface="+mn-ea"/>
                          <a:cs typeface="+mn-cs"/>
                        </a:rPr>
                        <a:t>2</a:t>
                      </a:r>
                      <a:endParaRPr lang="zh-CN" altLang="en-US" dirty="0"/>
                    </a:p>
                  </a:txBody>
                  <a:tcPr/>
                </a:tc>
              </a:tr>
              <a:tr h="545367">
                <a:tc>
                  <a:txBody>
                    <a:bodyPr/>
                    <a:lstStyle/>
                    <a:p>
                      <a:r>
                        <a:rPr lang="en-US" altLang="zh-CN" sz="1575" kern="1200" dirty="0">
                          <a:solidFill>
                            <a:schemeClr val="dk1"/>
                          </a:solidFill>
                          <a:effectLst/>
                          <a:latin typeface="+mn-lt"/>
                          <a:ea typeface="+mn-ea"/>
                          <a:cs typeface="+mn-cs"/>
                        </a:rPr>
                        <a:t>cv2.IMREAD_ANYCOLOR</a:t>
                      </a:r>
                      <a:endParaRPr lang="zh-CN" altLang="en-US" dirty="0"/>
                    </a:p>
                  </a:txBody>
                  <a:tcPr/>
                </a:tc>
                <a:tc>
                  <a:txBody>
                    <a:bodyPr/>
                    <a:lstStyle/>
                    <a:p>
                      <a:pPr algn="ctr"/>
                      <a:r>
                        <a:rPr lang="zh-CN" altLang="zh-CN" sz="1575" kern="1200" dirty="0">
                          <a:solidFill>
                            <a:schemeClr val="dk1"/>
                          </a:solidFill>
                          <a:effectLst/>
                          <a:latin typeface="+mn-lt"/>
                          <a:ea typeface="+mn-ea"/>
                          <a:cs typeface="+mn-cs"/>
                        </a:rPr>
                        <a:t>以任何可能的颜色格式读取图像</a:t>
                      </a:r>
                      <a:endParaRPr lang="zh-CN" altLang="en-US" dirty="0"/>
                    </a:p>
                  </a:txBody>
                  <a:tcPr/>
                </a:tc>
                <a:tc>
                  <a:txBody>
                    <a:bodyPr/>
                    <a:lstStyle/>
                    <a:p>
                      <a:pPr algn="ctr"/>
                      <a:r>
                        <a:rPr lang="en-US" altLang="zh-CN" sz="1575" kern="1200" dirty="0">
                          <a:solidFill>
                            <a:schemeClr val="dk1"/>
                          </a:solidFill>
                          <a:effectLst/>
                          <a:latin typeface="+mn-lt"/>
                          <a:ea typeface="+mn-ea"/>
                          <a:cs typeface="+mn-cs"/>
                        </a:rPr>
                        <a:t>4</a:t>
                      </a:r>
                      <a:endParaRPr lang="zh-CN" altLang="en-US" dirty="0"/>
                    </a:p>
                  </a:txBody>
                  <a:tcPr/>
                </a:tc>
              </a:tr>
            </a:tbl>
          </a:graphicData>
        </a:graphic>
      </p:graphicFrame>
    </p:spTree>
  </p:cSld>
  <p:clrMapOvr>
    <a:masterClrMapping/>
  </p:clrMapOvr>
  <p:transition spd="slow" advClick="0" advTm="0">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269554"/>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9" name="文本框 8"/>
          <p:cNvSpPr txBox="1"/>
          <p:nvPr/>
        </p:nvSpPr>
        <p:spPr>
          <a:xfrm>
            <a:off x="142957" y="1721634"/>
            <a:ext cx="8712968" cy="3416320"/>
          </a:xfrm>
          <a:prstGeom prst="rect">
            <a:avLst/>
          </a:prstGeom>
          <a:noFill/>
        </p:spPr>
        <p:txBody>
          <a:bodyPr wrap="square">
            <a:spAutoFit/>
          </a:bodyPr>
          <a:lstStyle/>
          <a:p>
            <a:pPr marL="342900" indent="-342900" algn="just">
              <a:buFont typeface="Wingdings" panose="05000000000000000000" pitchFamily="2" charset="2"/>
              <a:buChar char="p"/>
            </a:pPr>
            <a:r>
              <a:rPr lang="en-US" altLang="zh-CN" sz="2400" kern="100" dirty="0" err="1">
                <a:solidFill>
                  <a:srgbClr val="FF0000"/>
                </a:solidFill>
                <a:latin typeface="Times New Roman" panose="02020603050405020304" pitchFamily="18" charset="0"/>
                <a:ea typeface="宋体" pitchFamily="2" charset="-122"/>
              </a:rPr>
              <a:t>imshow</a:t>
            </a:r>
            <a:r>
              <a:rPr lang="en-US" altLang="zh-CN" sz="2400" kern="100" dirty="0">
                <a:solidFill>
                  <a:srgbClr val="FF0000"/>
                </a:solidFill>
                <a:latin typeface="Times New Roman" panose="02020603050405020304" pitchFamily="18" charset="0"/>
                <a:ea typeface="宋体" pitchFamily="2" charset="-122"/>
              </a:rPr>
              <a:t>( )</a:t>
            </a:r>
            <a:r>
              <a:rPr lang="zh-CN" altLang="zh-CN" sz="2400" kern="100" dirty="0">
                <a:solidFill>
                  <a:srgbClr val="FF0000"/>
                </a:solidFill>
                <a:latin typeface="Times New Roman" panose="02020603050405020304" pitchFamily="18" charset="0"/>
                <a:ea typeface="宋体" pitchFamily="2" charset="-122"/>
              </a:rPr>
              <a:t>函数用来显示图像</a:t>
            </a:r>
            <a:r>
              <a:rPr lang="zh-CN" altLang="zh-CN" sz="2400" kern="100" dirty="0">
                <a:effectLst/>
                <a:latin typeface="Times New Roman" panose="02020603050405020304" pitchFamily="18" charset="0"/>
                <a:ea typeface="宋体" pitchFamily="2" charset="-122"/>
              </a:rPr>
              <a:t>，同样有</a:t>
            </a:r>
            <a:r>
              <a:rPr lang="en-US" altLang="zh-CN" sz="2400" kern="100" dirty="0">
                <a:effectLst/>
                <a:latin typeface="Times New Roman" panose="02020603050405020304" pitchFamily="18" charset="0"/>
                <a:ea typeface="宋体" pitchFamily="2" charset="-122"/>
              </a:rPr>
              <a:t>2</a:t>
            </a:r>
            <a:r>
              <a:rPr lang="zh-CN" altLang="zh-CN" sz="2400" kern="100" dirty="0">
                <a:effectLst/>
                <a:latin typeface="Times New Roman" panose="02020603050405020304" pitchFamily="18" charset="0"/>
                <a:ea typeface="宋体" pitchFamily="2" charset="-122"/>
              </a:rPr>
              <a:t>个参数。第一个为展示窗口的名称，第二个为要展示的图像。</a:t>
            </a:r>
            <a:endParaRPr lang="en-US" altLang="zh-CN" sz="2400" kern="100" dirty="0">
              <a:effectLst/>
              <a:latin typeface="Times New Roman" panose="02020603050405020304" pitchFamily="18" charset="0"/>
              <a:ea typeface="宋体" pitchFamily="2" charset="-122"/>
            </a:endParaRPr>
          </a:p>
          <a:p>
            <a:pPr marL="342900" indent="-342900" algn="just">
              <a:buFont typeface="Wingdings" panose="05000000000000000000" pitchFamily="2" charset="2"/>
              <a:buChar char="p"/>
            </a:pPr>
            <a:r>
              <a:rPr lang="en-US" altLang="zh-CN" sz="2400" kern="100" dirty="0" err="1">
                <a:solidFill>
                  <a:srgbClr val="FF0000"/>
                </a:solidFill>
                <a:latin typeface="Times New Roman" panose="02020603050405020304" pitchFamily="18" charset="0"/>
                <a:ea typeface="宋体" pitchFamily="2" charset="-122"/>
              </a:rPr>
              <a:t>waitKey</a:t>
            </a:r>
            <a:r>
              <a:rPr lang="en-US" altLang="zh-CN" sz="2400" kern="100" dirty="0">
                <a:solidFill>
                  <a:srgbClr val="FF0000"/>
                </a:solidFill>
                <a:latin typeface="Times New Roman" panose="02020603050405020304" pitchFamily="18" charset="0"/>
                <a:ea typeface="宋体" pitchFamily="2" charset="-122"/>
              </a:rPr>
              <a:t>( )</a:t>
            </a:r>
            <a:r>
              <a:rPr lang="zh-CN" altLang="zh-CN" sz="2400" kern="100" dirty="0">
                <a:solidFill>
                  <a:srgbClr val="FF0000"/>
                </a:solidFill>
                <a:latin typeface="Times New Roman" panose="02020603050405020304" pitchFamily="18" charset="0"/>
                <a:ea typeface="宋体" pitchFamily="2" charset="-122"/>
              </a:rPr>
              <a:t>函数用来等待按键</a:t>
            </a:r>
            <a:r>
              <a:rPr lang="zh-CN" altLang="zh-CN" sz="2400" kern="100" dirty="0">
                <a:latin typeface="Times New Roman" panose="02020603050405020304" pitchFamily="18" charset="0"/>
                <a:ea typeface="宋体" pitchFamily="2" charset="-122"/>
              </a:rPr>
              <a:t>，当用户按下键盘后，该语句会被执行，并获取返回值。括号内的参数为等待键盘触发的时间，单位是</a:t>
            </a:r>
            <a:r>
              <a:rPr lang="en-US" altLang="zh-CN" sz="2400" kern="100" dirty="0" err="1">
                <a:latin typeface="Times New Roman" panose="02020603050405020304" pitchFamily="18" charset="0"/>
                <a:ea typeface="宋体" pitchFamily="2" charset="-122"/>
              </a:rPr>
              <a:t>ms</a:t>
            </a:r>
            <a:r>
              <a:rPr lang="zh-CN" altLang="zh-CN" sz="2400" kern="100" dirty="0">
                <a:latin typeface="Times New Roman" panose="02020603050405020304" pitchFamily="18" charset="0"/>
                <a:ea typeface="宋体" pitchFamily="2" charset="-122"/>
              </a:rPr>
              <a:t>。当该值是负数或零时，表示无限等待，该值默认为</a:t>
            </a:r>
            <a:r>
              <a:rPr lang="en-US" altLang="zh-CN" sz="2400" kern="100" dirty="0">
                <a:latin typeface="Times New Roman" panose="02020603050405020304" pitchFamily="18" charset="0"/>
                <a:ea typeface="宋体" pitchFamily="2" charset="-122"/>
              </a:rPr>
              <a:t>0</a:t>
            </a:r>
            <a:r>
              <a:rPr lang="zh-CN" altLang="zh-CN" sz="2400" kern="100" dirty="0">
                <a:latin typeface="Times New Roman" panose="02020603050405020304" pitchFamily="18" charset="0"/>
                <a:ea typeface="宋体" pitchFamily="2" charset="-122"/>
              </a:rPr>
              <a:t>。当有按键被按下，</a:t>
            </a:r>
            <a:r>
              <a:rPr lang="en-US" altLang="zh-CN" sz="2400" kern="100" dirty="0" err="1">
                <a:latin typeface="Times New Roman" panose="02020603050405020304" pitchFamily="18" charset="0"/>
                <a:ea typeface="宋体" pitchFamily="2" charset="-122"/>
              </a:rPr>
              <a:t>waitKey</a:t>
            </a:r>
            <a:r>
              <a:rPr lang="en-US" altLang="zh-CN" sz="2400" kern="100" dirty="0">
                <a:latin typeface="Times New Roman" panose="02020603050405020304" pitchFamily="18" charset="0"/>
                <a:ea typeface="宋体" pitchFamily="2" charset="-122"/>
              </a:rPr>
              <a:t>( )</a:t>
            </a:r>
            <a:r>
              <a:rPr lang="zh-CN" altLang="zh-CN" sz="2400" kern="100" dirty="0">
                <a:latin typeface="Times New Roman" panose="02020603050405020304" pitchFamily="18" charset="0"/>
                <a:ea typeface="宋体" pitchFamily="2" charset="-122"/>
              </a:rPr>
              <a:t>函数返回该按键的</a:t>
            </a:r>
            <a:r>
              <a:rPr lang="en-US" altLang="zh-CN" sz="2400" kern="100" dirty="0">
                <a:latin typeface="Times New Roman" panose="02020603050405020304" pitchFamily="18" charset="0"/>
                <a:ea typeface="宋体" pitchFamily="2" charset="-122"/>
              </a:rPr>
              <a:t>ASCII</a:t>
            </a:r>
            <a:r>
              <a:rPr lang="zh-CN" altLang="zh-CN" sz="2400" kern="100" dirty="0">
                <a:latin typeface="Times New Roman" panose="02020603050405020304" pitchFamily="18" charset="0"/>
                <a:ea typeface="宋体" pitchFamily="2" charset="-122"/>
              </a:rPr>
              <a:t>码，如果没有按键按下，则返回</a:t>
            </a:r>
            <a:r>
              <a:rPr lang="en-US" altLang="zh-CN" sz="2400" kern="100" dirty="0">
                <a:latin typeface="Times New Roman" panose="02020603050405020304" pitchFamily="18" charset="0"/>
                <a:ea typeface="宋体" pitchFamily="2" charset="-122"/>
              </a:rPr>
              <a:t>-1</a:t>
            </a:r>
            <a:r>
              <a:rPr lang="zh-CN" altLang="zh-CN" sz="2400" kern="100" dirty="0">
                <a:latin typeface="Times New Roman" panose="02020603050405020304" pitchFamily="18" charset="0"/>
                <a:ea typeface="宋体" pitchFamily="2" charset="-122"/>
              </a:rPr>
              <a:t>。</a:t>
            </a:r>
            <a:endParaRPr lang="en-US" altLang="zh-CN" sz="2400" kern="100" dirty="0">
              <a:latin typeface="Times New Roman" panose="02020603050405020304" pitchFamily="18" charset="0"/>
              <a:ea typeface="宋体" pitchFamily="2" charset="-122"/>
            </a:endParaRPr>
          </a:p>
          <a:p>
            <a:pPr marL="342900" indent="-342900" algn="just">
              <a:buFont typeface="Wingdings" panose="05000000000000000000" pitchFamily="2" charset="2"/>
              <a:buChar char="p"/>
            </a:pPr>
            <a:r>
              <a:rPr lang="en-US" altLang="zh-CN" sz="2400" kern="100" dirty="0" err="1">
                <a:solidFill>
                  <a:srgbClr val="FF0000"/>
                </a:solidFill>
                <a:latin typeface="Times New Roman" panose="02020603050405020304" pitchFamily="18" charset="0"/>
                <a:ea typeface="宋体" pitchFamily="2" charset="-122"/>
              </a:rPr>
              <a:t>imwrite</a:t>
            </a:r>
            <a:r>
              <a:rPr lang="en-US" altLang="zh-CN" sz="2400" kern="100" dirty="0">
                <a:solidFill>
                  <a:srgbClr val="FF0000"/>
                </a:solidFill>
                <a:latin typeface="Times New Roman" panose="02020603050405020304" pitchFamily="18" charset="0"/>
                <a:ea typeface="宋体" pitchFamily="2" charset="-122"/>
              </a:rPr>
              <a:t>( )</a:t>
            </a:r>
            <a:r>
              <a:rPr lang="zh-CN" altLang="zh-CN" sz="2400" kern="100" dirty="0">
                <a:solidFill>
                  <a:srgbClr val="FF0000"/>
                </a:solidFill>
                <a:latin typeface="Times New Roman" panose="02020603050405020304" pitchFamily="18" charset="0"/>
                <a:ea typeface="宋体" pitchFamily="2" charset="-122"/>
              </a:rPr>
              <a:t>函数可以用来保存图像</a:t>
            </a:r>
            <a:r>
              <a:rPr lang="zh-CN" altLang="en-US" sz="2400" kern="100" dirty="0">
                <a:latin typeface="Times New Roman" panose="02020603050405020304" pitchFamily="18" charset="0"/>
                <a:ea typeface="宋体" pitchFamily="2" charset="-122"/>
              </a:rPr>
              <a:t>。</a:t>
            </a:r>
            <a:endParaRPr lang="zh-CN" altLang="zh-CN" sz="2400" kern="100" dirty="0">
              <a:latin typeface="Times New Roman" panose="02020603050405020304" pitchFamily="18" charset="0"/>
              <a:ea typeface="宋体" pitchFamily="2" charset="-122"/>
            </a:endParaRPr>
          </a:p>
          <a:p>
            <a:pPr marL="342900" indent="-342900" algn="just">
              <a:buFont typeface="Wingdings" panose="05000000000000000000" pitchFamily="2" charset="2"/>
              <a:buChar char="p"/>
            </a:pPr>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269554"/>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9" name="文本框 8"/>
          <p:cNvSpPr txBox="1"/>
          <p:nvPr/>
        </p:nvSpPr>
        <p:spPr>
          <a:xfrm>
            <a:off x="142957" y="1342772"/>
            <a:ext cx="8174253" cy="1938992"/>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solidFill>
                  <a:srgbClr val="000000"/>
                </a:solidFill>
                <a:latin typeface="Times New Roman" panose="02020603050405020304" pitchFamily="18" charset="0"/>
                <a:ea typeface="宋体" pitchFamily="2" charset="-122"/>
              </a:rPr>
              <a:t>例子</a:t>
            </a:r>
            <a:r>
              <a:rPr lang="en-US" altLang="zh-CN" sz="2400" kern="100" dirty="0">
                <a:solidFill>
                  <a:srgbClr val="000000"/>
                </a:solidFill>
                <a:latin typeface="Times New Roman" panose="02020603050405020304" pitchFamily="18" charset="0"/>
                <a:ea typeface="宋体" pitchFamily="2" charset="-122"/>
              </a:rPr>
              <a:t>31</a:t>
            </a:r>
            <a:r>
              <a:rPr lang="zh-CN" altLang="en-US" sz="2400" kern="100" dirty="0">
                <a:solidFill>
                  <a:srgbClr val="000000"/>
                </a:solidFill>
                <a:latin typeface="Times New Roman" panose="02020603050405020304" pitchFamily="18" charset="0"/>
                <a:ea typeface="宋体" pitchFamily="2" charset="-122"/>
              </a:rPr>
              <a:t>  </a:t>
            </a:r>
            <a:r>
              <a:rPr lang="en-US" altLang="zh-CN" sz="2400" kern="100" dirty="0" err="1">
                <a:solidFill>
                  <a:srgbClr val="000000"/>
                </a:solidFill>
                <a:latin typeface="Times New Roman" panose="02020603050405020304" pitchFamily="18" charset="0"/>
                <a:ea typeface="宋体" pitchFamily="2" charset="-122"/>
              </a:rPr>
              <a:t>imread</a:t>
            </a:r>
            <a:r>
              <a:rPr lang="zh-CN" altLang="en-US" sz="2400" kern="100" dirty="0">
                <a:solidFill>
                  <a:srgbClr val="000000"/>
                </a:solidFill>
                <a:latin typeface="Times New Roman" panose="02020603050405020304" pitchFamily="18" charset="0"/>
                <a:ea typeface="宋体" pitchFamily="2" charset="-122"/>
              </a:rPr>
              <a:t>操作：</a:t>
            </a:r>
            <a:endParaRPr lang="en-US" altLang="zh-CN" sz="24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import cv2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err="1">
                <a:solidFill>
                  <a:srgbClr val="000000"/>
                </a:solidFill>
                <a:effectLst/>
                <a:latin typeface="Times New Roman" panose="02020603050405020304" pitchFamily="18" charset="0"/>
                <a:ea typeface="宋体" pitchFamily="2" charset="-122"/>
              </a:rPr>
              <a:t>img</a:t>
            </a:r>
            <a:r>
              <a:rPr lang="en-US" altLang="zh-CN" sz="2400" kern="100" dirty="0">
                <a:solidFill>
                  <a:srgbClr val="000000"/>
                </a:solidFill>
                <a:effectLst/>
                <a:latin typeface="Times New Roman" panose="02020603050405020304" pitchFamily="18" charset="0"/>
                <a:ea typeface="宋体" pitchFamily="2" charset="-122"/>
              </a:rPr>
              <a:t> = cv2.imread(</a:t>
            </a:r>
            <a:r>
              <a:rPr lang="en-US" altLang="zh-CN" sz="2400" kern="100" dirty="0" err="1">
                <a:solidFill>
                  <a:srgbClr val="000000"/>
                </a:solidFill>
                <a:effectLst/>
                <a:latin typeface="Times New Roman" panose="02020603050405020304" pitchFamily="18" charset="0"/>
                <a:ea typeface="宋体" pitchFamily="2" charset="-122"/>
              </a:rPr>
              <a:t>r'C</a:t>
            </a:r>
            <a:r>
              <a:rPr lang="en-US" altLang="zh-CN" sz="2400" kern="100" dirty="0">
                <a:solidFill>
                  <a:srgbClr val="000000"/>
                </a:solidFill>
                <a:effectLst/>
                <a:latin typeface="Times New Roman" panose="02020603050405020304" pitchFamily="18" charset="0"/>
                <a:ea typeface="宋体" pitchFamily="2" charset="-122"/>
              </a:rPr>
              <a:t>:\Users\11041\Desktop\SATOMI.png',-1)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a:t>
            </a:r>
            <a:r>
              <a:rPr lang="en-US" altLang="zh-CN" sz="2400" kern="100" dirty="0" err="1">
                <a:solidFill>
                  <a:srgbClr val="000000"/>
                </a:solidFill>
                <a:effectLst/>
                <a:latin typeface="Times New Roman" panose="02020603050405020304" pitchFamily="18" charset="0"/>
                <a:ea typeface="宋体" pitchFamily="2" charset="-122"/>
              </a:rPr>
              <a:t>img</a:t>
            </a:r>
            <a:r>
              <a:rPr lang="en-US" altLang="zh-CN" sz="2400" kern="100" dirty="0">
                <a:solidFill>
                  <a:srgbClr val="000000"/>
                </a:solidFill>
                <a:effectLst/>
                <a:latin typeface="Times New Roman" panose="02020603050405020304" pitchFamily="18" charset="0"/>
                <a:ea typeface="宋体" pitchFamily="2" charset="-122"/>
              </a:rPr>
              <a:t>)  </a:t>
            </a:r>
            <a:endParaRPr lang="zh-CN" altLang="zh-CN" sz="2400" kern="100" dirty="0">
              <a:effectLst/>
              <a:latin typeface="Times New Roman" panose="02020603050405020304" pitchFamily="18" charset="0"/>
              <a:ea typeface="宋体" pitchFamily="2" charset="-122"/>
            </a:endParaRPr>
          </a:p>
          <a:p>
            <a:pPr indent="266700" algn="l" fontAlgn="ctr"/>
            <a:r>
              <a:rPr lang="en-US" altLang="zh-CN" sz="2400" kern="100" dirty="0">
                <a:solidFill>
                  <a:srgbClr val="000000"/>
                </a:solidFill>
                <a:effectLst/>
                <a:latin typeface="Times New Roman" panose="02020603050405020304" pitchFamily="18" charset="0"/>
                <a:ea typeface="宋体" pitchFamily="2" charset="-122"/>
              </a:rPr>
              <a:t>print(</a:t>
            </a:r>
            <a:r>
              <a:rPr lang="en-US" altLang="zh-CN" sz="2400" kern="100" dirty="0" err="1">
                <a:solidFill>
                  <a:srgbClr val="000000"/>
                </a:solidFill>
                <a:effectLst/>
                <a:latin typeface="Times New Roman" panose="02020603050405020304" pitchFamily="18" charset="0"/>
                <a:ea typeface="宋体" pitchFamily="2" charset="-122"/>
              </a:rPr>
              <a:t>img.shape</a:t>
            </a:r>
            <a:r>
              <a:rPr lang="en-US" altLang="zh-CN" sz="2400" kern="100" dirty="0">
                <a:solidFill>
                  <a:srgbClr val="000000"/>
                </a:solidFill>
                <a:effectLst/>
                <a:latin typeface="Times New Roman" panose="02020603050405020304" pitchFamily="18" charset="0"/>
                <a:ea typeface="宋体" pitchFamily="2" charset="-122"/>
              </a:rPr>
              <a:t>)      #.shape</a:t>
            </a:r>
            <a:r>
              <a:rPr lang="zh-CN" altLang="zh-CN" sz="2400" kern="100" dirty="0">
                <a:solidFill>
                  <a:srgbClr val="000000"/>
                </a:solidFill>
                <a:effectLst/>
                <a:latin typeface="Times New Roman" panose="02020603050405020304" pitchFamily="18" charset="0"/>
                <a:ea typeface="宋体" pitchFamily="2" charset="-122"/>
              </a:rPr>
              <a:t>操作可以显示矩阵的形状</a:t>
            </a:r>
            <a:endParaRPr lang="zh-CN" altLang="zh-CN" sz="2400" kern="100" dirty="0">
              <a:effectLst/>
              <a:latin typeface="Times New Roman" panose="02020603050405020304" pitchFamily="18" charset="0"/>
              <a:ea typeface="宋体" pitchFamily="2" charset="-122"/>
            </a:endParaRPr>
          </a:p>
        </p:txBody>
      </p:sp>
      <p:sp>
        <p:nvSpPr>
          <p:cNvPr id="8" name="文本框 7"/>
          <p:cNvSpPr txBox="1"/>
          <p:nvPr/>
        </p:nvSpPr>
        <p:spPr>
          <a:xfrm>
            <a:off x="5136851" y="2061642"/>
            <a:ext cx="3874476" cy="4708981"/>
          </a:xfrm>
          <a:prstGeom prst="rect">
            <a:avLst/>
          </a:prstGeom>
          <a:solidFill>
            <a:srgbClr val="92D050"/>
          </a:solidFill>
        </p:spPr>
        <p:txBody>
          <a:bodyPr wrap="square">
            <a:spAutoFit/>
          </a:bodyPr>
          <a:lstStyle/>
          <a:p>
            <a:pPr indent="266700" algn="l" fontAlgn="ctr"/>
            <a:r>
              <a:rPr lang="zh-CN" altLang="en-US" sz="2000" kern="100" dirty="0">
                <a:solidFill>
                  <a:srgbClr val="000000"/>
                </a:solidFill>
                <a:effectLst/>
                <a:latin typeface="Times New Roman" panose="02020603050405020304" pitchFamily="18" charset="0"/>
                <a:ea typeface="宋体" pitchFamily="2" charset="-122"/>
              </a:rPr>
              <a:t>例</a:t>
            </a:r>
            <a:r>
              <a:rPr lang="en-US" altLang="zh-CN" sz="2000" kern="100" dirty="0">
                <a:solidFill>
                  <a:srgbClr val="000000"/>
                </a:solidFill>
                <a:effectLst/>
                <a:latin typeface="Times New Roman" panose="02020603050405020304" pitchFamily="18" charset="0"/>
                <a:ea typeface="宋体" pitchFamily="2" charset="-122"/>
              </a:rPr>
              <a:t>31  </a:t>
            </a:r>
            <a:r>
              <a:rPr lang="zh-CN" altLang="en-US" sz="2000" kern="100" dirty="0">
                <a:solidFill>
                  <a:srgbClr val="000000"/>
                </a:solidFill>
                <a:effectLst/>
                <a:latin typeface="Times New Roman" panose="02020603050405020304" pitchFamily="18" charset="0"/>
                <a:ea typeface="宋体" pitchFamily="2" charset="-122"/>
              </a:rPr>
              <a:t>运行结果：</a:t>
            </a:r>
            <a:endParaRPr lang="en-US" altLang="zh-CN" sz="2000" kern="100" dirty="0">
              <a:solidFill>
                <a:srgbClr val="000000"/>
              </a:solidFill>
              <a:effectLst/>
              <a:latin typeface="Times New Roman" panose="02020603050405020304" pitchFamily="18" charset="0"/>
              <a:ea typeface="宋体" pitchFamily="2" charset="-122"/>
            </a:endParaRPr>
          </a:p>
          <a:p>
            <a:pPr indent="266700" algn="l" fontAlgn="ctr"/>
            <a:r>
              <a:rPr lang="en-US" altLang="zh-CN" sz="2000" kern="100" dirty="0">
                <a:solidFill>
                  <a:srgbClr val="000000"/>
                </a:solidFill>
                <a:effectLst/>
                <a:latin typeface="Times New Roman" panose="02020603050405020304" pitchFamily="18" charset="0"/>
                <a:ea typeface="宋体" pitchFamily="2" charset="-122"/>
              </a:rPr>
              <a:t>[[[166 173 188]  </a:t>
            </a:r>
            <a:endParaRPr lang="zh-CN" altLang="zh-CN" sz="2000" kern="100" dirty="0">
              <a:effectLst/>
              <a:latin typeface="Times New Roman" panose="02020603050405020304" pitchFamily="18" charset="0"/>
              <a:ea typeface="宋体" pitchFamily="2" charset="-122"/>
            </a:endParaRPr>
          </a:p>
          <a:p>
            <a:pPr indent="266700" algn="l" fontAlgn="ctr"/>
            <a:r>
              <a:rPr lang="en-US" altLang="zh-CN" sz="2000" kern="100" dirty="0">
                <a:solidFill>
                  <a:srgbClr val="000000"/>
                </a:solidFill>
                <a:effectLst/>
                <a:latin typeface="Times New Roman" panose="02020603050405020304" pitchFamily="18" charset="0"/>
                <a:ea typeface="宋体" pitchFamily="2" charset="-122"/>
              </a:rPr>
              <a:t>  [158 166 180]  </a:t>
            </a:r>
            <a:endParaRPr lang="zh-CN" altLang="zh-CN" sz="2000" kern="100" dirty="0">
              <a:effectLst/>
              <a:latin typeface="Times New Roman" panose="02020603050405020304" pitchFamily="18" charset="0"/>
              <a:ea typeface="宋体" pitchFamily="2" charset="-122"/>
            </a:endParaRPr>
          </a:p>
          <a:p>
            <a:pPr indent="266700" algn="l" fontAlgn="ctr"/>
            <a:r>
              <a:rPr lang="en-US" altLang="zh-CN" sz="2000" kern="100" dirty="0">
                <a:solidFill>
                  <a:srgbClr val="000000"/>
                </a:solidFill>
                <a:effectLst/>
                <a:latin typeface="Times New Roman" panose="02020603050405020304" pitchFamily="18" charset="0"/>
                <a:ea typeface="宋体" pitchFamily="2" charset="-122"/>
              </a:rPr>
              <a:t>  [159 167 181]  </a:t>
            </a:r>
            <a:endParaRPr lang="zh-CN" altLang="zh-CN" sz="2000" kern="100" dirty="0">
              <a:effectLst/>
              <a:latin typeface="Times New Roman" panose="02020603050405020304" pitchFamily="18" charset="0"/>
              <a:ea typeface="宋体" pitchFamily="2" charset="-122"/>
            </a:endParaRPr>
          </a:p>
          <a:p>
            <a:pPr indent="266700" algn="l" fontAlgn="ctr"/>
            <a:r>
              <a:rPr lang="en-US" altLang="zh-CN" sz="2000" kern="100" dirty="0">
                <a:solidFill>
                  <a:srgbClr val="000000"/>
                </a:solidFill>
                <a:effectLst/>
                <a:latin typeface="Times New Roman" panose="02020603050405020304" pitchFamily="18" charset="0"/>
                <a:ea typeface="宋体" pitchFamily="2" charset="-122"/>
              </a:rPr>
              <a:t>  ...  </a:t>
            </a:r>
            <a:endParaRPr lang="zh-CN" altLang="zh-CN" sz="2000" kern="100" dirty="0">
              <a:effectLst/>
              <a:latin typeface="Times New Roman" panose="02020603050405020304" pitchFamily="18" charset="0"/>
              <a:ea typeface="宋体" pitchFamily="2" charset="-122"/>
            </a:endParaRPr>
          </a:p>
          <a:p>
            <a:pPr indent="266700" algn="l" fontAlgn="ctr"/>
            <a:r>
              <a:rPr lang="en-US" altLang="zh-CN" sz="2000" kern="100" dirty="0">
                <a:solidFill>
                  <a:srgbClr val="000000"/>
                </a:solidFill>
                <a:effectLst/>
                <a:latin typeface="Times New Roman" panose="02020603050405020304" pitchFamily="18" charset="0"/>
                <a:ea typeface="宋体" pitchFamily="2" charset="-122"/>
              </a:rPr>
              <a:t> [[159 168 179]  </a:t>
            </a:r>
            <a:endParaRPr lang="zh-CN" altLang="zh-CN" sz="2000" kern="100" dirty="0">
              <a:effectLst/>
              <a:latin typeface="Times New Roman" panose="02020603050405020304" pitchFamily="18" charset="0"/>
              <a:ea typeface="宋体" pitchFamily="2" charset="-122"/>
            </a:endParaRPr>
          </a:p>
          <a:p>
            <a:pPr indent="266700" algn="l" fontAlgn="ctr"/>
            <a:r>
              <a:rPr lang="en-US" altLang="zh-CN" sz="2000" kern="100" dirty="0">
                <a:solidFill>
                  <a:srgbClr val="000000"/>
                </a:solidFill>
                <a:effectLst/>
                <a:latin typeface="Times New Roman" panose="02020603050405020304" pitchFamily="18" charset="0"/>
                <a:ea typeface="宋体" pitchFamily="2" charset="-122"/>
              </a:rPr>
              <a:t>  [151 160 171]  </a:t>
            </a:r>
            <a:endParaRPr lang="zh-CN" altLang="zh-CN" sz="2000" kern="100" dirty="0">
              <a:effectLst/>
              <a:latin typeface="Times New Roman" panose="02020603050405020304" pitchFamily="18" charset="0"/>
              <a:ea typeface="宋体" pitchFamily="2" charset="-122"/>
            </a:endParaRPr>
          </a:p>
          <a:p>
            <a:pPr indent="266700" algn="l" fontAlgn="ctr"/>
            <a:r>
              <a:rPr lang="en-US" altLang="zh-CN" sz="2000" kern="100" dirty="0">
                <a:solidFill>
                  <a:srgbClr val="000000"/>
                </a:solidFill>
                <a:effectLst/>
                <a:latin typeface="Times New Roman" panose="02020603050405020304" pitchFamily="18" charset="0"/>
                <a:ea typeface="宋体" pitchFamily="2" charset="-122"/>
              </a:rPr>
              <a:t> [154 163 175]  </a:t>
            </a:r>
            <a:endParaRPr lang="zh-CN" altLang="zh-CN" sz="2000" kern="100" dirty="0">
              <a:effectLst/>
              <a:latin typeface="Times New Roman" panose="02020603050405020304" pitchFamily="18" charset="0"/>
              <a:ea typeface="宋体" pitchFamily="2" charset="-122"/>
            </a:endParaRPr>
          </a:p>
          <a:p>
            <a:pPr indent="266700" algn="l" fontAlgn="ctr"/>
            <a:r>
              <a:rPr lang="en-US" altLang="zh-CN" sz="2000" kern="100" dirty="0">
                <a:solidFill>
                  <a:srgbClr val="000000"/>
                </a:solidFill>
                <a:effectLst/>
                <a:latin typeface="Times New Roman" panose="02020603050405020304" pitchFamily="18" charset="0"/>
                <a:ea typeface="宋体" pitchFamily="2" charset="-122"/>
              </a:rPr>
              <a:t>  ...    </a:t>
            </a:r>
            <a:endParaRPr lang="zh-CN" altLang="zh-CN" sz="2000" kern="100" dirty="0">
              <a:effectLst/>
              <a:latin typeface="Times New Roman" panose="02020603050405020304" pitchFamily="18" charset="0"/>
              <a:ea typeface="宋体" pitchFamily="2" charset="-122"/>
            </a:endParaRPr>
          </a:p>
          <a:p>
            <a:pPr indent="266700" algn="l" fontAlgn="ctr"/>
            <a:r>
              <a:rPr lang="en-US" altLang="zh-CN" sz="2000" kern="100" dirty="0">
                <a:solidFill>
                  <a:srgbClr val="000000"/>
                </a:solidFill>
                <a:effectLst/>
                <a:latin typeface="Times New Roman" panose="02020603050405020304" pitchFamily="18" charset="0"/>
                <a:ea typeface="宋体" pitchFamily="2" charset="-122"/>
              </a:rPr>
              <a:t>#</a:t>
            </a:r>
            <a:r>
              <a:rPr lang="zh-CN" altLang="zh-CN" sz="2000" kern="100" dirty="0">
                <a:solidFill>
                  <a:srgbClr val="000000"/>
                </a:solidFill>
                <a:effectLst/>
                <a:latin typeface="Times New Roman" panose="02020603050405020304" pitchFamily="18" charset="0"/>
                <a:ea typeface="宋体" pitchFamily="2" charset="-122"/>
              </a:rPr>
              <a:t>中间省略</a:t>
            </a:r>
            <a:endParaRPr lang="zh-CN" altLang="zh-CN" sz="2000" kern="100" dirty="0">
              <a:effectLst/>
              <a:latin typeface="Times New Roman" panose="02020603050405020304" pitchFamily="18" charset="0"/>
              <a:ea typeface="宋体" pitchFamily="2" charset="-122"/>
            </a:endParaRPr>
          </a:p>
          <a:p>
            <a:pPr indent="266700" algn="l" fontAlgn="ctr"/>
            <a:r>
              <a:rPr lang="en-US" altLang="zh-CN" sz="2000" kern="100" dirty="0">
                <a:solidFill>
                  <a:srgbClr val="000000"/>
                </a:solidFill>
                <a:effectLst/>
                <a:latin typeface="Times New Roman" panose="02020603050405020304" pitchFamily="18" charset="0"/>
                <a:ea typeface="宋体" pitchFamily="2" charset="-122"/>
              </a:rPr>
              <a:t>  [ 80 106 131]  </a:t>
            </a:r>
            <a:endParaRPr lang="zh-CN" altLang="zh-CN" sz="2000" kern="100" dirty="0">
              <a:effectLst/>
              <a:latin typeface="Times New Roman" panose="02020603050405020304" pitchFamily="18" charset="0"/>
              <a:ea typeface="宋体" pitchFamily="2" charset="-122"/>
            </a:endParaRPr>
          </a:p>
          <a:p>
            <a:pPr indent="266700" algn="l" fontAlgn="ctr"/>
            <a:r>
              <a:rPr lang="en-US" altLang="zh-CN" sz="2000" kern="100" dirty="0">
                <a:solidFill>
                  <a:srgbClr val="000000"/>
                </a:solidFill>
                <a:effectLst/>
                <a:latin typeface="Times New Roman" panose="02020603050405020304" pitchFamily="18" charset="0"/>
                <a:ea typeface="宋体" pitchFamily="2" charset="-122"/>
              </a:rPr>
              <a:t>  [ 81 105 129]  </a:t>
            </a:r>
            <a:endParaRPr lang="zh-CN" altLang="zh-CN" sz="2000" kern="100" dirty="0">
              <a:effectLst/>
              <a:latin typeface="Times New Roman" panose="02020603050405020304" pitchFamily="18" charset="0"/>
              <a:ea typeface="宋体" pitchFamily="2" charset="-122"/>
            </a:endParaRPr>
          </a:p>
          <a:p>
            <a:pPr indent="266700" algn="l" fontAlgn="ctr"/>
            <a:r>
              <a:rPr lang="en-US" altLang="zh-CN" sz="2000" kern="100" dirty="0">
                <a:solidFill>
                  <a:srgbClr val="000000"/>
                </a:solidFill>
                <a:effectLst/>
                <a:latin typeface="Times New Roman" panose="02020603050405020304" pitchFamily="18" charset="0"/>
                <a:ea typeface="宋体" pitchFamily="2" charset="-122"/>
              </a:rPr>
              <a:t>  [ 82 105 129]]] </a:t>
            </a:r>
            <a:endParaRPr lang="zh-CN" altLang="zh-CN" sz="2000" kern="100" dirty="0">
              <a:effectLst/>
              <a:latin typeface="Times New Roman" panose="02020603050405020304" pitchFamily="18" charset="0"/>
              <a:ea typeface="宋体" pitchFamily="2" charset="-122"/>
            </a:endParaRPr>
          </a:p>
          <a:p>
            <a:pPr indent="266700" algn="l" fontAlgn="ctr"/>
            <a:r>
              <a:rPr lang="en-US" altLang="zh-CN" sz="2000" kern="100" dirty="0">
                <a:solidFill>
                  <a:srgbClr val="000000"/>
                </a:solidFill>
                <a:effectLst/>
                <a:latin typeface="Times New Roman" panose="02020603050405020304" pitchFamily="18" charset="0"/>
                <a:ea typeface="宋体" pitchFamily="2" charset="-122"/>
              </a:rPr>
              <a:t>  ...</a:t>
            </a:r>
            <a:endParaRPr lang="zh-CN" altLang="zh-CN" sz="2000" kern="100" dirty="0">
              <a:effectLst/>
              <a:latin typeface="Times New Roman" panose="02020603050405020304" pitchFamily="18" charset="0"/>
              <a:ea typeface="宋体" pitchFamily="2" charset="-122"/>
            </a:endParaRPr>
          </a:p>
          <a:p>
            <a:pPr indent="266700" algn="l" fontAlgn="ctr"/>
            <a:r>
              <a:rPr lang="en-US" altLang="zh-CN" sz="2000" kern="100" dirty="0">
                <a:solidFill>
                  <a:srgbClr val="000000"/>
                </a:solidFill>
                <a:effectLst/>
                <a:latin typeface="Times New Roman" panose="02020603050405020304" pitchFamily="18" charset="0"/>
                <a:ea typeface="宋体" pitchFamily="2" charset="-122"/>
              </a:rPr>
              <a:t>(720, 1280, 3)  </a:t>
            </a:r>
            <a:endParaRPr lang="zh-CN" altLang="zh-CN" sz="20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269554"/>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pic>
        <p:nvPicPr>
          <p:cNvPr id="10" name="图片 9"/>
          <p:cNvPicPr>
            <a:picLocks noChangeAspect="1"/>
          </p:cNvPicPr>
          <p:nvPr/>
        </p:nvPicPr>
        <p:blipFill>
          <a:blip r:embed="rId1"/>
          <a:stretch>
            <a:fillRect/>
          </a:stretch>
        </p:blipFill>
        <p:spPr>
          <a:xfrm>
            <a:off x="2340546" y="1912973"/>
            <a:ext cx="4032448" cy="2346793"/>
          </a:xfrm>
          <a:prstGeom prst="rect">
            <a:avLst/>
          </a:prstGeom>
          <a:noFill/>
          <a:ln>
            <a:noFill/>
          </a:ln>
        </p:spPr>
      </p:pic>
      <p:sp>
        <p:nvSpPr>
          <p:cNvPr id="3" name="文本框 2"/>
          <p:cNvSpPr txBox="1"/>
          <p:nvPr/>
        </p:nvSpPr>
        <p:spPr>
          <a:xfrm>
            <a:off x="2844602" y="4375182"/>
            <a:ext cx="4032448" cy="692497"/>
          </a:xfrm>
          <a:prstGeom prst="rect">
            <a:avLst/>
          </a:prstGeom>
          <a:noFill/>
        </p:spPr>
        <p:txBody>
          <a:bodyPr wrap="square" rtlCol="0">
            <a:spAutoFit/>
          </a:bodyPr>
          <a:lstStyle/>
          <a:p>
            <a:r>
              <a:rPr lang="zh-CN" altLang="zh-CN" sz="1800" kern="100" dirty="0">
                <a:effectLst/>
                <a:latin typeface="Times New Roman" panose="02020603050405020304" pitchFamily="18" charset="0"/>
                <a:ea typeface="宋体" pitchFamily="2" charset="-122"/>
              </a:rPr>
              <a:t>图</a:t>
            </a:r>
            <a:r>
              <a:rPr lang="en-US" altLang="zh-CN" sz="1800" kern="100" dirty="0">
                <a:effectLst/>
                <a:latin typeface="Times New Roman" panose="02020603050405020304" pitchFamily="18" charset="0"/>
                <a:ea typeface="宋体" pitchFamily="2" charset="-122"/>
              </a:rPr>
              <a:t>2.21  </a:t>
            </a:r>
            <a:r>
              <a:rPr lang="zh-CN" altLang="zh-CN" sz="1800" kern="100" dirty="0">
                <a:effectLst/>
                <a:latin typeface="Times New Roman" panose="02020603050405020304" pitchFamily="18" charset="0"/>
                <a:ea typeface="宋体" pitchFamily="2" charset="-122"/>
              </a:rPr>
              <a:t>图像文件的属性</a:t>
            </a:r>
            <a:endParaRPr lang="zh-CN" altLang="zh-CN" sz="1800" kern="100" dirty="0">
              <a:effectLst/>
              <a:latin typeface="Times New Roman" panose="02020603050405020304" pitchFamily="18" charset="0"/>
              <a:ea typeface="宋体" pitchFamily="2" charset="-122"/>
            </a:endParaRPr>
          </a:p>
          <a:p>
            <a:endParaRPr lang="zh-CN" altLang="en-US" dirty="0"/>
          </a:p>
        </p:txBody>
      </p:sp>
      <p:sp>
        <p:nvSpPr>
          <p:cNvPr id="13" name="文本框 12"/>
          <p:cNvSpPr txBox="1"/>
          <p:nvPr/>
        </p:nvSpPr>
        <p:spPr>
          <a:xfrm>
            <a:off x="396330" y="1451308"/>
            <a:ext cx="6480720" cy="461665"/>
          </a:xfrm>
          <a:prstGeom prst="rect">
            <a:avLst/>
          </a:prstGeom>
          <a:noFill/>
        </p:spPr>
        <p:txBody>
          <a:bodyPr wrap="square">
            <a:spAutoFit/>
          </a:bodyPr>
          <a:lstStyle/>
          <a:p>
            <a:r>
              <a:rPr lang="zh-CN" altLang="zh-CN" sz="2400" kern="100" dirty="0">
                <a:effectLst/>
                <a:latin typeface="Times New Roman" panose="02020603050405020304" pitchFamily="18" charset="0"/>
                <a:ea typeface="宋体" pitchFamily="2" charset="-122"/>
                <a:cs typeface="Times New Roman" panose="02020603050405020304" pitchFamily="18" charset="0"/>
              </a:rPr>
              <a:t>让我们来看一下原图像文件的属性</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endParaRPr lang="zh-CN" altLang="en-US" dirty="0"/>
          </a:p>
        </p:txBody>
      </p:sp>
      <mc:AlternateContent xmlns:mc="http://schemas.openxmlformats.org/markup-compatibility/2006">
        <mc:Choice xmlns:a14="http://schemas.microsoft.com/office/drawing/2010/main" Requires="a14">
          <p:sp>
            <p:nvSpPr>
              <p:cNvPr id="15" name="文本框 14"/>
              <p:cNvSpPr txBox="1"/>
              <p:nvPr/>
            </p:nvSpPr>
            <p:spPr>
              <a:xfrm>
                <a:off x="7741" y="4884470"/>
                <a:ext cx="9145588" cy="1569660"/>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因为原图像的分辨率为</a:t>
                </a:r>
                <a:r>
                  <a:rPr lang="en-US" altLang="zh-CN" sz="2400" kern="100" dirty="0">
                    <a:effectLst/>
                    <a:latin typeface="Times New Roman" panose="02020603050405020304" pitchFamily="18" charset="0"/>
                    <a:ea typeface="宋体" pitchFamily="2" charset="-122"/>
                  </a:rPr>
                  <a:t>1280*720</a:t>
                </a:r>
                <a:r>
                  <a:rPr lang="zh-CN" altLang="zh-CN" sz="2400" kern="100" dirty="0">
                    <a:effectLst/>
                    <a:latin typeface="Times New Roman" panose="02020603050405020304" pitchFamily="18" charset="0"/>
                    <a:ea typeface="宋体" pitchFamily="2" charset="-122"/>
                  </a:rPr>
                  <a:t>，且它是一张彩色图片。因此</a:t>
                </a:r>
                <a:r>
                  <a:rPr lang="en-US" altLang="zh-CN" sz="2400" kern="100" dirty="0" err="1">
                    <a:effectLst/>
                    <a:latin typeface="Times New Roman" panose="02020603050405020304" pitchFamily="18" charset="0"/>
                    <a:ea typeface="宋体" pitchFamily="2" charset="-122"/>
                  </a:rPr>
                  <a:t>img</a:t>
                </a:r>
                <a:r>
                  <a:rPr lang="zh-CN" altLang="zh-CN" sz="2400" kern="100" dirty="0">
                    <a:effectLst/>
                    <a:latin typeface="Times New Roman" panose="02020603050405020304" pitchFamily="18" charset="0"/>
                    <a:ea typeface="宋体" pitchFamily="2" charset="-122"/>
                  </a:rPr>
                  <a:t>矩阵的形状正是图像的高</a:t>
                </a:r>
                <a:r>
                  <a:rPr lang="en-US" altLang="zh-CN" sz="2400" kern="100" dirty="0">
                    <a:effectLst/>
                    <a:latin typeface="Times New Roman" panose="02020603050405020304" pitchFamily="18" charset="0"/>
                    <a:ea typeface="宋体" pitchFamily="2" charset="-122"/>
                  </a:rPr>
                  <a:t>(Height)</a:t>
                </a:r>
                <a14:m>
                  <m:oMath xmlns:m="http://schemas.openxmlformats.org/officeDocument/2006/math">
                    <m:r>
                      <a:rPr lang="en-US" altLang="zh-CN" sz="2400" i="1" kern="100">
                        <a:effectLst/>
                        <a:latin typeface="Cambria Math" panose="02040503050406030204" pitchFamily="18" charset="0"/>
                        <a:ea typeface="宋体" pitchFamily="2" charset="-122"/>
                      </a:rPr>
                      <m:t> ×</m:t>
                    </m:r>
                  </m:oMath>
                </a14:m>
                <a:r>
                  <a:rPr lang="zh-CN" altLang="zh-CN" sz="2400" kern="100" dirty="0">
                    <a:effectLst/>
                    <a:latin typeface="Times New Roman" panose="02020603050405020304" pitchFamily="18" charset="0"/>
                    <a:ea typeface="宋体" pitchFamily="2" charset="-122"/>
                  </a:rPr>
                  <a:t>宽</a:t>
                </a:r>
                <a:r>
                  <a:rPr lang="en-US" altLang="zh-CN" sz="2400" kern="100" dirty="0">
                    <a:effectLst/>
                    <a:latin typeface="Times New Roman" panose="02020603050405020304" pitchFamily="18" charset="0"/>
                    <a:ea typeface="宋体" pitchFamily="2" charset="-122"/>
                  </a:rPr>
                  <a:t>(Height)</a:t>
                </a:r>
                <a14:m>
                  <m:oMath xmlns:m="http://schemas.openxmlformats.org/officeDocument/2006/math">
                    <m:r>
                      <a:rPr lang="en-US" altLang="zh-CN" sz="2400" i="1" kern="100">
                        <a:effectLst/>
                        <a:latin typeface="Cambria Math" panose="02040503050406030204" pitchFamily="18" charset="0"/>
                        <a:ea typeface="宋体" pitchFamily="2" charset="-122"/>
                      </a:rPr>
                      <m:t> ×</m:t>
                    </m:r>
                  </m:oMath>
                </a14:m>
                <a:r>
                  <a:rPr lang="zh-CN" altLang="zh-CN" sz="2400" kern="100" dirty="0">
                    <a:effectLst/>
                    <a:latin typeface="Times New Roman" panose="02020603050405020304" pitchFamily="18" charset="0"/>
                    <a:ea typeface="宋体" pitchFamily="2" charset="-122"/>
                  </a:rPr>
                  <a:t>通道数</a:t>
                </a:r>
                <a:r>
                  <a:rPr lang="en-US" altLang="zh-CN" sz="2400" kern="100" dirty="0">
                    <a:effectLst/>
                    <a:latin typeface="Times New Roman" panose="02020603050405020304" pitchFamily="18" charset="0"/>
                    <a:ea typeface="宋体" pitchFamily="2" charset="-122"/>
                  </a:rPr>
                  <a:t>(Channels)</a:t>
                </a:r>
                <a:r>
                  <a:rPr lang="zh-CN" altLang="zh-CN" sz="2400" kern="100" dirty="0">
                    <a:effectLst/>
                    <a:latin typeface="Times New Roman" panose="02020603050405020304" pitchFamily="18" charset="0"/>
                    <a:ea typeface="宋体" pitchFamily="2" charset="-122"/>
                  </a:rPr>
                  <a:t>，即</a:t>
                </a:r>
                <a:r>
                  <a:rPr lang="en-US" altLang="zh-CN" sz="2400" kern="100" dirty="0">
                    <a:effectLst/>
                    <a:latin typeface="Times New Roman" panose="02020603050405020304" pitchFamily="18" charset="0"/>
                    <a:ea typeface="宋体" pitchFamily="2" charset="-122"/>
                  </a:rPr>
                  <a:t>(H,W,C)</a:t>
                </a:r>
                <a:r>
                  <a:rPr lang="zh-CN" altLang="zh-CN" sz="2400" kern="100" dirty="0">
                    <a:effectLst/>
                    <a:latin typeface="Times New Roman" panose="02020603050405020304" pitchFamily="18" charset="0"/>
                    <a:ea typeface="宋体" pitchFamily="2" charset="-122"/>
                  </a:rPr>
                  <a:t>。</a:t>
                </a:r>
                <a:r>
                  <a:rPr lang="en-US" altLang="zh-CN" sz="2400" kern="100" dirty="0" err="1">
                    <a:effectLst/>
                    <a:latin typeface="Times New Roman" panose="02020603050405020304" pitchFamily="18" charset="0"/>
                    <a:ea typeface="宋体" pitchFamily="2" charset="-122"/>
                  </a:rPr>
                  <a:t>img</a:t>
                </a:r>
                <a:r>
                  <a:rPr lang="zh-CN" altLang="zh-CN" sz="2400" kern="100" dirty="0">
                    <a:effectLst/>
                    <a:latin typeface="Times New Roman" panose="02020603050405020304" pitchFamily="18" charset="0"/>
                    <a:ea typeface="宋体" pitchFamily="2" charset="-122"/>
                  </a:rPr>
                  <a:t>矩阵中的每个值就是这个像素点在其中一个通道中的值。</a:t>
                </a:r>
                <a:endParaRPr lang="zh-CN" altLang="zh-CN" sz="2400" kern="100" dirty="0">
                  <a:effectLst/>
                  <a:latin typeface="Times New Roman" panose="02020603050405020304" pitchFamily="18" charset="0"/>
                  <a:ea typeface="宋体" pitchFamily="2" charset="-122"/>
                </a:endParaRPr>
              </a:p>
            </p:txBody>
          </p:sp>
        </mc:Choice>
        <mc:Fallback>
          <p:sp>
            <p:nvSpPr>
              <p:cNvPr id="15" name="文本框 14"/>
              <p:cNvSpPr txBox="1">
                <a:spLocks noRot="1" noChangeAspect="1" noMove="1" noResize="1" noEditPoints="1" noAdjustHandles="1" noChangeArrowheads="1" noChangeShapeType="1" noTextEdit="1"/>
              </p:cNvSpPr>
              <p:nvPr/>
            </p:nvSpPr>
            <p:spPr>
              <a:xfrm>
                <a:off x="7741" y="4884470"/>
                <a:ext cx="9145588" cy="1569660"/>
              </a:xfrm>
              <a:prstGeom prst="rect">
                <a:avLst/>
              </a:prstGeom>
              <a:blipFill rotWithShape="1">
                <a:blip r:embed="rId2"/>
                <a:stretch>
                  <a:fillRect l="-1" t="-3" r="5" b="-122"/>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269554"/>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文本框 12"/>
          <p:cNvSpPr txBox="1"/>
          <p:nvPr/>
        </p:nvSpPr>
        <p:spPr>
          <a:xfrm>
            <a:off x="828378" y="1620983"/>
            <a:ext cx="7920880" cy="1569660"/>
          </a:xfrm>
          <a:prstGeom prst="rect">
            <a:avLst/>
          </a:prstGeom>
          <a:solidFill>
            <a:schemeClr val="tx2">
              <a:lumMod val="20000"/>
              <a:lumOff val="80000"/>
            </a:schemeClr>
          </a:solidFill>
        </p:spPr>
        <p:txBody>
          <a:bodyPr wrap="square">
            <a:spAutoFit/>
          </a:bodyPr>
          <a:lstStyle/>
          <a:p>
            <a:pPr indent="266700" algn="l" fontAlgn="ctr"/>
            <a:r>
              <a:rPr lang="zh-CN" altLang="en-US" sz="2400" kern="100" dirty="0">
                <a:latin typeface="Times New Roman" panose="02020603050405020304" pitchFamily="18" charset="0"/>
                <a:ea typeface="宋体" pitchFamily="2" charset="-122"/>
              </a:rPr>
              <a:t>例子</a:t>
            </a:r>
            <a:r>
              <a:rPr lang="en-US" altLang="zh-CN" sz="2400" kern="100" dirty="0">
                <a:latin typeface="Times New Roman" panose="02020603050405020304" pitchFamily="18" charset="0"/>
                <a:ea typeface="宋体" pitchFamily="2" charset="-122"/>
              </a:rPr>
              <a:t>32 </a:t>
            </a:r>
            <a:r>
              <a:rPr lang="zh-CN" altLang="en-US" sz="2400" kern="100" dirty="0">
                <a:latin typeface="Times New Roman" panose="02020603050405020304" pitchFamily="18" charset="0"/>
                <a:ea typeface="宋体" pitchFamily="2" charset="-122"/>
              </a:rPr>
              <a:t> </a:t>
            </a:r>
            <a:r>
              <a:rPr lang="en-US" altLang="zh-CN" sz="2400" kern="100" dirty="0" err="1">
                <a:latin typeface="Times New Roman" panose="02020603050405020304" pitchFamily="18" charset="0"/>
                <a:ea typeface="宋体" pitchFamily="2" charset="-122"/>
              </a:rPr>
              <a:t>imwrite</a:t>
            </a:r>
            <a:r>
              <a:rPr lang="zh-CN" altLang="en-US" sz="2400" kern="100" dirty="0">
                <a:latin typeface="Times New Roman" panose="02020603050405020304" pitchFamily="18" charset="0"/>
                <a:ea typeface="宋体" pitchFamily="2" charset="-122"/>
              </a:rPr>
              <a:t>操作：</a:t>
            </a:r>
            <a:endParaRPr lang="en-US" altLang="zh-CN" sz="2400" kern="100" dirty="0">
              <a:latin typeface="Times New Roman" panose="02020603050405020304" pitchFamily="18" charset="0"/>
              <a:ea typeface="宋体" pitchFamily="2" charset="-122"/>
            </a:endParaRPr>
          </a:p>
          <a:p>
            <a:pPr indent="266700" algn="l" fontAlgn="ctr"/>
            <a:r>
              <a:rPr lang="en-US" altLang="zh-CN" sz="2400" kern="100" dirty="0">
                <a:latin typeface="Times New Roman" panose="02020603050405020304" pitchFamily="18" charset="0"/>
                <a:ea typeface="宋体" pitchFamily="2" charset="-122"/>
              </a:rPr>
              <a:t>import cv2  </a:t>
            </a:r>
            <a:endParaRPr lang="zh-CN" altLang="zh-CN" sz="2400" kern="100" dirty="0">
              <a:latin typeface="Times New Roman" panose="02020603050405020304" pitchFamily="18" charset="0"/>
              <a:ea typeface="宋体" pitchFamily="2" charset="-122"/>
            </a:endParaRPr>
          </a:p>
          <a:p>
            <a:pPr indent="266700" algn="l" fontAlgn="ctr"/>
            <a:r>
              <a:rPr lang="en-US" altLang="zh-CN" sz="2400" kern="100" dirty="0" err="1">
                <a:latin typeface="Times New Roman" panose="02020603050405020304" pitchFamily="18" charset="0"/>
                <a:ea typeface="宋体" pitchFamily="2" charset="-122"/>
              </a:rPr>
              <a:t>img</a:t>
            </a:r>
            <a:r>
              <a:rPr lang="en-US" altLang="zh-CN" sz="2400" kern="100" dirty="0">
                <a:latin typeface="Times New Roman" panose="02020603050405020304" pitchFamily="18" charset="0"/>
                <a:ea typeface="宋体" pitchFamily="2" charset="-122"/>
              </a:rPr>
              <a:t> = cv2.imread(</a:t>
            </a:r>
            <a:r>
              <a:rPr lang="en-US" altLang="zh-CN" sz="2400" kern="100" dirty="0" err="1">
                <a:latin typeface="Times New Roman" panose="02020603050405020304" pitchFamily="18" charset="0"/>
                <a:ea typeface="宋体" pitchFamily="2" charset="-122"/>
              </a:rPr>
              <a:t>r'C</a:t>
            </a:r>
            <a:r>
              <a:rPr lang="en-US" altLang="zh-CN" sz="2400" kern="100" dirty="0">
                <a:latin typeface="Times New Roman" panose="02020603050405020304" pitchFamily="18" charset="0"/>
                <a:ea typeface="宋体" pitchFamily="2" charset="-122"/>
              </a:rPr>
              <a:t>:\Users\11041\Desktop\SATOMI.png',1)   </a:t>
            </a:r>
            <a:endParaRPr lang="zh-CN" altLang="zh-CN" sz="2400" kern="100" dirty="0">
              <a:latin typeface="Times New Roman" panose="02020603050405020304" pitchFamily="18" charset="0"/>
              <a:ea typeface="宋体" pitchFamily="2" charset="-122"/>
            </a:endParaRPr>
          </a:p>
          <a:p>
            <a:pPr indent="266700" algn="l" fontAlgn="ctr"/>
            <a:r>
              <a:rPr lang="en-US" altLang="zh-CN" sz="2400" kern="100" dirty="0">
                <a:latin typeface="Times New Roman" panose="02020603050405020304" pitchFamily="18" charset="0"/>
                <a:ea typeface="宋体" pitchFamily="2" charset="-122"/>
              </a:rPr>
              <a:t>cv2.imwrite(</a:t>
            </a:r>
            <a:r>
              <a:rPr lang="en-US" altLang="zh-CN" sz="2400" kern="100" dirty="0" err="1">
                <a:latin typeface="Times New Roman" panose="02020603050405020304" pitchFamily="18" charset="0"/>
                <a:ea typeface="宋体" pitchFamily="2" charset="-122"/>
              </a:rPr>
              <a:t>r'C</a:t>
            </a:r>
            <a:r>
              <a:rPr lang="en-US" altLang="zh-CN" sz="2400" kern="100" dirty="0">
                <a:latin typeface="Times New Roman" panose="02020603050405020304" pitchFamily="18" charset="0"/>
                <a:ea typeface="宋体" pitchFamily="2" charset="-122"/>
              </a:rPr>
              <a:t>:\Users\11041\Desktop\01.png',img)  </a:t>
            </a:r>
            <a:endParaRPr lang="zh-CN" altLang="zh-CN" sz="2400" kern="100" dirty="0">
              <a:latin typeface="Times New Roman" panose="02020603050405020304" pitchFamily="18" charset="0"/>
              <a:ea typeface="宋体" pitchFamily="2" charset="-122"/>
            </a:endParaRPr>
          </a:p>
        </p:txBody>
      </p:sp>
      <p:sp>
        <p:nvSpPr>
          <p:cNvPr id="15" name="文本框 14"/>
          <p:cNvSpPr txBox="1"/>
          <p:nvPr/>
        </p:nvSpPr>
        <p:spPr>
          <a:xfrm>
            <a:off x="252313" y="3668946"/>
            <a:ext cx="8857797" cy="1200329"/>
          </a:xfrm>
          <a:prstGeom prst="rect">
            <a:avLst/>
          </a:prstGeom>
          <a:noFill/>
        </p:spPr>
        <p:txBody>
          <a:bodyPr wrap="square">
            <a:spAutoFit/>
          </a:bodyPr>
          <a:lstStyle/>
          <a:p>
            <a:pPr algn="just"/>
            <a:r>
              <a:rPr lang="en-US" altLang="zh-CN" sz="2400" dirty="0"/>
              <a:t>  </a:t>
            </a:r>
            <a:r>
              <a:rPr lang="zh-CN" altLang="zh-CN" sz="2400" dirty="0"/>
              <a:t>将原图像的副本命名为</a:t>
            </a:r>
            <a:r>
              <a:rPr lang="en-US" altLang="zh-CN" sz="2400" dirty="0"/>
              <a:t>01.png</a:t>
            </a:r>
            <a:r>
              <a:rPr lang="zh-CN" altLang="zh-CN" sz="2400" dirty="0"/>
              <a:t>后保存到了指定路径。</a:t>
            </a:r>
            <a:r>
              <a:rPr lang="en-US" altLang="zh-CN" sz="2400" dirty="0" err="1"/>
              <a:t>imwrite</a:t>
            </a:r>
            <a:r>
              <a:rPr lang="en-US" altLang="zh-CN" sz="2400" dirty="0"/>
              <a:t>( )</a:t>
            </a:r>
            <a:r>
              <a:rPr lang="zh-CN" altLang="zh-CN" sz="2400" dirty="0"/>
              <a:t>函数的第一个参数为新保存的图像副本的路径与文件名，第二个参数为原图像。还有第三个参数表示特定格式保存的参数编码。</a:t>
            </a:r>
            <a:endParaRPr lang="zh-CN" altLang="zh-CN" sz="2400" dirty="0"/>
          </a:p>
        </p:txBody>
      </p:sp>
    </p:spTree>
  </p:cSld>
  <p:clrMapOvr>
    <a:masterClrMapping/>
  </p:clrMapOvr>
  <p:transition spd="slow" advClick="0" advTm="0">
    <p:wipe/>
  </p:transition>
</p:sld>
</file>

<file path=ppt/tags/tag1.xml><?xml version="1.0" encoding="utf-8"?>
<p:tagLst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自定义 81">
      <a:dk1>
        <a:sysClr val="windowText" lastClr="000000"/>
      </a:dk1>
      <a:lt1>
        <a:sysClr val="window" lastClr="FFFFFF"/>
      </a:lt1>
      <a:dk2>
        <a:srgbClr val="666666"/>
      </a:dk2>
      <a:lt2>
        <a:srgbClr val="D2D2D2"/>
      </a:lt2>
      <a:accent1>
        <a:srgbClr val="EF7768"/>
      </a:accent1>
      <a:accent2>
        <a:srgbClr val="C7C7C7"/>
      </a:accent2>
      <a:accent3>
        <a:srgbClr val="38B1BF"/>
      </a:accent3>
      <a:accent4>
        <a:srgbClr val="FF9933"/>
      </a:accent4>
      <a:accent5>
        <a:srgbClr val="7F7F7F"/>
      </a:accent5>
      <a:accent6>
        <a:srgbClr val="878787"/>
      </a:accent6>
      <a:hlink>
        <a:srgbClr val="006387"/>
      </a:hlink>
      <a:folHlink>
        <a:srgbClr val="8B8B8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我的主题色">
      <a:dk1>
        <a:sysClr val="windowText" lastClr="000000"/>
      </a:dk1>
      <a:lt1>
        <a:sysClr val="window" lastClr="FFFFFF"/>
      </a:lt1>
      <a:dk2>
        <a:srgbClr val="E6325C"/>
      </a:dk2>
      <a:lt2>
        <a:srgbClr val="E6325C"/>
      </a:lt2>
      <a:accent1>
        <a:srgbClr val="A3CD39"/>
      </a:accent1>
      <a:accent2>
        <a:srgbClr val="A3CD39"/>
      </a:accent2>
      <a:accent3>
        <a:srgbClr val="4EC0A5"/>
      </a:accent3>
      <a:accent4>
        <a:srgbClr val="4EC0A5"/>
      </a:accent4>
      <a:accent5>
        <a:srgbClr val="E4BE33"/>
      </a:accent5>
      <a:accent6>
        <a:srgbClr val="E4BE33"/>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极目远眺">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16244</Words>
  <Application>WPS 表格</Application>
  <PresentationFormat>自定义</PresentationFormat>
  <Paragraphs>1230</Paragraphs>
  <Slides>70</Slides>
  <Notes>69</Notes>
  <HiddenSlides>0</HiddenSlides>
  <MMClips>0</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70</vt:i4>
      </vt:variant>
    </vt:vector>
  </HeadingPairs>
  <TitlesOfParts>
    <vt:vector size="96" baseType="lpstr">
      <vt:lpstr>Arial</vt:lpstr>
      <vt:lpstr>宋体</vt:lpstr>
      <vt:lpstr>Wingdings</vt:lpstr>
      <vt:lpstr>微软雅黑</vt:lpstr>
      <vt:lpstr>汉仪旗黑</vt:lpstr>
      <vt:lpstr>Impact</vt:lpstr>
      <vt:lpstr>Calibri</vt:lpstr>
      <vt:lpstr>宋体</vt:lpstr>
      <vt:lpstr>Tahoma</vt:lpstr>
      <vt:lpstr>Eras Bold ITC</vt:lpstr>
      <vt:lpstr>微软雅黑</vt:lpstr>
      <vt:lpstr>Times New Roman</vt:lpstr>
      <vt:lpstr>Helvetica Neue</vt:lpstr>
      <vt:lpstr>宋体</vt:lpstr>
      <vt:lpstr>Arial Unicode MS</vt:lpstr>
      <vt:lpstr>汉仪书宋二KW</vt:lpstr>
      <vt:lpstr>苹方-简</vt:lpstr>
      <vt:lpstr>黑体</vt:lpstr>
      <vt:lpstr>Cambria Math</vt:lpstr>
      <vt:lpstr>Apple Color Emoji</vt:lpstr>
      <vt:lpstr>汉仪中黑KW</vt:lpstr>
      <vt:lpstr>Kingsoft Math</vt:lpstr>
      <vt:lpstr>宋体-简</vt:lpstr>
      <vt:lpstr>Calibri</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keywords>更多模版：亮亮图文旗舰店https:/liangliangtuwen.tmall.com</cp:keywords>
  <dc:description>更多模版：亮亮图文旗舰店https://liangliangtuwen.tmall.com</dc:description>
  <dc:subject>亮亮图文旗舰店</dc:subject>
  <cp:lastModifiedBy>沉默家</cp:lastModifiedBy>
  <cp:revision>16</cp:revision>
  <dcterms:created xsi:type="dcterms:W3CDTF">2025-09-07T12:39:18Z</dcterms:created>
  <dcterms:modified xsi:type="dcterms:W3CDTF">2025-09-07T12:39:18Z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F6E0F0A6A8291A0FF67CBD687AFB333B_42</vt:lpwstr>
  </property>
  <property fmtid="{D5CDD505-2E9C-101B-9397-08002B2CF9AE}" pid="3" name="KSOProductBuildVer">
    <vt:lpwstr>2052-6.7.1.8828</vt:lpwstr>
  </property>
</Properties>
</file>